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600bdeac7e4a8c" /><Relationship Type="http://schemas.openxmlformats.org/officeDocument/2006/relationships/extended-properties" Target="/docProps/app.xml" Id="R4be77207a0f644fb" /><Relationship Type="http://schemas.openxmlformats.org/officeDocument/2006/relationships/officeDocument" Target="/ppt/presentation.xml" Id="Ra2696cb8275445ff" /></Relationships>
</file>

<file path=ppt/presentation.xml><?xml version="1.0" encoding="utf-8"?>
<p:presentation xmlns:p="http://schemas.openxmlformats.org/presentationml/2006/main">
  <p:sldMasterIdLst>
    <p:sldMasterId xmlns:r="http://schemas.openxmlformats.org/officeDocument/2006/relationships" id="2147483648" r:id="R08e1ede957ea4cc8"/>
  </p:sldMasterIdLst>
  <p:notesMasterIdLst>
    <p:notesMasterId xmlns:r="http://schemas.openxmlformats.org/officeDocument/2006/relationships" r:id="Re40a9b5b9c5f48c3"/>
  </p:notesMasterIdLst>
  <p:sldIdLst>
    <p:sldId xmlns:r="http://schemas.openxmlformats.org/officeDocument/2006/relationships" id="256" r:id="Rf6de14b62b654463"/>
    <p:sldId xmlns:r="http://schemas.openxmlformats.org/officeDocument/2006/relationships" id="257" r:id="Re0b9c18d11b24058"/>
    <p:sldId xmlns:r="http://schemas.openxmlformats.org/officeDocument/2006/relationships" id="258" r:id="R08a7ef026f1547b2"/>
    <p:sldId xmlns:r="http://schemas.openxmlformats.org/officeDocument/2006/relationships" id="259" r:id="R7d2a7bcaf2c34541"/>
    <p:sldId xmlns:r="http://schemas.openxmlformats.org/officeDocument/2006/relationships" id="260" r:id="Re41065612318410b"/>
    <p:sldId xmlns:r="http://schemas.openxmlformats.org/officeDocument/2006/relationships" id="261" r:id="Rf868b63b09ca4226"/>
    <p:sldId xmlns:r="http://schemas.openxmlformats.org/officeDocument/2006/relationships" id="262" r:id="R86ae10aa54d6499b"/>
    <p:sldId xmlns:r="http://schemas.openxmlformats.org/officeDocument/2006/relationships" id="263" r:id="R2c768204c45c4afd"/>
    <p:sldId xmlns:r="http://schemas.openxmlformats.org/officeDocument/2006/relationships" id="264" r:id="Rfb5e5b9041604982"/>
    <p:sldId xmlns:r="http://schemas.openxmlformats.org/officeDocument/2006/relationships" id="265" r:id="R7bf91f9c34334fc9"/>
    <p:sldId xmlns:r="http://schemas.openxmlformats.org/officeDocument/2006/relationships" id="266" r:id="R7d57e34c6d5f40c3"/>
    <p:sldId xmlns:r="http://schemas.openxmlformats.org/officeDocument/2006/relationships" id="267" r:id="R2619f725537b4635"/>
    <p:sldId xmlns:r="http://schemas.openxmlformats.org/officeDocument/2006/relationships" id="268" r:id="R8fd7e96bf9674699"/>
    <p:sldId xmlns:r="http://schemas.openxmlformats.org/officeDocument/2006/relationships" id="269" r:id="Rf8a6a12f7adb42db"/>
    <p:sldId xmlns:r="http://schemas.openxmlformats.org/officeDocument/2006/relationships" id="270" r:id="R3b03b85d09394ea4"/>
    <p:sldId xmlns:r="http://schemas.openxmlformats.org/officeDocument/2006/relationships" id="271" r:id="Ra2becb11627c4077"/>
    <p:sldId xmlns:r="http://schemas.openxmlformats.org/officeDocument/2006/relationships" id="272" r:id="R6f0cd112c9e64aba"/>
    <p:sldId xmlns:r="http://schemas.openxmlformats.org/officeDocument/2006/relationships" id="273" r:id="Rf0b8b18990b244ac"/>
    <p:sldId xmlns:r="http://schemas.openxmlformats.org/officeDocument/2006/relationships" id="274" r:id="Rb3bd8e077fdf47d9"/>
    <p:sldId xmlns:r="http://schemas.openxmlformats.org/officeDocument/2006/relationships" id="275" r:id="R7cbe7c794ed748cd"/>
    <p:sldId xmlns:r="http://schemas.openxmlformats.org/officeDocument/2006/relationships" id="276" r:id="R4f98851e280c4fa5"/>
    <p:sldId xmlns:r="http://schemas.openxmlformats.org/officeDocument/2006/relationships" id="277" r:id="R21f2cbddedbb4832"/>
    <p:sldId xmlns:r="http://schemas.openxmlformats.org/officeDocument/2006/relationships" id="278" r:id="Rc00601bba2b144d4"/>
    <p:sldId xmlns:r="http://schemas.openxmlformats.org/officeDocument/2006/relationships" id="279" r:id="R3bcff0e2db034aa4"/>
    <p:sldId xmlns:r="http://schemas.openxmlformats.org/officeDocument/2006/relationships" id="280" r:id="R4323398473f34663"/>
    <p:sldId xmlns:r="http://schemas.openxmlformats.org/officeDocument/2006/relationships" id="281" r:id="R2b0212ba5c814a1c"/>
    <p:sldId xmlns:r="http://schemas.openxmlformats.org/officeDocument/2006/relationships" id="282" r:id="R95bdd93ddcd14a42"/>
    <p:sldId xmlns:r="http://schemas.openxmlformats.org/officeDocument/2006/relationships" id="283" r:id="Rdbf006793d7740a1"/>
    <p:sldId xmlns:r="http://schemas.openxmlformats.org/officeDocument/2006/relationships" id="284" r:id="R92844ac625f8477f"/>
    <p:sldId xmlns:r="http://schemas.openxmlformats.org/officeDocument/2006/relationships" id="285" r:id="R77784727eb104c16"/>
    <p:sldId xmlns:r="http://schemas.openxmlformats.org/officeDocument/2006/relationships" id="286" r:id="R5958be3428b1416c"/>
    <p:sldId xmlns:r="http://schemas.openxmlformats.org/officeDocument/2006/relationships" id="287" r:id="R6957086aa1bf4941"/>
    <p:sldId xmlns:r="http://schemas.openxmlformats.org/officeDocument/2006/relationships" id="288" r:id="R24c347da73f44720"/>
    <p:sldId xmlns:r="http://schemas.openxmlformats.org/officeDocument/2006/relationships" id="289" r:id="Re2b7c20065dd4a9b"/>
    <p:sldId xmlns:r="http://schemas.openxmlformats.org/officeDocument/2006/relationships" id="290" r:id="R3dea5e0b99b54d42"/>
    <p:sldId xmlns:r="http://schemas.openxmlformats.org/officeDocument/2006/relationships" id="291" r:id="R66a8fae6b4b34e1f"/>
    <p:sldId xmlns:r="http://schemas.openxmlformats.org/officeDocument/2006/relationships" id="292" r:id="R37bf3e3c79224bb3"/>
    <p:sldId xmlns:r="http://schemas.openxmlformats.org/officeDocument/2006/relationships" id="293" r:id="Raeffb42b34444afc"/>
    <p:sldId xmlns:r="http://schemas.openxmlformats.org/officeDocument/2006/relationships" id="294" r:id="R6dea785171b848c9"/>
    <p:sldId xmlns:r="http://schemas.openxmlformats.org/officeDocument/2006/relationships" id="295" r:id="Rf06fb631a10a490b"/>
    <p:sldId xmlns:r="http://schemas.openxmlformats.org/officeDocument/2006/relationships" id="296" r:id="Rfe5a1998c76e429f"/>
    <p:sldId xmlns:r="http://schemas.openxmlformats.org/officeDocument/2006/relationships" id="297" r:id="R594b7d3e66264fbb"/>
    <p:sldId xmlns:r="http://schemas.openxmlformats.org/officeDocument/2006/relationships" id="298" r:id="R7ab9512adc074e84"/>
    <p:sldId xmlns:r="http://schemas.openxmlformats.org/officeDocument/2006/relationships" id="299" r:id="R27f7e98e877a4de5"/>
    <p:sldId xmlns:r="http://schemas.openxmlformats.org/officeDocument/2006/relationships" id="300" r:id="R8146ff5d6b694401"/>
    <p:sldId xmlns:r="http://schemas.openxmlformats.org/officeDocument/2006/relationships" id="301" r:id="R852a8203812a4d5c"/>
    <p:sldId xmlns:r="http://schemas.openxmlformats.org/officeDocument/2006/relationships" id="302" r:id="R7994ff83ec424bc5"/>
    <p:sldId xmlns:r="http://schemas.openxmlformats.org/officeDocument/2006/relationships" id="303" r:id="R9faa37d33d2247e7"/>
    <p:sldId xmlns:r="http://schemas.openxmlformats.org/officeDocument/2006/relationships" id="304" r:id="Rb4dad47dc28446bd"/>
    <p:sldId xmlns:r="http://schemas.openxmlformats.org/officeDocument/2006/relationships" id="305" r:id="R0fa4c1c8fed54d7c"/>
    <p:sldId xmlns:r="http://schemas.openxmlformats.org/officeDocument/2006/relationships" id="306" r:id="Rf45a31f571d64cb1"/>
    <p:sldId xmlns:r="http://schemas.openxmlformats.org/officeDocument/2006/relationships" id="307" r:id="Re07ebac37579446d"/>
    <p:sldId xmlns:r="http://schemas.openxmlformats.org/officeDocument/2006/relationships" id="308" r:id="R05c3013e77c94763"/>
    <p:sldId xmlns:r="http://schemas.openxmlformats.org/officeDocument/2006/relationships" id="309" r:id="R99a92bfa35f64060"/>
    <p:sldId xmlns:r="http://schemas.openxmlformats.org/officeDocument/2006/relationships" id="310" r:id="Rb83cdb25bcc24e14"/>
    <p:sldId xmlns:r="http://schemas.openxmlformats.org/officeDocument/2006/relationships" id="311" r:id="R8378f2c674cd48fb"/>
    <p:sldId xmlns:r="http://schemas.openxmlformats.org/officeDocument/2006/relationships" id="312" r:id="R3d97abe207b24704"/>
    <p:sldId xmlns:r="http://schemas.openxmlformats.org/officeDocument/2006/relationships" id="313" r:id="R568f6cec156a43c8"/>
    <p:sldId xmlns:r="http://schemas.openxmlformats.org/officeDocument/2006/relationships" id="314" r:id="R5ea54e6f0d49493e"/>
    <p:sldId xmlns:r="http://schemas.openxmlformats.org/officeDocument/2006/relationships" id="315" r:id="R9e6d4e89be294c9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759a286cd44c52" /><Relationship Type="http://schemas.openxmlformats.org/officeDocument/2006/relationships/slideMaster" Target="/ppt/slideMasters/slideMaster1.xml" Id="R08e1ede957ea4cc8" /><Relationship Type="http://schemas.openxmlformats.org/officeDocument/2006/relationships/notesMaster" Target="/ppt/notesMasters/notesMaster1.xml" Id="Re40a9b5b9c5f48c3" /><Relationship Type="http://schemas.openxmlformats.org/officeDocument/2006/relationships/presProps" Target="/ppt/presProps.xml" Id="Reead56aaaa0a4a81" /><Relationship Type="http://schemas.openxmlformats.org/officeDocument/2006/relationships/tableStyles" Target="/ppt/tableStyles.xml" Id="R6e2081cd5d6a452f" /><Relationship Type="http://schemas.openxmlformats.org/officeDocument/2006/relationships/slide" Target="/ppt/slides/slide1.xml" Id="Rf6de14b62b654463" /><Relationship Type="http://schemas.openxmlformats.org/officeDocument/2006/relationships/slide" Target="/ppt/slides/slide2.xml" Id="Re0b9c18d11b24058" /><Relationship Type="http://schemas.openxmlformats.org/officeDocument/2006/relationships/slide" Target="/ppt/slides/slide3.xml" Id="R08a7ef026f1547b2" /><Relationship Type="http://schemas.openxmlformats.org/officeDocument/2006/relationships/slide" Target="/ppt/slides/slide4.xml" Id="R7d2a7bcaf2c34541" /><Relationship Type="http://schemas.openxmlformats.org/officeDocument/2006/relationships/slide" Target="/ppt/slides/slide5.xml" Id="Re41065612318410b" /><Relationship Type="http://schemas.openxmlformats.org/officeDocument/2006/relationships/slide" Target="/ppt/slides/slide6.xml" Id="Rf868b63b09ca4226" /><Relationship Type="http://schemas.openxmlformats.org/officeDocument/2006/relationships/slide" Target="/ppt/slides/slide7.xml" Id="R86ae10aa54d6499b" /><Relationship Type="http://schemas.openxmlformats.org/officeDocument/2006/relationships/slide" Target="/ppt/slides/slide8.xml" Id="R2c768204c45c4afd" /><Relationship Type="http://schemas.openxmlformats.org/officeDocument/2006/relationships/slide" Target="/ppt/slides/slide9.xml" Id="Rfb5e5b9041604982" /><Relationship Type="http://schemas.openxmlformats.org/officeDocument/2006/relationships/slide" Target="/ppt/slides/slide10.xml" Id="R7bf91f9c34334fc9" /><Relationship Type="http://schemas.openxmlformats.org/officeDocument/2006/relationships/slide" Target="/ppt/slides/slide11.xml" Id="R7d57e34c6d5f40c3" /><Relationship Type="http://schemas.openxmlformats.org/officeDocument/2006/relationships/slide" Target="/ppt/slides/slide12.xml" Id="R2619f725537b4635" /><Relationship Type="http://schemas.openxmlformats.org/officeDocument/2006/relationships/slide" Target="/ppt/slides/slide13.xml" Id="R8fd7e96bf9674699" /><Relationship Type="http://schemas.openxmlformats.org/officeDocument/2006/relationships/slide" Target="/ppt/slides/slide14.xml" Id="Rf8a6a12f7adb42db" /><Relationship Type="http://schemas.openxmlformats.org/officeDocument/2006/relationships/slide" Target="/ppt/slides/slide15.xml" Id="R3b03b85d09394ea4" /><Relationship Type="http://schemas.openxmlformats.org/officeDocument/2006/relationships/slide" Target="/ppt/slides/slide16.xml" Id="Ra2becb11627c4077" /><Relationship Type="http://schemas.openxmlformats.org/officeDocument/2006/relationships/slide" Target="/ppt/slides/slide17.xml" Id="R6f0cd112c9e64aba" /><Relationship Type="http://schemas.openxmlformats.org/officeDocument/2006/relationships/slide" Target="/ppt/slides/slide18.xml" Id="Rf0b8b18990b244ac" /><Relationship Type="http://schemas.openxmlformats.org/officeDocument/2006/relationships/slide" Target="/ppt/slides/slide19.xml" Id="Rb3bd8e077fdf47d9" /><Relationship Type="http://schemas.openxmlformats.org/officeDocument/2006/relationships/slide" Target="/ppt/slides/slide20.xml" Id="R7cbe7c794ed748cd" /><Relationship Type="http://schemas.openxmlformats.org/officeDocument/2006/relationships/slide" Target="/ppt/slides/slide21.xml" Id="R4f98851e280c4fa5" /><Relationship Type="http://schemas.openxmlformats.org/officeDocument/2006/relationships/slide" Target="/ppt/slides/slide22.xml" Id="R21f2cbddedbb4832" /><Relationship Type="http://schemas.openxmlformats.org/officeDocument/2006/relationships/slide" Target="/ppt/slides/slide23.xml" Id="Rc00601bba2b144d4" /><Relationship Type="http://schemas.openxmlformats.org/officeDocument/2006/relationships/slide" Target="/ppt/slides/slide24.xml" Id="R3bcff0e2db034aa4" /><Relationship Type="http://schemas.openxmlformats.org/officeDocument/2006/relationships/slide" Target="/ppt/slides/slide25.xml" Id="R4323398473f34663" /><Relationship Type="http://schemas.openxmlformats.org/officeDocument/2006/relationships/slide" Target="/ppt/slides/slide26.xml" Id="R2b0212ba5c814a1c" /><Relationship Type="http://schemas.openxmlformats.org/officeDocument/2006/relationships/slide" Target="/ppt/slides/slide27.xml" Id="R95bdd93ddcd14a42" /><Relationship Type="http://schemas.openxmlformats.org/officeDocument/2006/relationships/slide" Target="/ppt/slides/slide28.xml" Id="Rdbf006793d7740a1" /><Relationship Type="http://schemas.openxmlformats.org/officeDocument/2006/relationships/slide" Target="/ppt/slides/slide29.xml" Id="R92844ac625f8477f" /><Relationship Type="http://schemas.openxmlformats.org/officeDocument/2006/relationships/slide" Target="/ppt/slides/slide30.xml" Id="R77784727eb104c16" /><Relationship Type="http://schemas.openxmlformats.org/officeDocument/2006/relationships/slide" Target="/ppt/slides/slide31.xml" Id="R5958be3428b1416c" /><Relationship Type="http://schemas.openxmlformats.org/officeDocument/2006/relationships/slide" Target="/ppt/slides/slide32.xml" Id="R6957086aa1bf4941" /><Relationship Type="http://schemas.openxmlformats.org/officeDocument/2006/relationships/slide" Target="/ppt/slides/slide33.xml" Id="R24c347da73f44720" /><Relationship Type="http://schemas.openxmlformats.org/officeDocument/2006/relationships/slide" Target="/ppt/slides/slide34.xml" Id="Re2b7c20065dd4a9b" /><Relationship Type="http://schemas.openxmlformats.org/officeDocument/2006/relationships/slide" Target="/ppt/slides/slide35.xml" Id="R3dea5e0b99b54d42" /><Relationship Type="http://schemas.openxmlformats.org/officeDocument/2006/relationships/slide" Target="/ppt/slides/slide36.xml" Id="R66a8fae6b4b34e1f" /><Relationship Type="http://schemas.openxmlformats.org/officeDocument/2006/relationships/slide" Target="/ppt/slides/slide37.xml" Id="R37bf3e3c79224bb3" /><Relationship Type="http://schemas.openxmlformats.org/officeDocument/2006/relationships/slide" Target="/ppt/slides/slide38.xml" Id="Raeffb42b34444afc" /><Relationship Type="http://schemas.openxmlformats.org/officeDocument/2006/relationships/slide" Target="/ppt/slides/slide39.xml" Id="R6dea785171b848c9" /><Relationship Type="http://schemas.openxmlformats.org/officeDocument/2006/relationships/slide" Target="/ppt/slides/slide40.xml" Id="Rf06fb631a10a490b" /><Relationship Type="http://schemas.openxmlformats.org/officeDocument/2006/relationships/slide" Target="/ppt/slides/slide41.xml" Id="Rfe5a1998c76e429f" /><Relationship Type="http://schemas.openxmlformats.org/officeDocument/2006/relationships/slide" Target="/ppt/slides/slide42.xml" Id="R594b7d3e66264fbb" /><Relationship Type="http://schemas.openxmlformats.org/officeDocument/2006/relationships/slide" Target="/ppt/slides/slide43.xml" Id="R7ab9512adc074e84" /><Relationship Type="http://schemas.openxmlformats.org/officeDocument/2006/relationships/slide" Target="/ppt/slides/slide44.xml" Id="R27f7e98e877a4de5" /><Relationship Type="http://schemas.openxmlformats.org/officeDocument/2006/relationships/slide" Target="/ppt/slides/slide45.xml" Id="R8146ff5d6b694401" /><Relationship Type="http://schemas.openxmlformats.org/officeDocument/2006/relationships/slide" Target="/ppt/slides/slide46.xml" Id="R852a8203812a4d5c" /><Relationship Type="http://schemas.openxmlformats.org/officeDocument/2006/relationships/slide" Target="/ppt/slides/slide47.xml" Id="R7994ff83ec424bc5" /><Relationship Type="http://schemas.openxmlformats.org/officeDocument/2006/relationships/slide" Target="/ppt/slides/slide48.xml" Id="R9faa37d33d2247e7" /><Relationship Type="http://schemas.openxmlformats.org/officeDocument/2006/relationships/slide" Target="/ppt/slides/slide49.xml" Id="Rb4dad47dc28446bd" /><Relationship Type="http://schemas.openxmlformats.org/officeDocument/2006/relationships/slide" Target="/ppt/slides/slide50.xml" Id="R0fa4c1c8fed54d7c" /><Relationship Type="http://schemas.openxmlformats.org/officeDocument/2006/relationships/slide" Target="/ppt/slides/slide51.xml" Id="Rf45a31f571d64cb1" /><Relationship Type="http://schemas.openxmlformats.org/officeDocument/2006/relationships/slide" Target="/ppt/slides/slide52.xml" Id="Re07ebac37579446d" /><Relationship Type="http://schemas.openxmlformats.org/officeDocument/2006/relationships/slide" Target="/ppt/slides/slide53.xml" Id="R05c3013e77c94763" /><Relationship Type="http://schemas.openxmlformats.org/officeDocument/2006/relationships/slide" Target="/ppt/slides/slide54.xml" Id="R99a92bfa35f64060" /><Relationship Type="http://schemas.openxmlformats.org/officeDocument/2006/relationships/slide" Target="/ppt/slides/slide55.xml" Id="Rb83cdb25bcc24e14" /><Relationship Type="http://schemas.openxmlformats.org/officeDocument/2006/relationships/slide" Target="/ppt/slides/slide56.xml" Id="R8378f2c674cd48fb" /><Relationship Type="http://schemas.openxmlformats.org/officeDocument/2006/relationships/slide" Target="/ppt/slides/slide57.xml" Id="R3d97abe207b24704" /><Relationship Type="http://schemas.openxmlformats.org/officeDocument/2006/relationships/slide" Target="/ppt/slides/slide58.xml" Id="R568f6cec156a43c8" /><Relationship Type="http://schemas.openxmlformats.org/officeDocument/2006/relationships/slide" Target="/ppt/slides/slide59.xml" Id="R5ea54e6f0d49493e" /><Relationship Type="http://schemas.openxmlformats.org/officeDocument/2006/relationships/slide" Target="/ppt/slides/slide60.xml" Id="R9e6d4e89be294c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0f5253343a4f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2cd2fb7133b44ef" /><Relationship Type="http://schemas.openxmlformats.org/officeDocument/2006/relationships/notesMaster" Target="/ppt/notesMasters/notesMaster1.xml" Id="Rea93fbae639e44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8c251cd98f412d" /><Relationship Type="http://schemas.openxmlformats.org/officeDocument/2006/relationships/notesMaster" Target="/ppt/notesMasters/notesMaster1.xml" Id="Rb9f4d0c9844f4d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93ed11d52e408c" /><Relationship Type="http://schemas.openxmlformats.org/officeDocument/2006/relationships/notesMaster" Target="/ppt/notesMasters/notesMaster1.xml" Id="Rae42f8c0bd874f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d2c3a34bdd4813" /><Relationship Type="http://schemas.openxmlformats.org/officeDocument/2006/relationships/notesMaster" Target="/ppt/notesMasters/notesMaster1.xml" Id="R5e11d4d7999941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1f17cbbaf643bc" /><Relationship Type="http://schemas.openxmlformats.org/officeDocument/2006/relationships/notesMaster" Target="/ppt/notesMasters/notesMaster1.xml" Id="Rab23fcc4632040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e51174824340f8" /><Relationship Type="http://schemas.openxmlformats.org/officeDocument/2006/relationships/notesMaster" Target="/ppt/notesMasters/notesMaster1.xml" Id="R740b7993dba44f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1e200ffded4f83" /><Relationship Type="http://schemas.openxmlformats.org/officeDocument/2006/relationships/notesMaster" Target="/ppt/notesMasters/notesMaster1.xml" Id="R12a0ba5f910b48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64ea0548394727" /><Relationship Type="http://schemas.openxmlformats.org/officeDocument/2006/relationships/notesMaster" Target="/ppt/notesMasters/notesMaster1.xml" Id="R38bf3b9698c048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7733fff3d54b8b" /><Relationship Type="http://schemas.openxmlformats.org/officeDocument/2006/relationships/notesMaster" Target="/ppt/notesMasters/notesMaster1.xml" Id="R6c14f555a3e74f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78d6b1eb6b4b8e" /><Relationship Type="http://schemas.openxmlformats.org/officeDocument/2006/relationships/notesMaster" Target="/ppt/notesMasters/notesMaster1.xml" Id="Rd364510bd3c542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b85042efab40a0" /><Relationship Type="http://schemas.openxmlformats.org/officeDocument/2006/relationships/notesMaster" Target="/ppt/notesMasters/notesMaster1.xml" Id="R58ff6b68221441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dc5a3210e44462" /><Relationship Type="http://schemas.openxmlformats.org/officeDocument/2006/relationships/notesMaster" Target="/ppt/notesMasters/notesMaster1.xml" Id="R44fd47ed15a04ff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8b9e97fbae487b" /><Relationship Type="http://schemas.openxmlformats.org/officeDocument/2006/relationships/notesMaster" Target="/ppt/notesMasters/notesMaster1.xml" Id="Ra2ff199c075e4f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5a175046be4347" /><Relationship Type="http://schemas.openxmlformats.org/officeDocument/2006/relationships/notesMaster" Target="/ppt/notesMasters/notesMaster1.xml" Id="R4b4c08ecaf4e48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2aa0ab21574227" /><Relationship Type="http://schemas.openxmlformats.org/officeDocument/2006/relationships/notesMaster" Target="/ppt/notesMasters/notesMaster1.xml" Id="R29462e44bc604a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bf522d048e4483" /><Relationship Type="http://schemas.openxmlformats.org/officeDocument/2006/relationships/notesMaster" Target="/ppt/notesMasters/notesMaster1.xml" Id="Rb264c672e47b48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51006a0979428f" /><Relationship Type="http://schemas.openxmlformats.org/officeDocument/2006/relationships/notesMaster" Target="/ppt/notesMasters/notesMaster1.xml" Id="R74091fd1af22426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357f3440c74023" /><Relationship Type="http://schemas.openxmlformats.org/officeDocument/2006/relationships/notesMaster" Target="/ppt/notesMasters/notesMaster1.xml" Id="R61a33e34e82844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c85bc6e4eb4c14" /><Relationship Type="http://schemas.openxmlformats.org/officeDocument/2006/relationships/notesMaster" Target="/ppt/notesMasters/notesMaster1.xml" Id="R67946dc7082c47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e4b1a9fcdd45ae" /><Relationship Type="http://schemas.openxmlformats.org/officeDocument/2006/relationships/notesMaster" Target="/ppt/notesMasters/notesMaster1.xml" Id="Rc9cb6860e9aa4e1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4b3036ea0a64e02" /><Relationship Type="http://schemas.openxmlformats.org/officeDocument/2006/relationships/notesMaster" Target="/ppt/notesMasters/notesMaster1.xml" Id="R6d4e104a01af42f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605785fa654ad5" /><Relationship Type="http://schemas.openxmlformats.org/officeDocument/2006/relationships/notesMaster" Target="/ppt/notesMasters/notesMaster1.xml" Id="Rd26f3137d0484a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29bea90fc534a39" /><Relationship Type="http://schemas.openxmlformats.org/officeDocument/2006/relationships/notesMaster" Target="/ppt/notesMasters/notesMaster1.xml" Id="Rc084ebdf4b3a46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e5651f5d5d4219" /><Relationship Type="http://schemas.openxmlformats.org/officeDocument/2006/relationships/notesMaster" Target="/ppt/notesMasters/notesMaster1.xml" Id="R6ccba00ff86b489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54afad1c8a44146" /><Relationship Type="http://schemas.openxmlformats.org/officeDocument/2006/relationships/notesMaster" Target="/ppt/notesMasters/notesMaster1.xml" Id="Rbfa14557dae542a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9916283b674454c" /><Relationship Type="http://schemas.openxmlformats.org/officeDocument/2006/relationships/notesMaster" Target="/ppt/notesMasters/notesMaster1.xml" Id="R8f698f40d80445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0ffa2b020a24792" /><Relationship Type="http://schemas.openxmlformats.org/officeDocument/2006/relationships/notesMaster" Target="/ppt/notesMasters/notesMaster1.xml" Id="R8d1e9305507c4fb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7b436c056b4670" /><Relationship Type="http://schemas.openxmlformats.org/officeDocument/2006/relationships/notesMaster" Target="/ppt/notesMasters/notesMaster1.xml" Id="Rcf99df4c32974f9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96f4c05af7d4e8c" /><Relationship Type="http://schemas.openxmlformats.org/officeDocument/2006/relationships/notesMaster" Target="/ppt/notesMasters/notesMaster1.xml" Id="Ra77d1a8e3fbd472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5be8647007047b3" /><Relationship Type="http://schemas.openxmlformats.org/officeDocument/2006/relationships/notesMaster" Target="/ppt/notesMasters/notesMaster1.xml" Id="Rbbaef49722ab45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c3b8d3496a4e28" /><Relationship Type="http://schemas.openxmlformats.org/officeDocument/2006/relationships/notesMaster" Target="/ppt/notesMasters/notesMaster1.xml" Id="Rb16afcc5817147b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c29f2bf3da439b" /><Relationship Type="http://schemas.openxmlformats.org/officeDocument/2006/relationships/notesMaster" Target="/ppt/notesMasters/notesMaster1.xml" Id="R3fc12456ec934b9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68184bbdbc444c7" /><Relationship Type="http://schemas.openxmlformats.org/officeDocument/2006/relationships/notesMaster" Target="/ppt/notesMasters/notesMaster1.xml" Id="Ra3d13c42bd00403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b135c98f04d4306" /><Relationship Type="http://schemas.openxmlformats.org/officeDocument/2006/relationships/notesMaster" Target="/ppt/notesMasters/notesMaster1.xml" Id="R25e744d4ca454f8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d4c00c611b24a14" /><Relationship Type="http://schemas.openxmlformats.org/officeDocument/2006/relationships/notesMaster" Target="/ppt/notesMasters/notesMaster1.xml" Id="Rd8fe4506bf87486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7edf0cdac584f71" /><Relationship Type="http://schemas.openxmlformats.org/officeDocument/2006/relationships/notesMaster" Target="/ppt/notesMasters/notesMaster1.xml" Id="R1f75792f17e047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912a12f2f74e7e" /><Relationship Type="http://schemas.openxmlformats.org/officeDocument/2006/relationships/notesMaster" Target="/ppt/notesMasters/notesMaster1.xml" Id="R03600863c12c4bd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a03463a95194e39" /><Relationship Type="http://schemas.openxmlformats.org/officeDocument/2006/relationships/notesMaster" Target="/ppt/notesMasters/notesMaster1.xml" Id="R90be28cee90248d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eb3f8902b9954388" /><Relationship Type="http://schemas.openxmlformats.org/officeDocument/2006/relationships/notesMaster" Target="/ppt/notesMasters/notesMaster1.xml" Id="Re10c10224d1a429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317fb1a18454b7b" /><Relationship Type="http://schemas.openxmlformats.org/officeDocument/2006/relationships/notesMaster" Target="/ppt/notesMasters/notesMaster1.xml" Id="Ra4a42b0432924dc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aac035044c543df" /><Relationship Type="http://schemas.openxmlformats.org/officeDocument/2006/relationships/notesMaster" Target="/ppt/notesMasters/notesMaster1.xml" Id="R22f4d86fca2c480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c3c832ca2cb4080" /><Relationship Type="http://schemas.openxmlformats.org/officeDocument/2006/relationships/notesMaster" Target="/ppt/notesMasters/notesMaster1.xml" Id="R7c358da3a04148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a9bc24aaa1f4a35" /><Relationship Type="http://schemas.openxmlformats.org/officeDocument/2006/relationships/notesMaster" Target="/ppt/notesMasters/notesMaster1.xml" Id="R17dab0d9586242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49b6abbdb1c4fb5" /><Relationship Type="http://schemas.openxmlformats.org/officeDocument/2006/relationships/notesMaster" Target="/ppt/notesMasters/notesMaster1.xml" Id="R038da3169984410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1b85d3d620c492f" /><Relationship Type="http://schemas.openxmlformats.org/officeDocument/2006/relationships/notesMaster" Target="/ppt/notesMasters/notesMaster1.xml" Id="R024b1e1e46d94a8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37b1b8df568416a" /><Relationship Type="http://schemas.openxmlformats.org/officeDocument/2006/relationships/notesMaster" Target="/ppt/notesMasters/notesMaster1.xml" Id="Rde3612b24685479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b54916190fb4346" /><Relationship Type="http://schemas.openxmlformats.org/officeDocument/2006/relationships/notesMaster" Target="/ppt/notesMasters/notesMaster1.xml" Id="R636ec30bc479450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208084132224c4d" /><Relationship Type="http://schemas.openxmlformats.org/officeDocument/2006/relationships/notesMaster" Target="/ppt/notesMasters/notesMaster1.xml" Id="Rcde2530e35534fa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cf9c93a5b65455e" /><Relationship Type="http://schemas.openxmlformats.org/officeDocument/2006/relationships/notesMaster" Target="/ppt/notesMasters/notesMaster1.xml" Id="Rc727195351b64d7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ad7d8f6f308495f" /><Relationship Type="http://schemas.openxmlformats.org/officeDocument/2006/relationships/notesMaster" Target="/ppt/notesMasters/notesMaster1.xml" Id="Ref6d4aa8c8b94f3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09b91e53af64249" /><Relationship Type="http://schemas.openxmlformats.org/officeDocument/2006/relationships/notesMaster" Target="/ppt/notesMasters/notesMaster1.xml" Id="Rd5b89c38a92d457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5225aa2fca94e84" /><Relationship Type="http://schemas.openxmlformats.org/officeDocument/2006/relationships/notesMaster" Target="/ppt/notesMasters/notesMaster1.xml" Id="R4e4f53ab7e1b4f1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7c7ad2739244c13" /><Relationship Type="http://schemas.openxmlformats.org/officeDocument/2006/relationships/notesMaster" Target="/ppt/notesMasters/notesMaster1.xml" Id="Ra1787aef0e514c0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277827a3db845b4" /><Relationship Type="http://schemas.openxmlformats.org/officeDocument/2006/relationships/notesMaster" Target="/ppt/notesMasters/notesMaster1.xml" Id="Rcf1f2bf26ebe4cc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3260b6a74c14a09" /><Relationship Type="http://schemas.openxmlformats.org/officeDocument/2006/relationships/notesMaster" Target="/ppt/notesMasters/notesMaster1.xml" Id="Rf55f80ea939845a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f50e771536d4a77" /><Relationship Type="http://schemas.openxmlformats.org/officeDocument/2006/relationships/notesMaster" Target="/ppt/notesMasters/notesMaster1.xml" Id="R2c4cebd6114a441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eb861dd2c1b4729" /><Relationship Type="http://schemas.openxmlformats.org/officeDocument/2006/relationships/notesMaster" Target="/ppt/notesMasters/notesMaster1.xml" Id="Rda0bbfe351d440f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c0954457dfa489e" /><Relationship Type="http://schemas.openxmlformats.org/officeDocument/2006/relationships/notesMaster" Target="/ppt/notesMasters/notesMaster1.xml" Id="R8ddef8cc42414d9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f3e996d7bd44d58" /><Relationship Type="http://schemas.openxmlformats.org/officeDocument/2006/relationships/notesMaster" Target="/ppt/notesMasters/notesMaster1.xml" Id="Ra0d0d56d8f0e417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e18c866668c4183" /><Relationship Type="http://schemas.openxmlformats.org/officeDocument/2006/relationships/notesMaster" Target="/ppt/notesMasters/notesMaster1.xml" Id="R45ba30d48c784f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defense presents one coherent project from two angles. The Master thesis frames trustworthy SBOM recovery as an evidence problem. The Engineering thesis implements and evaluates a working APK-to-SBOM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 SBOM generation works best when source metadata exists. This work starts in the harder audit scenario where only the APK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Master thesis separates the syntax of an SBOM from the trustworthiness of the claims inside it. This distinction drives the whole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goal is not perfect reverse engineering. The goal is a usable security artifact that remains honest about what the APK evidence can and cannot prove.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Master thesis explains why trust boundaries matter. The Engineering thesis shows how those boundaries were implemented in a working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presentation moves from problem context to literature, then to the proposed contribution, implementation, demonstration, and future work. Section 2. Background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need comes from the complexity of modern dependency reuse. Android applications are especially difficult because many components are merged before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CycloneDX and PURL because the output should be interoperable, not a custom detector report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build-time SBOM has access to authoritative metadata. A reconstructed APK SBOM must infer from residue and should never claim more authority than the evidence supports.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explains why dependency boundaries are not preserved in the final artifact. The analyzer sees the result of the build, not the developer's dependency 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region has value, but none is a complete dependency inventory. DEX is the main Maven evidence region, while native files require separate treatment.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extracts multiple DEX features because each one fails differently under transformations.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R8 is not only renaming. It can remove or rewrite the exact features used to distinguish adjacent library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prevents a plausible library match from becoming an unsupported exact version and then a misleading CVE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intentionally static. It reports native and hidden-code boundaries instead of inventing Maven identities for unsupported regions. Section 3. State of the 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Master thesis focuses on what each approach can justify as evidence, not only on reported percentages.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generation made library detection practical but did not fully solve exact version attribution in transformed APKs.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Structural methods are important because package names are fragile. They also show that stronger evidence often costs more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Version-level tools are closest to SBOM and CVE use cases because vulnerability databases depend on exact affected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lesson is that obfuscation cannot be treated as one checkbox. Different transformations harm different evidence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can help triage hard cases, but the thesis keeps it separate from authoritative component and version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is positioned at the intersection of component detection, SBOM generation, and vulnerability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defense should not claim that this MVP beats every tool. It should claim that it reports evidence and limitations more responsibly.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gap is not only algorithmic accuracy. It is also how outputs become auditable security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prevents the project from looking ad hoc. Each main feature has a research basis and a bounded implementation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principle becomes the design rule for the contribution and implementation sections. Section 4.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both conceptual and practical. The system implements the evidence boundaries argued by the Master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does not treat a match row as a final fact. It treats it as a claim with evidence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separation allows experimentation without silently changing the official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confident family match and an uncertain exact version can coexist. The output should expose that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is intentionally hybrid. Optional signals exist, but they stay disabled when they do not improve controls safely.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SBOM is not only a list. It carries enough context for a downstream analyst to understand how strong a recovered claim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security impact of confidence. A vulnerability database can only answer the version it is given.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design is part of the contribution because it prevents clean cases, hard cases, and boundary cases from being mixed into one misleading score. Section 5.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focuses on the engineering thesis solution and how the concepts became an end-to-end tool.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extractor provides the foundation. If code is missing, hidden, or native, the system should record the boundary instead of assuming absence.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DEX analysis turns APK bytecode into the same style of features that will later be extracted from Maven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Comparing APK DEX to source or JVM bytecode directly would introduce representation mismatch. The reference database uses a DEX-oriented representation.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matcher must balance recall and cost. A too-strict shortlist can lose real components, while a too-broad shortlist creates false near-ties.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 ranks candidates. It is not a calibrated probability. Confidence also depends on alternatives, gaps, coverage, and transformations.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can select a best candidate while still exposing that nearby versions remain plausible.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SBOM is conservative. Diagnostic consumers can include uncertain rows, but that changes the meaning of the SBOM.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vulnerability layer does not repair uncertain component evidence. It reports vulnerability results within the authority of the detected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reports are important because defense and audit users need to see why a decision was made, not only the final component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 is modular so failures can be localized. This also supports reproducibility and demo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includes reproducibility instructions because APK analysis depends on tool versions, D8 availability, and reference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denominator matters. The evaluation is designed to show where the tool works, where it is partial, and where it should abstain.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shows the system can recover exact versions when references and controlled ground truth are available. It is not a claim of perfect real-world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key normal metric. The wording must be precise: emitted Maven version confirmation rate, not total dependency recall.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source denominator is stricter. It shows that useful emitted rows exist, but many dependencies are not emitted exactly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v2 lane proves recognition capacity when the correct source versions constrain the candidate space. It must not be presented as unconstrained APK-only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remaining denominator is visible. Some rows are not valid runtime bytecode targets, some need references, and many need matcher recall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restores the old deck's AI proof lane. It shows that the ML and DL work is evaluated as its own evidence class and cannot silently change official SBOM or CVE output. Section 6.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RandomForest is useful as an assistant because it can triage report rows. It is not allowed to confirm exact Maven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old presentation separated ML and DL because the conclusions are different. Structured project-evidence tokens are useful for triage, while raw opcode sequences did not beat the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should show an end-to-end path without live dependence on long rebuilds or unstable network services unless explicitly refreshed.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generated report screenshots from the old deck, not mockups. The clean lane proves a negative vulnerability result, and the Jackson lane proves a positive vulnerability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keeps the large screenshot set from the old presentation. It shows that the generated report surfaces clean, vulnerable, and AI-assisted proof while preserving the official output boundary. Section 7.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should connect research and implementation. The project favors auditable partial knowledge over unsupported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ends with a clear agenda. The next step is not to remove uncertainty from the report, but to calibrate it and expand the evidence domains safely.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bb5c8fab74d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4cafb355db49b8" /><Relationship Type="http://schemas.openxmlformats.org/officeDocument/2006/relationships/slideLayout" Target="/ppt/slideLayouts/slideLayout1.xml" Id="Rc6d3b2c79e314d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d3b2c79e314d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ccd0765be14780" /><Relationship Type="http://schemas.openxmlformats.org/officeDocument/2006/relationships/notesSlide" Target="/ppt/notesSlides/notesSlide1.xml" Id="Rc627838de62d45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d4d47b32e046ee" /><Relationship Type="http://schemas.openxmlformats.org/officeDocument/2006/relationships/notesSlide" Target="/ppt/notesSlides/notesSlide2.xml" Id="R435652184c614d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2768c1f4f84c7d" /><Relationship Type="http://schemas.openxmlformats.org/officeDocument/2006/relationships/notesSlide" Target="/ppt/notesSlides/notesSlide3.xml" Id="Rba58c5da62a146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7d6f9d9b6a463a" /><Relationship Type="http://schemas.openxmlformats.org/officeDocument/2006/relationships/notesSlide" Target="/ppt/notesSlides/notesSlide4.xml" Id="R5f8adc5eb5a944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dcd83fc0b74949" /><Relationship Type="http://schemas.openxmlformats.org/officeDocument/2006/relationships/notesSlide" Target="/ppt/notesSlides/notesSlide5.xml" Id="R4c24c4e2d6d44c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1b66cb2e474201" /><Relationship Type="http://schemas.openxmlformats.org/officeDocument/2006/relationships/notesSlide" Target="/ppt/notesSlides/notesSlide6.xml" Id="R98a68e43553c48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2fc2b7e1e74dfd" /><Relationship Type="http://schemas.openxmlformats.org/officeDocument/2006/relationships/notesSlide" Target="/ppt/notesSlides/notesSlide7.xml" Id="R0648b0b404df49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8bc5f8564d47a6" /><Relationship Type="http://schemas.openxmlformats.org/officeDocument/2006/relationships/notesSlide" Target="/ppt/notesSlides/notesSlide8.xml" Id="R395210e361194d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0826804c9447c9" /><Relationship Type="http://schemas.openxmlformats.org/officeDocument/2006/relationships/notesSlide" Target="/ppt/notesSlides/notesSlide9.xml" Id="R7a82cfae093843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e1a5e1c688469e" /><Relationship Type="http://schemas.openxmlformats.org/officeDocument/2006/relationships/notesSlide" Target="/ppt/notesSlides/notesSlide10.xml" Id="R32f9d9eae7af4b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bc2c43a9a8b410e" /><Relationship Type="http://schemas.openxmlformats.org/officeDocument/2006/relationships/notesSlide" Target="/ppt/notesSlides/notesSlide11.xml" Id="R8647ffcbba014d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2a343cc5c97464d" /><Relationship Type="http://schemas.openxmlformats.org/officeDocument/2006/relationships/notesSlide" Target="/ppt/notesSlides/notesSlide12.xml" Id="R0fa4b22a6b7d48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b875163bf8f4692" /><Relationship Type="http://schemas.openxmlformats.org/officeDocument/2006/relationships/notesSlide" Target="/ppt/notesSlides/notesSlide13.xml" Id="R28c62122cc1643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64f31065a84c6d" /><Relationship Type="http://schemas.openxmlformats.org/officeDocument/2006/relationships/notesSlide" Target="/ppt/notesSlides/notesSlide14.xml" Id="R02c56a1a69db44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56ca312b5a3460d" /><Relationship Type="http://schemas.openxmlformats.org/officeDocument/2006/relationships/notesSlide" Target="/ppt/notesSlides/notesSlide15.xml" Id="R755fbcb8c64045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a5b71d030ba4715" /><Relationship Type="http://schemas.openxmlformats.org/officeDocument/2006/relationships/notesSlide" Target="/ppt/notesSlides/notesSlide16.xml" Id="R2be24d3e62d94ec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a9be018be394b85" /><Relationship Type="http://schemas.openxmlformats.org/officeDocument/2006/relationships/notesSlide" Target="/ppt/notesSlides/notesSlide17.xml" Id="R9834d819e4e94d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b7657d3db1c43bf" /><Relationship Type="http://schemas.openxmlformats.org/officeDocument/2006/relationships/notesSlide" Target="/ppt/notesSlides/notesSlide18.xml" Id="R44ed47221897400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15be40df5c34338" /><Relationship Type="http://schemas.openxmlformats.org/officeDocument/2006/relationships/notesSlide" Target="/ppt/notesSlides/notesSlide19.xml" Id="R2181b9d965614f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01c1a86f6de4719" /><Relationship Type="http://schemas.openxmlformats.org/officeDocument/2006/relationships/notesSlide" Target="/ppt/notesSlides/notesSlide20.xml" Id="Refd6ef9e93a24f5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fd37af53be44c74" /><Relationship Type="http://schemas.openxmlformats.org/officeDocument/2006/relationships/notesSlide" Target="/ppt/notesSlides/notesSlide21.xml" Id="Rcfa3a64c3b1042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71fe7b3d63544d5" /><Relationship Type="http://schemas.openxmlformats.org/officeDocument/2006/relationships/notesSlide" Target="/ppt/notesSlides/notesSlide22.xml" Id="Re20dcbfb5b2e41b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4ca3a19600c4e66" /><Relationship Type="http://schemas.openxmlformats.org/officeDocument/2006/relationships/notesSlide" Target="/ppt/notesSlides/notesSlide23.xml" Id="R73d7342f29c84d7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873984283984434" /><Relationship Type="http://schemas.openxmlformats.org/officeDocument/2006/relationships/notesSlide" Target="/ppt/notesSlides/notesSlide24.xml" Id="R49303e5bc38243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ed6ff94c0c54397" /><Relationship Type="http://schemas.openxmlformats.org/officeDocument/2006/relationships/notesSlide" Target="/ppt/notesSlides/notesSlide25.xml" Id="R137d2df64d8149e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d07bd66aea84d9b" /><Relationship Type="http://schemas.openxmlformats.org/officeDocument/2006/relationships/notesSlide" Target="/ppt/notesSlides/notesSlide26.xml" Id="Rc3a4b11b660e41f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291e69be88f4c5a" /><Relationship Type="http://schemas.openxmlformats.org/officeDocument/2006/relationships/notesSlide" Target="/ppt/notesSlides/notesSlide27.xml" Id="R94703a7432d14a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c18744af70a49b6" /><Relationship Type="http://schemas.openxmlformats.org/officeDocument/2006/relationships/notesSlide" Target="/ppt/notesSlides/notesSlide28.xml" Id="R0bd87adef31b416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242982ac7c724986" /><Relationship Type="http://schemas.openxmlformats.org/officeDocument/2006/relationships/notesSlide" Target="/ppt/notesSlides/notesSlide29.xml" Id="R36915849d1114d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2929e3a6a4f4aa3" /><Relationship Type="http://schemas.openxmlformats.org/officeDocument/2006/relationships/notesSlide" Target="/ppt/notesSlides/notesSlide30.xml" Id="R0c3294e2dbe449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96e8e49cd574db1" /><Relationship Type="http://schemas.openxmlformats.org/officeDocument/2006/relationships/notesSlide" Target="/ppt/notesSlides/notesSlide31.xml" Id="Re8a5ba557e23409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44f0fd642c7410b" /><Relationship Type="http://schemas.openxmlformats.org/officeDocument/2006/relationships/notesSlide" Target="/ppt/notesSlides/notesSlide32.xml" Id="R6027f0a90036409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07008e728524f00" /><Relationship Type="http://schemas.openxmlformats.org/officeDocument/2006/relationships/notesSlide" Target="/ppt/notesSlides/notesSlide33.xml" Id="Rd91161957264441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4b953cd70014f4e" /><Relationship Type="http://schemas.openxmlformats.org/officeDocument/2006/relationships/notesSlide" Target="/ppt/notesSlides/notesSlide34.xml" Id="Rc2fa481f568b4b9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ee56d3f80f9443a" /><Relationship Type="http://schemas.openxmlformats.org/officeDocument/2006/relationships/notesSlide" Target="/ppt/notesSlides/notesSlide35.xml" Id="R047976afb58644c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3e6d3f69d36468b" /><Relationship Type="http://schemas.openxmlformats.org/officeDocument/2006/relationships/notesSlide" Target="/ppt/notesSlides/notesSlide36.xml" Id="R5d7840174aa247c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5f20d02c3f3450c" /><Relationship Type="http://schemas.openxmlformats.org/officeDocument/2006/relationships/notesSlide" Target="/ppt/notesSlides/notesSlide37.xml" Id="Rb05ae734f0fd440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d3a34bd1c204062" /><Relationship Type="http://schemas.openxmlformats.org/officeDocument/2006/relationships/notesSlide" Target="/ppt/notesSlides/notesSlide38.xml" Id="Rea6e76056993460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e72b81e61364539" /><Relationship Type="http://schemas.openxmlformats.org/officeDocument/2006/relationships/notesSlide" Target="/ppt/notesSlides/notesSlide39.xml" Id="Rddab5a0296b647a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f2e99b9592f4081" /><Relationship Type="http://schemas.openxmlformats.org/officeDocument/2006/relationships/notesSlide" Target="/ppt/notesSlides/notesSlide40.xml" Id="R34e3d3cb44db455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2c9fb06cccf4ce4" /><Relationship Type="http://schemas.openxmlformats.org/officeDocument/2006/relationships/notesSlide" Target="/ppt/notesSlides/notesSlide41.xml" Id="R60a3004a185f44c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66c6d49643e456d" /><Relationship Type="http://schemas.openxmlformats.org/officeDocument/2006/relationships/notesSlide" Target="/ppt/notesSlides/notesSlide42.xml" Id="R067de8b77ef0429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30ae0918ca84100" /><Relationship Type="http://schemas.openxmlformats.org/officeDocument/2006/relationships/notesSlide" Target="/ppt/notesSlides/notesSlide43.xml" Id="R7cdcd70be40f4a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3363f05d3a8407a" /><Relationship Type="http://schemas.openxmlformats.org/officeDocument/2006/relationships/notesSlide" Target="/ppt/notesSlides/notesSlide44.xml" Id="Ra1bae4f7a8a845a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33ddd3f80694501" /><Relationship Type="http://schemas.openxmlformats.org/officeDocument/2006/relationships/notesSlide" Target="/ppt/notesSlides/notesSlide45.xml" Id="Racbfd8568771425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47f1d894d6249f1" /><Relationship Type="http://schemas.openxmlformats.org/officeDocument/2006/relationships/notesSlide" Target="/ppt/notesSlides/notesSlide46.xml" Id="R77f90e3d85c446c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361ffd1dd8594208" /><Relationship Type="http://schemas.openxmlformats.org/officeDocument/2006/relationships/notesSlide" Target="/ppt/notesSlides/notesSlide47.xml" Id="R55c6b0fd8b5749a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c7bfe3981694876" /><Relationship Type="http://schemas.openxmlformats.org/officeDocument/2006/relationships/notesSlide" Target="/ppt/notesSlides/notesSlide48.xml" Id="R381a5c2145a244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459d5327f50491f" /><Relationship Type="http://schemas.openxmlformats.org/officeDocument/2006/relationships/notesSlide" Target="/ppt/notesSlides/notesSlide49.xml" Id="Rf39cc113d9024c4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b30555572224ff8" /><Relationship Type="http://schemas.openxmlformats.org/officeDocument/2006/relationships/notesSlide" Target="/ppt/notesSlides/notesSlide50.xml" Id="Re282cb8e1f2f4f8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f5a018557d84fd6" /><Relationship Type="http://schemas.openxmlformats.org/officeDocument/2006/relationships/notesSlide" Target="/ppt/notesSlides/notesSlide51.xml" Id="R2b1628a1a3374a6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6fa27be53c34dda" /><Relationship Type="http://schemas.openxmlformats.org/officeDocument/2006/relationships/notesSlide" Target="/ppt/notesSlides/notesSlide52.xml" Id="R3803d4a24715450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22244b550dc4811" /><Relationship Type="http://schemas.openxmlformats.org/officeDocument/2006/relationships/image" Target="/ppt/media/image.png" Id="R03c361a445c3467a" /><Relationship Type="http://schemas.openxmlformats.org/officeDocument/2006/relationships/notesSlide" Target="/ppt/notesSlides/notesSlide53.xml" Id="Rafcdffafe93a4c39"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62a104c6c714372" /><Relationship Type="http://schemas.openxmlformats.org/officeDocument/2006/relationships/notesSlide" Target="/ppt/notesSlides/notesSlide54.xml" Id="Rc6afa406020a4bc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c694f7f2f8246f7" /><Relationship Type="http://schemas.openxmlformats.org/officeDocument/2006/relationships/notesSlide" Target="/ppt/notesSlides/notesSlide55.xml" Id="R0ea1c508e30540ae"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47ac353ffbf4b36" /><Relationship Type="http://schemas.openxmlformats.org/officeDocument/2006/relationships/notesSlide" Target="/ppt/notesSlides/notesSlide56.xml" Id="Rd0432684f1f0466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5dd41e5648e4157" /><Relationship Type="http://schemas.openxmlformats.org/officeDocument/2006/relationships/image" Target="/ppt/media/image2.png" Id="Rc8eb2d7efa484bf4" /><Relationship Type="http://schemas.openxmlformats.org/officeDocument/2006/relationships/image" Target="/ppt/media/image3.png" Id="R9215dffb38c042d7" /><Relationship Type="http://schemas.openxmlformats.org/officeDocument/2006/relationships/notesSlide" Target="/ppt/notesSlides/notesSlide57.xml" Id="R4d171d2154d941d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3bdd891d2b2e4bce" /><Relationship Type="http://schemas.openxmlformats.org/officeDocument/2006/relationships/image" Target="/ppt/media/image4.png" Id="Rac8605d620f3483d" /><Relationship Type="http://schemas.openxmlformats.org/officeDocument/2006/relationships/image" Target="/ppt/media/image5.png" Id="R454db8e28ec244a2" /><Relationship Type="http://schemas.openxmlformats.org/officeDocument/2006/relationships/image" Target="/ppt/media/image6.png" Id="Rd4511061bd1e47b6" /><Relationship Type="http://schemas.openxmlformats.org/officeDocument/2006/relationships/image" Target="/ppt/media/image7.png" Id="R64b67fe5eb4d4d04" /><Relationship Type="http://schemas.openxmlformats.org/officeDocument/2006/relationships/image" Target="/ppt/media/image8.png" Id="R8916ceb19e0c47c8" /><Relationship Type="http://schemas.openxmlformats.org/officeDocument/2006/relationships/image" Target="/ppt/media/image9.png" Id="Rbc6db5387b6b4231" /><Relationship Type="http://schemas.openxmlformats.org/officeDocument/2006/relationships/image" Target="/ppt/media/image10.png" Id="R68103f9c53a042ad" /><Relationship Type="http://schemas.openxmlformats.org/officeDocument/2006/relationships/image" Target="/ppt/media/image11.png" Id="R41588ad06a844700" /><Relationship Type="http://schemas.openxmlformats.org/officeDocument/2006/relationships/image" Target="/ppt/media/image12.png" Id="Refaed2ec3ae84111" /><Relationship Type="http://schemas.openxmlformats.org/officeDocument/2006/relationships/notesSlide" Target="/ppt/notesSlides/notesSlide58.xml" Id="R0393c2edf9674c4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4a056c82f0f4d73" /><Relationship Type="http://schemas.openxmlformats.org/officeDocument/2006/relationships/notesSlide" Target="/ppt/notesSlides/notesSlide59.xml" Id="Rbbaa9b68edc743a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43acf2a95ef4c1a" /><Relationship Type="http://schemas.openxmlformats.org/officeDocument/2006/relationships/notesSlide" Target="/ppt/notesSlides/notesSlide60.xml" Id="R6bb3ac33ede34a45"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5FD78E-9BD6-4F56-9164-585D3A82D9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ED9CCD-9F22-4C04-8079-963BEEEA07FB}"/>
              </a:ext>
            </a:extLst>
          </p:cNvPr>
          <p:cNvSpPr>
            <a:spLocks xmlns:a="http://schemas.openxmlformats.org/drawingml/2006/main" noGrp="1"/>
          </p:cNvSpPr>
          <p:nvPr/>
        </p:nvSpPr>
        <p:spPr>
          <a:xfrm xmlns:a="http://schemas.openxmlformats.org/drawingml/2006/main">
            <a:off x="0" y="0"/>
            <a:ext cx="1047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5995C83-3A92-45F8-B14B-E5501895FD02}"/>
              </a:ext>
            </a:extLst>
          </p:cNvPr>
          <p:cNvSpPr>
            <a:spLocks xmlns:a="http://schemas.openxmlformats.org/drawingml/2006/main" noGrp="1"/>
          </p:cNvSpPr>
          <p:nvPr/>
        </p:nvSpPr>
        <p:spPr>
          <a:xfrm xmlns:a="http://schemas.openxmlformats.org/drawingml/2006/main">
            <a:off x="704850" y="5524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GRADUATION DEFENSE</a:t>
            </a:r>
          </a:p>
        </p:txBody>
      </p:sp>
      <p:sp>
        <p:nvSpPr>
          <p:cNvPr id="4" name="">
            <a:extLst xmlns:a="http://schemas.openxmlformats.org/drawingml/2006/main">
              <a:ext uri="{FF2B5EF4-FFF2-40B4-BE49-F238E27FC236}">
                <a16:creationId xmlns:a16="http://schemas.microsoft.com/office/drawing/2014/main" id="{E6280723-9B1C-4A01-BF5A-8262D041ED06}"/>
              </a:ext>
            </a:extLst>
          </p:cNvPr>
          <p:cNvSpPr>
            <a:spLocks xmlns:a="http://schemas.openxmlformats.org/drawingml/2006/main" noGrp="1"/>
          </p:cNvSpPr>
          <p:nvPr/>
        </p:nvSpPr>
        <p:spPr>
          <a:xfrm xmlns:a="http://schemas.openxmlformats.org/drawingml/2006/main">
            <a:off x="685800" y="1352550"/>
            <a:ext cx="6667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7212B"/>
                </a:solidFill>
                <a:latin typeface="Aptos Display"/>
                <a:ea typeface="Aptos Display"/>
                <a:cs typeface="Aptos Display"/>
              </a:defRPr>
            </a:pPr>
            <a:r>
              <a:rPr sz="3450" b="1">
                <a:solidFill>
                  <a:srgbClr val="17212B"/>
                </a:solidFill>
                <a:latin typeface="Aptos Display"/>
                <a:ea typeface="Aptos Display"/>
                <a:cs typeface="Aptos Display"/>
              </a:rPr>
              <a:t>Evidence-Based</a:t>
            </a:r>
          </a:p>
          <a:p xmlns:a="http://schemas.openxmlformats.org/drawingml/2006/main">
            <a:pPr algn="l">
              <a:defRPr sz="3450" b="1">
                <a:solidFill>
                  <a:srgbClr val="17212B"/>
                </a:solidFill>
                <a:latin typeface="Aptos Display"/>
                <a:ea typeface="Aptos Display"/>
                <a:cs typeface="Aptos Display"/>
              </a:defRPr>
            </a:pPr>
            <a:r>
              <a:rPr sz="3450" b="1">
                <a:solidFill>
                  <a:srgbClr val="17212B"/>
                </a:solidFill>
                <a:latin typeface="Aptos Display"/>
                <a:ea typeface="Aptos Display"/>
                <a:cs typeface="Aptos Display"/>
              </a:rPr>
              <a:t>SBOM Recovery</a:t>
            </a:r>
          </a:p>
          <a:p xmlns:a="http://schemas.openxmlformats.org/drawingml/2006/main">
            <a:pPr algn="l">
              <a:defRPr sz="3450" b="1">
                <a:solidFill>
                  <a:srgbClr val="17212B"/>
                </a:solidFill>
                <a:latin typeface="Aptos Display"/>
                <a:ea typeface="Aptos Display"/>
                <a:cs typeface="Aptos Display"/>
              </a:defRPr>
            </a:pPr>
            <a:r>
              <a:rPr sz="3450" b="1">
                <a:solidFill>
                  <a:srgbClr val="17212B"/>
                </a:solidFill>
                <a:latin typeface="Aptos Display"/>
                <a:ea typeface="Aptos Display"/>
                <a:cs typeface="Aptos Display"/>
              </a:rPr>
              <a:t>from Compiled Android APKs</a:t>
            </a:r>
          </a:p>
        </p:txBody>
      </p:sp>
      <p:sp>
        <p:nvSpPr>
          <p:cNvPr id="5" name="">
            <a:extLst xmlns:a="http://schemas.openxmlformats.org/drawingml/2006/main">
              <a:ext uri="{FF2B5EF4-FFF2-40B4-BE49-F238E27FC236}">
                <a16:creationId xmlns:a16="http://schemas.microsoft.com/office/drawing/2014/main" id="{B2BE6063-4C7F-4743-96C7-A18C49BCE486}"/>
              </a:ext>
            </a:extLst>
          </p:cNvPr>
          <p:cNvSpPr>
            <a:spLocks xmlns:a="http://schemas.openxmlformats.org/drawingml/2006/main" noGrp="1"/>
          </p:cNvSpPr>
          <p:nvPr/>
        </p:nvSpPr>
        <p:spPr>
          <a:xfrm xmlns:a="http://schemas.openxmlformats.org/drawingml/2006/main">
            <a:off x="723900" y="3714750"/>
            <a:ext cx="590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E6B78"/>
                </a:solidFill>
                <a:latin typeface="Aptos"/>
                <a:ea typeface="Aptos"/>
                <a:cs typeface="Aptos"/>
              </a:defRPr>
            </a:pPr>
            <a:r>
              <a:rPr sz="1500" b="0">
                <a:solidFill>
                  <a:srgbClr val="5E6B78"/>
                </a:solidFill>
                <a:latin typeface="Aptos"/>
                <a:ea typeface="Aptos"/>
                <a:cs typeface="Aptos"/>
              </a:rPr>
              <a:t>Trustworthy component attribution, CycloneDX output, and vulnerability interpretation</a:t>
            </a:r>
          </a:p>
        </p:txBody>
      </p:sp>
      <p:sp>
        <p:nvSpPr>
          <p:cNvPr id="6" name="">
            <a:extLst xmlns:a="http://schemas.openxmlformats.org/drawingml/2006/main">
              <a:ext uri="{FF2B5EF4-FFF2-40B4-BE49-F238E27FC236}">
                <a16:creationId xmlns:a16="http://schemas.microsoft.com/office/drawing/2014/main" id="{3F48472E-B3B3-45B7-8BFE-579BD8B04DE0}"/>
              </a:ext>
            </a:extLst>
          </p:cNvPr>
          <p:cNvSpPr>
            <a:spLocks xmlns:a="http://schemas.openxmlformats.org/drawingml/2006/main" noGrp="1"/>
          </p:cNvSpPr>
          <p:nvPr/>
        </p:nvSpPr>
        <p:spPr>
          <a:xfrm xmlns:a="http://schemas.openxmlformats.org/drawingml/2006/main">
            <a:off x="6724650" y="1714500"/>
            <a:ext cx="97155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7" name="">
            <a:extLst xmlns:a="http://schemas.openxmlformats.org/drawingml/2006/main">
              <a:ext uri="{FF2B5EF4-FFF2-40B4-BE49-F238E27FC236}">
                <a16:creationId xmlns:a16="http://schemas.microsoft.com/office/drawing/2014/main" id="{F6461697-E3BE-4CD5-A63B-E5F086C193E9}"/>
              </a:ext>
            </a:extLst>
          </p:cNvPr>
          <p:cNvSpPr>
            <a:spLocks xmlns:a="http://schemas.openxmlformats.org/drawingml/2006/main" noGrp="1"/>
          </p:cNvSpPr>
          <p:nvPr/>
        </p:nvSpPr>
        <p:spPr>
          <a:xfrm xmlns:a="http://schemas.openxmlformats.org/drawingml/2006/main">
            <a:off x="6819900" y="189547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8" name="">
            <a:extLst xmlns:a="http://schemas.openxmlformats.org/drawingml/2006/main">
              <a:ext uri="{FF2B5EF4-FFF2-40B4-BE49-F238E27FC236}">
                <a16:creationId xmlns:a16="http://schemas.microsoft.com/office/drawing/2014/main" id="{1486FFE2-DF44-4726-8B84-305E773E5A4B}"/>
              </a:ext>
            </a:extLst>
          </p:cNvPr>
          <p:cNvSpPr>
            <a:spLocks xmlns:a="http://schemas.openxmlformats.org/drawingml/2006/main" noGrp="1"/>
          </p:cNvSpPr>
          <p:nvPr/>
        </p:nvSpPr>
        <p:spPr>
          <a:xfrm xmlns:a="http://schemas.openxmlformats.org/drawingml/2006/main">
            <a:off x="7686675" y="191452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1F44825-B683-4E36-B2D4-1C077E8797E2}"/>
              </a:ext>
            </a:extLst>
          </p:cNvPr>
          <p:cNvSpPr>
            <a:spLocks xmlns:a="http://schemas.openxmlformats.org/drawingml/2006/main" noGrp="1"/>
          </p:cNvSpPr>
          <p:nvPr/>
        </p:nvSpPr>
        <p:spPr>
          <a:xfrm xmlns:a="http://schemas.openxmlformats.org/drawingml/2006/main">
            <a:off x="7829550" y="1714500"/>
            <a:ext cx="9715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4D817A"/>
            </a:solidFill>
            <a:prstDash val="solid"/>
          </a:ln>
        </p:spPr>
      </p:sp>
      <p:sp>
        <p:nvSpPr>
          <p:cNvPr id="10" name="">
            <a:extLst xmlns:a="http://schemas.openxmlformats.org/drawingml/2006/main">
              <a:ext uri="{FF2B5EF4-FFF2-40B4-BE49-F238E27FC236}">
                <a16:creationId xmlns:a16="http://schemas.microsoft.com/office/drawing/2014/main" id="{AD55F1AA-1645-4A1A-B4CF-65C5E1CE8D02}"/>
              </a:ext>
            </a:extLst>
          </p:cNvPr>
          <p:cNvSpPr>
            <a:spLocks xmlns:a="http://schemas.openxmlformats.org/drawingml/2006/main" noGrp="1"/>
          </p:cNvSpPr>
          <p:nvPr/>
        </p:nvSpPr>
        <p:spPr>
          <a:xfrm xmlns:a="http://schemas.openxmlformats.org/drawingml/2006/main">
            <a:off x="7924800" y="189547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11" name="">
            <a:extLst xmlns:a="http://schemas.openxmlformats.org/drawingml/2006/main">
              <a:ext uri="{FF2B5EF4-FFF2-40B4-BE49-F238E27FC236}">
                <a16:creationId xmlns:a16="http://schemas.microsoft.com/office/drawing/2014/main" id="{9DCD5F4E-AA9E-4579-A37B-C5748F2FF43B}"/>
              </a:ext>
            </a:extLst>
          </p:cNvPr>
          <p:cNvSpPr>
            <a:spLocks xmlns:a="http://schemas.openxmlformats.org/drawingml/2006/main" noGrp="1"/>
          </p:cNvSpPr>
          <p:nvPr/>
        </p:nvSpPr>
        <p:spPr>
          <a:xfrm xmlns:a="http://schemas.openxmlformats.org/drawingml/2006/main">
            <a:off x="8791575" y="191452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9631E27-4BCE-4BAD-BEE4-B3B0C6ACE6CF}"/>
              </a:ext>
            </a:extLst>
          </p:cNvPr>
          <p:cNvSpPr>
            <a:spLocks xmlns:a="http://schemas.openxmlformats.org/drawingml/2006/main" noGrp="1"/>
          </p:cNvSpPr>
          <p:nvPr/>
        </p:nvSpPr>
        <p:spPr>
          <a:xfrm xmlns:a="http://schemas.openxmlformats.org/drawingml/2006/main">
            <a:off x="8934450" y="1714500"/>
            <a:ext cx="97155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13" name="">
            <a:extLst xmlns:a="http://schemas.openxmlformats.org/drawingml/2006/main">
              <a:ext uri="{FF2B5EF4-FFF2-40B4-BE49-F238E27FC236}">
                <a16:creationId xmlns:a16="http://schemas.microsoft.com/office/drawing/2014/main" id="{CCE2783B-61E2-4FF2-BD24-58D29CCB6AA7}"/>
              </a:ext>
            </a:extLst>
          </p:cNvPr>
          <p:cNvSpPr>
            <a:spLocks xmlns:a="http://schemas.openxmlformats.org/drawingml/2006/main" noGrp="1"/>
          </p:cNvSpPr>
          <p:nvPr/>
        </p:nvSpPr>
        <p:spPr>
          <a:xfrm xmlns:a="http://schemas.openxmlformats.org/drawingml/2006/main">
            <a:off x="9029700" y="189547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14" name="">
            <a:extLst xmlns:a="http://schemas.openxmlformats.org/drawingml/2006/main">
              <a:ext uri="{FF2B5EF4-FFF2-40B4-BE49-F238E27FC236}">
                <a16:creationId xmlns:a16="http://schemas.microsoft.com/office/drawing/2014/main" id="{68257020-B7E2-4C36-ADA9-DA8953D0DE54}"/>
              </a:ext>
            </a:extLst>
          </p:cNvPr>
          <p:cNvSpPr>
            <a:spLocks xmlns:a="http://schemas.openxmlformats.org/drawingml/2006/main" noGrp="1"/>
          </p:cNvSpPr>
          <p:nvPr/>
        </p:nvSpPr>
        <p:spPr>
          <a:xfrm xmlns:a="http://schemas.openxmlformats.org/drawingml/2006/main">
            <a:off x="9896475" y="191452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2520E5-2DC1-43D0-ACDC-21D373C2ED5E}"/>
              </a:ext>
            </a:extLst>
          </p:cNvPr>
          <p:cNvSpPr>
            <a:spLocks xmlns:a="http://schemas.openxmlformats.org/drawingml/2006/main" noGrp="1"/>
          </p:cNvSpPr>
          <p:nvPr/>
        </p:nvSpPr>
        <p:spPr>
          <a:xfrm xmlns:a="http://schemas.openxmlformats.org/drawingml/2006/main">
            <a:off x="10039350" y="1714500"/>
            <a:ext cx="9715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4D817A"/>
            </a:solidFill>
            <a:prstDash val="solid"/>
          </a:ln>
        </p:spPr>
      </p:sp>
      <p:sp>
        <p:nvSpPr>
          <p:cNvPr id="16" name="">
            <a:extLst xmlns:a="http://schemas.openxmlformats.org/drawingml/2006/main">
              <a:ext uri="{FF2B5EF4-FFF2-40B4-BE49-F238E27FC236}">
                <a16:creationId xmlns:a16="http://schemas.microsoft.com/office/drawing/2014/main" id="{B2FAD152-8B96-4101-A0C9-ACD5EDA4BCE0}"/>
              </a:ext>
            </a:extLst>
          </p:cNvPr>
          <p:cNvSpPr>
            <a:spLocks xmlns:a="http://schemas.openxmlformats.org/drawingml/2006/main" noGrp="1"/>
          </p:cNvSpPr>
          <p:nvPr/>
        </p:nvSpPr>
        <p:spPr>
          <a:xfrm xmlns:a="http://schemas.openxmlformats.org/drawingml/2006/main">
            <a:off x="10134600" y="1895475"/>
            <a:ext cx="78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CVE report</a:t>
            </a:r>
          </a:p>
        </p:txBody>
      </p:sp>
      <p:sp>
        <p:nvSpPr>
          <p:cNvPr id="17" name="">
            <a:extLst xmlns:a="http://schemas.openxmlformats.org/drawingml/2006/main">
              <a:ext uri="{FF2B5EF4-FFF2-40B4-BE49-F238E27FC236}">
                <a16:creationId xmlns:a16="http://schemas.microsoft.com/office/drawing/2014/main" id="{681DA699-649C-4503-B222-0C636229A33C}"/>
              </a:ext>
            </a:extLst>
          </p:cNvPr>
          <p:cNvSpPr>
            <a:spLocks xmlns:a="http://schemas.openxmlformats.org/drawingml/2006/main" noGrp="1"/>
          </p:cNvSpPr>
          <p:nvPr/>
        </p:nvSpPr>
        <p:spPr>
          <a:xfrm xmlns:a="http://schemas.openxmlformats.org/drawingml/2006/main">
            <a:off x="704850" y="5105400"/>
            <a:ext cx="51435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415C24B-C3FE-4EAE-AEB7-BEDC4EC11993}"/>
              </a:ext>
            </a:extLst>
          </p:cNvPr>
          <p:cNvSpPr>
            <a:spLocks xmlns:a="http://schemas.openxmlformats.org/drawingml/2006/main" noGrp="1"/>
          </p:cNvSpPr>
          <p:nvPr/>
        </p:nvSpPr>
        <p:spPr>
          <a:xfrm xmlns:a="http://schemas.openxmlformats.org/drawingml/2006/main">
            <a:off x="723900" y="53149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Fendi Mohamed</a:t>
            </a:r>
          </a:p>
          <a:p xmlns:a="http://schemas.openxmlformats.org/drawingml/2006/main">
            <a:pPr algn="l">
              <a:defRPr sz="1350" b="0">
                <a:solidFill>
                  <a:srgbClr val="17212B"/>
                </a:solidFill>
                <a:latin typeface="Aptos"/>
                <a:ea typeface="Aptos"/>
                <a:cs typeface="Aptos"/>
              </a:defRPr>
            </a:pPr>
            <a:r>
              <a:rPr sz="1350" b="0">
                <a:solidFill>
                  <a:srgbClr val="17212B"/>
                </a:solidFill>
                <a:latin typeface="Aptos"/>
                <a:ea typeface="Aptos"/>
                <a:cs typeface="Aptos"/>
              </a:rPr>
              <a:t>Computer Systems Engineering</a:t>
            </a:r>
          </a:p>
        </p:txBody>
      </p:sp>
    </p:spTree>
    <p:extLst>
      <p:ext uri="{BB962C8B-B14F-4D97-AF65-F5344CB8AC3E}">
        <p14:creationId xmlns:p14="http://schemas.microsoft.com/office/powerpoint/2010/main" val="187193707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2A2CDA-E7F6-4B5E-A6F1-B1E120E30A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46D6C4-5D33-497D-978B-34FE6EA10D3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CD6B35-9343-4AE6-BB76-3416FA4BE4A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3A7A20E3-AFBC-49BD-B942-F4F6AD6F6CF1}"/>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367B3D56-27D8-4DB8-91CD-24538507CF0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problem starts after the source code is gone</a:t>
            </a:r>
          </a:p>
        </p:txBody>
      </p:sp>
      <p:sp>
        <p:nvSpPr>
          <p:cNvPr id="6" name="">
            <a:extLst xmlns:a="http://schemas.openxmlformats.org/drawingml/2006/main">
              <a:ext uri="{FF2B5EF4-FFF2-40B4-BE49-F238E27FC236}">
                <a16:creationId xmlns:a16="http://schemas.microsoft.com/office/drawing/2014/main" id="{0DD97636-9872-4FE3-88B1-6B8F63D5B267}"/>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1E3865F-FF76-451D-AD16-D8E297698289}"/>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ACABF4C-A797-4097-A6F8-7BBABDCD2FAE}"/>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EB17551E-5C9E-4629-A6FD-3144669C82EC}"/>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C2CB77-48FC-4420-8816-2F8F57C7DE8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Source projects contain dependency files, lockfiles, and resolved Gradle trees.</a:t>
            </a:r>
          </a:p>
        </p:txBody>
      </p:sp>
      <p:sp>
        <p:nvSpPr>
          <p:cNvPr id="11" name="">
            <a:extLst xmlns:a="http://schemas.openxmlformats.org/drawingml/2006/main">
              <a:ext uri="{FF2B5EF4-FFF2-40B4-BE49-F238E27FC236}">
                <a16:creationId xmlns:a16="http://schemas.microsoft.com/office/drawing/2014/main" id="{7BCFAC81-AF44-4BE4-A7B3-E81F0A4AD17F}"/>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496B5B-BC35-4E0A-9072-70339A090C3C}"/>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compiled APK contains DEX bytecode, resources, manifest data, native files, and signatures.</a:t>
            </a:r>
          </a:p>
        </p:txBody>
      </p:sp>
      <p:sp>
        <p:nvSpPr>
          <p:cNvPr id="13" name="">
            <a:extLst xmlns:a="http://schemas.openxmlformats.org/drawingml/2006/main">
              <a:ext uri="{FF2B5EF4-FFF2-40B4-BE49-F238E27FC236}">
                <a16:creationId xmlns:a16="http://schemas.microsoft.com/office/drawing/2014/main" id="{B3F86581-9DBF-46F5-894E-84DA99B344D2}"/>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5AC23F-F36F-41B3-81AE-C19EA3C0D26A}"/>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Maven coordinates and exact versions are usually not directly visible.</a:t>
            </a:r>
          </a:p>
        </p:txBody>
      </p:sp>
      <p:sp>
        <p:nvSpPr>
          <p:cNvPr id="15" name="">
            <a:extLst xmlns:a="http://schemas.openxmlformats.org/drawingml/2006/main">
              <a:ext uri="{FF2B5EF4-FFF2-40B4-BE49-F238E27FC236}">
                <a16:creationId xmlns:a16="http://schemas.microsoft.com/office/drawing/2014/main" id="{CE2A39D1-6BAA-4201-8509-F942308A736D}"/>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EBC484B-81AC-4968-9D25-DED4EA5028F4}"/>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R8 can rename, shrink, inline, and reorganize evidence.</a:t>
            </a:r>
          </a:p>
        </p:txBody>
      </p:sp>
      <p:sp>
        <p:nvSpPr>
          <p:cNvPr id="17" name="">
            <a:extLst xmlns:a="http://schemas.openxmlformats.org/drawingml/2006/main">
              <a:ext uri="{FF2B5EF4-FFF2-40B4-BE49-F238E27FC236}">
                <a16:creationId xmlns:a16="http://schemas.microsoft.com/office/drawing/2014/main" id="{517F69D7-EEB0-4074-9AE9-5A5B068667D1}"/>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BE82DE99-29D5-4464-AE95-317A193B20C6}"/>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FB1E0BB7-0645-4A3D-826B-800FC6C5805A}"/>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DD10D58D-AA4B-4EB6-BABC-D96B2B3280B8}"/>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1" name="">
            <a:extLst xmlns:a="http://schemas.openxmlformats.org/drawingml/2006/main">
              <a:ext uri="{FF2B5EF4-FFF2-40B4-BE49-F238E27FC236}">
                <a16:creationId xmlns:a16="http://schemas.microsoft.com/office/drawing/2014/main" id="{23523054-6C5B-4B4D-A68D-538901234C9D}"/>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C239E6C6-66BF-45B1-BC4D-4F1599B5E65E}"/>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Two-column comparison between source project and compiled APK.</a:t>
            </a:r>
          </a:p>
        </p:txBody>
      </p:sp>
      <p:sp>
        <p:nvSpPr>
          <p:cNvPr id="23" name="">
            <a:extLst xmlns:a="http://schemas.openxmlformats.org/drawingml/2006/main">
              <a:ext uri="{FF2B5EF4-FFF2-40B4-BE49-F238E27FC236}">
                <a16:creationId xmlns:a16="http://schemas.microsoft.com/office/drawing/2014/main" id="{428C5F72-5E49-41C3-907B-B8887E9C0CC1}"/>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3CB7D347-19AF-4333-A731-2A8713024F9A}"/>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5" name="">
            <a:extLst xmlns:a="http://schemas.openxmlformats.org/drawingml/2006/main">
              <a:ext uri="{FF2B5EF4-FFF2-40B4-BE49-F238E27FC236}">
                <a16:creationId xmlns:a16="http://schemas.microsoft.com/office/drawing/2014/main" id="{ED2CC3B6-7709-4357-B6E1-2A6F73DF0BE4}"/>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Establish why the task is difficult.</a:t>
            </a:r>
          </a:p>
        </p:txBody>
      </p:sp>
      <p:sp>
        <p:nvSpPr>
          <p:cNvPr id="26" name="">
            <a:extLst xmlns:a="http://schemas.openxmlformats.org/drawingml/2006/main">
              <a:ext uri="{FF2B5EF4-FFF2-40B4-BE49-F238E27FC236}">
                <a16:creationId xmlns:a16="http://schemas.microsoft.com/office/drawing/2014/main" id="{A9D72FD9-B4F2-47C9-9CA0-1C581C22718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9270432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C8E8B7-F772-48D7-B408-4B09984641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4C3399-FEE9-44E5-8FAC-DC0A10C6093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DBE683-B4E9-4A1B-91A9-35AF544A6402}"/>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30F58505-F453-4107-B120-0A0A540CEFA5}"/>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F05EF2B0-2F1C-4164-9607-23E94BFAB6E9}"/>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A valid SBOM is not automatically a trustworthy SBOM</a:t>
            </a:r>
          </a:p>
        </p:txBody>
      </p:sp>
      <p:sp>
        <p:nvSpPr>
          <p:cNvPr id="6" name="">
            <a:extLst xmlns:a="http://schemas.openxmlformats.org/drawingml/2006/main">
              <a:ext uri="{FF2B5EF4-FFF2-40B4-BE49-F238E27FC236}">
                <a16:creationId xmlns:a16="http://schemas.microsoft.com/office/drawing/2014/main" id="{8873FF17-8DFC-41C6-8E53-82EE0F56CD05}"/>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7D4120-BBC4-4391-8BAE-FE9413361A33}"/>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8B2BC5F8-069F-4B6D-A972-705B4CE7CDD4}"/>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0B22788-C397-4D6C-87DF-8755A5DB0E55}"/>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9E0E852-4B11-460E-9029-B6300AFA2394}"/>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SBOM formats define representation.</a:t>
            </a:r>
          </a:p>
        </p:txBody>
      </p:sp>
      <p:sp>
        <p:nvSpPr>
          <p:cNvPr id="11" name="">
            <a:extLst xmlns:a="http://schemas.openxmlformats.org/drawingml/2006/main">
              <a:ext uri="{FF2B5EF4-FFF2-40B4-BE49-F238E27FC236}">
                <a16:creationId xmlns:a16="http://schemas.microsoft.com/office/drawing/2014/main" id="{DCB2AF3D-9AAD-4676-ADA4-E7FBE98F7DB4}"/>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C2AEC0B-8F1D-4AAC-8E5A-7624B5BBF3E9}"/>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Trust depends on the evidence behind each component claim.</a:t>
            </a:r>
          </a:p>
        </p:txBody>
      </p:sp>
      <p:sp>
        <p:nvSpPr>
          <p:cNvPr id="13" name="">
            <a:extLst xmlns:a="http://schemas.openxmlformats.org/drawingml/2006/main">
              <a:ext uri="{FF2B5EF4-FFF2-40B4-BE49-F238E27FC236}">
                <a16:creationId xmlns:a16="http://schemas.microsoft.com/office/drawing/2014/main" id="{B4297096-F626-4C5E-A2F8-77B7C4F51B02}"/>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6937B3-ECD4-4AA4-890A-1CBE76A74F2C}"/>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recovered component can be clear at identity level and uncertain at version level.</a:t>
            </a:r>
          </a:p>
        </p:txBody>
      </p:sp>
      <p:sp>
        <p:nvSpPr>
          <p:cNvPr id="15" name="">
            <a:extLst xmlns:a="http://schemas.openxmlformats.org/drawingml/2006/main">
              <a:ext uri="{FF2B5EF4-FFF2-40B4-BE49-F238E27FC236}">
                <a16:creationId xmlns:a16="http://schemas.microsoft.com/office/drawing/2014/main" id="{EC9C7411-CBBD-4577-891E-ABB964426F96}"/>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4E3433-2417-4826-9FDB-28848AEDC694}"/>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Vulnerability interpretation must inherit that uncertainty.</a:t>
            </a:r>
          </a:p>
        </p:txBody>
      </p:sp>
      <p:sp>
        <p:nvSpPr>
          <p:cNvPr id="17" name="">
            <a:extLst xmlns:a="http://schemas.openxmlformats.org/drawingml/2006/main">
              <a:ext uri="{FF2B5EF4-FFF2-40B4-BE49-F238E27FC236}">
                <a16:creationId xmlns:a16="http://schemas.microsoft.com/office/drawing/2014/main" id="{4B69FA86-F3EB-4713-84FE-ED74C46499E9}"/>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33B39D7-3E8C-4720-8545-657D510EF484}"/>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CD8261C6-870C-4C35-AD7C-405CF9618CCA}"/>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EED5C143-97C7-4C7F-B36A-A778A2592AF1}"/>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BCF10FBF-1AC8-45B1-AFBB-9F5498DDC3A5}"/>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4CB7EC5-425D-449E-9E44-75BC428114BF}"/>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3" name="">
            <a:extLst xmlns:a="http://schemas.openxmlformats.org/drawingml/2006/main">
              <a:ext uri="{FF2B5EF4-FFF2-40B4-BE49-F238E27FC236}">
                <a16:creationId xmlns:a16="http://schemas.microsoft.com/office/drawing/2014/main" id="{DBB4F8C7-1A9E-43D8-BD27-741C573CC132}"/>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3BD55AAD-0D66-4D48-840F-915C6EB8E895}"/>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676A1CC-B513-449B-9BB7-F439572FEFBE}"/>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8C473138-874F-45A2-A188-28AD16684FDC}"/>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F11551E2-0414-4312-9257-749457B46226}"/>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3EA02A65-379A-405C-A54A-704AB076EC69}"/>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9" name="">
            <a:extLst xmlns:a="http://schemas.openxmlformats.org/drawingml/2006/main">
              <a:ext uri="{FF2B5EF4-FFF2-40B4-BE49-F238E27FC236}">
                <a16:creationId xmlns:a16="http://schemas.microsoft.com/office/drawing/2014/main" id="{6EAF56F4-1F10-4138-A682-643055EC8071}"/>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8C93DE76-E2DD-4735-9F10-8D0778E22DEE}"/>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1EB0223-E276-48B8-B324-96EB17AA2106}"/>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2" name="">
            <a:extLst xmlns:a="http://schemas.openxmlformats.org/drawingml/2006/main">
              <a:ext uri="{FF2B5EF4-FFF2-40B4-BE49-F238E27FC236}">
                <a16:creationId xmlns:a16="http://schemas.microsoft.com/office/drawing/2014/main" id="{06CB4BA3-74FF-43C7-A618-C59D64056029}"/>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2FA1D4C3-7325-4FF7-B02A-FD93F6BEF0FA}"/>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State the main Master thesis insight.</a:t>
            </a:r>
          </a:p>
        </p:txBody>
      </p:sp>
      <p:sp>
        <p:nvSpPr>
          <p:cNvPr id="34" name="">
            <a:extLst xmlns:a="http://schemas.openxmlformats.org/drawingml/2006/main">
              <a:ext uri="{FF2B5EF4-FFF2-40B4-BE49-F238E27FC236}">
                <a16:creationId xmlns:a16="http://schemas.microsoft.com/office/drawing/2014/main" id="{0AA2CA56-AC87-4B5E-9A40-95781816737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55835618"/>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2FB8CA-B8A6-4D39-80F2-320A52A546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E5D75A-84F6-4C11-B227-EB2A1EB9252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4C5954-6853-498A-8076-0EFA9F4075B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8E961F83-2477-4213-A412-6C71DC3D41BC}"/>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6221BBB0-00A2-435B-8160-552A7A20DEE2}"/>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project answers one practical question</a:t>
            </a:r>
          </a:p>
        </p:txBody>
      </p:sp>
      <p:sp>
        <p:nvSpPr>
          <p:cNvPr id="6" name="">
            <a:extLst xmlns:a="http://schemas.openxmlformats.org/drawingml/2006/main">
              <a:ext uri="{FF2B5EF4-FFF2-40B4-BE49-F238E27FC236}">
                <a16:creationId xmlns:a16="http://schemas.microsoft.com/office/drawing/2014/main" id="{FFF4A759-2B23-4CFF-AD22-61181C34BA13}"/>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F1A5810-F5EC-49AD-9E3C-C42CE074F8BB}"/>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D9DE08B-1320-4E77-9D26-300104E9832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C64AFB38-E33B-49DB-B800-B96AF2BFDA0E}"/>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5D7731-9C07-4898-8845-C7E42AEA7D55}"/>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Can a compiled Android APK be transformed into a useful SBOM without pretending that weak evidence is certain?</a:t>
            </a:r>
          </a:p>
        </p:txBody>
      </p:sp>
      <p:sp>
        <p:nvSpPr>
          <p:cNvPr id="11" name="">
            <a:extLst xmlns:a="http://schemas.openxmlformats.org/drawingml/2006/main">
              <a:ext uri="{FF2B5EF4-FFF2-40B4-BE49-F238E27FC236}">
                <a16:creationId xmlns:a16="http://schemas.microsoft.com/office/drawing/2014/main" id="{D6959FC0-2B53-413E-A17E-15E3A360FD3A}"/>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016A71-05C9-451B-9260-9D1A76A49E31}"/>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Useful means standard output, traceable evidence, confidence labels, and honest limitations.</a:t>
            </a:r>
          </a:p>
        </p:txBody>
      </p:sp>
      <p:sp>
        <p:nvSpPr>
          <p:cNvPr id="13" name="">
            <a:extLst xmlns:a="http://schemas.openxmlformats.org/drawingml/2006/main">
              <a:ext uri="{FF2B5EF4-FFF2-40B4-BE49-F238E27FC236}">
                <a16:creationId xmlns:a16="http://schemas.microsoft.com/office/drawing/2014/main" id="{14FCD1EB-7D03-4BB6-9D32-A6094AA1E5B3}"/>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38297BA-530D-408F-9900-2E1FFAB02F5F}"/>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Unsafe means forced exact versions, hidden denominator gaps, and unqualified CVE claims.</a:t>
            </a:r>
          </a:p>
        </p:txBody>
      </p:sp>
      <p:sp>
        <p:nvSpPr>
          <p:cNvPr id="15" name="">
            <a:extLst xmlns:a="http://schemas.openxmlformats.org/drawingml/2006/main">
              <a:ext uri="{FF2B5EF4-FFF2-40B4-BE49-F238E27FC236}">
                <a16:creationId xmlns:a16="http://schemas.microsoft.com/office/drawing/2014/main" id="{86A2D221-9EA7-4363-A1D6-5206F060DA9C}"/>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974CEB3D-9123-4F72-A00F-05B9D8CD5CFB}"/>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8467D089-2CD0-467F-85D2-25E21BF752C7}"/>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8" name="">
            <a:extLst xmlns:a="http://schemas.openxmlformats.org/drawingml/2006/main">
              <a:ext uri="{FF2B5EF4-FFF2-40B4-BE49-F238E27FC236}">
                <a16:creationId xmlns:a16="http://schemas.microsoft.com/office/drawing/2014/main" id="{585658B0-13B1-4798-842A-B72669672F1E}"/>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Question centered with two small columns: useful output and unsafe output.</a:t>
            </a:r>
          </a:p>
        </p:txBody>
      </p:sp>
      <p:sp>
        <p:nvSpPr>
          <p:cNvPr id="19" name="">
            <a:extLst xmlns:a="http://schemas.openxmlformats.org/drawingml/2006/main">
              <a:ext uri="{FF2B5EF4-FFF2-40B4-BE49-F238E27FC236}">
                <a16:creationId xmlns:a16="http://schemas.microsoft.com/office/drawing/2014/main" id="{46CC9421-AF2F-47FF-A8F9-8D65C90D889F}"/>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Define the central question.</a:t>
            </a:r>
          </a:p>
        </p:txBody>
      </p:sp>
      <p:sp>
        <p:nvSpPr>
          <p:cNvPr id="20" name="">
            <a:extLst xmlns:a="http://schemas.openxmlformats.org/drawingml/2006/main">
              <a:ext uri="{FF2B5EF4-FFF2-40B4-BE49-F238E27FC236}">
                <a16:creationId xmlns:a16="http://schemas.microsoft.com/office/drawing/2014/main" id="{D45B472D-CD34-4F93-BEAD-07FB1C25DED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75266706"/>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1E83CB-429C-4CBA-BD64-1EF2DBCF16C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BEB7ED-0F5C-43F3-8FE2-0B4B7E680A17}"/>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747B32-75CA-4120-BF0B-93609C22F5F4}"/>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3E851B67-9A69-495D-9D5F-FA5B9184027D}"/>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3205645C-2B95-41D5-90BC-348C4FE5561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defense combines two complementary theses</a:t>
            </a:r>
          </a:p>
        </p:txBody>
      </p:sp>
      <p:sp>
        <p:nvSpPr>
          <p:cNvPr id="6" name="">
            <a:extLst xmlns:a="http://schemas.openxmlformats.org/drawingml/2006/main">
              <a:ext uri="{FF2B5EF4-FFF2-40B4-BE49-F238E27FC236}">
                <a16:creationId xmlns:a16="http://schemas.microsoft.com/office/drawing/2014/main" id="{F22251A9-91AA-4E40-AB33-05487704C0DA}"/>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49F551-A27C-45F5-8254-6B475AA017DA}"/>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7D411DD-F3AA-4C60-A371-6BD7E4C70EE1}"/>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10BCAF25-30BF-4DE4-A2BD-9A56C6277753}"/>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31ECEE9-B5F7-4BF4-8DBF-66F10FC70A09}"/>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Master thesis: evidence model, state of the art, trust taxonomy, research agenda.</a:t>
            </a:r>
          </a:p>
        </p:txBody>
      </p:sp>
      <p:sp>
        <p:nvSpPr>
          <p:cNvPr id="11" name="">
            <a:extLst xmlns:a="http://schemas.openxmlformats.org/drawingml/2006/main">
              <a:ext uri="{FF2B5EF4-FFF2-40B4-BE49-F238E27FC236}">
                <a16:creationId xmlns:a16="http://schemas.microsoft.com/office/drawing/2014/main" id="{65A9F8C5-8982-4DE0-8C6B-E97FB99E26DC}"/>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3E1C5A-6A31-42D1-8A76-9ACF615E2BEB}"/>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Engineering thesis: system design, implementation, CLI, evaluation, demo.</a:t>
            </a:r>
          </a:p>
        </p:txBody>
      </p:sp>
      <p:sp>
        <p:nvSpPr>
          <p:cNvPr id="13" name="">
            <a:extLst xmlns:a="http://schemas.openxmlformats.org/drawingml/2006/main">
              <a:ext uri="{FF2B5EF4-FFF2-40B4-BE49-F238E27FC236}">
                <a16:creationId xmlns:a16="http://schemas.microsoft.com/office/drawing/2014/main" id="{2959D458-3B29-40B5-AF7B-682318388E76}"/>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BF33A8-52AA-40F5-BF05-7D0C75984D42}"/>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Existing deck: final architecture, headline metrics, demo proof, and guardrail wording.</a:t>
            </a:r>
          </a:p>
        </p:txBody>
      </p:sp>
      <p:sp>
        <p:nvSpPr>
          <p:cNvPr id="15" name="">
            <a:extLst xmlns:a="http://schemas.openxmlformats.org/drawingml/2006/main">
              <a:ext uri="{FF2B5EF4-FFF2-40B4-BE49-F238E27FC236}">
                <a16:creationId xmlns:a16="http://schemas.microsoft.com/office/drawing/2014/main" id="{02CA2843-51E6-4D51-BB54-94B5F6671F17}"/>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51B6FFF7-9604-43E6-A590-23EB6E589379}"/>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FC2B087A-33BB-4AFB-BBAD-5C752770E334}"/>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8" name="">
            <a:extLst xmlns:a="http://schemas.openxmlformats.org/drawingml/2006/main">
              <a:ext uri="{FF2B5EF4-FFF2-40B4-BE49-F238E27FC236}">
                <a16:creationId xmlns:a16="http://schemas.microsoft.com/office/drawing/2014/main" id="{634B1721-B571-4AE3-9C85-F8BC4547247A}"/>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Three-source synthesis diagram feeding one defense narrative.</a:t>
            </a:r>
          </a:p>
        </p:txBody>
      </p:sp>
      <p:sp>
        <p:nvSpPr>
          <p:cNvPr id="19" name="">
            <a:extLst xmlns:a="http://schemas.openxmlformats.org/drawingml/2006/main">
              <a:ext uri="{FF2B5EF4-FFF2-40B4-BE49-F238E27FC236}">
                <a16:creationId xmlns:a16="http://schemas.microsoft.com/office/drawing/2014/main" id="{36F26ED9-4341-4B0E-A355-C810B459671F}"/>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the role of each thesis document.</a:t>
            </a:r>
          </a:p>
        </p:txBody>
      </p:sp>
      <p:sp>
        <p:nvSpPr>
          <p:cNvPr id="20" name="">
            <a:extLst xmlns:a="http://schemas.openxmlformats.org/drawingml/2006/main">
              <a:ext uri="{FF2B5EF4-FFF2-40B4-BE49-F238E27FC236}">
                <a16:creationId xmlns:a16="http://schemas.microsoft.com/office/drawing/2014/main" id="{A890D9BF-D822-49AD-AA18-FBDE3ADEE76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72119504"/>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755737-3E6F-4A33-BCE3-85B690A639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942E61E-99EF-4148-ACC3-6DAA2E22040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035A70E-FCAA-43F3-BF4C-EBCB28845C4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INTRODUCTION</a:t>
            </a:r>
          </a:p>
        </p:txBody>
      </p:sp>
      <p:sp>
        <p:nvSpPr>
          <p:cNvPr id="4" name="">
            <a:extLst xmlns:a="http://schemas.openxmlformats.org/drawingml/2006/main">
              <a:ext uri="{FF2B5EF4-FFF2-40B4-BE49-F238E27FC236}">
                <a16:creationId xmlns:a16="http://schemas.microsoft.com/office/drawing/2014/main" id="{62353B1C-7DBC-4A52-A4CF-3049B82EAB16}"/>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279EA7C6-EEC7-4CD6-9E11-03EE3D366BC6}"/>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Roadmap</a:t>
            </a:r>
          </a:p>
        </p:txBody>
      </p:sp>
      <p:sp>
        <p:nvSpPr>
          <p:cNvPr id="6" name="">
            <a:extLst xmlns:a="http://schemas.openxmlformats.org/drawingml/2006/main">
              <a:ext uri="{FF2B5EF4-FFF2-40B4-BE49-F238E27FC236}">
                <a16:creationId xmlns:a16="http://schemas.microsoft.com/office/drawing/2014/main" id="{707B9597-2ABE-424E-A291-B3A624749B25}"/>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1BE0D6-6B78-4BA2-B3DD-ED3AF70B0D9E}"/>
              </a:ext>
            </a:extLst>
          </p:cNvPr>
          <p:cNvSpPr>
            <a:spLocks xmlns:a="http://schemas.openxmlformats.org/drawingml/2006/main" noGrp="1"/>
          </p:cNvSpPr>
          <p:nvPr/>
        </p:nvSpPr>
        <p:spPr>
          <a:xfrm xmlns:a="http://schemas.openxmlformats.org/drawingml/2006/main">
            <a:off x="876300" y="1657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F5F7E"/>
                </a:solidFill>
                <a:latin typeface="Aptos Display"/>
                <a:ea typeface="Aptos Display"/>
                <a:cs typeface="Aptos Display"/>
              </a:defRPr>
            </a:pPr>
            <a:r>
              <a:rPr sz="1950" b="1">
                <a:solidFill>
                  <a:srgbClr val="2F5F7E"/>
                </a:solidFill>
                <a:latin typeface="Aptos Display"/>
                <a:ea typeface="Aptos Display"/>
                <a:cs typeface="Aptos Display"/>
              </a:rPr>
              <a:t>01</a:t>
            </a:r>
          </a:p>
        </p:txBody>
      </p:sp>
      <p:sp>
        <p:nvSpPr>
          <p:cNvPr id="8" name="">
            <a:extLst xmlns:a="http://schemas.openxmlformats.org/drawingml/2006/main">
              <a:ext uri="{FF2B5EF4-FFF2-40B4-BE49-F238E27FC236}">
                <a16:creationId xmlns:a16="http://schemas.microsoft.com/office/drawing/2014/main" id="{5417C509-AA09-4DFA-A562-BB359C0989A6}"/>
              </a:ext>
            </a:extLst>
          </p:cNvPr>
          <p:cNvSpPr>
            <a:spLocks xmlns:a="http://schemas.openxmlformats.org/drawingml/2006/main" noGrp="1"/>
          </p:cNvSpPr>
          <p:nvPr/>
        </p:nvSpPr>
        <p:spPr>
          <a:xfrm xmlns:a="http://schemas.openxmlformats.org/drawingml/2006/main">
            <a:off x="876300" y="2133600"/>
            <a:ext cx="2190750" cy="7239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9" name="">
            <a:extLst xmlns:a="http://schemas.openxmlformats.org/drawingml/2006/main">
              <a:ext uri="{FF2B5EF4-FFF2-40B4-BE49-F238E27FC236}">
                <a16:creationId xmlns:a16="http://schemas.microsoft.com/office/drawing/2014/main" id="{C1081667-D023-4AB6-9EBE-297465BF4DE0}"/>
              </a:ext>
            </a:extLst>
          </p:cNvPr>
          <p:cNvSpPr>
            <a:spLocks xmlns:a="http://schemas.openxmlformats.org/drawingml/2006/main" noGrp="1"/>
          </p:cNvSpPr>
          <p:nvPr/>
        </p:nvSpPr>
        <p:spPr>
          <a:xfrm xmlns:a="http://schemas.openxmlformats.org/drawingml/2006/main">
            <a:off x="1009650" y="23812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Introduction</a:t>
            </a:r>
          </a:p>
        </p:txBody>
      </p:sp>
      <p:sp>
        <p:nvSpPr>
          <p:cNvPr id="10" name="">
            <a:extLst xmlns:a="http://schemas.openxmlformats.org/drawingml/2006/main">
              <a:ext uri="{FF2B5EF4-FFF2-40B4-BE49-F238E27FC236}">
                <a16:creationId xmlns:a16="http://schemas.microsoft.com/office/drawing/2014/main" id="{9F142307-24EC-480A-98E7-49038700DB79}"/>
              </a:ext>
            </a:extLst>
          </p:cNvPr>
          <p:cNvSpPr>
            <a:spLocks xmlns:a="http://schemas.openxmlformats.org/drawingml/2006/main" noGrp="1"/>
          </p:cNvSpPr>
          <p:nvPr/>
        </p:nvSpPr>
        <p:spPr>
          <a:xfrm xmlns:a="http://schemas.openxmlformats.org/drawingml/2006/main">
            <a:off x="3505200" y="1657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F5F7E"/>
                </a:solidFill>
                <a:latin typeface="Aptos Display"/>
                <a:ea typeface="Aptos Display"/>
                <a:cs typeface="Aptos Display"/>
              </a:defRPr>
            </a:pPr>
            <a:r>
              <a:rPr sz="1950" b="1">
                <a:solidFill>
                  <a:srgbClr val="2F5F7E"/>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15BA0951-E23C-478A-B76E-D70F5BA50289}"/>
              </a:ext>
            </a:extLst>
          </p:cNvPr>
          <p:cNvSpPr>
            <a:spLocks xmlns:a="http://schemas.openxmlformats.org/drawingml/2006/main" noGrp="1"/>
          </p:cNvSpPr>
          <p:nvPr/>
        </p:nvSpPr>
        <p:spPr>
          <a:xfrm xmlns:a="http://schemas.openxmlformats.org/drawingml/2006/main">
            <a:off x="3505200" y="2133600"/>
            <a:ext cx="2190750" cy="7239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2" name="">
            <a:extLst xmlns:a="http://schemas.openxmlformats.org/drawingml/2006/main">
              <a:ext uri="{FF2B5EF4-FFF2-40B4-BE49-F238E27FC236}">
                <a16:creationId xmlns:a16="http://schemas.microsoft.com/office/drawing/2014/main" id="{AB1AA5D6-0A94-44C9-9C90-24CD3754485C}"/>
              </a:ext>
            </a:extLst>
          </p:cNvPr>
          <p:cNvSpPr>
            <a:spLocks xmlns:a="http://schemas.openxmlformats.org/drawingml/2006/main" noGrp="1"/>
          </p:cNvSpPr>
          <p:nvPr/>
        </p:nvSpPr>
        <p:spPr>
          <a:xfrm xmlns:a="http://schemas.openxmlformats.org/drawingml/2006/main">
            <a:off x="3638550" y="23812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Background</a:t>
            </a:r>
          </a:p>
        </p:txBody>
      </p:sp>
      <p:sp>
        <p:nvSpPr>
          <p:cNvPr id="13" name="">
            <a:extLst xmlns:a="http://schemas.openxmlformats.org/drawingml/2006/main">
              <a:ext uri="{FF2B5EF4-FFF2-40B4-BE49-F238E27FC236}">
                <a16:creationId xmlns:a16="http://schemas.microsoft.com/office/drawing/2014/main" id="{C1B55873-50A1-49EE-A3F6-DB3FC603F341}"/>
              </a:ext>
            </a:extLst>
          </p:cNvPr>
          <p:cNvSpPr>
            <a:spLocks xmlns:a="http://schemas.openxmlformats.org/drawingml/2006/main" noGrp="1"/>
          </p:cNvSpPr>
          <p:nvPr/>
        </p:nvSpPr>
        <p:spPr>
          <a:xfrm xmlns:a="http://schemas.openxmlformats.org/drawingml/2006/main">
            <a:off x="6134100" y="1657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4D817A"/>
                </a:solidFill>
                <a:latin typeface="Aptos Display"/>
                <a:ea typeface="Aptos Display"/>
                <a:cs typeface="Aptos Display"/>
              </a:defRPr>
            </a:pPr>
            <a:r>
              <a:rPr sz="1950" b="1">
                <a:solidFill>
                  <a:srgbClr val="4D817A"/>
                </a:solidFill>
                <a:latin typeface="Aptos Display"/>
                <a:ea typeface="Aptos Display"/>
                <a:cs typeface="Aptos Display"/>
              </a:rPr>
              <a:t>03</a:t>
            </a:r>
          </a:p>
        </p:txBody>
      </p:sp>
      <p:sp>
        <p:nvSpPr>
          <p:cNvPr id="14" name="">
            <a:extLst xmlns:a="http://schemas.openxmlformats.org/drawingml/2006/main">
              <a:ext uri="{FF2B5EF4-FFF2-40B4-BE49-F238E27FC236}">
                <a16:creationId xmlns:a16="http://schemas.microsoft.com/office/drawing/2014/main" id="{B834A2BF-4AC0-45C4-AB29-68A8790FDBB6}"/>
              </a:ext>
            </a:extLst>
          </p:cNvPr>
          <p:cNvSpPr>
            <a:spLocks xmlns:a="http://schemas.openxmlformats.org/drawingml/2006/main" noGrp="1"/>
          </p:cNvSpPr>
          <p:nvPr/>
        </p:nvSpPr>
        <p:spPr>
          <a:xfrm xmlns:a="http://schemas.openxmlformats.org/drawingml/2006/main">
            <a:off x="6134100" y="2133600"/>
            <a:ext cx="2190750" cy="7239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15" name="">
            <a:extLst xmlns:a="http://schemas.openxmlformats.org/drawingml/2006/main">
              <a:ext uri="{FF2B5EF4-FFF2-40B4-BE49-F238E27FC236}">
                <a16:creationId xmlns:a16="http://schemas.microsoft.com/office/drawing/2014/main" id="{D529060F-4601-4A22-B325-EC97341EA925}"/>
              </a:ext>
            </a:extLst>
          </p:cNvPr>
          <p:cNvSpPr>
            <a:spLocks xmlns:a="http://schemas.openxmlformats.org/drawingml/2006/main" noGrp="1"/>
          </p:cNvSpPr>
          <p:nvPr/>
        </p:nvSpPr>
        <p:spPr>
          <a:xfrm xmlns:a="http://schemas.openxmlformats.org/drawingml/2006/main">
            <a:off x="6267450" y="23812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State of the Art</a:t>
            </a:r>
          </a:p>
        </p:txBody>
      </p:sp>
      <p:sp>
        <p:nvSpPr>
          <p:cNvPr id="16" name="">
            <a:extLst xmlns:a="http://schemas.openxmlformats.org/drawingml/2006/main">
              <a:ext uri="{FF2B5EF4-FFF2-40B4-BE49-F238E27FC236}">
                <a16:creationId xmlns:a16="http://schemas.microsoft.com/office/drawing/2014/main" id="{66CB6C70-5EF9-42C0-A693-0E453171B9EB}"/>
              </a:ext>
            </a:extLst>
          </p:cNvPr>
          <p:cNvSpPr>
            <a:spLocks xmlns:a="http://schemas.openxmlformats.org/drawingml/2006/main" noGrp="1"/>
          </p:cNvSpPr>
          <p:nvPr/>
        </p:nvSpPr>
        <p:spPr>
          <a:xfrm xmlns:a="http://schemas.openxmlformats.org/drawingml/2006/main">
            <a:off x="8763000" y="16573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64785E"/>
                </a:solidFill>
                <a:latin typeface="Aptos Display"/>
                <a:ea typeface="Aptos Display"/>
                <a:cs typeface="Aptos Display"/>
              </a:defRPr>
            </a:pPr>
            <a:r>
              <a:rPr sz="1950" b="1">
                <a:solidFill>
                  <a:srgbClr val="64785E"/>
                </a:solidFill>
                <a:latin typeface="Aptos Display"/>
                <a:ea typeface="Aptos Display"/>
                <a:cs typeface="Aptos Display"/>
              </a:rPr>
              <a:t>04</a:t>
            </a:r>
          </a:p>
        </p:txBody>
      </p:sp>
      <p:sp>
        <p:nvSpPr>
          <p:cNvPr id="17" name="">
            <a:extLst xmlns:a="http://schemas.openxmlformats.org/drawingml/2006/main">
              <a:ext uri="{FF2B5EF4-FFF2-40B4-BE49-F238E27FC236}">
                <a16:creationId xmlns:a16="http://schemas.microsoft.com/office/drawing/2014/main" id="{D6238D0C-3EBC-4E8A-B20E-AF84B5AB78C2}"/>
              </a:ext>
            </a:extLst>
          </p:cNvPr>
          <p:cNvSpPr>
            <a:spLocks xmlns:a="http://schemas.openxmlformats.org/drawingml/2006/main" noGrp="1"/>
          </p:cNvSpPr>
          <p:nvPr/>
        </p:nvSpPr>
        <p:spPr>
          <a:xfrm xmlns:a="http://schemas.openxmlformats.org/drawingml/2006/main">
            <a:off x="8763000" y="2133600"/>
            <a:ext cx="2190750" cy="7239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18" name="">
            <a:extLst xmlns:a="http://schemas.openxmlformats.org/drawingml/2006/main">
              <a:ext uri="{FF2B5EF4-FFF2-40B4-BE49-F238E27FC236}">
                <a16:creationId xmlns:a16="http://schemas.microsoft.com/office/drawing/2014/main" id="{DE036E0D-6D04-47CB-A88C-800F62FC116E}"/>
              </a:ext>
            </a:extLst>
          </p:cNvPr>
          <p:cNvSpPr>
            <a:spLocks xmlns:a="http://schemas.openxmlformats.org/drawingml/2006/main" noGrp="1"/>
          </p:cNvSpPr>
          <p:nvPr/>
        </p:nvSpPr>
        <p:spPr>
          <a:xfrm xmlns:a="http://schemas.openxmlformats.org/drawingml/2006/main">
            <a:off x="8896350" y="23812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Contribution</a:t>
            </a:r>
          </a:p>
        </p:txBody>
      </p:sp>
      <p:sp>
        <p:nvSpPr>
          <p:cNvPr id="19" name="">
            <a:extLst xmlns:a="http://schemas.openxmlformats.org/drawingml/2006/main">
              <a:ext uri="{FF2B5EF4-FFF2-40B4-BE49-F238E27FC236}">
                <a16:creationId xmlns:a16="http://schemas.microsoft.com/office/drawing/2014/main" id="{64F9C1A5-9FA2-40E4-A04B-C08575FB2960}"/>
              </a:ext>
            </a:extLst>
          </p:cNvPr>
          <p:cNvSpPr>
            <a:spLocks xmlns:a="http://schemas.openxmlformats.org/drawingml/2006/main" noGrp="1"/>
          </p:cNvSpPr>
          <p:nvPr/>
        </p:nvSpPr>
        <p:spPr>
          <a:xfrm xmlns:a="http://schemas.openxmlformats.org/drawingml/2006/main">
            <a:off x="876300" y="32766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2F5F7E"/>
                </a:solidFill>
                <a:latin typeface="Aptos Display"/>
                <a:ea typeface="Aptos Display"/>
                <a:cs typeface="Aptos Display"/>
              </a:defRPr>
            </a:pPr>
            <a:r>
              <a:rPr sz="1950" b="1">
                <a:solidFill>
                  <a:srgbClr val="2F5F7E"/>
                </a:solidFill>
                <a:latin typeface="Aptos Display"/>
                <a:ea typeface="Aptos Display"/>
                <a:cs typeface="Aptos Display"/>
              </a:rPr>
              <a:t>05</a:t>
            </a:r>
          </a:p>
        </p:txBody>
      </p:sp>
      <p:sp>
        <p:nvSpPr>
          <p:cNvPr id="20" name="">
            <a:extLst xmlns:a="http://schemas.openxmlformats.org/drawingml/2006/main">
              <a:ext uri="{FF2B5EF4-FFF2-40B4-BE49-F238E27FC236}">
                <a16:creationId xmlns:a16="http://schemas.microsoft.com/office/drawing/2014/main" id="{F7E1D3C7-CE4B-42CE-A4C2-4CF36F9F04CE}"/>
              </a:ext>
            </a:extLst>
          </p:cNvPr>
          <p:cNvSpPr>
            <a:spLocks xmlns:a="http://schemas.openxmlformats.org/drawingml/2006/main" noGrp="1"/>
          </p:cNvSpPr>
          <p:nvPr/>
        </p:nvSpPr>
        <p:spPr>
          <a:xfrm xmlns:a="http://schemas.openxmlformats.org/drawingml/2006/main">
            <a:off x="876300" y="3752850"/>
            <a:ext cx="2190750" cy="7239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1" name="">
            <a:extLst xmlns:a="http://schemas.openxmlformats.org/drawingml/2006/main">
              <a:ext uri="{FF2B5EF4-FFF2-40B4-BE49-F238E27FC236}">
                <a16:creationId xmlns:a16="http://schemas.microsoft.com/office/drawing/2014/main" id="{6E5D896C-CD9C-4973-BE62-989DD1EBC3EA}"/>
              </a:ext>
            </a:extLst>
          </p:cNvPr>
          <p:cNvSpPr>
            <a:spLocks xmlns:a="http://schemas.openxmlformats.org/drawingml/2006/main" noGrp="1"/>
          </p:cNvSpPr>
          <p:nvPr/>
        </p:nvSpPr>
        <p:spPr>
          <a:xfrm xmlns:a="http://schemas.openxmlformats.org/drawingml/2006/main">
            <a:off x="1009650" y="40005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Implementation</a:t>
            </a:r>
          </a:p>
        </p:txBody>
      </p:sp>
      <p:sp>
        <p:nvSpPr>
          <p:cNvPr id="22" name="">
            <a:extLst xmlns:a="http://schemas.openxmlformats.org/drawingml/2006/main">
              <a:ext uri="{FF2B5EF4-FFF2-40B4-BE49-F238E27FC236}">
                <a16:creationId xmlns:a16="http://schemas.microsoft.com/office/drawing/2014/main" id="{D7863A0E-669E-4107-A7C8-CB547B91C84A}"/>
              </a:ext>
            </a:extLst>
          </p:cNvPr>
          <p:cNvSpPr>
            <a:spLocks xmlns:a="http://schemas.openxmlformats.org/drawingml/2006/main" noGrp="1"/>
          </p:cNvSpPr>
          <p:nvPr/>
        </p:nvSpPr>
        <p:spPr>
          <a:xfrm xmlns:a="http://schemas.openxmlformats.org/drawingml/2006/main">
            <a:off x="3505200" y="32766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A85D57"/>
                </a:solidFill>
                <a:latin typeface="Aptos Display"/>
                <a:ea typeface="Aptos Display"/>
                <a:cs typeface="Aptos Display"/>
              </a:defRPr>
            </a:pPr>
            <a:r>
              <a:rPr sz="1950" b="1">
                <a:solidFill>
                  <a:srgbClr val="A85D57"/>
                </a:solidFill>
                <a:latin typeface="Aptos Display"/>
                <a:ea typeface="Aptos Display"/>
                <a:cs typeface="Aptos Display"/>
              </a:rPr>
              <a:t>06</a:t>
            </a:r>
          </a:p>
        </p:txBody>
      </p:sp>
      <p:sp>
        <p:nvSpPr>
          <p:cNvPr id="23" name="">
            <a:extLst xmlns:a="http://schemas.openxmlformats.org/drawingml/2006/main">
              <a:ext uri="{FF2B5EF4-FFF2-40B4-BE49-F238E27FC236}">
                <a16:creationId xmlns:a16="http://schemas.microsoft.com/office/drawing/2014/main" id="{FB7BB06F-A472-44BD-96E6-6C6BC7E5C0FF}"/>
              </a:ext>
            </a:extLst>
          </p:cNvPr>
          <p:cNvSpPr>
            <a:spLocks xmlns:a="http://schemas.openxmlformats.org/drawingml/2006/main" noGrp="1"/>
          </p:cNvSpPr>
          <p:nvPr/>
        </p:nvSpPr>
        <p:spPr>
          <a:xfrm xmlns:a="http://schemas.openxmlformats.org/drawingml/2006/main">
            <a:off x="3505200" y="3752850"/>
            <a:ext cx="2190750" cy="723900"/>
          </a:xfrm>
          <a:prstGeom xmlns:a="http://schemas.openxmlformats.org/drawingml/2006/main" prst="rect">
            <a:avLst/>
          </a:prstGeom>
          <a:solidFill xmlns:a="http://schemas.openxmlformats.org/drawingml/2006/main">
            <a:srgbClr val="F6EDEA"/>
          </a:solidFill>
          <a:ln xmlns:a="http://schemas.openxmlformats.org/drawingml/2006/main" w="9525">
            <a:solidFill>
              <a:srgbClr val="A85D57"/>
            </a:solidFill>
            <a:prstDash val="solid"/>
          </a:ln>
        </p:spPr>
      </p:sp>
      <p:sp>
        <p:nvSpPr>
          <p:cNvPr id="24" name="">
            <a:extLst xmlns:a="http://schemas.openxmlformats.org/drawingml/2006/main">
              <a:ext uri="{FF2B5EF4-FFF2-40B4-BE49-F238E27FC236}">
                <a16:creationId xmlns:a16="http://schemas.microsoft.com/office/drawing/2014/main" id="{2A22C2AE-E3E0-4ECA-8546-29AC3E02D2E4}"/>
              </a:ext>
            </a:extLst>
          </p:cNvPr>
          <p:cNvSpPr>
            <a:spLocks xmlns:a="http://schemas.openxmlformats.org/drawingml/2006/main" noGrp="1"/>
          </p:cNvSpPr>
          <p:nvPr/>
        </p:nvSpPr>
        <p:spPr>
          <a:xfrm xmlns:a="http://schemas.openxmlformats.org/drawingml/2006/main">
            <a:off x="3638550" y="40005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Demonstration</a:t>
            </a:r>
          </a:p>
        </p:txBody>
      </p:sp>
      <p:sp>
        <p:nvSpPr>
          <p:cNvPr id="25" name="">
            <a:extLst xmlns:a="http://schemas.openxmlformats.org/drawingml/2006/main">
              <a:ext uri="{FF2B5EF4-FFF2-40B4-BE49-F238E27FC236}">
                <a16:creationId xmlns:a16="http://schemas.microsoft.com/office/drawing/2014/main" id="{18A2867B-CC1F-48BE-AD24-7EFB42F21C86}"/>
              </a:ext>
            </a:extLst>
          </p:cNvPr>
          <p:cNvSpPr>
            <a:spLocks xmlns:a="http://schemas.openxmlformats.org/drawingml/2006/main" noGrp="1"/>
          </p:cNvSpPr>
          <p:nvPr/>
        </p:nvSpPr>
        <p:spPr>
          <a:xfrm xmlns:a="http://schemas.openxmlformats.org/drawingml/2006/main">
            <a:off x="6134100" y="32766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8C7346"/>
                </a:solidFill>
                <a:latin typeface="Aptos Display"/>
                <a:ea typeface="Aptos Display"/>
                <a:cs typeface="Aptos Display"/>
              </a:defRPr>
            </a:pPr>
            <a:r>
              <a:rPr sz="1950" b="1">
                <a:solidFill>
                  <a:srgbClr val="8C7346"/>
                </a:solidFill>
                <a:latin typeface="Aptos Display"/>
                <a:ea typeface="Aptos Display"/>
                <a:cs typeface="Aptos Display"/>
              </a:rPr>
              <a:t>07</a:t>
            </a:r>
          </a:p>
        </p:txBody>
      </p:sp>
      <p:sp>
        <p:nvSpPr>
          <p:cNvPr id="26" name="">
            <a:extLst xmlns:a="http://schemas.openxmlformats.org/drawingml/2006/main">
              <a:ext uri="{FF2B5EF4-FFF2-40B4-BE49-F238E27FC236}">
                <a16:creationId xmlns:a16="http://schemas.microsoft.com/office/drawing/2014/main" id="{65CE0F0E-C780-4E47-8A7B-38125963562C}"/>
              </a:ext>
            </a:extLst>
          </p:cNvPr>
          <p:cNvSpPr>
            <a:spLocks xmlns:a="http://schemas.openxmlformats.org/drawingml/2006/main" noGrp="1"/>
          </p:cNvSpPr>
          <p:nvPr/>
        </p:nvSpPr>
        <p:spPr>
          <a:xfrm xmlns:a="http://schemas.openxmlformats.org/drawingml/2006/main">
            <a:off x="6134100" y="3752850"/>
            <a:ext cx="2190750" cy="723900"/>
          </a:xfrm>
          <a:prstGeom xmlns:a="http://schemas.openxmlformats.org/drawingml/2006/main" prst="rect">
            <a:avLst/>
          </a:prstGeom>
          <a:solidFill xmlns:a="http://schemas.openxmlformats.org/drawingml/2006/main">
            <a:srgbClr val="F4EFE5"/>
          </a:solidFill>
          <a:ln xmlns:a="http://schemas.openxmlformats.org/drawingml/2006/main" w="9525">
            <a:solidFill>
              <a:srgbClr val="8C7346"/>
            </a:solidFill>
            <a:prstDash val="solid"/>
          </a:ln>
        </p:spPr>
      </p:sp>
      <p:sp>
        <p:nvSpPr>
          <p:cNvPr id="27" name="">
            <a:extLst xmlns:a="http://schemas.openxmlformats.org/drawingml/2006/main">
              <a:ext uri="{FF2B5EF4-FFF2-40B4-BE49-F238E27FC236}">
                <a16:creationId xmlns:a16="http://schemas.microsoft.com/office/drawing/2014/main" id="{9875485F-1854-44EC-BA41-46168B190C18}"/>
              </a:ext>
            </a:extLst>
          </p:cNvPr>
          <p:cNvSpPr>
            <a:spLocks xmlns:a="http://schemas.openxmlformats.org/drawingml/2006/main" noGrp="1"/>
          </p:cNvSpPr>
          <p:nvPr/>
        </p:nvSpPr>
        <p:spPr>
          <a:xfrm xmlns:a="http://schemas.openxmlformats.org/drawingml/2006/main">
            <a:off x="6267450" y="400050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Conclusion</a:t>
            </a:r>
          </a:p>
        </p:txBody>
      </p:sp>
      <p:sp>
        <p:nvSpPr>
          <p:cNvPr id="28" name="">
            <a:extLst xmlns:a="http://schemas.openxmlformats.org/drawingml/2006/main">
              <a:ext uri="{FF2B5EF4-FFF2-40B4-BE49-F238E27FC236}">
                <a16:creationId xmlns:a16="http://schemas.microsoft.com/office/drawing/2014/main" id="{57715811-773A-4FE8-AA90-FCFCAE90AA4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07008808"/>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81EA0DD-E05B-4617-91C4-D895565C19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DBFCAF-BF1E-430C-9CBC-AC8C246CE56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789FD7-C87B-46FD-A226-36F30B103C39}"/>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0FEB3BD4-E731-4D5E-A3E2-EC682308C99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D908C24C-E6AE-4F72-ACED-D72E52E6381A}"/>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Software supply chains depend on many hidden components</a:t>
            </a:r>
          </a:p>
        </p:txBody>
      </p:sp>
      <p:sp>
        <p:nvSpPr>
          <p:cNvPr id="6" name="">
            <a:extLst xmlns:a="http://schemas.openxmlformats.org/drawingml/2006/main">
              <a:ext uri="{FF2B5EF4-FFF2-40B4-BE49-F238E27FC236}">
                <a16:creationId xmlns:a16="http://schemas.microsoft.com/office/drawing/2014/main" id="{87E0DAB9-4435-4EC1-9870-BC6735602E03}"/>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58183AA-003A-4DC8-ACE0-B72CE037DC33}"/>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1E679F42-4EE8-4675-AC8B-87AD9C00D5EE}"/>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A133FFCE-6824-4F6D-BDF9-53C7F659097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CC0CAB-BB89-4A09-B6A7-5F99A32AA1C7}"/>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Modern applications assemble direct and transitive dependencies.</a:t>
            </a:r>
          </a:p>
        </p:txBody>
      </p:sp>
      <p:sp>
        <p:nvSpPr>
          <p:cNvPr id="11" name="">
            <a:extLst xmlns:a="http://schemas.openxmlformats.org/drawingml/2006/main">
              <a:ext uri="{FF2B5EF4-FFF2-40B4-BE49-F238E27FC236}">
                <a16:creationId xmlns:a16="http://schemas.microsoft.com/office/drawing/2014/main" id="{4F22F4AF-9727-429B-9D15-3AFA412C98D9}"/>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DBD45A-3AC0-4660-B671-927E1CD7D5DA}"/>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Libraries may come from Maven, Android artifacts, native binaries, generated code, and frameworks.</a:t>
            </a:r>
          </a:p>
        </p:txBody>
      </p:sp>
      <p:sp>
        <p:nvSpPr>
          <p:cNvPr id="13" name="">
            <a:extLst xmlns:a="http://schemas.openxmlformats.org/drawingml/2006/main">
              <a:ext uri="{FF2B5EF4-FFF2-40B4-BE49-F238E27FC236}">
                <a16:creationId xmlns:a16="http://schemas.microsoft.com/office/drawing/2014/main" id="{A442CD66-6B4D-47B9-A0C9-29E9E1233A75}"/>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04F46E-F8A6-4A07-86C3-F5F81C13C575}"/>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Security teams need inventory to manage exposure and vulnerability response.</a:t>
            </a:r>
          </a:p>
        </p:txBody>
      </p:sp>
      <p:sp>
        <p:nvSpPr>
          <p:cNvPr id="15" name="">
            <a:extLst xmlns:a="http://schemas.openxmlformats.org/drawingml/2006/main">
              <a:ext uri="{FF2B5EF4-FFF2-40B4-BE49-F238E27FC236}">
                <a16:creationId xmlns:a16="http://schemas.microsoft.com/office/drawing/2014/main" id="{DD336EAF-50B4-4DDD-8B1C-E82BDF34F638}"/>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89A0DF4C-5135-4227-89BA-E354C93AEFDC}"/>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1E25AA0F-E03F-4611-AF3A-794413A011F7}"/>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8" name="">
            <a:extLst xmlns:a="http://schemas.openxmlformats.org/drawingml/2006/main">
              <a:ext uri="{FF2B5EF4-FFF2-40B4-BE49-F238E27FC236}">
                <a16:creationId xmlns:a16="http://schemas.microsoft.com/office/drawing/2014/main" id="{C0D25BA3-CE36-4568-864B-88BDDAA87268}"/>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19" name="">
            <a:extLst xmlns:a="http://schemas.openxmlformats.org/drawingml/2006/main">
              <a:ext uri="{FF2B5EF4-FFF2-40B4-BE49-F238E27FC236}">
                <a16:creationId xmlns:a16="http://schemas.microsoft.com/office/drawing/2014/main" id="{A893AB45-EB03-49D0-A216-E500BDFDD53E}"/>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9BE0B1-C469-4B78-B79B-8D5D1C3F1A47}"/>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1" name="">
            <a:extLst xmlns:a="http://schemas.openxmlformats.org/drawingml/2006/main">
              <a:ext uri="{FF2B5EF4-FFF2-40B4-BE49-F238E27FC236}">
                <a16:creationId xmlns:a16="http://schemas.microsoft.com/office/drawing/2014/main" id="{C761BBA0-CDAE-44C8-8CD4-9794659FF4C4}"/>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2" name="">
            <a:extLst xmlns:a="http://schemas.openxmlformats.org/drawingml/2006/main">
              <a:ext uri="{FF2B5EF4-FFF2-40B4-BE49-F238E27FC236}">
                <a16:creationId xmlns:a16="http://schemas.microsoft.com/office/drawing/2014/main" id="{3AC409D9-2DFF-4B7A-AEC4-74879989BA3F}"/>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3D9190-3BDF-4F8C-99E7-C05C166F968A}"/>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4" name="">
            <a:extLst xmlns:a="http://schemas.openxmlformats.org/drawingml/2006/main">
              <a:ext uri="{FF2B5EF4-FFF2-40B4-BE49-F238E27FC236}">
                <a16:creationId xmlns:a16="http://schemas.microsoft.com/office/drawing/2014/main" id="{2F728770-72E0-48E4-A4F7-08481909446B}"/>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5" name="">
            <a:extLst xmlns:a="http://schemas.openxmlformats.org/drawingml/2006/main">
              <a:ext uri="{FF2B5EF4-FFF2-40B4-BE49-F238E27FC236}">
                <a16:creationId xmlns:a16="http://schemas.microsoft.com/office/drawing/2014/main" id="{8684BBCC-F2AE-4273-9614-CE32154DDAF3}"/>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1CD3B3A-63B0-4ECE-B3CE-284E287BC6A2}"/>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7" name="">
            <a:extLst xmlns:a="http://schemas.openxmlformats.org/drawingml/2006/main">
              <a:ext uri="{FF2B5EF4-FFF2-40B4-BE49-F238E27FC236}">
                <a16:creationId xmlns:a16="http://schemas.microsoft.com/office/drawing/2014/main" id="{155C7E50-00F3-4E21-A302-FD8EC221CD94}"/>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28" name="">
            <a:extLst xmlns:a="http://schemas.openxmlformats.org/drawingml/2006/main">
              <a:ext uri="{FF2B5EF4-FFF2-40B4-BE49-F238E27FC236}">
                <a16:creationId xmlns:a16="http://schemas.microsoft.com/office/drawing/2014/main" id="{1EAA6F6C-D38B-4DB2-A337-53F7C5ADEB05}"/>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AB78732-2202-4F3E-BB13-9972619F382E}"/>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0" name="">
            <a:extLst xmlns:a="http://schemas.openxmlformats.org/drawingml/2006/main">
              <a:ext uri="{FF2B5EF4-FFF2-40B4-BE49-F238E27FC236}">
                <a16:creationId xmlns:a16="http://schemas.microsoft.com/office/drawing/2014/main" id="{14724D67-5AB6-4D7A-8AAC-AC713B9A99BD}"/>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1" name="">
            <a:extLst xmlns:a="http://schemas.openxmlformats.org/drawingml/2006/main">
              <a:ext uri="{FF2B5EF4-FFF2-40B4-BE49-F238E27FC236}">
                <a16:creationId xmlns:a16="http://schemas.microsoft.com/office/drawing/2014/main" id="{1C2E91A9-CA6B-4AD7-8F29-B3DFF6B49FC3}"/>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Introduce supply-chain context.</a:t>
            </a:r>
          </a:p>
        </p:txBody>
      </p:sp>
      <p:sp>
        <p:nvSpPr>
          <p:cNvPr id="32" name="">
            <a:extLst xmlns:a="http://schemas.openxmlformats.org/drawingml/2006/main">
              <a:ext uri="{FF2B5EF4-FFF2-40B4-BE49-F238E27FC236}">
                <a16:creationId xmlns:a16="http://schemas.microsoft.com/office/drawing/2014/main" id="{21BCC620-6768-4A8A-833B-4780A655691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7485036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066DB6-BFDC-45DC-A157-CDC6F9E18A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F59162-CA1C-426E-BA4C-332AFCB5A7C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60FDAF0-9880-45A0-923B-2EA738E825DF}"/>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ED73B7D7-F1A6-44C0-A399-E0511EF465A5}"/>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1D4D1983-7DC9-48FA-A0FA-B90EE8121CAA}"/>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An SBOM is a structured component inventory</a:t>
            </a:r>
          </a:p>
        </p:txBody>
      </p:sp>
      <p:sp>
        <p:nvSpPr>
          <p:cNvPr id="6" name="">
            <a:extLst xmlns:a="http://schemas.openxmlformats.org/drawingml/2006/main">
              <a:ext uri="{FF2B5EF4-FFF2-40B4-BE49-F238E27FC236}">
                <a16:creationId xmlns:a16="http://schemas.microsoft.com/office/drawing/2014/main" id="{C2B70874-1A37-45A4-9674-2CD9CEEE3756}"/>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34751ED-807D-4C0C-BC73-FE2150F3F1E2}"/>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BBA5F65B-799D-4182-AB6B-ADC6F83FE23D}"/>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39816AD2-6C5C-4FC3-900E-250FAA387C1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CBFB60-BA6C-49EC-8476-EBBC656B4AA3}"/>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SBOM means Software Bill of Materials.</a:t>
            </a:r>
          </a:p>
        </p:txBody>
      </p:sp>
      <p:sp>
        <p:nvSpPr>
          <p:cNvPr id="11" name="">
            <a:extLst xmlns:a="http://schemas.openxmlformats.org/drawingml/2006/main">
              <a:ext uri="{FF2B5EF4-FFF2-40B4-BE49-F238E27FC236}">
                <a16:creationId xmlns:a16="http://schemas.microsoft.com/office/drawing/2014/main" id="{A4E6E406-4AF3-467D-B5A4-7D51B3226F18}"/>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7D20F9-A6EC-4338-A321-EBDEE3035489}"/>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It records components, versions, identifiers, and relationships.</a:t>
            </a:r>
          </a:p>
        </p:txBody>
      </p:sp>
      <p:sp>
        <p:nvSpPr>
          <p:cNvPr id="13" name="">
            <a:extLst xmlns:a="http://schemas.openxmlformats.org/drawingml/2006/main">
              <a:ext uri="{FF2B5EF4-FFF2-40B4-BE49-F238E27FC236}">
                <a16:creationId xmlns:a16="http://schemas.microsoft.com/office/drawing/2014/main" id="{AE1B29AB-D747-44B4-9F9F-DD33B88C83A3}"/>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694CEB-A4AB-4B16-A71E-8844ED36613E}"/>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Standards such as CycloneDX and SPDX define exchange formats.</a:t>
            </a:r>
          </a:p>
        </p:txBody>
      </p:sp>
      <p:sp>
        <p:nvSpPr>
          <p:cNvPr id="15" name="">
            <a:extLst xmlns:a="http://schemas.openxmlformats.org/drawingml/2006/main">
              <a:ext uri="{FF2B5EF4-FFF2-40B4-BE49-F238E27FC236}">
                <a16:creationId xmlns:a16="http://schemas.microsoft.com/office/drawing/2014/main" id="{FCB35934-3FF9-4049-B59D-CA329B2B8E0A}"/>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B3A1E7-E770-468B-AD9E-3C2B0D92F37B}"/>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Package URL helps identify ecosystem package coordinates.</a:t>
            </a:r>
          </a:p>
        </p:txBody>
      </p:sp>
      <p:sp>
        <p:nvSpPr>
          <p:cNvPr id="17" name="">
            <a:extLst xmlns:a="http://schemas.openxmlformats.org/drawingml/2006/main">
              <a:ext uri="{FF2B5EF4-FFF2-40B4-BE49-F238E27FC236}">
                <a16:creationId xmlns:a16="http://schemas.microsoft.com/office/drawing/2014/main" id="{FD0E0CF9-46CF-402D-BC85-50E8F69E7E3D}"/>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1E319375-3750-47A2-BC6B-EDCFE4A17C08}"/>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63AE754F-601E-4A1B-A3D6-16446FDEE29D}"/>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685AE8AD-11C0-46C9-8DE1-626EB7A0B676}"/>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Minimal example SBOM row: group, artifact, version, PURL.</a:t>
            </a:r>
          </a:p>
        </p:txBody>
      </p:sp>
      <p:sp>
        <p:nvSpPr>
          <p:cNvPr id="21" name="">
            <a:extLst xmlns:a="http://schemas.openxmlformats.org/drawingml/2006/main">
              <a:ext uri="{FF2B5EF4-FFF2-40B4-BE49-F238E27FC236}">
                <a16:creationId xmlns:a16="http://schemas.microsoft.com/office/drawing/2014/main" id="{D61DC3E2-576E-42E7-8664-8F45377D58A3}"/>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Define SBOM simply.</a:t>
            </a:r>
          </a:p>
        </p:txBody>
      </p:sp>
      <p:sp>
        <p:nvSpPr>
          <p:cNvPr id="22" name="">
            <a:extLst xmlns:a="http://schemas.openxmlformats.org/drawingml/2006/main">
              <a:ext uri="{FF2B5EF4-FFF2-40B4-BE49-F238E27FC236}">
                <a16:creationId xmlns:a16="http://schemas.microsoft.com/office/drawing/2014/main" id="{0106D543-C3A5-43E7-957A-11FA211AD34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95330009"/>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4122C8-A981-45A6-B966-00906C80C0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498D890-E75C-4057-990E-48D1B6DC595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70946B9-8ADF-4BB9-AD62-F232AD99A37A}"/>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10048A0A-9720-400F-B1DB-FC199EE83C1B}"/>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98572289-F306-4770-AD49-1E38E3FF850F}"/>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Build-time SBOMs and reconstructed SBOMs are different</a:t>
            </a:r>
          </a:p>
        </p:txBody>
      </p:sp>
      <p:sp>
        <p:nvSpPr>
          <p:cNvPr id="6" name="">
            <a:extLst xmlns:a="http://schemas.openxmlformats.org/drawingml/2006/main">
              <a:ext uri="{FF2B5EF4-FFF2-40B4-BE49-F238E27FC236}">
                <a16:creationId xmlns:a16="http://schemas.microsoft.com/office/drawing/2014/main" id="{2ACB8E47-814B-41C2-99A3-AB4F28C82CD9}"/>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9D2DB2-17E8-4EF5-98C4-56E958C17DC6}"/>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627D5FC-65D2-40DC-9432-D1C2F4ED17C6}"/>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4DB89E14-9C64-4C9D-89D8-2C8EC86A4DE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C96261-251A-4A60-A2CA-D1B4DF653913}"/>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Build-time SBOM: produced from source, dependency resolution, and build metadata.</a:t>
            </a:r>
          </a:p>
        </p:txBody>
      </p:sp>
      <p:sp>
        <p:nvSpPr>
          <p:cNvPr id="11" name="">
            <a:extLst xmlns:a="http://schemas.openxmlformats.org/drawingml/2006/main">
              <a:ext uri="{FF2B5EF4-FFF2-40B4-BE49-F238E27FC236}">
                <a16:creationId xmlns:a16="http://schemas.microsoft.com/office/drawing/2014/main" id="{7F532DEB-FFB5-48A7-847F-1755C633BB51}"/>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7F0BF79-894F-414E-AF48-442D448B460B}"/>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Reconstructed SBOM: inferred from the delivered artifact.</a:t>
            </a:r>
          </a:p>
        </p:txBody>
      </p:sp>
      <p:sp>
        <p:nvSpPr>
          <p:cNvPr id="13" name="">
            <a:extLst xmlns:a="http://schemas.openxmlformats.org/drawingml/2006/main">
              <a:ext uri="{FF2B5EF4-FFF2-40B4-BE49-F238E27FC236}">
                <a16:creationId xmlns:a16="http://schemas.microsoft.com/office/drawing/2014/main" id="{65293C6A-100B-47AA-9D9C-1238E26C8BEA}"/>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99F89E-E815-4F34-8C74-B8A2DE4598C8}"/>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reconstructed case must preserve uncertainty and provenance.</a:t>
            </a:r>
          </a:p>
        </p:txBody>
      </p:sp>
      <p:sp>
        <p:nvSpPr>
          <p:cNvPr id="15" name="">
            <a:extLst xmlns:a="http://schemas.openxmlformats.org/drawingml/2006/main">
              <a:ext uri="{FF2B5EF4-FFF2-40B4-BE49-F238E27FC236}">
                <a16:creationId xmlns:a16="http://schemas.microsoft.com/office/drawing/2014/main" id="{BDEB38FB-6D68-43ED-AAF1-467499E2DBF7}"/>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E2B05005-B8BF-4253-BA54-A22CBC4F723C}"/>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89E0950B-1620-471A-B28E-1FDE284A3408}"/>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8" name="">
            <a:extLst xmlns:a="http://schemas.openxmlformats.org/drawingml/2006/main">
              <a:ext uri="{FF2B5EF4-FFF2-40B4-BE49-F238E27FC236}">
                <a16:creationId xmlns:a16="http://schemas.microsoft.com/office/drawing/2014/main" id="{D30A7435-E671-4C5D-BC22-E22A9D550E64}"/>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19" name="">
            <a:extLst xmlns:a="http://schemas.openxmlformats.org/drawingml/2006/main">
              <a:ext uri="{FF2B5EF4-FFF2-40B4-BE49-F238E27FC236}">
                <a16:creationId xmlns:a16="http://schemas.microsoft.com/office/drawing/2014/main" id="{8BE39E21-2070-497B-B285-E212B19FBC9F}"/>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7C5081-313D-4E30-AF7C-F5BA33996B91}"/>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1" name="">
            <a:extLst xmlns:a="http://schemas.openxmlformats.org/drawingml/2006/main">
              <a:ext uri="{FF2B5EF4-FFF2-40B4-BE49-F238E27FC236}">
                <a16:creationId xmlns:a16="http://schemas.microsoft.com/office/drawing/2014/main" id="{36E74B7B-999D-4756-A7B4-C38EFA3BA6B0}"/>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2" name="">
            <a:extLst xmlns:a="http://schemas.openxmlformats.org/drawingml/2006/main">
              <a:ext uri="{FF2B5EF4-FFF2-40B4-BE49-F238E27FC236}">
                <a16:creationId xmlns:a16="http://schemas.microsoft.com/office/drawing/2014/main" id="{6E19A87F-1D7B-49D5-8F53-848B541446C1}"/>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964C0B0-8D70-4524-9795-D724D138DA09}"/>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4" name="">
            <a:extLst xmlns:a="http://schemas.openxmlformats.org/drawingml/2006/main">
              <a:ext uri="{FF2B5EF4-FFF2-40B4-BE49-F238E27FC236}">
                <a16:creationId xmlns:a16="http://schemas.microsoft.com/office/drawing/2014/main" id="{FF7A0A3D-FC90-4B43-BD82-462162D04591}"/>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5" name="">
            <a:extLst xmlns:a="http://schemas.openxmlformats.org/drawingml/2006/main">
              <a:ext uri="{FF2B5EF4-FFF2-40B4-BE49-F238E27FC236}">
                <a16:creationId xmlns:a16="http://schemas.microsoft.com/office/drawing/2014/main" id="{4C43D85C-86A7-4193-8EAF-7561ADADA717}"/>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B61B09E-3B33-43BC-A111-A830E36C8CAE}"/>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7" name="">
            <a:extLst xmlns:a="http://schemas.openxmlformats.org/drawingml/2006/main">
              <a:ext uri="{FF2B5EF4-FFF2-40B4-BE49-F238E27FC236}">
                <a16:creationId xmlns:a16="http://schemas.microsoft.com/office/drawing/2014/main" id="{2F634039-F487-45B3-9D80-15DDC53AF18B}"/>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28" name="">
            <a:extLst xmlns:a="http://schemas.openxmlformats.org/drawingml/2006/main">
              <a:ext uri="{FF2B5EF4-FFF2-40B4-BE49-F238E27FC236}">
                <a16:creationId xmlns:a16="http://schemas.microsoft.com/office/drawing/2014/main" id="{490F408F-8B60-4973-B7E3-25A80D4508A5}"/>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A726B31-5DBF-4220-9DC8-A90A1024EE5F}"/>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0" name="">
            <a:extLst xmlns:a="http://schemas.openxmlformats.org/drawingml/2006/main">
              <a:ext uri="{FF2B5EF4-FFF2-40B4-BE49-F238E27FC236}">
                <a16:creationId xmlns:a16="http://schemas.microsoft.com/office/drawing/2014/main" id="{3B744B51-601C-4B8C-9437-2712A5DEB099}"/>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1" name="">
            <a:extLst xmlns:a="http://schemas.openxmlformats.org/drawingml/2006/main">
              <a:ext uri="{FF2B5EF4-FFF2-40B4-BE49-F238E27FC236}">
                <a16:creationId xmlns:a16="http://schemas.microsoft.com/office/drawing/2014/main" id="{D91A0E41-1625-40A8-958F-2772FE69FE6E}"/>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Establish key conceptual distinction.</a:t>
            </a:r>
          </a:p>
        </p:txBody>
      </p:sp>
      <p:sp>
        <p:nvSpPr>
          <p:cNvPr id="32" name="">
            <a:extLst xmlns:a="http://schemas.openxmlformats.org/drawingml/2006/main">
              <a:ext uri="{FF2B5EF4-FFF2-40B4-BE49-F238E27FC236}">
                <a16:creationId xmlns:a16="http://schemas.microsoft.com/office/drawing/2014/main" id="{41274FB4-27F2-4E92-9C3E-277136D053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704395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A0378A-5E62-45F1-9898-ED2D769D79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B7092F-6806-4E2E-BB45-778DFBC2D18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CDCB08-A8DA-4132-B832-0E7404EC60A6}"/>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1A7A350A-534C-4C9D-93E4-7F27A4C42B0E}"/>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3AF5CE9B-72F0-4C59-9AED-1B74BD198A03}"/>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Android builds transform the evidence before analysis</a:t>
            </a:r>
          </a:p>
        </p:txBody>
      </p:sp>
      <p:sp>
        <p:nvSpPr>
          <p:cNvPr id="6" name="">
            <a:extLst xmlns:a="http://schemas.openxmlformats.org/drawingml/2006/main">
              <a:ext uri="{FF2B5EF4-FFF2-40B4-BE49-F238E27FC236}">
                <a16:creationId xmlns:a16="http://schemas.microsoft.com/office/drawing/2014/main" id="{FEFC1E5B-8FAD-4697-82C4-D35CD252EC58}"/>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63DFC2-CBBA-4FE9-9510-49F4F1EEEE58}"/>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4D0CC792-7A4E-4728-A487-06954925DD5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9493306E-CE5E-436A-BC14-744A96A6638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2DD2BD-99A6-4EF7-B4C1-7D1F12E5FE94}"/>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Source code and Gradle dependencies are resolved.</a:t>
            </a:r>
          </a:p>
        </p:txBody>
      </p:sp>
      <p:sp>
        <p:nvSpPr>
          <p:cNvPr id="11" name="">
            <a:extLst xmlns:a="http://schemas.openxmlformats.org/drawingml/2006/main">
              <a:ext uri="{FF2B5EF4-FFF2-40B4-BE49-F238E27FC236}">
                <a16:creationId xmlns:a16="http://schemas.microsoft.com/office/drawing/2014/main" id="{BDF101B0-CC90-4C53-B4E3-3D60265DAC0D}"/>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0B7A21-A8C3-418B-A356-E9E60BB7A1CF}"/>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Java and Kotlin code becomes JVM bytecode.</a:t>
            </a:r>
          </a:p>
        </p:txBody>
      </p:sp>
      <p:sp>
        <p:nvSpPr>
          <p:cNvPr id="13" name="">
            <a:extLst xmlns:a="http://schemas.openxmlformats.org/drawingml/2006/main">
              <a:ext uri="{FF2B5EF4-FFF2-40B4-BE49-F238E27FC236}">
                <a16:creationId xmlns:a16="http://schemas.microsoft.com/office/drawing/2014/main" id="{1493BFFF-FF7F-409C-B213-9304A30028F1}"/>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172735-8020-48BE-A5EC-43DFDFC5B157}"/>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D8 converts bytecode into DEX.</a:t>
            </a:r>
          </a:p>
        </p:txBody>
      </p:sp>
      <p:sp>
        <p:nvSpPr>
          <p:cNvPr id="15" name="">
            <a:extLst xmlns:a="http://schemas.openxmlformats.org/drawingml/2006/main">
              <a:ext uri="{FF2B5EF4-FFF2-40B4-BE49-F238E27FC236}">
                <a16:creationId xmlns:a16="http://schemas.microsoft.com/office/drawing/2014/main" id="{2D7A42D0-ADC3-40C8-813E-EE141E8C3ADD}"/>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2B573DD-CED3-42A3-A802-0E35FAB2A573}"/>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R8 may shrink, optimize, obfuscate, and inline code.</a:t>
            </a:r>
          </a:p>
        </p:txBody>
      </p:sp>
      <p:sp>
        <p:nvSpPr>
          <p:cNvPr id="17" name="">
            <a:extLst xmlns:a="http://schemas.openxmlformats.org/drawingml/2006/main">
              <a:ext uri="{FF2B5EF4-FFF2-40B4-BE49-F238E27FC236}">
                <a16:creationId xmlns:a16="http://schemas.microsoft.com/office/drawing/2014/main" id="{A2F00B06-7233-4651-A4FD-93F484B01BF3}"/>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B38AB03-0A40-4DA2-82CB-E42B7ECDB0FF}"/>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result is a signed APK.</a:t>
            </a:r>
          </a:p>
        </p:txBody>
      </p:sp>
      <p:sp>
        <p:nvSpPr>
          <p:cNvPr id="19" name="">
            <a:extLst xmlns:a="http://schemas.openxmlformats.org/drawingml/2006/main">
              <a:ext uri="{FF2B5EF4-FFF2-40B4-BE49-F238E27FC236}">
                <a16:creationId xmlns:a16="http://schemas.microsoft.com/office/drawing/2014/main" id="{B6833893-FFAE-4518-B80D-4ABAFB0DEDE4}"/>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03430D0C-09A7-4DF1-AFC7-3AA2B8FDE3A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84C5B419-0F90-4534-97FA-AC94D6350E7D}"/>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014D402C-47B3-4CD0-917C-6553229957E5}"/>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3" name="">
            <a:extLst xmlns:a="http://schemas.openxmlformats.org/drawingml/2006/main">
              <a:ext uri="{FF2B5EF4-FFF2-40B4-BE49-F238E27FC236}">
                <a16:creationId xmlns:a16="http://schemas.microsoft.com/office/drawing/2014/main" id="{4BC55026-7F53-4AAC-A430-7C310ADBE9E9}"/>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C167A54-AAF8-4B4F-B2F1-CC9A4D7C81C5}"/>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5" name="">
            <a:extLst xmlns:a="http://schemas.openxmlformats.org/drawingml/2006/main">
              <a:ext uri="{FF2B5EF4-FFF2-40B4-BE49-F238E27FC236}">
                <a16:creationId xmlns:a16="http://schemas.microsoft.com/office/drawing/2014/main" id="{57776E27-7D00-4FA4-8EE1-DD9638FA8F55}"/>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6" name="">
            <a:extLst xmlns:a="http://schemas.openxmlformats.org/drawingml/2006/main">
              <a:ext uri="{FF2B5EF4-FFF2-40B4-BE49-F238E27FC236}">
                <a16:creationId xmlns:a16="http://schemas.microsoft.com/office/drawing/2014/main" id="{3A9CAD0B-E5D2-466B-A089-7AD0A4DBFA44}"/>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A5F5FBD-DC71-44F0-8AFD-5AEE1D31FA26}"/>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8" name="">
            <a:extLst xmlns:a="http://schemas.openxmlformats.org/drawingml/2006/main">
              <a:ext uri="{FF2B5EF4-FFF2-40B4-BE49-F238E27FC236}">
                <a16:creationId xmlns:a16="http://schemas.microsoft.com/office/drawing/2014/main" id="{8EB34CFD-2F16-4E28-B9B2-0040940B41C5}"/>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9" name="">
            <a:extLst xmlns:a="http://schemas.openxmlformats.org/drawingml/2006/main">
              <a:ext uri="{FF2B5EF4-FFF2-40B4-BE49-F238E27FC236}">
                <a16:creationId xmlns:a16="http://schemas.microsoft.com/office/drawing/2014/main" id="{64A3C5D5-802E-490D-A243-C561A81504E2}"/>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33BBFBD-F00A-46BA-86D1-C5F5616E985D}"/>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31" name="">
            <a:extLst xmlns:a="http://schemas.openxmlformats.org/drawingml/2006/main">
              <a:ext uri="{FF2B5EF4-FFF2-40B4-BE49-F238E27FC236}">
                <a16:creationId xmlns:a16="http://schemas.microsoft.com/office/drawing/2014/main" id="{A8BD2264-474C-4B5B-B301-A083DA7BF1EB}"/>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2" name="">
            <a:extLst xmlns:a="http://schemas.openxmlformats.org/drawingml/2006/main">
              <a:ext uri="{FF2B5EF4-FFF2-40B4-BE49-F238E27FC236}">
                <a16:creationId xmlns:a16="http://schemas.microsoft.com/office/drawing/2014/main" id="{34A4ED8F-222F-40D7-A56B-8955B546DB09}"/>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100DABC-D016-43B7-870F-DE83F912CE19}"/>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4" name="">
            <a:extLst xmlns:a="http://schemas.openxmlformats.org/drawingml/2006/main">
              <a:ext uri="{FF2B5EF4-FFF2-40B4-BE49-F238E27FC236}">
                <a16:creationId xmlns:a16="http://schemas.microsoft.com/office/drawing/2014/main" id="{BB19609C-A85A-47A0-A5E4-D59AD4AA752D}"/>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5" name="">
            <a:extLst xmlns:a="http://schemas.openxmlformats.org/drawingml/2006/main">
              <a:ext uri="{FF2B5EF4-FFF2-40B4-BE49-F238E27FC236}">
                <a16:creationId xmlns:a16="http://schemas.microsoft.com/office/drawing/2014/main" id="{17273609-8C5F-4AE7-98E0-1F1529EBAF3D}"/>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the Android build path.</a:t>
            </a:r>
          </a:p>
        </p:txBody>
      </p:sp>
      <p:sp>
        <p:nvSpPr>
          <p:cNvPr id="36" name="">
            <a:extLst xmlns:a="http://schemas.openxmlformats.org/drawingml/2006/main">
              <a:ext uri="{FF2B5EF4-FFF2-40B4-BE49-F238E27FC236}">
                <a16:creationId xmlns:a16="http://schemas.microsoft.com/office/drawing/2014/main" id="{18E131CC-41E4-418D-876E-AF7926AA7D2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30002632"/>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661A55-19FA-4B20-B20B-3DFF6EC813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77B4DA-83CE-4293-8917-2C4D9ECC648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CAFF18-4B54-426B-9F0B-7D74B614AFD9}"/>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885788A6-5933-4097-B92E-F12FB6D3701B}"/>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4090496E-7A51-444B-9B63-6DD520418477}"/>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APK exposes several evidence regions</a:t>
            </a:r>
          </a:p>
        </p:txBody>
      </p:sp>
      <p:sp>
        <p:nvSpPr>
          <p:cNvPr id="6" name="">
            <a:extLst xmlns:a="http://schemas.openxmlformats.org/drawingml/2006/main">
              <a:ext uri="{FF2B5EF4-FFF2-40B4-BE49-F238E27FC236}">
                <a16:creationId xmlns:a16="http://schemas.microsoft.com/office/drawing/2014/main" id="{76C50845-0B81-4D16-A8F6-AE766BAEDA5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D5CDA29-657C-4073-9B46-B06EDF077595}"/>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196DC06-2E45-482E-9511-BBD22FF4C0A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9E0745AC-8D79-4D0E-9B2F-FC6A670DA04B}"/>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B8EAB1-8E5F-4770-8FF7-5DF8ED1F7F75}"/>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AndroidManifest.xml for package and component metadata.</a:t>
            </a:r>
          </a:p>
        </p:txBody>
      </p:sp>
      <p:sp>
        <p:nvSpPr>
          <p:cNvPr id="11" name="">
            <a:extLst xmlns:a="http://schemas.openxmlformats.org/drawingml/2006/main">
              <a:ext uri="{FF2B5EF4-FFF2-40B4-BE49-F238E27FC236}">
                <a16:creationId xmlns:a16="http://schemas.microsoft.com/office/drawing/2014/main" id="{7E82C1F1-408E-4C87-83B6-56D6E56CF9C3}"/>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5BA127-6ABC-45C0-BEF1-3D222ADA5921}"/>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classes.dex and classes2.dex for executable bytecode.</a:t>
            </a:r>
          </a:p>
        </p:txBody>
      </p:sp>
      <p:sp>
        <p:nvSpPr>
          <p:cNvPr id="13" name="">
            <a:extLst xmlns:a="http://schemas.openxmlformats.org/drawingml/2006/main">
              <a:ext uri="{FF2B5EF4-FFF2-40B4-BE49-F238E27FC236}">
                <a16:creationId xmlns:a16="http://schemas.microsoft.com/office/drawing/2014/main" id="{464059CC-D6C3-4954-B11F-9B02EFA41665}"/>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B8BE44-E8D2-4582-B27A-6D4297A5FD18}"/>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resources.arsc, res, and assets for packaging evidence.</a:t>
            </a:r>
          </a:p>
        </p:txBody>
      </p:sp>
      <p:sp>
        <p:nvSpPr>
          <p:cNvPr id="15" name="">
            <a:extLst xmlns:a="http://schemas.openxmlformats.org/drawingml/2006/main">
              <a:ext uri="{FF2B5EF4-FFF2-40B4-BE49-F238E27FC236}">
                <a16:creationId xmlns:a16="http://schemas.microsoft.com/office/drawing/2014/main" id="{2492E7E7-6B4E-4E82-8D95-560FFCED2742}"/>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4DE632B-C4AB-484F-8CDC-C19067300FF8}"/>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 ABI directories for native shared libraries.</a:t>
            </a:r>
          </a:p>
        </p:txBody>
      </p:sp>
      <p:sp>
        <p:nvSpPr>
          <p:cNvPr id="17" name="">
            <a:extLst xmlns:a="http://schemas.openxmlformats.org/drawingml/2006/main">
              <a:ext uri="{FF2B5EF4-FFF2-40B4-BE49-F238E27FC236}">
                <a16:creationId xmlns:a16="http://schemas.microsoft.com/office/drawing/2014/main" id="{80696CF8-31E6-4939-81A9-3A00AFC72200}"/>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668DB69-9824-46F3-946B-765B7DBCD075}"/>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META-INF and signing blocks for package integrity evidence.</a:t>
            </a:r>
          </a:p>
        </p:txBody>
      </p:sp>
      <p:sp>
        <p:nvSpPr>
          <p:cNvPr id="19" name="">
            <a:extLst xmlns:a="http://schemas.openxmlformats.org/drawingml/2006/main">
              <a:ext uri="{FF2B5EF4-FFF2-40B4-BE49-F238E27FC236}">
                <a16:creationId xmlns:a16="http://schemas.microsoft.com/office/drawing/2014/main" id="{A027B5BC-803C-401F-9B61-A3CCAB5CABF8}"/>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8513DDEE-8AE6-40E0-9606-877A037BFB90}"/>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4E88EF74-067A-4608-BD97-C51FBE493885}"/>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D8F5003C-A892-4A79-9651-DE6050F1872A}"/>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APK container diagram with five labeled regions.</a:t>
            </a:r>
          </a:p>
        </p:txBody>
      </p:sp>
      <p:sp>
        <p:nvSpPr>
          <p:cNvPr id="23" name="">
            <a:extLst xmlns:a="http://schemas.openxmlformats.org/drawingml/2006/main">
              <a:ext uri="{FF2B5EF4-FFF2-40B4-BE49-F238E27FC236}">
                <a16:creationId xmlns:a16="http://schemas.microsoft.com/office/drawing/2014/main" id="{E95FDD1B-13EB-4411-98B9-0DDD52FDE738}"/>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Show what can be inspected statically.</a:t>
            </a:r>
          </a:p>
        </p:txBody>
      </p:sp>
      <p:sp>
        <p:nvSpPr>
          <p:cNvPr id="24" name="">
            <a:extLst xmlns:a="http://schemas.openxmlformats.org/drawingml/2006/main">
              <a:ext uri="{FF2B5EF4-FFF2-40B4-BE49-F238E27FC236}">
                <a16:creationId xmlns:a16="http://schemas.microsoft.com/office/drawing/2014/main" id="{E5E52347-BADE-48A0-9248-D65EC67A2CD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99063108"/>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999843-5EB9-40B5-9B4D-C204E929AB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ADDA26-6910-47DD-AAF0-379F1819AB4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A779F8-8848-4C42-B8FF-5C5B382F8DCD}"/>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45368041-BCC9-4FD5-915B-3B31D18F660F}"/>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B36E340C-3340-409D-87F8-40A8B53C7389}"/>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DEX evidence supports several signal families</a:t>
            </a:r>
          </a:p>
        </p:txBody>
      </p:sp>
      <p:sp>
        <p:nvSpPr>
          <p:cNvPr id="6" name="">
            <a:extLst xmlns:a="http://schemas.openxmlformats.org/drawingml/2006/main">
              <a:ext uri="{FF2B5EF4-FFF2-40B4-BE49-F238E27FC236}">
                <a16:creationId xmlns:a16="http://schemas.microsoft.com/office/drawing/2014/main" id="{110AB155-2F07-4047-925F-5E8EAED9B6D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04E65E9-72A3-48CE-9BDD-8C9A7E033644}"/>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B017ED4-4DF4-4A02-91AC-9CF7742AEF1B}"/>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CD13A34C-A027-4F3A-98C0-3D3A4ADAD25C}"/>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D701E4-6278-477B-A18A-94C95AFF4C9D}"/>
              </a:ext>
            </a:extLst>
          </p:cNvPr>
          <p:cNvSpPr>
            <a:spLocks xmlns:a="http://schemas.openxmlformats.org/drawingml/2006/main" noGrp="1"/>
          </p:cNvSpPr>
          <p:nvPr/>
        </p:nvSpPr>
        <p:spPr>
          <a:xfrm xmlns:a="http://schemas.openxmlformats.org/drawingml/2006/main">
            <a:off x="1028700" y="20383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Package and class descriptors.</a:t>
            </a:r>
          </a:p>
        </p:txBody>
      </p:sp>
      <p:sp>
        <p:nvSpPr>
          <p:cNvPr id="11" name="">
            <a:extLst xmlns:a="http://schemas.openxmlformats.org/drawingml/2006/main">
              <a:ext uri="{FF2B5EF4-FFF2-40B4-BE49-F238E27FC236}">
                <a16:creationId xmlns:a16="http://schemas.microsoft.com/office/drawing/2014/main" id="{E870A8C7-5D0F-432E-A0B9-8429D74ACA99}"/>
              </a:ext>
            </a:extLst>
          </p:cNvPr>
          <p:cNvSpPr>
            <a:spLocks xmlns:a="http://schemas.openxmlformats.org/drawingml/2006/main" noGrp="1"/>
          </p:cNvSpPr>
          <p:nvPr/>
        </p:nvSpPr>
        <p:spPr>
          <a:xfrm xmlns:a="http://schemas.openxmlformats.org/drawingml/2006/main">
            <a:off x="857250" y="2657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4320E6-3CD1-490E-9201-DA44E9EAE9A4}"/>
              </a:ext>
            </a:extLst>
          </p:cNvPr>
          <p:cNvSpPr>
            <a:spLocks xmlns:a="http://schemas.openxmlformats.org/drawingml/2006/main" noGrp="1"/>
          </p:cNvSpPr>
          <p:nvPr/>
        </p:nvSpPr>
        <p:spPr>
          <a:xfrm xmlns:a="http://schemas.openxmlformats.org/drawingml/2006/main">
            <a:off x="1028700" y="25908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Methods and fields.</a:t>
            </a:r>
          </a:p>
        </p:txBody>
      </p:sp>
      <p:sp>
        <p:nvSpPr>
          <p:cNvPr id="13" name="">
            <a:extLst xmlns:a="http://schemas.openxmlformats.org/drawingml/2006/main">
              <a:ext uri="{FF2B5EF4-FFF2-40B4-BE49-F238E27FC236}">
                <a16:creationId xmlns:a16="http://schemas.microsoft.com/office/drawing/2014/main" id="{5114EF86-B474-44DD-92AC-C8E5C67A6E3E}"/>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4397F5F-5262-4FE5-907D-FF1336402A2A}"/>
              </a:ext>
            </a:extLst>
          </p:cNvPr>
          <p:cNvSpPr>
            <a:spLocks xmlns:a="http://schemas.openxmlformats.org/drawingml/2006/main" noGrp="1"/>
          </p:cNvSpPr>
          <p:nvPr/>
        </p:nvSpPr>
        <p:spPr>
          <a:xfrm xmlns:a="http://schemas.openxmlformats.org/drawingml/2006/main">
            <a:off x="1028700" y="31432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Opcode counts and instruction patterns.</a:t>
            </a:r>
          </a:p>
        </p:txBody>
      </p:sp>
      <p:sp>
        <p:nvSpPr>
          <p:cNvPr id="15" name="">
            <a:extLst xmlns:a="http://schemas.openxmlformats.org/drawingml/2006/main">
              <a:ext uri="{FF2B5EF4-FFF2-40B4-BE49-F238E27FC236}">
                <a16:creationId xmlns:a16="http://schemas.microsoft.com/office/drawing/2014/main" id="{792412A1-2536-46E7-9704-2095F3E0E9E9}"/>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7382CC-4727-4A34-9FF1-F844661328B5}"/>
              </a:ext>
            </a:extLst>
          </p:cNvPr>
          <p:cNvSpPr>
            <a:spLocks xmlns:a="http://schemas.openxmlformats.org/drawingml/2006/main" noGrp="1"/>
          </p:cNvSpPr>
          <p:nvPr/>
        </p:nvSpPr>
        <p:spPr>
          <a:xfrm xmlns:a="http://schemas.openxmlformats.org/drawingml/2006/main">
            <a:off x="1028700" y="36957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String literals and constants.</a:t>
            </a:r>
          </a:p>
        </p:txBody>
      </p:sp>
      <p:sp>
        <p:nvSpPr>
          <p:cNvPr id="17" name="">
            <a:extLst xmlns:a="http://schemas.openxmlformats.org/drawingml/2006/main">
              <a:ext uri="{FF2B5EF4-FFF2-40B4-BE49-F238E27FC236}">
                <a16:creationId xmlns:a16="http://schemas.microsoft.com/office/drawing/2014/main" id="{81E51B75-E0A7-4DC7-816B-A02072211F18}"/>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B481A0-397F-48F2-8B60-FABFFE820A9F}"/>
              </a:ext>
            </a:extLst>
          </p:cNvPr>
          <p:cNvSpPr>
            <a:spLocks xmlns:a="http://schemas.openxmlformats.org/drawingml/2006/main" noGrp="1"/>
          </p:cNvSpPr>
          <p:nvPr/>
        </p:nvSpPr>
        <p:spPr>
          <a:xfrm xmlns:a="http://schemas.openxmlformats.org/drawingml/2006/main">
            <a:off x="1028700" y="42481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API references and method invocations.</a:t>
            </a:r>
          </a:p>
        </p:txBody>
      </p:sp>
      <p:sp>
        <p:nvSpPr>
          <p:cNvPr id="19" name="">
            <a:extLst xmlns:a="http://schemas.openxmlformats.org/drawingml/2006/main">
              <a:ext uri="{FF2B5EF4-FFF2-40B4-BE49-F238E27FC236}">
                <a16:creationId xmlns:a16="http://schemas.microsoft.com/office/drawing/2014/main" id="{69AF3A80-F1E1-4A6B-86F9-1D1D45033562}"/>
              </a:ext>
            </a:extLst>
          </p:cNvPr>
          <p:cNvSpPr>
            <a:spLocks xmlns:a="http://schemas.openxmlformats.org/drawingml/2006/main" noGrp="1"/>
          </p:cNvSpPr>
          <p:nvPr/>
        </p:nvSpPr>
        <p:spPr>
          <a:xfrm xmlns:a="http://schemas.openxmlformats.org/drawingml/2006/main">
            <a:off x="857250" y="4867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67D696D-F8E6-4923-BEAD-60BF0F14257C}"/>
              </a:ext>
            </a:extLst>
          </p:cNvPr>
          <p:cNvSpPr>
            <a:spLocks xmlns:a="http://schemas.openxmlformats.org/drawingml/2006/main" noGrp="1"/>
          </p:cNvSpPr>
          <p:nvPr/>
        </p:nvSpPr>
        <p:spPr>
          <a:xfrm xmlns:a="http://schemas.openxmlformats.org/drawingml/2006/main">
            <a:off x="1028700" y="48006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Class dependency and call relations.</a:t>
            </a:r>
          </a:p>
        </p:txBody>
      </p:sp>
      <p:sp>
        <p:nvSpPr>
          <p:cNvPr id="21" name="">
            <a:extLst xmlns:a="http://schemas.openxmlformats.org/drawingml/2006/main">
              <a:ext uri="{FF2B5EF4-FFF2-40B4-BE49-F238E27FC236}">
                <a16:creationId xmlns:a16="http://schemas.microsoft.com/office/drawing/2014/main" id="{CC42AD59-84E2-4603-A8DA-40B6664CEE4C}"/>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009909F6-7808-4BBE-A9ED-4A8D55F6C5F4}"/>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3" name="">
            <a:extLst xmlns:a="http://schemas.openxmlformats.org/drawingml/2006/main">
              <a:ext uri="{FF2B5EF4-FFF2-40B4-BE49-F238E27FC236}">
                <a16:creationId xmlns:a16="http://schemas.microsoft.com/office/drawing/2014/main" id="{EAC36B7D-ACB8-4B41-98AB-F9C07296DEA3}"/>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4" name="">
            <a:extLst xmlns:a="http://schemas.openxmlformats.org/drawingml/2006/main">
              <a:ext uri="{FF2B5EF4-FFF2-40B4-BE49-F238E27FC236}">
                <a16:creationId xmlns:a16="http://schemas.microsoft.com/office/drawing/2014/main" id="{7BEE3241-82E2-4394-9724-8F1D4A9CE5F6}"/>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5" name="">
            <a:extLst xmlns:a="http://schemas.openxmlformats.org/drawingml/2006/main">
              <a:ext uri="{FF2B5EF4-FFF2-40B4-BE49-F238E27FC236}">
                <a16:creationId xmlns:a16="http://schemas.microsoft.com/office/drawing/2014/main" id="{847E3958-8C87-4376-9A36-ADEF8DE46C62}"/>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9A675C00-49C6-4D08-9768-070EBDF4DFE0}"/>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Evidence family table with strengths and risks.</a:t>
            </a:r>
          </a:p>
        </p:txBody>
      </p:sp>
      <p:sp>
        <p:nvSpPr>
          <p:cNvPr id="27" name="">
            <a:extLst xmlns:a="http://schemas.openxmlformats.org/drawingml/2006/main">
              <a:ext uri="{FF2B5EF4-FFF2-40B4-BE49-F238E27FC236}">
                <a16:creationId xmlns:a16="http://schemas.microsoft.com/office/drawing/2014/main" id="{960016E9-6006-4F7C-93D5-4552F5E6E0A4}"/>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AC5F35A3-218F-449A-8CC6-0EA3A3E919FB}"/>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9" name="">
            <a:extLst xmlns:a="http://schemas.openxmlformats.org/drawingml/2006/main">
              <a:ext uri="{FF2B5EF4-FFF2-40B4-BE49-F238E27FC236}">
                <a16:creationId xmlns:a16="http://schemas.microsoft.com/office/drawing/2014/main" id="{5D4C6A78-9250-47ED-8CA2-E70062E67EB4}"/>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Prepare the matcher discussion.</a:t>
            </a:r>
          </a:p>
        </p:txBody>
      </p:sp>
      <p:sp>
        <p:nvSpPr>
          <p:cNvPr id="30" name="">
            <a:extLst xmlns:a="http://schemas.openxmlformats.org/drawingml/2006/main">
              <a:ext uri="{FF2B5EF4-FFF2-40B4-BE49-F238E27FC236}">
                <a16:creationId xmlns:a16="http://schemas.microsoft.com/office/drawing/2014/main" id="{82FDE26B-ECD3-4528-923B-745E27106B0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79512604"/>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BAE85C-2F74-4634-8F29-1092CB3D81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B426BCB-76A3-47E9-B0B0-AFF6D4408C7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0AA2E8B-37F2-4412-A7E3-78AAA2A9C06C}"/>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89F81B68-455F-4F47-BF7F-203BB6D5D664}"/>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BD990616-02CD-4244-9585-222F0F25A3E8}"/>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R8 weakens names, coverage, and structure</a:t>
            </a:r>
          </a:p>
        </p:txBody>
      </p:sp>
      <p:sp>
        <p:nvSpPr>
          <p:cNvPr id="6" name="">
            <a:extLst xmlns:a="http://schemas.openxmlformats.org/drawingml/2006/main">
              <a:ext uri="{FF2B5EF4-FFF2-40B4-BE49-F238E27FC236}">
                <a16:creationId xmlns:a16="http://schemas.microsoft.com/office/drawing/2014/main" id="{5CEB473D-3378-49D9-90A4-89CA48C04BCE}"/>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DD9BEF-FF89-4532-BFDF-11F71377A2CE}"/>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7872A0E-0C2A-44C3-927D-943E06BD4598}"/>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E4378873-BD70-40D1-9F3E-8BEE911F9CBE}"/>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785E14F-C89B-4968-BF05-1EC25E879C78}"/>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Renaming weakens textual identity.</a:t>
            </a:r>
          </a:p>
        </p:txBody>
      </p:sp>
      <p:sp>
        <p:nvSpPr>
          <p:cNvPr id="11" name="">
            <a:extLst xmlns:a="http://schemas.openxmlformats.org/drawingml/2006/main">
              <a:ext uri="{FF2B5EF4-FFF2-40B4-BE49-F238E27FC236}">
                <a16:creationId xmlns:a16="http://schemas.microsoft.com/office/drawing/2014/main" id="{786233B1-A5D7-4CB8-A55E-30A20C30A0B4}"/>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3747C26-994B-474E-94B8-64487CCD36D5}"/>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Shrinking removes unused code.</a:t>
            </a:r>
          </a:p>
        </p:txBody>
      </p:sp>
      <p:sp>
        <p:nvSpPr>
          <p:cNvPr id="13" name="">
            <a:extLst xmlns:a="http://schemas.openxmlformats.org/drawingml/2006/main">
              <a:ext uri="{FF2B5EF4-FFF2-40B4-BE49-F238E27FC236}">
                <a16:creationId xmlns:a16="http://schemas.microsoft.com/office/drawing/2014/main" id="{FA206A30-ED50-475C-88D7-CB97F7C8B728}"/>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594068-6553-4DD0-8929-93F5B751F44A}"/>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Inlining changes method boundaries.</a:t>
            </a:r>
          </a:p>
        </p:txBody>
      </p:sp>
      <p:sp>
        <p:nvSpPr>
          <p:cNvPr id="15" name="">
            <a:extLst xmlns:a="http://schemas.openxmlformats.org/drawingml/2006/main">
              <a:ext uri="{FF2B5EF4-FFF2-40B4-BE49-F238E27FC236}">
                <a16:creationId xmlns:a16="http://schemas.microsoft.com/office/drawing/2014/main" id="{A63C26AB-FD71-45AC-A638-7F2FEB19BBFD}"/>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6CBD626-C22D-4B6F-80CC-87D97F933EB6}"/>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Class merging changes graph structure.</a:t>
            </a:r>
          </a:p>
        </p:txBody>
      </p:sp>
      <p:sp>
        <p:nvSpPr>
          <p:cNvPr id="17" name="">
            <a:extLst xmlns:a="http://schemas.openxmlformats.org/drawingml/2006/main">
              <a:ext uri="{FF2B5EF4-FFF2-40B4-BE49-F238E27FC236}">
                <a16:creationId xmlns:a16="http://schemas.microsoft.com/office/drawing/2014/main" id="{D49CEE0B-4B45-42C7-937D-B31CDAEC85F0}"/>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F28512-1BA1-4AD4-9EE5-38866805304D}"/>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Constant propagation can remove literals.</a:t>
            </a:r>
          </a:p>
        </p:txBody>
      </p:sp>
      <p:sp>
        <p:nvSpPr>
          <p:cNvPr id="19" name="">
            <a:extLst xmlns:a="http://schemas.openxmlformats.org/drawingml/2006/main">
              <a:ext uri="{FF2B5EF4-FFF2-40B4-BE49-F238E27FC236}">
                <a16:creationId xmlns:a16="http://schemas.microsoft.com/office/drawing/2014/main" id="{D8A540EF-DF10-4DF8-A2A0-256BA0B2C57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CB87988D-7C9A-4860-8B31-765C57222750}"/>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DFFC8941-AD19-43D7-8F8F-5D8CDFFF7508}"/>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403A7E63-B254-418C-8EA0-CC13D400286E}"/>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3" name="">
            <a:extLst xmlns:a="http://schemas.openxmlformats.org/drawingml/2006/main">
              <a:ext uri="{FF2B5EF4-FFF2-40B4-BE49-F238E27FC236}">
                <a16:creationId xmlns:a16="http://schemas.microsoft.com/office/drawing/2014/main" id="{8395CE0E-4AF7-4EAC-A8A5-39A5AA227F61}"/>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22B661DE-CB53-4195-9F8E-FAD703E66BF4}"/>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Transformation impact matrix: signal versus R8 effect.</a:t>
            </a:r>
          </a:p>
        </p:txBody>
      </p:sp>
      <p:sp>
        <p:nvSpPr>
          <p:cNvPr id="25" name="">
            <a:extLst xmlns:a="http://schemas.openxmlformats.org/drawingml/2006/main">
              <a:ext uri="{FF2B5EF4-FFF2-40B4-BE49-F238E27FC236}">
                <a16:creationId xmlns:a16="http://schemas.microsoft.com/office/drawing/2014/main" id="{55C1DFF9-B0D8-4E2D-A45B-8FC4C61077CC}"/>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5FF12AE1-5397-48B8-A3FB-5CF7FC55C5FA}"/>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7" name="">
            <a:extLst xmlns:a="http://schemas.openxmlformats.org/drawingml/2006/main">
              <a:ext uri="{FF2B5EF4-FFF2-40B4-BE49-F238E27FC236}">
                <a16:creationId xmlns:a16="http://schemas.microsoft.com/office/drawing/2014/main" id="{C27C96D9-BFEF-4234-98CC-D13CAD307A2D}"/>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the main transformation threat.</a:t>
            </a:r>
          </a:p>
        </p:txBody>
      </p:sp>
      <p:sp>
        <p:nvSpPr>
          <p:cNvPr id="28" name="">
            <a:extLst xmlns:a="http://schemas.openxmlformats.org/drawingml/2006/main">
              <a:ext uri="{FF2B5EF4-FFF2-40B4-BE49-F238E27FC236}">
                <a16:creationId xmlns:a16="http://schemas.microsoft.com/office/drawing/2014/main" id="{FCAFD760-5241-44D3-91A1-136E5A0468A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69276120"/>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0B1CC6-E3B2-4247-9C37-25511F7CC1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BC653E-25DC-4534-8910-99821EC3C4C3}"/>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7C5126-A92A-4954-A9CA-8F90245D7C93}"/>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5E8DF694-E51A-423A-972A-9AF2765B5D6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9C967F22-6263-4E96-920B-95E37CFE43CC}"/>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Identity and exact version are separate decisions</a:t>
            </a:r>
          </a:p>
        </p:txBody>
      </p:sp>
      <p:sp>
        <p:nvSpPr>
          <p:cNvPr id="6" name="">
            <a:extLst xmlns:a="http://schemas.openxmlformats.org/drawingml/2006/main">
              <a:ext uri="{FF2B5EF4-FFF2-40B4-BE49-F238E27FC236}">
                <a16:creationId xmlns:a16="http://schemas.microsoft.com/office/drawing/2014/main" id="{800F9A1F-F170-49EB-8AB8-FD1F2C235BDD}"/>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60C2A5B-D1D6-49A7-B3C6-EA84FE172276}"/>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E5564E0-4CB1-4FAE-A059-0122B911034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3E2513E3-DFB4-4CB7-A218-D76AF24F29B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E37932-6669-4AE9-8362-6FB8B53B8D2C}"/>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Identity asks whether a component family or coordinate is present.</a:t>
            </a:r>
          </a:p>
        </p:txBody>
      </p:sp>
      <p:sp>
        <p:nvSpPr>
          <p:cNvPr id="11" name="">
            <a:extLst xmlns:a="http://schemas.openxmlformats.org/drawingml/2006/main">
              <a:ext uri="{FF2B5EF4-FFF2-40B4-BE49-F238E27FC236}">
                <a16:creationId xmlns:a16="http://schemas.microsoft.com/office/drawing/2014/main" id="{EB8D2865-2AC8-4EF9-B382-2893C85545EC}"/>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23E521-DB75-4A56-A955-093403346CBD}"/>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Version asks which exact release is supported.</a:t>
            </a:r>
          </a:p>
        </p:txBody>
      </p:sp>
      <p:sp>
        <p:nvSpPr>
          <p:cNvPr id="13" name="">
            <a:extLst xmlns:a="http://schemas.openxmlformats.org/drawingml/2006/main">
              <a:ext uri="{FF2B5EF4-FFF2-40B4-BE49-F238E27FC236}">
                <a16:creationId xmlns:a16="http://schemas.microsoft.com/office/drawing/2014/main" id="{CE65E113-53C9-4BE5-A6CE-34F4DE76AB7E}"/>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CDA61F-13D9-4D85-B870-CDDBDC7024C9}"/>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Security authority asks whether vulnerability interpretation is justified.</a:t>
            </a:r>
          </a:p>
        </p:txBody>
      </p:sp>
      <p:sp>
        <p:nvSpPr>
          <p:cNvPr id="15" name="">
            <a:extLst xmlns:a="http://schemas.openxmlformats.org/drawingml/2006/main">
              <a:ext uri="{FF2B5EF4-FFF2-40B4-BE49-F238E27FC236}">
                <a16:creationId xmlns:a16="http://schemas.microsoft.com/office/drawing/2014/main" id="{CFA93F00-494F-4479-9469-F08442578AA1}"/>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1F341DA-0CE7-4BD9-BB87-57298142F1B4}"/>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strong identity match can still have weak version authority.</a:t>
            </a:r>
          </a:p>
        </p:txBody>
      </p:sp>
      <p:sp>
        <p:nvSpPr>
          <p:cNvPr id="17" name="">
            <a:extLst xmlns:a="http://schemas.openxmlformats.org/drawingml/2006/main">
              <a:ext uri="{FF2B5EF4-FFF2-40B4-BE49-F238E27FC236}">
                <a16:creationId xmlns:a16="http://schemas.microsoft.com/office/drawing/2014/main" id="{7EA6DB7F-E417-4C29-AAC3-19F55B3D8A38}"/>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3B4F43FE-291C-48C6-B521-5675434841DE}"/>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F0D5FC3C-CA6B-415F-925A-958E7D8EF3AC}"/>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C732832D-4BC5-4A95-B117-B0600C8CF02B}"/>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700BE60E-3299-491F-A776-ACF2868F69FC}"/>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3DC21FF-1CFF-4E81-B48C-850F26E210B1}"/>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3" name="">
            <a:extLst xmlns:a="http://schemas.openxmlformats.org/drawingml/2006/main">
              <a:ext uri="{FF2B5EF4-FFF2-40B4-BE49-F238E27FC236}">
                <a16:creationId xmlns:a16="http://schemas.microsoft.com/office/drawing/2014/main" id="{9D4F03E6-40A8-4317-A5FE-28327DC529AD}"/>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2B8F34C3-DE03-4E77-991F-48CF2EC1AC11}"/>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274414E-6FEC-45F3-8CBF-99E008C7CC48}"/>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B6E933C5-79E0-4940-B870-A6C8AC8EE9CC}"/>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99861082-1DC8-422E-ADFF-0EA2FA7C5438}"/>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201179F-18DF-4C4B-ADDB-D0AC1AA78531}"/>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9" name="">
            <a:extLst xmlns:a="http://schemas.openxmlformats.org/drawingml/2006/main">
              <a:ext uri="{FF2B5EF4-FFF2-40B4-BE49-F238E27FC236}">
                <a16:creationId xmlns:a16="http://schemas.microsoft.com/office/drawing/2014/main" id="{95190A0F-250B-4C69-898C-8CF994A7908B}"/>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8D672CA5-5BD8-4B19-92FA-D4585F173D1B}"/>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5AF1E71-3429-47E8-A7C0-5050AEFC3457}"/>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2" name="">
            <a:extLst xmlns:a="http://schemas.openxmlformats.org/drawingml/2006/main">
              <a:ext uri="{FF2B5EF4-FFF2-40B4-BE49-F238E27FC236}">
                <a16:creationId xmlns:a16="http://schemas.microsoft.com/office/drawing/2014/main" id="{A443BFDB-6E87-4C09-9F98-11BCF381058D}"/>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735011E1-267F-4F32-9CA6-141A02D90378}"/>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Establish a central trust boundary.</a:t>
            </a:r>
          </a:p>
        </p:txBody>
      </p:sp>
      <p:sp>
        <p:nvSpPr>
          <p:cNvPr id="34" name="">
            <a:extLst xmlns:a="http://schemas.openxmlformats.org/drawingml/2006/main">
              <a:ext uri="{FF2B5EF4-FFF2-40B4-BE49-F238E27FC236}">
                <a16:creationId xmlns:a16="http://schemas.microsoft.com/office/drawing/2014/main" id="{BB32D9B9-5A11-46CF-A33B-5369C3D7DF6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72836052"/>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D7ADEA-A10F-4A98-AD7C-F1BA2188FA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BA27CF1-4479-4B8E-A90B-68B96963C03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975368C-B0DB-41DB-ACBA-EB28B3759F67}"/>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BACKGROUND</a:t>
            </a:r>
          </a:p>
        </p:txBody>
      </p:sp>
      <p:sp>
        <p:nvSpPr>
          <p:cNvPr id="4" name="">
            <a:extLst xmlns:a="http://schemas.openxmlformats.org/drawingml/2006/main">
              <a:ext uri="{FF2B5EF4-FFF2-40B4-BE49-F238E27FC236}">
                <a16:creationId xmlns:a16="http://schemas.microsoft.com/office/drawing/2014/main" id="{1471058D-2EA3-40FB-8E6A-0234E225F35E}"/>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D3DDDC01-00CD-4F40-AEA3-963606E464A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Static analysis is reproducible but bounded</a:t>
            </a:r>
          </a:p>
        </p:txBody>
      </p:sp>
      <p:sp>
        <p:nvSpPr>
          <p:cNvPr id="6" name="">
            <a:extLst xmlns:a="http://schemas.openxmlformats.org/drawingml/2006/main">
              <a:ext uri="{FF2B5EF4-FFF2-40B4-BE49-F238E27FC236}">
                <a16:creationId xmlns:a16="http://schemas.microsoft.com/office/drawing/2014/main" id="{2F9F71FB-E276-4D40-BFF4-A3CB39842B92}"/>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9D62E92-A26A-4C47-AAF4-A411B8C86674}"/>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EC39A72-1C79-49BB-8DD4-C1C5493E71B9}"/>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55BDA3E2-40D5-40E6-97BD-CCEC03E7394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51C471-75D7-4132-ABB0-A3B88F22D7C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Static analysis inspects the delivered APK without running it.</a:t>
            </a:r>
          </a:p>
        </p:txBody>
      </p:sp>
      <p:sp>
        <p:nvSpPr>
          <p:cNvPr id="11" name="">
            <a:extLst xmlns:a="http://schemas.openxmlformats.org/drawingml/2006/main">
              <a:ext uri="{FF2B5EF4-FFF2-40B4-BE49-F238E27FC236}">
                <a16:creationId xmlns:a16="http://schemas.microsoft.com/office/drawing/2014/main" id="{F96FCE55-F927-47CC-BBD6-92723E91FC74}"/>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3A0FAA-3DDD-4E6C-8B91-5D5F46742AE6}"/>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It is suitable for repeatable batch processing.</a:t>
            </a:r>
          </a:p>
        </p:txBody>
      </p:sp>
      <p:sp>
        <p:nvSpPr>
          <p:cNvPr id="13" name="">
            <a:extLst xmlns:a="http://schemas.openxmlformats.org/drawingml/2006/main">
              <a:ext uri="{FF2B5EF4-FFF2-40B4-BE49-F238E27FC236}">
                <a16:creationId xmlns:a16="http://schemas.microsoft.com/office/drawing/2014/main" id="{5D7B91E4-FCCC-4410-8175-8838F942C28C}"/>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A1724AE-7558-4AFF-A433-479E663E6D3E}"/>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It cannot fully analyze encrypted payloads, downloaded code, or runtime-only behavior.</a:t>
            </a:r>
          </a:p>
        </p:txBody>
      </p:sp>
      <p:sp>
        <p:nvSpPr>
          <p:cNvPr id="15" name="">
            <a:extLst xmlns:a="http://schemas.openxmlformats.org/drawingml/2006/main">
              <a:ext uri="{FF2B5EF4-FFF2-40B4-BE49-F238E27FC236}">
                <a16:creationId xmlns:a16="http://schemas.microsoft.com/office/drawing/2014/main" id="{77395196-B362-497F-9C84-1C25520B44A8}"/>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95D526E-96DB-46E9-9835-637E5892C6C0}"/>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Boundary cases should be reported, not hidden.</a:t>
            </a:r>
          </a:p>
        </p:txBody>
      </p:sp>
      <p:sp>
        <p:nvSpPr>
          <p:cNvPr id="17" name="">
            <a:extLst xmlns:a="http://schemas.openxmlformats.org/drawingml/2006/main">
              <a:ext uri="{FF2B5EF4-FFF2-40B4-BE49-F238E27FC236}">
                <a16:creationId xmlns:a16="http://schemas.microsoft.com/office/drawing/2014/main" id="{23EFC476-7D67-4A56-A95D-D3EDA5DF137A}"/>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A0845D44-AC06-4B5B-843A-26E33F82BC3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E9AF4360-3196-41DD-B916-DF7FC6039192}"/>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83C3CC90-2FED-4584-813B-124530A0F98F}"/>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Scope boundary diagram with static evidence inside and dynamic or hidden code outside.</a:t>
            </a:r>
          </a:p>
        </p:txBody>
      </p:sp>
      <p:sp>
        <p:nvSpPr>
          <p:cNvPr id="21" name="">
            <a:extLst xmlns:a="http://schemas.openxmlformats.org/drawingml/2006/main">
              <a:ext uri="{FF2B5EF4-FFF2-40B4-BE49-F238E27FC236}">
                <a16:creationId xmlns:a16="http://schemas.microsoft.com/office/drawing/2014/main" id="{375B3D38-2170-4744-AE38-9E5972656D5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scope.</a:t>
            </a:r>
          </a:p>
        </p:txBody>
      </p:sp>
      <p:sp>
        <p:nvSpPr>
          <p:cNvPr id="22" name="">
            <a:extLst xmlns:a="http://schemas.openxmlformats.org/drawingml/2006/main">
              <a:ext uri="{FF2B5EF4-FFF2-40B4-BE49-F238E27FC236}">
                <a16:creationId xmlns:a16="http://schemas.microsoft.com/office/drawing/2014/main" id="{7B52DA90-3DE0-4DCF-8B25-C5A43E748DC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20368802"/>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45FBEF-35D6-4669-878A-8B24D7228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33F28A-5B51-4E1A-83D4-389E6A52F16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31AE839-3956-4F39-A944-85537C16F119}"/>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CA602A43-1B3D-415F-B4CC-BE75C340D7E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483357A0-032D-4441-88FB-9345261AEDD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Master thesis reviews component recovery as evidence attribution</a:t>
            </a:r>
          </a:p>
        </p:txBody>
      </p:sp>
      <p:sp>
        <p:nvSpPr>
          <p:cNvPr id="6" name="">
            <a:extLst xmlns:a="http://schemas.openxmlformats.org/drawingml/2006/main">
              <a:ext uri="{FF2B5EF4-FFF2-40B4-BE49-F238E27FC236}">
                <a16:creationId xmlns:a16="http://schemas.microsoft.com/office/drawing/2014/main" id="{CC7D5141-218F-4DD0-B421-9A11AAE291C5}"/>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694C2A-D6FC-4D2F-A2DA-35B1E4E5715D}"/>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21303B55-2408-4219-A256-E94B833EB724}"/>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0EC590E8-CDD5-490E-8E11-878BBE62E2B5}"/>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BCF0F0-9B10-4053-9BC5-92375D0D1D8A}"/>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review does not build a simple leaderboard.</a:t>
            </a:r>
          </a:p>
        </p:txBody>
      </p:sp>
      <p:sp>
        <p:nvSpPr>
          <p:cNvPr id="11" name="">
            <a:extLst xmlns:a="http://schemas.openxmlformats.org/drawingml/2006/main">
              <a:ext uri="{FF2B5EF4-FFF2-40B4-BE49-F238E27FC236}">
                <a16:creationId xmlns:a16="http://schemas.microsoft.com/office/drawing/2014/main" id="{F4C389D9-6276-4F25-994F-732F889FA246}"/>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FA12476-2CEC-4E29-A73D-E5A39E0CCE68}"/>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Tools use different datasets, transformations, and correctness units.</a:t>
            </a:r>
          </a:p>
        </p:txBody>
      </p:sp>
      <p:sp>
        <p:nvSpPr>
          <p:cNvPr id="13" name="">
            <a:extLst xmlns:a="http://schemas.openxmlformats.org/drawingml/2006/main">
              <a:ext uri="{FF2B5EF4-FFF2-40B4-BE49-F238E27FC236}">
                <a16:creationId xmlns:a16="http://schemas.microsoft.com/office/drawing/2014/main" id="{9CE9F690-45E3-4906-8582-19D3EF21CDDA}"/>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34B95C3-28A8-4CC4-8A6C-AFEC85ED34CB}"/>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Master thesis classifies techniques, evidence sources, transformation threats, and evaluation practices.</a:t>
            </a:r>
          </a:p>
        </p:txBody>
      </p:sp>
      <p:sp>
        <p:nvSpPr>
          <p:cNvPr id="15" name="">
            <a:extLst xmlns:a="http://schemas.openxmlformats.org/drawingml/2006/main">
              <a:ext uri="{FF2B5EF4-FFF2-40B4-BE49-F238E27FC236}">
                <a16:creationId xmlns:a16="http://schemas.microsoft.com/office/drawing/2014/main" id="{CB1AE755-6E15-4FA3-931E-A6E9F40F3BB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FFA54F60-354D-436F-8E83-AEFD7E4C493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A35F5C0F-3084-4603-BBE8-4C760B453068}"/>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18" name="">
            <a:extLst xmlns:a="http://schemas.openxmlformats.org/drawingml/2006/main">
              <a:ext uri="{FF2B5EF4-FFF2-40B4-BE49-F238E27FC236}">
                <a16:creationId xmlns:a16="http://schemas.microsoft.com/office/drawing/2014/main" id="{96E6303E-F333-41CD-9022-CCEEB18FEEDF}"/>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D817A"/>
                </a:solidFill>
                <a:latin typeface="Aptos"/>
                <a:ea typeface="Aptos"/>
                <a:cs typeface="Aptos"/>
              </a:defRPr>
            </a:pPr>
            <a:r>
              <a:rPr sz="975" b="1">
                <a:solidFill>
                  <a:srgbClr val="4D817A"/>
                </a:solidFill>
                <a:latin typeface="Aptos"/>
                <a:ea typeface="Aptos"/>
                <a:cs typeface="Aptos"/>
              </a:rPr>
              <a:t>Evidence view</a:t>
            </a:r>
          </a:p>
        </p:txBody>
      </p:sp>
      <p:sp>
        <p:nvSpPr>
          <p:cNvPr id="19" name="">
            <a:extLst xmlns:a="http://schemas.openxmlformats.org/drawingml/2006/main">
              <a:ext uri="{FF2B5EF4-FFF2-40B4-BE49-F238E27FC236}">
                <a16:creationId xmlns:a16="http://schemas.microsoft.com/office/drawing/2014/main" id="{25D96BB0-20C1-4A14-A278-34AB09E14886}"/>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14592178-DBD4-41A1-BF31-EA59EAC35866}"/>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Four-part taxonomy: techniques, evidence, threats, evaluation.</a:t>
            </a:r>
          </a:p>
        </p:txBody>
      </p:sp>
      <p:sp>
        <p:nvSpPr>
          <p:cNvPr id="21" name="">
            <a:extLst xmlns:a="http://schemas.openxmlformats.org/drawingml/2006/main">
              <a:ext uri="{FF2B5EF4-FFF2-40B4-BE49-F238E27FC236}">
                <a16:creationId xmlns:a16="http://schemas.microsoft.com/office/drawing/2014/main" id="{7F171D04-97B8-4645-848F-FA946560ABC2}"/>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0AD81A74-A75D-4791-9091-8A287B2AC1A1}"/>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3" name="">
            <a:extLst xmlns:a="http://schemas.openxmlformats.org/drawingml/2006/main">
              <a:ext uri="{FF2B5EF4-FFF2-40B4-BE49-F238E27FC236}">
                <a16:creationId xmlns:a16="http://schemas.microsoft.com/office/drawing/2014/main" id="{02297474-138A-478C-9BF5-E206C3816B3A}"/>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Transition to state of the art.</a:t>
            </a:r>
          </a:p>
        </p:txBody>
      </p:sp>
      <p:sp>
        <p:nvSpPr>
          <p:cNvPr id="24" name="">
            <a:extLst xmlns:a="http://schemas.openxmlformats.org/drawingml/2006/main">
              <a:ext uri="{FF2B5EF4-FFF2-40B4-BE49-F238E27FC236}">
                <a16:creationId xmlns:a16="http://schemas.microsoft.com/office/drawing/2014/main" id="{152EB02A-B9C8-4994-9996-C9E935A7EEF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46265553"/>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0B33AA-1F8B-4DCD-8E2C-13F6C6013F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9A29D8-877F-4662-A825-E5AEF61AB4E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D69FB95-89B4-4C4A-A68C-352F98F5932D}"/>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0D098910-112F-40E9-A7B9-6971A2A067E9}"/>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17</a:t>
            </a:r>
          </a:p>
        </p:txBody>
      </p:sp>
      <p:sp>
        <p:nvSpPr>
          <p:cNvPr id="5" name="">
            <a:extLst xmlns:a="http://schemas.openxmlformats.org/drawingml/2006/main">
              <a:ext uri="{FF2B5EF4-FFF2-40B4-BE49-F238E27FC236}">
                <a16:creationId xmlns:a16="http://schemas.microsoft.com/office/drawing/2014/main" id="{3D1A6D8C-2DD2-4F54-9443-FD337F8413C2}"/>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Early tools relied on profiles, packages, and signatures</a:t>
            </a:r>
          </a:p>
        </p:txBody>
      </p:sp>
      <p:sp>
        <p:nvSpPr>
          <p:cNvPr id="6" name="">
            <a:extLst xmlns:a="http://schemas.openxmlformats.org/drawingml/2006/main">
              <a:ext uri="{FF2B5EF4-FFF2-40B4-BE49-F238E27FC236}">
                <a16:creationId xmlns:a16="http://schemas.microsoft.com/office/drawing/2014/main" id="{A78EB340-241E-4CA6-94C9-5A1B72D882A8}"/>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DB1943-148A-4942-8082-FF29FDD2D311}"/>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2A1B366-3768-4EC0-AACD-8C50F18360D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CE8F90C0-7E32-42E3-8F44-5A7050F15EA0}"/>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B87BB0-BF99-4D78-91F1-5DB3D8E806CB}"/>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LibScout uses reference profiles and method descriptor hierarchy.</a:t>
            </a:r>
          </a:p>
        </p:txBody>
      </p:sp>
      <p:sp>
        <p:nvSpPr>
          <p:cNvPr id="11" name="">
            <a:extLst xmlns:a="http://schemas.openxmlformats.org/drawingml/2006/main">
              <a:ext uri="{FF2B5EF4-FFF2-40B4-BE49-F238E27FC236}">
                <a16:creationId xmlns:a16="http://schemas.microsoft.com/office/drawing/2014/main" id="{FCE9A4EF-DF0E-46E3-96A3-390F9B30021E}"/>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53ED6A-72DF-4D4B-8A71-A2AA3A3C8DD9}"/>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LibRadar uses API frequencies and package clustering.</a:t>
            </a:r>
          </a:p>
        </p:txBody>
      </p:sp>
      <p:sp>
        <p:nvSpPr>
          <p:cNvPr id="13" name="">
            <a:extLst xmlns:a="http://schemas.openxmlformats.org/drawingml/2006/main">
              <a:ext uri="{FF2B5EF4-FFF2-40B4-BE49-F238E27FC236}">
                <a16:creationId xmlns:a16="http://schemas.microsoft.com/office/drawing/2014/main" id="{EA2AE268-0BE9-4267-8337-6C7C7E628E38}"/>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16FBFB-5CAA-47C1-8646-6F6B006EFC23}"/>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LibD uses dependency relations and opcode hashing.</a:t>
            </a:r>
          </a:p>
        </p:txBody>
      </p:sp>
      <p:sp>
        <p:nvSpPr>
          <p:cNvPr id="15" name="">
            <a:extLst xmlns:a="http://schemas.openxmlformats.org/drawingml/2006/main">
              <a:ext uri="{FF2B5EF4-FFF2-40B4-BE49-F238E27FC236}">
                <a16:creationId xmlns:a16="http://schemas.microsoft.com/office/drawing/2014/main" id="{D7A88981-0F43-4367-A902-0DA4563DEC9F}"/>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7E02A0-A917-42A5-9043-81FB01F26257}"/>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These methods helped scale detection but remained sensitive to structure and references.</a:t>
            </a:r>
          </a:p>
        </p:txBody>
      </p:sp>
      <p:sp>
        <p:nvSpPr>
          <p:cNvPr id="17" name="">
            <a:extLst xmlns:a="http://schemas.openxmlformats.org/drawingml/2006/main">
              <a:ext uri="{FF2B5EF4-FFF2-40B4-BE49-F238E27FC236}">
                <a16:creationId xmlns:a16="http://schemas.microsoft.com/office/drawing/2014/main" id="{CA9421F4-B442-4D34-B8F3-3EFA59C1608B}"/>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31AD90C2-CC1D-40D1-BA68-D0B178B7E171}"/>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994345C5-19AB-475D-BA90-CECC682FAE05}"/>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B2677DF0-2EC6-4516-A02D-AFD795245E46}"/>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Timeline segment with LibScout, LibRadar, LibD.</a:t>
            </a:r>
          </a:p>
        </p:txBody>
      </p:sp>
      <p:sp>
        <p:nvSpPr>
          <p:cNvPr id="21" name="">
            <a:extLst xmlns:a="http://schemas.openxmlformats.org/drawingml/2006/main">
              <a:ext uri="{FF2B5EF4-FFF2-40B4-BE49-F238E27FC236}">
                <a16:creationId xmlns:a16="http://schemas.microsoft.com/office/drawing/2014/main" id="{4A067D5D-7D5C-417D-94A3-FA1815379514}"/>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Cover first generation methods.</a:t>
            </a:r>
          </a:p>
        </p:txBody>
      </p:sp>
      <p:sp>
        <p:nvSpPr>
          <p:cNvPr id="22" name="">
            <a:extLst xmlns:a="http://schemas.openxmlformats.org/drawingml/2006/main">
              <a:ext uri="{FF2B5EF4-FFF2-40B4-BE49-F238E27FC236}">
                <a16:creationId xmlns:a16="http://schemas.microsoft.com/office/drawing/2014/main" id="{A6BAB509-6700-4EAB-A1CE-3D340E30CB00}"/>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28195785"/>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8A70C1-5613-490F-84AE-47E69302FD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1682E0-5B19-48DD-B9D6-00494DA55E9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F501DD-4A55-43E1-A42D-0A847BB1EE31}"/>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9C685862-CF4E-455A-9466-F0615B5FCEAA}"/>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18</a:t>
            </a:r>
          </a:p>
        </p:txBody>
      </p:sp>
      <p:sp>
        <p:nvSpPr>
          <p:cNvPr id="5" name="">
            <a:extLst xmlns:a="http://schemas.openxmlformats.org/drawingml/2006/main">
              <a:ext uri="{FF2B5EF4-FFF2-40B4-BE49-F238E27FC236}">
                <a16:creationId xmlns:a16="http://schemas.microsoft.com/office/drawing/2014/main" id="{94518F04-7007-403F-8D6B-B516C87277C7}"/>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Structural methods reduced dependence on package names</a:t>
            </a:r>
          </a:p>
        </p:txBody>
      </p:sp>
      <p:sp>
        <p:nvSpPr>
          <p:cNvPr id="6" name="">
            <a:extLst xmlns:a="http://schemas.openxmlformats.org/drawingml/2006/main">
              <a:ext uri="{FF2B5EF4-FFF2-40B4-BE49-F238E27FC236}">
                <a16:creationId xmlns:a16="http://schemas.microsoft.com/office/drawing/2014/main" id="{68AA9D64-5E47-40A0-BCB1-0E4CB9ED99C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804661-F858-41C6-9504-2068DAE38B12}"/>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625771D-337D-41E6-A955-731050161607}"/>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FA99257A-63DA-4F29-BC8A-DE8ACF99B144}"/>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EEBF80-2C7B-4A0A-9C28-69D700B20C5F}"/>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ORLIS uses coarse filtering and class-level CFG evidence.</a:t>
            </a:r>
          </a:p>
        </p:txBody>
      </p:sp>
      <p:sp>
        <p:nvSpPr>
          <p:cNvPr id="11" name="">
            <a:extLst xmlns:a="http://schemas.openxmlformats.org/drawingml/2006/main">
              <a:ext uri="{FF2B5EF4-FFF2-40B4-BE49-F238E27FC236}">
                <a16:creationId xmlns:a16="http://schemas.microsoft.com/office/drawing/2014/main" id="{F66B6CB8-1153-4257-A97E-A3FB86C1E480}"/>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BDE4089-7435-450E-8EF5-F05A6E90E435}"/>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LibPecker uses class dependency relations and adaptive similarity.</a:t>
            </a:r>
          </a:p>
        </p:txBody>
      </p:sp>
      <p:sp>
        <p:nvSpPr>
          <p:cNvPr id="13" name="">
            <a:extLst xmlns:a="http://schemas.openxmlformats.org/drawingml/2006/main">
              <a:ext uri="{FF2B5EF4-FFF2-40B4-BE49-F238E27FC236}">
                <a16:creationId xmlns:a16="http://schemas.microsoft.com/office/drawing/2014/main" id="{486BCC46-60DE-417C-B423-86B43D84B1DD}"/>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BACEBD-6D2F-416A-A255-673C5647D52C}"/>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LibID formulates matching as a constrained class-correspondence problem.</a:t>
            </a:r>
          </a:p>
        </p:txBody>
      </p:sp>
      <p:sp>
        <p:nvSpPr>
          <p:cNvPr id="15" name="">
            <a:extLst xmlns:a="http://schemas.openxmlformats.org/drawingml/2006/main">
              <a:ext uri="{FF2B5EF4-FFF2-40B4-BE49-F238E27FC236}">
                <a16:creationId xmlns:a16="http://schemas.microsoft.com/office/drawing/2014/main" id="{285B6C5F-305B-4E2F-BAFC-A05037201559}"/>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8C84732-1552-47CA-99C3-F6D35C02FDE0}"/>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Structural evidence improves identity but still depends on references and transformations.</a:t>
            </a:r>
          </a:p>
        </p:txBody>
      </p:sp>
      <p:sp>
        <p:nvSpPr>
          <p:cNvPr id="17" name="">
            <a:extLst xmlns:a="http://schemas.openxmlformats.org/drawingml/2006/main">
              <a:ext uri="{FF2B5EF4-FFF2-40B4-BE49-F238E27FC236}">
                <a16:creationId xmlns:a16="http://schemas.microsoft.com/office/drawing/2014/main" id="{59BFCCF6-193C-4C64-878C-B79403A6DFDE}"/>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597B1585-1378-4A33-98ED-373999CD7608}"/>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3FF839A1-CF9F-457C-AA50-EC1818ECE47B}"/>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CFFE8C14-DE73-46F9-B1FB-5C6B39AA1C1F}"/>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Simple graph-to-library matching diagram.</a:t>
            </a:r>
          </a:p>
        </p:txBody>
      </p:sp>
      <p:sp>
        <p:nvSpPr>
          <p:cNvPr id="21" name="">
            <a:extLst xmlns:a="http://schemas.openxmlformats.org/drawingml/2006/main">
              <a:ext uri="{FF2B5EF4-FFF2-40B4-BE49-F238E27FC236}">
                <a16:creationId xmlns:a16="http://schemas.microsoft.com/office/drawing/2014/main" id="{99EF5184-B2FF-4B31-8762-B3E8293D07FA}"/>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Cover graph and correspondence approaches.</a:t>
            </a:r>
          </a:p>
        </p:txBody>
      </p:sp>
      <p:sp>
        <p:nvSpPr>
          <p:cNvPr id="22" name="">
            <a:extLst xmlns:a="http://schemas.openxmlformats.org/drawingml/2006/main">
              <a:ext uri="{FF2B5EF4-FFF2-40B4-BE49-F238E27FC236}">
                <a16:creationId xmlns:a16="http://schemas.microsoft.com/office/drawing/2014/main" id="{74588F75-01A2-4CAB-8A6E-09C75C034A4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98021284"/>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8C59EB-2419-4756-B813-E5980758EA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8DC8FD-2322-4E53-9336-6FE421E4573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1CD9ED-1969-4DA4-B63F-1D5F43D69323}"/>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B04F0E45-2E36-4667-8789-4B8D62DAF60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19</a:t>
            </a:r>
          </a:p>
        </p:txBody>
      </p:sp>
      <p:sp>
        <p:nvSpPr>
          <p:cNvPr id="5" name="">
            <a:extLst xmlns:a="http://schemas.openxmlformats.org/drawingml/2006/main">
              <a:ext uri="{FF2B5EF4-FFF2-40B4-BE49-F238E27FC236}">
                <a16:creationId xmlns:a16="http://schemas.microsoft.com/office/drawing/2014/main" id="{D6E13A48-0F7B-417F-B7AF-A5A6457FF99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Version-level methods make the security problem visible</a:t>
            </a:r>
          </a:p>
        </p:txBody>
      </p:sp>
      <p:sp>
        <p:nvSpPr>
          <p:cNvPr id="6" name="">
            <a:extLst xmlns:a="http://schemas.openxmlformats.org/drawingml/2006/main">
              <a:ext uri="{FF2B5EF4-FFF2-40B4-BE49-F238E27FC236}">
                <a16:creationId xmlns:a16="http://schemas.microsoft.com/office/drawing/2014/main" id="{02444812-93FE-434D-B7EB-4EC9A63B0CA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D527AA4-DB1B-47B2-9F47-FD28063072A7}"/>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3BBCEE8-489E-4C73-A0E3-5751ADC4AE9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7B2621E3-7768-43D9-B247-AD2298E0F035}"/>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DF15E05-417F-4D3A-86BE-EE1C65BD0AD4}"/>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ATVHUNTER links version detection with vulnerability identification.</a:t>
            </a:r>
          </a:p>
        </p:txBody>
      </p:sp>
      <p:sp>
        <p:nvSpPr>
          <p:cNvPr id="11" name="">
            <a:extLst xmlns:a="http://schemas.openxmlformats.org/drawingml/2006/main">
              <a:ext uri="{FF2B5EF4-FFF2-40B4-BE49-F238E27FC236}">
                <a16:creationId xmlns:a16="http://schemas.microsoft.com/office/drawing/2014/main" id="{1C672409-1BBB-4EE3-B6F4-04FCAD1A3DAD}"/>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615C42-86DD-4BA4-87E1-3A811DDDF922}"/>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LibScan refines class correspondence using method and call-chain opcode similarity.</a:t>
            </a:r>
          </a:p>
        </p:txBody>
      </p:sp>
      <p:sp>
        <p:nvSpPr>
          <p:cNvPr id="13" name="">
            <a:extLst xmlns:a="http://schemas.openxmlformats.org/drawingml/2006/main">
              <a:ext uri="{FF2B5EF4-FFF2-40B4-BE49-F238E27FC236}">
                <a16:creationId xmlns:a16="http://schemas.microsoft.com/office/drawing/2014/main" id="{FF80F96F-6EF4-4D1C-9B57-9CBB9CC3BA3C}"/>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34C885-5336-4C98-83E3-75F50623573F}"/>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SAD uses class structural similarity for version-level detection.</a:t>
            </a:r>
          </a:p>
        </p:txBody>
      </p:sp>
      <p:sp>
        <p:nvSpPr>
          <p:cNvPr id="15" name="">
            <a:extLst xmlns:a="http://schemas.openxmlformats.org/drawingml/2006/main">
              <a:ext uri="{FF2B5EF4-FFF2-40B4-BE49-F238E27FC236}">
                <a16:creationId xmlns:a16="http://schemas.microsoft.com/office/drawing/2014/main" id="{37DCE3AE-2CFA-4405-8477-B43050A67C11}"/>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57CC2E-BC5D-443D-A87D-1EAB8242DD7C}"/>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Exact version recovery is harder than library presence.</a:t>
            </a:r>
          </a:p>
        </p:txBody>
      </p:sp>
      <p:sp>
        <p:nvSpPr>
          <p:cNvPr id="17" name="">
            <a:extLst xmlns:a="http://schemas.openxmlformats.org/drawingml/2006/main">
              <a:ext uri="{FF2B5EF4-FFF2-40B4-BE49-F238E27FC236}">
                <a16:creationId xmlns:a16="http://schemas.microsoft.com/office/drawing/2014/main" id="{B16A75A7-7886-45C8-9548-216D7B130C89}"/>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A2F77A97-91BB-4425-9392-5D6142D97E3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288C85F8-26CA-403E-8EC5-30AD5D629734}"/>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6D5F17B5-DBE4-46AC-ABE1-2891E305EC6A}"/>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D817A"/>
                </a:solidFill>
                <a:latin typeface="Aptos"/>
                <a:ea typeface="Aptos"/>
                <a:cs typeface="Aptos"/>
              </a:defRPr>
            </a:pPr>
            <a:r>
              <a:rPr sz="975" b="1">
                <a:solidFill>
                  <a:srgbClr val="4D817A"/>
                </a:solidFill>
                <a:latin typeface="Aptos"/>
                <a:ea typeface="Aptos"/>
                <a:cs typeface="Aptos"/>
              </a:rPr>
              <a:t>Evidence view</a:t>
            </a:r>
          </a:p>
        </p:txBody>
      </p:sp>
      <p:sp>
        <p:nvSpPr>
          <p:cNvPr id="21" name="">
            <a:extLst xmlns:a="http://schemas.openxmlformats.org/drawingml/2006/main">
              <a:ext uri="{FF2B5EF4-FFF2-40B4-BE49-F238E27FC236}">
                <a16:creationId xmlns:a16="http://schemas.microsoft.com/office/drawing/2014/main" id="{92FB0109-8FF8-456E-81FB-717B559C9C59}"/>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FF95BAF1-EEFD-4A08-88A6-6FEA922362F3}"/>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Table: tool, version evidence, security relevance.</a:t>
            </a:r>
          </a:p>
        </p:txBody>
      </p:sp>
      <p:sp>
        <p:nvSpPr>
          <p:cNvPr id="23" name="">
            <a:extLst xmlns:a="http://schemas.openxmlformats.org/drawingml/2006/main">
              <a:ext uri="{FF2B5EF4-FFF2-40B4-BE49-F238E27FC236}">
                <a16:creationId xmlns:a16="http://schemas.microsoft.com/office/drawing/2014/main" id="{8DB4002E-0BDC-4D5A-B22A-9B4FB77C7326}"/>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4146E0F9-FA67-47F7-860F-2FA5044569A8}"/>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5" name="">
            <a:extLst xmlns:a="http://schemas.openxmlformats.org/drawingml/2006/main">
              <a:ext uri="{FF2B5EF4-FFF2-40B4-BE49-F238E27FC236}">
                <a16:creationId xmlns:a16="http://schemas.microsoft.com/office/drawing/2014/main" id="{3863872A-687B-4D31-AF72-B37811D59F2C}"/>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Show why exact versions matter.</a:t>
            </a:r>
          </a:p>
        </p:txBody>
      </p:sp>
      <p:sp>
        <p:nvSpPr>
          <p:cNvPr id="26" name="">
            <a:extLst xmlns:a="http://schemas.openxmlformats.org/drawingml/2006/main">
              <a:ext uri="{FF2B5EF4-FFF2-40B4-BE49-F238E27FC236}">
                <a16:creationId xmlns:a16="http://schemas.microsoft.com/office/drawing/2014/main" id="{4237412A-1026-4DFF-9D5A-195EAC56285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54588911"/>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A4C69FA-8D90-435F-A10C-47D639E92C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0C2E0B-DCE7-4518-9C2F-48CAEE03A14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7977ED-4AA3-45F7-B633-3E94AFB92987}"/>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622083AB-8F20-4599-8E1E-920F70FC337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20</a:t>
            </a:r>
          </a:p>
        </p:txBody>
      </p:sp>
      <p:sp>
        <p:nvSpPr>
          <p:cNvPr id="5" name="">
            <a:extLst xmlns:a="http://schemas.openxmlformats.org/drawingml/2006/main">
              <a:ext uri="{FF2B5EF4-FFF2-40B4-BE49-F238E27FC236}">
                <a16:creationId xmlns:a16="http://schemas.microsoft.com/office/drawing/2014/main" id="{2C42065E-8004-4393-909F-3A0FA73B445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Optimization-aware research shows why R8 must be treated separately</a:t>
            </a:r>
          </a:p>
        </p:txBody>
      </p:sp>
      <p:sp>
        <p:nvSpPr>
          <p:cNvPr id="6" name="">
            <a:extLst xmlns:a="http://schemas.openxmlformats.org/drawingml/2006/main">
              <a:ext uri="{FF2B5EF4-FFF2-40B4-BE49-F238E27FC236}">
                <a16:creationId xmlns:a16="http://schemas.microsoft.com/office/drawing/2014/main" id="{3D7D2380-EB9B-4DC4-A79D-BAFDFE191E38}"/>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87C1D0-1ADC-4FEE-B40C-E64E5E51B82D}"/>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AA40CC13-95D3-458A-A2FC-19774DD556E1}"/>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FCAA0BBD-55C9-488E-B659-8C571538D45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22F6E2-301D-402C-9256-2EDC5CB16065}"/>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LibHunter studies compiler optimization effects.</a:t>
            </a:r>
          </a:p>
        </p:txBody>
      </p:sp>
      <p:sp>
        <p:nvSpPr>
          <p:cNvPr id="11" name="">
            <a:extLst xmlns:a="http://schemas.openxmlformats.org/drawingml/2006/main">
              <a:ext uri="{FF2B5EF4-FFF2-40B4-BE49-F238E27FC236}">
                <a16:creationId xmlns:a16="http://schemas.microsoft.com/office/drawing/2014/main" id="{CDEE9851-7E82-4440-9566-DD51BBDF03CA}"/>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52F4B7A-68F3-460F-A9F3-3E258D8E6DD7}"/>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Optimization and inlining can remove or merge the units used by detectors.</a:t>
            </a:r>
          </a:p>
        </p:txBody>
      </p:sp>
      <p:sp>
        <p:nvSpPr>
          <p:cNvPr id="13" name="">
            <a:extLst xmlns:a="http://schemas.openxmlformats.org/drawingml/2006/main">
              <a:ext uri="{FF2B5EF4-FFF2-40B4-BE49-F238E27FC236}">
                <a16:creationId xmlns:a16="http://schemas.microsoft.com/office/drawing/2014/main" id="{324C893C-70B7-4B55-BF08-F10C884351FF}"/>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22AEAB5-8F85-4CE1-B1C6-308614C586E6}"/>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Renaming is easier than shrinking and inlining.</a:t>
            </a:r>
          </a:p>
        </p:txBody>
      </p:sp>
      <p:sp>
        <p:nvSpPr>
          <p:cNvPr id="15" name="">
            <a:extLst xmlns:a="http://schemas.openxmlformats.org/drawingml/2006/main">
              <a:ext uri="{FF2B5EF4-FFF2-40B4-BE49-F238E27FC236}">
                <a16:creationId xmlns:a16="http://schemas.microsoft.com/office/drawing/2014/main" id="{4B785091-2E1C-4708-BD04-5AEB8D1D5C1D}"/>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A6D666-B68F-4268-B463-A5A472F76E23}"/>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Realistic evaluation must separate transformation types.</a:t>
            </a:r>
          </a:p>
        </p:txBody>
      </p:sp>
      <p:sp>
        <p:nvSpPr>
          <p:cNvPr id="17" name="">
            <a:extLst xmlns:a="http://schemas.openxmlformats.org/drawingml/2006/main">
              <a:ext uri="{FF2B5EF4-FFF2-40B4-BE49-F238E27FC236}">
                <a16:creationId xmlns:a16="http://schemas.microsoft.com/office/drawing/2014/main" id="{9164B69A-DF42-477B-8F24-B2C07B81BAA7}"/>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25C5E04D-2F1D-422A-B4E7-2FC3D7C6E7D9}"/>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3B3D258D-E02B-4CC6-B76B-A3E23009D05A}"/>
              </a:ext>
            </a:extLst>
          </p:cNvPr>
          <p:cNvSpPr>
            <a:spLocks xmlns:a="http://schemas.openxmlformats.org/drawingml/2006/main" noGrp="1"/>
          </p:cNvSpPr>
          <p:nvPr/>
        </p:nvSpPr>
        <p:spPr>
          <a:xfrm xmlns:a="http://schemas.openxmlformats.org/drawingml/2006/main">
            <a:off x="662940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4D817A"/>
                </a:solidFill>
                <a:latin typeface="Aptos Display"/>
                <a:ea typeface="Aptos Display"/>
                <a:cs typeface="Aptos Display"/>
              </a:defRPr>
            </a:pPr>
            <a:r>
              <a:rPr sz="2700" b="1">
                <a:solidFill>
                  <a:srgbClr val="4D817A"/>
                </a:solidFill>
                <a:latin typeface="Aptos Display"/>
                <a:ea typeface="Aptos Display"/>
                <a:cs typeface="Aptos Display"/>
              </a:rPr>
              <a:t>927 / 1837</a:t>
            </a:r>
          </a:p>
        </p:txBody>
      </p:sp>
      <p:sp>
        <p:nvSpPr>
          <p:cNvPr id="20" name="">
            <a:extLst xmlns:a="http://schemas.openxmlformats.org/drawingml/2006/main">
              <a:ext uri="{FF2B5EF4-FFF2-40B4-BE49-F238E27FC236}">
                <a16:creationId xmlns:a16="http://schemas.microsoft.com/office/drawing/2014/main" id="{6DB323EA-E87D-4348-A5A1-C7A5B6688662}"/>
              </a:ext>
            </a:extLst>
          </p:cNvPr>
          <p:cNvSpPr>
            <a:spLocks xmlns:a="http://schemas.openxmlformats.org/drawingml/2006/main" noGrp="1"/>
          </p:cNvSpPr>
          <p:nvPr/>
        </p:nvSpPr>
        <p:spPr>
          <a:xfrm xmlns:a="http://schemas.openxmlformats.org/drawingml/2006/main">
            <a:off x="662940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source-validated emitted versions</a:t>
            </a:r>
          </a:p>
        </p:txBody>
      </p:sp>
      <p:sp>
        <p:nvSpPr>
          <p:cNvPr id="21" name="">
            <a:extLst xmlns:a="http://schemas.openxmlformats.org/drawingml/2006/main">
              <a:ext uri="{FF2B5EF4-FFF2-40B4-BE49-F238E27FC236}">
                <a16:creationId xmlns:a16="http://schemas.microsoft.com/office/drawing/2014/main" id="{F4119C23-B810-4A50-9B40-7A07D1DD5977}"/>
              </a:ext>
            </a:extLst>
          </p:cNvPr>
          <p:cNvSpPr>
            <a:spLocks xmlns:a="http://schemas.openxmlformats.org/drawingml/2006/main" noGrp="1"/>
          </p:cNvSpPr>
          <p:nvPr/>
        </p:nvSpPr>
        <p:spPr>
          <a:xfrm xmlns:a="http://schemas.openxmlformats.org/drawingml/2006/main">
            <a:off x="908685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4D817A"/>
                </a:solidFill>
                <a:latin typeface="Aptos Display"/>
                <a:ea typeface="Aptos Display"/>
                <a:cs typeface="Aptos Display"/>
              </a:defRPr>
            </a:pPr>
            <a:r>
              <a:rPr sz="2700" b="1">
                <a:solidFill>
                  <a:srgbClr val="4D817A"/>
                </a:solidFill>
                <a:latin typeface="Aptos Display"/>
                <a:ea typeface="Aptos Display"/>
                <a:cs typeface="Aptos Display"/>
              </a:rPr>
              <a:t>84 / 84</a:t>
            </a:r>
          </a:p>
        </p:txBody>
      </p:sp>
      <p:sp>
        <p:nvSpPr>
          <p:cNvPr id="22" name="">
            <a:extLst xmlns:a="http://schemas.openxmlformats.org/drawingml/2006/main">
              <a:ext uri="{FF2B5EF4-FFF2-40B4-BE49-F238E27FC236}">
                <a16:creationId xmlns:a16="http://schemas.microsoft.com/office/drawing/2014/main" id="{D87DF814-5420-4739-B92F-E225F8E9241F}"/>
              </a:ext>
            </a:extLst>
          </p:cNvPr>
          <p:cNvSpPr>
            <a:spLocks xmlns:a="http://schemas.openxmlformats.org/drawingml/2006/main" noGrp="1"/>
          </p:cNvSpPr>
          <p:nvPr/>
        </p:nvSpPr>
        <p:spPr>
          <a:xfrm xmlns:a="http://schemas.openxmlformats.org/drawingml/2006/main">
            <a:off x="908685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controlled expected versions</a:t>
            </a:r>
          </a:p>
        </p:txBody>
      </p:sp>
      <p:sp>
        <p:nvSpPr>
          <p:cNvPr id="23" name="">
            <a:extLst xmlns:a="http://schemas.openxmlformats.org/drawingml/2006/main">
              <a:ext uri="{FF2B5EF4-FFF2-40B4-BE49-F238E27FC236}">
                <a16:creationId xmlns:a16="http://schemas.microsoft.com/office/drawing/2014/main" id="{4F909486-86DE-4700-8360-F9D2EB36E084}"/>
              </a:ext>
            </a:extLst>
          </p:cNvPr>
          <p:cNvSpPr>
            <a:spLocks xmlns:a="http://schemas.openxmlformats.org/drawingml/2006/main" noGrp="1"/>
          </p:cNvSpPr>
          <p:nvPr/>
        </p:nvSpPr>
        <p:spPr>
          <a:xfrm xmlns:a="http://schemas.openxmlformats.org/drawingml/2006/main">
            <a:off x="6629400" y="3619500"/>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6772 / 6772</a:t>
            </a:r>
          </a:p>
        </p:txBody>
      </p:sp>
      <p:sp>
        <p:nvSpPr>
          <p:cNvPr id="24" name="">
            <a:extLst xmlns:a="http://schemas.openxmlformats.org/drawingml/2006/main">
              <a:ext uri="{FF2B5EF4-FFF2-40B4-BE49-F238E27FC236}">
                <a16:creationId xmlns:a16="http://schemas.microsoft.com/office/drawing/2014/main" id="{CBEB8298-D6ED-489E-8A32-04903B112AE5}"/>
              </a:ext>
            </a:extLst>
          </p:cNvPr>
          <p:cNvSpPr>
            <a:spLocks xmlns:a="http://schemas.openxmlformats.org/drawingml/2006/main" noGrp="1"/>
          </p:cNvSpPr>
          <p:nvPr/>
        </p:nvSpPr>
        <p:spPr>
          <a:xfrm xmlns:a="http://schemas.openxmlformats.org/drawingml/2006/main">
            <a:off x="6629400" y="40957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source-known v2 emitted rows</a:t>
            </a:r>
          </a:p>
        </p:txBody>
      </p:sp>
      <p:sp>
        <p:nvSpPr>
          <p:cNvPr id="25" name="">
            <a:extLst xmlns:a="http://schemas.openxmlformats.org/drawingml/2006/main">
              <a:ext uri="{FF2B5EF4-FFF2-40B4-BE49-F238E27FC236}">
                <a16:creationId xmlns:a16="http://schemas.microsoft.com/office/drawing/2014/main" id="{D9C82EF2-AA79-4B72-ADCE-7E3D8FE05769}"/>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Focus on R8 and optimization.</a:t>
            </a:r>
          </a:p>
        </p:txBody>
      </p:sp>
      <p:sp>
        <p:nvSpPr>
          <p:cNvPr id="26" name="">
            <a:extLst xmlns:a="http://schemas.openxmlformats.org/drawingml/2006/main">
              <a:ext uri="{FF2B5EF4-FFF2-40B4-BE49-F238E27FC236}">
                <a16:creationId xmlns:a16="http://schemas.microsoft.com/office/drawing/2014/main" id="{B5D5322B-4C59-499D-9FB3-7A5D4CFC128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13173579"/>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5969991-6DB5-4B61-8769-B68C2E25085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F53722-338A-4AD4-A730-206849AED8D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AA51F0-2BCC-4C6C-ACFB-E3101126CAE5}"/>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3AA6780E-0C56-4F9D-9D16-0BE5E6444E3C}"/>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21</a:t>
            </a:r>
          </a:p>
        </p:txBody>
      </p:sp>
      <p:sp>
        <p:nvSpPr>
          <p:cNvPr id="5" name="">
            <a:extLst xmlns:a="http://schemas.openxmlformats.org/drawingml/2006/main">
              <a:ext uri="{FF2B5EF4-FFF2-40B4-BE49-F238E27FC236}">
                <a16:creationId xmlns:a16="http://schemas.microsoft.com/office/drawing/2014/main" id="{EAE49C75-3CA0-411A-873E-8ED27045C17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Learned representations are promising but not version authority</a:t>
            </a:r>
          </a:p>
        </p:txBody>
      </p:sp>
      <p:sp>
        <p:nvSpPr>
          <p:cNvPr id="6" name="">
            <a:extLst xmlns:a="http://schemas.openxmlformats.org/drawingml/2006/main">
              <a:ext uri="{FF2B5EF4-FFF2-40B4-BE49-F238E27FC236}">
                <a16:creationId xmlns:a16="http://schemas.microsoft.com/office/drawing/2014/main" id="{2A79FB92-503D-4515-B039-FA931E75A05E}"/>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FAFAB6-4360-4866-A85D-AFB00DF92DE4}"/>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6DE10FD-C10D-4940-8718-25238AA6036A}"/>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BF47705D-0B5B-4571-868E-75855A8B4F96}"/>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EBB25BF-9BC4-46D0-9037-9201C3676E71}"/>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LibAttention uses learned representations for library presence under R8.</a:t>
            </a:r>
          </a:p>
        </p:txBody>
      </p:sp>
      <p:sp>
        <p:nvSpPr>
          <p:cNvPr id="11" name="">
            <a:extLst xmlns:a="http://schemas.openxmlformats.org/drawingml/2006/main">
              <a:ext uri="{FF2B5EF4-FFF2-40B4-BE49-F238E27FC236}">
                <a16:creationId xmlns:a16="http://schemas.microsoft.com/office/drawing/2014/main" id="{9BCFB715-1CF7-4CB1-AE16-3A2B71E08063}"/>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B21921B-A519-4CE9-9591-E19D4F7939AE}"/>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Transformers can capture patterns that manual features may miss.</a:t>
            </a:r>
          </a:p>
        </p:txBody>
      </p:sp>
      <p:sp>
        <p:nvSpPr>
          <p:cNvPr id="13" name="">
            <a:extLst xmlns:a="http://schemas.openxmlformats.org/drawingml/2006/main">
              <a:ext uri="{FF2B5EF4-FFF2-40B4-BE49-F238E27FC236}">
                <a16:creationId xmlns:a16="http://schemas.microsoft.com/office/drawing/2014/main" id="{22036AAF-9CFD-419E-9F60-44FC3F4FD9FF}"/>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35DCE11-2F58-48E6-8103-53706DB46EB7}"/>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Presence classification is not the same as exact Maven version recovery.</a:t>
            </a:r>
          </a:p>
        </p:txBody>
      </p:sp>
      <p:sp>
        <p:nvSpPr>
          <p:cNvPr id="15" name="">
            <a:extLst xmlns:a="http://schemas.openxmlformats.org/drawingml/2006/main">
              <a:ext uri="{FF2B5EF4-FFF2-40B4-BE49-F238E27FC236}">
                <a16:creationId xmlns:a16="http://schemas.microsoft.com/office/drawing/2014/main" id="{B3292406-DC72-468E-BF86-D9BD57E92A11}"/>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D0DD98-62BB-4614-BC92-8DD481229D56}"/>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Learned models need guardrails before they affect SBOM or CVE output.</a:t>
            </a:r>
          </a:p>
        </p:txBody>
      </p:sp>
      <p:sp>
        <p:nvSpPr>
          <p:cNvPr id="17" name="">
            <a:extLst xmlns:a="http://schemas.openxmlformats.org/drawingml/2006/main">
              <a:ext uri="{FF2B5EF4-FFF2-40B4-BE49-F238E27FC236}">
                <a16:creationId xmlns:a16="http://schemas.microsoft.com/office/drawing/2014/main" id="{C4BC1FB1-4445-49B7-8539-627FB09B679D}"/>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F57B4542-D5C6-413A-878B-3EB0D4A9DB05}"/>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8B88B544-2026-46FB-9E04-D106CDEC3136}"/>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2CB5A1A0-B2FE-4181-B43A-9B3C248F0771}"/>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Model output boundary: report assistance allowed, SBOM mutation blocked.</a:t>
            </a:r>
          </a:p>
        </p:txBody>
      </p:sp>
      <p:sp>
        <p:nvSpPr>
          <p:cNvPr id="21" name="">
            <a:extLst xmlns:a="http://schemas.openxmlformats.org/drawingml/2006/main">
              <a:ext uri="{FF2B5EF4-FFF2-40B4-BE49-F238E27FC236}">
                <a16:creationId xmlns:a16="http://schemas.microsoft.com/office/drawing/2014/main" id="{F51140D2-7B63-44B7-8B97-E251EC660A16}"/>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Include AI literature fairly.</a:t>
            </a:r>
          </a:p>
        </p:txBody>
      </p:sp>
      <p:sp>
        <p:nvSpPr>
          <p:cNvPr id="22" name="">
            <a:extLst xmlns:a="http://schemas.openxmlformats.org/drawingml/2006/main">
              <a:ext uri="{FF2B5EF4-FFF2-40B4-BE49-F238E27FC236}">
                <a16:creationId xmlns:a16="http://schemas.microsoft.com/office/drawing/2014/main" id="{D7618337-5308-4635-A4F6-5B22A199EC3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696529313"/>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7638C8-30E9-42A1-B146-D2995E7A7A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728CBE-BC68-49E8-8D8B-7EAC4AE56A6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D19DE66-1DCB-4183-B2D0-D9E2B2145F46}"/>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D7FE5C1C-5CE9-4C61-868C-0D8D447EDE54}"/>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22</a:t>
            </a:r>
          </a:p>
        </p:txBody>
      </p:sp>
      <p:sp>
        <p:nvSpPr>
          <p:cNvPr id="5" name="">
            <a:extLst xmlns:a="http://schemas.openxmlformats.org/drawingml/2006/main">
              <a:ext uri="{FF2B5EF4-FFF2-40B4-BE49-F238E27FC236}">
                <a16:creationId xmlns:a16="http://schemas.microsoft.com/office/drawing/2014/main" id="{CBCDDF5D-A722-4C20-9903-29B2FE331A9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SBOM-oriented systems expose the output gap</a:t>
            </a:r>
          </a:p>
        </p:txBody>
      </p:sp>
      <p:sp>
        <p:nvSpPr>
          <p:cNvPr id="6" name="">
            <a:extLst xmlns:a="http://schemas.openxmlformats.org/drawingml/2006/main">
              <a:ext uri="{FF2B5EF4-FFF2-40B4-BE49-F238E27FC236}">
                <a16:creationId xmlns:a16="http://schemas.microsoft.com/office/drawing/2014/main" id="{A34F5B1B-AE23-4303-B25E-6939C12DCF92}"/>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AB4C61A-13D1-4F9C-AB53-C6B0A32F4FAA}"/>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AA6E735-8F73-45F6-A6A7-0368A26B78BE}"/>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16FA36C9-AAE0-4D6E-A9D5-E3476BD20B7C}"/>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22FA4C-E3E2-4AC4-BCA8-14D090C2C399}"/>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Most Android TPL tools output tool-specific matches.</a:t>
            </a:r>
          </a:p>
        </p:txBody>
      </p:sp>
      <p:sp>
        <p:nvSpPr>
          <p:cNvPr id="11" name="">
            <a:extLst xmlns:a="http://schemas.openxmlformats.org/drawingml/2006/main">
              <a:ext uri="{FF2B5EF4-FFF2-40B4-BE49-F238E27FC236}">
                <a16:creationId xmlns:a16="http://schemas.microsoft.com/office/drawing/2014/main" id="{C20859EA-71AE-42E9-A7F8-CA5F8D34D514}"/>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8F1755-6AF9-4B3D-8889-6164201A07B6}"/>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Operational SBOM use requires standard identifiers, provenance, confidence, and vulnerability boundaries.</a:t>
            </a:r>
          </a:p>
        </p:txBody>
      </p:sp>
      <p:sp>
        <p:nvSpPr>
          <p:cNvPr id="13" name="">
            <a:extLst xmlns:a="http://schemas.openxmlformats.org/drawingml/2006/main">
              <a:ext uri="{FF2B5EF4-FFF2-40B4-BE49-F238E27FC236}">
                <a16:creationId xmlns:a16="http://schemas.microsoft.com/office/drawing/2014/main" id="{F0A50CA1-AADC-41C3-A625-3B679E29D196}"/>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B9E5D8-DAD1-4A90-B40F-7DE696FA929C}"/>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UniBOM shows the value of unified SBOM analysis.</a:t>
            </a:r>
          </a:p>
        </p:txBody>
      </p:sp>
      <p:sp>
        <p:nvSpPr>
          <p:cNvPr id="15" name="">
            <a:extLst xmlns:a="http://schemas.openxmlformats.org/drawingml/2006/main">
              <a:ext uri="{FF2B5EF4-FFF2-40B4-BE49-F238E27FC236}">
                <a16:creationId xmlns:a16="http://schemas.microsoft.com/office/drawing/2014/main" id="{302F46BD-AD93-45D0-B626-8D198FD637D2}"/>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637E374-4636-4492-A819-07A9F0F8EB12}"/>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Android-specific APK-to-CycloneDX recovery remains a gap.</a:t>
            </a:r>
          </a:p>
        </p:txBody>
      </p:sp>
      <p:sp>
        <p:nvSpPr>
          <p:cNvPr id="17" name="">
            <a:extLst xmlns:a="http://schemas.openxmlformats.org/drawingml/2006/main">
              <a:ext uri="{FF2B5EF4-FFF2-40B4-BE49-F238E27FC236}">
                <a16:creationId xmlns:a16="http://schemas.microsoft.com/office/drawing/2014/main" id="{345CEA38-716A-4D89-91EE-C7C97581A92A}"/>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6E4F926C-98EB-454C-A729-C995F39BB5FD}"/>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13AA340E-B0FF-4C8D-8005-AA5BD802E3CA}"/>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68ECDACC-AC2C-4735-8145-08BA56B99CD2}"/>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6CE735E5-B625-4FF7-91A1-D29C2BE81FE9}"/>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585C041-1E4A-4D49-9233-824273343974}"/>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4D817A"/>
            </a:solidFill>
            <a:prstDash val="solid"/>
          </a:ln>
        </p:spPr>
      </p:sp>
      <p:sp>
        <p:nvSpPr>
          <p:cNvPr id="23" name="">
            <a:extLst xmlns:a="http://schemas.openxmlformats.org/drawingml/2006/main">
              <a:ext uri="{FF2B5EF4-FFF2-40B4-BE49-F238E27FC236}">
                <a16:creationId xmlns:a16="http://schemas.microsoft.com/office/drawing/2014/main" id="{FFAB3193-0863-4FBB-88D8-EA8652EC2F32}"/>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5DD08A5E-0B9D-42F1-9390-BA3F89EB249C}"/>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7740F64-BCF7-4B15-9477-0CC57C417511}"/>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26" name="">
            <a:extLst xmlns:a="http://schemas.openxmlformats.org/drawingml/2006/main">
              <a:ext uri="{FF2B5EF4-FFF2-40B4-BE49-F238E27FC236}">
                <a16:creationId xmlns:a16="http://schemas.microsoft.com/office/drawing/2014/main" id="{0FE65B2A-6209-440D-B819-02628AF29120}"/>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76C127A9-3D21-40B8-98ED-E1CED8C1EE08}"/>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4A631F1-B4C9-4D6E-BC8B-F73EB36011E8}"/>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4D817A"/>
            </a:solidFill>
            <a:prstDash val="solid"/>
          </a:ln>
        </p:spPr>
      </p:sp>
      <p:sp>
        <p:nvSpPr>
          <p:cNvPr id="29" name="">
            <a:extLst xmlns:a="http://schemas.openxmlformats.org/drawingml/2006/main">
              <a:ext uri="{FF2B5EF4-FFF2-40B4-BE49-F238E27FC236}">
                <a16:creationId xmlns:a16="http://schemas.microsoft.com/office/drawing/2014/main" id="{157BB02D-9052-4E44-9012-0C6E1B3AA952}"/>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F2B6AC86-5324-47CF-B2FE-81443886035B}"/>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4D817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5938BC8-13B9-47BB-9D65-441A5122818D}"/>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32" name="">
            <a:extLst xmlns:a="http://schemas.openxmlformats.org/drawingml/2006/main">
              <a:ext uri="{FF2B5EF4-FFF2-40B4-BE49-F238E27FC236}">
                <a16:creationId xmlns:a16="http://schemas.microsoft.com/office/drawing/2014/main" id="{AB28945D-44D4-4142-B7BB-89FC31CBB836}"/>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5D7AF4FA-01A4-4129-98CD-236AB9123C2C}"/>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why detector output is not enough.</a:t>
            </a:r>
          </a:p>
        </p:txBody>
      </p:sp>
      <p:sp>
        <p:nvSpPr>
          <p:cNvPr id="34" name="">
            <a:extLst xmlns:a="http://schemas.openxmlformats.org/drawingml/2006/main">
              <a:ext uri="{FF2B5EF4-FFF2-40B4-BE49-F238E27FC236}">
                <a16:creationId xmlns:a16="http://schemas.microsoft.com/office/drawing/2014/main" id="{A7C192C9-1231-4E71-BAFF-B3AE006A044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110698412"/>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2B92B9-6C92-4362-9C18-F923B6CFE4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927075-7C49-46E6-93AD-B8847AA6381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987B3B-D9EE-49FF-ACE3-664C3742918F}"/>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A7673CE7-2F89-44BA-89AA-29B976166D14}"/>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23</a:t>
            </a:r>
          </a:p>
        </p:txBody>
      </p:sp>
      <p:sp>
        <p:nvSpPr>
          <p:cNvPr id="5" name="">
            <a:extLst xmlns:a="http://schemas.openxmlformats.org/drawingml/2006/main">
              <a:ext uri="{FF2B5EF4-FFF2-40B4-BE49-F238E27FC236}">
                <a16:creationId xmlns:a16="http://schemas.microsoft.com/office/drawing/2014/main" id="{A9421A26-3B54-46F2-976A-7F7FA02828B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Realistic benchmarks lower the expected ceiling</a:t>
            </a:r>
          </a:p>
        </p:txBody>
      </p:sp>
      <p:sp>
        <p:nvSpPr>
          <p:cNvPr id="6" name="">
            <a:extLst xmlns:a="http://schemas.openxmlformats.org/drawingml/2006/main">
              <a:ext uri="{FF2B5EF4-FFF2-40B4-BE49-F238E27FC236}">
                <a16:creationId xmlns:a16="http://schemas.microsoft.com/office/drawing/2014/main" id="{DF1C9D00-E365-490F-8F33-65D53064CAD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5DBA7D-2258-42C8-A879-1859437BED80}"/>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8924F73-240D-401E-8F85-3B0F452777A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A378C77C-2A0C-4CE6-98ED-219B4B4A12FB}"/>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BAAE25-A3DA-456F-A3A9-01EDB39BE946}"/>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Systematic assessments show no tool dominates all conditions.</a:t>
            </a:r>
          </a:p>
        </p:txBody>
      </p:sp>
      <p:sp>
        <p:nvSpPr>
          <p:cNvPr id="11" name="">
            <a:extLst xmlns:a="http://schemas.openxmlformats.org/drawingml/2006/main">
              <a:ext uri="{FF2B5EF4-FFF2-40B4-BE49-F238E27FC236}">
                <a16:creationId xmlns:a16="http://schemas.microsoft.com/office/drawing/2014/main" id="{5DF529C1-0204-4052-BEC4-660728203774}"/>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EBD374-7DDA-4D56-AA79-BDE4143DA9DE}"/>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TPL-Benchmark reports a much lower realistic library-level ceiling than older isolated papers suggest.</a:t>
            </a:r>
          </a:p>
        </p:txBody>
      </p:sp>
      <p:sp>
        <p:nvSpPr>
          <p:cNvPr id="13" name="">
            <a:extLst xmlns:a="http://schemas.openxmlformats.org/drawingml/2006/main">
              <a:ext uri="{FF2B5EF4-FFF2-40B4-BE49-F238E27FC236}">
                <a16:creationId xmlns:a16="http://schemas.microsoft.com/office/drawing/2014/main" id="{17D3B6E0-F152-4FD9-BCB1-4529AFCC4E1C}"/>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39C8B7B-7BC0-43B9-A5FA-7174E2641B17}"/>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Dataset choice, ground truth, and metric unit change the meaning of a score.</a:t>
            </a:r>
          </a:p>
        </p:txBody>
      </p:sp>
      <p:sp>
        <p:nvSpPr>
          <p:cNvPr id="15" name="">
            <a:extLst xmlns:a="http://schemas.openxmlformats.org/drawingml/2006/main">
              <a:ext uri="{FF2B5EF4-FFF2-40B4-BE49-F238E27FC236}">
                <a16:creationId xmlns:a16="http://schemas.microsoft.com/office/drawing/2014/main" id="{00438FA8-3055-43F5-A790-FF04B6A43DD0}"/>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DB971DC-0E88-4778-90EA-C626325A5917}"/>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single polished number can mislead.</a:t>
            </a:r>
          </a:p>
        </p:txBody>
      </p:sp>
      <p:sp>
        <p:nvSpPr>
          <p:cNvPr id="17" name="">
            <a:extLst xmlns:a="http://schemas.openxmlformats.org/drawingml/2006/main">
              <a:ext uri="{FF2B5EF4-FFF2-40B4-BE49-F238E27FC236}">
                <a16:creationId xmlns:a16="http://schemas.microsoft.com/office/drawing/2014/main" id="{9E3443D7-165D-45EE-8DE3-E2F491D52A1B}"/>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66C29A01-941A-4C46-819F-681D7508714E}"/>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4033B8C6-F68F-4EDE-B392-31E9A15B7FB7}"/>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6958C822-052F-40A9-A2B3-79C432DF9791}"/>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D817A"/>
                </a:solidFill>
                <a:latin typeface="Aptos"/>
                <a:ea typeface="Aptos"/>
                <a:cs typeface="Aptos"/>
              </a:defRPr>
            </a:pPr>
            <a:r>
              <a:rPr sz="975" b="1">
                <a:solidFill>
                  <a:srgbClr val="4D817A"/>
                </a:solidFill>
                <a:latin typeface="Aptos"/>
                <a:ea typeface="Aptos"/>
                <a:cs typeface="Aptos"/>
              </a:rPr>
              <a:t>Evidence view</a:t>
            </a:r>
          </a:p>
        </p:txBody>
      </p:sp>
      <p:sp>
        <p:nvSpPr>
          <p:cNvPr id="21" name="">
            <a:extLst xmlns:a="http://schemas.openxmlformats.org/drawingml/2006/main">
              <a:ext uri="{FF2B5EF4-FFF2-40B4-BE49-F238E27FC236}">
                <a16:creationId xmlns:a16="http://schemas.microsoft.com/office/drawing/2014/main" id="{CDF39BAE-CB96-4ED5-96D9-22F2AEEA4E62}"/>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CAD04635-682A-485B-BB65-B396DFEAC417}"/>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Small comparison chart labeled original reports versus common benchmark reality.</a:t>
            </a:r>
          </a:p>
        </p:txBody>
      </p:sp>
      <p:sp>
        <p:nvSpPr>
          <p:cNvPr id="23" name="">
            <a:extLst xmlns:a="http://schemas.openxmlformats.org/drawingml/2006/main">
              <a:ext uri="{FF2B5EF4-FFF2-40B4-BE49-F238E27FC236}">
                <a16:creationId xmlns:a16="http://schemas.microsoft.com/office/drawing/2014/main" id="{14100391-B392-4FFA-AE92-80E76C6A17B8}"/>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73F4DCCA-C669-45B2-B0AF-CD1E7F942C5D}"/>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5" name="">
            <a:extLst xmlns:a="http://schemas.openxmlformats.org/drawingml/2006/main">
              <a:ext uri="{FF2B5EF4-FFF2-40B4-BE49-F238E27FC236}">
                <a16:creationId xmlns:a16="http://schemas.microsoft.com/office/drawing/2014/main" id="{49640B85-E3D0-46B7-AC72-5EE723DB7EA9}"/>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Introduce benchmark humility.</a:t>
            </a:r>
          </a:p>
        </p:txBody>
      </p:sp>
      <p:sp>
        <p:nvSpPr>
          <p:cNvPr id="26" name="">
            <a:extLst xmlns:a="http://schemas.openxmlformats.org/drawingml/2006/main">
              <a:ext uri="{FF2B5EF4-FFF2-40B4-BE49-F238E27FC236}">
                <a16:creationId xmlns:a16="http://schemas.microsoft.com/office/drawing/2014/main" id="{37AC948E-E028-4756-8251-C4F76DDA718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11315173"/>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63A586-497B-48D9-B43A-93E1C0347A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8C5FF8-03F6-4FD8-86A7-FD052809E047}"/>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BEA3757-F56C-4835-BBD7-0925574B384B}"/>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16B3E24B-74DE-498C-BF1A-7E5489277FF0}"/>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24</a:t>
            </a:r>
          </a:p>
        </p:txBody>
      </p:sp>
      <p:sp>
        <p:nvSpPr>
          <p:cNvPr id="5" name="">
            <a:extLst xmlns:a="http://schemas.openxmlformats.org/drawingml/2006/main">
              <a:ext uri="{FF2B5EF4-FFF2-40B4-BE49-F238E27FC236}">
                <a16:creationId xmlns:a16="http://schemas.microsoft.com/office/drawing/2014/main" id="{F31AEB54-B08D-438E-943D-0888CF65F4D2}"/>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main research gap is trustworthy authority</a:t>
            </a:r>
          </a:p>
        </p:txBody>
      </p:sp>
      <p:sp>
        <p:nvSpPr>
          <p:cNvPr id="6" name="">
            <a:extLst xmlns:a="http://schemas.openxmlformats.org/drawingml/2006/main">
              <a:ext uri="{FF2B5EF4-FFF2-40B4-BE49-F238E27FC236}">
                <a16:creationId xmlns:a16="http://schemas.microsoft.com/office/drawing/2014/main" id="{D801DB9E-2932-4038-BD8E-6F0C27C0784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4C069FC-590D-476A-9739-0F8A99A67119}"/>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CFCB007-6599-4A2E-B0B5-050EF9B6C06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CA55286C-26CE-406C-BD54-F2AC4E0F2A87}"/>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7B64F84-441D-4974-A419-533461B49D8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Exact-version evidence degrades faster than identity evidence.</a:t>
            </a:r>
          </a:p>
        </p:txBody>
      </p:sp>
      <p:sp>
        <p:nvSpPr>
          <p:cNvPr id="11" name="">
            <a:extLst xmlns:a="http://schemas.openxmlformats.org/drawingml/2006/main">
              <a:ext uri="{FF2B5EF4-FFF2-40B4-BE49-F238E27FC236}">
                <a16:creationId xmlns:a16="http://schemas.microsoft.com/office/drawing/2014/main" id="{ABB1C747-F967-415B-A3BB-4497A3224007}"/>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D3E12F-2C3E-4390-89D8-2ADF0A67C2C0}"/>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Reference coverage and matcher recall are often mixed.</a:t>
            </a:r>
          </a:p>
        </p:txBody>
      </p:sp>
      <p:sp>
        <p:nvSpPr>
          <p:cNvPr id="13" name="">
            <a:extLst xmlns:a="http://schemas.openxmlformats.org/drawingml/2006/main">
              <a:ext uri="{FF2B5EF4-FFF2-40B4-BE49-F238E27FC236}">
                <a16:creationId xmlns:a16="http://schemas.microsoft.com/office/drawing/2014/main" id="{E536B741-963C-47AC-B52E-3042F108737F}"/>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8778CAA-C9ED-4AD6-B659-02C0E9D14495}"/>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Standard SBOM output is rarely integrated with Android binary attribution.</a:t>
            </a:r>
          </a:p>
        </p:txBody>
      </p:sp>
      <p:sp>
        <p:nvSpPr>
          <p:cNvPr id="15" name="">
            <a:extLst xmlns:a="http://schemas.openxmlformats.org/drawingml/2006/main">
              <a:ext uri="{FF2B5EF4-FFF2-40B4-BE49-F238E27FC236}">
                <a16:creationId xmlns:a16="http://schemas.microsoft.com/office/drawing/2014/main" id="{550B12A9-E866-4E1B-9F32-535D1BAEEAA2}"/>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A4E06D-6A3D-47B2-8521-1E43D780DD19}"/>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Vulnerability claims often inherit hidden version uncertainty.</a:t>
            </a:r>
          </a:p>
        </p:txBody>
      </p:sp>
      <p:sp>
        <p:nvSpPr>
          <p:cNvPr id="17" name="">
            <a:extLst xmlns:a="http://schemas.openxmlformats.org/drawingml/2006/main">
              <a:ext uri="{FF2B5EF4-FFF2-40B4-BE49-F238E27FC236}">
                <a16:creationId xmlns:a16="http://schemas.microsoft.com/office/drawing/2014/main" id="{463C7D86-867F-4F56-B214-BA7E778F9028}"/>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102D438-AFA7-4E0B-B171-0169FD38B65A}"/>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Negative experiments and abstentions are often invisible.</a:t>
            </a:r>
          </a:p>
        </p:txBody>
      </p:sp>
      <p:sp>
        <p:nvSpPr>
          <p:cNvPr id="19" name="">
            <a:extLst xmlns:a="http://schemas.openxmlformats.org/drawingml/2006/main">
              <a:ext uri="{FF2B5EF4-FFF2-40B4-BE49-F238E27FC236}">
                <a16:creationId xmlns:a16="http://schemas.microsoft.com/office/drawing/2014/main" id="{3B293A05-591C-4278-845D-005027895EC5}"/>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01C85A3C-828E-4F01-B959-4281B4327827}"/>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132D492B-D295-41D7-BD0A-4A669D058808}"/>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2" name="">
            <a:extLst xmlns:a="http://schemas.openxmlformats.org/drawingml/2006/main">
              <a:ext uri="{FF2B5EF4-FFF2-40B4-BE49-F238E27FC236}">
                <a16:creationId xmlns:a16="http://schemas.microsoft.com/office/drawing/2014/main" id="{4B7EB50D-8131-40B1-BEDB-89F4D7C475AB}"/>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Five-gap list with small warning markers.</a:t>
            </a:r>
          </a:p>
        </p:txBody>
      </p:sp>
      <p:sp>
        <p:nvSpPr>
          <p:cNvPr id="23" name="">
            <a:extLst xmlns:a="http://schemas.openxmlformats.org/drawingml/2006/main">
              <a:ext uri="{FF2B5EF4-FFF2-40B4-BE49-F238E27FC236}">
                <a16:creationId xmlns:a16="http://schemas.microsoft.com/office/drawing/2014/main" id="{FE67DD95-A65C-49A1-B9BE-24ED32B77938}"/>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Summarize gaps from Master thesis.</a:t>
            </a:r>
          </a:p>
        </p:txBody>
      </p:sp>
      <p:sp>
        <p:nvSpPr>
          <p:cNvPr id="24" name="">
            <a:extLst xmlns:a="http://schemas.openxmlformats.org/drawingml/2006/main">
              <a:ext uri="{FF2B5EF4-FFF2-40B4-BE49-F238E27FC236}">
                <a16:creationId xmlns:a16="http://schemas.microsoft.com/office/drawing/2014/main" id="{B5500EE9-8130-4B67-90D1-01715BC2C52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53823329"/>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74D703-8BEA-48BE-8AB2-88D92C851E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FC7925-50BD-4F4B-9FA5-C5A9C311C39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C47177-E754-41F8-BDF2-AF74CEE88F1B}"/>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B3390AEF-2DAF-40BF-B011-E612BA1F9F7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25</a:t>
            </a:r>
          </a:p>
        </p:txBody>
      </p:sp>
      <p:sp>
        <p:nvSpPr>
          <p:cNvPr id="5" name="">
            <a:extLst xmlns:a="http://schemas.openxmlformats.org/drawingml/2006/main">
              <a:ext uri="{FF2B5EF4-FFF2-40B4-BE49-F238E27FC236}">
                <a16:creationId xmlns:a16="http://schemas.microsoft.com/office/drawing/2014/main" id="{07693D58-58F3-4A70-BDD6-5EE565088CB1}"/>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state of the art shaped the MVP design</a:t>
            </a:r>
          </a:p>
        </p:txBody>
      </p:sp>
      <p:sp>
        <p:nvSpPr>
          <p:cNvPr id="6" name="">
            <a:extLst xmlns:a="http://schemas.openxmlformats.org/drawingml/2006/main">
              <a:ext uri="{FF2B5EF4-FFF2-40B4-BE49-F238E27FC236}">
                <a16:creationId xmlns:a16="http://schemas.microsoft.com/office/drawing/2014/main" id="{73D4AE76-515C-4038-AB60-19381C5A8667}"/>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AE7C40-25C4-44B4-8CF3-2D1A775E51ED}"/>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68CBF5E4-808F-47E8-A0EC-D2A9B2D4B690}"/>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BE02A3FD-BD23-4DAF-8AD7-5C6220CDBDA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D43175-18B8-4FD4-BC28-F59BE6649E35}"/>
              </a:ext>
            </a:extLst>
          </p:cNvPr>
          <p:cNvSpPr>
            <a:spLocks xmlns:a="http://schemas.openxmlformats.org/drawingml/2006/main" noGrp="1"/>
          </p:cNvSpPr>
          <p:nvPr/>
        </p:nvSpPr>
        <p:spPr>
          <a:xfrm xmlns:a="http://schemas.openxmlformats.org/drawingml/2006/main">
            <a:off x="1028700" y="20383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Adopt reference profiles from versioned detection.</a:t>
            </a:r>
          </a:p>
        </p:txBody>
      </p:sp>
      <p:sp>
        <p:nvSpPr>
          <p:cNvPr id="11" name="">
            <a:extLst xmlns:a="http://schemas.openxmlformats.org/drawingml/2006/main">
              <a:ext uri="{FF2B5EF4-FFF2-40B4-BE49-F238E27FC236}">
                <a16:creationId xmlns:a16="http://schemas.microsoft.com/office/drawing/2014/main" id="{1882F625-E4DB-42E6-9F56-92FE2BC97555}"/>
              </a:ext>
            </a:extLst>
          </p:cNvPr>
          <p:cNvSpPr>
            <a:spLocks xmlns:a="http://schemas.openxmlformats.org/drawingml/2006/main" noGrp="1"/>
          </p:cNvSpPr>
          <p:nvPr/>
        </p:nvSpPr>
        <p:spPr>
          <a:xfrm xmlns:a="http://schemas.openxmlformats.org/drawingml/2006/main">
            <a:off x="857250" y="2657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89BF15-E585-4049-8857-0B1C6A32C1AE}"/>
              </a:ext>
            </a:extLst>
          </p:cNvPr>
          <p:cNvSpPr>
            <a:spLocks xmlns:a="http://schemas.openxmlformats.org/drawingml/2006/main" noGrp="1"/>
          </p:cNvSpPr>
          <p:nvPr/>
        </p:nvSpPr>
        <p:spPr>
          <a:xfrm xmlns:a="http://schemas.openxmlformats.org/drawingml/2006/main">
            <a:off x="1028700" y="25908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Adapt graph, opcode, literal, and dependency evidence.</a:t>
            </a:r>
          </a:p>
        </p:txBody>
      </p:sp>
      <p:sp>
        <p:nvSpPr>
          <p:cNvPr id="13" name="">
            <a:extLst xmlns:a="http://schemas.openxmlformats.org/drawingml/2006/main">
              <a:ext uri="{FF2B5EF4-FFF2-40B4-BE49-F238E27FC236}">
                <a16:creationId xmlns:a16="http://schemas.microsoft.com/office/drawing/2014/main" id="{4E845787-54DB-4789-BF5B-8796296D9AB2}"/>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C9B63C-CA0D-4BEC-95CE-CEC361CD5810}"/>
              </a:ext>
            </a:extLst>
          </p:cNvPr>
          <p:cNvSpPr>
            <a:spLocks xmlns:a="http://schemas.openxmlformats.org/drawingml/2006/main" noGrp="1"/>
          </p:cNvSpPr>
          <p:nvPr/>
        </p:nvSpPr>
        <p:spPr>
          <a:xfrm xmlns:a="http://schemas.openxmlformats.org/drawingml/2006/main">
            <a:off x="1028700" y="31432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Reject package-only boundaries.</a:t>
            </a:r>
          </a:p>
        </p:txBody>
      </p:sp>
      <p:sp>
        <p:nvSpPr>
          <p:cNvPr id="15" name="">
            <a:extLst xmlns:a="http://schemas.openxmlformats.org/drawingml/2006/main">
              <a:ext uri="{FF2B5EF4-FFF2-40B4-BE49-F238E27FC236}">
                <a16:creationId xmlns:a16="http://schemas.microsoft.com/office/drawing/2014/main" id="{24392151-3668-4679-B6BA-11430AEA280F}"/>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056EBD-CD28-4BA0-8749-C86C90BAF5FD}"/>
              </a:ext>
            </a:extLst>
          </p:cNvPr>
          <p:cNvSpPr>
            <a:spLocks xmlns:a="http://schemas.openxmlformats.org/drawingml/2006/main" noGrp="1"/>
          </p:cNvSpPr>
          <p:nvPr/>
        </p:nvSpPr>
        <p:spPr>
          <a:xfrm xmlns:a="http://schemas.openxmlformats.org/drawingml/2006/main">
            <a:off x="1028700" y="36957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Reject generic newest-version tie breaking.</a:t>
            </a:r>
          </a:p>
        </p:txBody>
      </p:sp>
      <p:sp>
        <p:nvSpPr>
          <p:cNvPr id="17" name="">
            <a:extLst xmlns:a="http://schemas.openxmlformats.org/drawingml/2006/main">
              <a:ext uri="{FF2B5EF4-FFF2-40B4-BE49-F238E27FC236}">
                <a16:creationId xmlns:a16="http://schemas.microsoft.com/office/drawing/2014/main" id="{B9FFD801-C104-4777-ABEC-CA9864D0CC82}"/>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19AB69-8F87-4F4D-8E76-E438ED95A0F4}"/>
              </a:ext>
            </a:extLst>
          </p:cNvPr>
          <p:cNvSpPr>
            <a:spLocks xmlns:a="http://schemas.openxmlformats.org/drawingml/2006/main" noGrp="1"/>
          </p:cNvSpPr>
          <p:nvPr/>
        </p:nvSpPr>
        <p:spPr>
          <a:xfrm xmlns:a="http://schemas.openxmlformats.org/drawingml/2006/main">
            <a:off x="1028700" y="42481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Use AI only as report-only assistance.</a:t>
            </a:r>
          </a:p>
        </p:txBody>
      </p:sp>
      <p:sp>
        <p:nvSpPr>
          <p:cNvPr id="19" name="">
            <a:extLst xmlns:a="http://schemas.openxmlformats.org/drawingml/2006/main">
              <a:ext uri="{FF2B5EF4-FFF2-40B4-BE49-F238E27FC236}">
                <a16:creationId xmlns:a16="http://schemas.microsoft.com/office/drawing/2014/main" id="{5E576661-E2A7-4280-A5F5-B20193A6138D}"/>
              </a:ext>
            </a:extLst>
          </p:cNvPr>
          <p:cNvSpPr>
            <a:spLocks xmlns:a="http://schemas.openxmlformats.org/drawingml/2006/main" noGrp="1"/>
          </p:cNvSpPr>
          <p:nvPr/>
        </p:nvSpPr>
        <p:spPr>
          <a:xfrm xmlns:a="http://schemas.openxmlformats.org/drawingml/2006/main">
            <a:off x="857250" y="4867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980EAF0-41F8-4A6F-BD2E-D97B59C49F05}"/>
              </a:ext>
            </a:extLst>
          </p:cNvPr>
          <p:cNvSpPr>
            <a:spLocks xmlns:a="http://schemas.openxmlformats.org/drawingml/2006/main" noGrp="1"/>
          </p:cNvSpPr>
          <p:nvPr/>
        </p:nvSpPr>
        <p:spPr>
          <a:xfrm xmlns:a="http://schemas.openxmlformats.org/drawingml/2006/main">
            <a:off x="1028700" y="48006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Emit standard CycloneDX with confidence properties.</a:t>
            </a:r>
          </a:p>
        </p:txBody>
      </p:sp>
      <p:sp>
        <p:nvSpPr>
          <p:cNvPr id="21" name="">
            <a:extLst xmlns:a="http://schemas.openxmlformats.org/drawingml/2006/main">
              <a:ext uri="{FF2B5EF4-FFF2-40B4-BE49-F238E27FC236}">
                <a16:creationId xmlns:a16="http://schemas.microsoft.com/office/drawing/2014/main" id="{0AFCDDCC-00E4-454B-A077-4C412CC29BC5}"/>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D3B7A3E4-897A-4527-9A3E-1F91D11E0C1B}"/>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23" name="">
            <a:extLst xmlns:a="http://schemas.openxmlformats.org/drawingml/2006/main">
              <a:ext uri="{FF2B5EF4-FFF2-40B4-BE49-F238E27FC236}">
                <a16:creationId xmlns:a16="http://schemas.microsoft.com/office/drawing/2014/main" id="{3EC7062C-1D00-4EA5-B89F-C7F29BCE3719}"/>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4" name="">
            <a:extLst xmlns:a="http://schemas.openxmlformats.org/drawingml/2006/main">
              <a:ext uri="{FF2B5EF4-FFF2-40B4-BE49-F238E27FC236}">
                <a16:creationId xmlns:a16="http://schemas.microsoft.com/office/drawing/2014/main" id="{40D81208-D395-40F2-A5D4-1F1FA3D36930}"/>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4D817A"/>
                </a:solidFill>
                <a:latin typeface="Aptos"/>
                <a:ea typeface="Aptos"/>
                <a:cs typeface="Aptos"/>
              </a:defRPr>
            </a:pPr>
            <a:r>
              <a:rPr sz="975" b="1">
                <a:solidFill>
                  <a:srgbClr val="4D817A"/>
                </a:solidFill>
                <a:latin typeface="Aptos"/>
                <a:ea typeface="Aptos"/>
                <a:cs typeface="Aptos"/>
              </a:rPr>
              <a:t>Evidence view</a:t>
            </a:r>
          </a:p>
        </p:txBody>
      </p:sp>
      <p:sp>
        <p:nvSpPr>
          <p:cNvPr id="25" name="">
            <a:extLst xmlns:a="http://schemas.openxmlformats.org/drawingml/2006/main">
              <a:ext uri="{FF2B5EF4-FFF2-40B4-BE49-F238E27FC236}">
                <a16:creationId xmlns:a16="http://schemas.microsoft.com/office/drawing/2014/main" id="{4014912B-87FA-45D0-9BDD-F296C94912C0}"/>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70C347A0-AFB1-49BF-8266-BF7987D1AFBE}"/>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State-of-the-art lesson, MVP adaptation, remaining limitation table.</a:t>
            </a:r>
          </a:p>
        </p:txBody>
      </p:sp>
      <p:sp>
        <p:nvSpPr>
          <p:cNvPr id="27" name="">
            <a:extLst xmlns:a="http://schemas.openxmlformats.org/drawingml/2006/main">
              <a:ext uri="{FF2B5EF4-FFF2-40B4-BE49-F238E27FC236}">
                <a16:creationId xmlns:a16="http://schemas.microsoft.com/office/drawing/2014/main" id="{432987E5-45A6-4756-A864-31F586B0519E}"/>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B5A2831E-0F8F-472F-8BFB-707D773577CD}"/>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9" name="">
            <a:extLst xmlns:a="http://schemas.openxmlformats.org/drawingml/2006/main">
              <a:ext uri="{FF2B5EF4-FFF2-40B4-BE49-F238E27FC236}">
                <a16:creationId xmlns:a16="http://schemas.microsoft.com/office/drawing/2014/main" id="{25FE69F7-9500-4304-9F52-DFCD68CC3F7B}"/>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Connect literature to implementation.</a:t>
            </a:r>
          </a:p>
        </p:txBody>
      </p:sp>
      <p:sp>
        <p:nvSpPr>
          <p:cNvPr id="30" name="">
            <a:extLst xmlns:a="http://schemas.openxmlformats.org/drawingml/2006/main">
              <a:ext uri="{FF2B5EF4-FFF2-40B4-BE49-F238E27FC236}">
                <a16:creationId xmlns:a16="http://schemas.microsoft.com/office/drawing/2014/main" id="{39DFBA08-05E3-4DA1-96A1-A590EAC6256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09748305"/>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5D7AF1-8C72-4FD8-BE63-35F4ACA9B6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F5C2D2-BAFB-4D4C-8098-24E8D33E3EA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5D5EAB-4736-426E-B03B-3FC64F3C3554}"/>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4D817A"/>
                </a:solidFill>
                <a:latin typeface="Aptos"/>
                <a:ea typeface="Aptos"/>
                <a:cs typeface="Aptos"/>
              </a:defRPr>
            </a:pPr>
            <a:r>
              <a:rPr sz="900" b="1">
                <a:solidFill>
                  <a:srgbClr val="4D817A"/>
                </a:solidFill>
                <a:latin typeface="Aptos"/>
                <a:ea typeface="Aptos"/>
                <a:cs typeface="Aptos"/>
              </a:rPr>
              <a:t>STATE OF THE ART</a:t>
            </a:r>
          </a:p>
        </p:txBody>
      </p:sp>
      <p:sp>
        <p:nvSpPr>
          <p:cNvPr id="4" name="">
            <a:extLst xmlns:a="http://schemas.openxmlformats.org/drawingml/2006/main">
              <a:ext uri="{FF2B5EF4-FFF2-40B4-BE49-F238E27FC236}">
                <a16:creationId xmlns:a16="http://schemas.microsoft.com/office/drawing/2014/main" id="{13260355-1302-48BD-BA57-43C66D42CC06}"/>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26</a:t>
            </a:r>
          </a:p>
        </p:txBody>
      </p:sp>
      <p:sp>
        <p:nvSpPr>
          <p:cNvPr id="5" name="">
            <a:extLst xmlns:a="http://schemas.openxmlformats.org/drawingml/2006/main">
              <a:ext uri="{FF2B5EF4-FFF2-40B4-BE49-F238E27FC236}">
                <a16:creationId xmlns:a16="http://schemas.microsoft.com/office/drawing/2014/main" id="{097A7302-6CA0-4815-BB82-19B047C76DE8}"/>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review leads to an evidence-first principle</a:t>
            </a:r>
          </a:p>
        </p:txBody>
      </p:sp>
      <p:sp>
        <p:nvSpPr>
          <p:cNvPr id="6" name="">
            <a:extLst xmlns:a="http://schemas.openxmlformats.org/drawingml/2006/main">
              <a:ext uri="{FF2B5EF4-FFF2-40B4-BE49-F238E27FC236}">
                <a16:creationId xmlns:a16="http://schemas.microsoft.com/office/drawing/2014/main" id="{DC74FAC0-F7AC-4B4F-B47D-1CF0AAD8934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D8D044-247C-4BCE-A461-33E662C929E1}"/>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5F18C88D-5FAF-49B9-976B-52462DD9A2C9}"/>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655235EC-C8A7-4BF8-81D0-ABB10745B67E}"/>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306C9CA-C31C-4089-B3B9-F4FB173B43AD}"/>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Do not ask only whether a version was emitted.</a:t>
            </a:r>
          </a:p>
        </p:txBody>
      </p:sp>
      <p:sp>
        <p:nvSpPr>
          <p:cNvPr id="11" name="">
            <a:extLst xmlns:a="http://schemas.openxmlformats.org/drawingml/2006/main">
              <a:ext uri="{FF2B5EF4-FFF2-40B4-BE49-F238E27FC236}">
                <a16:creationId xmlns:a16="http://schemas.microsoft.com/office/drawing/2014/main" id="{B1AA9FA9-BE71-46DA-827B-1F0D1CFF9A2E}"/>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E40066-F869-401D-A5D7-AFC53D3E9060}"/>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Ask what evidence supports it.</a:t>
            </a:r>
          </a:p>
        </p:txBody>
      </p:sp>
      <p:sp>
        <p:nvSpPr>
          <p:cNvPr id="13" name="">
            <a:extLst xmlns:a="http://schemas.openxmlformats.org/drawingml/2006/main">
              <a:ext uri="{FF2B5EF4-FFF2-40B4-BE49-F238E27FC236}">
                <a16:creationId xmlns:a16="http://schemas.microsoft.com/office/drawing/2014/main" id="{012E4919-74A7-4115-A5D3-AD70E7A56BD2}"/>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1FE46F6-3090-4AFD-BCC0-E6E66136B32E}"/>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Ask what could invalidate it.</a:t>
            </a:r>
          </a:p>
        </p:txBody>
      </p:sp>
      <p:sp>
        <p:nvSpPr>
          <p:cNvPr id="15" name="">
            <a:extLst xmlns:a="http://schemas.openxmlformats.org/drawingml/2006/main">
              <a:ext uri="{FF2B5EF4-FFF2-40B4-BE49-F238E27FC236}">
                <a16:creationId xmlns:a16="http://schemas.microsoft.com/office/drawing/2014/main" id="{28B22BA5-7BFE-4A19-92F5-35306F36865E}"/>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01BB5A-10F5-47CC-A084-E75C31B4D146}"/>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Ask how it may safely be used downstream.</a:t>
            </a:r>
          </a:p>
        </p:txBody>
      </p:sp>
      <p:sp>
        <p:nvSpPr>
          <p:cNvPr id="17" name="">
            <a:extLst xmlns:a="http://schemas.openxmlformats.org/drawingml/2006/main">
              <a:ext uri="{FF2B5EF4-FFF2-40B4-BE49-F238E27FC236}">
                <a16:creationId xmlns:a16="http://schemas.microsoft.com/office/drawing/2014/main" id="{7AAF127E-69EE-4AF7-BB7D-60DC02D2881D}"/>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44496321-3E93-4E7E-B3AF-0A82C637ADB2}"/>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2207432C-2551-4E13-9BC3-378F279F8C98}"/>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20" name="">
            <a:extLst xmlns:a="http://schemas.openxmlformats.org/drawingml/2006/main">
              <a:ext uri="{FF2B5EF4-FFF2-40B4-BE49-F238E27FC236}">
                <a16:creationId xmlns:a16="http://schemas.microsoft.com/office/drawing/2014/main" id="{4C6E377E-5C27-48E1-A303-BCC84B6DFFC4}"/>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Four-question checklist.</a:t>
            </a:r>
          </a:p>
        </p:txBody>
      </p:sp>
      <p:sp>
        <p:nvSpPr>
          <p:cNvPr id="21" name="">
            <a:extLst xmlns:a="http://schemas.openxmlformats.org/drawingml/2006/main">
              <a:ext uri="{FF2B5EF4-FFF2-40B4-BE49-F238E27FC236}">
                <a16:creationId xmlns:a16="http://schemas.microsoft.com/office/drawing/2014/main" id="{74DA7F2F-E782-4E77-AEF0-65E361B954C7}"/>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Close the state-of-the-art section.</a:t>
            </a:r>
          </a:p>
        </p:txBody>
      </p:sp>
      <p:sp>
        <p:nvSpPr>
          <p:cNvPr id="22" name="">
            <a:extLst xmlns:a="http://schemas.openxmlformats.org/drawingml/2006/main">
              <a:ext uri="{FF2B5EF4-FFF2-40B4-BE49-F238E27FC236}">
                <a16:creationId xmlns:a16="http://schemas.microsoft.com/office/drawing/2014/main" id="{071277F5-A706-45EB-A87F-597639E44F5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7299345"/>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782E9A-FD67-4CA4-869D-689BD8DECC4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27F4BE-3D8A-4524-A322-BCA6AD2968F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10A4B63-2964-4571-9C8C-7874D488D0FC}"/>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D12EAEFD-E9FB-4C30-B2CF-DE1A7BDA0BD9}"/>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27</a:t>
            </a:r>
          </a:p>
        </p:txBody>
      </p:sp>
      <p:sp>
        <p:nvSpPr>
          <p:cNvPr id="5" name="">
            <a:extLst xmlns:a="http://schemas.openxmlformats.org/drawingml/2006/main">
              <a:ext uri="{FF2B5EF4-FFF2-40B4-BE49-F238E27FC236}">
                <a16:creationId xmlns:a16="http://schemas.microsoft.com/office/drawing/2014/main" id="{7F9B715B-39E7-473E-9EE9-CBDF26F6E898}"/>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contribution is an evidence-gated APK-to-SBOM workflow</a:t>
            </a:r>
          </a:p>
        </p:txBody>
      </p:sp>
      <p:sp>
        <p:nvSpPr>
          <p:cNvPr id="6" name="">
            <a:extLst xmlns:a="http://schemas.openxmlformats.org/drawingml/2006/main">
              <a:ext uri="{FF2B5EF4-FFF2-40B4-BE49-F238E27FC236}">
                <a16:creationId xmlns:a16="http://schemas.microsoft.com/office/drawing/2014/main" id="{80601D50-000F-4A94-A86A-63E3896D19E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2491B19-F654-4B41-91D7-08A14DB3B187}"/>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C12F3085-05E0-46EC-B348-D68BB52E5CF8}"/>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12FB88D-3D91-45DE-88E0-223A592DE32A}"/>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090E36-9769-4DA9-B13F-4EB12CB58368}"/>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research-backed model for APK-derived SBOM trust.</a:t>
            </a:r>
          </a:p>
        </p:txBody>
      </p:sp>
      <p:sp>
        <p:nvSpPr>
          <p:cNvPr id="11" name="">
            <a:extLst xmlns:a="http://schemas.openxmlformats.org/drawingml/2006/main">
              <a:ext uri="{FF2B5EF4-FFF2-40B4-BE49-F238E27FC236}">
                <a16:creationId xmlns:a16="http://schemas.microsoft.com/office/drawing/2014/main" id="{6AE5E6DD-B432-4C22-ACC2-03AB791A7190}"/>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6E59A5E-21AD-495D-872C-A85FD51156B7}"/>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static Android APK analysis pipeline.</a:t>
            </a:r>
          </a:p>
        </p:txBody>
      </p:sp>
      <p:sp>
        <p:nvSpPr>
          <p:cNvPr id="13" name="">
            <a:extLst xmlns:a="http://schemas.openxmlformats.org/drawingml/2006/main">
              <a:ext uri="{FF2B5EF4-FFF2-40B4-BE49-F238E27FC236}">
                <a16:creationId xmlns:a16="http://schemas.microsoft.com/office/drawing/2014/main" id="{0E77719E-BB08-4496-B82B-FDED1E4870B6}"/>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DC41D8-3DEE-4EB5-A66B-14B26B949D55}"/>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Versioned Maven reference profiles normalized to DEX.</a:t>
            </a:r>
          </a:p>
        </p:txBody>
      </p:sp>
      <p:sp>
        <p:nvSpPr>
          <p:cNvPr id="15" name="">
            <a:extLst xmlns:a="http://schemas.openxmlformats.org/drawingml/2006/main">
              <a:ext uri="{FF2B5EF4-FFF2-40B4-BE49-F238E27FC236}">
                <a16:creationId xmlns:a16="http://schemas.microsoft.com/office/drawing/2014/main" id="{D867608E-232F-4B5D-8E38-498605B76DAF}"/>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1922E9-B867-425B-B6B9-3FDEA32341DA}"/>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Hybrid matching with confidence and ambiguity.</a:t>
            </a:r>
          </a:p>
        </p:txBody>
      </p:sp>
      <p:sp>
        <p:nvSpPr>
          <p:cNvPr id="17" name="">
            <a:extLst xmlns:a="http://schemas.openxmlformats.org/drawingml/2006/main">
              <a:ext uri="{FF2B5EF4-FFF2-40B4-BE49-F238E27FC236}">
                <a16:creationId xmlns:a16="http://schemas.microsoft.com/office/drawing/2014/main" id="{169067DF-F2F8-4DC4-BFF1-A4F0CF74EA1D}"/>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4F818B4-5911-4E04-8125-EB183E46088C}"/>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CycloneDX output and confidence-aware vulnerability lookup.</a:t>
            </a:r>
          </a:p>
        </p:txBody>
      </p:sp>
      <p:sp>
        <p:nvSpPr>
          <p:cNvPr id="19" name="">
            <a:extLst xmlns:a="http://schemas.openxmlformats.org/drawingml/2006/main">
              <a:ext uri="{FF2B5EF4-FFF2-40B4-BE49-F238E27FC236}">
                <a16:creationId xmlns:a16="http://schemas.microsoft.com/office/drawing/2014/main" id="{AD2569B6-EE76-4A23-BFE2-E238C9A5407D}"/>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5D9C4897-671C-445C-BA9B-D17B1FE80F1F}"/>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7E2CED22-F459-41A4-9352-133BE88BA600}"/>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22" name="">
            <a:extLst xmlns:a="http://schemas.openxmlformats.org/drawingml/2006/main">
              <a:ext uri="{FF2B5EF4-FFF2-40B4-BE49-F238E27FC236}">
                <a16:creationId xmlns:a16="http://schemas.microsoft.com/office/drawing/2014/main" id="{09A5190F-740D-4BAE-9060-AA6B001A8AD4}"/>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3" name="">
            <a:extLst xmlns:a="http://schemas.openxmlformats.org/drawingml/2006/main">
              <a:ext uri="{FF2B5EF4-FFF2-40B4-BE49-F238E27FC236}">
                <a16:creationId xmlns:a16="http://schemas.microsoft.com/office/drawing/2014/main" id="{DE59D2C8-6540-4E7C-878B-0317F09C181F}"/>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A0F9698-5104-4E62-8E9B-87423380F26B}"/>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4785E"/>
            </a:solidFill>
            <a:prstDash val="solid"/>
          </a:ln>
        </p:spPr>
      </p:sp>
      <p:sp>
        <p:nvSpPr>
          <p:cNvPr id="25" name="">
            <a:extLst xmlns:a="http://schemas.openxmlformats.org/drawingml/2006/main">
              <a:ext uri="{FF2B5EF4-FFF2-40B4-BE49-F238E27FC236}">
                <a16:creationId xmlns:a16="http://schemas.microsoft.com/office/drawing/2014/main" id="{46F35AB8-BABE-4FF6-87DC-2060F7FD7B51}"/>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6" name="">
            <a:extLst xmlns:a="http://schemas.openxmlformats.org/drawingml/2006/main">
              <a:ext uri="{FF2B5EF4-FFF2-40B4-BE49-F238E27FC236}">
                <a16:creationId xmlns:a16="http://schemas.microsoft.com/office/drawing/2014/main" id="{C622FD64-701B-4EF6-AF2F-0C0EBF6A77F8}"/>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3898DA1-AFAE-4595-A96D-B5A138253B41}"/>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28" name="">
            <a:extLst xmlns:a="http://schemas.openxmlformats.org/drawingml/2006/main">
              <a:ext uri="{FF2B5EF4-FFF2-40B4-BE49-F238E27FC236}">
                <a16:creationId xmlns:a16="http://schemas.microsoft.com/office/drawing/2014/main" id="{0774FE21-B7EB-4E2A-B207-8EC6C85E7F2B}"/>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9" name="">
            <a:extLst xmlns:a="http://schemas.openxmlformats.org/drawingml/2006/main">
              <a:ext uri="{FF2B5EF4-FFF2-40B4-BE49-F238E27FC236}">
                <a16:creationId xmlns:a16="http://schemas.microsoft.com/office/drawing/2014/main" id="{1EE4CFCE-B6D6-496D-B225-B18D3B8B3AA5}"/>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D4C561C-330B-4F04-B125-D6EC4B418D6D}"/>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4785E"/>
            </a:solidFill>
            <a:prstDash val="solid"/>
          </a:ln>
        </p:spPr>
      </p:sp>
      <p:sp>
        <p:nvSpPr>
          <p:cNvPr id="31" name="">
            <a:extLst xmlns:a="http://schemas.openxmlformats.org/drawingml/2006/main">
              <a:ext uri="{FF2B5EF4-FFF2-40B4-BE49-F238E27FC236}">
                <a16:creationId xmlns:a16="http://schemas.microsoft.com/office/drawing/2014/main" id="{3C4A079B-9E64-45CC-82F5-416A5488D535}"/>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2" name="">
            <a:extLst xmlns:a="http://schemas.openxmlformats.org/drawingml/2006/main">
              <a:ext uri="{FF2B5EF4-FFF2-40B4-BE49-F238E27FC236}">
                <a16:creationId xmlns:a16="http://schemas.microsoft.com/office/drawing/2014/main" id="{E0661CB7-4091-4D32-80E6-E4AAB18DF04C}"/>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3D93227-BE6B-48F5-9EB4-B1A8FE2392F7}"/>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34" name="">
            <a:extLst xmlns:a="http://schemas.openxmlformats.org/drawingml/2006/main">
              <a:ext uri="{FF2B5EF4-FFF2-40B4-BE49-F238E27FC236}">
                <a16:creationId xmlns:a16="http://schemas.microsoft.com/office/drawing/2014/main" id="{F770F844-E9F8-4802-A186-213C2CC869F0}"/>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5" name="">
            <a:extLst xmlns:a="http://schemas.openxmlformats.org/drawingml/2006/main">
              <a:ext uri="{FF2B5EF4-FFF2-40B4-BE49-F238E27FC236}">
                <a16:creationId xmlns:a16="http://schemas.microsoft.com/office/drawing/2014/main" id="{1051F682-1190-452E-A0C0-CF3DB73E27C9}"/>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State contribution plainly.</a:t>
            </a:r>
          </a:p>
        </p:txBody>
      </p:sp>
      <p:sp>
        <p:nvSpPr>
          <p:cNvPr id="36" name="">
            <a:extLst xmlns:a="http://schemas.openxmlformats.org/drawingml/2006/main">
              <a:ext uri="{FF2B5EF4-FFF2-40B4-BE49-F238E27FC236}">
                <a16:creationId xmlns:a16="http://schemas.microsoft.com/office/drawing/2014/main" id="{18F8D5C5-0AB0-4424-8CAF-3D32C06FCFD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89701578"/>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2F14C2-3B7C-4DDF-9AAE-73C5156D4B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5E1AC6-D6CF-4303-9737-1D8D0F23050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7042BD7-D9DE-4C20-B255-F32B83539557}"/>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94B82F2A-1C70-464B-9AD9-A0BF416F3E9D}"/>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28</a:t>
            </a:r>
          </a:p>
        </p:txBody>
      </p:sp>
      <p:sp>
        <p:nvSpPr>
          <p:cNvPr id="5" name="">
            <a:extLst xmlns:a="http://schemas.openxmlformats.org/drawingml/2006/main">
              <a:ext uri="{FF2B5EF4-FFF2-40B4-BE49-F238E27FC236}">
                <a16:creationId xmlns:a16="http://schemas.microsoft.com/office/drawing/2014/main" id="{80B243FD-3C93-478B-AF7E-CDC4F212D411}"/>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Each recovered component is treated as a claim</a:t>
            </a:r>
          </a:p>
        </p:txBody>
      </p:sp>
      <p:sp>
        <p:nvSpPr>
          <p:cNvPr id="6" name="">
            <a:extLst xmlns:a="http://schemas.openxmlformats.org/drawingml/2006/main">
              <a:ext uri="{FF2B5EF4-FFF2-40B4-BE49-F238E27FC236}">
                <a16:creationId xmlns:a16="http://schemas.microsoft.com/office/drawing/2014/main" id="{542BDCD5-001A-42A4-8986-55122D3EC36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E32A14D-3D6A-4E98-B530-722EE9C0E347}"/>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F20A54B-89D6-4740-908D-52895BC2BAB4}"/>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C2EFE56B-DC2C-4279-B278-47C37BFA0CD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FB4C40-3074-42AC-BDD5-8C5C16FDDBD6}"/>
              </a:ext>
            </a:extLst>
          </p:cNvPr>
          <p:cNvSpPr>
            <a:spLocks xmlns:a="http://schemas.openxmlformats.org/drawingml/2006/main" noGrp="1"/>
          </p:cNvSpPr>
          <p:nvPr/>
        </p:nvSpPr>
        <p:spPr>
          <a:xfrm xmlns:a="http://schemas.openxmlformats.org/drawingml/2006/main">
            <a:off x="1028700" y="20383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Subject APK.</a:t>
            </a:r>
          </a:p>
        </p:txBody>
      </p:sp>
      <p:sp>
        <p:nvSpPr>
          <p:cNvPr id="11" name="">
            <a:extLst xmlns:a="http://schemas.openxmlformats.org/drawingml/2006/main">
              <a:ext uri="{FF2B5EF4-FFF2-40B4-BE49-F238E27FC236}">
                <a16:creationId xmlns:a16="http://schemas.microsoft.com/office/drawing/2014/main" id="{6BD58539-B021-4B20-8725-36FA4ECDF72E}"/>
              </a:ext>
            </a:extLst>
          </p:cNvPr>
          <p:cNvSpPr>
            <a:spLocks xmlns:a="http://schemas.openxmlformats.org/drawingml/2006/main" noGrp="1"/>
          </p:cNvSpPr>
          <p:nvPr/>
        </p:nvSpPr>
        <p:spPr>
          <a:xfrm xmlns:a="http://schemas.openxmlformats.org/drawingml/2006/main">
            <a:off x="857250" y="2657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44ADAD-7C98-427D-BA94-18D3E5ED0C73}"/>
              </a:ext>
            </a:extLst>
          </p:cNvPr>
          <p:cNvSpPr>
            <a:spLocks xmlns:a="http://schemas.openxmlformats.org/drawingml/2006/main" noGrp="1"/>
          </p:cNvSpPr>
          <p:nvPr/>
        </p:nvSpPr>
        <p:spPr>
          <a:xfrm xmlns:a="http://schemas.openxmlformats.org/drawingml/2006/main">
            <a:off x="1028700" y="25908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Candidate component and artifact family.</a:t>
            </a:r>
          </a:p>
        </p:txBody>
      </p:sp>
      <p:sp>
        <p:nvSpPr>
          <p:cNvPr id="13" name="">
            <a:extLst xmlns:a="http://schemas.openxmlformats.org/drawingml/2006/main">
              <a:ext uri="{FF2B5EF4-FFF2-40B4-BE49-F238E27FC236}">
                <a16:creationId xmlns:a16="http://schemas.microsoft.com/office/drawing/2014/main" id="{648C86D3-A4B3-4E33-9952-033118B0669F}"/>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24C7B3-FE5F-4773-A974-0F561B37B2D4}"/>
              </a:ext>
            </a:extLst>
          </p:cNvPr>
          <p:cNvSpPr>
            <a:spLocks xmlns:a="http://schemas.openxmlformats.org/drawingml/2006/main" noGrp="1"/>
          </p:cNvSpPr>
          <p:nvPr/>
        </p:nvSpPr>
        <p:spPr>
          <a:xfrm xmlns:a="http://schemas.openxmlformats.org/drawingml/2006/main">
            <a:off x="1028700" y="31432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Identity and version status.</a:t>
            </a:r>
          </a:p>
        </p:txBody>
      </p:sp>
      <p:sp>
        <p:nvSpPr>
          <p:cNvPr id="15" name="">
            <a:extLst xmlns:a="http://schemas.openxmlformats.org/drawingml/2006/main">
              <a:ext uri="{FF2B5EF4-FFF2-40B4-BE49-F238E27FC236}">
                <a16:creationId xmlns:a16="http://schemas.microsoft.com/office/drawing/2014/main" id="{7DB27265-9054-4C5F-8AF2-C9CD30BA3713}"/>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1C287C-FA8B-42F4-BC84-1026DF84EB5D}"/>
              </a:ext>
            </a:extLst>
          </p:cNvPr>
          <p:cNvSpPr>
            <a:spLocks xmlns:a="http://schemas.openxmlformats.org/drawingml/2006/main" noGrp="1"/>
          </p:cNvSpPr>
          <p:nvPr/>
        </p:nvSpPr>
        <p:spPr>
          <a:xfrm xmlns:a="http://schemas.openxmlformats.org/drawingml/2006/main">
            <a:off x="1028700" y="36957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Supporting and opposing evidence.</a:t>
            </a:r>
          </a:p>
        </p:txBody>
      </p:sp>
      <p:sp>
        <p:nvSpPr>
          <p:cNvPr id="17" name="">
            <a:extLst xmlns:a="http://schemas.openxmlformats.org/drawingml/2006/main">
              <a:ext uri="{FF2B5EF4-FFF2-40B4-BE49-F238E27FC236}">
                <a16:creationId xmlns:a16="http://schemas.microsoft.com/office/drawing/2014/main" id="{1E0446F0-237A-46A3-90F0-C8687ED7C62C}"/>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42D989A-E90D-4349-9768-7BB4F4C62586}"/>
              </a:ext>
            </a:extLst>
          </p:cNvPr>
          <p:cNvSpPr>
            <a:spLocks xmlns:a="http://schemas.openxmlformats.org/drawingml/2006/main" noGrp="1"/>
          </p:cNvSpPr>
          <p:nvPr/>
        </p:nvSpPr>
        <p:spPr>
          <a:xfrm xmlns:a="http://schemas.openxmlformats.org/drawingml/2006/main">
            <a:off x="1028700" y="42481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Provenance and validation context.</a:t>
            </a:r>
          </a:p>
        </p:txBody>
      </p:sp>
      <p:sp>
        <p:nvSpPr>
          <p:cNvPr id="19" name="">
            <a:extLst xmlns:a="http://schemas.openxmlformats.org/drawingml/2006/main">
              <a:ext uri="{FF2B5EF4-FFF2-40B4-BE49-F238E27FC236}">
                <a16:creationId xmlns:a16="http://schemas.microsoft.com/office/drawing/2014/main" id="{73CE7842-C592-4483-BD99-7117A2A4D773}"/>
              </a:ext>
            </a:extLst>
          </p:cNvPr>
          <p:cNvSpPr>
            <a:spLocks xmlns:a="http://schemas.openxmlformats.org/drawingml/2006/main" noGrp="1"/>
          </p:cNvSpPr>
          <p:nvPr/>
        </p:nvSpPr>
        <p:spPr>
          <a:xfrm xmlns:a="http://schemas.openxmlformats.org/drawingml/2006/main">
            <a:off x="857250" y="4867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6793AA1-7B16-4463-B6A2-4A82B1D3FD87}"/>
              </a:ext>
            </a:extLst>
          </p:cNvPr>
          <p:cNvSpPr>
            <a:spLocks xmlns:a="http://schemas.openxmlformats.org/drawingml/2006/main" noGrp="1"/>
          </p:cNvSpPr>
          <p:nvPr/>
        </p:nvSpPr>
        <p:spPr>
          <a:xfrm xmlns:a="http://schemas.openxmlformats.org/drawingml/2006/main">
            <a:off x="1028700" y="48006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Permitted security interpretation.</a:t>
            </a:r>
          </a:p>
        </p:txBody>
      </p:sp>
      <p:sp>
        <p:nvSpPr>
          <p:cNvPr id="21" name="">
            <a:extLst xmlns:a="http://schemas.openxmlformats.org/drawingml/2006/main">
              <a:ext uri="{FF2B5EF4-FFF2-40B4-BE49-F238E27FC236}">
                <a16:creationId xmlns:a16="http://schemas.microsoft.com/office/drawing/2014/main" id="{51FAEC0E-0771-4840-8715-E4C2CF4713E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C4018518-F174-497E-998A-6812F7C28060}"/>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23" name="">
            <a:extLst xmlns:a="http://schemas.openxmlformats.org/drawingml/2006/main">
              <a:ext uri="{FF2B5EF4-FFF2-40B4-BE49-F238E27FC236}">
                <a16:creationId xmlns:a16="http://schemas.microsoft.com/office/drawing/2014/main" id="{AF96F51C-7975-4F55-A9FF-F1F2583C760A}"/>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24" name="">
            <a:extLst xmlns:a="http://schemas.openxmlformats.org/drawingml/2006/main">
              <a:ext uri="{FF2B5EF4-FFF2-40B4-BE49-F238E27FC236}">
                <a16:creationId xmlns:a16="http://schemas.microsoft.com/office/drawing/2014/main" id="{AB51117F-4194-4651-A180-0D2DC9935DE9}"/>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Claim record schema shown as a simple form.</a:t>
            </a:r>
          </a:p>
        </p:txBody>
      </p:sp>
      <p:sp>
        <p:nvSpPr>
          <p:cNvPr id="25" name="">
            <a:extLst xmlns:a="http://schemas.openxmlformats.org/drawingml/2006/main">
              <a:ext uri="{FF2B5EF4-FFF2-40B4-BE49-F238E27FC236}">
                <a16:creationId xmlns:a16="http://schemas.microsoft.com/office/drawing/2014/main" id="{8E8BA5D7-95DC-41E0-B475-E1B6F5DB69DB}"/>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the evidence model.</a:t>
            </a:r>
          </a:p>
        </p:txBody>
      </p:sp>
      <p:sp>
        <p:nvSpPr>
          <p:cNvPr id="26" name="">
            <a:extLst xmlns:a="http://schemas.openxmlformats.org/drawingml/2006/main">
              <a:ext uri="{FF2B5EF4-FFF2-40B4-BE49-F238E27FC236}">
                <a16:creationId xmlns:a16="http://schemas.microsoft.com/office/drawing/2014/main" id="{816DD0F4-88FA-4D68-9266-FD6878E83F2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72137574"/>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2F53E19-7D7E-46C5-8FCE-B036D5F408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11173D-F2B0-442B-B619-07EEFF245599}"/>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9B8733-CEE3-49C1-B929-DBED4FE131E2}"/>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AF4A3704-BD8A-46CE-B773-B214DC7AF461}"/>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29</a:t>
            </a:r>
          </a:p>
        </p:txBody>
      </p:sp>
      <p:sp>
        <p:nvSpPr>
          <p:cNvPr id="5" name="">
            <a:extLst xmlns:a="http://schemas.openxmlformats.org/drawingml/2006/main">
              <a:ext uri="{FF2B5EF4-FFF2-40B4-BE49-F238E27FC236}">
                <a16:creationId xmlns:a16="http://schemas.microsoft.com/office/drawing/2014/main" id="{230F41DB-97FB-443E-84F8-571CE08E3D83}"/>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system separates authoritative and report-only paths</a:t>
            </a:r>
          </a:p>
        </p:txBody>
      </p:sp>
      <p:sp>
        <p:nvSpPr>
          <p:cNvPr id="6" name="">
            <a:extLst xmlns:a="http://schemas.openxmlformats.org/drawingml/2006/main">
              <a:ext uri="{FF2B5EF4-FFF2-40B4-BE49-F238E27FC236}">
                <a16:creationId xmlns:a16="http://schemas.microsoft.com/office/drawing/2014/main" id="{4C688733-45C2-41A0-A088-7851A0F4C2E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191ACB-8F27-4D5F-A4E2-68798A989058}"/>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929C4F4D-808B-46FC-ABA4-AE360EEF951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A04083B3-22BD-4C6B-BDE5-E3A9851075F8}"/>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83D8352-A421-48F0-A81D-C1DAD89A52F7}"/>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Authoritative path: extraction, reference DB, matcher, SBOM, OSV, report.</a:t>
            </a:r>
          </a:p>
        </p:txBody>
      </p:sp>
      <p:sp>
        <p:nvSpPr>
          <p:cNvPr id="11" name="">
            <a:extLst xmlns:a="http://schemas.openxmlformats.org/drawingml/2006/main">
              <a:ext uri="{FF2B5EF4-FFF2-40B4-BE49-F238E27FC236}">
                <a16:creationId xmlns:a16="http://schemas.microsoft.com/office/drawing/2014/main" id="{E29E3A86-C60E-4EC1-B850-23C4FDD9412C}"/>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00ED7EA-15D3-4693-AFFE-170750E17F40}"/>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Report-only path: R8 diagnostics, AI assistance, hybrid router, version-band experiments.</a:t>
            </a:r>
          </a:p>
        </p:txBody>
      </p:sp>
      <p:sp>
        <p:nvSpPr>
          <p:cNvPr id="13" name="">
            <a:extLst xmlns:a="http://schemas.openxmlformats.org/drawingml/2006/main">
              <a:ext uri="{FF2B5EF4-FFF2-40B4-BE49-F238E27FC236}">
                <a16:creationId xmlns:a16="http://schemas.microsoft.com/office/drawing/2014/main" id="{7BC212F3-E359-40CD-899B-F8FC1299E1BF}"/>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1F3D01-48A0-4EB2-BB7D-FD4E4C741DE6}"/>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Report-only outputs can explain risk.</a:t>
            </a:r>
          </a:p>
        </p:txBody>
      </p:sp>
      <p:sp>
        <p:nvSpPr>
          <p:cNvPr id="15" name="">
            <a:extLst xmlns:a="http://schemas.openxmlformats.org/drawingml/2006/main">
              <a:ext uri="{FF2B5EF4-FFF2-40B4-BE49-F238E27FC236}">
                <a16:creationId xmlns:a16="http://schemas.microsoft.com/office/drawing/2014/main" id="{DDFADDBF-9BBF-464B-99E8-7ED3F376BA3E}"/>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A873CB-806A-4F17-86E2-71930EBB9FDD}"/>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They cannot change selected versions, SBOM components, CVE labels, or metrics.</a:t>
            </a:r>
          </a:p>
        </p:txBody>
      </p:sp>
      <p:sp>
        <p:nvSpPr>
          <p:cNvPr id="17" name="">
            <a:extLst xmlns:a="http://schemas.openxmlformats.org/drawingml/2006/main">
              <a:ext uri="{FF2B5EF4-FFF2-40B4-BE49-F238E27FC236}">
                <a16:creationId xmlns:a16="http://schemas.microsoft.com/office/drawing/2014/main" id="{FB9EAFA6-63AA-427B-A778-1FC7A87D9B19}"/>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4B4A8306-DD94-4B46-A620-94B90231F5A9}"/>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2B66593F-4A93-4A25-8939-9E6F31FBCC43}"/>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20" name="">
            <a:extLst xmlns:a="http://schemas.openxmlformats.org/drawingml/2006/main">
              <a:ext uri="{FF2B5EF4-FFF2-40B4-BE49-F238E27FC236}">
                <a16:creationId xmlns:a16="http://schemas.microsoft.com/office/drawing/2014/main" id="{927566DD-E58A-493C-A84D-FD36E8234720}"/>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ABE75AE4-8C31-46DA-B524-40B8668E0A57}"/>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9AC0A42-CFB6-467A-8A89-55300B60DE24}"/>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4785E"/>
            </a:solidFill>
            <a:prstDash val="solid"/>
          </a:ln>
        </p:spPr>
      </p:sp>
      <p:sp>
        <p:nvSpPr>
          <p:cNvPr id="23" name="">
            <a:extLst xmlns:a="http://schemas.openxmlformats.org/drawingml/2006/main">
              <a:ext uri="{FF2B5EF4-FFF2-40B4-BE49-F238E27FC236}">
                <a16:creationId xmlns:a16="http://schemas.microsoft.com/office/drawing/2014/main" id="{4ABD7612-B43A-4AB6-818E-F108647DA8BE}"/>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D6F3A625-B6C7-466E-AA69-44FB6E32D63A}"/>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E3187E0-387E-4F09-82E7-25958E5EF6E0}"/>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26" name="">
            <a:extLst xmlns:a="http://schemas.openxmlformats.org/drawingml/2006/main">
              <a:ext uri="{FF2B5EF4-FFF2-40B4-BE49-F238E27FC236}">
                <a16:creationId xmlns:a16="http://schemas.microsoft.com/office/drawing/2014/main" id="{AB00DB0B-8789-40E6-85CC-E59D393D02C1}"/>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D92D52ED-D933-4B30-A720-01A5A150B648}"/>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C1ACE4D-1819-40EB-A399-937A581C958B}"/>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4785E"/>
            </a:solidFill>
            <a:prstDash val="solid"/>
          </a:ln>
        </p:spPr>
      </p:sp>
      <p:sp>
        <p:nvSpPr>
          <p:cNvPr id="29" name="">
            <a:extLst xmlns:a="http://schemas.openxmlformats.org/drawingml/2006/main">
              <a:ext uri="{FF2B5EF4-FFF2-40B4-BE49-F238E27FC236}">
                <a16:creationId xmlns:a16="http://schemas.microsoft.com/office/drawing/2014/main" id="{D8E262BC-AA88-46C8-ABB3-B7332A5FD5BE}"/>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5932B9B7-75B4-47AB-9318-70C1B1CC9B4D}"/>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64785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A145E9B-F71D-4FC8-A024-61F6C2875877}"/>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64785E"/>
            </a:solidFill>
            <a:prstDash val="solid"/>
          </a:ln>
        </p:spPr>
      </p:sp>
      <p:sp>
        <p:nvSpPr>
          <p:cNvPr id="32" name="">
            <a:extLst xmlns:a="http://schemas.openxmlformats.org/drawingml/2006/main">
              <a:ext uri="{FF2B5EF4-FFF2-40B4-BE49-F238E27FC236}">
                <a16:creationId xmlns:a16="http://schemas.microsoft.com/office/drawing/2014/main" id="{BFA00F6D-5984-428E-889A-121C835FA21E}"/>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DCD4A581-0FFE-4EEB-83CA-A1DC54C8A61A}"/>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authority design.</a:t>
            </a:r>
          </a:p>
        </p:txBody>
      </p:sp>
      <p:sp>
        <p:nvSpPr>
          <p:cNvPr id="34" name="">
            <a:extLst xmlns:a="http://schemas.openxmlformats.org/drawingml/2006/main">
              <a:ext uri="{FF2B5EF4-FFF2-40B4-BE49-F238E27FC236}">
                <a16:creationId xmlns:a16="http://schemas.microsoft.com/office/drawing/2014/main" id="{E4E74386-EA43-4103-BFB2-7DE040F56AD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47529580"/>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C4BFFE5-B8A8-436B-9ECE-898D67A6D7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14B115-7BB8-45A9-B236-2453D088E67E}"/>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355D6DE-0D08-4292-A2DA-AAE2F03713FB}"/>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75CF76A8-EDE5-4FAB-B9F1-14EB62A591B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30</a:t>
            </a:r>
          </a:p>
        </p:txBody>
      </p:sp>
      <p:sp>
        <p:nvSpPr>
          <p:cNvPr id="5" name="">
            <a:extLst xmlns:a="http://schemas.openxmlformats.org/drawingml/2006/main">
              <a:ext uri="{FF2B5EF4-FFF2-40B4-BE49-F238E27FC236}">
                <a16:creationId xmlns:a16="http://schemas.microsoft.com/office/drawing/2014/main" id="{232A2C69-6A6A-463F-86ED-07D421926C3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Confidence is not one score</a:t>
            </a:r>
          </a:p>
        </p:txBody>
      </p:sp>
      <p:sp>
        <p:nvSpPr>
          <p:cNvPr id="6" name="">
            <a:extLst xmlns:a="http://schemas.openxmlformats.org/drawingml/2006/main">
              <a:ext uri="{FF2B5EF4-FFF2-40B4-BE49-F238E27FC236}">
                <a16:creationId xmlns:a16="http://schemas.microsoft.com/office/drawing/2014/main" id="{E3D1E86C-E88E-48AF-A72A-8A21679BBCA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F404CA7-3C2D-441C-9114-E23A7C2DA44B}"/>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C580B8A-4454-417A-8E9B-A5007666F258}"/>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958AA7B-0A82-42A2-A758-67938252C3C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CD09476-B6B7-4A0A-B944-8884EF620C3A}"/>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Identity confidence measures component presence support.</a:t>
            </a:r>
          </a:p>
        </p:txBody>
      </p:sp>
      <p:sp>
        <p:nvSpPr>
          <p:cNvPr id="11" name="">
            <a:extLst xmlns:a="http://schemas.openxmlformats.org/drawingml/2006/main">
              <a:ext uri="{FF2B5EF4-FFF2-40B4-BE49-F238E27FC236}">
                <a16:creationId xmlns:a16="http://schemas.microsoft.com/office/drawing/2014/main" id="{50CFEFFB-B79C-4425-9ABA-4493D721DEC1}"/>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C017D7-106E-42F0-B2AE-08E3C0435799}"/>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Version confidence measures exact release support.</a:t>
            </a:r>
          </a:p>
        </p:txBody>
      </p:sp>
      <p:sp>
        <p:nvSpPr>
          <p:cNvPr id="13" name="">
            <a:extLst xmlns:a="http://schemas.openxmlformats.org/drawingml/2006/main">
              <a:ext uri="{FF2B5EF4-FFF2-40B4-BE49-F238E27FC236}">
                <a16:creationId xmlns:a16="http://schemas.microsoft.com/office/drawing/2014/main" id="{7D913E91-E0BD-48D2-ACC9-D524AD367A4E}"/>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DF88FB-4BF4-4655-A31E-DD114F24393F}"/>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Ambiguous versions are preserved when evidence is close.</a:t>
            </a:r>
          </a:p>
        </p:txBody>
      </p:sp>
      <p:sp>
        <p:nvSpPr>
          <p:cNvPr id="15" name="">
            <a:extLst xmlns:a="http://schemas.openxmlformats.org/drawingml/2006/main">
              <a:ext uri="{FF2B5EF4-FFF2-40B4-BE49-F238E27FC236}">
                <a16:creationId xmlns:a16="http://schemas.microsoft.com/office/drawing/2014/main" id="{0303D40F-DCA8-4662-B36B-ECD428F426CC}"/>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AA21FDD-66BD-4F3B-8740-682E1410680F}"/>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Abstention is allowed when evidence is insufficient.</a:t>
            </a:r>
          </a:p>
        </p:txBody>
      </p:sp>
      <p:sp>
        <p:nvSpPr>
          <p:cNvPr id="17" name="">
            <a:extLst xmlns:a="http://schemas.openxmlformats.org/drawingml/2006/main">
              <a:ext uri="{FF2B5EF4-FFF2-40B4-BE49-F238E27FC236}">
                <a16:creationId xmlns:a16="http://schemas.microsoft.com/office/drawing/2014/main" id="{E7D35D43-F67B-49C9-8D46-10B61CDE1B36}"/>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DB2BBA1A-B1AC-4D12-BF29-F5A1113DC4A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B39A7C70-91FC-472B-A917-8BD86D028386}"/>
              </a:ext>
            </a:extLst>
          </p:cNvPr>
          <p:cNvSpPr>
            <a:spLocks xmlns:a="http://schemas.openxmlformats.org/drawingml/2006/main" noGrp="1"/>
          </p:cNvSpPr>
          <p:nvPr/>
        </p:nvSpPr>
        <p:spPr>
          <a:xfrm xmlns:a="http://schemas.openxmlformats.org/drawingml/2006/main">
            <a:off x="662940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927 / 1837</a:t>
            </a:r>
          </a:p>
        </p:txBody>
      </p:sp>
      <p:sp>
        <p:nvSpPr>
          <p:cNvPr id="20" name="">
            <a:extLst xmlns:a="http://schemas.openxmlformats.org/drawingml/2006/main">
              <a:ext uri="{FF2B5EF4-FFF2-40B4-BE49-F238E27FC236}">
                <a16:creationId xmlns:a16="http://schemas.microsoft.com/office/drawing/2014/main" id="{C69DB8D4-83F9-497C-9181-77807EB41824}"/>
              </a:ext>
            </a:extLst>
          </p:cNvPr>
          <p:cNvSpPr>
            <a:spLocks xmlns:a="http://schemas.openxmlformats.org/drawingml/2006/main" noGrp="1"/>
          </p:cNvSpPr>
          <p:nvPr/>
        </p:nvSpPr>
        <p:spPr>
          <a:xfrm xmlns:a="http://schemas.openxmlformats.org/drawingml/2006/main">
            <a:off x="662940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source-validated emitted versions</a:t>
            </a:r>
          </a:p>
        </p:txBody>
      </p:sp>
      <p:sp>
        <p:nvSpPr>
          <p:cNvPr id="21" name="">
            <a:extLst xmlns:a="http://schemas.openxmlformats.org/drawingml/2006/main">
              <a:ext uri="{FF2B5EF4-FFF2-40B4-BE49-F238E27FC236}">
                <a16:creationId xmlns:a16="http://schemas.microsoft.com/office/drawing/2014/main" id="{242EE894-D54D-4BD5-82CC-0C05357976CB}"/>
              </a:ext>
            </a:extLst>
          </p:cNvPr>
          <p:cNvSpPr>
            <a:spLocks xmlns:a="http://schemas.openxmlformats.org/drawingml/2006/main" noGrp="1"/>
          </p:cNvSpPr>
          <p:nvPr/>
        </p:nvSpPr>
        <p:spPr>
          <a:xfrm xmlns:a="http://schemas.openxmlformats.org/drawingml/2006/main">
            <a:off x="908685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4D817A"/>
                </a:solidFill>
                <a:latin typeface="Aptos Display"/>
                <a:ea typeface="Aptos Display"/>
                <a:cs typeface="Aptos Display"/>
              </a:defRPr>
            </a:pPr>
            <a:r>
              <a:rPr sz="2700" b="1">
                <a:solidFill>
                  <a:srgbClr val="4D817A"/>
                </a:solidFill>
                <a:latin typeface="Aptos Display"/>
                <a:ea typeface="Aptos Display"/>
                <a:cs typeface="Aptos Display"/>
              </a:rPr>
              <a:t>84 / 84</a:t>
            </a:r>
          </a:p>
        </p:txBody>
      </p:sp>
      <p:sp>
        <p:nvSpPr>
          <p:cNvPr id="22" name="">
            <a:extLst xmlns:a="http://schemas.openxmlformats.org/drawingml/2006/main">
              <a:ext uri="{FF2B5EF4-FFF2-40B4-BE49-F238E27FC236}">
                <a16:creationId xmlns:a16="http://schemas.microsoft.com/office/drawing/2014/main" id="{563ED6AC-B895-4A9A-9A37-B90977A838EC}"/>
              </a:ext>
            </a:extLst>
          </p:cNvPr>
          <p:cNvSpPr>
            <a:spLocks xmlns:a="http://schemas.openxmlformats.org/drawingml/2006/main" noGrp="1"/>
          </p:cNvSpPr>
          <p:nvPr/>
        </p:nvSpPr>
        <p:spPr>
          <a:xfrm xmlns:a="http://schemas.openxmlformats.org/drawingml/2006/main">
            <a:off x="908685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controlled expected versions</a:t>
            </a:r>
          </a:p>
        </p:txBody>
      </p:sp>
      <p:sp>
        <p:nvSpPr>
          <p:cNvPr id="23" name="">
            <a:extLst xmlns:a="http://schemas.openxmlformats.org/drawingml/2006/main">
              <a:ext uri="{FF2B5EF4-FFF2-40B4-BE49-F238E27FC236}">
                <a16:creationId xmlns:a16="http://schemas.microsoft.com/office/drawing/2014/main" id="{F1B03CF9-CD29-47F4-9712-C86A54F7B893}"/>
              </a:ext>
            </a:extLst>
          </p:cNvPr>
          <p:cNvSpPr>
            <a:spLocks xmlns:a="http://schemas.openxmlformats.org/drawingml/2006/main" noGrp="1"/>
          </p:cNvSpPr>
          <p:nvPr/>
        </p:nvSpPr>
        <p:spPr>
          <a:xfrm xmlns:a="http://schemas.openxmlformats.org/drawingml/2006/main">
            <a:off x="6629400" y="3619500"/>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6772 / 6772</a:t>
            </a:r>
          </a:p>
        </p:txBody>
      </p:sp>
      <p:sp>
        <p:nvSpPr>
          <p:cNvPr id="24" name="">
            <a:extLst xmlns:a="http://schemas.openxmlformats.org/drawingml/2006/main">
              <a:ext uri="{FF2B5EF4-FFF2-40B4-BE49-F238E27FC236}">
                <a16:creationId xmlns:a16="http://schemas.microsoft.com/office/drawing/2014/main" id="{59F1018B-46AA-40E2-B25F-673973D881A6}"/>
              </a:ext>
            </a:extLst>
          </p:cNvPr>
          <p:cNvSpPr>
            <a:spLocks xmlns:a="http://schemas.openxmlformats.org/drawingml/2006/main" noGrp="1"/>
          </p:cNvSpPr>
          <p:nvPr/>
        </p:nvSpPr>
        <p:spPr>
          <a:xfrm xmlns:a="http://schemas.openxmlformats.org/drawingml/2006/main">
            <a:off x="6629400" y="40957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source-known v2 emitted rows</a:t>
            </a:r>
          </a:p>
        </p:txBody>
      </p:sp>
      <p:sp>
        <p:nvSpPr>
          <p:cNvPr id="25" name="">
            <a:extLst xmlns:a="http://schemas.openxmlformats.org/drawingml/2006/main">
              <a:ext uri="{FF2B5EF4-FFF2-40B4-BE49-F238E27FC236}">
                <a16:creationId xmlns:a16="http://schemas.microsoft.com/office/drawing/2014/main" id="{43969F4F-566B-40E4-8415-517FA3EE6695}"/>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identity and version confidence.</a:t>
            </a:r>
          </a:p>
        </p:txBody>
      </p:sp>
      <p:sp>
        <p:nvSpPr>
          <p:cNvPr id="26" name="">
            <a:extLst xmlns:a="http://schemas.openxmlformats.org/drawingml/2006/main">
              <a:ext uri="{FF2B5EF4-FFF2-40B4-BE49-F238E27FC236}">
                <a16:creationId xmlns:a16="http://schemas.microsoft.com/office/drawing/2014/main" id="{344CA20C-6208-487E-8DBA-5AD76873F529}"/>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91350080"/>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D65775-073A-4F51-849E-5055683B0E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A629FC-90FC-437F-B4A8-F6822510C72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AB3CC3-F68C-45D0-94A2-D1A555135DBF}"/>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538A2E2D-6EFB-42BC-B403-512F2DF8C171}"/>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31</a:t>
            </a:r>
          </a:p>
        </p:txBody>
      </p:sp>
      <p:sp>
        <p:nvSpPr>
          <p:cNvPr id="5" name="">
            <a:extLst xmlns:a="http://schemas.openxmlformats.org/drawingml/2006/main">
              <a:ext uri="{FF2B5EF4-FFF2-40B4-BE49-F238E27FC236}">
                <a16:creationId xmlns:a16="http://schemas.microsoft.com/office/drawing/2014/main" id="{0085D2B2-1A90-4E9D-A52F-C73B826950BC}"/>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matcher uses complementary evidence</a:t>
            </a:r>
          </a:p>
        </p:txBody>
      </p:sp>
      <p:sp>
        <p:nvSpPr>
          <p:cNvPr id="6" name="">
            <a:extLst xmlns:a="http://schemas.openxmlformats.org/drawingml/2006/main">
              <a:ext uri="{FF2B5EF4-FFF2-40B4-BE49-F238E27FC236}">
                <a16:creationId xmlns:a16="http://schemas.microsoft.com/office/drawing/2014/main" id="{6A85E8FE-E42E-444C-AE4C-C6BD85126628}"/>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386FA0E-CF87-43E1-AAF1-68E163ACD6C2}"/>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798653B-8B0F-4730-AC1D-C81FA36C1CC7}"/>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585C68B0-B0AD-4A2E-BAAA-0E732EFFB4C0}"/>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7192B2-B49B-4FFB-9488-AFDB6E91C6D0}"/>
              </a:ext>
            </a:extLst>
          </p:cNvPr>
          <p:cNvSpPr>
            <a:spLocks xmlns:a="http://schemas.openxmlformats.org/drawingml/2006/main" noGrp="1"/>
          </p:cNvSpPr>
          <p:nvPr/>
        </p:nvSpPr>
        <p:spPr>
          <a:xfrm xmlns:a="http://schemas.openxmlformats.org/drawingml/2006/main">
            <a:off x="1028700" y="203835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Package coverage.</a:t>
            </a:r>
          </a:p>
        </p:txBody>
      </p:sp>
      <p:sp>
        <p:nvSpPr>
          <p:cNvPr id="11" name="">
            <a:extLst xmlns:a="http://schemas.openxmlformats.org/drawingml/2006/main">
              <a:ext uri="{FF2B5EF4-FFF2-40B4-BE49-F238E27FC236}">
                <a16:creationId xmlns:a16="http://schemas.microsoft.com/office/drawing/2014/main" id="{08142A9B-F23F-4F53-B77F-1B667D3EC391}"/>
              </a:ext>
            </a:extLst>
          </p:cNvPr>
          <p:cNvSpPr>
            <a:spLocks xmlns:a="http://schemas.openxmlformats.org/drawingml/2006/main" noGrp="1"/>
          </p:cNvSpPr>
          <p:nvPr/>
        </p:nvSpPr>
        <p:spPr>
          <a:xfrm xmlns:a="http://schemas.openxmlformats.org/drawingml/2006/main">
            <a:off x="857250" y="25146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A6F860-4B6C-43CD-A028-55A62D264741}"/>
              </a:ext>
            </a:extLst>
          </p:cNvPr>
          <p:cNvSpPr>
            <a:spLocks xmlns:a="http://schemas.openxmlformats.org/drawingml/2006/main" noGrp="1"/>
          </p:cNvSpPr>
          <p:nvPr/>
        </p:nvSpPr>
        <p:spPr>
          <a:xfrm xmlns:a="http://schemas.openxmlformats.org/drawingml/2006/main">
            <a:off x="1028700" y="244792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Class coverage.</a:t>
            </a:r>
          </a:p>
        </p:txBody>
      </p:sp>
      <p:sp>
        <p:nvSpPr>
          <p:cNvPr id="13" name="">
            <a:extLst xmlns:a="http://schemas.openxmlformats.org/drawingml/2006/main">
              <a:ext uri="{FF2B5EF4-FFF2-40B4-BE49-F238E27FC236}">
                <a16:creationId xmlns:a16="http://schemas.microsoft.com/office/drawing/2014/main" id="{7ABC312A-29AD-44E8-AC20-0615863CD21D}"/>
              </a:ext>
            </a:extLst>
          </p:cNvPr>
          <p:cNvSpPr>
            <a:spLocks xmlns:a="http://schemas.openxmlformats.org/drawingml/2006/main" noGrp="1"/>
          </p:cNvSpPr>
          <p:nvPr/>
        </p:nvSpPr>
        <p:spPr>
          <a:xfrm xmlns:a="http://schemas.openxmlformats.org/drawingml/2006/main">
            <a:off x="857250" y="29241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3D7C75-8099-4C18-BE09-F5D646919F01}"/>
              </a:ext>
            </a:extLst>
          </p:cNvPr>
          <p:cNvSpPr>
            <a:spLocks xmlns:a="http://schemas.openxmlformats.org/drawingml/2006/main" noGrp="1"/>
          </p:cNvSpPr>
          <p:nvPr/>
        </p:nvSpPr>
        <p:spPr>
          <a:xfrm xmlns:a="http://schemas.openxmlformats.org/drawingml/2006/main">
            <a:off x="1028700" y="285750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Method coverage.</a:t>
            </a:r>
          </a:p>
        </p:txBody>
      </p:sp>
      <p:sp>
        <p:nvSpPr>
          <p:cNvPr id="15" name="">
            <a:extLst xmlns:a="http://schemas.openxmlformats.org/drawingml/2006/main">
              <a:ext uri="{FF2B5EF4-FFF2-40B4-BE49-F238E27FC236}">
                <a16:creationId xmlns:a16="http://schemas.microsoft.com/office/drawing/2014/main" id="{FF10B81D-09E6-448A-81A0-3C44027DD25D}"/>
              </a:ext>
            </a:extLst>
          </p:cNvPr>
          <p:cNvSpPr>
            <a:spLocks xmlns:a="http://schemas.openxmlformats.org/drawingml/2006/main" noGrp="1"/>
          </p:cNvSpPr>
          <p:nvPr/>
        </p:nvSpPr>
        <p:spPr>
          <a:xfrm xmlns:a="http://schemas.openxmlformats.org/drawingml/2006/main">
            <a:off x="857250" y="33337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B4FD495-0D6F-48E5-BE9E-02856AC7D91B}"/>
              </a:ext>
            </a:extLst>
          </p:cNvPr>
          <p:cNvSpPr>
            <a:spLocks xmlns:a="http://schemas.openxmlformats.org/drawingml/2006/main" noGrp="1"/>
          </p:cNvSpPr>
          <p:nvPr/>
        </p:nvSpPr>
        <p:spPr>
          <a:xfrm xmlns:a="http://schemas.openxmlformats.org/drawingml/2006/main">
            <a:off x="1028700" y="326707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Opcode similarity.</a:t>
            </a:r>
          </a:p>
        </p:txBody>
      </p:sp>
      <p:sp>
        <p:nvSpPr>
          <p:cNvPr id="17" name="">
            <a:extLst xmlns:a="http://schemas.openxmlformats.org/drawingml/2006/main">
              <a:ext uri="{FF2B5EF4-FFF2-40B4-BE49-F238E27FC236}">
                <a16:creationId xmlns:a16="http://schemas.microsoft.com/office/drawing/2014/main" id="{1958A037-9173-4D45-B93A-6CDC235BC592}"/>
              </a:ext>
            </a:extLst>
          </p:cNvPr>
          <p:cNvSpPr>
            <a:spLocks xmlns:a="http://schemas.openxmlformats.org/drawingml/2006/main" noGrp="1"/>
          </p:cNvSpPr>
          <p:nvPr/>
        </p:nvSpPr>
        <p:spPr>
          <a:xfrm xmlns:a="http://schemas.openxmlformats.org/drawingml/2006/main">
            <a:off x="857250" y="37433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8CAF69-C171-4F75-AF7D-77EE4A48293F}"/>
              </a:ext>
            </a:extLst>
          </p:cNvPr>
          <p:cNvSpPr>
            <a:spLocks xmlns:a="http://schemas.openxmlformats.org/drawingml/2006/main" noGrp="1"/>
          </p:cNvSpPr>
          <p:nvPr/>
        </p:nvSpPr>
        <p:spPr>
          <a:xfrm xmlns:a="http://schemas.openxmlformats.org/drawingml/2006/main">
            <a:off x="1028700" y="367665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Dependency similarity.</a:t>
            </a:r>
          </a:p>
        </p:txBody>
      </p:sp>
      <p:sp>
        <p:nvSpPr>
          <p:cNvPr id="19" name="">
            <a:extLst xmlns:a="http://schemas.openxmlformats.org/drawingml/2006/main">
              <a:ext uri="{FF2B5EF4-FFF2-40B4-BE49-F238E27FC236}">
                <a16:creationId xmlns:a16="http://schemas.microsoft.com/office/drawing/2014/main" id="{F39D18DF-6310-447C-B47D-D19CED431609}"/>
              </a:ext>
            </a:extLst>
          </p:cNvPr>
          <p:cNvSpPr>
            <a:spLocks xmlns:a="http://schemas.openxmlformats.org/drawingml/2006/main" noGrp="1"/>
          </p:cNvSpPr>
          <p:nvPr/>
        </p:nvSpPr>
        <p:spPr>
          <a:xfrm xmlns:a="http://schemas.openxmlformats.org/drawingml/2006/main">
            <a:off x="857250" y="41529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76CA0BC-CB04-40A2-B1F2-3DFA66EBD197}"/>
              </a:ext>
            </a:extLst>
          </p:cNvPr>
          <p:cNvSpPr>
            <a:spLocks xmlns:a="http://schemas.openxmlformats.org/drawingml/2006/main" noGrp="1"/>
          </p:cNvSpPr>
          <p:nvPr/>
        </p:nvSpPr>
        <p:spPr>
          <a:xfrm xmlns:a="http://schemas.openxmlformats.org/drawingml/2006/main">
            <a:off x="1028700" y="408622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Literal overlap.</a:t>
            </a:r>
          </a:p>
        </p:txBody>
      </p:sp>
      <p:sp>
        <p:nvSpPr>
          <p:cNvPr id="21" name="">
            <a:extLst xmlns:a="http://schemas.openxmlformats.org/drawingml/2006/main">
              <a:ext uri="{FF2B5EF4-FFF2-40B4-BE49-F238E27FC236}">
                <a16:creationId xmlns:a16="http://schemas.microsoft.com/office/drawing/2014/main" id="{AA48E9F6-6062-40C2-A947-2B6F734AF157}"/>
              </a:ext>
            </a:extLst>
          </p:cNvPr>
          <p:cNvSpPr>
            <a:spLocks xmlns:a="http://schemas.openxmlformats.org/drawingml/2006/main" noGrp="1"/>
          </p:cNvSpPr>
          <p:nvPr/>
        </p:nvSpPr>
        <p:spPr>
          <a:xfrm xmlns:a="http://schemas.openxmlformats.org/drawingml/2006/main">
            <a:off x="857250" y="4562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6F6DAD9-52A1-4349-80F7-E71E22A94CEA}"/>
              </a:ext>
            </a:extLst>
          </p:cNvPr>
          <p:cNvSpPr>
            <a:spLocks xmlns:a="http://schemas.openxmlformats.org/drawingml/2006/main" noGrp="1"/>
          </p:cNvSpPr>
          <p:nvPr/>
        </p:nvSpPr>
        <p:spPr>
          <a:xfrm xmlns:a="http://schemas.openxmlformats.org/drawingml/2006/main">
            <a:off x="1028700" y="449580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Version-unique evidence.</a:t>
            </a:r>
          </a:p>
        </p:txBody>
      </p:sp>
      <p:sp>
        <p:nvSpPr>
          <p:cNvPr id="23" name="">
            <a:extLst xmlns:a="http://schemas.openxmlformats.org/drawingml/2006/main">
              <a:ext uri="{FF2B5EF4-FFF2-40B4-BE49-F238E27FC236}">
                <a16:creationId xmlns:a16="http://schemas.microsoft.com/office/drawing/2014/main" id="{62249817-51BB-4CDA-B806-84A86D9C5C53}"/>
              </a:ext>
            </a:extLst>
          </p:cNvPr>
          <p:cNvSpPr>
            <a:spLocks xmlns:a="http://schemas.openxmlformats.org/drawingml/2006/main" noGrp="1"/>
          </p:cNvSpPr>
          <p:nvPr/>
        </p:nvSpPr>
        <p:spPr>
          <a:xfrm xmlns:a="http://schemas.openxmlformats.org/drawingml/2006/main">
            <a:off x="857250" y="4972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5F23596-3A5A-46A9-B7A4-3436AFA0441A}"/>
              </a:ext>
            </a:extLst>
          </p:cNvPr>
          <p:cNvSpPr>
            <a:spLocks xmlns:a="http://schemas.openxmlformats.org/drawingml/2006/main" noGrp="1"/>
          </p:cNvSpPr>
          <p:nvPr/>
        </p:nvSpPr>
        <p:spPr>
          <a:xfrm xmlns:a="http://schemas.openxmlformats.org/drawingml/2006/main">
            <a:off x="1028700" y="490537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Optional API and opcode tri-gram diagnostics.</a:t>
            </a:r>
          </a:p>
        </p:txBody>
      </p:sp>
      <p:sp>
        <p:nvSpPr>
          <p:cNvPr id="25" name="">
            <a:extLst xmlns:a="http://schemas.openxmlformats.org/drawingml/2006/main">
              <a:ext uri="{FF2B5EF4-FFF2-40B4-BE49-F238E27FC236}">
                <a16:creationId xmlns:a16="http://schemas.microsoft.com/office/drawing/2014/main" id="{9CFA9612-467E-4C86-AB96-7E3CA7189C7F}"/>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80939D45-5D27-41EE-8D3F-5B27C64410F9}"/>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27" name="">
            <a:extLst xmlns:a="http://schemas.openxmlformats.org/drawingml/2006/main">
              <a:ext uri="{FF2B5EF4-FFF2-40B4-BE49-F238E27FC236}">
                <a16:creationId xmlns:a16="http://schemas.microsoft.com/office/drawing/2014/main" id="{DDA04842-52D8-4F37-B2E8-E1BBB6129D31}"/>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28" name="">
            <a:extLst xmlns:a="http://schemas.openxmlformats.org/drawingml/2006/main">
              <a:ext uri="{FF2B5EF4-FFF2-40B4-BE49-F238E27FC236}">
                <a16:creationId xmlns:a16="http://schemas.microsoft.com/office/drawing/2014/main" id="{71C74BF5-6415-499E-BD0B-013B8A59F54C}"/>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4785E"/>
                </a:solidFill>
                <a:latin typeface="Aptos"/>
                <a:ea typeface="Aptos"/>
                <a:cs typeface="Aptos"/>
              </a:defRPr>
            </a:pPr>
            <a:r>
              <a:rPr sz="975" b="1">
                <a:solidFill>
                  <a:srgbClr val="64785E"/>
                </a:solidFill>
                <a:latin typeface="Aptos"/>
                <a:ea typeface="Aptos"/>
                <a:cs typeface="Aptos"/>
              </a:rPr>
              <a:t>Evidence view</a:t>
            </a:r>
          </a:p>
        </p:txBody>
      </p:sp>
      <p:sp>
        <p:nvSpPr>
          <p:cNvPr id="29" name="">
            <a:extLst xmlns:a="http://schemas.openxmlformats.org/drawingml/2006/main">
              <a:ext uri="{FF2B5EF4-FFF2-40B4-BE49-F238E27FC236}">
                <a16:creationId xmlns:a16="http://schemas.microsoft.com/office/drawing/2014/main" id="{9DB37881-E5F1-4E8C-A214-BB258C30635E}"/>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E55B94E6-501B-4A9C-8021-82401238A850}"/>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Feature weight table with nonzero and disabled features.</a:t>
            </a:r>
          </a:p>
        </p:txBody>
      </p:sp>
      <p:sp>
        <p:nvSpPr>
          <p:cNvPr id="31" name="">
            <a:extLst xmlns:a="http://schemas.openxmlformats.org/drawingml/2006/main">
              <a:ext uri="{FF2B5EF4-FFF2-40B4-BE49-F238E27FC236}">
                <a16:creationId xmlns:a16="http://schemas.microsoft.com/office/drawing/2014/main" id="{CD9FF254-AF2B-4B61-BFC7-417FB92BD27D}"/>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9812BEFA-E280-4627-B813-92D1B7FAA529}"/>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33" name="">
            <a:extLst xmlns:a="http://schemas.openxmlformats.org/drawingml/2006/main">
              <a:ext uri="{FF2B5EF4-FFF2-40B4-BE49-F238E27FC236}">
                <a16:creationId xmlns:a16="http://schemas.microsoft.com/office/drawing/2014/main" id="{E2534ECE-F896-4ECF-8797-4F416EC5EB0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Show signal fusion.</a:t>
            </a:r>
          </a:p>
        </p:txBody>
      </p:sp>
      <p:sp>
        <p:nvSpPr>
          <p:cNvPr id="34" name="">
            <a:extLst xmlns:a="http://schemas.openxmlformats.org/drawingml/2006/main">
              <a:ext uri="{FF2B5EF4-FFF2-40B4-BE49-F238E27FC236}">
                <a16:creationId xmlns:a16="http://schemas.microsoft.com/office/drawing/2014/main" id="{B23D7472-F5A9-4DE7-9FC0-4204CD3A290A}"/>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51788158"/>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B28EE9-2855-4BE3-9751-38929EE2B18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1FB83A-E348-4CB4-95F2-7DA42D04F50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6944A5-01F5-4B17-88B1-09D29497C54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491F2975-7EAC-4A5B-9931-F001B0FB44D7}"/>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32</a:t>
            </a:r>
          </a:p>
        </p:txBody>
      </p:sp>
      <p:sp>
        <p:nvSpPr>
          <p:cNvPr id="5" name="">
            <a:extLst xmlns:a="http://schemas.openxmlformats.org/drawingml/2006/main">
              <a:ext uri="{FF2B5EF4-FFF2-40B4-BE49-F238E27FC236}">
                <a16:creationId xmlns:a16="http://schemas.microsoft.com/office/drawing/2014/main" id="{CF2F2C60-93D0-411A-854B-512E26D009F0}"/>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CycloneDX output carries evidence boundaries forward</a:t>
            </a:r>
          </a:p>
        </p:txBody>
      </p:sp>
      <p:sp>
        <p:nvSpPr>
          <p:cNvPr id="6" name="">
            <a:extLst xmlns:a="http://schemas.openxmlformats.org/drawingml/2006/main">
              <a:ext uri="{FF2B5EF4-FFF2-40B4-BE49-F238E27FC236}">
                <a16:creationId xmlns:a16="http://schemas.microsoft.com/office/drawing/2014/main" id="{C839538C-8D81-4B19-B33E-E986B1D95BF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A58DB3-83BE-4419-803B-2682E0C22116}"/>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634311D-D7F1-4672-A7E3-26509FED4B90}"/>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2AA2BD2-0F62-4002-913F-078CEC428ADA}"/>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E64867-ED76-4F30-A822-BFC33ED699A4}"/>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Accepted Maven decisions become CycloneDX components.</a:t>
            </a:r>
          </a:p>
        </p:txBody>
      </p:sp>
      <p:sp>
        <p:nvSpPr>
          <p:cNvPr id="11" name="">
            <a:extLst xmlns:a="http://schemas.openxmlformats.org/drawingml/2006/main">
              <a:ext uri="{FF2B5EF4-FFF2-40B4-BE49-F238E27FC236}">
                <a16:creationId xmlns:a16="http://schemas.microsoft.com/office/drawing/2014/main" id="{481AB9C4-2877-4ADD-9340-C7CA1E34DA69}"/>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294C848-3144-435D-A619-E8E839330BFE}"/>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Components use Package URLs.</a:t>
            </a:r>
          </a:p>
        </p:txBody>
      </p:sp>
      <p:sp>
        <p:nvSpPr>
          <p:cNvPr id="13" name="">
            <a:extLst xmlns:a="http://schemas.openxmlformats.org/drawingml/2006/main">
              <a:ext uri="{FF2B5EF4-FFF2-40B4-BE49-F238E27FC236}">
                <a16:creationId xmlns:a16="http://schemas.microsoft.com/office/drawing/2014/main" id="{4E6BCB80-BB81-40C4-890B-B0E858DB1CE3}"/>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2674E4-E269-42D1-B5B1-4DAB6DC080A8}"/>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Native files become hash-based file components.</a:t>
            </a:r>
          </a:p>
        </p:txBody>
      </p:sp>
      <p:sp>
        <p:nvSpPr>
          <p:cNvPr id="15" name="">
            <a:extLst xmlns:a="http://schemas.openxmlformats.org/drawingml/2006/main">
              <a:ext uri="{FF2B5EF4-FFF2-40B4-BE49-F238E27FC236}">
                <a16:creationId xmlns:a16="http://schemas.microsoft.com/office/drawing/2014/main" id="{3FFE2DAB-E07C-4CAA-ACBC-B2A4E0AE94FD}"/>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BB3A47B-3382-4043-B0DE-16CA7C84B0E5}"/>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Confidence, match type, ambiguity, and evidence summaries remain attached.</a:t>
            </a:r>
          </a:p>
        </p:txBody>
      </p:sp>
      <p:sp>
        <p:nvSpPr>
          <p:cNvPr id="17" name="">
            <a:extLst xmlns:a="http://schemas.openxmlformats.org/drawingml/2006/main">
              <a:ext uri="{FF2B5EF4-FFF2-40B4-BE49-F238E27FC236}">
                <a16:creationId xmlns:a16="http://schemas.microsoft.com/office/drawing/2014/main" id="{1E90CBEF-97AE-473D-AFA9-22F78D138DB1}"/>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459DB6B9-531D-4A01-B338-7924E56316D6}"/>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EBF03910-65AD-4A7D-9571-ADC73D27D1CB}"/>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20" name="">
            <a:extLst xmlns:a="http://schemas.openxmlformats.org/drawingml/2006/main">
              <a:ext uri="{FF2B5EF4-FFF2-40B4-BE49-F238E27FC236}">
                <a16:creationId xmlns:a16="http://schemas.microsoft.com/office/drawing/2014/main" id="{C0D81D91-7118-4F7E-AF55-7B0EBD907C33}"/>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Small CycloneDX component example.</a:t>
            </a:r>
          </a:p>
        </p:txBody>
      </p:sp>
      <p:sp>
        <p:nvSpPr>
          <p:cNvPr id="21" name="">
            <a:extLst xmlns:a="http://schemas.openxmlformats.org/drawingml/2006/main">
              <a:ext uri="{FF2B5EF4-FFF2-40B4-BE49-F238E27FC236}">
                <a16:creationId xmlns:a16="http://schemas.microsoft.com/office/drawing/2014/main" id="{F5253E7D-C354-43E3-8F6D-0A35778F8FEF}"/>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Tie detection to SBOM standard.</a:t>
            </a:r>
          </a:p>
        </p:txBody>
      </p:sp>
      <p:sp>
        <p:nvSpPr>
          <p:cNvPr id="22" name="">
            <a:extLst xmlns:a="http://schemas.openxmlformats.org/drawingml/2006/main">
              <a:ext uri="{FF2B5EF4-FFF2-40B4-BE49-F238E27FC236}">
                <a16:creationId xmlns:a16="http://schemas.microsoft.com/office/drawing/2014/main" id="{E41D5FEE-5544-4749-B3D8-67E351AEC9DF}"/>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36499240"/>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A0CBEE-8138-46C4-96C6-92EABD6A0C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399C212-C2F4-4C31-B0C4-32489850E60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B60A12-4AED-44E6-A1D4-D0D5BD57955B}"/>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70AF4E0F-CAF8-4FCF-BEC4-2D53AC3E89CF}"/>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33</a:t>
            </a:r>
          </a:p>
        </p:txBody>
      </p:sp>
      <p:sp>
        <p:nvSpPr>
          <p:cNvPr id="5" name="">
            <a:extLst xmlns:a="http://schemas.openxmlformats.org/drawingml/2006/main">
              <a:ext uri="{FF2B5EF4-FFF2-40B4-BE49-F238E27FC236}">
                <a16:creationId xmlns:a16="http://schemas.microsoft.com/office/drawing/2014/main" id="{DE82F66A-CA4B-4EA4-B683-98973925D78F}"/>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Vulnerability findings inherit component confidence</a:t>
            </a:r>
          </a:p>
        </p:txBody>
      </p:sp>
      <p:sp>
        <p:nvSpPr>
          <p:cNvPr id="6" name="">
            <a:extLst xmlns:a="http://schemas.openxmlformats.org/drawingml/2006/main">
              <a:ext uri="{FF2B5EF4-FFF2-40B4-BE49-F238E27FC236}">
                <a16:creationId xmlns:a16="http://schemas.microsoft.com/office/drawing/2014/main" id="{B804E816-402B-479B-B4E6-4F3C33AFD76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AD903A-0C79-4396-B43A-3BB3186A0EDE}"/>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2576EC95-CAD9-4F69-A128-2AE11FE07AEB}"/>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5A94AF35-9EC8-4E49-8502-C274252AC914}"/>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DB54A6-467E-4648-ABF6-6338504997B7}"/>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OSV lookup uses selected Maven coordinate and version.</a:t>
            </a:r>
          </a:p>
        </p:txBody>
      </p:sp>
      <p:sp>
        <p:nvSpPr>
          <p:cNvPr id="11" name="">
            <a:extLst xmlns:a="http://schemas.openxmlformats.org/drawingml/2006/main">
              <a:ext uri="{FF2B5EF4-FFF2-40B4-BE49-F238E27FC236}">
                <a16:creationId xmlns:a16="http://schemas.microsoft.com/office/drawing/2014/main" id="{0B5D6638-14B9-4A86-A5CB-E9E3A2C6EA0B}"/>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6FE6048-A351-4672-9C98-AA05F57CEBD5}"/>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Findings are classified by evidence strength.</a:t>
            </a:r>
          </a:p>
        </p:txBody>
      </p:sp>
      <p:sp>
        <p:nvSpPr>
          <p:cNvPr id="13" name="">
            <a:extLst xmlns:a="http://schemas.openxmlformats.org/drawingml/2006/main">
              <a:ext uri="{FF2B5EF4-FFF2-40B4-BE49-F238E27FC236}">
                <a16:creationId xmlns:a16="http://schemas.microsoft.com/office/drawing/2014/main" id="{2208E885-F576-47EC-BD93-F9E877483E48}"/>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DB8FEF3-C0DF-4305-9A95-126BDA0EA4D9}"/>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Source-confirmed findings are stronger than potential or report-only findings.</a:t>
            </a:r>
          </a:p>
        </p:txBody>
      </p:sp>
      <p:sp>
        <p:nvSpPr>
          <p:cNvPr id="15" name="">
            <a:extLst xmlns:a="http://schemas.openxmlformats.org/drawingml/2006/main">
              <a:ext uri="{FF2B5EF4-FFF2-40B4-BE49-F238E27FC236}">
                <a16:creationId xmlns:a16="http://schemas.microsoft.com/office/drawing/2014/main" id="{BB118A62-60BA-4CBB-ABF3-AE1AA198BC32}"/>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484744-9EA5-4A09-A379-44C960857C15}"/>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 weak version must not become a fake confirmed CVE.</a:t>
            </a:r>
          </a:p>
        </p:txBody>
      </p:sp>
      <p:sp>
        <p:nvSpPr>
          <p:cNvPr id="17" name="">
            <a:extLst xmlns:a="http://schemas.openxmlformats.org/drawingml/2006/main">
              <a:ext uri="{FF2B5EF4-FFF2-40B4-BE49-F238E27FC236}">
                <a16:creationId xmlns:a16="http://schemas.microsoft.com/office/drawing/2014/main" id="{3BA1B627-1771-4485-A1CA-9FB27EB130C8}"/>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14A8F3F9-D2BB-40FB-ACFB-B07198D0F3FC}"/>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B69B45B1-483A-463A-819D-BC646A259AEA}"/>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20" name="">
            <a:extLst xmlns:a="http://schemas.openxmlformats.org/drawingml/2006/main">
              <a:ext uri="{FF2B5EF4-FFF2-40B4-BE49-F238E27FC236}">
                <a16:creationId xmlns:a16="http://schemas.microsoft.com/office/drawing/2014/main" id="{D7A28A63-1720-4516-8F49-50BAF758ADA5}"/>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Vulnerability authority ladder: confirmed, potential, report-only.</a:t>
            </a:r>
          </a:p>
        </p:txBody>
      </p:sp>
      <p:sp>
        <p:nvSpPr>
          <p:cNvPr id="21" name="">
            <a:extLst xmlns:a="http://schemas.openxmlformats.org/drawingml/2006/main">
              <a:ext uri="{FF2B5EF4-FFF2-40B4-BE49-F238E27FC236}">
                <a16:creationId xmlns:a16="http://schemas.microsoft.com/office/drawing/2014/main" id="{FB90CA6B-D5A6-4986-8700-28A2C2E50080}"/>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CVE policy.</a:t>
            </a:r>
          </a:p>
        </p:txBody>
      </p:sp>
      <p:sp>
        <p:nvSpPr>
          <p:cNvPr id="22" name="">
            <a:extLst xmlns:a="http://schemas.openxmlformats.org/drawingml/2006/main">
              <a:ext uri="{FF2B5EF4-FFF2-40B4-BE49-F238E27FC236}">
                <a16:creationId xmlns:a16="http://schemas.microsoft.com/office/drawing/2014/main" id="{C4FAAD7F-DB1B-4EC5-AA68-98DACE07579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7242887"/>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38C27F-0236-4028-866D-FF78BC40B9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C817C3-3E5A-4043-B520-37EBE1805C6A}"/>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5562E3-A1F5-4F2D-B54A-0179DDB680D8}"/>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64785E"/>
                </a:solidFill>
                <a:latin typeface="Aptos"/>
                <a:ea typeface="Aptos"/>
                <a:cs typeface="Aptos"/>
              </a:defRPr>
            </a:pPr>
            <a:r>
              <a:rPr sz="900" b="1">
                <a:solidFill>
                  <a:srgbClr val="64785E"/>
                </a:solidFill>
                <a:latin typeface="Aptos"/>
                <a:ea typeface="Aptos"/>
                <a:cs typeface="Aptos"/>
              </a:rPr>
              <a:t>CONTRIBUTION</a:t>
            </a:r>
          </a:p>
        </p:txBody>
      </p:sp>
      <p:sp>
        <p:nvSpPr>
          <p:cNvPr id="4" name="">
            <a:extLst xmlns:a="http://schemas.openxmlformats.org/drawingml/2006/main">
              <a:ext uri="{FF2B5EF4-FFF2-40B4-BE49-F238E27FC236}">
                <a16:creationId xmlns:a16="http://schemas.microsoft.com/office/drawing/2014/main" id="{86848DC4-3805-470F-972E-B6D91EB816ED}"/>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34</a:t>
            </a:r>
          </a:p>
        </p:txBody>
      </p:sp>
      <p:sp>
        <p:nvSpPr>
          <p:cNvPr id="5" name="">
            <a:extLst xmlns:a="http://schemas.openxmlformats.org/drawingml/2006/main">
              <a:ext uri="{FF2B5EF4-FFF2-40B4-BE49-F238E27FC236}">
                <a16:creationId xmlns:a16="http://schemas.microsoft.com/office/drawing/2014/main" id="{9336B8ED-8BD8-425A-94ED-D41D1BA88BF0}"/>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contribution includes honest evaluation categories</a:t>
            </a:r>
          </a:p>
        </p:txBody>
      </p:sp>
      <p:sp>
        <p:nvSpPr>
          <p:cNvPr id="6" name="">
            <a:extLst xmlns:a="http://schemas.openxmlformats.org/drawingml/2006/main">
              <a:ext uri="{FF2B5EF4-FFF2-40B4-BE49-F238E27FC236}">
                <a16:creationId xmlns:a16="http://schemas.microsoft.com/office/drawing/2014/main" id="{B378BF91-AB91-4C20-8D83-49EDDAED346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0FB344-EF96-4135-B599-2A63F6A92D19}"/>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5EAAF7F-B5D9-41E0-ACA0-C95631C31155}"/>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9BF3F4D3-7A97-4BBB-8294-CF54708AF9B4}"/>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2238B6-E2BA-4999-9DD1-D7C0AA4E2A11}"/>
              </a:ext>
            </a:extLst>
          </p:cNvPr>
          <p:cNvSpPr>
            <a:spLocks xmlns:a="http://schemas.openxmlformats.org/drawingml/2006/main" noGrp="1"/>
          </p:cNvSpPr>
          <p:nvPr/>
        </p:nvSpPr>
        <p:spPr>
          <a:xfrm xmlns:a="http://schemas.openxmlformats.org/drawingml/2006/main">
            <a:off x="1028700" y="2038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Controlled fixtures.</a:t>
            </a:r>
          </a:p>
        </p:txBody>
      </p:sp>
      <p:sp>
        <p:nvSpPr>
          <p:cNvPr id="11" name="">
            <a:extLst xmlns:a="http://schemas.openxmlformats.org/drawingml/2006/main">
              <a:ext uri="{FF2B5EF4-FFF2-40B4-BE49-F238E27FC236}">
                <a16:creationId xmlns:a16="http://schemas.microsoft.com/office/drawing/2014/main" id="{AEC748B8-7467-4C7D-870C-31EA8C90FAF6}"/>
              </a:ext>
            </a:extLst>
          </p:cNvPr>
          <p:cNvSpPr>
            <a:spLocks xmlns:a="http://schemas.openxmlformats.org/drawingml/2006/main" noGrp="1"/>
          </p:cNvSpPr>
          <p:nvPr/>
        </p:nvSpPr>
        <p:spPr>
          <a:xfrm xmlns:a="http://schemas.openxmlformats.org/drawingml/2006/main">
            <a:off x="857250" y="2581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F03115-4D36-4559-B948-69D6AF7BA188}"/>
              </a:ext>
            </a:extLst>
          </p:cNvPr>
          <p:cNvSpPr>
            <a:spLocks xmlns:a="http://schemas.openxmlformats.org/drawingml/2006/main" noGrp="1"/>
          </p:cNvSpPr>
          <p:nvPr/>
        </p:nvSpPr>
        <p:spPr>
          <a:xfrm xmlns:a="http://schemas.openxmlformats.org/drawingml/2006/main">
            <a:off x="1028700" y="2514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Clean source-validated real APKs.</a:t>
            </a:r>
          </a:p>
        </p:txBody>
      </p:sp>
      <p:sp>
        <p:nvSpPr>
          <p:cNvPr id="13" name="">
            <a:extLst xmlns:a="http://schemas.openxmlformats.org/drawingml/2006/main">
              <a:ext uri="{FF2B5EF4-FFF2-40B4-BE49-F238E27FC236}">
                <a16:creationId xmlns:a16="http://schemas.microsoft.com/office/drawing/2014/main" id="{B85AC5FA-D510-47AB-B5AA-D98153519530}"/>
              </a:ext>
            </a:extLst>
          </p:cNvPr>
          <p:cNvSpPr>
            <a:spLocks xmlns:a="http://schemas.openxmlformats.org/drawingml/2006/main" noGrp="1"/>
          </p:cNvSpPr>
          <p:nvPr/>
        </p:nvSpPr>
        <p:spPr>
          <a:xfrm xmlns:a="http://schemas.openxmlformats.org/drawingml/2006/main">
            <a:off x="857250" y="3057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EE0ABB-CB2C-4328-ACE3-CE8929AFEEBB}"/>
              </a:ext>
            </a:extLst>
          </p:cNvPr>
          <p:cNvSpPr>
            <a:spLocks xmlns:a="http://schemas.openxmlformats.org/drawingml/2006/main" noGrp="1"/>
          </p:cNvSpPr>
          <p:nvPr/>
        </p:nvSpPr>
        <p:spPr>
          <a:xfrm xmlns:a="http://schemas.openxmlformats.org/drawingml/2006/main">
            <a:off x="1028700" y="2990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Partial source-validated real APKs.</a:t>
            </a:r>
          </a:p>
        </p:txBody>
      </p:sp>
      <p:sp>
        <p:nvSpPr>
          <p:cNvPr id="15" name="">
            <a:extLst xmlns:a="http://schemas.openxmlformats.org/drawingml/2006/main">
              <a:ext uri="{FF2B5EF4-FFF2-40B4-BE49-F238E27FC236}">
                <a16:creationId xmlns:a16="http://schemas.microsoft.com/office/drawing/2014/main" id="{425B2B94-EA62-4908-9B2E-D11BC9A79EDA}"/>
              </a:ext>
            </a:extLst>
          </p:cNvPr>
          <p:cNvSpPr>
            <a:spLocks xmlns:a="http://schemas.openxmlformats.org/drawingml/2006/main" noGrp="1"/>
          </p:cNvSpPr>
          <p:nvPr/>
        </p:nvSpPr>
        <p:spPr>
          <a:xfrm xmlns:a="http://schemas.openxmlformats.org/drawingml/2006/main">
            <a:off x="857250" y="3533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91FAC32-24D0-41AB-BB5F-C20081310F2D}"/>
              </a:ext>
            </a:extLst>
          </p:cNvPr>
          <p:cNvSpPr>
            <a:spLocks xmlns:a="http://schemas.openxmlformats.org/drawingml/2006/main" noGrp="1"/>
          </p:cNvSpPr>
          <p:nvPr/>
        </p:nvSpPr>
        <p:spPr>
          <a:xfrm xmlns:a="http://schemas.openxmlformats.org/drawingml/2006/main">
            <a:off x="1028700" y="34671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No-Maven-signal controls.</a:t>
            </a:r>
          </a:p>
        </p:txBody>
      </p:sp>
      <p:sp>
        <p:nvSpPr>
          <p:cNvPr id="17" name="">
            <a:extLst xmlns:a="http://schemas.openxmlformats.org/drawingml/2006/main">
              <a:ext uri="{FF2B5EF4-FFF2-40B4-BE49-F238E27FC236}">
                <a16:creationId xmlns:a16="http://schemas.microsoft.com/office/drawing/2014/main" id="{75F3BEA8-4CF6-483D-9D4D-477AAFCA64BD}"/>
              </a:ext>
            </a:extLst>
          </p:cNvPr>
          <p:cNvSpPr>
            <a:spLocks xmlns:a="http://schemas.openxmlformats.org/drawingml/2006/main" noGrp="1"/>
          </p:cNvSpPr>
          <p:nvPr/>
        </p:nvSpPr>
        <p:spPr>
          <a:xfrm xmlns:a="http://schemas.openxmlformats.org/drawingml/2006/main">
            <a:off x="857250" y="4010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41AE950-1D52-4939-8CEA-78247B4B5381}"/>
              </a:ext>
            </a:extLst>
          </p:cNvPr>
          <p:cNvSpPr>
            <a:spLocks xmlns:a="http://schemas.openxmlformats.org/drawingml/2006/main" noGrp="1"/>
          </p:cNvSpPr>
          <p:nvPr/>
        </p:nvSpPr>
        <p:spPr>
          <a:xfrm xmlns:a="http://schemas.openxmlformats.org/drawingml/2006/main">
            <a:off x="1028700" y="3943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Source-known upper-bound lane.</a:t>
            </a:r>
          </a:p>
        </p:txBody>
      </p:sp>
      <p:sp>
        <p:nvSpPr>
          <p:cNvPr id="19" name="">
            <a:extLst xmlns:a="http://schemas.openxmlformats.org/drawingml/2006/main">
              <a:ext uri="{FF2B5EF4-FFF2-40B4-BE49-F238E27FC236}">
                <a16:creationId xmlns:a16="http://schemas.microsoft.com/office/drawing/2014/main" id="{6ADE6C46-DCB5-4FA9-9AE2-F9D04486FA5C}"/>
              </a:ext>
            </a:extLst>
          </p:cNvPr>
          <p:cNvSpPr>
            <a:spLocks xmlns:a="http://schemas.openxmlformats.org/drawingml/2006/main" noGrp="1"/>
          </p:cNvSpPr>
          <p:nvPr/>
        </p:nvSpPr>
        <p:spPr>
          <a:xfrm xmlns:a="http://schemas.openxmlformats.org/drawingml/2006/main">
            <a:off x="857250" y="4486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B1CB1FC-7C69-43DC-922A-A46F740A9802}"/>
              </a:ext>
            </a:extLst>
          </p:cNvPr>
          <p:cNvSpPr>
            <a:spLocks xmlns:a="http://schemas.openxmlformats.org/drawingml/2006/main" noGrp="1"/>
          </p:cNvSpPr>
          <p:nvPr/>
        </p:nvSpPr>
        <p:spPr>
          <a:xfrm xmlns:a="http://schemas.openxmlformats.org/drawingml/2006/main">
            <a:off x="1028700" y="4419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Limitation and boundary cases.</a:t>
            </a:r>
          </a:p>
        </p:txBody>
      </p:sp>
      <p:sp>
        <p:nvSpPr>
          <p:cNvPr id="21" name="">
            <a:extLst xmlns:a="http://schemas.openxmlformats.org/drawingml/2006/main">
              <a:ext uri="{FF2B5EF4-FFF2-40B4-BE49-F238E27FC236}">
                <a16:creationId xmlns:a16="http://schemas.microsoft.com/office/drawing/2014/main" id="{E02F00AC-AF46-4B5F-AEEF-0670A443E38A}"/>
              </a:ext>
            </a:extLst>
          </p:cNvPr>
          <p:cNvSpPr>
            <a:spLocks xmlns:a="http://schemas.openxmlformats.org/drawingml/2006/main" noGrp="1"/>
          </p:cNvSpPr>
          <p:nvPr/>
        </p:nvSpPr>
        <p:spPr>
          <a:xfrm xmlns:a="http://schemas.openxmlformats.org/drawingml/2006/main">
            <a:off x="857250" y="4962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13C8B2B-6F50-4E14-B2C1-3E37F2EA74B0}"/>
              </a:ext>
            </a:extLst>
          </p:cNvPr>
          <p:cNvSpPr>
            <a:spLocks xmlns:a="http://schemas.openxmlformats.org/drawingml/2006/main" noGrp="1"/>
          </p:cNvSpPr>
          <p:nvPr/>
        </p:nvSpPr>
        <p:spPr>
          <a:xfrm xmlns:a="http://schemas.openxmlformats.org/drawingml/2006/main">
            <a:off x="1028700" y="4895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Report-only experiments.</a:t>
            </a:r>
          </a:p>
        </p:txBody>
      </p:sp>
      <p:sp>
        <p:nvSpPr>
          <p:cNvPr id="23" name="">
            <a:extLst xmlns:a="http://schemas.openxmlformats.org/drawingml/2006/main">
              <a:ext uri="{FF2B5EF4-FFF2-40B4-BE49-F238E27FC236}">
                <a16:creationId xmlns:a16="http://schemas.microsoft.com/office/drawing/2014/main" id="{68605C82-77FC-46F6-8EE6-68A8789725F4}"/>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8619D881-DD96-48EB-BCFB-95393E7CD252}"/>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4785E"/>
                </a:solidFill>
                <a:latin typeface="Aptos"/>
                <a:ea typeface="Aptos"/>
                <a:cs typeface="Aptos"/>
              </a:defRPr>
            </a:pPr>
            <a:r>
              <a:rPr sz="1125" b="1">
                <a:solidFill>
                  <a:srgbClr val="64785E"/>
                </a:solidFill>
                <a:latin typeface="Aptos"/>
                <a:ea typeface="Aptos"/>
                <a:cs typeface="Aptos"/>
              </a:rPr>
              <a:t>Visual plan</a:t>
            </a:r>
          </a:p>
        </p:txBody>
      </p:sp>
      <p:sp>
        <p:nvSpPr>
          <p:cNvPr id="25" name="">
            <a:extLst xmlns:a="http://schemas.openxmlformats.org/drawingml/2006/main">
              <a:ext uri="{FF2B5EF4-FFF2-40B4-BE49-F238E27FC236}">
                <a16:creationId xmlns:a16="http://schemas.microsoft.com/office/drawing/2014/main" id="{648ECB36-5497-4B57-8D90-6273CD815A0C}"/>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DF2E9"/>
          </a:solidFill>
          <a:ln xmlns:a="http://schemas.openxmlformats.org/drawingml/2006/main" w="9525">
            <a:solidFill>
              <a:srgbClr val="64785E"/>
            </a:solidFill>
            <a:prstDash val="solid"/>
          </a:ln>
        </p:spPr>
      </p:sp>
      <p:sp>
        <p:nvSpPr>
          <p:cNvPr id="26" name="">
            <a:extLst xmlns:a="http://schemas.openxmlformats.org/drawingml/2006/main">
              <a:ext uri="{FF2B5EF4-FFF2-40B4-BE49-F238E27FC236}">
                <a16:creationId xmlns:a16="http://schemas.microsoft.com/office/drawing/2014/main" id="{E1F330F1-8C4B-4C87-998D-F7B10C229DB5}"/>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Evaluation layer pyramid.</a:t>
            </a:r>
          </a:p>
        </p:txBody>
      </p:sp>
      <p:sp>
        <p:nvSpPr>
          <p:cNvPr id="27" name="">
            <a:extLst xmlns:a="http://schemas.openxmlformats.org/drawingml/2006/main">
              <a:ext uri="{FF2B5EF4-FFF2-40B4-BE49-F238E27FC236}">
                <a16:creationId xmlns:a16="http://schemas.microsoft.com/office/drawing/2014/main" id="{F021EB04-5D76-42BC-9DD7-BDE141E174EB}"/>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Bridge to implementation and evaluation.</a:t>
            </a:r>
          </a:p>
        </p:txBody>
      </p:sp>
      <p:sp>
        <p:nvSpPr>
          <p:cNvPr id="28" name="">
            <a:extLst xmlns:a="http://schemas.openxmlformats.org/drawingml/2006/main">
              <a:ext uri="{FF2B5EF4-FFF2-40B4-BE49-F238E27FC236}">
                <a16:creationId xmlns:a16="http://schemas.microsoft.com/office/drawing/2014/main" id="{6AF92EC2-C163-401E-A1FE-82D5A442BD18}"/>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79515316"/>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0DCCBE-EEAF-4816-89BA-06B42363EE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AAE8C19-127B-40AB-8E36-55BD51903A9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B7A611-7719-4120-82E8-B77C556A19E2}"/>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0FA2F347-F0B1-48A0-8B1F-E4F72A3C3735}"/>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35</a:t>
            </a:r>
          </a:p>
        </p:txBody>
      </p:sp>
      <p:sp>
        <p:nvSpPr>
          <p:cNvPr id="5" name="">
            <a:extLst xmlns:a="http://schemas.openxmlformats.org/drawingml/2006/main">
              <a:ext uri="{FF2B5EF4-FFF2-40B4-BE49-F238E27FC236}">
                <a16:creationId xmlns:a16="http://schemas.microsoft.com/office/drawing/2014/main" id="{18F83465-07DB-4CF3-B4C6-8AA7D5AC249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Engineering thesis implements the full pipeline</a:t>
            </a:r>
          </a:p>
        </p:txBody>
      </p:sp>
      <p:sp>
        <p:nvSpPr>
          <p:cNvPr id="6" name="">
            <a:extLst xmlns:a="http://schemas.openxmlformats.org/drawingml/2006/main">
              <a:ext uri="{FF2B5EF4-FFF2-40B4-BE49-F238E27FC236}">
                <a16:creationId xmlns:a16="http://schemas.microsoft.com/office/drawing/2014/main" id="{D5F160AD-C952-4575-ACB7-9CE8483D093B}"/>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709BDA6-2379-495E-A87F-17CABB029B91}"/>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502C1D6-CCD2-4BEF-8C57-BF23C64E0490}"/>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653E05DC-606E-493B-BD65-39126C43F3DD}"/>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217511-7EEE-4899-9F4D-A382028116A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Input: compiled Android APK.</a:t>
            </a:r>
          </a:p>
        </p:txBody>
      </p:sp>
      <p:sp>
        <p:nvSpPr>
          <p:cNvPr id="11" name="">
            <a:extLst xmlns:a="http://schemas.openxmlformats.org/drawingml/2006/main">
              <a:ext uri="{FF2B5EF4-FFF2-40B4-BE49-F238E27FC236}">
                <a16:creationId xmlns:a16="http://schemas.microsoft.com/office/drawing/2014/main" id="{EF95FB7F-BE25-4C65-A4EF-E21CBF275E0A}"/>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71C4A8-CB1A-4EE8-A28B-54ED1121825D}"/>
              </a:ext>
            </a:extLst>
          </p:cNvPr>
          <p:cNvSpPr>
            <a:spLocks xmlns:a="http://schemas.openxmlformats.org/drawingml/2006/main" noGrp="1"/>
          </p:cNvSpPr>
          <p:nvPr/>
        </p:nvSpPr>
        <p:spPr>
          <a:xfrm xmlns:a="http://schemas.openxmlformats.org/drawingml/2006/main">
            <a:off x="1028700" y="31432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Core: extractor, DEX analyzer, reference database, matcher, SBOM generator, vulnerability layer, report generator.</a:t>
            </a:r>
          </a:p>
        </p:txBody>
      </p:sp>
      <p:sp>
        <p:nvSpPr>
          <p:cNvPr id="13" name="">
            <a:extLst xmlns:a="http://schemas.openxmlformats.org/drawingml/2006/main">
              <a:ext uri="{FF2B5EF4-FFF2-40B4-BE49-F238E27FC236}">
                <a16:creationId xmlns:a16="http://schemas.microsoft.com/office/drawing/2014/main" id="{42293181-F472-40F9-96DE-D0C8A2A6D8A6}"/>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D3DBE4-F61A-4D31-8C54-BFD9AFB520E4}"/>
              </a:ext>
            </a:extLst>
          </p:cNvPr>
          <p:cNvSpPr>
            <a:spLocks xmlns:a="http://schemas.openxmlformats.org/drawingml/2006/main" noGrp="1"/>
          </p:cNvSpPr>
          <p:nvPr/>
        </p:nvSpPr>
        <p:spPr>
          <a:xfrm xmlns:a="http://schemas.openxmlformats.org/drawingml/2006/main">
            <a:off x="1028700" y="42481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Output: JSON, Markdown, HTML, CycloneDX, and OSV artifacts.</a:t>
            </a:r>
          </a:p>
        </p:txBody>
      </p:sp>
      <p:sp>
        <p:nvSpPr>
          <p:cNvPr id="15" name="">
            <a:extLst xmlns:a="http://schemas.openxmlformats.org/drawingml/2006/main">
              <a:ext uri="{FF2B5EF4-FFF2-40B4-BE49-F238E27FC236}">
                <a16:creationId xmlns:a16="http://schemas.microsoft.com/office/drawing/2014/main" id="{87601D33-0997-4E23-B0A3-665312018A89}"/>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6" name="">
            <a:extLst xmlns:a="http://schemas.openxmlformats.org/drawingml/2006/main">
              <a:ext uri="{FF2B5EF4-FFF2-40B4-BE49-F238E27FC236}">
                <a16:creationId xmlns:a16="http://schemas.microsoft.com/office/drawing/2014/main" id="{02DC92C2-2900-4CA4-B0F3-938153FEE214}"/>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7" name="">
            <a:extLst xmlns:a="http://schemas.openxmlformats.org/drawingml/2006/main">
              <a:ext uri="{FF2B5EF4-FFF2-40B4-BE49-F238E27FC236}">
                <a16:creationId xmlns:a16="http://schemas.microsoft.com/office/drawing/2014/main" id="{70E4B5DF-835B-4DEC-9493-219BB4607A52}"/>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8" name="">
            <a:extLst xmlns:a="http://schemas.openxmlformats.org/drawingml/2006/main">
              <a:ext uri="{FF2B5EF4-FFF2-40B4-BE49-F238E27FC236}">
                <a16:creationId xmlns:a16="http://schemas.microsoft.com/office/drawing/2014/main" id="{A03146C4-CC13-4900-9A62-E51049C49D21}"/>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19" name="">
            <a:extLst xmlns:a="http://schemas.openxmlformats.org/drawingml/2006/main">
              <a:ext uri="{FF2B5EF4-FFF2-40B4-BE49-F238E27FC236}">
                <a16:creationId xmlns:a16="http://schemas.microsoft.com/office/drawing/2014/main" id="{09C5F0C8-EE01-42AF-A345-5AED7323FBD9}"/>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CECC6D7-532D-42E0-A4D4-5781AD221E03}"/>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1" name="">
            <a:extLst xmlns:a="http://schemas.openxmlformats.org/drawingml/2006/main">
              <a:ext uri="{FF2B5EF4-FFF2-40B4-BE49-F238E27FC236}">
                <a16:creationId xmlns:a16="http://schemas.microsoft.com/office/drawing/2014/main" id="{1A440B9D-3E1C-43DF-AFE1-95689E146F20}"/>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2" name="">
            <a:extLst xmlns:a="http://schemas.openxmlformats.org/drawingml/2006/main">
              <a:ext uri="{FF2B5EF4-FFF2-40B4-BE49-F238E27FC236}">
                <a16:creationId xmlns:a16="http://schemas.microsoft.com/office/drawing/2014/main" id="{BAB5E10B-1F5D-4EF2-BEE2-E75236FF15B1}"/>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DE40465-C4FF-40CF-84D8-0125451DC9A6}"/>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4" name="">
            <a:extLst xmlns:a="http://schemas.openxmlformats.org/drawingml/2006/main">
              <a:ext uri="{FF2B5EF4-FFF2-40B4-BE49-F238E27FC236}">
                <a16:creationId xmlns:a16="http://schemas.microsoft.com/office/drawing/2014/main" id="{D003FD85-260E-49A0-87C0-6F6C5F4A71DB}"/>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5" name="">
            <a:extLst xmlns:a="http://schemas.openxmlformats.org/drawingml/2006/main">
              <a:ext uri="{FF2B5EF4-FFF2-40B4-BE49-F238E27FC236}">
                <a16:creationId xmlns:a16="http://schemas.microsoft.com/office/drawing/2014/main" id="{531B1308-9EC8-4692-8393-B89049A01E13}"/>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15D67B9-CEF4-49A5-BAD0-1969B4A36C0D}"/>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7" name="">
            <a:extLst xmlns:a="http://schemas.openxmlformats.org/drawingml/2006/main">
              <a:ext uri="{FF2B5EF4-FFF2-40B4-BE49-F238E27FC236}">
                <a16:creationId xmlns:a16="http://schemas.microsoft.com/office/drawing/2014/main" id="{74C7AAA3-4A00-4388-B822-5A9D270B279A}"/>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28" name="">
            <a:extLst xmlns:a="http://schemas.openxmlformats.org/drawingml/2006/main">
              <a:ext uri="{FF2B5EF4-FFF2-40B4-BE49-F238E27FC236}">
                <a16:creationId xmlns:a16="http://schemas.microsoft.com/office/drawing/2014/main" id="{8A86EC51-826B-44E3-96A9-EB04B42FB0C1}"/>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D0AE61D-07CE-4C7F-A2CA-2AB15CEA2E9D}"/>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0" name="">
            <a:extLst xmlns:a="http://schemas.openxmlformats.org/drawingml/2006/main">
              <a:ext uri="{FF2B5EF4-FFF2-40B4-BE49-F238E27FC236}">
                <a16:creationId xmlns:a16="http://schemas.microsoft.com/office/drawing/2014/main" id="{5E974598-F793-4EEC-BBEE-F4DA208489D7}"/>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1" name="">
            <a:extLst xmlns:a="http://schemas.openxmlformats.org/drawingml/2006/main">
              <a:ext uri="{FF2B5EF4-FFF2-40B4-BE49-F238E27FC236}">
                <a16:creationId xmlns:a16="http://schemas.microsoft.com/office/drawing/2014/main" id="{2F65F340-9912-4377-8543-C55F972E842F}"/>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Open implementation section.</a:t>
            </a:r>
          </a:p>
        </p:txBody>
      </p:sp>
      <p:sp>
        <p:nvSpPr>
          <p:cNvPr id="32" name="">
            <a:extLst xmlns:a="http://schemas.openxmlformats.org/drawingml/2006/main">
              <a:ext uri="{FF2B5EF4-FFF2-40B4-BE49-F238E27FC236}">
                <a16:creationId xmlns:a16="http://schemas.microsoft.com/office/drawing/2014/main" id="{5F552D62-FEE1-43D1-A76B-2905A16598C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666044849"/>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6041F1D-DBBF-4ED5-BBA9-3B6A6AB875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2AB612-D4D1-458E-B641-F1774DABA57C}"/>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BC4C907-C12D-4181-B703-EA504C6B47F3}"/>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2FA9B115-BDC1-48D8-B591-4A859B0EE0F9}"/>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36</a:t>
            </a:r>
          </a:p>
        </p:txBody>
      </p:sp>
      <p:sp>
        <p:nvSpPr>
          <p:cNvPr id="5" name="">
            <a:extLst xmlns:a="http://schemas.openxmlformats.org/drawingml/2006/main">
              <a:ext uri="{FF2B5EF4-FFF2-40B4-BE49-F238E27FC236}">
                <a16:creationId xmlns:a16="http://schemas.microsoft.com/office/drawing/2014/main" id="{6AD68A74-1FED-4B44-987B-EC0676B0D9EA}"/>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APK inspection records what is actually present</a:t>
            </a:r>
          </a:p>
        </p:txBody>
      </p:sp>
      <p:sp>
        <p:nvSpPr>
          <p:cNvPr id="6" name="">
            <a:extLst xmlns:a="http://schemas.openxmlformats.org/drawingml/2006/main">
              <a:ext uri="{FF2B5EF4-FFF2-40B4-BE49-F238E27FC236}">
                <a16:creationId xmlns:a16="http://schemas.microsoft.com/office/drawing/2014/main" id="{D4CDCC88-DF36-449C-BA39-149EF4B3A9D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C23402F-9D52-4079-BA14-08DC34F66AFC}"/>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B10882F3-02A3-44FF-B404-87E1A77458FC}"/>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8E868BE9-86FC-4127-9168-0BCCF395FA99}"/>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43FC38-4B2F-428B-A68A-0C7F3E071589}"/>
              </a:ext>
            </a:extLst>
          </p:cNvPr>
          <p:cNvSpPr>
            <a:spLocks xmlns:a="http://schemas.openxmlformats.org/drawingml/2006/main" noGrp="1"/>
          </p:cNvSpPr>
          <p:nvPr/>
        </p:nvSpPr>
        <p:spPr>
          <a:xfrm xmlns:a="http://schemas.openxmlformats.org/drawingml/2006/main">
            <a:off x="1028700" y="20383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ZIP entry inventory.</a:t>
            </a:r>
          </a:p>
        </p:txBody>
      </p:sp>
      <p:sp>
        <p:nvSpPr>
          <p:cNvPr id="11" name="">
            <a:extLst xmlns:a="http://schemas.openxmlformats.org/drawingml/2006/main">
              <a:ext uri="{FF2B5EF4-FFF2-40B4-BE49-F238E27FC236}">
                <a16:creationId xmlns:a16="http://schemas.microsoft.com/office/drawing/2014/main" id="{324D297D-9B2E-4A84-B0BF-E85A26A69D86}"/>
              </a:ext>
            </a:extLst>
          </p:cNvPr>
          <p:cNvSpPr>
            <a:spLocks xmlns:a="http://schemas.openxmlformats.org/drawingml/2006/main" noGrp="1"/>
          </p:cNvSpPr>
          <p:nvPr/>
        </p:nvSpPr>
        <p:spPr>
          <a:xfrm xmlns:a="http://schemas.openxmlformats.org/drawingml/2006/main">
            <a:off x="857250" y="2657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12AF62-D107-4C9A-AF9D-89182F7E10D6}"/>
              </a:ext>
            </a:extLst>
          </p:cNvPr>
          <p:cNvSpPr>
            <a:spLocks xmlns:a="http://schemas.openxmlformats.org/drawingml/2006/main" noGrp="1"/>
          </p:cNvSpPr>
          <p:nvPr/>
        </p:nvSpPr>
        <p:spPr>
          <a:xfrm xmlns:a="http://schemas.openxmlformats.org/drawingml/2006/main">
            <a:off x="1028700" y="25908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Manifest metadata.</a:t>
            </a:r>
          </a:p>
        </p:txBody>
      </p:sp>
      <p:sp>
        <p:nvSpPr>
          <p:cNvPr id="13" name="">
            <a:extLst xmlns:a="http://schemas.openxmlformats.org/drawingml/2006/main">
              <a:ext uri="{FF2B5EF4-FFF2-40B4-BE49-F238E27FC236}">
                <a16:creationId xmlns:a16="http://schemas.microsoft.com/office/drawing/2014/main" id="{70B7EDF6-19DB-493C-BC19-9DB6AD95EDFA}"/>
              </a:ext>
            </a:extLst>
          </p:cNvPr>
          <p:cNvSpPr>
            <a:spLocks xmlns:a="http://schemas.openxmlformats.org/drawingml/2006/main" noGrp="1"/>
          </p:cNvSpPr>
          <p:nvPr/>
        </p:nvSpPr>
        <p:spPr>
          <a:xfrm xmlns:a="http://schemas.openxmlformats.org/drawingml/2006/main">
            <a:off x="857250" y="3209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FEE531A-B17C-4547-8F1D-5846B4627352}"/>
              </a:ext>
            </a:extLst>
          </p:cNvPr>
          <p:cNvSpPr>
            <a:spLocks xmlns:a="http://schemas.openxmlformats.org/drawingml/2006/main" noGrp="1"/>
          </p:cNvSpPr>
          <p:nvPr/>
        </p:nvSpPr>
        <p:spPr>
          <a:xfrm xmlns:a="http://schemas.openxmlformats.org/drawingml/2006/main">
            <a:off x="1028700" y="31432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DEX file discovery.</a:t>
            </a:r>
          </a:p>
        </p:txBody>
      </p:sp>
      <p:sp>
        <p:nvSpPr>
          <p:cNvPr id="15" name="">
            <a:extLst xmlns:a="http://schemas.openxmlformats.org/drawingml/2006/main">
              <a:ext uri="{FF2B5EF4-FFF2-40B4-BE49-F238E27FC236}">
                <a16:creationId xmlns:a16="http://schemas.microsoft.com/office/drawing/2014/main" id="{1001ABE6-7BB9-4219-9AB6-F87F860DAE54}"/>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009858-5BC8-4FC8-B81F-815FA4BF19F5}"/>
              </a:ext>
            </a:extLst>
          </p:cNvPr>
          <p:cNvSpPr>
            <a:spLocks xmlns:a="http://schemas.openxmlformats.org/drawingml/2006/main" noGrp="1"/>
          </p:cNvSpPr>
          <p:nvPr/>
        </p:nvSpPr>
        <p:spPr>
          <a:xfrm xmlns:a="http://schemas.openxmlformats.org/drawingml/2006/main">
            <a:off x="1028700" y="36957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Native file inventory and hashes.</a:t>
            </a:r>
          </a:p>
        </p:txBody>
      </p:sp>
      <p:sp>
        <p:nvSpPr>
          <p:cNvPr id="17" name="">
            <a:extLst xmlns:a="http://schemas.openxmlformats.org/drawingml/2006/main">
              <a:ext uri="{FF2B5EF4-FFF2-40B4-BE49-F238E27FC236}">
                <a16:creationId xmlns:a16="http://schemas.microsoft.com/office/drawing/2014/main" id="{63704C74-DBA8-44AB-877C-265A54EB3922}"/>
              </a:ext>
            </a:extLst>
          </p:cNvPr>
          <p:cNvSpPr>
            <a:spLocks xmlns:a="http://schemas.openxmlformats.org/drawingml/2006/main" noGrp="1"/>
          </p:cNvSpPr>
          <p:nvPr/>
        </p:nvSpPr>
        <p:spPr>
          <a:xfrm xmlns:a="http://schemas.openxmlformats.org/drawingml/2006/main">
            <a:off x="857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5F84551-2269-4980-9750-3291681CF821}"/>
              </a:ext>
            </a:extLst>
          </p:cNvPr>
          <p:cNvSpPr>
            <a:spLocks xmlns:a="http://schemas.openxmlformats.org/drawingml/2006/main" noGrp="1"/>
          </p:cNvSpPr>
          <p:nvPr/>
        </p:nvSpPr>
        <p:spPr>
          <a:xfrm xmlns:a="http://schemas.openxmlformats.org/drawingml/2006/main">
            <a:off x="1028700" y="424815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Resource and asset observations.</a:t>
            </a:r>
          </a:p>
        </p:txBody>
      </p:sp>
      <p:sp>
        <p:nvSpPr>
          <p:cNvPr id="19" name="">
            <a:extLst xmlns:a="http://schemas.openxmlformats.org/drawingml/2006/main">
              <a:ext uri="{FF2B5EF4-FFF2-40B4-BE49-F238E27FC236}">
                <a16:creationId xmlns:a16="http://schemas.microsoft.com/office/drawing/2014/main" id="{EE880EF0-9FF8-42C3-A29E-56AF81385699}"/>
              </a:ext>
            </a:extLst>
          </p:cNvPr>
          <p:cNvSpPr>
            <a:spLocks xmlns:a="http://schemas.openxmlformats.org/drawingml/2006/main" noGrp="1"/>
          </p:cNvSpPr>
          <p:nvPr/>
        </p:nvSpPr>
        <p:spPr>
          <a:xfrm xmlns:a="http://schemas.openxmlformats.org/drawingml/2006/main">
            <a:off x="857250" y="4867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066C7E-DA01-4720-B507-B3BA0FA36079}"/>
              </a:ext>
            </a:extLst>
          </p:cNvPr>
          <p:cNvSpPr>
            <a:spLocks xmlns:a="http://schemas.openxmlformats.org/drawingml/2006/main" noGrp="1"/>
          </p:cNvSpPr>
          <p:nvPr/>
        </p:nvSpPr>
        <p:spPr>
          <a:xfrm xmlns:a="http://schemas.openxmlformats.org/drawingml/2006/main">
            <a:off x="1028700" y="4800600"/>
            <a:ext cx="4819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Forensic indicators for nonstandard or hidden code.</a:t>
            </a:r>
          </a:p>
        </p:txBody>
      </p:sp>
      <p:sp>
        <p:nvSpPr>
          <p:cNvPr id="21" name="">
            <a:extLst xmlns:a="http://schemas.openxmlformats.org/drawingml/2006/main">
              <a:ext uri="{FF2B5EF4-FFF2-40B4-BE49-F238E27FC236}">
                <a16:creationId xmlns:a16="http://schemas.microsoft.com/office/drawing/2014/main" id="{AE3B1E9C-EFD7-44AD-8500-2E7D742DFE89}"/>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A83636EE-2964-4C22-B38E-1D2234030223}"/>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3" name="">
            <a:extLst xmlns:a="http://schemas.openxmlformats.org/drawingml/2006/main">
              <a:ext uri="{FF2B5EF4-FFF2-40B4-BE49-F238E27FC236}">
                <a16:creationId xmlns:a16="http://schemas.microsoft.com/office/drawing/2014/main" id="{67A96DF8-64A2-45DC-9697-7C5884FEFC6D}"/>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4" name="">
            <a:extLst xmlns:a="http://schemas.openxmlformats.org/drawingml/2006/main">
              <a:ext uri="{FF2B5EF4-FFF2-40B4-BE49-F238E27FC236}">
                <a16:creationId xmlns:a16="http://schemas.microsoft.com/office/drawing/2014/main" id="{8ACC0E0E-7492-4F0A-8719-69BC6C153B54}"/>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5" name="">
            <a:extLst xmlns:a="http://schemas.openxmlformats.org/drawingml/2006/main">
              <a:ext uri="{FF2B5EF4-FFF2-40B4-BE49-F238E27FC236}">
                <a16:creationId xmlns:a16="http://schemas.microsoft.com/office/drawing/2014/main" id="{41549BD4-6C47-4A6C-8C40-0E29C87B72F8}"/>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6C66A2A3-A17C-48E9-AC4E-110769597E0F}"/>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APK evidence inventory table.</a:t>
            </a:r>
          </a:p>
        </p:txBody>
      </p:sp>
      <p:sp>
        <p:nvSpPr>
          <p:cNvPr id="27" name="">
            <a:extLst xmlns:a="http://schemas.openxmlformats.org/drawingml/2006/main">
              <a:ext uri="{FF2B5EF4-FFF2-40B4-BE49-F238E27FC236}">
                <a16:creationId xmlns:a16="http://schemas.microsoft.com/office/drawing/2014/main" id="{E93B2C2A-D918-4D8F-9AE7-C90E3272F92E}"/>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4CB0D033-9B38-4E2B-BA59-3EDB365A9CF8}"/>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9" name="">
            <a:extLst xmlns:a="http://schemas.openxmlformats.org/drawingml/2006/main">
              <a:ext uri="{FF2B5EF4-FFF2-40B4-BE49-F238E27FC236}">
                <a16:creationId xmlns:a16="http://schemas.microsoft.com/office/drawing/2014/main" id="{03EF0519-36C5-4556-B614-45FA463AEE5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extraction.</a:t>
            </a:r>
          </a:p>
        </p:txBody>
      </p:sp>
      <p:sp>
        <p:nvSpPr>
          <p:cNvPr id="30" name="">
            <a:extLst xmlns:a="http://schemas.openxmlformats.org/drawingml/2006/main">
              <a:ext uri="{FF2B5EF4-FFF2-40B4-BE49-F238E27FC236}">
                <a16:creationId xmlns:a16="http://schemas.microsoft.com/office/drawing/2014/main" id="{111D2532-F05D-4B7A-9A97-5A577BD488E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94941442"/>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DD7ED6-F2B5-4175-B186-A9461992A1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03A468-FD25-407B-B7D0-16D14C921BE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BBF803C-324C-440E-A5BC-01D1A8BF78DC}"/>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B7B731DA-4D4A-4823-9A12-EA8A03A62B21}"/>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37</a:t>
            </a:r>
          </a:p>
        </p:txBody>
      </p:sp>
      <p:sp>
        <p:nvSpPr>
          <p:cNvPr id="5" name="">
            <a:extLst xmlns:a="http://schemas.openxmlformats.org/drawingml/2006/main">
              <a:ext uri="{FF2B5EF4-FFF2-40B4-BE49-F238E27FC236}">
                <a16:creationId xmlns:a16="http://schemas.microsoft.com/office/drawing/2014/main" id="{63D9518E-ECF3-4C5E-97D5-03B946A6F45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DEX analysis builds comparable evidence</a:t>
            </a:r>
          </a:p>
        </p:txBody>
      </p:sp>
      <p:sp>
        <p:nvSpPr>
          <p:cNvPr id="6" name="">
            <a:extLst xmlns:a="http://schemas.openxmlformats.org/drawingml/2006/main">
              <a:ext uri="{FF2B5EF4-FFF2-40B4-BE49-F238E27FC236}">
                <a16:creationId xmlns:a16="http://schemas.microsoft.com/office/drawing/2014/main" id="{F4BD7209-D951-4D9D-8A4F-A26D67C3B9D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B0F344E-82E5-4014-B648-E8E7D95438D8}"/>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0BFCAB1-2F47-4D6E-AD21-6783F570562A}"/>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6CE1C67-42CB-4E42-8EDC-EA2F89EAFF66}"/>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58049BC-32D9-41AA-9E49-ADEC1D6BBF3B}"/>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Parse all relevant classes.dex files.</a:t>
            </a:r>
          </a:p>
        </p:txBody>
      </p:sp>
      <p:sp>
        <p:nvSpPr>
          <p:cNvPr id="11" name="">
            <a:extLst xmlns:a="http://schemas.openxmlformats.org/drawingml/2006/main">
              <a:ext uri="{FF2B5EF4-FFF2-40B4-BE49-F238E27FC236}">
                <a16:creationId xmlns:a16="http://schemas.microsoft.com/office/drawing/2014/main" id="{F7C109B4-3C8C-4044-BF98-5A61245A2DC2}"/>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EED9711-5CE0-4E43-B97F-0C3E99DD49F8}"/>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Extract class, method, field, opcode, literal, and API evidence.</a:t>
            </a:r>
          </a:p>
        </p:txBody>
      </p:sp>
      <p:sp>
        <p:nvSpPr>
          <p:cNvPr id="13" name="">
            <a:extLst xmlns:a="http://schemas.openxmlformats.org/drawingml/2006/main">
              <a:ext uri="{FF2B5EF4-FFF2-40B4-BE49-F238E27FC236}">
                <a16:creationId xmlns:a16="http://schemas.microsoft.com/office/drawing/2014/main" id="{D2DB7289-511E-47CA-B59D-D36FE37746E9}"/>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50DB107-C9C6-4C83-92B9-BEB11F056EBA}"/>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Build class dependency relations.</a:t>
            </a:r>
          </a:p>
        </p:txBody>
      </p:sp>
      <p:sp>
        <p:nvSpPr>
          <p:cNvPr id="15" name="">
            <a:extLst xmlns:a="http://schemas.openxmlformats.org/drawingml/2006/main">
              <a:ext uri="{FF2B5EF4-FFF2-40B4-BE49-F238E27FC236}">
                <a16:creationId xmlns:a16="http://schemas.microsoft.com/office/drawing/2014/main" id="{6133B3FD-2B77-42DA-8498-E5D2671E9E30}"/>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FCB9AE-E6AE-4D5C-A117-9C957AFB1124}"/>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Aggregate multi-DEX evidence without losing parse errors.</a:t>
            </a:r>
          </a:p>
        </p:txBody>
      </p:sp>
      <p:sp>
        <p:nvSpPr>
          <p:cNvPr id="17" name="">
            <a:extLst xmlns:a="http://schemas.openxmlformats.org/drawingml/2006/main">
              <a:ext uri="{FF2B5EF4-FFF2-40B4-BE49-F238E27FC236}">
                <a16:creationId xmlns:a16="http://schemas.microsoft.com/office/drawing/2014/main" id="{C2FFEBBE-394A-439E-8047-1B1863E2BB94}"/>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BC2B613C-29EC-4CB6-82CA-8110FF63061A}"/>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FF436E33-15D4-4266-859C-0B7C49C73FC4}"/>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48622156-2EC5-4F2B-8447-D21F48DA0364}"/>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DEX to feature profile diagram.</a:t>
            </a:r>
          </a:p>
        </p:txBody>
      </p:sp>
      <p:sp>
        <p:nvSpPr>
          <p:cNvPr id="21" name="">
            <a:extLst xmlns:a="http://schemas.openxmlformats.org/drawingml/2006/main">
              <a:ext uri="{FF2B5EF4-FFF2-40B4-BE49-F238E27FC236}">
                <a16:creationId xmlns:a16="http://schemas.microsoft.com/office/drawing/2014/main" id="{84A04DA0-EFD2-4BFE-B419-00CABF4479E1}"/>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feature extraction.</a:t>
            </a:r>
          </a:p>
        </p:txBody>
      </p:sp>
      <p:sp>
        <p:nvSpPr>
          <p:cNvPr id="22" name="">
            <a:extLst xmlns:a="http://schemas.openxmlformats.org/drawingml/2006/main">
              <a:ext uri="{FF2B5EF4-FFF2-40B4-BE49-F238E27FC236}">
                <a16:creationId xmlns:a16="http://schemas.microsoft.com/office/drawing/2014/main" id="{AC0FE534-B630-47A8-B200-D5FEA767676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74512000"/>
      </p:ext>
    </p:extLst>
  </p:cSld>
</p:sld>
</file>

<file path=ppt/slides/slide3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7D2246-D575-478F-B56D-01151568BC9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1EEEBC-9D35-41DE-900B-11F11A971BE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D8CA890-F766-4C37-B134-E93A21240B42}"/>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45793FE8-4886-4AB4-A2FB-98AB64A393ED}"/>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38</a:t>
            </a:r>
          </a:p>
        </p:txBody>
      </p:sp>
      <p:sp>
        <p:nvSpPr>
          <p:cNvPr id="5" name="">
            <a:extLst xmlns:a="http://schemas.openxmlformats.org/drawingml/2006/main">
              <a:ext uri="{FF2B5EF4-FFF2-40B4-BE49-F238E27FC236}">
                <a16:creationId xmlns:a16="http://schemas.microsoft.com/office/drawing/2014/main" id="{49850D69-259D-4F25-930D-390A17AF9A9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Maven references are normalized before comparison</a:t>
            </a:r>
          </a:p>
        </p:txBody>
      </p:sp>
      <p:sp>
        <p:nvSpPr>
          <p:cNvPr id="6" name="">
            <a:extLst xmlns:a="http://schemas.openxmlformats.org/drawingml/2006/main">
              <a:ext uri="{FF2B5EF4-FFF2-40B4-BE49-F238E27FC236}">
                <a16:creationId xmlns:a16="http://schemas.microsoft.com/office/drawing/2014/main" id="{C0B744CA-68C6-4B99-887C-5FDDC6B20233}"/>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C900E28-BC61-49E0-9F6C-757711E214CB}"/>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2C8D335-5E7B-4B4E-B0FC-8EEAED88B9CA}"/>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9745D4C6-8709-45D5-AE00-BC8155B555C4}"/>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82FE1D-14EF-4B1C-99E0-83F9D1A6B04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Download versioned JAR and AAR artifacts.</a:t>
            </a:r>
          </a:p>
        </p:txBody>
      </p:sp>
      <p:sp>
        <p:nvSpPr>
          <p:cNvPr id="11" name="">
            <a:extLst xmlns:a="http://schemas.openxmlformats.org/drawingml/2006/main">
              <a:ext uri="{FF2B5EF4-FFF2-40B4-BE49-F238E27FC236}">
                <a16:creationId xmlns:a16="http://schemas.microsoft.com/office/drawing/2014/main" id="{297C34A0-2938-4471-913E-FA63DD6B574D}"/>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4E2F4C-CAB7-4561-B2C6-6C6E551B224D}"/>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Extract AAR bytecode when needed.</a:t>
            </a:r>
          </a:p>
        </p:txBody>
      </p:sp>
      <p:sp>
        <p:nvSpPr>
          <p:cNvPr id="13" name="">
            <a:extLst xmlns:a="http://schemas.openxmlformats.org/drawingml/2006/main">
              <a:ext uri="{FF2B5EF4-FFF2-40B4-BE49-F238E27FC236}">
                <a16:creationId xmlns:a16="http://schemas.microsoft.com/office/drawing/2014/main" id="{B3AB4E8E-9299-4A54-88AE-6236294EA2BF}"/>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83AB2D-CC16-44E1-9627-E15718F47532}"/>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Convert bytecode to DEX with D8.</a:t>
            </a:r>
          </a:p>
        </p:txBody>
      </p:sp>
      <p:sp>
        <p:nvSpPr>
          <p:cNvPr id="15" name="">
            <a:extLst xmlns:a="http://schemas.openxmlformats.org/drawingml/2006/main">
              <a:ext uri="{FF2B5EF4-FFF2-40B4-BE49-F238E27FC236}">
                <a16:creationId xmlns:a16="http://schemas.microsoft.com/office/drawing/2014/main" id="{8D2BA03C-704E-4173-803E-90CDC49B6EB1}"/>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EF9916C-3C86-48CE-BD57-20F1FEC82AD4}"/>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Extract the same feature families.</a:t>
            </a:r>
          </a:p>
        </p:txBody>
      </p:sp>
      <p:sp>
        <p:nvSpPr>
          <p:cNvPr id="17" name="">
            <a:extLst xmlns:a="http://schemas.openxmlformats.org/drawingml/2006/main">
              <a:ext uri="{FF2B5EF4-FFF2-40B4-BE49-F238E27FC236}">
                <a16:creationId xmlns:a16="http://schemas.microsoft.com/office/drawing/2014/main" id="{B4F8885B-11B2-4E5E-96A1-2F473D6F4744}"/>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21CF6F-780B-453A-A79E-C30C5D693240}"/>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Store coordinate, version, and evidence in SQLite.</a:t>
            </a:r>
          </a:p>
        </p:txBody>
      </p:sp>
      <p:sp>
        <p:nvSpPr>
          <p:cNvPr id="19" name="">
            <a:extLst xmlns:a="http://schemas.openxmlformats.org/drawingml/2006/main">
              <a:ext uri="{FF2B5EF4-FFF2-40B4-BE49-F238E27FC236}">
                <a16:creationId xmlns:a16="http://schemas.microsoft.com/office/drawing/2014/main" id="{C8FAB568-2813-4DDD-9219-72BD883AA12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2CB8110C-FE9A-4DF9-A5D2-AFDD05037CB5}"/>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3074768C-0EBC-45E1-8DDC-FA07A2C220E6}"/>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723E98DF-1866-4738-9FAF-4D5C84BDBEF9}"/>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3" name="">
            <a:extLst xmlns:a="http://schemas.openxmlformats.org/drawingml/2006/main">
              <a:ext uri="{FF2B5EF4-FFF2-40B4-BE49-F238E27FC236}">
                <a16:creationId xmlns:a16="http://schemas.microsoft.com/office/drawing/2014/main" id="{C15E61E5-2D3F-457B-BB28-3D3C0E7F20C7}"/>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9A39C61-6AA5-4E0C-81CA-A086B0BCE567}"/>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5" name="">
            <a:extLst xmlns:a="http://schemas.openxmlformats.org/drawingml/2006/main">
              <a:ext uri="{FF2B5EF4-FFF2-40B4-BE49-F238E27FC236}">
                <a16:creationId xmlns:a16="http://schemas.microsoft.com/office/drawing/2014/main" id="{AFCC4CDC-EFF3-4FCA-AB93-A5AB25C2B881}"/>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6" name="">
            <a:extLst xmlns:a="http://schemas.openxmlformats.org/drawingml/2006/main">
              <a:ext uri="{FF2B5EF4-FFF2-40B4-BE49-F238E27FC236}">
                <a16:creationId xmlns:a16="http://schemas.microsoft.com/office/drawing/2014/main" id="{1F90A3F5-F6E9-4AE5-A141-13B40F05305E}"/>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CAA7664-5E08-4911-8C5E-6EB5E66AB2BE}"/>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8" name="">
            <a:extLst xmlns:a="http://schemas.openxmlformats.org/drawingml/2006/main">
              <a:ext uri="{FF2B5EF4-FFF2-40B4-BE49-F238E27FC236}">
                <a16:creationId xmlns:a16="http://schemas.microsoft.com/office/drawing/2014/main" id="{6A20C0CC-9C2B-4A53-932C-B961097278D0}"/>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9" name="">
            <a:extLst xmlns:a="http://schemas.openxmlformats.org/drawingml/2006/main">
              <a:ext uri="{FF2B5EF4-FFF2-40B4-BE49-F238E27FC236}">
                <a16:creationId xmlns:a16="http://schemas.microsoft.com/office/drawing/2014/main" id="{6934FF0C-F5BD-442F-9211-54E321E46381}"/>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77740D9-FDC3-486E-990C-0E40218B736D}"/>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31" name="">
            <a:extLst xmlns:a="http://schemas.openxmlformats.org/drawingml/2006/main">
              <a:ext uri="{FF2B5EF4-FFF2-40B4-BE49-F238E27FC236}">
                <a16:creationId xmlns:a16="http://schemas.microsoft.com/office/drawing/2014/main" id="{DFCCF4CE-A606-411C-A855-E9DF6404B140}"/>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2" name="">
            <a:extLst xmlns:a="http://schemas.openxmlformats.org/drawingml/2006/main">
              <a:ext uri="{FF2B5EF4-FFF2-40B4-BE49-F238E27FC236}">
                <a16:creationId xmlns:a16="http://schemas.microsoft.com/office/drawing/2014/main" id="{843B2C9F-D3B0-4747-8E5C-EE1671D754CA}"/>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D571B8E-8E47-4813-B31D-02C680677667}"/>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4" name="">
            <a:extLst xmlns:a="http://schemas.openxmlformats.org/drawingml/2006/main">
              <a:ext uri="{FF2B5EF4-FFF2-40B4-BE49-F238E27FC236}">
                <a16:creationId xmlns:a16="http://schemas.microsoft.com/office/drawing/2014/main" id="{B5971CBD-2DD7-4DFC-B0C0-DA77E36FA5B2}"/>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5" name="">
            <a:extLst xmlns:a="http://schemas.openxmlformats.org/drawingml/2006/main">
              <a:ext uri="{FF2B5EF4-FFF2-40B4-BE49-F238E27FC236}">
                <a16:creationId xmlns:a16="http://schemas.microsoft.com/office/drawing/2014/main" id="{F63D27DA-49DE-48A6-9270-F5A8A6DC21E3}"/>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reference construction.</a:t>
            </a:r>
          </a:p>
        </p:txBody>
      </p:sp>
      <p:sp>
        <p:nvSpPr>
          <p:cNvPr id="36" name="">
            <a:extLst xmlns:a="http://schemas.openxmlformats.org/drawingml/2006/main">
              <a:ext uri="{FF2B5EF4-FFF2-40B4-BE49-F238E27FC236}">
                <a16:creationId xmlns:a16="http://schemas.microsoft.com/office/drawing/2014/main" id="{1573994A-855E-49B0-AF81-1F44C1B6DE2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59897707"/>
      </p:ext>
    </p:extLst>
  </p:cSld>
</p:sld>
</file>

<file path=ppt/slides/slide3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E190B37-7A8C-4B4E-A165-3766A2903F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78AAB6-C15B-41FC-8223-B7EBC9EBF7C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87FE067-3394-4595-A94D-97C4FDA600B5}"/>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F0627954-CDC0-4047-9760-DB251E70A59F}"/>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39</a:t>
            </a:r>
          </a:p>
        </p:txBody>
      </p:sp>
      <p:sp>
        <p:nvSpPr>
          <p:cNvPr id="5" name="">
            <a:extLst xmlns:a="http://schemas.openxmlformats.org/drawingml/2006/main">
              <a:ext uri="{FF2B5EF4-FFF2-40B4-BE49-F238E27FC236}">
                <a16:creationId xmlns:a16="http://schemas.microsoft.com/office/drawing/2014/main" id="{9F59BFE7-7714-4E6B-92B8-192EFEB26DA6}"/>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Candidate generation keeps matching scalable</a:t>
            </a:r>
          </a:p>
        </p:txBody>
      </p:sp>
      <p:sp>
        <p:nvSpPr>
          <p:cNvPr id="6" name="">
            <a:extLst xmlns:a="http://schemas.openxmlformats.org/drawingml/2006/main">
              <a:ext uri="{FF2B5EF4-FFF2-40B4-BE49-F238E27FC236}">
                <a16:creationId xmlns:a16="http://schemas.microsoft.com/office/drawing/2014/main" id="{118403AC-6909-4BAA-9FFD-5CDED20B70AE}"/>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10598F8-75B3-42BC-83F1-3A03D3481A58}"/>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16DFF27A-1E5A-425A-A6F6-F458A875A6F2}"/>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13BE74B3-A650-401A-973D-F90830A12F6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26C524-1673-465F-B157-C0DDD1002F1C}"/>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Large reference databases create candidate pressure.</a:t>
            </a:r>
          </a:p>
        </p:txBody>
      </p:sp>
      <p:sp>
        <p:nvSpPr>
          <p:cNvPr id="11" name="">
            <a:extLst xmlns:a="http://schemas.openxmlformats.org/drawingml/2006/main">
              <a:ext uri="{FF2B5EF4-FFF2-40B4-BE49-F238E27FC236}">
                <a16:creationId xmlns:a16="http://schemas.microsoft.com/office/drawing/2014/main" id="{6CF6B3C0-19B7-41D1-AF85-3A39512CC4E8}"/>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B97E9C-4B5E-421B-9F12-B47E664287BE}"/>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system first shortlists plausible coordinates and versions.</a:t>
            </a:r>
          </a:p>
        </p:txBody>
      </p:sp>
      <p:sp>
        <p:nvSpPr>
          <p:cNvPr id="13" name="">
            <a:extLst xmlns:a="http://schemas.openxmlformats.org/drawingml/2006/main">
              <a:ext uri="{FF2B5EF4-FFF2-40B4-BE49-F238E27FC236}">
                <a16:creationId xmlns:a16="http://schemas.microsoft.com/office/drawing/2014/main" id="{6B3F4A89-6226-4618-B0C5-DBD3060217B7}"/>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F250D5A-1F83-443B-978C-5247AC3F61BC}"/>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Detailed scoring is reserved for candidates with enough evidence.</a:t>
            </a:r>
          </a:p>
        </p:txBody>
      </p:sp>
      <p:sp>
        <p:nvSpPr>
          <p:cNvPr id="15" name="">
            <a:extLst xmlns:a="http://schemas.openxmlformats.org/drawingml/2006/main">
              <a:ext uri="{FF2B5EF4-FFF2-40B4-BE49-F238E27FC236}">
                <a16:creationId xmlns:a16="http://schemas.microsoft.com/office/drawing/2014/main" id="{791F1E3F-6C1C-4C5D-8035-FFD88221C002}"/>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3E6843-6CFC-4EED-8478-D293CDE58D23}"/>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Shortlist changes need regression controls before promotion.</a:t>
            </a:r>
          </a:p>
        </p:txBody>
      </p:sp>
      <p:sp>
        <p:nvSpPr>
          <p:cNvPr id="17" name="">
            <a:extLst xmlns:a="http://schemas.openxmlformats.org/drawingml/2006/main">
              <a:ext uri="{FF2B5EF4-FFF2-40B4-BE49-F238E27FC236}">
                <a16:creationId xmlns:a16="http://schemas.microsoft.com/office/drawing/2014/main" id="{7C479BA9-3904-46CE-94D7-41A23CBB5771}"/>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A4693BAD-59E6-4046-BF2B-DCA8127C76B4}"/>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4B32695B-A9FA-49BD-B639-27BCFE225DEE}"/>
              </a:ext>
            </a:extLst>
          </p:cNvPr>
          <p:cNvSpPr>
            <a:spLocks xmlns:a="http://schemas.openxmlformats.org/drawingml/2006/main" noGrp="1"/>
          </p:cNvSpPr>
          <p:nvPr/>
        </p:nvSpPr>
        <p:spPr>
          <a:xfrm xmlns:a="http://schemas.openxmlformats.org/drawingml/2006/main">
            <a:off x="662940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2F5F7E"/>
                </a:solidFill>
                <a:latin typeface="Aptos Display"/>
                <a:ea typeface="Aptos Display"/>
                <a:cs typeface="Aptos Display"/>
              </a:defRPr>
            </a:pPr>
            <a:r>
              <a:rPr sz="2700" b="1">
                <a:solidFill>
                  <a:srgbClr val="2F5F7E"/>
                </a:solidFill>
                <a:latin typeface="Aptos Display"/>
                <a:ea typeface="Aptos Display"/>
                <a:cs typeface="Aptos Display"/>
              </a:rPr>
              <a:t>927 / 1837</a:t>
            </a:r>
          </a:p>
        </p:txBody>
      </p:sp>
      <p:sp>
        <p:nvSpPr>
          <p:cNvPr id="20" name="">
            <a:extLst xmlns:a="http://schemas.openxmlformats.org/drawingml/2006/main">
              <a:ext uri="{FF2B5EF4-FFF2-40B4-BE49-F238E27FC236}">
                <a16:creationId xmlns:a16="http://schemas.microsoft.com/office/drawing/2014/main" id="{6001D440-D0E9-4D46-95A6-E8BCA1799891}"/>
              </a:ext>
            </a:extLst>
          </p:cNvPr>
          <p:cNvSpPr>
            <a:spLocks xmlns:a="http://schemas.openxmlformats.org/drawingml/2006/main" noGrp="1"/>
          </p:cNvSpPr>
          <p:nvPr/>
        </p:nvSpPr>
        <p:spPr>
          <a:xfrm xmlns:a="http://schemas.openxmlformats.org/drawingml/2006/main">
            <a:off x="662940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source-validated emitted versions</a:t>
            </a:r>
          </a:p>
        </p:txBody>
      </p:sp>
      <p:sp>
        <p:nvSpPr>
          <p:cNvPr id="21" name="">
            <a:extLst xmlns:a="http://schemas.openxmlformats.org/drawingml/2006/main">
              <a:ext uri="{FF2B5EF4-FFF2-40B4-BE49-F238E27FC236}">
                <a16:creationId xmlns:a16="http://schemas.microsoft.com/office/drawing/2014/main" id="{0BBE1A86-3646-418B-AA51-8CA914693F25}"/>
              </a:ext>
            </a:extLst>
          </p:cNvPr>
          <p:cNvSpPr>
            <a:spLocks xmlns:a="http://schemas.openxmlformats.org/drawingml/2006/main" noGrp="1"/>
          </p:cNvSpPr>
          <p:nvPr/>
        </p:nvSpPr>
        <p:spPr>
          <a:xfrm xmlns:a="http://schemas.openxmlformats.org/drawingml/2006/main">
            <a:off x="9086850" y="24003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4D817A"/>
                </a:solidFill>
                <a:latin typeface="Aptos Display"/>
                <a:ea typeface="Aptos Display"/>
                <a:cs typeface="Aptos Display"/>
              </a:defRPr>
            </a:pPr>
            <a:r>
              <a:rPr sz="2700" b="1">
                <a:solidFill>
                  <a:srgbClr val="4D817A"/>
                </a:solidFill>
                <a:latin typeface="Aptos Display"/>
                <a:ea typeface="Aptos Display"/>
                <a:cs typeface="Aptos Display"/>
              </a:rPr>
              <a:t>84 / 84</a:t>
            </a:r>
          </a:p>
        </p:txBody>
      </p:sp>
      <p:sp>
        <p:nvSpPr>
          <p:cNvPr id="22" name="">
            <a:extLst xmlns:a="http://schemas.openxmlformats.org/drawingml/2006/main">
              <a:ext uri="{FF2B5EF4-FFF2-40B4-BE49-F238E27FC236}">
                <a16:creationId xmlns:a16="http://schemas.microsoft.com/office/drawing/2014/main" id="{02D3092A-B204-44B4-973D-52042CA5761A}"/>
              </a:ext>
            </a:extLst>
          </p:cNvPr>
          <p:cNvSpPr>
            <a:spLocks xmlns:a="http://schemas.openxmlformats.org/drawingml/2006/main" noGrp="1"/>
          </p:cNvSpPr>
          <p:nvPr/>
        </p:nvSpPr>
        <p:spPr>
          <a:xfrm xmlns:a="http://schemas.openxmlformats.org/drawingml/2006/main">
            <a:off x="9086850" y="28765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controlled expected versions</a:t>
            </a:r>
          </a:p>
        </p:txBody>
      </p:sp>
      <p:sp>
        <p:nvSpPr>
          <p:cNvPr id="23" name="">
            <a:extLst xmlns:a="http://schemas.openxmlformats.org/drawingml/2006/main">
              <a:ext uri="{FF2B5EF4-FFF2-40B4-BE49-F238E27FC236}">
                <a16:creationId xmlns:a16="http://schemas.microsoft.com/office/drawing/2014/main" id="{39A398CC-243F-425D-8B1E-2E5BD2C3F689}"/>
              </a:ext>
            </a:extLst>
          </p:cNvPr>
          <p:cNvSpPr>
            <a:spLocks xmlns:a="http://schemas.openxmlformats.org/drawingml/2006/main" noGrp="1"/>
          </p:cNvSpPr>
          <p:nvPr/>
        </p:nvSpPr>
        <p:spPr>
          <a:xfrm xmlns:a="http://schemas.openxmlformats.org/drawingml/2006/main">
            <a:off x="6629400" y="3619500"/>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6772 / 6772</a:t>
            </a:r>
          </a:p>
        </p:txBody>
      </p:sp>
      <p:sp>
        <p:nvSpPr>
          <p:cNvPr id="24" name="">
            <a:extLst xmlns:a="http://schemas.openxmlformats.org/drawingml/2006/main">
              <a:ext uri="{FF2B5EF4-FFF2-40B4-BE49-F238E27FC236}">
                <a16:creationId xmlns:a16="http://schemas.microsoft.com/office/drawing/2014/main" id="{247E300F-5F6B-46EA-9AF8-78064D053B15}"/>
              </a:ext>
            </a:extLst>
          </p:cNvPr>
          <p:cNvSpPr>
            <a:spLocks xmlns:a="http://schemas.openxmlformats.org/drawingml/2006/main" noGrp="1"/>
          </p:cNvSpPr>
          <p:nvPr/>
        </p:nvSpPr>
        <p:spPr>
          <a:xfrm xmlns:a="http://schemas.openxmlformats.org/drawingml/2006/main">
            <a:off x="6629400" y="40957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source-known v2 emitted rows</a:t>
            </a:r>
          </a:p>
        </p:txBody>
      </p:sp>
      <p:sp>
        <p:nvSpPr>
          <p:cNvPr id="25" name="">
            <a:extLst xmlns:a="http://schemas.openxmlformats.org/drawingml/2006/main">
              <a:ext uri="{FF2B5EF4-FFF2-40B4-BE49-F238E27FC236}">
                <a16:creationId xmlns:a16="http://schemas.microsoft.com/office/drawing/2014/main" id="{D2FF1A85-BA10-4133-A315-CAB13E444F26}"/>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coarse matching.</a:t>
            </a:r>
          </a:p>
        </p:txBody>
      </p:sp>
      <p:sp>
        <p:nvSpPr>
          <p:cNvPr id="26" name="">
            <a:extLst xmlns:a="http://schemas.openxmlformats.org/drawingml/2006/main">
              <a:ext uri="{FF2B5EF4-FFF2-40B4-BE49-F238E27FC236}">
                <a16:creationId xmlns:a16="http://schemas.microsoft.com/office/drawing/2014/main" id="{9B79BC2B-AE3F-4346-8AEA-07C9397E8CD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801004693"/>
      </p:ext>
    </p:extLst>
  </p:cSld>
</p:sld>
</file>

<file path=ppt/slides/slide4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D5B4623-7D67-4FD8-B9B6-2524FE5CAE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9C31CD-4857-4B51-89A0-F1CF1DE73DD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0E090A-E4FF-4AA2-8C2F-A4F55B2FDEE9}"/>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22DC28BC-B992-4B0A-8BC7-66708868AAE0}"/>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40</a:t>
            </a:r>
          </a:p>
        </p:txBody>
      </p:sp>
      <p:sp>
        <p:nvSpPr>
          <p:cNvPr id="5" name="">
            <a:extLst xmlns:a="http://schemas.openxmlformats.org/drawingml/2006/main">
              <a:ext uri="{FF2B5EF4-FFF2-40B4-BE49-F238E27FC236}">
                <a16:creationId xmlns:a16="http://schemas.microsoft.com/office/drawing/2014/main" id="{354AD4E2-9E4F-489D-BAA3-4B868E83B760}"/>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Weighted scoring ranks evidence but does not prove probability</a:t>
            </a:r>
          </a:p>
        </p:txBody>
      </p:sp>
      <p:sp>
        <p:nvSpPr>
          <p:cNvPr id="6" name="">
            <a:extLst xmlns:a="http://schemas.openxmlformats.org/drawingml/2006/main">
              <a:ext uri="{FF2B5EF4-FFF2-40B4-BE49-F238E27FC236}">
                <a16:creationId xmlns:a16="http://schemas.microsoft.com/office/drawing/2014/main" id="{AE70FB7C-CE3F-4191-9CCA-B42AE5B7F6CB}"/>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46E51C-618B-4DEE-A07F-F24B44B2B512}"/>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CEE01723-267F-4D5E-9D84-A939CCE520B9}"/>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EBC2B7A1-8A0F-48F5-A574-4E1BE9ACF9D1}"/>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FE43E0-6648-40E5-B02F-8751C60C3FF0}"/>
              </a:ext>
            </a:extLst>
          </p:cNvPr>
          <p:cNvSpPr>
            <a:spLocks xmlns:a="http://schemas.openxmlformats.org/drawingml/2006/main" noGrp="1"/>
          </p:cNvSpPr>
          <p:nvPr/>
        </p:nvSpPr>
        <p:spPr>
          <a:xfrm xmlns:a="http://schemas.openxmlformats.org/drawingml/2006/main">
            <a:off x="1028700" y="203835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Package coverage: 0.15.</a:t>
            </a:r>
          </a:p>
        </p:txBody>
      </p:sp>
      <p:sp>
        <p:nvSpPr>
          <p:cNvPr id="11" name="">
            <a:extLst xmlns:a="http://schemas.openxmlformats.org/drawingml/2006/main">
              <a:ext uri="{FF2B5EF4-FFF2-40B4-BE49-F238E27FC236}">
                <a16:creationId xmlns:a16="http://schemas.microsoft.com/office/drawing/2014/main" id="{4DB07433-E914-4184-90C4-6B2F446D6829}"/>
              </a:ext>
            </a:extLst>
          </p:cNvPr>
          <p:cNvSpPr>
            <a:spLocks xmlns:a="http://schemas.openxmlformats.org/drawingml/2006/main" noGrp="1"/>
          </p:cNvSpPr>
          <p:nvPr/>
        </p:nvSpPr>
        <p:spPr>
          <a:xfrm xmlns:a="http://schemas.openxmlformats.org/drawingml/2006/main">
            <a:off x="857250" y="25146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A75273-9371-49AF-85D9-B76B0AA3F582}"/>
              </a:ext>
            </a:extLst>
          </p:cNvPr>
          <p:cNvSpPr>
            <a:spLocks xmlns:a="http://schemas.openxmlformats.org/drawingml/2006/main" noGrp="1"/>
          </p:cNvSpPr>
          <p:nvPr/>
        </p:nvSpPr>
        <p:spPr>
          <a:xfrm xmlns:a="http://schemas.openxmlformats.org/drawingml/2006/main">
            <a:off x="1028700" y="244792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Class coverage: 0.45.</a:t>
            </a:r>
          </a:p>
        </p:txBody>
      </p:sp>
      <p:sp>
        <p:nvSpPr>
          <p:cNvPr id="13" name="">
            <a:extLst xmlns:a="http://schemas.openxmlformats.org/drawingml/2006/main">
              <a:ext uri="{FF2B5EF4-FFF2-40B4-BE49-F238E27FC236}">
                <a16:creationId xmlns:a16="http://schemas.microsoft.com/office/drawing/2014/main" id="{CF593EAD-21B7-41C0-B8D2-1C8BFAA4B70D}"/>
              </a:ext>
            </a:extLst>
          </p:cNvPr>
          <p:cNvSpPr>
            <a:spLocks xmlns:a="http://schemas.openxmlformats.org/drawingml/2006/main" noGrp="1"/>
          </p:cNvSpPr>
          <p:nvPr/>
        </p:nvSpPr>
        <p:spPr>
          <a:xfrm xmlns:a="http://schemas.openxmlformats.org/drawingml/2006/main">
            <a:off x="857250" y="29241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357AE7-D580-49AE-B341-73F841292BCC}"/>
              </a:ext>
            </a:extLst>
          </p:cNvPr>
          <p:cNvSpPr>
            <a:spLocks xmlns:a="http://schemas.openxmlformats.org/drawingml/2006/main" noGrp="1"/>
          </p:cNvSpPr>
          <p:nvPr/>
        </p:nvSpPr>
        <p:spPr>
          <a:xfrm xmlns:a="http://schemas.openxmlformats.org/drawingml/2006/main">
            <a:off x="1028700" y="285750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Method coverage: 0.25.</a:t>
            </a:r>
          </a:p>
        </p:txBody>
      </p:sp>
      <p:sp>
        <p:nvSpPr>
          <p:cNvPr id="15" name="">
            <a:extLst xmlns:a="http://schemas.openxmlformats.org/drawingml/2006/main">
              <a:ext uri="{FF2B5EF4-FFF2-40B4-BE49-F238E27FC236}">
                <a16:creationId xmlns:a16="http://schemas.microsoft.com/office/drawing/2014/main" id="{B9CAE21D-849E-4407-98F2-876388633B86}"/>
              </a:ext>
            </a:extLst>
          </p:cNvPr>
          <p:cNvSpPr>
            <a:spLocks xmlns:a="http://schemas.openxmlformats.org/drawingml/2006/main" noGrp="1"/>
          </p:cNvSpPr>
          <p:nvPr/>
        </p:nvSpPr>
        <p:spPr>
          <a:xfrm xmlns:a="http://schemas.openxmlformats.org/drawingml/2006/main">
            <a:off x="857250" y="33337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130D9AD-7393-4BE6-B4F0-839D353CABF8}"/>
              </a:ext>
            </a:extLst>
          </p:cNvPr>
          <p:cNvSpPr>
            <a:spLocks xmlns:a="http://schemas.openxmlformats.org/drawingml/2006/main" noGrp="1"/>
          </p:cNvSpPr>
          <p:nvPr/>
        </p:nvSpPr>
        <p:spPr>
          <a:xfrm xmlns:a="http://schemas.openxmlformats.org/drawingml/2006/main">
            <a:off x="1028700" y="326707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Opcode similarity: 0.15.</a:t>
            </a:r>
          </a:p>
        </p:txBody>
      </p:sp>
      <p:sp>
        <p:nvSpPr>
          <p:cNvPr id="17" name="">
            <a:extLst xmlns:a="http://schemas.openxmlformats.org/drawingml/2006/main">
              <a:ext uri="{FF2B5EF4-FFF2-40B4-BE49-F238E27FC236}">
                <a16:creationId xmlns:a16="http://schemas.microsoft.com/office/drawing/2014/main" id="{7185AAA7-9CD4-4A16-A58D-C8EEEFDFCDAD}"/>
              </a:ext>
            </a:extLst>
          </p:cNvPr>
          <p:cNvSpPr>
            <a:spLocks xmlns:a="http://schemas.openxmlformats.org/drawingml/2006/main" noGrp="1"/>
          </p:cNvSpPr>
          <p:nvPr/>
        </p:nvSpPr>
        <p:spPr>
          <a:xfrm xmlns:a="http://schemas.openxmlformats.org/drawingml/2006/main">
            <a:off x="857250" y="37433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48A421E-851D-433E-AA70-9BAC9A00D895}"/>
              </a:ext>
            </a:extLst>
          </p:cNvPr>
          <p:cNvSpPr>
            <a:spLocks xmlns:a="http://schemas.openxmlformats.org/drawingml/2006/main" noGrp="1"/>
          </p:cNvSpPr>
          <p:nvPr/>
        </p:nvSpPr>
        <p:spPr>
          <a:xfrm xmlns:a="http://schemas.openxmlformats.org/drawingml/2006/main">
            <a:off x="1028700" y="367665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Dependency similarity: 0.10.</a:t>
            </a:r>
          </a:p>
        </p:txBody>
      </p:sp>
      <p:sp>
        <p:nvSpPr>
          <p:cNvPr id="19" name="">
            <a:extLst xmlns:a="http://schemas.openxmlformats.org/drawingml/2006/main">
              <a:ext uri="{FF2B5EF4-FFF2-40B4-BE49-F238E27FC236}">
                <a16:creationId xmlns:a16="http://schemas.microsoft.com/office/drawing/2014/main" id="{332F435E-4B0B-44B1-8F5B-FCC73075D082}"/>
              </a:ext>
            </a:extLst>
          </p:cNvPr>
          <p:cNvSpPr>
            <a:spLocks xmlns:a="http://schemas.openxmlformats.org/drawingml/2006/main" noGrp="1"/>
          </p:cNvSpPr>
          <p:nvPr/>
        </p:nvSpPr>
        <p:spPr>
          <a:xfrm xmlns:a="http://schemas.openxmlformats.org/drawingml/2006/main">
            <a:off x="857250" y="41529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4E5921-B399-4D29-8151-E830BAB07FF6}"/>
              </a:ext>
            </a:extLst>
          </p:cNvPr>
          <p:cNvSpPr>
            <a:spLocks xmlns:a="http://schemas.openxmlformats.org/drawingml/2006/main" noGrp="1"/>
          </p:cNvSpPr>
          <p:nvPr/>
        </p:nvSpPr>
        <p:spPr>
          <a:xfrm xmlns:a="http://schemas.openxmlformats.org/drawingml/2006/main">
            <a:off x="1028700" y="408622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Literal overlap: 0.08.</a:t>
            </a:r>
          </a:p>
        </p:txBody>
      </p:sp>
      <p:sp>
        <p:nvSpPr>
          <p:cNvPr id="21" name="">
            <a:extLst xmlns:a="http://schemas.openxmlformats.org/drawingml/2006/main">
              <a:ext uri="{FF2B5EF4-FFF2-40B4-BE49-F238E27FC236}">
                <a16:creationId xmlns:a16="http://schemas.microsoft.com/office/drawing/2014/main" id="{49CEF5E2-D51B-49AC-ADDA-A547A0C003AE}"/>
              </a:ext>
            </a:extLst>
          </p:cNvPr>
          <p:cNvSpPr>
            <a:spLocks xmlns:a="http://schemas.openxmlformats.org/drawingml/2006/main" noGrp="1"/>
          </p:cNvSpPr>
          <p:nvPr/>
        </p:nvSpPr>
        <p:spPr>
          <a:xfrm xmlns:a="http://schemas.openxmlformats.org/drawingml/2006/main">
            <a:off x="857250" y="4562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61DDA3E-CAEF-471C-930B-4F72DD5575D7}"/>
              </a:ext>
            </a:extLst>
          </p:cNvPr>
          <p:cNvSpPr>
            <a:spLocks xmlns:a="http://schemas.openxmlformats.org/drawingml/2006/main" noGrp="1"/>
          </p:cNvSpPr>
          <p:nvPr/>
        </p:nvSpPr>
        <p:spPr>
          <a:xfrm xmlns:a="http://schemas.openxmlformats.org/drawingml/2006/main">
            <a:off x="1028700" y="4495800"/>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Version-unique evidence: 0.12.</a:t>
            </a:r>
          </a:p>
        </p:txBody>
      </p:sp>
      <p:sp>
        <p:nvSpPr>
          <p:cNvPr id="23" name="">
            <a:extLst xmlns:a="http://schemas.openxmlformats.org/drawingml/2006/main">
              <a:ext uri="{FF2B5EF4-FFF2-40B4-BE49-F238E27FC236}">
                <a16:creationId xmlns:a16="http://schemas.microsoft.com/office/drawing/2014/main" id="{401CBE4F-EEFE-4E1E-A8A8-151963985598}"/>
              </a:ext>
            </a:extLst>
          </p:cNvPr>
          <p:cNvSpPr>
            <a:spLocks xmlns:a="http://schemas.openxmlformats.org/drawingml/2006/main" noGrp="1"/>
          </p:cNvSpPr>
          <p:nvPr/>
        </p:nvSpPr>
        <p:spPr>
          <a:xfrm xmlns:a="http://schemas.openxmlformats.org/drawingml/2006/main">
            <a:off x="857250" y="4972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935BABA-4220-49F7-8716-0AC1301EB240}"/>
              </a:ext>
            </a:extLst>
          </p:cNvPr>
          <p:cNvSpPr>
            <a:spLocks xmlns:a="http://schemas.openxmlformats.org/drawingml/2006/main" noGrp="1"/>
          </p:cNvSpPr>
          <p:nvPr/>
        </p:nvSpPr>
        <p:spPr>
          <a:xfrm xmlns:a="http://schemas.openxmlformats.org/drawingml/2006/main">
            <a:off x="1028700" y="4905375"/>
            <a:ext cx="4819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API references and opcode tri-grams: disabled by default.</a:t>
            </a:r>
          </a:p>
        </p:txBody>
      </p:sp>
      <p:sp>
        <p:nvSpPr>
          <p:cNvPr id="25" name="">
            <a:extLst xmlns:a="http://schemas.openxmlformats.org/drawingml/2006/main">
              <a:ext uri="{FF2B5EF4-FFF2-40B4-BE49-F238E27FC236}">
                <a16:creationId xmlns:a16="http://schemas.microsoft.com/office/drawing/2014/main" id="{D2264C0A-ABE2-4FC8-96A3-21460AAF3A56}"/>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6F0D6106-DC50-4A69-BFBF-A45C9CB31F86}"/>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7" name="">
            <a:extLst xmlns:a="http://schemas.openxmlformats.org/drawingml/2006/main">
              <a:ext uri="{FF2B5EF4-FFF2-40B4-BE49-F238E27FC236}">
                <a16:creationId xmlns:a16="http://schemas.microsoft.com/office/drawing/2014/main" id="{6AD6DDF7-F06E-41CE-8785-3CC3A6EB293F}"/>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8" name="">
            <a:extLst xmlns:a="http://schemas.openxmlformats.org/drawingml/2006/main">
              <a:ext uri="{FF2B5EF4-FFF2-40B4-BE49-F238E27FC236}">
                <a16:creationId xmlns:a16="http://schemas.microsoft.com/office/drawing/2014/main" id="{4710BB94-FD6B-4621-8529-807B03C6266E}"/>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9" name="">
            <a:extLst xmlns:a="http://schemas.openxmlformats.org/drawingml/2006/main">
              <a:ext uri="{FF2B5EF4-FFF2-40B4-BE49-F238E27FC236}">
                <a16:creationId xmlns:a16="http://schemas.microsoft.com/office/drawing/2014/main" id="{DC477BF0-ECA1-4E7B-864D-0503DDE873F1}"/>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523FD94F-34DC-42B4-8003-A66C5B200C6C}"/>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Clean weight table with disabled rows shaded lightly.</a:t>
            </a:r>
          </a:p>
        </p:txBody>
      </p:sp>
      <p:sp>
        <p:nvSpPr>
          <p:cNvPr id="31" name="">
            <a:extLst xmlns:a="http://schemas.openxmlformats.org/drawingml/2006/main">
              <a:ext uri="{FF2B5EF4-FFF2-40B4-BE49-F238E27FC236}">
                <a16:creationId xmlns:a16="http://schemas.microsoft.com/office/drawing/2014/main" id="{CB72F125-C8B7-4DF7-933F-220C98093DA5}"/>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8F4A06D7-521F-46FC-A58E-7BA2B2B945C2}"/>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33" name="">
            <a:extLst xmlns:a="http://schemas.openxmlformats.org/drawingml/2006/main">
              <a:ext uri="{FF2B5EF4-FFF2-40B4-BE49-F238E27FC236}">
                <a16:creationId xmlns:a16="http://schemas.microsoft.com/office/drawing/2014/main" id="{2C1CA629-D2D9-434A-996D-BDE92A8F2E59}"/>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matcher formula in accessible form.</a:t>
            </a:r>
          </a:p>
        </p:txBody>
      </p:sp>
      <p:sp>
        <p:nvSpPr>
          <p:cNvPr id="34" name="">
            <a:extLst xmlns:a="http://schemas.openxmlformats.org/drawingml/2006/main">
              <a:ext uri="{FF2B5EF4-FFF2-40B4-BE49-F238E27FC236}">
                <a16:creationId xmlns:a16="http://schemas.microsoft.com/office/drawing/2014/main" id="{4B1CDA7E-181E-44E5-9DBD-2A831E4B59E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52974100"/>
      </p:ext>
    </p:extLst>
  </p:cSld>
</p:sld>
</file>

<file path=ppt/slides/slide4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D18A198-3766-461A-9F21-2BD591E186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538B4C-0B8F-432A-83A0-AAED18C23C7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AF33FF-0AD7-46E6-A64B-D2EBD7DBD06D}"/>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1A458D0D-E2AD-446B-8E59-280B2A040CD4}"/>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41</a:t>
            </a:r>
          </a:p>
        </p:txBody>
      </p:sp>
      <p:sp>
        <p:nvSpPr>
          <p:cNvPr id="5" name="">
            <a:extLst xmlns:a="http://schemas.openxmlformats.org/drawingml/2006/main">
              <a:ext uri="{FF2B5EF4-FFF2-40B4-BE49-F238E27FC236}">
                <a16:creationId xmlns:a16="http://schemas.microsoft.com/office/drawing/2014/main" id="{EB9E9FEB-401E-4C87-9466-320C36E504E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Version decisions preserve alternatives</a:t>
            </a:r>
          </a:p>
        </p:txBody>
      </p:sp>
      <p:sp>
        <p:nvSpPr>
          <p:cNvPr id="6" name="">
            <a:extLst xmlns:a="http://schemas.openxmlformats.org/drawingml/2006/main">
              <a:ext uri="{FF2B5EF4-FFF2-40B4-BE49-F238E27FC236}">
                <a16:creationId xmlns:a16="http://schemas.microsoft.com/office/drawing/2014/main" id="{450A1F92-C83F-4EBE-96E8-412011B10A09}"/>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C5DB54-A875-4573-AEC0-97FAF7B99FEA}"/>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C0FF2F27-9D3F-45BE-BC51-C261E15A4903}"/>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B951A024-FDDF-477C-A7B0-C3971BEF8B19}"/>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5786F1-046F-4445-BAB5-ADDAFDE177AC}"/>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Candidates are grouped by coordinate.</a:t>
            </a:r>
          </a:p>
        </p:txBody>
      </p:sp>
      <p:sp>
        <p:nvSpPr>
          <p:cNvPr id="11" name="">
            <a:extLst xmlns:a="http://schemas.openxmlformats.org/drawingml/2006/main">
              <a:ext uri="{FF2B5EF4-FFF2-40B4-BE49-F238E27FC236}">
                <a16:creationId xmlns:a16="http://schemas.microsoft.com/office/drawing/2014/main" id="{9490CFF7-5B23-4913-8C40-D492E771E16F}"/>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A53A74-CB6C-4028-B287-87CA088DA2ED}"/>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top version is compared with nearby alternatives.</a:t>
            </a:r>
          </a:p>
        </p:txBody>
      </p:sp>
      <p:sp>
        <p:nvSpPr>
          <p:cNvPr id="13" name="">
            <a:extLst xmlns:a="http://schemas.openxmlformats.org/drawingml/2006/main">
              <a:ext uri="{FF2B5EF4-FFF2-40B4-BE49-F238E27FC236}">
                <a16:creationId xmlns:a16="http://schemas.microsoft.com/office/drawing/2014/main" id="{C77DAE4E-D0ED-4EE8-8A3E-3F5B424C57D5}"/>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CC0B55-7A5D-43AA-83B8-A055EB73A9D8}"/>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Score gap and version-unique evidence drive exactness.</a:t>
            </a:r>
          </a:p>
        </p:txBody>
      </p:sp>
      <p:sp>
        <p:nvSpPr>
          <p:cNvPr id="15" name="">
            <a:extLst xmlns:a="http://schemas.openxmlformats.org/drawingml/2006/main">
              <a:ext uri="{FF2B5EF4-FFF2-40B4-BE49-F238E27FC236}">
                <a16:creationId xmlns:a16="http://schemas.microsoft.com/office/drawing/2014/main" id="{566DCC50-1D11-4D51-B594-BA472F8BF1CC}"/>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0D1650-11D8-4F99-8BD2-B25EA267828C}"/>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Near-ties become ambiguous version sets.</a:t>
            </a:r>
          </a:p>
        </p:txBody>
      </p:sp>
      <p:sp>
        <p:nvSpPr>
          <p:cNvPr id="17" name="">
            <a:extLst xmlns:a="http://schemas.openxmlformats.org/drawingml/2006/main">
              <a:ext uri="{FF2B5EF4-FFF2-40B4-BE49-F238E27FC236}">
                <a16:creationId xmlns:a16="http://schemas.microsoft.com/office/drawing/2014/main" id="{48B0F299-EED8-40D3-B19E-E71E2F7542BF}"/>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CEC6FA2A-595F-44CC-9F2A-D028125EC172}"/>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21542A4D-250B-4BC9-A387-33162337A6BC}"/>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0E3CD6CD-7168-4980-8483-8A78318701D7}"/>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Version ranking example with top candidate and near-tie candidates.</a:t>
            </a:r>
          </a:p>
        </p:txBody>
      </p:sp>
      <p:sp>
        <p:nvSpPr>
          <p:cNvPr id="21" name="">
            <a:extLst xmlns:a="http://schemas.openxmlformats.org/drawingml/2006/main">
              <a:ext uri="{FF2B5EF4-FFF2-40B4-BE49-F238E27FC236}">
                <a16:creationId xmlns:a16="http://schemas.microsoft.com/office/drawing/2014/main" id="{5C6024C0-0D04-46F6-BCE0-8D2DF8613F7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exact versus ambiguous decisions.</a:t>
            </a:r>
          </a:p>
        </p:txBody>
      </p:sp>
      <p:sp>
        <p:nvSpPr>
          <p:cNvPr id="22" name="">
            <a:extLst xmlns:a="http://schemas.openxmlformats.org/drawingml/2006/main">
              <a:ext uri="{FF2B5EF4-FFF2-40B4-BE49-F238E27FC236}">
                <a16:creationId xmlns:a16="http://schemas.microsoft.com/office/drawing/2014/main" id="{5F8A082D-5073-4C75-8F50-18459D1B707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74175547"/>
      </p:ext>
    </p:extLst>
  </p:cSld>
</p:sld>
</file>

<file path=ppt/slides/slide4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B26A9DC-ED60-4F24-933E-AD3E67B09C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0B3A1B-56A8-4E90-A17A-0A5EE9815DC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6F0C7F-C6D2-4CEA-B89D-7BD35ACDEE57}"/>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5B5141AC-2DD8-4985-96FD-92961E500DE7}"/>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42</a:t>
            </a:r>
          </a:p>
        </p:txBody>
      </p:sp>
      <p:sp>
        <p:nvSpPr>
          <p:cNvPr id="5" name="">
            <a:extLst xmlns:a="http://schemas.openxmlformats.org/drawingml/2006/main">
              <a:ext uri="{FF2B5EF4-FFF2-40B4-BE49-F238E27FC236}">
                <a16:creationId xmlns:a16="http://schemas.microsoft.com/office/drawing/2014/main" id="{50B756DD-8E2C-4450-86F1-49579E79259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SBOM generation converts accepted decisions into CycloneDX</a:t>
            </a:r>
          </a:p>
        </p:txBody>
      </p:sp>
      <p:sp>
        <p:nvSpPr>
          <p:cNvPr id="6" name="">
            <a:extLst xmlns:a="http://schemas.openxmlformats.org/drawingml/2006/main">
              <a:ext uri="{FF2B5EF4-FFF2-40B4-BE49-F238E27FC236}">
                <a16:creationId xmlns:a16="http://schemas.microsoft.com/office/drawing/2014/main" id="{5FB427C9-3F50-4450-B641-0F3FB9845CE2}"/>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0F571E-5ECA-4F8C-9FFF-DAE8AE042B8C}"/>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1A7E038B-8DBA-4A35-A62F-92EAB53BF4DA}"/>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D5D19651-505F-4494-9D33-8CC95C153387}"/>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C36686-343E-4D27-AF2E-ED862930A058}"/>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Maven components include group, artifact, version, and PURL.</a:t>
            </a:r>
          </a:p>
        </p:txBody>
      </p:sp>
      <p:sp>
        <p:nvSpPr>
          <p:cNvPr id="11" name="">
            <a:extLst xmlns:a="http://schemas.openxmlformats.org/drawingml/2006/main">
              <a:ext uri="{FF2B5EF4-FFF2-40B4-BE49-F238E27FC236}">
                <a16:creationId xmlns:a16="http://schemas.microsoft.com/office/drawing/2014/main" id="{B7066C44-F859-4948-BC8B-A1E63852A97B}"/>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400A5C-FDF9-4F21-B3FF-DCE98D3A470D}"/>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Evidence properties record confidence and match status.</a:t>
            </a:r>
          </a:p>
        </p:txBody>
      </p:sp>
      <p:sp>
        <p:nvSpPr>
          <p:cNvPr id="13" name="">
            <a:extLst xmlns:a="http://schemas.openxmlformats.org/drawingml/2006/main">
              <a:ext uri="{FF2B5EF4-FFF2-40B4-BE49-F238E27FC236}">
                <a16:creationId xmlns:a16="http://schemas.microsoft.com/office/drawing/2014/main" id="{408193EA-99EA-40A8-8F73-DCAE613ED90F}"/>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A5B18C-5908-4878-AE3A-BE5358D18EC4}"/>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Native files are represented as file components with hashes.</a:t>
            </a:r>
          </a:p>
        </p:txBody>
      </p:sp>
      <p:sp>
        <p:nvSpPr>
          <p:cNvPr id="15" name="">
            <a:extLst xmlns:a="http://schemas.openxmlformats.org/drawingml/2006/main">
              <a:ext uri="{FF2B5EF4-FFF2-40B4-BE49-F238E27FC236}">
                <a16:creationId xmlns:a16="http://schemas.microsoft.com/office/drawing/2014/main" id="{E4B783B7-1DBE-4412-819E-57404D886572}"/>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E632D4-0701-4E8C-9CD8-08657F480ABC}"/>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Uncertain Maven candidates are excluded by default unless explicitly requested.</a:t>
            </a:r>
          </a:p>
        </p:txBody>
      </p:sp>
      <p:sp>
        <p:nvSpPr>
          <p:cNvPr id="17" name="">
            <a:extLst xmlns:a="http://schemas.openxmlformats.org/drawingml/2006/main">
              <a:ext uri="{FF2B5EF4-FFF2-40B4-BE49-F238E27FC236}">
                <a16:creationId xmlns:a16="http://schemas.microsoft.com/office/drawing/2014/main" id="{E619A851-3D0B-48FA-B4E7-81A51B81A62A}"/>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BF61E5D2-CE74-4DB5-8C0C-0471E41E23ED}"/>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63353574-D902-4621-844E-81B05654A9FA}"/>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E9278DA6-D83A-476F-9B31-FB952C388365}"/>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1B6725BF-9BD2-452B-9587-FC9F157C404D}"/>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DBEEB75-81AE-4B21-B9A1-E1A6DA77C734}"/>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3" name="">
            <a:extLst xmlns:a="http://schemas.openxmlformats.org/drawingml/2006/main">
              <a:ext uri="{FF2B5EF4-FFF2-40B4-BE49-F238E27FC236}">
                <a16:creationId xmlns:a16="http://schemas.microsoft.com/office/drawing/2014/main" id="{AB4F338D-06BB-4577-80A0-AE178864D3E3}"/>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0D1045BC-7810-4699-868D-DAAF995A5AF2}"/>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9358663-944C-46D5-BEA7-915513B8DAF7}"/>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61A20CA9-B1A7-4AA7-A658-D21F8CEEC910}"/>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6CB4BA6A-9137-422E-85C0-0EE51A13976A}"/>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668ABDB-C959-4EA7-BEC4-C9E313253AC2}"/>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9" name="">
            <a:extLst xmlns:a="http://schemas.openxmlformats.org/drawingml/2006/main">
              <a:ext uri="{FF2B5EF4-FFF2-40B4-BE49-F238E27FC236}">
                <a16:creationId xmlns:a16="http://schemas.microsoft.com/office/drawing/2014/main" id="{7317143C-4F93-43C2-8626-9ED4401CB4E7}"/>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BF65BE87-4797-441A-A10D-01A995814738}"/>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44C4E78-BCE6-446F-A79C-9B7E250967AB}"/>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2" name="">
            <a:extLst xmlns:a="http://schemas.openxmlformats.org/drawingml/2006/main">
              <a:ext uri="{FF2B5EF4-FFF2-40B4-BE49-F238E27FC236}">
                <a16:creationId xmlns:a16="http://schemas.microsoft.com/office/drawing/2014/main" id="{5EAD63BB-8532-46E3-91DB-260FFDAB868E}"/>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8CA529FF-750F-47BE-9C3B-2E1C77602CE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SBOM module.</a:t>
            </a:r>
          </a:p>
        </p:txBody>
      </p:sp>
      <p:sp>
        <p:nvSpPr>
          <p:cNvPr id="34" name="">
            <a:extLst xmlns:a="http://schemas.openxmlformats.org/drawingml/2006/main">
              <a:ext uri="{FF2B5EF4-FFF2-40B4-BE49-F238E27FC236}">
                <a16:creationId xmlns:a16="http://schemas.microsoft.com/office/drawing/2014/main" id="{E73B51D6-1918-4F24-AAC8-16B7650C30CE}"/>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47224138"/>
      </p:ext>
    </p:extLst>
  </p:cSld>
</p:sld>
</file>

<file path=ppt/slides/slide4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F68139-A6A1-4F33-A589-88098BDAE87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CEA08E-A5B0-46CA-80E6-700A02E58BA0}"/>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434B77-2C0A-40E9-9488-6B87A02F9506}"/>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665B54BD-19C5-4961-97C0-225065BE0568}"/>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43</a:t>
            </a:r>
          </a:p>
        </p:txBody>
      </p:sp>
      <p:sp>
        <p:nvSpPr>
          <p:cNvPr id="5" name="">
            <a:extLst xmlns:a="http://schemas.openxmlformats.org/drawingml/2006/main">
              <a:ext uri="{FF2B5EF4-FFF2-40B4-BE49-F238E27FC236}">
                <a16:creationId xmlns:a16="http://schemas.microsoft.com/office/drawing/2014/main" id="{0EA3D02B-925E-40CF-8153-8242A1AD3027}"/>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Vulnerability lookup is confidence-aware</a:t>
            </a:r>
          </a:p>
        </p:txBody>
      </p:sp>
      <p:sp>
        <p:nvSpPr>
          <p:cNvPr id="6" name="">
            <a:extLst xmlns:a="http://schemas.openxmlformats.org/drawingml/2006/main">
              <a:ext uri="{FF2B5EF4-FFF2-40B4-BE49-F238E27FC236}">
                <a16:creationId xmlns:a16="http://schemas.microsoft.com/office/drawing/2014/main" id="{FBF5DE2F-1AF6-4D96-8FEE-BD01BA60FB42}"/>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EF832C2-04D2-466B-89DF-C4A478C89C20}"/>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98406269-98F6-4088-9AC2-A444CE24439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9EC89E4-C6BC-47E4-8005-2695B1118F79}"/>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7EFE7D-9C2F-4DE3-B100-43E06A5D5964}"/>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OSV queries use accepted package versions.</a:t>
            </a:r>
          </a:p>
        </p:txBody>
      </p:sp>
      <p:sp>
        <p:nvSpPr>
          <p:cNvPr id="11" name="">
            <a:extLst xmlns:a="http://schemas.openxmlformats.org/drawingml/2006/main">
              <a:ext uri="{FF2B5EF4-FFF2-40B4-BE49-F238E27FC236}">
                <a16:creationId xmlns:a16="http://schemas.microsoft.com/office/drawing/2014/main" id="{1B0A4F24-6CA8-4C46-8AA5-CA792A129880}"/>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DC1DBB1-87FD-4696-AB20-591B481A1160}"/>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OSV, GHSA, and CVE identifiers are normalized.</a:t>
            </a:r>
          </a:p>
        </p:txBody>
      </p:sp>
      <p:sp>
        <p:nvSpPr>
          <p:cNvPr id="13" name="">
            <a:extLst xmlns:a="http://schemas.openxmlformats.org/drawingml/2006/main">
              <a:ext uri="{FF2B5EF4-FFF2-40B4-BE49-F238E27FC236}">
                <a16:creationId xmlns:a16="http://schemas.microsoft.com/office/drawing/2014/main" id="{FB8D7ECD-74C5-4E4B-93F1-A056B6E07C5D}"/>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A92BB1-CCDC-414E-AD81-3ED221E93BA9}"/>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Source validation can relabel findings.</a:t>
            </a:r>
          </a:p>
        </p:txBody>
      </p:sp>
      <p:sp>
        <p:nvSpPr>
          <p:cNvPr id="15" name="">
            <a:extLst xmlns:a="http://schemas.openxmlformats.org/drawingml/2006/main">
              <a:ext uri="{FF2B5EF4-FFF2-40B4-BE49-F238E27FC236}">
                <a16:creationId xmlns:a16="http://schemas.microsoft.com/office/drawing/2014/main" id="{B32B9399-3E55-4E8A-977F-6341E206DEBD}"/>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6187D41-452B-465B-A41C-F9D494037291}"/>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Findings can be source-confirmed, source-version-mismatch, source-missing, potential, or report-only.</a:t>
            </a:r>
          </a:p>
        </p:txBody>
      </p:sp>
      <p:sp>
        <p:nvSpPr>
          <p:cNvPr id="17" name="">
            <a:extLst xmlns:a="http://schemas.openxmlformats.org/drawingml/2006/main">
              <a:ext uri="{FF2B5EF4-FFF2-40B4-BE49-F238E27FC236}">
                <a16:creationId xmlns:a16="http://schemas.microsoft.com/office/drawing/2014/main" id="{62272DF9-6BCA-4441-A006-4C72F91CFAE2}"/>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D8B0E2A2-7A9F-4CB8-9638-12E7ACA9A914}"/>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54492BFE-DC45-4666-B83C-FD8131D623A6}"/>
              </a:ext>
            </a:extLst>
          </p:cNvPr>
          <p:cNvSpPr>
            <a:spLocks xmlns:a="http://schemas.openxmlformats.org/drawingml/2006/main" noGrp="1"/>
          </p:cNvSpPr>
          <p:nvPr/>
        </p:nvSpPr>
        <p:spPr>
          <a:xfrm xmlns:a="http://schemas.openxmlformats.org/drawingml/2006/main">
            <a:off x="662940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3F37649A-D0A6-4483-9C18-AEFA73B3F1E1}"/>
              </a:ext>
            </a:extLst>
          </p:cNvPr>
          <p:cNvSpPr>
            <a:spLocks xmlns:a="http://schemas.openxmlformats.org/drawingml/2006/main" noGrp="1"/>
          </p:cNvSpPr>
          <p:nvPr/>
        </p:nvSpPr>
        <p:spPr>
          <a:xfrm xmlns:a="http://schemas.openxmlformats.org/drawingml/2006/main">
            <a:off x="672465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APK</a:t>
            </a:r>
          </a:p>
        </p:txBody>
      </p:sp>
      <p:sp>
        <p:nvSpPr>
          <p:cNvPr id="21" name="">
            <a:extLst xmlns:a="http://schemas.openxmlformats.org/drawingml/2006/main">
              <a:ext uri="{FF2B5EF4-FFF2-40B4-BE49-F238E27FC236}">
                <a16:creationId xmlns:a16="http://schemas.microsoft.com/office/drawing/2014/main" id="{99258F28-BAFC-41C8-B6B8-EF06C8D91272}"/>
              </a:ext>
            </a:extLst>
          </p:cNvPr>
          <p:cNvSpPr>
            <a:spLocks xmlns:a="http://schemas.openxmlformats.org/drawingml/2006/main" noGrp="1"/>
          </p:cNvSpPr>
          <p:nvPr/>
        </p:nvSpPr>
        <p:spPr>
          <a:xfrm xmlns:a="http://schemas.openxmlformats.org/drawingml/2006/main">
            <a:off x="744283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DC17630-E220-4AE4-8E1D-A399F24375FB}"/>
              </a:ext>
            </a:extLst>
          </p:cNvPr>
          <p:cNvSpPr>
            <a:spLocks xmlns:a="http://schemas.openxmlformats.org/drawingml/2006/main" noGrp="1"/>
          </p:cNvSpPr>
          <p:nvPr/>
        </p:nvSpPr>
        <p:spPr>
          <a:xfrm xmlns:a="http://schemas.openxmlformats.org/drawingml/2006/main">
            <a:off x="758571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3" name="">
            <a:extLst xmlns:a="http://schemas.openxmlformats.org/drawingml/2006/main">
              <a:ext uri="{FF2B5EF4-FFF2-40B4-BE49-F238E27FC236}">
                <a16:creationId xmlns:a16="http://schemas.microsoft.com/office/drawing/2014/main" id="{F5E217B3-30A9-4E04-9C53-CE18E86CEFC3}"/>
              </a:ext>
            </a:extLst>
          </p:cNvPr>
          <p:cNvSpPr>
            <a:spLocks xmlns:a="http://schemas.openxmlformats.org/drawingml/2006/main" noGrp="1"/>
          </p:cNvSpPr>
          <p:nvPr/>
        </p:nvSpPr>
        <p:spPr>
          <a:xfrm xmlns:a="http://schemas.openxmlformats.org/drawingml/2006/main">
            <a:off x="768096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Evidence</a:t>
            </a:r>
          </a:p>
        </p:txBody>
      </p:sp>
      <p:sp>
        <p:nvSpPr>
          <p:cNvPr id="24" name="">
            <a:extLst xmlns:a="http://schemas.openxmlformats.org/drawingml/2006/main">
              <a:ext uri="{FF2B5EF4-FFF2-40B4-BE49-F238E27FC236}">
                <a16:creationId xmlns:a16="http://schemas.microsoft.com/office/drawing/2014/main" id="{A3FF4AF1-20C5-4535-BA24-93E6888270C6}"/>
              </a:ext>
            </a:extLst>
          </p:cNvPr>
          <p:cNvSpPr>
            <a:spLocks xmlns:a="http://schemas.openxmlformats.org/drawingml/2006/main" noGrp="1"/>
          </p:cNvSpPr>
          <p:nvPr/>
        </p:nvSpPr>
        <p:spPr>
          <a:xfrm xmlns:a="http://schemas.openxmlformats.org/drawingml/2006/main">
            <a:off x="839914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3F3F3A8-8E4C-475F-A151-29AD08FCDE14}"/>
              </a:ext>
            </a:extLst>
          </p:cNvPr>
          <p:cNvSpPr>
            <a:spLocks xmlns:a="http://schemas.openxmlformats.org/drawingml/2006/main" noGrp="1"/>
          </p:cNvSpPr>
          <p:nvPr/>
        </p:nvSpPr>
        <p:spPr>
          <a:xfrm xmlns:a="http://schemas.openxmlformats.org/drawingml/2006/main">
            <a:off x="854202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29ED512D-BA5A-4EAF-BDB5-5575A89E4E61}"/>
              </a:ext>
            </a:extLst>
          </p:cNvPr>
          <p:cNvSpPr>
            <a:spLocks xmlns:a="http://schemas.openxmlformats.org/drawingml/2006/main" noGrp="1"/>
          </p:cNvSpPr>
          <p:nvPr/>
        </p:nvSpPr>
        <p:spPr>
          <a:xfrm xmlns:a="http://schemas.openxmlformats.org/drawingml/2006/main">
            <a:off x="863727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Match</a:t>
            </a:r>
          </a:p>
        </p:txBody>
      </p:sp>
      <p:sp>
        <p:nvSpPr>
          <p:cNvPr id="27" name="">
            <a:extLst xmlns:a="http://schemas.openxmlformats.org/drawingml/2006/main">
              <a:ext uri="{FF2B5EF4-FFF2-40B4-BE49-F238E27FC236}">
                <a16:creationId xmlns:a16="http://schemas.microsoft.com/office/drawing/2014/main" id="{4BE7A2AA-6803-4954-BF8F-16CBF15546B6}"/>
              </a:ext>
            </a:extLst>
          </p:cNvPr>
          <p:cNvSpPr>
            <a:spLocks xmlns:a="http://schemas.openxmlformats.org/drawingml/2006/main" noGrp="1"/>
          </p:cNvSpPr>
          <p:nvPr/>
        </p:nvSpPr>
        <p:spPr>
          <a:xfrm xmlns:a="http://schemas.openxmlformats.org/drawingml/2006/main">
            <a:off x="935545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8D89886-98AE-40A5-925E-600EE3E4FC7A}"/>
              </a:ext>
            </a:extLst>
          </p:cNvPr>
          <p:cNvSpPr>
            <a:spLocks xmlns:a="http://schemas.openxmlformats.org/drawingml/2006/main" noGrp="1"/>
          </p:cNvSpPr>
          <p:nvPr/>
        </p:nvSpPr>
        <p:spPr>
          <a:xfrm xmlns:a="http://schemas.openxmlformats.org/drawingml/2006/main">
            <a:off x="9498330" y="2952750"/>
            <a:ext cx="82296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9" name="">
            <a:extLst xmlns:a="http://schemas.openxmlformats.org/drawingml/2006/main">
              <a:ext uri="{FF2B5EF4-FFF2-40B4-BE49-F238E27FC236}">
                <a16:creationId xmlns:a16="http://schemas.microsoft.com/office/drawing/2014/main" id="{398EA532-65F0-499E-A1C1-BFB5BD1FFE04}"/>
              </a:ext>
            </a:extLst>
          </p:cNvPr>
          <p:cNvSpPr>
            <a:spLocks xmlns:a="http://schemas.openxmlformats.org/drawingml/2006/main" noGrp="1"/>
          </p:cNvSpPr>
          <p:nvPr/>
        </p:nvSpPr>
        <p:spPr>
          <a:xfrm xmlns:a="http://schemas.openxmlformats.org/drawingml/2006/main">
            <a:off x="959358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SBOM</a:t>
            </a:r>
          </a:p>
        </p:txBody>
      </p:sp>
      <p:sp>
        <p:nvSpPr>
          <p:cNvPr id="30" name="">
            <a:extLst xmlns:a="http://schemas.openxmlformats.org/drawingml/2006/main">
              <a:ext uri="{FF2B5EF4-FFF2-40B4-BE49-F238E27FC236}">
                <a16:creationId xmlns:a16="http://schemas.microsoft.com/office/drawing/2014/main" id="{2FB0AE9C-52E9-43CA-B5E3-B282334A94AD}"/>
              </a:ext>
            </a:extLst>
          </p:cNvPr>
          <p:cNvSpPr>
            <a:spLocks xmlns:a="http://schemas.openxmlformats.org/drawingml/2006/main" noGrp="1"/>
          </p:cNvSpPr>
          <p:nvPr/>
        </p:nvSpPr>
        <p:spPr>
          <a:xfrm xmlns:a="http://schemas.openxmlformats.org/drawingml/2006/main">
            <a:off x="10311765" y="31527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F606831-E4F8-473A-B0F7-57B440450E0E}"/>
              </a:ext>
            </a:extLst>
          </p:cNvPr>
          <p:cNvSpPr>
            <a:spLocks xmlns:a="http://schemas.openxmlformats.org/drawingml/2006/main" noGrp="1"/>
          </p:cNvSpPr>
          <p:nvPr/>
        </p:nvSpPr>
        <p:spPr>
          <a:xfrm xmlns:a="http://schemas.openxmlformats.org/drawingml/2006/main">
            <a:off x="10454640" y="2952750"/>
            <a:ext cx="82296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2" name="">
            <a:extLst xmlns:a="http://schemas.openxmlformats.org/drawingml/2006/main">
              <a:ext uri="{FF2B5EF4-FFF2-40B4-BE49-F238E27FC236}">
                <a16:creationId xmlns:a16="http://schemas.microsoft.com/office/drawing/2014/main" id="{4EDEDEE8-AE05-4CA2-B848-E14B21BD643D}"/>
              </a:ext>
            </a:extLst>
          </p:cNvPr>
          <p:cNvSpPr>
            <a:spLocks xmlns:a="http://schemas.openxmlformats.org/drawingml/2006/main" noGrp="1"/>
          </p:cNvSpPr>
          <p:nvPr/>
        </p:nvSpPr>
        <p:spPr>
          <a:xfrm xmlns:a="http://schemas.openxmlformats.org/drawingml/2006/main">
            <a:off x="10549890" y="3133725"/>
            <a:ext cx="63246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a:t>
            </a:r>
          </a:p>
        </p:txBody>
      </p:sp>
      <p:sp>
        <p:nvSpPr>
          <p:cNvPr id="33" name="">
            <a:extLst xmlns:a="http://schemas.openxmlformats.org/drawingml/2006/main">
              <a:ext uri="{FF2B5EF4-FFF2-40B4-BE49-F238E27FC236}">
                <a16:creationId xmlns:a16="http://schemas.microsoft.com/office/drawing/2014/main" id="{851B48C9-7849-46B1-9F87-DB31DBFFFFF1}"/>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OSV and classification.</a:t>
            </a:r>
          </a:p>
        </p:txBody>
      </p:sp>
      <p:sp>
        <p:nvSpPr>
          <p:cNvPr id="34" name="">
            <a:extLst xmlns:a="http://schemas.openxmlformats.org/drawingml/2006/main">
              <a:ext uri="{FF2B5EF4-FFF2-40B4-BE49-F238E27FC236}">
                <a16:creationId xmlns:a16="http://schemas.microsoft.com/office/drawing/2014/main" id="{B9A782A0-DD2F-49BA-9986-02C329E3A73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185754159"/>
      </p:ext>
    </p:extLst>
  </p:cSld>
</p:sld>
</file>

<file path=ppt/slides/slide4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D7C8C4-A623-43AD-84A2-40B7B81D95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7A2698-75D5-4E29-9274-9545A04ABFA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CBD9BC-9A6E-4A83-B912-02D3E42F8856}"/>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2E64E996-900A-4697-A4A9-5CDE0F7D297B}"/>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44</a:t>
            </a:r>
          </a:p>
        </p:txBody>
      </p:sp>
      <p:sp>
        <p:nvSpPr>
          <p:cNvPr id="5" name="">
            <a:extLst xmlns:a="http://schemas.openxmlformats.org/drawingml/2006/main">
              <a:ext uri="{FF2B5EF4-FFF2-40B4-BE49-F238E27FC236}">
                <a16:creationId xmlns:a16="http://schemas.microsoft.com/office/drawing/2014/main" id="{0B230C80-8E79-4383-89C4-C94F254A1F06}"/>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Reports make the evidence inspectable</a:t>
            </a:r>
          </a:p>
        </p:txBody>
      </p:sp>
      <p:sp>
        <p:nvSpPr>
          <p:cNvPr id="6" name="">
            <a:extLst xmlns:a="http://schemas.openxmlformats.org/drawingml/2006/main">
              <a:ext uri="{FF2B5EF4-FFF2-40B4-BE49-F238E27FC236}">
                <a16:creationId xmlns:a16="http://schemas.microsoft.com/office/drawing/2014/main" id="{778087D8-704A-4D66-9FAC-CB47573C3CBF}"/>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F498C3D-F0BA-4911-A2E7-CCEDBDB395F3}"/>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FD0F365B-B6CA-427D-B89E-05F48C3D423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3BA0492F-87F7-49F2-81EB-2DF8E7901C02}"/>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BBD3CB-BC94-46AF-B25F-4CBF8A52E4E5}"/>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matches.json for ranked candidates.</a:t>
            </a:r>
          </a:p>
        </p:txBody>
      </p:sp>
      <p:sp>
        <p:nvSpPr>
          <p:cNvPr id="11" name="">
            <a:extLst xmlns:a="http://schemas.openxmlformats.org/drawingml/2006/main">
              <a:ext uri="{FF2B5EF4-FFF2-40B4-BE49-F238E27FC236}">
                <a16:creationId xmlns:a16="http://schemas.microsoft.com/office/drawing/2014/main" id="{EE511581-3FAA-4761-9BE3-306997744BFA}"/>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E8B8C9A-B093-4192-B149-4F63875804EB}"/>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sbom.cdx.json for standard SBOM output.</a:t>
            </a:r>
          </a:p>
        </p:txBody>
      </p:sp>
      <p:sp>
        <p:nvSpPr>
          <p:cNvPr id="13" name="">
            <a:extLst xmlns:a="http://schemas.openxmlformats.org/drawingml/2006/main">
              <a:ext uri="{FF2B5EF4-FFF2-40B4-BE49-F238E27FC236}">
                <a16:creationId xmlns:a16="http://schemas.microsoft.com/office/drawing/2014/main" id="{9FC67341-5728-479E-A835-0F4DAAE34291}"/>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CE8A0B3-31E4-4DB9-BF86-E6E3B6E31F36}"/>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osv-vulnerabilities.json for vulnerability responses.</a:t>
            </a:r>
          </a:p>
        </p:txBody>
      </p:sp>
      <p:sp>
        <p:nvSpPr>
          <p:cNvPr id="15" name="">
            <a:extLst xmlns:a="http://schemas.openxmlformats.org/drawingml/2006/main">
              <a:ext uri="{FF2B5EF4-FFF2-40B4-BE49-F238E27FC236}">
                <a16:creationId xmlns:a16="http://schemas.microsoft.com/office/drawing/2014/main" id="{F9EEF00F-EB31-43BC-81E3-B0F705FF9803}"/>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6810076-0ADF-4FF1-9E9D-83CCABABC8DD}"/>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report.json for combined machine-readable evidence.</a:t>
            </a:r>
          </a:p>
        </p:txBody>
      </p:sp>
      <p:sp>
        <p:nvSpPr>
          <p:cNvPr id="17" name="">
            <a:extLst xmlns:a="http://schemas.openxmlformats.org/drawingml/2006/main">
              <a:ext uri="{FF2B5EF4-FFF2-40B4-BE49-F238E27FC236}">
                <a16:creationId xmlns:a16="http://schemas.microsoft.com/office/drawing/2014/main" id="{CE3FDD50-2CEF-4B90-B871-F0D1A1F0F1F6}"/>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B88A38-EEFF-4B50-9661-A9EE05EB2204}"/>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report.md and report.html for human review.</a:t>
            </a:r>
          </a:p>
        </p:txBody>
      </p:sp>
      <p:sp>
        <p:nvSpPr>
          <p:cNvPr id="19" name="">
            <a:extLst xmlns:a="http://schemas.openxmlformats.org/drawingml/2006/main">
              <a:ext uri="{FF2B5EF4-FFF2-40B4-BE49-F238E27FC236}">
                <a16:creationId xmlns:a16="http://schemas.microsoft.com/office/drawing/2014/main" id="{98930A81-E450-491C-A9FE-61A26F9A76DF}"/>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17D53AD0-EF45-4532-89DD-C28B47F397F8}"/>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CD883DA3-C54A-4F49-A10B-88C22C912562}"/>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03B7A2B7-9CCC-4E0A-896D-5028E17D6169}"/>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3" name="">
            <a:extLst xmlns:a="http://schemas.openxmlformats.org/drawingml/2006/main">
              <a:ext uri="{FF2B5EF4-FFF2-40B4-BE49-F238E27FC236}">
                <a16:creationId xmlns:a16="http://schemas.microsoft.com/office/drawing/2014/main" id="{D8259096-2AD3-4BA5-BD32-F3905BD1B395}"/>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3A6E766C-75E8-41FD-80D2-6A9D64AF04E0}"/>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Output artifact bundle.</a:t>
            </a:r>
          </a:p>
        </p:txBody>
      </p:sp>
      <p:sp>
        <p:nvSpPr>
          <p:cNvPr id="25" name="">
            <a:extLst xmlns:a="http://schemas.openxmlformats.org/drawingml/2006/main">
              <a:ext uri="{FF2B5EF4-FFF2-40B4-BE49-F238E27FC236}">
                <a16:creationId xmlns:a16="http://schemas.microsoft.com/office/drawing/2014/main" id="{015EB2E7-B394-429F-9C52-645895B087E0}"/>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30E79452-F374-4F29-B540-AA6A4E8A384C}"/>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7" name="">
            <a:extLst xmlns:a="http://schemas.openxmlformats.org/drawingml/2006/main">
              <a:ext uri="{FF2B5EF4-FFF2-40B4-BE49-F238E27FC236}">
                <a16:creationId xmlns:a16="http://schemas.microsoft.com/office/drawing/2014/main" id="{5A27F7F5-AFD4-46AA-B63D-E997EAEEF123}"/>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report outputs.</a:t>
            </a:r>
          </a:p>
        </p:txBody>
      </p:sp>
      <p:sp>
        <p:nvSpPr>
          <p:cNvPr id="28" name="">
            <a:extLst xmlns:a="http://schemas.openxmlformats.org/drawingml/2006/main">
              <a:ext uri="{FF2B5EF4-FFF2-40B4-BE49-F238E27FC236}">
                <a16:creationId xmlns:a16="http://schemas.microsoft.com/office/drawing/2014/main" id="{837D3DE4-DFD4-46E0-AA19-023FA656E525}"/>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69233489"/>
      </p:ext>
    </p:extLst>
  </p:cSld>
</p:sld>
</file>

<file path=ppt/slides/slide4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2B6D32-01E6-4FA1-8101-97A1D34CB53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7B737F-57F7-472D-B8CA-AB5D51E7824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575FAFE-7CA7-4AEF-9C78-30F19BDB401A}"/>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684CDFA0-E386-4B61-ABB7-5D3B5F890CCF}"/>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45</a:t>
            </a:r>
          </a:p>
        </p:txBody>
      </p:sp>
      <p:sp>
        <p:nvSpPr>
          <p:cNvPr id="5" name="">
            <a:extLst xmlns:a="http://schemas.openxmlformats.org/drawingml/2006/main">
              <a:ext uri="{FF2B5EF4-FFF2-40B4-BE49-F238E27FC236}">
                <a16:creationId xmlns:a16="http://schemas.microsoft.com/office/drawing/2014/main" id="{0B9085E8-52F3-4BCF-A290-8FAC2E2975A4}"/>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CLI supports stage-level diagnosis</a:t>
            </a:r>
          </a:p>
        </p:txBody>
      </p:sp>
      <p:sp>
        <p:nvSpPr>
          <p:cNvPr id="6" name="">
            <a:extLst xmlns:a="http://schemas.openxmlformats.org/drawingml/2006/main">
              <a:ext uri="{FF2B5EF4-FFF2-40B4-BE49-F238E27FC236}">
                <a16:creationId xmlns:a16="http://schemas.microsoft.com/office/drawing/2014/main" id="{DE47D2D3-C983-4FC0-AA78-7D8A355A5360}"/>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EB4422F-990B-4AA9-BFA2-66C580B78806}"/>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3175F3AE-7AF9-46BC-A5C4-8E3EDBA0DC1F}"/>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EEF809E4-8D0D-4C16-90FA-958A5744DA05}"/>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DBBBB1-83BF-47BB-A553-B333450E11A6}"/>
              </a:ext>
            </a:extLst>
          </p:cNvPr>
          <p:cNvSpPr>
            <a:spLocks xmlns:a="http://schemas.openxmlformats.org/drawingml/2006/main" noGrp="1"/>
          </p:cNvSpPr>
          <p:nvPr/>
        </p:nvSpPr>
        <p:spPr>
          <a:xfrm xmlns:a="http://schemas.openxmlformats.org/drawingml/2006/main">
            <a:off x="1028700" y="2038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inspect-apk checks archive, manifest, DEX, native, and forensic evidence.</a:t>
            </a:r>
          </a:p>
        </p:txBody>
      </p:sp>
      <p:sp>
        <p:nvSpPr>
          <p:cNvPr id="11" name="">
            <a:extLst xmlns:a="http://schemas.openxmlformats.org/drawingml/2006/main">
              <a:ext uri="{FF2B5EF4-FFF2-40B4-BE49-F238E27FC236}">
                <a16:creationId xmlns:a16="http://schemas.microsoft.com/office/drawing/2014/main" id="{78388770-90C3-4A34-95C8-8B95DB398787}"/>
              </a:ext>
            </a:extLst>
          </p:cNvPr>
          <p:cNvSpPr>
            <a:spLocks xmlns:a="http://schemas.openxmlformats.org/drawingml/2006/main" noGrp="1"/>
          </p:cNvSpPr>
          <p:nvPr/>
        </p:nvSpPr>
        <p:spPr>
          <a:xfrm xmlns:a="http://schemas.openxmlformats.org/drawingml/2006/main">
            <a:off x="857250" y="2581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160FE13-7ECD-4729-9A6C-D1322079E2E2}"/>
              </a:ext>
            </a:extLst>
          </p:cNvPr>
          <p:cNvSpPr>
            <a:spLocks xmlns:a="http://schemas.openxmlformats.org/drawingml/2006/main" noGrp="1"/>
          </p:cNvSpPr>
          <p:nvPr/>
        </p:nvSpPr>
        <p:spPr>
          <a:xfrm xmlns:a="http://schemas.openxmlformats.org/drawingml/2006/main">
            <a:off x="1028700" y="2514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analyze-dex checks bytecode features.</a:t>
            </a:r>
          </a:p>
        </p:txBody>
      </p:sp>
      <p:sp>
        <p:nvSpPr>
          <p:cNvPr id="13" name="">
            <a:extLst xmlns:a="http://schemas.openxmlformats.org/drawingml/2006/main">
              <a:ext uri="{FF2B5EF4-FFF2-40B4-BE49-F238E27FC236}">
                <a16:creationId xmlns:a16="http://schemas.microsoft.com/office/drawing/2014/main" id="{95ED1D48-BF98-4CB5-B954-ACD64D818B48}"/>
              </a:ext>
            </a:extLst>
          </p:cNvPr>
          <p:cNvSpPr>
            <a:spLocks xmlns:a="http://schemas.openxmlformats.org/drawingml/2006/main" noGrp="1"/>
          </p:cNvSpPr>
          <p:nvPr/>
        </p:nvSpPr>
        <p:spPr>
          <a:xfrm xmlns:a="http://schemas.openxmlformats.org/drawingml/2006/main">
            <a:off x="857250" y="3057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7A9D65-B182-4DF6-97A6-3D8AFE60453F}"/>
              </a:ext>
            </a:extLst>
          </p:cNvPr>
          <p:cNvSpPr>
            <a:spLocks xmlns:a="http://schemas.openxmlformats.org/drawingml/2006/main" noGrp="1"/>
          </p:cNvSpPr>
          <p:nvPr/>
        </p:nvSpPr>
        <p:spPr>
          <a:xfrm xmlns:a="http://schemas.openxmlformats.org/drawingml/2006/main">
            <a:off x="1028700" y="2990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match-apk checks ranked candidates.</a:t>
            </a:r>
          </a:p>
        </p:txBody>
      </p:sp>
      <p:sp>
        <p:nvSpPr>
          <p:cNvPr id="15" name="">
            <a:extLst xmlns:a="http://schemas.openxmlformats.org/drawingml/2006/main">
              <a:ext uri="{FF2B5EF4-FFF2-40B4-BE49-F238E27FC236}">
                <a16:creationId xmlns:a16="http://schemas.microsoft.com/office/drawing/2014/main" id="{984F4E0F-BF54-4E15-93D1-43D80010738E}"/>
              </a:ext>
            </a:extLst>
          </p:cNvPr>
          <p:cNvSpPr>
            <a:spLocks xmlns:a="http://schemas.openxmlformats.org/drawingml/2006/main" noGrp="1"/>
          </p:cNvSpPr>
          <p:nvPr/>
        </p:nvSpPr>
        <p:spPr>
          <a:xfrm xmlns:a="http://schemas.openxmlformats.org/drawingml/2006/main">
            <a:off x="857250" y="3533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5265E72-CE7F-4166-9FB4-E12AFA886CA6}"/>
              </a:ext>
            </a:extLst>
          </p:cNvPr>
          <p:cNvSpPr>
            <a:spLocks xmlns:a="http://schemas.openxmlformats.org/drawingml/2006/main" noGrp="1"/>
          </p:cNvSpPr>
          <p:nvPr/>
        </p:nvSpPr>
        <p:spPr>
          <a:xfrm xmlns:a="http://schemas.openxmlformats.org/drawingml/2006/main">
            <a:off x="1028700" y="34671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generate-sbom writes CycloneDX.</a:t>
            </a:r>
          </a:p>
        </p:txBody>
      </p:sp>
      <p:sp>
        <p:nvSpPr>
          <p:cNvPr id="17" name="">
            <a:extLst xmlns:a="http://schemas.openxmlformats.org/drawingml/2006/main">
              <a:ext uri="{FF2B5EF4-FFF2-40B4-BE49-F238E27FC236}">
                <a16:creationId xmlns:a16="http://schemas.microsoft.com/office/drawing/2014/main" id="{6845F19B-0427-4A3A-B721-724DD0A0EF10}"/>
              </a:ext>
            </a:extLst>
          </p:cNvPr>
          <p:cNvSpPr>
            <a:spLocks xmlns:a="http://schemas.openxmlformats.org/drawingml/2006/main" noGrp="1"/>
          </p:cNvSpPr>
          <p:nvPr/>
        </p:nvSpPr>
        <p:spPr>
          <a:xfrm xmlns:a="http://schemas.openxmlformats.org/drawingml/2006/main">
            <a:off x="857250" y="4010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38C824B-2585-47CC-AEFC-48ADF27BBA01}"/>
              </a:ext>
            </a:extLst>
          </p:cNvPr>
          <p:cNvSpPr>
            <a:spLocks xmlns:a="http://schemas.openxmlformats.org/drawingml/2006/main" noGrp="1"/>
          </p:cNvSpPr>
          <p:nvPr/>
        </p:nvSpPr>
        <p:spPr>
          <a:xfrm xmlns:a="http://schemas.openxmlformats.org/drawingml/2006/main">
            <a:off x="1028700" y="3943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scan-sbom-osv enriches vulnerabilities.</a:t>
            </a:r>
          </a:p>
        </p:txBody>
      </p:sp>
      <p:sp>
        <p:nvSpPr>
          <p:cNvPr id="19" name="">
            <a:extLst xmlns:a="http://schemas.openxmlformats.org/drawingml/2006/main">
              <a:ext uri="{FF2B5EF4-FFF2-40B4-BE49-F238E27FC236}">
                <a16:creationId xmlns:a16="http://schemas.microsoft.com/office/drawing/2014/main" id="{DB1D01BF-69D3-4211-A5AA-9D8BFF3170F5}"/>
              </a:ext>
            </a:extLst>
          </p:cNvPr>
          <p:cNvSpPr>
            <a:spLocks xmlns:a="http://schemas.openxmlformats.org/drawingml/2006/main" noGrp="1"/>
          </p:cNvSpPr>
          <p:nvPr/>
        </p:nvSpPr>
        <p:spPr>
          <a:xfrm xmlns:a="http://schemas.openxmlformats.org/drawingml/2006/main">
            <a:off x="857250" y="4486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C2978C6-2C45-4B02-8F56-D64DB6A84947}"/>
              </a:ext>
            </a:extLst>
          </p:cNvPr>
          <p:cNvSpPr>
            <a:spLocks xmlns:a="http://schemas.openxmlformats.org/drawingml/2006/main" noGrp="1"/>
          </p:cNvSpPr>
          <p:nvPr/>
        </p:nvSpPr>
        <p:spPr>
          <a:xfrm xmlns:a="http://schemas.openxmlformats.org/drawingml/2006/main">
            <a:off x="1028700" y="4419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generate-report creates the complete package.</a:t>
            </a:r>
          </a:p>
        </p:txBody>
      </p:sp>
      <p:sp>
        <p:nvSpPr>
          <p:cNvPr id="21" name="">
            <a:extLst xmlns:a="http://schemas.openxmlformats.org/drawingml/2006/main">
              <a:ext uri="{FF2B5EF4-FFF2-40B4-BE49-F238E27FC236}">
                <a16:creationId xmlns:a16="http://schemas.microsoft.com/office/drawing/2014/main" id="{63216736-1DB3-4D16-A1BC-6FB3D5D968EC}"/>
              </a:ext>
            </a:extLst>
          </p:cNvPr>
          <p:cNvSpPr>
            <a:spLocks xmlns:a="http://schemas.openxmlformats.org/drawingml/2006/main" noGrp="1"/>
          </p:cNvSpPr>
          <p:nvPr/>
        </p:nvSpPr>
        <p:spPr>
          <a:xfrm xmlns:a="http://schemas.openxmlformats.org/drawingml/2006/main">
            <a:off x="857250" y="4962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1E7AF7-064C-4B67-A00E-2AFCDA2D9934}"/>
              </a:ext>
            </a:extLst>
          </p:cNvPr>
          <p:cNvSpPr>
            <a:spLocks xmlns:a="http://schemas.openxmlformats.org/drawingml/2006/main" noGrp="1"/>
          </p:cNvSpPr>
          <p:nvPr/>
        </p:nvSpPr>
        <p:spPr>
          <a:xfrm xmlns:a="http://schemas.openxmlformats.org/drawingml/2006/main">
            <a:off x="1028700" y="4895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validate-source-deps supports evaluation.</a:t>
            </a:r>
          </a:p>
        </p:txBody>
      </p:sp>
      <p:sp>
        <p:nvSpPr>
          <p:cNvPr id="23" name="">
            <a:extLst xmlns:a="http://schemas.openxmlformats.org/drawingml/2006/main">
              <a:ext uri="{FF2B5EF4-FFF2-40B4-BE49-F238E27FC236}">
                <a16:creationId xmlns:a16="http://schemas.microsoft.com/office/drawing/2014/main" id="{CC51D326-92FE-4642-9178-DB733FA3439F}"/>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AA92E2A8-F945-43DE-837F-99DA00D28CE0}"/>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5" name="">
            <a:extLst xmlns:a="http://schemas.openxmlformats.org/drawingml/2006/main">
              <a:ext uri="{FF2B5EF4-FFF2-40B4-BE49-F238E27FC236}">
                <a16:creationId xmlns:a16="http://schemas.microsoft.com/office/drawing/2014/main" id="{7213C843-4A9F-40C3-8686-CF5DAFF25BC2}"/>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80588B9B-06B2-41FE-8D3D-F44A3A001876}"/>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7" name="">
            <a:extLst xmlns:a="http://schemas.openxmlformats.org/drawingml/2006/main">
              <a:ext uri="{FF2B5EF4-FFF2-40B4-BE49-F238E27FC236}">
                <a16:creationId xmlns:a16="http://schemas.microsoft.com/office/drawing/2014/main" id="{12FAFAA4-8DD4-47B1-90C5-99A7743C7BB2}"/>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6BA009E9-579E-4E76-9BC9-1A56735831F8}"/>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Command table.</a:t>
            </a:r>
          </a:p>
        </p:txBody>
      </p:sp>
      <p:sp>
        <p:nvSpPr>
          <p:cNvPr id="29" name="">
            <a:extLst xmlns:a="http://schemas.openxmlformats.org/drawingml/2006/main">
              <a:ext uri="{FF2B5EF4-FFF2-40B4-BE49-F238E27FC236}">
                <a16:creationId xmlns:a16="http://schemas.microsoft.com/office/drawing/2014/main" id="{A41C202C-BC96-4715-BB52-15F94B8775D3}"/>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CD581D9E-C8E3-4A15-A0FA-85B724C9CBA8}"/>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31" name="">
            <a:extLst xmlns:a="http://schemas.openxmlformats.org/drawingml/2006/main">
              <a:ext uri="{FF2B5EF4-FFF2-40B4-BE49-F238E27FC236}">
                <a16:creationId xmlns:a16="http://schemas.microsoft.com/office/drawing/2014/main" id="{956A2EE8-EAD8-4FEA-838C-2AACFC51B31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commands.</a:t>
            </a:r>
          </a:p>
        </p:txBody>
      </p:sp>
      <p:sp>
        <p:nvSpPr>
          <p:cNvPr id="32" name="">
            <a:extLst xmlns:a="http://schemas.openxmlformats.org/drawingml/2006/main">
              <a:ext uri="{FF2B5EF4-FFF2-40B4-BE49-F238E27FC236}">
                <a16:creationId xmlns:a16="http://schemas.microsoft.com/office/drawing/2014/main" id="{61BA79B8-27EA-47DD-989C-BD7376A2BF0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06197599"/>
      </p:ext>
    </p:extLst>
  </p:cSld>
</p:sld>
</file>

<file path=ppt/slides/slide4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1FD1C2-978D-4E2C-9921-1FB53766C1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D45F687-E286-4826-9CA4-C760ABE1C9F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6EA0729-5C89-4AF5-9550-4A3E182B404F}"/>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14FB3F17-4633-4E84-89E4-19454736FDB2}"/>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46</a:t>
            </a:r>
          </a:p>
        </p:txBody>
      </p:sp>
      <p:sp>
        <p:nvSpPr>
          <p:cNvPr id="5" name="">
            <a:extLst xmlns:a="http://schemas.openxmlformats.org/drawingml/2006/main">
              <a:ext uri="{FF2B5EF4-FFF2-40B4-BE49-F238E27FC236}">
                <a16:creationId xmlns:a16="http://schemas.microsoft.com/office/drawing/2014/main" id="{A9CF5A7C-F434-4231-A81B-2E34D6279C8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Docker makes the runtime reproducible</a:t>
            </a:r>
          </a:p>
        </p:txBody>
      </p:sp>
      <p:sp>
        <p:nvSpPr>
          <p:cNvPr id="6" name="">
            <a:extLst xmlns:a="http://schemas.openxmlformats.org/drawingml/2006/main">
              <a:ext uri="{FF2B5EF4-FFF2-40B4-BE49-F238E27FC236}">
                <a16:creationId xmlns:a16="http://schemas.microsoft.com/office/drawing/2014/main" id="{9C76F807-A5F5-4897-83F4-F3AE033B50E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6941F03-B25F-44DB-92E0-DF9416123D79}"/>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7DA249FB-BB63-48DD-834E-0A2A9FEBA663}"/>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2E7D0C70-3A2E-49C1-A60E-080832D3819A}"/>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5E2BC1-71F5-4CFB-933D-A54304D969EE}"/>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Python 3.12 runtime.</a:t>
            </a:r>
          </a:p>
        </p:txBody>
      </p:sp>
      <p:sp>
        <p:nvSpPr>
          <p:cNvPr id="11" name="">
            <a:extLst xmlns:a="http://schemas.openxmlformats.org/drawingml/2006/main">
              <a:ext uri="{FF2B5EF4-FFF2-40B4-BE49-F238E27FC236}">
                <a16:creationId xmlns:a16="http://schemas.microsoft.com/office/drawing/2014/main" id="{58F76C57-BB94-4A59-8790-995F88FBBDD5}"/>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37C9699-E25F-43B5-A5DE-B1212484FA98}"/>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APK analysis libraries and DEX tooling.</a:t>
            </a:r>
          </a:p>
        </p:txBody>
      </p:sp>
      <p:sp>
        <p:nvSpPr>
          <p:cNvPr id="13" name="">
            <a:extLst xmlns:a="http://schemas.openxmlformats.org/drawingml/2006/main">
              <a:ext uri="{FF2B5EF4-FFF2-40B4-BE49-F238E27FC236}">
                <a16:creationId xmlns:a16="http://schemas.microsoft.com/office/drawing/2014/main" id="{49E68C2D-C159-4314-8507-933B66C8D8A2}"/>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0C2345-AE5D-4B44-864E-66685450D052}"/>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SQLite reference database.</a:t>
            </a:r>
          </a:p>
        </p:txBody>
      </p:sp>
      <p:sp>
        <p:nvSpPr>
          <p:cNvPr id="15" name="">
            <a:extLst xmlns:a="http://schemas.openxmlformats.org/drawingml/2006/main">
              <a:ext uri="{FF2B5EF4-FFF2-40B4-BE49-F238E27FC236}">
                <a16:creationId xmlns:a16="http://schemas.microsoft.com/office/drawing/2014/main" id="{93B14B91-0B3E-441A-80FC-F8A9DD76F94C}"/>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59B7288-FA85-412F-94A5-DD50CDEB1A13}"/>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Project commands run through docker compose.</a:t>
            </a:r>
          </a:p>
        </p:txBody>
      </p:sp>
      <p:sp>
        <p:nvSpPr>
          <p:cNvPr id="17" name="">
            <a:extLst xmlns:a="http://schemas.openxmlformats.org/drawingml/2006/main">
              <a:ext uri="{FF2B5EF4-FFF2-40B4-BE49-F238E27FC236}">
                <a16:creationId xmlns:a16="http://schemas.microsoft.com/office/drawing/2014/main" id="{DCA8A04E-EADB-4BED-BAC0-E3E31776D645}"/>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3BC4243-155A-4AEC-A6E4-9B04B9B7ABE2}"/>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Cached artifacts support defense demos without long rebuilds.</a:t>
            </a:r>
          </a:p>
        </p:txBody>
      </p:sp>
      <p:sp>
        <p:nvSpPr>
          <p:cNvPr id="19" name="">
            <a:extLst xmlns:a="http://schemas.openxmlformats.org/drawingml/2006/main">
              <a:ext uri="{FF2B5EF4-FFF2-40B4-BE49-F238E27FC236}">
                <a16:creationId xmlns:a16="http://schemas.microsoft.com/office/drawing/2014/main" id="{0D026B0A-C6EC-42AD-AA84-C6E84598BBD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9501BDC0-8EF2-472A-928F-340C23A3DA66}"/>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423AC617-C04D-4CAB-81A6-6CCF11DEA293}"/>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357B8B32-EC7E-46D0-B396-C150E30DFBD6}"/>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Docker runtime box with inputs and outputs.</a:t>
            </a:r>
          </a:p>
        </p:txBody>
      </p:sp>
      <p:sp>
        <p:nvSpPr>
          <p:cNvPr id="23" name="">
            <a:extLst xmlns:a="http://schemas.openxmlformats.org/drawingml/2006/main">
              <a:ext uri="{FF2B5EF4-FFF2-40B4-BE49-F238E27FC236}">
                <a16:creationId xmlns:a16="http://schemas.microsoft.com/office/drawing/2014/main" id="{835EF589-31E5-4C09-B393-E1EF9F6AD5DB}"/>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Cover environment.</a:t>
            </a:r>
          </a:p>
        </p:txBody>
      </p:sp>
      <p:sp>
        <p:nvSpPr>
          <p:cNvPr id="24" name="">
            <a:extLst xmlns:a="http://schemas.openxmlformats.org/drawingml/2006/main">
              <a:ext uri="{FF2B5EF4-FFF2-40B4-BE49-F238E27FC236}">
                <a16:creationId xmlns:a16="http://schemas.microsoft.com/office/drawing/2014/main" id="{4C9E7BB4-FBB0-4360-A967-E32CA4674F9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54120706"/>
      </p:ext>
    </p:extLst>
  </p:cSld>
</p:sld>
</file>

<file path=ppt/slides/slide4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472ADD-33DD-41D9-AF2B-84136B686B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CF27DC-3896-4C3B-A318-582780C212E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FA0CA7-69AE-48B1-80D4-B00EA688485B}"/>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E21E3A37-1664-4DFA-9BCC-2223BCF6225D}"/>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47</a:t>
            </a:r>
          </a:p>
        </p:txBody>
      </p:sp>
      <p:sp>
        <p:nvSpPr>
          <p:cNvPr id="5" name="">
            <a:extLst xmlns:a="http://schemas.openxmlformats.org/drawingml/2006/main">
              <a:ext uri="{FF2B5EF4-FFF2-40B4-BE49-F238E27FC236}">
                <a16:creationId xmlns:a16="http://schemas.microsoft.com/office/drawing/2014/main" id="{237FEC2E-8D6F-47AE-ACE8-E525688C9AD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Evaluation layers prevent overclaiming</a:t>
            </a:r>
          </a:p>
        </p:txBody>
      </p:sp>
      <p:sp>
        <p:nvSpPr>
          <p:cNvPr id="6" name="">
            <a:extLst xmlns:a="http://schemas.openxmlformats.org/drawingml/2006/main">
              <a:ext uri="{FF2B5EF4-FFF2-40B4-BE49-F238E27FC236}">
                <a16:creationId xmlns:a16="http://schemas.microsoft.com/office/drawing/2014/main" id="{5500D0D3-DB04-43AF-AFC2-F2D4415CC31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5F65E9C-65F5-4441-A14C-79B0B43BBE28}"/>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2C711622-2848-4ECB-8ABB-0C3914620DC5}"/>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3DFEBF81-8317-4E2A-9AB9-49826F75643F}"/>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A29E0D-A267-4235-B3C7-3A372E9FD635}"/>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Controlled fixtures test mechanics with known ground truth.</a:t>
            </a:r>
          </a:p>
        </p:txBody>
      </p:sp>
      <p:sp>
        <p:nvSpPr>
          <p:cNvPr id="11" name="">
            <a:extLst xmlns:a="http://schemas.openxmlformats.org/drawingml/2006/main">
              <a:ext uri="{FF2B5EF4-FFF2-40B4-BE49-F238E27FC236}">
                <a16:creationId xmlns:a16="http://schemas.microsoft.com/office/drawing/2014/main" id="{3E393AC9-D9AC-41D6-8724-56F8EBC5C8BA}"/>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D91349A-273D-4093-9FD3-3355C0BD4B9A}"/>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Clean real APKs test exact emitted rows in easier source-validated cases.</a:t>
            </a:r>
          </a:p>
        </p:txBody>
      </p:sp>
      <p:sp>
        <p:nvSpPr>
          <p:cNvPr id="13" name="">
            <a:extLst xmlns:a="http://schemas.openxmlformats.org/drawingml/2006/main">
              <a:ext uri="{FF2B5EF4-FFF2-40B4-BE49-F238E27FC236}">
                <a16:creationId xmlns:a16="http://schemas.microsoft.com/office/drawing/2014/main" id="{BE9AC723-3142-4672-8A2D-8C76B2649049}"/>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6AA8E9F-F278-4776-A851-51C4B444BA20}"/>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Partial real APKs expose hard families.</a:t>
            </a:r>
          </a:p>
        </p:txBody>
      </p:sp>
      <p:sp>
        <p:nvSpPr>
          <p:cNvPr id="15" name="">
            <a:extLst xmlns:a="http://schemas.openxmlformats.org/drawingml/2006/main">
              <a:ext uri="{FF2B5EF4-FFF2-40B4-BE49-F238E27FC236}">
                <a16:creationId xmlns:a16="http://schemas.microsoft.com/office/drawing/2014/main" id="{7297AF7D-AD07-4AE0-8434-E96340A0BB92}"/>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3B9E889-2E1D-4320-848F-A4165C6BD832}"/>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No-Maven-signal controls measure emission boundaries.</a:t>
            </a:r>
          </a:p>
        </p:txBody>
      </p:sp>
      <p:sp>
        <p:nvSpPr>
          <p:cNvPr id="17" name="">
            <a:extLst xmlns:a="http://schemas.openxmlformats.org/drawingml/2006/main">
              <a:ext uri="{FF2B5EF4-FFF2-40B4-BE49-F238E27FC236}">
                <a16:creationId xmlns:a16="http://schemas.microsoft.com/office/drawing/2014/main" id="{0CC8F957-9622-40A7-8BBD-3B4E1410ECCA}"/>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F017155-2229-434B-82B4-640FB8CB5D15}"/>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Limitation cases test native and hidden-code scope.</a:t>
            </a:r>
          </a:p>
        </p:txBody>
      </p:sp>
      <p:sp>
        <p:nvSpPr>
          <p:cNvPr id="19" name="">
            <a:extLst xmlns:a="http://schemas.openxmlformats.org/drawingml/2006/main">
              <a:ext uri="{FF2B5EF4-FFF2-40B4-BE49-F238E27FC236}">
                <a16:creationId xmlns:a16="http://schemas.microsoft.com/office/drawing/2014/main" id="{DCBAD3E2-5C0C-452A-BC7A-88D044645A63}"/>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54963F90-8D21-41A4-9C49-0763972F0E7E}"/>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D177AB09-428A-4183-80F0-BEC53A4EE0C0}"/>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21E9F757-A734-4F60-B83B-1BD1E98BFF67}"/>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3" name="">
            <a:extLst xmlns:a="http://schemas.openxmlformats.org/drawingml/2006/main">
              <a:ext uri="{FF2B5EF4-FFF2-40B4-BE49-F238E27FC236}">
                <a16:creationId xmlns:a16="http://schemas.microsoft.com/office/drawing/2014/main" id="{4DAB76C6-C75E-49CD-8E5E-4351EF97C34C}"/>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8B306B15-F4B9-480D-8285-C25F8EF5949B}"/>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Evaluation layer table.</a:t>
            </a:r>
          </a:p>
        </p:txBody>
      </p:sp>
      <p:sp>
        <p:nvSpPr>
          <p:cNvPr id="25" name="">
            <a:extLst xmlns:a="http://schemas.openxmlformats.org/drawingml/2006/main">
              <a:ext uri="{FF2B5EF4-FFF2-40B4-BE49-F238E27FC236}">
                <a16:creationId xmlns:a16="http://schemas.microsoft.com/office/drawing/2014/main" id="{F60ECD47-A99D-4169-BBF8-28D286208ECE}"/>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56B5DD4D-7FFE-4AD7-9A42-0DB9AE3EB520}"/>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7" name="">
            <a:extLst xmlns:a="http://schemas.openxmlformats.org/drawingml/2006/main">
              <a:ext uri="{FF2B5EF4-FFF2-40B4-BE49-F238E27FC236}">
                <a16:creationId xmlns:a16="http://schemas.microsoft.com/office/drawing/2014/main" id="{B2EEF962-4C27-44A0-A7BC-0D1CE9BEA8E8}"/>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Present evaluation setup.</a:t>
            </a:r>
          </a:p>
        </p:txBody>
      </p:sp>
      <p:sp>
        <p:nvSpPr>
          <p:cNvPr id="28" name="">
            <a:extLst xmlns:a="http://schemas.openxmlformats.org/drawingml/2006/main">
              <a:ext uri="{FF2B5EF4-FFF2-40B4-BE49-F238E27FC236}">
                <a16:creationId xmlns:a16="http://schemas.microsoft.com/office/drawing/2014/main" id="{2DAAD080-1437-423C-9361-F07AF795D481}"/>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2051358464"/>
      </p:ext>
    </p:extLst>
  </p:cSld>
</p:sld>
</file>

<file path=ppt/slides/slide4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8CF7F0-9A84-44EB-A55E-E09FE495C4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191541-A7B9-4D78-BF1A-E7F2506B960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E0C0B4E-99C4-4E52-923C-F23246045F0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ACEAD4E0-8447-45DF-B4B3-46777F2EBE1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48</a:t>
            </a:r>
          </a:p>
        </p:txBody>
      </p:sp>
      <p:sp>
        <p:nvSpPr>
          <p:cNvPr id="5" name="">
            <a:extLst xmlns:a="http://schemas.openxmlformats.org/drawingml/2006/main">
              <a:ext uri="{FF2B5EF4-FFF2-40B4-BE49-F238E27FC236}">
                <a16:creationId xmlns:a16="http://schemas.microsoft.com/office/drawing/2014/main" id="{5932606C-9EE3-4280-B113-ABAFACEDEF04}"/>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Controlled fixtures validate mechanics</a:t>
            </a:r>
          </a:p>
        </p:txBody>
      </p:sp>
      <p:sp>
        <p:nvSpPr>
          <p:cNvPr id="6" name="">
            <a:extLst xmlns:a="http://schemas.openxmlformats.org/drawingml/2006/main">
              <a:ext uri="{FF2B5EF4-FFF2-40B4-BE49-F238E27FC236}">
                <a16:creationId xmlns:a16="http://schemas.microsoft.com/office/drawing/2014/main" id="{92392DBD-DB40-4071-AC8B-D50E72F60AEE}"/>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81B5344-6023-446E-BB9D-08CC86C976B7}"/>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DAAC9732-7E44-4A5A-B76B-F896235328B4}"/>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B8BCD57D-A864-4525-8B02-E6BF3468BB3B}"/>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464BAC-A39D-4389-915E-15A14740EDD7}"/>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72 controlled APK fixtures.</a:t>
            </a:r>
          </a:p>
        </p:txBody>
      </p:sp>
      <p:sp>
        <p:nvSpPr>
          <p:cNvPr id="11" name="">
            <a:extLst xmlns:a="http://schemas.openxmlformats.org/drawingml/2006/main">
              <a:ext uri="{FF2B5EF4-FFF2-40B4-BE49-F238E27FC236}">
                <a16:creationId xmlns:a16="http://schemas.microsoft.com/office/drawing/2014/main" id="{E292E4F7-A80C-4949-8177-A5E8B7ECAB9F}"/>
              </a:ext>
            </a:extLst>
          </p:cNvPr>
          <p:cNvSpPr>
            <a:spLocks xmlns:a="http://schemas.openxmlformats.org/drawingml/2006/main" noGrp="1"/>
          </p:cNvSpPr>
          <p:nvPr/>
        </p:nvSpPr>
        <p:spPr>
          <a:xfrm xmlns:a="http://schemas.openxmlformats.org/drawingml/2006/main">
            <a:off x="857250" y="29337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6EAAAED-F2B3-4151-8F52-8A1F4E4884CD}"/>
              </a:ext>
            </a:extLst>
          </p:cNvPr>
          <p:cNvSpPr>
            <a:spLocks xmlns:a="http://schemas.openxmlformats.org/drawingml/2006/main" noGrp="1"/>
          </p:cNvSpPr>
          <p:nvPr/>
        </p:nvSpPr>
        <p:spPr>
          <a:xfrm xmlns:a="http://schemas.openxmlformats.org/drawingml/2006/main">
            <a:off x="1028700" y="28670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84 expected Maven coordinate and version pairs.</a:t>
            </a:r>
          </a:p>
        </p:txBody>
      </p:sp>
      <p:sp>
        <p:nvSpPr>
          <p:cNvPr id="13" name="">
            <a:extLst xmlns:a="http://schemas.openxmlformats.org/drawingml/2006/main">
              <a:ext uri="{FF2B5EF4-FFF2-40B4-BE49-F238E27FC236}">
                <a16:creationId xmlns:a16="http://schemas.microsoft.com/office/drawing/2014/main" id="{B71C194A-C362-4DFB-A5F2-33FC1570707C}"/>
              </a:ext>
            </a:extLst>
          </p:cNvPr>
          <p:cNvSpPr>
            <a:spLocks xmlns:a="http://schemas.openxmlformats.org/drawingml/2006/main" noGrp="1"/>
          </p:cNvSpPr>
          <p:nvPr/>
        </p:nvSpPr>
        <p:spPr>
          <a:xfrm xmlns:a="http://schemas.openxmlformats.org/drawingml/2006/main">
            <a:off x="857250" y="37623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6A6B579-913B-4494-9BD7-5EAF861BCA88}"/>
              </a:ext>
            </a:extLst>
          </p:cNvPr>
          <p:cNvSpPr>
            <a:spLocks xmlns:a="http://schemas.openxmlformats.org/drawingml/2006/main" noGrp="1"/>
          </p:cNvSpPr>
          <p:nvPr/>
        </p:nvSpPr>
        <p:spPr>
          <a:xfrm xmlns:a="http://schemas.openxmlformats.org/drawingml/2006/main">
            <a:off x="1028700" y="36957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84 of 84 exact confirmations.</a:t>
            </a:r>
          </a:p>
        </p:txBody>
      </p:sp>
      <p:sp>
        <p:nvSpPr>
          <p:cNvPr id="15" name="">
            <a:extLst xmlns:a="http://schemas.openxmlformats.org/drawingml/2006/main">
              <a:ext uri="{FF2B5EF4-FFF2-40B4-BE49-F238E27FC236}">
                <a16:creationId xmlns:a16="http://schemas.microsoft.com/office/drawing/2014/main" id="{518C5E5E-BEA4-4837-BAFE-4ABDCA53364B}"/>
              </a:ext>
            </a:extLst>
          </p:cNvPr>
          <p:cNvSpPr>
            <a:spLocks xmlns:a="http://schemas.openxmlformats.org/drawingml/2006/main" noGrp="1"/>
          </p:cNvSpPr>
          <p:nvPr/>
        </p:nvSpPr>
        <p:spPr>
          <a:xfrm xmlns:a="http://schemas.openxmlformats.org/drawingml/2006/main">
            <a:off x="857250" y="45910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9B85607-72E7-43C4-82F3-BDD1F3992230}"/>
              </a:ext>
            </a:extLst>
          </p:cNvPr>
          <p:cNvSpPr>
            <a:spLocks xmlns:a="http://schemas.openxmlformats.org/drawingml/2006/main" noGrp="1"/>
          </p:cNvSpPr>
          <p:nvPr/>
        </p:nvSpPr>
        <p:spPr>
          <a:xfrm xmlns:a="http://schemas.openxmlformats.org/drawingml/2006/main">
            <a:off x="1028700" y="45243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Categories include clear, R8 rename, R8 shrink, R8 optimize, shrink and optimize, repackaging, inline-like stress, multidex, and multi-library cases.</a:t>
            </a:r>
          </a:p>
        </p:txBody>
      </p:sp>
      <p:sp>
        <p:nvSpPr>
          <p:cNvPr id="17" name="">
            <a:extLst xmlns:a="http://schemas.openxmlformats.org/drawingml/2006/main">
              <a:ext uri="{FF2B5EF4-FFF2-40B4-BE49-F238E27FC236}">
                <a16:creationId xmlns:a16="http://schemas.microsoft.com/office/drawing/2014/main" id="{B5E3A1C7-FCC6-41D4-BDE7-3623DB24174C}"/>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BF3A7BF6-10D7-467E-88F9-910624D311BD}"/>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19" name="">
            <a:extLst xmlns:a="http://schemas.openxmlformats.org/drawingml/2006/main">
              <a:ext uri="{FF2B5EF4-FFF2-40B4-BE49-F238E27FC236}">
                <a16:creationId xmlns:a16="http://schemas.microsoft.com/office/drawing/2014/main" id="{2F65D519-6B91-4112-A5E6-D1A2459A8384}"/>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0B457144-C2F8-4BA1-A10D-3C4984284187}"/>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1" name="">
            <a:extLst xmlns:a="http://schemas.openxmlformats.org/drawingml/2006/main">
              <a:ext uri="{FF2B5EF4-FFF2-40B4-BE49-F238E27FC236}">
                <a16:creationId xmlns:a16="http://schemas.microsoft.com/office/drawing/2014/main" id="{240AE759-1BE4-4AA1-B9CA-D5B1E3633B89}"/>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5906A7CB-D2B2-492C-8D3C-4454808EA4FF}"/>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Controlled category table.</a:t>
            </a:r>
          </a:p>
        </p:txBody>
      </p:sp>
      <p:sp>
        <p:nvSpPr>
          <p:cNvPr id="23" name="">
            <a:extLst xmlns:a="http://schemas.openxmlformats.org/drawingml/2006/main">
              <a:ext uri="{FF2B5EF4-FFF2-40B4-BE49-F238E27FC236}">
                <a16:creationId xmlns:a16="http://schemas.microsoft.com/office/drawing/2014/main" id="{E8C97FCB-7420-45A1-80A4-6CA9C7C1C5CE}"/>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E153D596-6E11-4408-973E-F9B7C3BC2BC7}"/>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5" name="">
            <a:extLst xmlns:a="http://schemas.openxmlformats.org/drawingml/2006/main">
              <a:ext uri="{FF2B5EF4-FFF2-40B4-BE49-F238E27FC236}">
                <a16:creationId xmlns:a16="http://schemas.microsoft.com/office/drawing/2014/main" id="{DA099CA7-EAF8-4E87-9D32-01FA0EF2964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Present controlled result.</a:t>
            </a:r>
          </a:p>
        </p:txBody>
      </p:sp>
      <p:sp>
        <p:nvSpPr>
          <p:cNvPr id="26" name="">
            <a:extLst xmlns:a="http://schemas.openxmlformats.org/drawingml/2006/main">
              <a:ext uri="{FF2B5EF4-FFF2-40B4-BE49-F238E27FC236}">
                <a16:creationId xmlns:a16="http://schemas.microsoft.com/office/drawing/2014/main" id="{2398D3EB-6313-4465-AE93-3800389C257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393618443"/>
      </p:ext>
    </p:extLst>
  </p:cSld>
</p:sld>
</file>

<file path=ppt/slides/slide4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4A84B71-350F-413F-A22E-0F855CD549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27CBEF-3F92-40D1-9E74-CF046A4D05D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4A2D8FC-EB71-4450-8BB5-887DCFF98A40}"/>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032662FF-AB96-458B-A8D4-2969546028B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49</a:t>
            </a:r>
          </a:p>
        </p:txBody>
      </p:sp>
      <p:sp>
        <p:nvSpPr>
          <p:cNvPr id="5" name="">
            <a:extLst xmlns:a="http://schemas.openxmlformats.org/drawingml/2006/main">
              <a:ext uri="{FF2B5EF4-FFF2-40B4-BE49-F238E27FC236}">
                <a16:creationId xmlns:a16="http://schemas.microsoft.com/office/drawing/2014/main" id="{EE8DD693-FA59-4062-B26E-F4203D724E1B}"/>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Real APK results are split into clean and partial evidence</a:t>
            </a:r>
          </a:p>
        </p:txBody>
      </p:sp>
      <p:sp>
        <p:nvSpPr>
          <p:cNvPr id="6" name="">
            <a:extLst xmlns:a="http://schemas.openxmlformats.org/drawingml/2006/main">
              <a:ext uri="{FF2B5EF4-FFF2-40B4-BE49-F238E27FC236}">
                <a16:creationId xmlns:a16="http://schemas.microsoft.com/office/drawing/2014/main" id="{6071390F-F16E-4FD5-A4BD-8D3AD110CBBF}"/>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E70F952-838C-4F34-BFC3-20DF2CE5751D}"/>
              </a:ext>
            </a:extLst>
          </p:cNvPr>
          <p:cNvSpPr>
            <a:spLocks xmlns:a="http://schemas.openxmlformats.org/drawingml/2006/main" noGrp="1"/>
          </p:cNvSpPr>
          <p:nvPr/>
        </p:nvSpPr>
        <p:spPr>
          <a:xfrm xmlns:a="http://schemas.openxmlformats.org/drawingml/2006/main">
            <a:off x="685800" y="1504950"/>
            <a:ext cx="514350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1E4EB09A-7825-448E-B9D8-0125BA4C3BFD}"/>
              </a:ext>
            </a:extLst>
          </p:cNvPr>
          <p:cNvSpPr>
            <a:spLocks xmlns:a="http://schemas.openxmlformats.org/drawingml/2006/main" noGrp="1"/>
          </p:cNvSpPr>
          <p:nvPr/>
        </p:nvSpPr>
        <p:spPr>
          <a:xfrm xmlns:a="http://schemas.openxmlformats.org/drawingml/2006/main">
            <a:off x="914400" y="1790700"/>
            <a:ext cx="295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9" name="">
            <a:extLst xmlns:a="http://schemas.openxmlformats.org/drawingml/2006/main">
              <a:ext uri="{FF2B5EF4-FFF2-40B4-BE49-F238E27FC236}">
                <a16:creationId xmlns:a16="http://schemas.microsoft.com/office/drawing/2014/main" id="{E42A06E2-7086-432A-AB8F-572BCE8B734B}"/>
              </a:ext>
            </a:extLst>
          </p:cNvPr>
          <p:cNvSpPr>
            <a:spLocks xmlns:a="http://schemas.openxmlformats.org/drawingml/2006/main" noGrp="1"/>
          </p:cNvSpPr>
          <p:nvPr/>
        </p:nvSpPr>
        <p:spPr>
          <a:xfrm xmlns:a="http://schemas.openxmlformats.org/drawingml/2006/main">
            <a:off x="990600" y="1847850"/>
            <a:ext cx="2800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F5F7E"/>
                </a:solidFill>
                <a:latin typeface="Aptos"/>
                <a:ea typeface="Aptos"/>
                <a:cs typeface="Aptos"/>
              </a:defRPr>
            </a:pPr>
            <a:r>
              <a:rPr sz="825" b="1">
                <a:solidFill>
                  <a:srgbClr val="2F5F7E"/>
                </a:solidFill>
                <a:latin typeface="Aptos"/>
                <a:ea typeface="Aptos"/>
                <a:cs typeface="Aptos"/>
              </a:rPr>
              <a:t>NORMAL APK / SOURCE-VALIDATED METRIC</a:t>
            </a:r>
          </a:p>
        </p:txBody>
      </p:sp>
      <p:sp>
        <p:nvSpPr>
          <p:cNvPr id="10" name="">
            <a:extLst xmlns:a="http://schemas.openxmlformats.org/drawingml/2006/main">
              <a:ext uri="{FF2B5EF4-FFF2-40B4-BE49-F238E27FC236}">
                <a16:creationId xmlns:a16="http://schemas.microsoft.com/office/drawing/2014/main" id="{4EC518D1-3521-4F3C-97E3-FFB8BC3C455E}"/>
              </a:ext>
            </a:extLst>
          </p:cNvPr>
          <p:cNvSpPr>
            <a:spLocks xmlns:a="http://schemas.openxmlformats.org/drawingml/2006/main" noGrp="1"/>
          </p:cNvSpPr>
          <p:nvPr/>
        </p:nvSpPr>
        <p:spPr>
          <a:xfrm xmlns:a="http://schemas.openxmlformats.org/drawingml/2006/main">
            <a:off x="914400" y="22860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2F5F7E"/>
                </a:solidFill>
                <a:latin typeface="Aptos Display"/>
                <a:ea typeface="Aptos Display"/>
                <a:cs typeface="Aptos Display"/>
              </a:defRPr>
            </a:pPr>
            <a:r>
              <a:rPr sz="2700" b="1">
                <a:solidFill>
                  <a:srgbClr val="2F5F7E"/>
                </a:solidFill>
                <a:latin typeface="Aptos Display"/>
                <a:ea typeface="Aptos Display"/>
                <a:cs typeface="Aptos Display"/>
              </a:rPr>
              <a:t>50.5%</a:t>
            </a:r>
          </a:p>
        </p:txBody>
      </p:sp>
      <p:sp>
        <p:nvSpPr>
          <p:cNvPr id="11" name="">
            <a:extLst xmlns:a="http://schemas.openxmlformats.org/drawingml/2006/main">
              <a:ext uri="{FF2B5EF4-FFF2-40B4-BE49-F238E27FC236}">
                <a16:creationId xmlns:a16="http://schemas.microsoft.com/office/drawing/2014/main" id="{BE0D411D-7876-42B1-A40C-27505927D8E0}"/>
              </a:ext>
            </a:extLst>
          </p:cNvPr>
          <p:cNvSpPr>
            <a:spLocks xmlns:a="http://schemas.openxmlformats.org/drawingml/2006/main" noGrp="1"/>
          </p:cNvSpPr>
          <p:nvPr/>
        </p:nvSpPr>
        <p:spPr>
          <a:xfrm xmlns:a="http://schemas.openxmlformats.org/drawingml/2006/main">
            <a:off x="914400" y="27622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927 of 1837 emitted Maven versions confirmed</a:t>
            </a:r>
          </a:p>
        </p:txBody>
      </p:sp>
      <p:sp>
        <p:nvSpPr>
          <p:cNvPr id="12" name="">
            <a:extLst xmlns:a="http://schemas.openxmlformats.org/drawingml/2006/main">
              <a:ext uri="{FF2B5EF4-FFF2-40B4-BE49-F238E27FC236}">
                <a16:creationId xmlns:a16="http://schemas.microsoft.com/office/drawing/2014/main" id="{03367CFF-6314-44F3-9BD0-7DC871D0A20C}"/>
              </a:ext>
            </a:extLst>
          </p:cNvPr>
          <p:cNvSpPr>
            <a:spLocks xmlns:a="http://schemas.openxmlformats.org/drawingml/2006/main" noGrp="1"/>
          </p:cNvSpPr>
          <p:nvPr/>
        </p:nvSpPr>
        <p:spPr>
          <a:xfrm xmlns:a="http://schemas.openxmlformats.org/drawingml/2006/main">
            <a:off x="914400" y="36385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Controlled</a:t>
            </a:r>
          </a:p>
        </p:txBody>
      </p:sp>
      <p:sp>
        <p:nvSpPr>
          <p:cNvPr id="13" name="">
            <a:extLst xmlns:a="http://schemas.openxmlformats.org/drawingml/2006/main">
              <a:ext uri="{FF2B5EF4-FFF2-40B4-BE49-F238E27FC236}">
                <a16:creationId xmlns:a16="http://schemas.microsoft.com/office/drawing/2014/main" id="{852EB01A-1040-4D04-8259-8B0257866A10}"/>
              </a:ext>
            </a:extLst>
          </p:cNvPr>
          <p:cNvSpPr>
            <a:spLocks xmlns:a="http://schemas.openxmlformats.org/drawingml/2006/main" noGrp="1"/>
          </p:cNvSpPr>
          <p:nvPr/>
        </p:nvSpPr>
        <p:spPr>
          <a:xfrm xmlns:a="http://schemas.openxmlformats.org/drawingml/2006/main">
            <a:off x="2533650" y="36671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A4AF899-BDC6-453B-8C05-8C717FC533EC}"/>
              </a:ext>
            </a:extLst>
          </p:cNvPr>
          <p:cNvSpPr>
            <a:spLocks xmlns:a="http://schemas.openxmlformats.org/drawingml/2006/main" noGrp="1"/>
          </p:cNvSpPr>
          <p:nvPr/>
        </p:nvSpPr>
        <p:spPr>
          <a:xfrm xmlns:a="http://schemas.openxmlformats.org/drawingml/2006/main">
            <a:off x="2533650" y="3667125"/>
            <a:ext cx="1809750" cy="142875"/>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C97AEC4-A991-4CCD-8C87-3FE27534F83B}"/>
              </a:ext>
            </a:extLst>
          </p:cNvPr>
          <p:cNvSpPr>
            <a:spLocks xmlns:a="http://schemas.openxmlformats.org/drawingml/2006/main" noGrp="1"/>
          </p:cNvSpPr>
          <p:nvPr/>
        </p:nvSpPr>
        <p:spPr>
          <a:xfrm xmlns:a="http://schemas.openxmlformats.org/drawingml/2006/main">
            <a:off x="4438650" y="36195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4785E"/>
                </a:solidFill>
                <a:latin typeface="Aptos"/>
                <a:ea typeface="Aptos"/>
                <a:cs typeface="Aptos"/>
              </a:defRPr>
            </a:pPr>
            <a:r>
              <a:rPr sz="1050" b="1">
                <a:solidFill>
                  <a:srgbClr val="64785E"/>
                </a:solidFill>
                <a:latin typeface="Aptos"/>
                <a:ea typeface="Aptos"/>
                <a:cs typeface="Aptos"/>
              </a:rPr>
              <a:t>84/84</a:t>
            </a:r>
          </a:p>
        </p:txBody>
      </p:sp>
      <p:sp>
        <p:nvSpPr>
          <p:cNvPr id="16" name="">
            <a:extLst xmlns:a="http://schemas.openxmlformats.org/drawingml/2006/main">
              <a:ext uri="{FF2B5EF4-FFF2-40B4-BE49-F238E27FC236}">
                <a16:creationId xmlns:a16="http://schemas.microsoft.com/office/drawing/2014/main" id="{E353CF84-FD83-47F9-8EEE-8D4643ADEE97}"/>
              </a:ext>
            </a:extLst>
          </p:cNvPr>
          <p:cNvSpPr>
            <a:spLocks xmlns:a="http://schemas.openxmlformats.org/drawingml/2006/main" noGrp="1"/>
          </p:cNvSpPr>
          <p:nvPr/>
        </p:nvSpPr>
        <p:spPr>
          <a:xfrm xmlns:a="http://schemas.openxmlformats.org/drawingml/2006/main">
            <a:off x="914400" y="40957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Clean real</a:t>
            </a:r>
          </a:p>
        </p:txBody>
      </p:sp>
      <p:sp>
        <p:nvSpPr>
          <p:cNvPr id="17" name="">
            <a:extLst xmlns:a="http://schemas.openxmlformats.org/drawingml/2006/main">
              <a:ext uri="{FF2B5EF4-FFF2-40B4-BE49-F238E27FC236}">
                <a16:creationId xmlns:a16="http://schemas.microsoft.com/office/drawing/2014/main" id="{D2A883CF-D0A1-40B1-AD53-AAF80F558113}"/>
              </a:ext>
            </a:extLst>
          </p:cNvPr>
          <p:cNvSpPr>
            <a:spLocks xmlns:a="http://schemas.openxmlformats.org/drawingml/2006/main" noGrp="1"/>
          </p:cNvSpPr>
          <p:nvPr/>
        </p:nvSpPr>
        <p:spPr>
          <a:xfrm xmlns:a="http://schemas.openxmlformats.org/drawingml/2006/main">
            <a:off x="2533650" y="41243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A18F577-9F27-4AFE-8E2B-0DE1DB1CF5DC}"/>
              </a:ext>
            </a:extLst>
          </p:cNvPr>
          <p:cNvSpPr>
            <a:spLocks xmlns:a="http://schemas.openxmlformats.org/drawingml/2006/main" noGrp="1"/>
          </p:cNvSpPr>
          <p:nvPr/>
        </p:nvSpPr>
        <p:spPr>
          <a:xfrm xmlns:a="http://schemas.openxmlformats.org/drawingml/2006/main">
            <a:off x="2533650" y="4124325"/>
            <a:ext cx="1809750" cy="142875"/>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3C9A72C-663E-4F55-836B-62CFC918F512}"/>
              </a:ext>
            </a:extLst>
          </p:cNvPr>
          <p:cNvSpPr>
            <a:spLocks xmlns:a="http://schemas.openxmlformats.org/drawingml/2006/main" noGrp="1"/>
          </p:cNvSpPr>
          <p:nvPr/>
        </p:nvSpPr>
        <p:spPr>
          <a:xfrm xmlns:a="http://schemas.openxmlformats.org/drawingml/2006/main">
            <a:off x="4438650" y="40767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4785E"/>
                </a:solidFill>
                <a:latin typeface="Aptos"/>
                <a:ea typeface="Aptos"/>
                <a:cs typeface="Aptos"/>
              </a:defRPr>
            </a:pPr>
            <a:r>
              <a:rPr sz="1050" b="1">
                <a:solidFill>
                  <a:srgbClr val="64785E"/>
                </a:solidFill>
                <a:latin typeface="Aptos"/>
                <a:ea typeface="Aptos"/>
                <a:cs typeface="Aptos"/>
              </a:rPr>
              <a:t>47/47</a:t>
            </a:r>
          </a:p>
        </p:txBody>
      </p:sp>
      <p:sp>
        <p:nvSpPr>
          <p:cNvPr id="20" name="">
            <a:extLst xmlns:a="http://schemas.openxmlformats.org/drawingml/2006/main">
              <a:ext uri="{FF2B5EF4-FFF2-40B4-BE49-F238E27FC236}">
                <a16:creationId xmlns:a16="http://schemas.microsoft.com/office/drawing/2014/main" id="{03F6E17F-26F3-4DE5-89FF-BCEEA76F994B}"/>
              </a:ext>
            </a:extLst>
          </p:cNvPr>
          <p:cNvSpPr>
            <a:spLocks xmlns:a="http://schemas.openxmlformats.org/drawingml/2006/main" noGrp="1"/>
          </p:cNvSpPr>
          <p:nvPr/>
        </p:nvSpPr>
        <p:spPr>
          <a:xfrm xmlns:a="http://schemas.openxmlformats.org/drawingml/2006/main">
            <a:off x="914400" y="4552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DA6A5827-277A-476E-AE83-2C6AE141385D}"/>
              </a:ext>
            </a:extLst>
          </p:cNvPr>
          <p:cNvSpPr>
            <a:spLocks xmlns:a="http://schemas.openxmlformats.org/drawingml/2006/main" noGrp="1"/>
          </p:cNvSpPr>
          <p:nvPr/>
        </p:nvSpPr>
        <p:spPr>
          <a:xfrm xmlns:a="http://schemas.openxmlformats.org/drawingml/2006/main">
            <a:off x="2533650" y="45815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B4A014E-EF8B-4B53-ACDD-650B3B191593}"/>
              </a:ext>
            </a:extLst>
          </p:cNvPr>
          <p:cNvSpPr>
            <a:spLocks xmlns:a="http://schemas.openxmlformats.org/drawingml/2006/main" noGrp="1"/>
          </p:cNvSpPr>
          <p:nvPr/>
        </p:nvSpPr>
        <p:spPr>
          <a:xfrm xmlns:a="http://schemas.openxmlformats.org/drawingml/2006/main">
            <a:off x="2533650" y="4581525"/>
            <a:ext cx="895350" cy="142875"/>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B1D74A0-184A-4162-B4D5-001035631C01}"/>
              </a:ext>
            </a:extLst>
          </p:cNvPr>
          <p:cNvSpPr>
            <a:spLocks xmlns:a="http://schemas.openxmlformats.org/drawingml/2006/main" noGrp="1"/>
          </p:cNvSpPr>
          <p:nvPr/>
        </p:nvSpPr>
        <p:spPr>
          <a:xfrm xmlns:a="http://schemas.openxmlformats.org/drawingml/2006/main">
            <a:off x="4438650" y="45339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D817A"/>
                </a:solidFill>
                <a:latin typeface="Aptos"/>
                <a:ea typeface="Aptos"/>
                <a:cs typeface="Aptos"/>
              </a:defRPr>
            </a:pPr>
            <a:r>
              <a:rPr sz="1050" b="1">
                <a:solidFill>
                  <a:srgbClr val="4D817A"/>
                </a:solidFill>
                <a:latin typeface="Aptos"/>
                <a:ea typeface="Aptos"/>
                <a:cs typeface="Aptos"/>
              </a:rPr>
              <a:t>880/1790</a:t>
            </a:r>
          </a:p>
        </p:txBody>
      </p:sp>
      <p:sp>
        <p:nvSpPr>
          <p:cNvPr id="24" name="">
            <a:extLst xmlns:a="http://schemas.openxmlformats.org/drawingml/2006/main">
              <a:ext uri="{FF2B5EF4-FFF2-40B4-BE49-F238E27FC236}">
                <a16:creationId xmlns:a16="http://schemas.microsoft.com/office/drawing/2014/main" id="{EA268D74-FEA8-40ED-8972-1BBB8B12E07E}"/>
              </a:ext>
            </a:extLst>
          </p:cNvPr>
          <p:cNvSpPr>
            <a:spLocks xmlns:a="http://schemas.openxmlformats.org/drawingml/2006/main" noGrp="1"/>
          </p:cNvSpPr>
          <p:nvPr/>
        </p:nvSpPr>
        <p:spPr>
          <a:xfrm xmlns:a="http://schemas.openxmlformats.org/drawingml/2006/main">
            <a:off x="914400" y="51054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E6B78"/>
                </a:solidFill>
                <a:latin typeface="Aptos"/>
                <a:ea typeface="Aptos"/>
                <a:cs typeface="Aptos"/>
              </a:defRPr>
            </a:pPr>
            <a:r>
              <a:rPr sz="1050" b="0">
                <a:solidFill>
                  <a:srgbClr val="5E6B78"/>
                </a:solidFill>
                <a:latin typeface="Aptos"/>
                <a:ea typeface="Aptos"/>
                <a:cs typeface="Aptos"/>
              </a:rPr>
              <a:t>Measures correctness of what the APK-only tool emitted.</a:t>
            </a:r>
          </a:p>
        </p:txBody>
      </p:sp>
      <p:sp>
        <p:nvSpPr>
          <p:cNvPr id="25" name="">
            <a:extLst xmlns:a="http://schemas.openxmlformats.org/drawingml/2006/main">
              <a:ext uri="{FF2B5EF4-FFF2-40B4-BE49-F238E27FC236}">
                <a16:creationId xmlns:a16="http://schemas.microsoft.com/office/drawing/2014/main" id="{9DDC18A7-3B5B-4665-B853-71CA92AEFAD9}"/>
              </a:ext>
            </a:extLst>
          </p:cNvPr>
          <p:cNvSpPr>
            <a:spLocks xmlns:a="http://schemas.openxmlformats.org/drawingml/2006/main" noGrp="1"/>
          </p:cNvSpPr>
          <p:nvPr/>
        </p:nvSpPr>
        <p:spPr>
          <a:xfrm xmlns:a="http://schemas.openxmlformats.org/drawingml/2006/main">
            <a:off x="6362700" y="1504950"/>
            <a:ext cx="514350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511E25FA-7BA1-49E7-83F2-DA415854A00B}"/>
              </a:ext>
            </a:extLst>
          </p:cNvPr>
          <p:cNvSpPr>
            <a:spLocks xmlns:a="http://schemas.openxmlformats.org/drawingml/2006/main" noGrp="1"/>
          </p:cNvSpPr>
          <p:nvPr/>
        </p:nvSpPr>
        <p:spPr>
          <a:xfrm xmlns:a="http://schemas.openxmlformats.org/drawingml/2006/main">
            <a:off x="6591300" y="1790700"/>
            <a:ext cx="2190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7" name="">
            <a:extLst xmlns:a="http://schemas.openxmlformats.org/drawingml/2006/main">
              <a:ext uri="{FF2B5EF4-FFF2-40B4-BE49-F238E27FC236}">
                <a16:creationId xmlns:a16="http://schemas.microsoft.com/office/drawing/2014/main" id="{22E42883-7E31-46EF-88A6-BD8EE2219847}"/>
              </a:ext>
            </a:extLst>
          </p:cNvPr>
          <p:cNvSpPr>
            <a:spLocks xmlns:a="http://schemas.openxmlformats.org/drawingml/2006/main" noGrp="1"/>
          </p:cNvSpPr>
          <p:nvPr/>
        </p:nvSpPr>
        <p:spPr>
          <a:xfrm xmlns:a="http://schemas.openxmlformats.org/drawingml/2006/main">
            <a:off x="6667500" y="1847850"/>
            <a:ext cx="2038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F5F7E"/>
                </a:solidFill>
                <a:latin typeface="Aptos"/>
                <a:ea typeface="Aptos"/>
                <a:cs typeface="Aptos"/>
              </a:defRPr>
            </a:pPr>
            <a:r>
              <a:rPr sz="825" b="1">
                <a:solidFill>
                  <a:srgbClr val="2F5F7E"/>
                </a:solidFill>
                <a:latin typeface="Aptos"/>
                <a:ea typeface="Aptos"/>
                <a:cs typeface="Aptos"/>
              </a:rPr>
              <a:t>SOURCE-KNOWN V2 LANE</a:t>
            </a:r>
          </a:p>
        </p:txBody>
      </p:sp>
      <p:sp>
        <p:nvSpPr>
          <p:cNvPr id="28" name="">
            <a:extLst xmlns:a="http://schemas.openxmlformats.org/drawingml/2006/main">
              <a:ext uri="{FF2B5EF4-FFF2-40B4-BE49-F238E27FC236}">
                <a16:creationId xmlns:a16="http://schemas.microsoft.com/office/drawing/2014/main" id="{0078DF37-F811-41F7-B500-B5947830E01F}"/>
              </a:ext>
            </a:extLst>
          </p:cNvPr>
          <p:cNvSpPr>
            <a:spLocks xmlns:a="http://schemas.openxmlformats.org/drawingml/2006/main" noGrp="1"/>
          </p:cNvSpPr>
          <p:nvPr/>
        </p:nvSpPr>
        <p:spPr>
          <a:xfrm xmlns:a="http://schemas.openxmlformats.org/drawingml/2006/main">
            <a:off x="6591300" y="2286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776EB643-7689-4520-A31C-81367772C468}"/>
              </a:ext>
            </a:extLst>
          </p:cNvPr>
          <p:cNvSpPr>
            <a:spLocks xmlns:a="http://schemas.openxmlformats.org/drawingml/2006/main" noGrp="1"/>
          </p:cNvSpPr>
          <p:nvPr/>
        </p:nvSpPr>
        <p:spPr>
          <a:xfrm xmlns:a="http://schemas.openxmlformats.org/drawingml/2006/main">
            <a:off x="6591300" y="27622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exact emitted rows</a:t>
            </a:r>
          </a:p>
        </p:txBody>
      </p:sp>
      <p:sp>
        <p:nvSpPr>
          <p:cNvPr id="30" name="">
            <a:extLst xmlns:a="http://schemas.openxmlformats.org/drawingml/2006/main">
              <a:ext uri="{FF2B5EF4-FFF2-40B4-BE49-F238E27FC236}">
                <a16:creationId xmlns:a16="http://schemas.microsoft.com/office/drawing/2014/main" id="{8BD07087-F355-452B-9324-0477E8805945}"/>
              </a:ext>
            </a:extLst>
          </p:cNvPr>
          <p:cNvSpPr>
            <a:spLocks xmlns:a="http://schemas.openxmlformats.org/drawingml/2006/main" noGrp="1"/>
          </p:cNvSpPr>
          <p:nvPr/>
        </p:nvSpPr>
        <p:spPr>
          <a:xfrm xmlns:a="http://schemas.openxmlformats.org/drawingml/2006/main">
            <a:off x="6591300" y="358140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CA5EE18-7092-44F8-AFE2-32E56CA38CD9}"/>
              </a:ext>
            </a:extLst>
          </p:cNvPr>
          <p:cNvSpPr>
            <a:spLocks xmlns:a="http://schemas.openxmlformats.org/drawingml/2006/main" noGrp="1"/>
          </p:cNvSpPr>
          <p:nvPr/>
        </p:nvSpPr>
        <p:spPr>
          <a:xfrm xmlns:a="http://schemas.openxmlformats.org/drawingml/2006/main">
            <a:off x="6591300" y="3676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Cases</a:t>
            </a:r>
          </a:p>
        </p:txBody>
      </p:sp>
      <p:sp>
        <p:nvSpPr>
          <p:cNvPr id="32" name="">
            <a:extLst xmlns:a="http://schemas.openxmlformats.org/drawingml/2006/main">
              <a:ext uri="{FF2B5EF4-FFF2-40B4-BE49-F238E27FC236}">
                <a16:creationId xmlns:a16="http://schemas.microsoft.com/office/drawing/2014/main" id="{50EC2147-F38C-4B25-A3C8-55D60321B292}"/>
              </a:ext>
            </a:extLst>
          </p:cNvPr>
          <p:cNvSpPr>
            <a:spLocks xmlns:a="http://schemas.openxmlformats.org/drawingml/2006/main" noGrp="1"/>
          </p:cNvSpPr>
          <p:nvPr/>
        </p:nvSpPr>
        <p:spPr>
          <a:xfrm xmlns:a="http://schemas.openxmlformats.org/drawingml/2006/main">
            <a:off x="9277350" y="36576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106</a:t>
            </a:r>
          </a:p>
        </p:txBody>
      </p:sp>
      <p:sp>
        <p:nvSpPr>
          <p:cNvPr id="33" name="">
            <a:extLst xmlns:a="http://schemas.openxmlformats.org/drawingml/2006/main">
              <a:ext uri="{FF2B5EF4-FFF2-40B4-BE49-F238E27FC236}">
                <a16:creationId xmlns:a16="http://schemas.microsoft.com/office/drawing/2014/main" id="{0F4D26FD-B8A6-450E-AEC2-DB76D06EEBDB}"/>
              </a:ext>
            </a:extLst>
          </p:cNvPr>
          <p:cNvSpPr>
            <a:spLocks xmlns:a="http://schemas.openxmlformats.org/drawingml/2006/main" noGrp="1"/>
          </p:cNvSpPr>
          <p:nvPr/>
        </p:nvSpPr>
        <p:spPr>
          <a:xfrm xmlns:a="http://schemas.openxmlformats.org/drawingml/2006/main">
            <a:off x="6591300" y="398145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C9A4FB3-7FC0-4A95-A947-407094255731}"/>
              </a:ext>
            </a:extLst>
          </p:cNvPr>
          <p:cNvSpPr>
            <a:spLocks xmlns:a="http://schemas.openxmlformats.org/drawingml/2006/main" noGrp="1"/>
          </p:cNvSpPr>
          <p:nvPr/>
        </p:nvSpPr>
        <p:spPr>
          <a:xfrm xmlns:a="http://schemas.openxmlformats.org/drawingml/2006/main">
            <a:off x="6591300" y="4076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Wrong emitted</a:t>
            </a:r>
          </a:p>
        </p:txBody>
      </p:sp>
      <p:sp>
        <p:nvSpPr>
          <p:cNvPr id="35" name="">
            <a:extLst xmlns:a="http://schemas.openxmlformats.org/drawingml/2006/main">
              <a:ext uri="{FF2B5EF4-FFF2-40B4-BE49-F238E27FC236}">
                <a16:creationId xmlns:a16="http://schemas.microsoft.com/office/drawing/2014/main" id="{A3213C3D-F31F-4B0E-B349-4FB2F0361125}"/>
              </a:ext>
            </a:extLst>
          </p:cNvPr>
          <p:cNvSpPr>
            <a:spLocks xmlns:a="http://schemas.openxmlformats.org/drawingml/2006/main" noGrp="1"/>
          </p:cNvSpPr>
          <p:nvPr/>
        </p:nvSpPr>
        <p:spPr>
          <a:xfrm xmlns:a="http://schemas.openxmlformats.org/drawingml/2006/main">
            <a:off x="9277350" y="40576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0</a:t>
            </a:r>
          </a:p>
        </p:txBody>
      </p:sp>
      <p:sp>
        <p:nvSpPr>
          <p:cNvPr id="36" name="">
            <a:extLst xmlns:a="http://schemas.openxmlformats.org/drawingml/2006/main">
              <a:ext uri="{FF2B5EF4-FFF2-40B4-BE49-F238E27FC236}">
                <a16:creationId xmlns:a16="http://schemas.microsoft.com/office/drawing/2014/main" id="{8DAE6733-10B0-4B05-BDE0-9DCE27DBE8C5}"/>
              </a:ext>
            </a:extLst>
          </p:cNvPr>
          <p:cNvSpPr>
            <a:spLocks xmlns:a="http://schemas.openxmlformats.org/drawingml/2006/main" noGrp="1"/>
          </p:cNvSpPr>
          <p:nvPr/>
        </p:nvSpPr>
        <p:spPr>
          <a:xfrm xmlns:a="http://schemas.openxmlformats.org/drawingml/2006/main">
            <a:off x="6591300" y="438150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6010EEE7-68A3-4944-9A15-285D7AF66891}"/>
              </a:ext>
            </a:extLst>
          </p:cNvPr>
          <p:cNvSpPr>
            <a:spLocks xmlns:a="http://schemas.openxmlformats.org/drawingml/2006/main" noGrp="1"/>
          </p:cNvSpPr>
          <p:nvPr/>
        </p:nvSpPr>
        <p:spPr>
          <a:xfrm xmlns:a="http://schemas.openxmlformats.org/drawingml/2006/main">
            <a:off x="6591300" y="4476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Missing emitted</a:t>
            </a:r>
          </a:p>
        </p:txBody>
      </p:sp>
      <p:sp>
        <p:nvSpPr>
          <p:cNvPr id="38" name="">
            <a:extLst xmlns:a="http://schemas.openxmlformats.org/drawingml/2006/main">
              <a:ext uri="{FF2B5EF4-FFF2-40B4-BE49-F238E27FC236}">
                <a16:creationId xmlns:a16="http://schemas.microsoft.com/office/drawing/2014/main" id="{773481AD-E22D-4231-BC10-18E5C24B7940}"/>
              </a:ext>
            </a:extLst>
          </p:cNvPr>
          <p:cNvSpPr>
            <a:spLocks xmlns:a="http://schemas.openxmlformats.org/drawingml/2006/main" noGrp="1"/>
          </p:cNvSpPr>
          <p:nvPr/>
        </p:nvSpPr>
        <p:spPr>
          <a:xfrm xmlns:a="http://schemas.openxmlformats.org/drawingml/2006/main">
            <a:off x="9277350" y="44577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0</a:t>
            </a:r>
          </a:p>
        </p:txBody>
      </p:sp>
      <p:sp>
        <p:nvSpPr>
          <p:cNvPr id="39" name="">
            <a:extLst xmlns:a="http://schemas.openxmlformats.org/drawingml/2006/main">
              <a:ext uri="{FF2B5EF4-FFF2-40B4-BE49-F238E27FC236}">
                <a16:creationId xmlns:a16="http://schemas.microsoft.com/office/drawing/2014/main" id="{4B84A276-DC9F-404B-B47B-8F4E0D2D8A4E}"/>
              </a:ext>
            </a:extLst>
          </p:cNvPr>
          <p:cNvSpPr>
            <a:spLocks xmlns:a="http://schemas.openxmlformats.org/drawingml/2006/main" noGrp="1"/>
          </p:cNvSpPr>
          <p:nvPr/>
        </p:nvSpPr>
        <p:spPr>
          <a:xfrm xmlns:a="http://schemas.openxmlformats.org/drawingml/2006/main">
            <a:off x="6591300" y="478155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B8F41B5-4586-44AE-AA04-22C57ED17B9D}"/>
              </a:ext>
            </a:extLst>
          </p:cNvPr>
          <p:cNvSpPr>
            <a:spLocks xmlns:a="http://schemas.openxmlformats.org/drawingml/2006/main" noGrp="1"/>
          </p:cNvSpPr>
          <p:nvPr/>
        </p:nvSpPr>
        <p:spPr>
          <a:xfrm xmlns:a="http://schemas.openxmlformats.org/drawingml/2006/main">
            <a:off x="6591300" y="4876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Source gaps</a:t>
            </a:r>
          </a:p>
        </p:txBody>
      </p:sp>
      <p:sp>
        <p:nvSpPr>
          <p:cNvPr id="41" name="">
            <a:extLst xmlns:a="http://schemas.openxmlformats.org/drawingml/2006/main">
              <a:ext uri="{FF2B5EF4-FFF2-40B4-BE49-F238E27FC236}">
                <a16:creationId xmlns:a16="http://schemas.microsoft.com/office/drawing/2014/main" id="{9633E95D-F730-4FD7-9BA7-D6F42C729989}"/>
              </a:ext>
            </a:extLst>
          </p:cNvPr>
          <p:cNvSpPr>
            <a:spLocks xmlns:a="http://schemas.openxmlformats.org/drawingml/2006/main" noGrp="1"/>
          </p:cNvSpPr>
          <p:nvPr/>
        </p:nvSpPr>
        <p:spPr>
          <a:xfrm xmlns:a="http://schemas.openxmlformats.org/drawingml/2006/main">
            <a:off x="9277350" y="48577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5238</a:t>
            </a:r>
          </a:p>
        </p:txBody>
      </p:sp>
      <p:sp>
        <p:nvSpPr>
          <p:cNvPr id="42" name="">
            <a:extLst xmlns:a="http://schemas.openxmlformats.org/drawingml/2006/main">
              <a:ext uri="{FF2B5EF4-FFF2-40B4-BE49-F238E27FC236}">
                <a16:creationId xmlns:a16="http://schemas.microsoft.com/office/drawing/2014/main" id="{C023E801-4897-4370-8AB3-D91540A868E5}"/>
              </a:ext>
            </a:extLst>
          </p:cNvPr>
          <p:cNvSpPr>
            <a:spLocks xmlns:a="http://schemas.openxmlformats.org/drawingml/2006/main" noGrp="1"/>
          </p:cNvSpPr>
          <p:nvPr/>
        </p:nvSpPr>
        <p:spPr>
          <a:xfrm xmlns:a="http://schemas.openxmlformats.org/drawingml/2006/main">
            <a:off x="1524000" y="5791200"/>
            <a:ext cx="9144000" cy="40005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43" name="">
            <a:extLst xmlns:a="http://schemas.openxmlformats.org/drawingml/2006/main">
              <a:ext uri="{FF2B5EF4-FFF2-40B4-BE49-F238E27FC236}">
                <a16:creationId xmlns:a16="http://schemas.microsoft.com/office/drawing/2014/main" id="{87954DFA-FD9A-4018-9311-90CA05C28AB0}"/>
              </a:ext>
            </a:extLst>
          </p:cNvPr>
          <p:cNvSpPr>
            <a:spLocks xmlns:a="http://schemas.openxmlformats.org/drawingml/2006/main" noGrp="1"/>
          </p:cNvSpPr>
          <p:nvPr/>
        </p:nvSpPr>
        <p:spPr>
          <a:xfrm xmlns:a="http://schemas.openxmlformats.org/drawingml/2006/main">
            <a:off x="1752600" y="5915025"/>
            <a:ext cx="868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Do not combine these lanes. v2 proves bounded recognition, not unconstrained APK-only accuracy.</a:t>
            </a:r>
          </a:p>
        </p:txBody>
      </p:sp>
      <p:sp>
        <p:nvSpPr>
          <p:cNvPr id="44" name="">
            <a:extLst xmlns:a="http://schemas.openxmlformats.org/drawingml/2006/main">
              <a:ext uri="{FF2B5EF4-FFF2-40B4-BE49-F238E27FC236}">
                <a16:creationId xmlns:a16="http://schemas.microsoft.com/office/drawing/2014/main" id="{F2DF1166-89EF-4879-8D8B-21EA593D2CDD}"/>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91285452"/>
      </p:ext>
    </p:extLst>
  </p:cSld>
</p:sld>
</file>

<file path=ppt/slides/slide5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7E656E-4773-4E26-BD9C-AE32514FF2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37EEAB-A840-4369-948B-3810D09349CD}"/>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5282E9-4730-4B84-B1C5-53BA56634C20}"/>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5892EA11-5C73-4797-9ACC-8AE8110D1EA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50</a:t>
            </a:r>
          </a:p>
        </p:txBody>
      </p:sp>
      <p:sp>
        <p:nvSpPr>
          <p:cNvPr id="5" name="">
            <a:extLst xmlns:a="http://schemas.openxmlformats.org/drawingml/2006/main">
              <a:ext uri="{FF2B5EF4-FFF2-40B4-BE49-F238E27FC236}">
                <a16:creationId xmlns:a16="http://schemas.microsoft.com/office/drawing/2014/main" id="{5CC8E462-028E-4739-84D3-2E4430780A8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Full source denominator reveals the remaining coverage gap</a:t>
            </a:r>
          </a:p>
        </p:txBody>
      </p:sp>
      <p:sp>
        <p:nvSpPr>
          <p:cNvPr id="6" name="">
            <a:extLst xmlns:a="http://schemas.openxmlformats.org/drawingml/2006/main">
              <a:ext uri="{FF2B5EF4-FFF2-40B4-BE49-F238E27FC236}">
                <a16:creationId xmlns:a16="http://schemas.microsoft.com/office/drawing/2014/main" id="{EDF67195-E8E7-4987-892D-687BEBAFE563}"/>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D30B64-1522-4907-A1EE-AF7F6D4EE886}"/>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4727A1A7-49CD-4FE8-89B9-09E03ABE69C9}"/>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E70DA4C8-7D38-4414-A185-2733898BAA7B}"/>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54BCE84-F1BC-4EC5-9280-6F1A717452CD}"/>
              </a:ext>
            </a:extLst>
          </p:cNvPr>
          <p:cNvSpPr>
            <a:spLocks xmlns:a="http://schemas.openxmlformats.org/drawingml/2006/main" noGrp="1"/>
          </p:cNvSpPr>
          <p:nvPr/>
        </p:nvSpPr>
        <p:spPr>
          <a:xfrm xmlns:a="http://schemas.openxmlformats.org/drawingml/2006/main">
            <a:off x="1028700" y="2038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Resolved source dependency rows: 12082.</a:t>
            </a:r>
          </a:p>
        </p:txBody>
      </p:sp>
      <p:sp>
        <p:nvSpPr>
          <p:cNvPr id="11" name="">
            <a:extLst xmlns:a="http://schemas.openxmlformats.org/drawingml/2006/main">
              <a:ext uri="{FF2B5EF4-FFF2-40B4-BE49-F238E27FC236}">
                <a16:creationId xmlns:a16="http://schemas.microsoft.com/office/drawing/2014/main" id="{6BA4E68C-A1AB-4B8C-9B01-591F103C528E}"/>
              </a:ext>
            </a:extLst>
          </p:cNvPr>
          <p:cNvSpPr>
            <a:spLocks xmlns:a="http://schemas.openxmlformats.org/drawingml/2006/main" noGrp="1"/>
          </p:cNvSpPr>
          <p:nvPr/>
        </p:nvSpPr>
        <p:spPr>
          <a:xfrm xmlns:a="http://schemas.openxmlformats.org/drawingml/2006/main">
            <a:off x="857250" y="2771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009340A-6952-41D6-9766-2C33D0075242}"/>
              </a:ext>
            </a:extLst>
          </p:cNvPr>
          <p:cNvSpPr>
            <a:spLocks xmlns:a="http://schemas.openxmlformats.org/drawingml/2006/main" noGrp="1"/>
          </p:cNvSpPr>
          <p:nvPr/>
        </p:nvSpPr>
        <p:spPr>
          <a:xfrm xmlns:a="http://schemas.openxmlformats.org/drawingml/2006/main">
            <a:off x="1028700" y="27051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Exact source rows emitted by the ordinary lane: 927.</a:t>
            </a:r>
          </a:p>
        </p:txBody>
      </p:sp>
      <p:sp>
        <p:nvSpPr>
          <p:cNvPr id="13" name="">
            <a:extLst xmlns:a="http://schemas.openxmlformats.org/drawingml/2006/main">
              <a:ext uri="{FF2B5EF4-FFF2-40B4-BE49-F238E27FC236}">
                <a16:creationId xmlns:a16="http://schemas.microsoft.com/office/drawing/2014/main" id="{AECFCA0B-75AB-4115-B217-529E55975DC4}"/>
              </a:ext>
            </a:extLst>
          </p:cNvPr>
          <p:cNvSpPr>
            <a:spLocks xmlns:a="http://schemas.openxmlformats.org/drawingml/2006/main" noGrp="1"/>
          </p:cNvSpPr>
          <p:nvPr/>
        </p:nvSpPr>
        <p:spPr>
          <a:xfrm xmlns:a="http://schemas.openxmlformats.org/drawingml/2006/main">
            <a:off x="857250" y="3438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C1FC87-2D1B-4044-8326-44F43C72A610}"/>
              </a:ext>
            </a:extLst>
          </p:cNvPr>
          <p:cNvSpPr>
            <a:spLocks xmlns:a="http://schemas.openxmlformats.org/drawingml/2006/main" noGrp="1"/>
          </p:cNvSpPr>
          <p:nvPr/>
        </p:nvSpPr>
        <p:spPr>
          <a:xfrm xmlns:a="http://schemas.openxmlformats.org/drawingml/2006/main">
            <a:off x="1028700" y="33718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Full source denominator exact emission: 7.7 percent.</a:t>
            </a:r>
          </a:p>
        </p:txBody>
      </p:sp>
      <p:sp>
        <p:nvSpPr>
          <p:cNvPr id="15" name="">
            <a:extLst xmlns:a="http://schemas.openxmlformats.org/drawingml/2006/main">
              <a:ext uri="{FF2B5EF4-FFF2-40B4-BE49-F238E27FC236}">
                <a16:creationId xmlns:a16="http://schemas.microsoft.com/office/drawing/2014/main" id="{405B9630-C539-46BE-B0AD-AEB8AC415FBA}"/>
              </a:ext>
            </a:extLst>
          </p:cNvPr>
          <p:cNvSpPr>
            <a:spLocks xmlns:a="http://schemas.openxmlformats.org/drawingml/2006/main" noGrp="1"/>
          </p:cNvSpPr>
          <p:nvPr/>
        </p:nvSpPr>
        <p:spPr>
          <a:xfrm xmlns:a="http://schemas.openxmlformats.org/drawingml/2006/main">
            <a:off x="857250" y="4105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12E2AA3-C0E4-483C-947B-4EF113807086}"/>
              </a:ext>
            </a:extLst>
          </p:cNvPr>
          <p:cNvSpPr>
            <a:spLocks xmlns:a="http://schemas.openxmlformats.org/drawingml/2006/main" noGrp="1"/>
          </p:cNvSpPr>
          <p:nvPr/>
        </p:nvSpPr>
        <p:spPr>
          <a:xfrm xmlns:a="http://schemas.openxmlformats.org/drawingml/2006/main">
            <a:off x="1028700" y="403860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Shared DB exact-version coverage: 1231 of 12082, or 10.2 percent.</a:t>
            </a:r>
          </a:p>
        </p:txBody>
      </p:sp>
      <p:sp>
        <p:nvSpPr>
          <p:cNvPr id="17" name="">
            <a:extLst xmlns:a="http://schemas.openxmlformats.org/drawingml/2006/main">
              <a:ext uri="{FF2B5EF4-FFF2-40B4-BE49-F238E27FC236}">
                <a16:creationId xmlns:a16="http://schemas.microsoft.com/office/drawing/2014/main" id="{731B814F-D63A-4F38-92A1-DEC093581982}"/>
              </a:ext>
            </a:extLst>
          </p:cNvPr>
          <p:cNvSpPr>
            <a:spLocks xmlns:a="http://schemas.openxmlformats.org/drawingml/2006/main" noGrp="1"/>
          </p:cNvSpPr>
          <p:nvPr/>
        </p:nvSpPr>
        <p:spPr>
          <a:xfrm xmlns:a="http://schemas.openxmlformats.org/drawingml/2006/main">
            <a:off x="857250" y="4772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EA3EE58-9F26-494B-8CA1-AFA98E22BA3B}"/>
              </a:ext>
            </a:extLst>
          </p:cNvPr>
          <p:cNvSpPr>
            <a:spLocks xmlns:a="http://schemas.openxmlformats.org/drawingml/2006/main" noGrp="1"/>
          </p:cNvSpPr>
          <p:nvPr/>
        </p:nvSpPr>
        <p:spPr>
          <a:xfrm xmlns:a="http://schemas.openxmlformats.org/drawingml/2006/main">
            <a:off x="1028700" y="4705350"/>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Reference coverage and matcher recall remain major limitations.</a:t>
            </a:r>
          </a:p>
        </p:txBody>
      </p:sp>
      <p:sp>
        <p:nvSpPr>
          <p:cNvPr id="19" name="">
            <a:extLst xmlns:a="http://schemas.openxmlformats.org/drawingml/2006/main">
              <a:ext uri="{FF2B5EF4-FFF2-40B4-BE49-F238E27FC236}">
                <a16:creationId xmlns:a16="http://schemas.microsoft.com/office/drawing/2014/main" id="{30544B72-61A4-412B-90CB-32D7BB753181}"/>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294F3F52-F89B-44B4-AA18-94F638AA9472}"/>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1" name="">
            <a:extLst xmlns:a="http://schemas.openxmlformats.org/drawingml/2006/main">
              <a:ext uri="{FF2B5EF4-FFF2-40B4-BE49-F238E27FC236}">
                <a16:creationId xmlns:a16="http://schemas.microsoft.com/office/drawing/2014/main" id="{447C7CA0-0552-4BDB-BA80-3CC7C7FA5D2D}"/>
              </a:ext>
            </a:extLst>
          </p:cNvPr>
          <p:cNvSpPr>
            <a:spLocks xmlns:a="http://schemas.openxmlformats.org/drawingml/2006/main" noGrp="1"/>
          </p:cNvSpPr>
          <p:nvPr/>
        </p:nvSpPr>
        <p:spPr>
          <a:xfrm xmlns:a="http://schemas.openxmlformats.org/drawingml/2006/main">
            <a:off x="6629400" y="2190750"/>
            <a:ext cx="46482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F1DD2A0D-6D26-4ABE-AC42-51DB40AD7768}"/>
              </a:ext>
            </a:extLst>
          </p:cNvPr>
          <p:cNvSpPr>
            <a:spLocks xmlns:a="http://schemas.openxmlformats.org/drawingml/2006/main" noGrp="1"/>
          </p:cNvSpPr>
          <p:nvPr/>
        </p:nvSpPr>
        <p:spPr>
          <a:xfrm xmlns:a="http://schemas.openxmlformats.org/drawingml/2006/main">
            <a:off x="6762750" y="23050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Evidence view</a:t>
            </a:r>
          </a:p>
        </p:txBody>
      </p:sp>
      <p:sp>
        <p:nvSpPr>
          <p:cNvPr id="23" name="">
            <a:extLst xmlns:a="http://schemas.openxmlformats.org/drawingml/2006/main">
              <a:ext uri="{FF2B5EF4-FFF2-40B4-BE49-F238E27FC236}">
                <a16:creationId xmlns:a16="http://schemas.microsoft.com/office/drawing/2014/main" id="{0A6F043C-89B8-4DB7-953B-129A98B23453}"/>
              </a:ext>
            </a:extLst>
          </p:cNvPr>
          <p:cNvSpPr>
            <a:spLocks xmlns:a="http://schemas.openxmlformats.org/drawingml/2006/main" noGrp="1"/>
          </p:cNvSpPr>
          <p:nvPr/>
        </p:nvSpPr>
        <p:spPr>
          <a:xfrm xmlns:a="http://schemas.openxmlformats.org/drawingml/2006/main">
            <a:off x="6629400" y="26479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5F7B1237-3512-4279-96CA-C7878954E769}"/>
              </a:ext>
            </a:extLst>
          </p:cNvPr>
          <p:cNvSpPr>
            <a:spLocks xmlns:a="http://schemas.openxmlformats.org/drawingml/2006/main" noGrp="1"/>
          </p:cNvSpPr>
          <p:nvPr/>
        </p:nvSpPr>
        <p:spPr>
          <a:xfrm xmlns:a="http://schemas.openxmlformats.org/drawingml/2006/main">
            <a:off x="6762750" y="27622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Coverage-first table.</a:t>
            </a:r>
          </a:p>
        </p:txBody>
      </p:sp>
      <p:sp>
        <p:nvSpPr>
          <p:cNvPr id="25" name="">
            <a:extLst xmlns:a="http://schemas.openxmlformats.org/drawingml/2006/main">
              <a:ext uri="{FF2B5EF4-FFF2-40B4-BE49-F238E27FC236}">
                <a16:creationId xmlns:a16="http://schemas.microsoft.com/office/drawing/2014/main" id="{021665D2-0CD0-4B1A-A4D7-AF9C39BD5C05}"/>
              </a:ext>
            </a:extLst>
          </p:cNvPr>
          <p:cNvSpPr>
            <a:spLocks xmlns:a="http://schemas.openxmlformats.org/drawingml/2006/main" noGrp="1"/>
          </p:cNvSpPr>
          <p:nvPr/>
        </p:nvSpPr>
        <p:spPr>
          <a:xfrm xmlns:a="http://schemas.openxmlformats.org/drawingml/2006/main">
            <a:off x="6629400" y="3105150"/>
            <a:ext cx="4648200" cy="4191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FA7E9638-0B69-4580-BA20-551294383086}"/>
              </a:ext>
            </a:extLst>
          </p:cNvPr>
          <p:cNvSpPr>
            <a:spLocks xmlns:a="http://schemas.openxmlformats.org/drawingml/2006/main" noGrp="1"/>
          </p:cNvSpPr>
          <p:nvPr/>
        </p:nvSpPr>
        <p:spPr>
          <a:xfrm xmlns:a="http://schemas.openxmlformats.org/drawingml/2006/main">
            <a:off x="6762750" y="321945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17212B"/>
                </a:solidFill>
                <a:latin typeface="Aptos"/>
                <a:ea typeface="Aptos"/>
                <a:cs typeface="Aptos"/>
              </a:defRPr>
            </a:pPr>
            <a:r>
              <a:rPr sz="975" b="0">
                <a:solidFill>
                  <a:srgbClr val="17212B"/>
                </a:solidFill>
                <a:latin typeface="Aptos"/>
                <a:ea typeface="Aptos"/>
                <a:cs typeface="Aptos"/>
              </a:rPr>
              <a:t>Bounded claim</a:t>
            </a:r>
          </a:p>
        </p:txBody>
      </p:sp>
      <p:sp>
        <p:nvSpPr>
          <p:cNvPr id="27" name="">
            <a:extLst xmlns:a="http://schemas.openxmlformats.org/drawingml/2006/main">
              <a:ext uri="{FF2B5EF4-FFF2-40B4-BE49-F238E27FC236}">
                <a16:creationId xmlns:a16="http://schemas.microsoft.com/office/drawing/2014/main" id="{8359EA1F-603E-4462-810E-0AEDC56C2742}"/>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Explain why 50.5 percent is not the full story.</a:t>
            </a:r>
          </a:p>
        </p:txBody>
      </p:sp>
      <p:sp>
        <p:nvSpPr>
          <p:cNvPr id="28" name="">
            <a:extLst xmlns:a="http://schemas.openxmlformats.org/drawingml/2006/main">
              <a:ext uri="{FF2B5EF4-FFF2-40B4-BE49-F238E27FC236}">
                <a16:creationId xmlns:a16="http://schemas.microsoft.com/office/drawing/2014/main" id="{5B303FB6-4ADE-4A76-B322-759849DF006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94933409"/>
      </p:ext>
    </p:extLst>
  </p:cSld>
</p:sld>
</file>

<file path=ppt/slides/slide5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042C4B-BF6C-4F5B-8DFB-69C2C4BDD8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2B9280-948A-46A8-B7E7-6D7E5D4AD7E2}"/>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AAC041-1238-42F3-8596-5BE6FC582A88}"/>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6A27ABE2-F9CE-4D22-A77D-89E59E50D9F6}"/>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51</a:t>
            </a:r>
          </a:p>
        </p:txBody>
      </p:sp>
      <p:sp>
        <p:nvSpPr>
          <p:cNvPr id="5" name="">
            <a:extLst xmlns:a="http://schemas.openxmlformats.org/drawingml/2006/main">
              <a:ext uri="{FF2B5EF4-FFF2-40B4-BE49-F238E27FC236}">
                <a16:creationId xmlns:a16="http://schemas.microsoft.com/office/drawing/2014/main" id="{AF1896DF-0ADE-46FD-9650-13190081CF8E}"/>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source-known v2 lane is an upper bound</a:t>
            </a:r>
          </a:p>
        </p:txBody>
      </p:sp>
      <p:sp>
        <p:nvSpPr>
          <p:cNvPr id="6" name="">
            <a:extLst xmlns:a="http://schemas.openxmlformats.org/drawingml/2006/main">
              <a:ext uri="{FF2B5EF4-FFF2-40B4-BE49-F238E27FC236}">
                <a16:creationId xmlns:a16="http://schemas.microsoft.com/office/drawing/2014/main" id="{0BC462CF-3FE0-4C18-9064-8FF43D33058E}"/>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CBF69F-8BA7-4672-886E-710278F294FF}"/>
              </a:ext>
            </a:extLst>
          </p:cNvPr>
          <p:cNvSpPr>
            <a:spLocks xmlns:a="http://schemas.openxmlformats.org/drawingml/2006/main" noGrp="1"/>
          </p:cNvSpPr>
          <p:nvPr/>
        </p:nvSpPr>
        <p:spPr>
          <a:xfrm xmlns:a="http://schemas.openxmlformats.org/drawingml/2006/main">
            <a:off x="685800" y="1504950"/>
            <a:ext cx="514350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00421932-88F9-491F-B5B1-1B7902C20A15}"/>
              </a:ext>
            </a:extLst>
          </p:cNvPr>
          <p:cNvSpPr>
            <a:spLocks xmlns:a="http://schemas.openxmlformats.org/drawingml/2006/main" noGrp="1"/>
          </p:cNvSpPr>
          <p:nvPr/>
        </p:nvSpPr>
        <p:spPr>
          <a:xfrm xmlns:a="http://schemas.openxmlformats.org/drawingml/2006/main">
            <a:off x="914400" y="1790700"/>
            <a:ext cx="2952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9" name="">
            <a:extLst xmlns:a="http://schemas.openxmlformats.org/drawingml/2006/main">
              <a:ext uri="{FF2B5EF4-FFF2-40B4-BE49-F238E27FC236}">
                <a16:creationId xmlns:a16="http://schemas.microsoft.com/office/drawing/2014/main" id="{C41490BC-4AA1-414B-8E03-847C3FBE4D6F}"/>
              </a:ext>
            </a:extLst>
          </p:cNvPr>
          <p:cNvSpPr>
            <a:spLocks xmlns:a="http://schemas.openxmlformats.org/drawingml/2006/main" noGrp="1"/>
          </p:cNvSpPr>
          <p:nvPr/>
        </p:nvSpPr>
        <p:spPr>
          <a:xfrm xmlns:a="http://schemas.openxmlformats.org/drawingml/2006/main">
            <a:off x="990600" y="1847850"/>
            <a:ext cx="2800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F5F7E"/>
                </a:solidFill>
                <a:latin typeface="Aptos"/>
                <a:ea typeface="Aptos"/>
                <a:cs typeface="Aptos"/>
              </a:defRPr>
            </a:pPr>
            <a:r>
              <a:rPr sz="825" b="1">
                <a:solidFill>
                  <a:srgbClr val="2F5F7E"/>
                </a:solidFill>
                <a:latin typeface="Aptos"/>
                <a:ea typeface="Aptos"/>
                <a:cs typeface="Aptos"/>
              </a:rPr>
              <a:t>NORMAL APK / SOURCE-VALIDATED METRIC</a:t>
            </a:r>
          </a:p>
        </p:txBody>
      </p:sp>
      <p:sp>
        <p:nvSpPr>
          <p:cNvPr id="10" name="">
            <a:extLst xmlns:a="http://schemas.openxmlformats.org/drawingml/2006/main">
              <a:ext uri="{FF2B5EF4-FFF2-40B4-BE49-F238E27FC236}">
                <a16:creationId xmlns:a16="http://schemas.microsoft.com/office/drawing/2014/main" id="{B9A39ED4-DFBD-4067-A1E2-B69226217AF8}"/>
              </a:ext>
            </a:extLst>
          </p:cNvPr>
          <p:cNvSpPr>
            <a:spLocks xmlns:a="http://schemas.openxmlformats.org/drawingml/2006/main" noGrp="1"/>
          </p:cNvSpPr>
          <p:nvPr/>
        </p:nvSpPr>
        <p:spPr>
          <a:xfrm xmlns:a="http://schemas.openxmlformats.org/drawingml/2006/main">
            <a:off x="914400" y="22860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2F5F7E"/>
                </a:solidFill>
                <a:latin typeface="Aptos Display"/>
                <a:ea typeface="Aptos Display"/>
                <a:cs typeface="Aptos Display"/>
              </a:defRPr>
            </a:pPr>
            <a:r>
              <a:rPr sz="2700" b="1">
                <a:solidFill>
                  <a:srgbClr val="2F5F7E"/>
                </a:solidFill>
                <a:latin typeface="Aptos Display"/>
                <a:ea typeface="Aptos Display"/>
                <a:cs typeface="Aptos Display"/>
              </a:rPr>
              <a:t>50.5%</a:t>
            </a:r>
          </a:p>
        </p:txBody>
      </p:sp>
      <p:sp>
        <p:nvSpPr>
          <p:cNvPr id="11" name="">
            <a:extLst xmlns:a="http://schemas.openxmlformats.org/drawingml/2006/main">
              <a:ext uri="{FF2B5EF4-FFF2-40B4-BE49-F238E27FC236}">
                <a16:creationId xmlns:a16="http://schemas.microsoft.com/office/drawing/2014/main" id="{CC6C2353-B210-4E64-B2C8-CD94132DD34E}"/>
              </a:ext>
            </a:extLst>
          </p:cNvPr>
          <p:cNvSpPr>
            <a:spLocks xmlns:a="http://schemas.openxmlformats.org/drawingml/2006/main" noGrp="1"/>
          </p:cNvSpPr>
          <p:nvPr/>
        </p:nvSpPr>
        <p:spPr>
          <a:xfrm xmlns:a="http://schemas.openxmlformats.org/drawingml/2006/main">
            <a:off x="914400" y="276225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927 of 1837 emitted Maven versions confirmed</a:t>
            </a:r>
          </a:p>
        </p:txBody>
      </p:sp>
      <p:sp>
        <p:nvSpPr>
          <p:cNvPr id="12" name="">
            <a:extLst xmlns:a="http://schemas.openxmlformats.org/drawingml/2006/main">
              <a:ext uri="{FF2B5EF4-FFF2-40B4-BE49-F238E27FC236}">
                <a16:creationId xmlns:a16="http://schemas.microsoft.com/office/drawing/2014/main" id="{F6BB3BDD-EFA0-47D1-A2C7-5EE0AD471CF7}"/>
              </a:ext>
            </a:extLst>
          </p:cNvPr>
          <p:cNvSpPr>
            <a:spLocks xmlns:a="http://schemas.openxmlformats.org/drawingml/2006/main" noGrp="1"/>
          </p:cNvSpPr>
          <p:nvPr/>
        </p:nvSpPr>
        <p:spPr>
          <a:xfrm xmlns:a="http://schemas.openxmlformats.org/drawingml/2006/main">
            <a:off x="914400" y="36385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Controlled</a:t>
            </a:r>
          </a:p>
        </p:txBody>
      </p:sp>
      <p:sp>
        <p:nvSpPr>
          <p:cNvPr id="13" name="">
            <a:extLst xmlns:a="http://schemas.openxmlformats.org/drawingml/2006/main">
              <a:ext uri="{FF2B5EF4-FFF2-40B4-BE49-F238E27FC236}">
                <a16:creationId xmlns:a16="http://schemas.microsoft.com/office/drawing/2014/main" id="{C6AE28CF-3A37-4208-803E-76992D18355B}"/>
              </a:ext>
            </a:extLst>
          </p:cNvPr>
          <p:cNvSpPr>
            <a:spLocks xmlns:a="http://schemas.openxmlformats.org/drawingml/2006/main" noGrp="1"/>
          </p:cNvSpPr>
          <p:nvPr/>
        </p:nvSpPr>
        <p:spPr>
          <a:xfrm xmlns:a="http://schemas.openxmlformats.org/drawingml/2006/main">
            <a:off x="2533650" y="36671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86F1F2-165F-4DF5-9248-25C030D879BC}"/>
              </a:ext>
            </a:extLst>
          </p:cNvPr>
          <p:cNvSpPr>
            <a:spLocks xmlns:a="http://schemas.openxmlformats.org/drawingml/2006/main" noGrp="1"/>
          </p:cNvSpPr>
          <p:nvPr/>
        </p:nvSpPr>
        <p:spPr>
          <a:xfrm xmlns:a="http://schemas.openxmlformats.org/drawingml/2006/main">
            <a:off x="2533650" y="3667125"/>
            <a:ext cx="1809750" cy="142875"/>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0734893-6FD6-467D-BE5D-AA12FC0048A7}"/>
              </a:ext>
            </a:extLst>
          </p:cNvPr>
          <p:cNvSpPr>
            <a:spLocks xmlns:a="http://schemas.openxmlformats.org/drawingml/2006/main" noGrp="1"/>
          </p:cNvSpPr>
          <p:nvPr/>
        </p:nvSpPr>
        <p:spPr>
          <a:xfrm xmlns:a="http://schemas.openxmlformats.org/drawingml/2006/main">
            <a:off x="4438650" y="36195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4785E"/>
                </a:solidFill>
                <a:latin typeface="Aptos"/>
                <a:ea typeface="Aptos"/>
                <a:cs typeface="Aptos"/>
              </a:defRPr>
            </a:pPr>
            <a:r>
              <a:rPr sz="1050" b="1">
                <a:solidFill>
                  <a:srgbClr val="64785E"/>
                </a:solidFill>
                <a:latin typeface="Aptos"/>
                <a:ea typeface="Aptos"/>
                <a:cs typeface="Aptos"/>
              </a:rPr>
              <a:t>84/84</a:t>
            </a:r>
          </a:p>
        </p:txBody>
      </p:sp>
      <p:sp>
        <p:nvSpPr>
          <p:cNvPr id="16" name="">
            <a:extLst xmlns:a="http://schemas.openxmlformats.org/drawingml/2006/main">
              <a:ext uri="{FF2B5EF4-FFF2-40B4-BE49-F238E27FC236}">
                <a16:creationId xmlns:a16="http://schemas.microsoft.com/office/drawing/2014/main" id="{794380DA-A422-40E1-A6A9-C1349E7523D0}"/>
              </a:ext>
            </a:extLst>
          </p:cNvPr>
          <p:cNvSpPr>
            <a:spLocks xmlns:a="http://schemas.openxmlformats.org/drawingml/2006/main" noGrp="1"/>
          </p:cNvSpPr>
          <p:nvPr/>
        </p:nvSpPr>
        <p:spPr>
          <a:xfrm xmlns:a="http://schemas.openxmlformats.org/drawingml/2006/main">
            <a:off x="914400" y="40957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Clean real</a:t>
            </a:r>
          </a:p>
        </p:txBody>
      </p:sp>
      <p:sp>
        <p:nvSpPr>
          <p:cNvPr id="17" name="">
            <a:extLst xmlns:a="http://schemas.openxmlformats.org/drawingml/2006/main">
              <a:ext uri="{FF2B5EF4-FFF2-40B4-BE49-F238E27FC236}">
                <a16:creationId xmlns:a16="http://schemas.microsoft.com/office/drawing/2014/main" id="{B5EDEF10-17AE-4251-92F8-987A07B81492}"/>
              </a:ext>
            </a:extLst>
          </p:cNvPr>
          <p:cNvSpPr>
            <a:spLocks xmlns:a="http://schemas.openxmlformats.org/drawingml/2006/main" noGrp="1"/>
          </p:cNvSpPr>
          <p:nvPr/>
        </p:nvSpPr>
        <p:spPr>
          <a:xfrm xmlns:a="http://schemas.openxmlformats.org/drawingml/2006/main">
            <a:off x="2533650" y="41243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5334393-B8AF-4BFF-9483-811BDF4D0579}"/>
              </a:ext>
            </a:extLst>
          </p:cNvPr>
          <p:cNvSpPr>
            <a:spLocks xmlns:a="http://schemas.openxmlformats.org/drawingml/2006/main" noGrp="1"/>
          </p:cNvSpPr>
          <p:nvPr/>
        </p:nvSpPr>
        <p:spPr>
          <a:xfrm xmlns:a="http://schemas.openxmlformats.org/drawingml/2006/main">
            <a:off x="2533650" y="4124325"/>
            <a:ext cx="1809750" cy="142875"/>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A745B44-3E68-47CD-BDB9-155C6597C9EB}"/>
              </a:ext>
            </a:extLst>
          </p:cNvPr>
          <p:cNvSpPr>
            <a:spLocks xmlns:a="http://schemas.openxmlformats.org/drawingml/2006/main" noGrp="1"/>
          </p:cNvSpPr>
          <p:nvPr/>
        </p:nvSpPr>
        <p:spPr>
          <a:xfrm xmlns:a="http://schemas.openxmlformats.org/drawingml/2006/main">
            <a:off x="4438650" y="40767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64785E"/>
                </a:solidFill>
                <a:latin typeface="Aptos"/>
                <a:ea typeface="Aptos"/>
                <a:cs typeface="Aptos"/>
              </a:defRPr>
            </a:pPr>
            <a:r>
              <a:rPr sz="1050" b="1">
                <a:solidFill>
                  <a:srgbClr val="64785E"/>
                </a:solidFill>
                <a:latin typeface="Aptos"/>
                <a:ea typeface="Aptos"/>
                <a:cs typeface="Aptos"/>
              </a:rPr>
              <a:t>47/47</a:t>
            </a:r>
          </a:p>
        </p:txBody>
      </p:sp>
      <p:sp>
        <p:nvSpPr>
          <p:cNvPr id="20" name="">
            <a:extLst xmlns:a="http://schemas.openxmlformats.org/drawingml/2006/main">
              <a:ext uri="{FF2B5EF4-FFF2-40B4-BE49-F238E27FC236}">
                <a16:creationId xmlns:a16="http://schemas.microsoft.com/office/drawing/2014/main" id="{85C72C76-F559-4473-8ED0-A75B289CD9B4}"/>
              </a:ext>
            </a:extLst>
          </p:cNvPr>
          <p:cNvSpPr>
            <a:spLocks xmlns:a="http://schemas.openxmlformats.org/drawingml/2006/main" noGrp="1"/>
          </p:cNvSpPr>
          <p:nvPr/>
        </p:nvSpPr>
        <p:spPr>
          <a:xfrm xmlns:a="http://schemas.openxmlformats.org/drawingml/2006/main">
            <a:off x="914400" y="4552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Partial real</a:t>
            </a:r>
          </a:p>
        </p:txBody>
      </p:sp>
      <p:sp>
        <p:nvSpPr>
          <p:cNvPr id="21" name="">
            <a:extLst xmlns:a="http://schemas.openxmlformats.org/drawingml/2006/main">
              <a:ext uri="{FF2B5EF4-FFF2-40B4-BE49-F238E27FC236}">
                <a16:creationId xmlns:a16="http://schemas.microsoft.com/office/drawing/2014/main" id="{556CFBDC-8486-4BDB-9BB9-8795E81CBB6D}"/>
              </a:ext>
            </a:extLst>
          </p:cNvPr>
          <p:cNvSpPr>
            <a:spLocks xmlns:a="http://schemas.openxmlformats.org/drawingml/2006/main" noGrp="1"/>
          </p:cNvSpPr>
          <p:nvPr/>
        </p:nvSpPr>
        <p:spPr>
          <a:xfrm xmlns:a="http://schemas.openxmlformats.org/drawingml/2006/main">
            <a:off x="2533650" y="4581525"/>
            <a:ext cx="1809750" cy="14287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1212650-5EC6-42D7-98AD-CCF6D73E33B6}"/>
              </a:ext>
            </a:extLst>
          </p:cNvPr>
          <p:cNvSpPr>
            <a:spLocks xmlns:a="http://schemas.openxmlformats.org/drawingml/2006/main" noGrp="1"/>
          </p:cNvSpPr>
          <p:nvPr/>
        </p:nvSpPr>
        <p:spPr>
          <a:xfrm xmlns:a="http://schemas.openxmlformats.org/drawingml/2006/main">
            <a:off x="2533650" y="4581525"/>
            <a:ext cx="895350" cy="142875"/>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4DD8D7E-994F-4423-BAFB-90F9AC3E665C}"/>
              </a:ext>
            </a:extLst>
          </p:cNvPr>
          <p:cNvSpPr>
            <a:spLocks xmlns:a="http://schemas.openxmlformats.org/drawingml/2006/main" noGrp="1"/>
          </p:cNvSpPr>
          <p:nvPr/>
        </p:nvSpPr>
        <p:spPr>
          <a:xfrm xmlns:a="http://schemas.openxmlformats.org/drawingml/2006/main">
            <a:off x="4438650" y="45339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D817A"/>
                </a:solidFill>
                <a:latin typeface="Aptos"/>
                <a:ea typeface="Aptos"/>
                <a:cs typeface="Aptos"/>
              </a:defRPr>
            </a:pPr>
            <a:r>
              <a:rPr sz="1050" b="1">
                <a:solidFill>
                  <a:srgbClr val="4D817A"/>
                </a:solidFill>
                <a:latin typeface="Aptos"/>
                <a:ea typeface="Aptos"/>
                <a:cs typeface="Aptos"/>
              </a:rPr>
              <a:t>880/1790</a:t>
            </a:r>
          </a:p>
        </p:txBody>
      </p:sp>
      <p:sp>
        <p:nvSpPr>
          <p:cNvPr id="24" name="">
            <a:extLst xmlns:a="http://schemas.openxmlformats.org/drawingml/2006/main">
              <a:ext uri="{FF2B5EF4-FFF2-40B4-BE49-F238E27FC236}">
                <a16:creationId xmlns:a16="http://schemas.microsoft.com/office/drawing/2014/main" id="{FA99CBF6-C6E8-4931-9621-0C8FD00C56A5}"/>
              </a:ext>
            </a:extLst>
          </p:cNvPr>
          <p:cNvSpPr>
            <a:spLocks xmlns:a="http://schemas.openxmlformats.org/drawingml/2006/main" noGrp="1"/>
          </p:cNvSpPr>
          <p:nvPr/>
        </p:nvSpPr>
        <p:spPr>
          <a:xfrm xmlns:a="http://schemas.openxmlformats.org/drawingml/2006/main">
            <a:off x="914400" y="51054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E6B78"/>
                </a:solidFill>
                <a:latin typeface="Aptos"/>
                <a:ea typeface="Aptos"/>
                <a:cs typeface="Aptos"/>
              </a:defRPr>
            </a:pPr>
            <a:r>
              <a:rPr sz="1050" b="0">
                <a:solidFill>
                  <a:srgbClr val="5E6B78"/>
                </a:solidFill>
                <a:latin typeface="Aptos"/>
                <a:ea typeface="Aptos"/>
                <a:cs typeface="Aptos"/>
              </a:rPr>
              <a:t>Measures correctness of what the APK-only tool emitted.</a:t>
            </a:r>
          </a:p>
        </p:txBody>
      </p:sp>
      <p:sp>
        <p:nvSpPr>
          <p:cNvPr id="25" name="">
            <a:extLst xmlns:a="http://schemas.openxmlformats.org/drawingml/2006/main">
              <a:ext uri="{FF2B5EF4-FFF2-40B4-BE49-F238E27FC236}">
                <a16:creationId xmlns:a16="http://schemas.microsoft.com/office/drawing/2014/main" id="{D08979D4-98F9-47F5-AB27-F68AB16EDD81}"/>
              </a:ext>
            </a:extLst>
          </p:cNvPr>
          <p:cNvSpPr>
            <a:spLocks xmlns:a="http://schemas.openxmlformats.org/drawingml/2006/main" noGrp="1"/>
          </p:cNvSpPr>
          <p:nvPr/>
        </p:nvSpPr>
        <p:spPr>
          <a:xfrm xmlns:a="http://schemas.openxmlformats.org/drawingml/2006/main">
            <a:off x="6362700" y="1504950"/>
            <a:ext cx="5143500" cy="3905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A920A9B2-1008-4858-B973-580915764BA2}"/>
              </a:ext>
            </a:extLst>
          </p:cNvPr>
          <p:cNvSpPr>
            <a:spLocks xmlns:a="http://schemas.openxmlformats.org/drawingml/2006/main" noGrp="1"/>
          </p:cNvSpPr>
          <p:nvPr/>
        </p:nvSpPr>
        <p:spPr>
          <a:xfrm xmlns:a="http://schemas.openxmlformats.org/drawingml/2006/main">
            <a:off x="6591300" y="1790700"/>
            <a:ext cx="2190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27" name="">
            <a:extLst xmlns:a="http://schemas.openxmlformats.org/drawingml/2006/main">
              <a:ext uri="{FF2B5EF4-FFF2-40B4-BE49-F238E27FC236}">
                <a16:creationId xmlns:a16="http://schemas.microsoft.com/office/drawing/2014/main" id="{AF136FB0-FEE1-45CB-9638-17F5C515A33A}"/>
              </a:ext>
            </a:extLst>
          </p:cNvPr>
          <p:cNvSpPr>
            <a:spLocks xmlns:a="http://schemas.openxmlformats.org/drawingml/2006/main" noGrp="1"/>
          </p:cNvSpPr>
          <p:nvPr/>
        </p:nvSpPr>
        <p:spPr>
          <a:xfrm xmlns:a="http://schemas.openxmlformats.org/drawingml/2006/main">
            <a:off x="6667500" y="1847850"/>
            <a:ext cx="2038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F5F7E"/>
                </a:solidFill>
                <a:latin typeface="Aptos"/>
                <a:ea typeface="Aptos"/>
                <a:cs typeface="Aptos"/>
              </a:defRPr>
            </a:pPr>
            <a:r>
              <a:rPr sz="825" b="1">
                <a:solidFill>
                  <a:srgbClr val="2F5F7E"/>
                </a:solidFill>
                <a:latin typeface="Aptos"/>
                <a:ea typeface="Aptos"/>
                <a:cs typeface="Aptos"/>
              </a:rPr>
              <a:t>SOURCE-KNOWN V2 LANE</a:t>
            </a:r>
          </a:p>
        </p:txBody>
      </p:sp>
      <p:sp>
        <p:nvSpPr>
          <p:cNvPr id="28" name="">
            <a:extLst xmlns:a="http://schemas.openxmlformats.org/drawingml/2006/main">
              <a:ext uri="{FF2B5EF4-FFF2-40B4-BE49-F238E27FC236}">
                <a16:creationId xmlns:a16="http://schemas.microsoft.com/office/drawing/2014/main" id="{23AA60E6-74CB-476B-A84D-5EAE65BC69EC}"/>
              </a:ext>
            </a:extLst>
          </p:cNvPr>
          <p:cNvSpPr>
            <a:spLocks xmlns:a="http://schemas.openxmlformats.org/drawingml/2006/main" noGrp="1"/>
          </p:cNvSpPr>
          <p:nvPr/>
        </p:nvSpPr>
        <p:spPr>
          <a:xfrm xmlns:a="http://schemas.openxmlformats.org/drawingml/2006/main">
            <a:off x="6591300" y="2286000"/>
            <a:ext cx="400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6772 / 6772</a:t>
            </a:r>
          </a:p>
        </p:txBody>
      </p:sp>
      <p:sp>
        <p:nvSpPr>
          <p:cNvPr id="29" name="">
            <a:extLst xmlns:a="http://schemas.openxmlformats.org/drawingml/2006/main">
              <a:ext uri="{FF2B5EF4-FFF2-40B4-BE49-F238E27FC236}">
                <a16:creationId xmlns:a16="http://schemas.microsoft.com/office/drawing/2014/main" id="{39FE3C13-E656-4C9B-825A-0A3CB4A52016}"/>
              </a:ext>
            </a:extLst>
          </p:cNvPr>
          <p:cNvSpPr>
            <a:spLocks xmlns:a="http://schemas.openxmlformats.org/drawingml/2006/main" noGrp="1"/>
          </p:cNvSpPr>
          <p:nvPr/>
        </p:nvSpPr>
        <p:spPr>
          <a:xfrm xmlns:a="http://schemas.openxmlformats.org/drawingml/2006/main">
            <a:off x="6591300" y="2762250"/>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exact emitted rows</a:t>
            </a:r>
          </a:p>
        </p:txBody>
      </p:sp>
      <p:sp>
        <p:nvSpPr>
          <p:cNvPr id="30" name="">
            <a:extLst xmlns:a="http://schemas.openxmlformats.org/drawingml/2006/main">
              <a:ext uri="{FF2B5EF4-FFF2-40B4-BE49-F238E27FC236}">
                <a16:creationId xmlns:a16="http://schemas.microsoft.com/office/drawing/2014/main" id="{77609854-D23D-4B7B-8E15-2BDE3051F85C}"/>
              </a:ext>
            </a:extLst>
          </p:cNvPr>
          <p:cNvSpPr>
            <a:spLocks xmlns:a="http://schemas.openxmlformats.org/drawingml/2006/main" noGrp="1"/>
          </p:cNvSpPr>
          <p:nvPr/>
        </p:nvSpPr>
        <p:spPr>
          <a:xfrm xmlns:a="http://schemas.openxmlformats.org/drawingml/2006/main">
            <a:off x="6591300" y="358140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EEB4C33-A5A5-4AA2-B8BA-AE740456EDCF}"/>
              </a:ext>
            </a:extLst>
          </p:cNvPr>
          <p:cNvSpPr>
            <a:spLocks xmlns:a="http://schemas.openxmlformats.org/drawingml/2006/main" noGrp="1"/>
          </p:cNvSpPr>
          <p:nvPr/>
        </p:nvSpPr>
        <p:spPr>
          <a:xfrm xmlns:a="http://schemas.openxmlformats.org/drawingml/2006/main">
            <a:off x="6591300" y="36766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Cases</a:t>
            </a:r>
          </a:p>
        </p:txBody>
      </p:sp>
      <p:sp>
        <p:nvSpPr>
          <p:cNvPr id="32" name="">
            <a:extLst xmlns:a="http://schemas.openxmlformats.org/drawingml/2006/main">
              <a:ext uri="{FF2B5EF4-FFF2-40B4-BE49-F238E27FC236}">
                <a16:creationId xmlns:a16="http://schemas.microsoft.com/office/drawing/2014/main" id="{9BFCF5FE-865E-4615-A7C9-B042219020F0}"/>
              </a:ext>
            </a:extLst>
          </p:cNvPr>
          <p:cNvSpPr>
            <a:spLocks xmlns:a="http://schemas.openxmlformats.org/drawingml/2006/main" noGrp="1"/>
          </p:cNvSpPr>
          <p:nvPr/>
        </p:nvSpPr>
        <p:spPr>
          <a:xfrm xmlns:a="http://schemas.openxmlformats.org/drawingml/2006/main">
            <a:off x="9277350" y="36576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106</a:t>
            </a:r>
          </a:p>
        </p:txBody>
      </p:sp>
      <p:sp>
        <p:nvSpPr>
          <p:cNvPr id="33" name="">
            <a:extLst xmlns:a="http://schemas.openxmlformats.org/drawingml/2006/main">
              <a:ext uri="{FF2B5EF4-FFF2-40B4-BE49-F238E27FC236}">
                <a16:creationId xmlns:a16="http://schemas.microsoft.com/office/drawing/2014/main" id="{F8EC8D8B-078B-48BB-9D05-369AC630EDC6}"/>
              </a:ext>
            </a:extLst>
          </p:cNvPr>
          <p:cNvSpPr>
            <a:spLocks xmlns:a="http://schemas.openxmlformats.org/drawingml/2006/main" noGrp="1"/>
          </p:cNvSpPr>
          <p:nvPr/>
        </p:nvSpPr>
        <p:spPr>
          <a:xfrm xmlns:a="http://schemas.openxmlformats.org/drawingml/2006/main">
            <a:off x="6591300" y="398145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EBFF8B7-6C60-48F7-A863-FF8B17694A51}"/>
              </a:ext>
            </a:extLst>
          </p:cNvPr>
          <p:cNvSpPr>
            <a:spLocks xmlns:a="http://schemas.openxmlformats.org/drawingml/2006/main" noGrp="1"/>
          </p:cNvSpPr>
          <p:nvPr/>
        </p:nvSpPr>
        <p:spPr>
          <a:xfrm xmlns:a="http://schemas.openxmlformats.org/drawingml/2006/main">
            <a:off x="6591300" y="40767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Wrong emitted</a:t>
            </a:r>
          </a:p>
        </p:txBody>
      </p:sp>
      <p:sp>
        <p:nvSpPr>
          <p:cNvPr id="35" name="">
            <a:extLst xmlns:a="http://schemas.openxmlformats.org/drawingml/2006/main">
              <a:ext uri="{FF2B5EF4-FFF2-40B4-BE49-F238E27FC236}">
                <a16:creationId xmlns:a16="http://schemas.microsoft.com/office/drawing/2014/main" id="{E8BEB2A1-715D-4977-8914-05238611DEBD}"/>
              </a:ext>
            </a:extLst>
          </p:cNvPr>
          <p:cNvSpPr>
            <a:spLocks xmlns:a="http://schemas.openxmlformats.org/drawingml/2006/main" noGrp="1"/>
          </p:cNvSpPr>
          <p:nvPr/>
        </p:nvSpPr>
        <p:spPr>
          <a:xfrm xmlns:a="http://schemas.openxmlformats.org/drawingml/2006/main">
            <a:off x="9277350" y="40576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0</a:t>
            </a:r>
          </a:p>
        </p:txBody>
      </p:sp>
      <p:sp>
        <p:nvSpPr>
          <p:cNvPr id="36" name="">
            <a:extLst xmlns:a="http://schemas.openxmlformats.org/drawingml/2006/main">
              <a:ext uri="{FF2B5EF4-FFF2-40B4-BE49-F238E27FC236}">
                <a16:creationId xmlns:a16="http://schemas.microsoft.com/office/drawing/2014/main" id="{18BAAF16-76EA-41D5-9F1B-162204D52312}"/>
              </a:ext>
            </a:extLst>
          </p:cNvPr>
          <p:cNvSpPr>
            <a:spLocks xmlns:a="http://schemas.openxmlformats.org/drawingml/2006/main" noGrp="1"/>
          </p:cNvSpPr>
          <p:nvPr/>
        </p:nvSpPr>
        <p:spPr>
          <a:xfrm xmlns:a="http://schemas.openxmlformats.org/drawingml/2006/main">
            <a:off x="6591300" y="438150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29B3CDD-CB97-41C5-866D-1900F503F0A1}"/>
              </a:ext>
            </a:extLst>
          </p:cNvPr>
          <p:cNvSpPr>
            <a:spLocks xmlns:a="http://schemas.openxmlformats.org/drawingml/2006/main" noGrp="1"/>
          </p:cNvSpPr>
          <p:nvPr/>
        </p:nvSpPr>
        <p:spPr>
          <a:xfrm xmlns:a="http://schemas.openxmlformats.org/drawingml/2006/main">
            <a:off x="6591300" y="4476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Missing emitted</a:t>
            </a:r>
          </a:p>
        </p:txBody>
      </p:sp>
      <p:sp>
        <p:nvSpPr>
          <p:cNvPr id="38" name="">
            <a:extLst xmlns:a="http://schemas.openxmlformats.org/drawingml/2006/main">
              <a:ext uri="{FF2B5EF4-FFF2-40B4-BE49-F238E27FC236}">
                <a16:creationId xmlns:a16="http://schemas.microsoft.com/office/drawing/2014/main" id="{5418BB6D-5313-4ADF-83F9-6D9B351204CE}"/>
              </a:ext>
            </a:extLst>
          </p:cNvPr>
          <p:cNvSpPr>
            <a:spLocks xmlns:a="http://schemas.openxmlformats.org/drawingml/2006/main" noGrp="1"/>
          </p:cNvSpPr>
          <p:nvPr/>
        </p:nvSpPr>
        <p:spPr>
          <a:xfrm xmlns:a="http://schemas.openxmlformats.org/drawingml/2006/main">
            <a:off x="9277350" y="44577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0</a:t>
            </a:r>
          </a:p>
        </p:txBody>
      </p:sp>
      <p:sp>
        <p:nvSpPr>
          <p:cNvPr id="39" name="">
            <a:extLst xmlns:a="http://schemas.openxmlformats.org/drawingml/2006/main">
              <a:ext uri="{FF2B5EF4-FFF2-40B4-BE49-F238E27FC236}">
                <a16:creationId xmlns:a16="http://schemas.microsoft.com/office/drawing/2014/main" id="{55814E46-F8CB-4F38-9E36-AA75559E2E8C}"/>
              </a:ext>
            </a:extLst>
          </p:cNvPr>
          <p:cNvSpPr>
            <a:spLocks xmlns:a="http://schemas.openxmlformats.org/drawingml/2006/main" noGrp="1"/>
          </p:cNvSpPr>
          <p:nvPr/>
        </p:nvSpPr>
        <p:spPr>
          <a:xfrm xmlns:a="http://schemas.openxmlformats.org/drawingml/2006/main">
            <a:off x="6591300" y="4781550"/>
            <a:ext cx="352425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3C3AA0A-021F-4CFF-92B8-27594BAC147B}"/>
              </a:ext>
            </a:extLst>
          </p:cNvPr>
          <p:cNvSpPr>
            <a:spLocks xmlns:a="http://schemas.openxmlformats.org/drawingml/2006/main" noGrp="1"/>
          </p:cNvSpPr>
          <p:nvPr/>
        </p:nvSpPr>
        <p:spPr>
          <a:xfrm xmlns:a="http://schemas.openxmlformats.org/drawingml/2006/main">
            <a:off x="6591300" y="48768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Source gaps</a:t>
            </a:r>
          </a:p>
        </p:txBody>
      </p:sp>
      <p:sp>
        <p:nvSpPr>
          <p:cNvPr id="41" name="">
            <a:extLst xmlns:a="http://schemas.openxmlformats.org/drawingml/2006/main">
              <a:ext uri="{FF2B5EF4-FFF2-40B4-BE49-F238E27FC236}">
                <a16:creationId xmlns:a16="http://schemas.microsoft.com/office/drawing/2014/main" id="{59D24B5C-1BF5-4FE8-96EF-BF9CBCFB2652}"/>
              </a:ext>
            </a:extLst>
          </p:cNvPr>
          <p:cNvSpPr>
            <a:spLocks xmlns:a="http://schemas.openxmlformats.org/drawingml/2006/main" noGrp="1"/>
          </p:cNvSpPr>
          <p:nvPr/>
        </p:nvSpPr>
        <p:spPr>
          <a:xfrm xmlns:a="http://schemas.openxmlformats.org/drawingml/2006/main">
            <a:off x="9277350" y="48577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64785E"/>
                </a:solidFill>
                <a:latin typeface="Aptos"/>
                <a:ea typeface="Aptos"/>
                <a:cs typeface="Aptos"/>
              </a:defRPr>
            </a:pPr>
            <a:r>
              <a:rPr sz="1125" b="1">
                <a:solidFill>
                  <a:srgbClr val="64785E"/>
                </a:solidFill>
                <a:latin typeface="Aptos"/>
                <a:ea typeface="Aptos"/>
                <a:cs typeface="Aptos"/>
              </a:rPr>
              <a:t>5238</a:t>
            </a:r>
          </a:p>
        </p:txBody>
      </p:sp>
      <p:sp>
        <p:nvSpPr>
          <p:cNvPr id="42" name="">
            <a:extLst xmlns:a="http://schemas.openxmlformats.org/drawingml/2006/main">
              <a:ext uri="{FF2B5EF4-FFF2-40B4-BE49-F238E27FC236}">
                <a16:creationId xmlns:a16="http://schemas.microsoft.com/office/drawing/2014/main" id="{7A672D5B-8732-4197-8312-2A41FBB40581}"/>
              </a:ext>
            </a:extLst>
          </p:cNvPr>
          <p:cNvSpPr>
            <a:spLocks xmlns:a="http://schemas.openxmlformats.org/drawingml/2006/main" noGrp="1"/>
          </p:cNvSpPr>
          <p:nvPr/>
        </p:nvSpPr>
        <p:spPr>
          <a:xfrm xmlns:a="http://schemas.openxmlformats.org/drawingml/2006/main">
            <a:off x="1524000" y="5791200"/>
            <a:ext cx="9144000" cy="40005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43" name="">
            <a:extLst xmlns:a="http://schemas.openxmlformats.org/drawingml/2006/main">
              <a:ext uri="{FF2B5EF4-FFF2-40B4-BE49-F238E27FC236}">
                <a16:creationId xmlns:a16="http://schemas.microsoft.com/office/drawing/2014/main" id="{7BFEB44A-5615-481E-B0BF-C56AFCC711EA}"/>
              </a:ext>
            </a:extLst>
          </p:cNvPr>
          <p:cNvSpPr>
            <a:spLocks xmlns:a="http://schemas.openxmlformats.org/drawingml/2006/main" noGrp="1"/>
          </p:cNvSpPr>
          <p:nvPr/>
        </p:nvSpPr>
        <p:spPr>
          <a:xfrm xmlns:a="http://schemas.openxmlformats.org/drawingml/2006/main">
            <a:off x="1752600" y="5915025"/>
            <a:ext cx="8686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Do not combine these lanes. v2 proves bounded recognition, not unconstrained APK-only accuracy.</a:t>
            </a:r>
          </a:p>
        </p:txBody>
      </p:sp>
      <p:sp>
        <p:nvSpPr>
          <p:cNvPr id="44" name="">
            <a:extLst xmlns:a="http://schemas.openxmlformats.org/drawingml/2006/main">
              <a:ext uri="{FF2B5EF4-FFF2-40B4-BE49-F238E27FC236}">
                <a16:creationId xmlns:a16="http://schemas.microsoft.com/office/drawing/2014/main" id="{18279998-8CED-47E9-A6B7-93206B9AD5D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09140353"/>
      </p:ext>
    </p:extLst>
  </p:cSld>
</p:sld>
</file>

<file path=ppt/slides/slide5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E33DE8-4D23-4D0B-AC2C-CC22FA45EB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CF7039-F207-4BDA-851E-E2C4C706DAB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EEAF7E5-D374-4FB9-975F-70200075C6B4}"/>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D3CCB265-C12E-44A0-A4A2-2BD7434AC85E}"/>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52</a:t>
            </a:r>
          </a:p>
        </p:txBody>
      </p:sp>
      <p:sp>
        <p:nvSpPr>
          <p:cNvPr id="5" name="">
            <a:extLst xmlns:a="http://schemas.openxmlformats.org/drawingml/2006/main">
              <a:ext uri="{FF2B5EF4-FFF2-40B4-BE49-F238E27FC236}">
                <a16:creationId xmlns:a16="http://schemas.microsoft.com/office/drawing/2014/main" id="{EA2ED4AA-3595-433C-BC99-1435EF008065}"/>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Remaining source gaps are classified instead of hidden</a:t>
            </a:r>
          </a:p>
        </p:txBody>
      </p:sp>
      <p:sp>
        <p:nvSpPr>
          <p:cNvPr id="6" name="">
            <a:extLst xmlns:a="http://schemas.openxmlformats.org/drawingml/2006/main">
              <a:ext uri="{FF2B5EF4-FFF2-40B4-BE49-F238E27FC236}">
                <a16:creationId xmlns:a16="http://schemas.microsoft.com/office/drawing/2014/main" id="{F8465423-6A1D-4355-90F0-687351BC899F}"/>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C972742-873E-4088-83A9-A3296C1E192D}"/>
              </a:ext>
            </a:extLst>
          </p:cNvPr>
          <p:cNvSpPr>
            <a:spLocks xmlns:a="http://schemas.openxmlformats.org/drawingml/2006/main" noGrp="1"/>
          </p:cNvSpPr>
          <p:nvPr/>
        </p:nvSpPr>
        <p:spPr>
          <a:xfrm xmlns:a="http://schemas.openxmlformats.org/drawingml/2006/main">
            <a:off x="685800" y="1524000"/>
            <a:ext cx="53340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F20C1E3-B7BC-4459-A149-3EE96D60BB15}"/>
              </a:ext>
            </a:extLst>
          </p:cNvPr>
          <p:cNvSpPr>
            <a:spLocks xmlns:a="http://schemas.openxmlformats.org/drawingml/2006/main" noGrp="1"/>
          </p:cNvSpPr>
          <p:nvPr/>
        </p:nvSpPr>
        <p:spPr>
          <a:xfrm xmlns:a="http://schemas.openxmlformats.org/drawingml/2006/main">
            <a:off x="857250" y="1676400"/>
            <a:ext cx="4991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Main points</a:t>
            </a:r>
          </a:p>
        </p:txBody>
      </p:sp>
      <p:sp>
        <p:nvSpPr>
          <p:cNvPr id="9" name="">
            <a:extLst xmlns:a="http://schemas.openxmlformats.org/drawingml/2006/main">
              <a:ext uri="{FF2B5EF4-FFF2-40B4-BE49-F238E27FC236}">
                <a16:creationId xmlns:a16="http://schemas.microsoft.com/office/drawing/2014/main" id="{09C7696A-C05D-4396-8EAF-BACA66D77B76}"/>
              </a:ext>
            </a:extLst>
          </p:cNvPr>
          <p:cNvSpPr>
            <a:spLocks xmlns:a="http://schemas.openxmlformats.org/drawingml/2006/main" noGrp="1"/>
          </p:cNvSpPr>
          <p:nvPr/>
        </p:nvSpPr>
        <p:spPr>
          <a:xfrm xmlns:a="http://schemas.openxmlformats.org/drawingml/2006/main">
            <a:off x="857250" y="2105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1754B5A-9352-41B0-B1F5-B9675C05FD70}"/>
              </a:ext>
            </a:extLst>
          </p:cNvPr>
          <p:cNvSpPr>
            <a:spLocks xmlns:a="http://schemas.openxmlformats.org/drawingml/2006/main" noGrp="1"/>
          </p:cNvSpPr>
          <p:nvPr/>
        </p:nvSpPr>
        <p:spPr>
          <a:xfrm xmlns:a="http://schemas.openxmlformats.org/drawingml/2006/main">
            <a:off x="1028700" y="2038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Source dependency rows: 12082.</a:t>
            </a:r>
          </a:p>
        </p:txBody>
      </p:sp>
      <p:sp>
        <p:nvSpPr>
          <p:cNvPr id="11" name="">
            <a:extLst xmlns:a="http://schemas.openxmlformats.org/drawingml/2006/main">
              <a:ext uri="{FF2B5EF4-FFF2-40B4-BE49-F238E27FC236}">
                <a16:creationId xmlns:a16="http://schemas.microsoft.com/office/drawing/2014/main" id="{26E45807-E34D-4BD8-A017-977430E54B8A}"/>
              </a:ext>
            </a:extLst>
          </p:cNvPr>
          <p:cNvSpPr>
            <a:spLocks xmlns:a="http://schemas.openxmlformats.org/drawingml/2006/main" noGrp="1"/>
          </p:cNvSpPr>
          <p:nvPr/>
        </p:nvSpPr>
        <p:spPr>
          <a:xfrm xmlns:a="http://schemas.openxmlformats.org/drawingml/2006/main">
            <a:off x="857250" y="2581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1A8DE7A-B3E0-42E7-8675-8E765B23A958}"/>
              </a:ext>
            </a:extLst>
          </p:cNvPr>
          <p:cNvSpPr>
            <a:spLocks xmlns:a="http://schemas.openxmlformats.org/drawingml/2006/main" noGrp="1"/>
          </p:cNvSpPr>
          <p:nvPr/>
        </p:nvSpPr>
        <p:spPr>
          <a:xfrm xmlns:a="http://schemas.openxmlformats.org/drawingml/2006/main">
            <a:off x="1028700" y="2514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Source-gap rows: 5238.</a:t>
            </a:r>
          </a:p>
        </p:txBody>
      </p:sp>
      <p:sp>
        <p:nvSpPr>
          <p:cNvPr id="13" name="">
            <a:extLst xmlns:a="http://schemas.openxmlformats.org/drawingml/2006/main">
              <a:ext uri="{FF2B5EF4-FFF2-40B4-BE49-F238E27FC236}">
                <a16:creationId xmlns:a16="http://schemas.microsoft.com/office/drawing/2014/main" id="{0EC6C4CF-24CD-4BCE-8FFD-9515712EE9D0}"/>
              </a:ext>
            </a:extLst>
          </p:cNvPr>
          <p:cNvSpPr>
            <a:spLocks xmlns:a="http://schemas.openxmlformats.org/drawingml/2006/main" noGrp="1"/>
          </p:cNvSpPr>
          <p:nvPr/>
        </p:nvSpPr>
        <p:spPr>
          <a:xfrm xmlns:a="http://schemas.openxmlformats.org/drawingml/2006/main">
            <a:off x="857250" y="3057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381A0EC-6BE4-4ABA-AF80-220D950A7646}"/>
              </a:ext>
            </a:extLst>
          </p:cNvPr>
          <p:cNvSpPr>
            <a:spLocks xmlns:a="http://schemas.openxmlformats.org/drawingml/2006/main" noGrp="1"/>
          </p:cNvSpPr>
          <p:nvPr/>
        </p:nvSpPr>
        <p:spPr>
          <a:xfrm xmlns:a="http://schemas.openxmlformats.org/drawingml/2006/main">
            <a:off x="1028700" y="2990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Explained or boundary rows: 2515.</a:t>
            </a:r>
          </a:p>
        </p:txBody>
      </p:sp>
      <p:sp>
        <p:nvSpPr>
          <p:cNvPr id="15" name="">
            <a:extLst xmlns:a="http://schemas.openxmlformats.org/drawingml/2006/main">
              <a:ext uri="{FF2B5EF4-FFF2-40B4-BE49-F238E27FC236}">
                <a16:creationId xmlns:a16="http://schemas.microsoft.com/office/drawing/2014/main" id="{6B1C310A-C776-4373-9A0C-F0ABEF84F854}"/>
              </a:ext>
            </a:extLst>
          </p:cNvPr>
          <p:cNvSpPr>
            <a:spLocks xmlns:a="http://schemas.openxmlformats.org/drawingml/2006/main" noGrp="1"/>
          </p:cNvSpPr>
          <p:nvPr/>
        </p:nvSpPr>
        <p:spPr>
          <a:xfrm xmlns:a="http://schemas.openxmlformats.org/drawingml/2006/main">
            <a:off x="857250" y="3533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994E8C2-E2F5-43E8-9F1B-1AB0859E7CFF}"/>
              </a:ext>
            </a:extLst>
          </p:cNvPr>
          <p:cNvSpPr>
            <a:spLocks xmlns:a="http://schemas.openxmlformats.org/drawingml/2006/main" noGrp="1"/>
          </p:cNvSpPr>
          <p:nvPr/>
        </p:nvSpPr>
        <p:spPr>
          <a:xfrm xmlns:a="http://schemas.openxmlformats.org/drawingml/2006/main">
            <a:off x="1028700" y="34671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Actionable source-gap rows: 2723.</a:t>
            </a:r>
          </a:p>
        </p:txBody>
      </p:sp>
      <p:sp>
        <p:nvSpPr>
          <p:cNvPr id="17" name="">
            <a:extLst xmlns:a="http://schemas.openxmlformats.org/drawingml/2006/main">
              <a:ext uri="{FF2B5EF4-FFF2-40B4-BE49-F238E27FC236}">
                <a16:creationId xmlns:a16="http://schemas.microsoft.com/office/drawing/2014/main" id="{9C81D9D9-732C-45FE-A270-A4DDD2D8A910}"/>
              </a:ext>
            </a:extLst>
          </p:cNvPr>
          <p:cNvSpPr>
            <a:spLocks xmlns:a="http://schemas.openxmlformats.org/drawingml/2006/main" noGrp="1"/>
          </p:cNvSpPr>
          <p:nvPr/>
        </p:nvSpPr>
        <p:spPr>
          <a:xfrm xmlns:a="http://schemas.openxmlformats.org/drawingml/2006/main">
            <a:off x="857250" y="40100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176CF1-8D0E-4B83-A3BC-DB457B43C97E}"/>
              </a:ext>
            </a:extLst>
          </p:cNvPr>
          <p:cNvSpPr>
            <a:spLocks xmlns:a="http://schemas.openxmlformats.org/drawingml/2006/main" noGrp="1"/>
          </p:cNvSpPr>
          <p:nvPr/>
        </p:nvSpPr>
        <p:spPr>
          <a:xfrm xmlns:a="http://schemas.openxmlformats.org/drawingml/2006/main">
            <a:off x="1028700" y="39433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Missing-reference candidates: 442.</a:t>
            </a:r>
          </a:p>
        </p:txBody>
      </p:sp>
      <p:sp>
        <p:nvSpPr>
          <p:cNvPr id="19" name="">
            <a:extLst xmlns:a="http://schemas.openxmlformats.org/drawingml/2006/main">
              <a:ext uri="{FF2B5EF4-FFF2-40B4-BE49-F238E27FC236}">
                <a16:creationId xmlns:a16="http://schemas.microsoft.com/office/drawing/2014/main" id="{7A2274F3-D064-4934-9E0D-3B70398A3276}"/>
              </a:ext>
            </a:extLst>
          </p:cNvPr>
          <p:cNvSpPr>
            <a:spLocks xmlns:a="http://schemas.openxmlformats.org/drawingml/2006/main" noGrp="1"/>
          </p:cNvSpPr>
          <p:nvPr/>
        </p:nvSpPr>
        <p:spPr>
          <a:xfrm xmlns:a="http://schemas.openxmlformats.org/drawingml/2006/main">
            <a:off x="857250" y="44862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46D54FF-EFE5-41D3-86C9-C1446389DDDD}"/>
              </a:ext>
            </a:extLst>
          </p:cNvPr>
          <p:cNvSpPr>
            <a:spLocks xmlns:a="http://schemas.openxmlformats.org/drawingml/2006/main" noGrp="1"/>
          </p:cNvSpPr>
          <p:nvPr/>
        </p:nvSpPr>
        <p:spPr>
          <a:xfrm xmlns:a="http://schemas.openxmlformats.org/drawingml/2006/main">
            <a:off x="1028700" y="441960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Matcher-recall candidates: 2281.</a:t>
            </a:r>
          </a:p>
        </p:txBody>
      </p:sp>
      <p:sp>
        <p:nvSpPr>
          <p:cNvPr id="21" name="">
            <a:extLst xmlns:a="http://schemas.openxmlformats.org/drawingml/2006/main">
              <a:ext uri="{FF2B5EF4-FFF2-40B4-BE49-F238E27FC236}">
                <a16:creationId xmlns:a16="http://schemas.microsoft.com/office/drawing/2014/main" id="{74A949F6-8046-477A-B7DD-CB3B48CA8B97}"/>
              </a:ext>
            </a:extLst>
          </p:cNvPr>
          <p:cNvSpPr>
            <a:spLocks xmlns:a="http://schemas.openxmlformats.org/drawingml/2006/main" noGrp="1"/>
          </p:cNvSpPr>
          <p:nvPr/>
        </p:nvSpPr>
        <p:spPr>
          <a:xfrm xmlns:a="http://schemas.openxmlformats.org/drawingml/2006/main">
            <a:off x="857250" y="49625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AFCBE3F-F2F6-4DA3-A15E-192F5F84A870}"/>
              </a:ext>
            </a:extLst>
          </p:cNvPr>
          <p:cNvSpPr>
            <a:spLocks xmlns:a="http://schemas.openxmlformats.org/drawingml/2006/main" noGrp="1"/>
          </p:cNvSpPr>
          <p:nvPr/>
        </p:nvSpPr>
        <p:spPr>
          <a:xfrm xmlns:a="http://schemas.openxmlformats.org/drawingml/2006/main">
            <a:off x="1028700" y="4895850"/>
            <a:ext cx="4819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17212B"/>
                </a:solidFill>
                <a:latin typeface="Aptos"/>
                <a:ea typeface="Aptos"/>
                <a:cs typeface="Aptos"/>
              </a:defRPr>
            </a:pPr>
            <a:r>
              <a:rPr sz="1050" b="0">
                <a:solidFill>
                  <a:srgbClr val="17212B"/>
                </a:solidFill>
                <a:latin typeface="Aptos"/>
                <a:ea typeface="Aptos"/>
                <a:cs typeface="Aptos"/>
              </a:rPr>
              <a:t>Matcher report-only suggestions: 1425.</a:t>
            </a:r>
          </a:p>
        </p:txBody>
      </p:sp>
      <p:sp>
        <p:nvSpPr>
          <p:cNvPr id="23" name="">
            <a:extLst xmlns:a="http://schemas.openxmlformats.org/drawingml/2006/main">
              <a:ext uri="{FF2B5EF4-FFF2-40B4-BE49-F238E27FC236}">
                <a16:creationId xmlns:a16="http://schemas.microsoft.com/office/drawing/2014/main" id="{6BAA2E7B-D058-4BA2-A9DB-39F36D7658FC}"/>
              </a:ext>
            </a:extLst>
          </p:cNvPr>
          <p:cNvSpPr>
            <a:spLocks xmlns:a="http://schemas.openxmlformats.org/drawingml/2006/main" noGrp="1"/>
          </p:cNvSpPr>
          <p:nvPr/>
        </p:nvSpPr>
        <p:spPr>
          <a:xfrm xmlns:a="http://schemas.openxmlformats.org/drawingml/2006/main">
            <a:off x="6400800" y="1524000"/>
            <a:ext cx="5105400" cy="4000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1FD20E78-3426-4EE6-923A-7472EF8E510A}"/>
              </a:ext>
            </a:extLst>
          </p:cNvPr>
          <p:cNvSpPr>
            <a:spLocks xmlns:a="http://schemas.openxmlformats.org/drawingml/2006/main" noGrp="1"/>
          </p:cNvSpPr>
          <p:nvPr/>
        </p:nvSpPr>
        <p:spPr>
          <a:xfrm xmlns:a="http://schemas.openxmlformats.org/drawingml/2006/main">
            <a:off x="6629400" y="17526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Visual plan</a:t>
            </a:r>
          </a:p>
        </p:txBody>
      </p:sp>
      <p:sp>
        <p:nvSpPr>
          <p:cNvPr id="25" name="">
            <a:extLst xmlns:a="http://schemas.openxmlformats.org/drawingml/2006/main">
              <a:ext uri="{FF2B5EF4-FFF2-40B4-BE49-F238E27FC236}">
                <a16:creationId xmlns:a16="http://schemas.microsoft.com/office/drawing/2014/main" id="{18278960-CB95-4E3E-9895-5191EAE0D6C3}"/>
              </a:ext>
            </a:extLst>
          </p:cNvPr>
          <p:cNvSpPr>
            <a:spLocks xmlns:a="http://schemas.openxmlformats.org/drawingml/2006/main" noGrp="1"/>
          </p:cNvSpPr>
          <p:nvPr/>
        </p:nvSpPr>
        <p:spPr>
          <a:xfrm xmlns:a="http://schemas.openxmlformats.org/drawingml/2006/main">
            <a:off x="6629400" y="2190750"/>
            <a:ext cx="4648200" cy="4572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6" name="">
            <a:extLst xmlns:a="http://schemas.openxmlformats.org/drawingml/2006/main">
              <a:ext uri="{FF2B5EF4-FFF2-40B4-BE49-F238E27FC236}">
                <a16:creationId xmlns:a16="http://schemas.microsoft.com/office/drawing/2014/main" id="{3D084E2E-B5B6-4F1F-AB89-A824C5F94D0A}"/>
              </a:ext>
            </a:extLst>
          </p:cNvPr>
          <p:cNvSpPr>
            <a:spLocks xmlns:a="http://schemas.openxmlformats.org/drawingml/2006/main" noGrp="1"/>
          </p:cNvSpPr>
          <p:nvPr/>
        </p:nvSpPr>
        <p:spPr>
          <a:xfrm xmlns:a="http://schemas.openxmlformats.org/drawingml/2006/main">
            <a:off x="6781800" y="2324100"/>
            <a:ext cx="434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7212B"/>
                </a:solidFill>
                <a:latin typeface="Aptos"/>
                <a:ea typeface="Aptos"/>
                <a:cs typeface="Aptos"/>
              </a:defRPr>
            </a:pPr>
            <a:r>
              <a:rPr sz="975" b="1">
                <a:solidFill>
                  <a:srgbClr val="17212B"/>
                </a:solidFill>
                <a:latin typeface="Aptos"/>
                <a:ea typeface="Aptos"/>
                <a:cs typeface="Aptos"/>
              </a:rPr>
              <a:t>Stacked bar of source-gap categories.</a:t>
            </a:r>
          </a:p>
        </p:txBody>
      </p:sp>
      <p:sp>
        <p:nvSpPr>
          <p:cNvPr id="27" name="">
            <a:extLst xmlns:a="http://schemas.openxmlformats.org/drawingml/2006/main">
              <a:ext uri="{FF2B5EF4-FFF2-40B4-BE49-F238E27FC236}">
                <a16:creationId xmlns:a16="http://schemas.microsoft.com/office/drawing/2014/main" id="{CAFB203C-D991-4AC1-ABAC-4780D4395F95}"/>
              </a:ext>
            </a:extLst>
          </p:cNvPr>
          <p:cNvSpPr>
            <a:spLocks xmlns:a="http://schemas.openxmlformats.org/drawingml/2006/main" noGrp="1"/>
          </p:cNvSpPr>
          <p:nvPr/>
        </p:nvSpPr>
        <p:spPr>
          <a:xfrm xmlns:a="http://schemas.openxmlformats.org/drawingml/2006/main">
            <a:off x="6629400" y="5048250"/>
            <a:ext cx="4648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E6B78"/>
                </a:solidFill>
                <a:latin typeface="Aptos"/>
                <a:ea typeface="Aptos"/>
                <a:cs typeface="Aptos"/>
              </a:defRPr>
            </a:pPr>
            <a:r>
              <a:rPr sz="975" b="0">
                <a:solidFill>
                  <a:srgbClr val="5E6B78"/>
                </a:solidFill>
                <a:latin typeface="Aptos"/>
                <a:ea typeface="Aptos"/>
                <a:cs typeface="Aptos"/>
              </a:rPr>
              <a:t>Show transparency after v2.</a:t>
            </a:r>
          </a:p>
        </p:txBody>
      </p:sp>
      <p:sp>
        <p:nvSpPr>
          <p:cNvPr id="28" name="">
            <a:extLst xmlns:a="http://schemas.openxmlformats.org/drawingml/2006/main">
              <a:ext uri="{FF2B5EF4-FFF2-40B4-BE49-F238E27FC236}">
                <a16:creationId xmlns:a16="http://schemas.microsoft.com/office/drawing/2014/main" id="{CB7C271A-92CE-4FE4-849D-A1B15F29556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563666220"/>
      </p:ext>
    </p:extLst>
  </p:cSld>
</p:sld>
</file>

<file path=ppt/slides/slide5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660099-7ABC-4294-B590-AE31D59B21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090C9F-4FAC-476E-931A-7DF4DDD0938B}"/>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2F5F7E"/>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133B37-F3B6-4E4C-B586-BF3AD49419BC}"/>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5F7E"/>
                </a:solidFill>
                <a:latin typeface="Aptos"/>
                <a:ea typeface="Aptos"/>
                <a:cs typeface="Aptos"/>
              </a:defRPr>
            </a:pPr>
            <a:r>
              <a:rPr sz="900" b="1">
                <a:solidFill>
                  <a:srgbClr val="2F5F7E"/>
                </a:solidFill>
                <a:latin typeface="Aptos"/>
                <a:ea typeface="Aptos"/>
                <a:cs typeface="Aptos"/>
              </a:rPr>
              <a:t>IMPLEMENTATION</a:t>
            </a:r>
          </a:p>
        </p:txBody>
      </p:sp>
      <p:sp>
        <p:nvSpPr>
          <p:cNvPr id="4" name="">
            <a:extLst xmlns:a="http://schemas.openxmlformats.org/drawingml/2006/main">
              <a:ext uri="{FF2B5EF4-FFF2-40B4-BE49-F238E27FC236}">
                <a16:creationId xmlns:a16="http://schemas.microsoft.com/office/drawing/2014/main" id="{15BC766F-30B2-4ED7-9097-A61BAEC5103A}"/>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53</a:t>
            </a:r>
          </a:p>
        </p:txBody>
      </p:sp>
      <p:sp>
        <p:nvSpPr>
          <p:cNvPr id="5" name="">
            <a:extLst xmlns:a="http://schemas.openxmlformats.org/drawingml/2006/main">
              <a:ext uri="{FF2B5EF4-FFF2-40B4-BE49-F238E27FC236}">
                <a16:creationId xmlns:a16="http://schemas.microsoft.com/office/drawing/2014/main" id="{71643962-4D74-4C58-9164-C0E243BEF927}"/>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AI and R8 assistance has its own evidence lane</a:t>
            </a:r>
          </a:p>
        </p:txBody>
      </p:sp>
      <p:sp>
        <p:nvSpPr>
          <p:cNvPr id="6" name="">
            <a:extLst xmlns:a="http://schemas.openxmlformats.org/drawingml/2006/main">
              <a:ext uri="{FF2B5EF4-FFF2-40B4-BE49-F238E27FC236}">
                <a16:creationId xmlns:a16="http://schemas.microsoft.com/office/drawing/2014/main" id="{3084701D-0F50-4191-A587-33A1A09F5BCB}"/>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ADB85D-76D0-4FF5-99F1-09B55D578CE6}"/>
              </a:ext>
            </a:extLst>
          </p:cNvPr>
          <p:cNvSpPr>
            <a:spLocks xmlns:a="http://schemas.openxmlformats.org/drawingml/2006/main" noGrp="1"/>
          </p:cNvSpPr>
          <p:nvPr/>
        </p:nvSpPr>
        <p:spPr>
          <a:xfrm xmlns:a="http://schemas.openxmlformats.org/drawingml/2006/main">
            <a:off x="685800" y="1504950"/>
            <a:ext cx="4457700" cy="37909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9CEC2C9-B042-484B-93D6-DEA9B6A7EDFE}"/>
              </a:ext>
            </a:extLst>
          </p:cNvPr>
          <p:cNvSpPr>
            <a:spLocks xmlns:a="http://schemas.openxmlformats.org/drawingml/2006/main" noGrp="1"/>
          </p:cNvSpPr>
          <p:nvPr/>
        </p:nvSpPr>
        <p:spPr>
          <a:xfrm xmlns:a="http://schemas.openxmlformats.org/drawingml/2006/main">
            <a:off x="857250" y="1657350"/>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2F5F7E"/>
                </a:solidFill>
                <a:latin typeface="Aptos"/>
                <a:ea typeface="Aptos"/>
                <a:cs typeface="Aptos"/>
              </a:defRPr>
            </a:pPr>
            <a:r>
              <a:rPr sz="1125" b="1">
                <a:solidFill>
                  <a:srgbClr val="2F5F7E"/>
                </a:solidFill>
                <a:latin typeface="Aptos"/>
                <a:ea typeface="Aptos"/>
                <a:cs typeface="Aptos"/>
              </a:rPr>
              <a:t>Dataset evidence</a:t>
            </a:r>
          </a:p>
        </p:txBody>
      </p:sp>
      <p:sp>
        <p:nvSpPr>
          <p:cNvPr id="9" name="">
            <a:extLst xmlns:a="http://schemas.openxmlformats.org/drawingml/2006/main">
              <a:ext uri="{FF2B5EF4-FFF2-40B4-BE49-F238E27FC236}">
                <a16:creationId xmlns:a16="http://schemas.microsoft.com/office/drawing/2014/main" id="{6FA0D5F0-4A16-4088-BDC2-36BABA902113}"/>
              </a:ext>
            </a:extLst>
          </p:cNvPr>
          <p:cNvSpPr>
            <a:spLocks xmlns:a="http://schemas.openxmlformats.org/drawingml/2006/main" noGrp="1"/>
          </p:cNvSpPr>
          <p:nvPr/>
        </p:nvSpPr>
        <p:spPr>
          <a:xfrm xmlns:a="http://schemas.openxmlformats.org/drawingml/2006/main">
            <a:off x="857250" y="20859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82C5E7-30CC-45FD-AE0F-AA8D7E67367C}"/>
              </a:ext>
            </a:extLst>
          </p:cNvPr>
          <p:cNvSpPr>
            <a:spLocks xmlns:a="http://schemas.openxmlformats.org/drawingml/2006/main" noGrp="1"/>
          </p:cNvSpPr>
          <p:nvPr/>
        </p:nvSpPr>
        <p:spPr>
          <a:xfrm xmlns:a="http://schemas.openxmlformats.org/drawingml/2006/main">
            <a:off x="1028700" y="201930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Largest local dataset: 31589 rows.</a:t>
            </a:r>
          </a:p>
        </p:txBody>
      </p:sp>
      <p:sp>
        <p:nvSpPr>
          <p:cNvPr id="11" name="">
            <a:extLst xmlns:a="http://schemas.openxmlformats.org/drawingml/2006/main">
              <a:ext uri="{FF2B5EF4-FFF2-40B4-BE49-F238E27FC236}">
                <a16:creationId xmlns:a16="http://schemas.microsoft.com/office/drawing/2014/main" id="{C797E7CD-73F1-49C6-BAD5-77CA18B43EAF}"/>
              </a:ext>
            </a:extLst>
          </p:cNvPr>
          <p:cNvSpPr>
            <a:spLocks xmlns:a="http://schemas.openxmlformats.org/drawingml/2006/main" noGrp="1"/>
          </p:cNvSpPr>
          <p:nvPr/>
        </p:nvSpPr>
        <p:spPr>
          <a:xfrm xmlns:a="http://schemas.openxmlformats.org/drawingml/2006/main">
            <a:off x="857250" y="270510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81843D-3D19-4289-AF29-6B4B3B7C742B}"/>
              </a:ext>
            </a:extLst>
          </p:cNvPr>
          <p:cNvSpPr>
            <a:spLocks xmlns:a="http://schemas.openxmlformats.org/drawingml/2006/main" noGrp="1"/>
          </p:cNvSpPr>
          <p:nvPr/>
        </p:nvSpPr>
        <p:spPr>
          <a:xfrm xmlns:a="http://schemas.openxmlformats.org/drawingml/2006/main">
            <a:off x="1028700" y="2638425"/>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Training-eligible rows: 20523.</a:t>
            </a:r>
          </a:p>
        </p:txBody>
      </p:sp>
      <p:sp>
        <p:nvSpPr>
          <p:cNvPr id="13" name="">
            <a:extLst xmlns:a="http://schemas.openxmlformats.org/drawingml/2006/main">
              <a:ext uri="{FF2B5EF4-FFF2-40B4-BE49-F238E27FC236}">
                <a16:creationId xmlns:a16="http://schemas.microsoft.com/office/drawing/2014/main" id="{56AD862A-DDF2-4991-BABD-6835164D70ED}"/>
              </a:ext>
            </a:extLst>
          </p:cNvPr>
          <p:cNvSpPr>
            <a:spLocks xmlns:a="http://schemas.openxmlformats.org/drawingml/2006/main" noGrp="1"/>
          </p:cNvSpPr>
          <p:nvPr/>
        </p:nvSpPr>
        <p:spPr>
          <a:xfrm xmlns:a="http://schemas.openxmlformats.org/drawingml/2006/main">
            <a:off x="857250" y="33242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B79F86E-F0D3-4461-9EBC-BE672980D8F9}"/>
              </a:ext>
            </a:extLst>
          </p:cNvPr>
          <p:cNvSpPr>
            <a:spLocks xmlns:a="http://schemas.openxmlformats.org/drawingml/2006/main" noGrp="1"/>
          </p:cNvSpPr>
          <p:nvPr/>
        </p:nvSpPr>
        <p:spPr>
          <a:xfrm xmlns:a="http://schemas.openxmlformats.org/drawingml/2006/main">
            <a:off x="1028700" y="325755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Heldout or report-only rows: 11066.</a:t>
            </a:r>
          </a:p>
        </p:txBody>
      </p:sp>
      <p:sp>
        <p:nvSpPr>
          <p:cNvPr id="15" name="">
            <a:extLst xmlns:a="http://schemas.openxmlformats.org/drawingml/2006/main">
              <a:ext uri="{FF2B5EF4-FFF2-40B4-BE49-F238E27FC236}">
                <a16:creationId xmlns:a16="http://schemas.microsoft.com/office/drawing/2014/main" id="{012728D4-5585-42DE-B5B5-6A7D064C5F48}"/>
              </a:ext>
            </a:extLst>
          </p:cNvPr>
          <p:cNvSpPr>
            <a:spLocks xmlns:a="http://schemas.openxmlformats.org/drawingml/2006/main" noGrp="1"/>
          </p:cNvSpPr>
          <p:nvPr/>
        </p:nvSpPr>
        <p:spPr>
          <a:xfrm xmlns:a="http://schemas.openxmlformats.org/drawingml/2006/main">
            <a:off x="857250" y="3943350"/>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69FECA3-E7FE-4320-AD5C-417FE27EEAF8}"/>
              </a:ext>
            </a:extLst>
          </p:cNvPr>
          <p:cNvSpPr>
            <a:spLocks xmlns:a="http://schemas.openxmlformats.org/drawingml/2006/main" noGrp="1"/>
          </p:cNvSpPr>
          <p:nvPr/>
        </p:nvSpPr>
        <p:spPr>
          <a:xfrm xmlns:a="http://schemas.openxmlformats.org/drawingml/2006/main">
            <a:off x="1028700" y="3876675"/>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Unique cases: 150.</a:t>
            </a:r>
          </a:p>
        </p:txBody>
      </p:sp>
      <p:sp>
        <p:nvSpPr>
          <p:cNvPr id="17" name="">
            <a:extLst xmlns:a="http://schemas.openxmlformats.org/drawingml/2006/main">
              <a:ext uri="{FF2B5EF4-FFF2-40B4-BE49-F238E27FC236}">
                <a16:creationId xmlns:a16="http://schemas.microsoft.com/office/drawing/2014/main" id="{FC7C753E-3616-4A15-8C04-B2C417BB1BE0}"/>
              </a:ext>
            </a:extLst>
          </p:cNvPr>
          <p:cNvSpPr>
            <a:spLocks xmlns:a="http://schemas.openxmlformats.org/drawingml/2006/main" noGrp="1"/>
          </p:cNvSpPr>
          <p:nvPr/>
        </p:nvSpPr>
        <p:spPr>
          <a:xfrm xmlns:a="http://schemas.openxmlformats.org/drawingml/2006/main">
            <a:off x="857250" y="45624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FE478F4-5FEA-4C6A-B29C-5E0863A2A655}"/>
              </a:ext>
            </a:extLst>
          </p:cNvPr>
          <p:cNvSpPr>
            <a:spLocks xmlns:a="http://schemas.openxmlformats.org/drawingml/2006/main" noGrp="1"/>
          </p:cNvSpPr>
          <p:nvPr/>
        </p:nvSpPr>
        <p:spPr>
          <a:xfrm xmlns:a="http://schemas.openxmlformats.org/drawingml/2006/main">
            <a:off x="1028700" y="4495800"/>
            <a:ext cx="3943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Unique coordinates: 1370.</a:t>
            </a:r>
          </a:p>
        </p:txBody>
      </p:sp>
      <p:sp>
        <p:nvSpPr>
          <p:cNvPr id="19" name="">
            <a:extLst xmlns:a="http://schemas.openxmlformats.org/drawingml/2006/main">
              <a:ext uri="{FF2B5EF4-FFF2-40B4-BE49-F238E27FC236}">
                <a16:creationId xmlns:a16="http://schemas.microsoft.com/office/drawing/2014/main" id="{5E205117-461E-4C77-A50E-51EEA7D5D593}"/>
              </a:ext>
            </a:extLst>
          </p:cNvPr>
          <p:cNvSpPr>
            <a:spLocks xmlns:a="http://schemas.openxmlformats.org/drawingml/2006/main" noGrp="1"/>
          </p:cNvSpPr>
          <p:nvPr/>
        </p:nvSpPr>
        <p:spPr>
          <a:xfrm xmlns:a="http://schemas.openxmlformats.org/drawingml/2006/main">
            <a:off x="5562600" y="1600200"/>
            <a:ext cx="5562600"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03c361a445c3467a"/>
          <a:stretch xmlns:a="http://schemas.openxmlformats.org/drawingml/2006/main"/>
        </p:blipFill>
        <p:spPr>
          <a:xfrm xmlns:a="http://schemas.openxmlformats.org/drawingml/2006/main">
            <a:off x="6190488" y="1676400"/>
            <a:ext cx="4306824" cy="29908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1E40717-AA47-4D8D-A046-DED755CA6478}"/>
              </a:ext>
            </a:extLst>
          </p:cNvPr>
          <p:cNvSpPr>
            <a:spLocks xmlns:a="http://schemas.openxmlformats.org/drawingml/2006/main" noGrp="1"/>
          </p:cNvSpPr>
          <p:nvPr/>
        </p:nvSpPr>
        <p:spPr>
          <a:xfrm xmlns:a="http://schemas.openxmlformats.org/drawingml/2006/main">
            <a:off x="5562600" y="5010150"/>
            <a:ext cx="5562600" cy="51435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2" name="">
            <a:extLst xmlns:a="http://schemas.openxmlformats.org/drawingml/2006/main">
              <a:ext uri="{FF2B5EF4-FFF2-40B4-BE49-F238E27FC236}">
                <a16:creationId xmlns:a16="http://schemas.microsoft.com/office/drawing/2014/main" id="{8D41F76D-8A7D-4DA0-B927-8CB879A698FA}"/>
              </a:ext>
            </a:extLst>
          </p:cNvPr>
          <p:cNvSpPr>
            <a:spLocks xmlns:a="http://schemas.openxmlformats.org/drawingml/2006/main" noGrp="1"/>
          </p:cNvSpPr>
          <p:nvPr/>
        </p:nvSpPr>
        <p:spPr>
          <a:xfrm xmlns:a="http://schemas.openxmlformats.org/drawingml/2006/main">
            <a:off x="5753100" y="5162550"/>
            <a:ext cx="518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Report-only AI assistance is visible, but the deterministic matcher remains the SBOM authority.</a:t>
            </a:r>
          </a:p>
        </p:txBody>
      </p:sp>
      <p:sp>
        <p:nvSpPr>
          <p:cNvPr id="23" name="">
            <a:extLst xmlns:a="http://schemas.openxmlformats.org/drawingml/2006/main">
              <a:ext uri="{FF2B5EF4-FFF2-40B4-BE49-F238E27FC236}">
                <a16:creationId xmlns:a16="http://schemas.microsoft.com/office/drawing/2014/main" id="{98187993-533A-4312-A98D-9868D2E28967}"/>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234171427"/>
      </p:ext>
    </p:extLst>
  </p:cSld>
</p:sld>
</file>

<file path=ppt/slides/slide5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B683B7-9494-4C00-997B-C7340AA36A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2AB8C6-3412-4D6C-86E1-9F60DAC4E16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AF6E0AB-8386-4479-808C-581BC168FF82}"/>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85D57"/>
                </a:solidFill>
                <a:latin typeface="Aptos"/>
                <a:ea typeface="Aptos"/>
                <a:cs typeface="Aptos"/>
              </a:defRPr>
            </a:pPr>
            <a:r>
              <a:rPr sz="900" b="1">
                <a:solidFill>
                  <a:srgbClr val="A85D57"/>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6A42A72D-4464-47B0-9E37-60956011EC96}"/>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54</a:t>
            </a:r>
          </a:p>
        </p:txBody>
      </p:sp>
      <p:sp>
        <p:nvSpPr>
          <p:cNvPr id="5" name="">
            <a:extLst xmlns:a="http://schemas.openxmlformats.org/drawingml/2006/main">
              <a:ext uri="{FF2B5EF4-FFF2-40B4-BE49-F238E27FC236}">
                <a16:creationId xmlns:a16="http://schemas.microsoft.com/office/drawing/2014/main" id="{268EF1DF-5C3C-42B8-BD9C-FADAA8352307}"/>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Classical ML supports report-only triage</a:t>
            </a:r>
          </a:p>
        </p:txBody>
      </p:sp>
      <p:sp>
        <p:nvSpPr>
          <p:cNvPr id="6" name="">
            <a:extLst xmlns:a="http://schemas.openxmlformats.org/drawingml/2006/main">
              <a:ext uri="{FF2B5EF4-FFF2-40B4-BE49-F238E27FC236}">
                <a16:creationId xmlns:a16="http://schemas.microsoft.com/office/drawing/2014/main" id="{6B1F6C5B-DC77-4492-87FD-3A0C00921AB4}"/>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DAB2E62-A70B-4E53-8BC3-911C86BAA884}"/>
              </a:ext>
            </a:extLst>
          </p:cNvPr>
          <p:cNvSpPr>
            <a:spLocks xmlns:a="http://schemas.openxmlformats.org/drawingml/2006/main" noGrp="1"/>
          </p:cNvSpPr>
          <p:nvPr/>
        </p:nvSpPr>
        <p:spPr>
          <a:xfrm xmlns:a="http://schemas.openxmlformats.org/drawingml/2006/main">
            <a:off x="876300" y="1676400"/>
            <a:ext cx="47625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D8ABF75-75BE-4F2C-A5F5-5B4EA360E50D}"/>
              </a:ext>
            </a:extLst>
          </p:cNvPr>
          <p:cNvSpPr>
            <a:spLocks xmlns:a="http://schemas.openxmlformats.org/drawingml/2006/main" noGrp="1"/>
          </p:cNvSpPr>
          <p:nvPr/>
        </p:nvSpPr>
        <p:spPr>
          <a:xfrm xmlns:a="http://schemas.openxmlformats.org/drawingml/2006/main">
            <a:off x="876300" y="1676400"/>
            <a:ext cx="47625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9" name="">
            <a:extLst xmlns:a="http://schemas.openxmlformats.org/drawingml/2006/main">
              <a:ext uri="{FF2B5EF4-FFF2-40B4-BE49-F238E27FC236}">
                <a16:creationId xmlns:a16="http://schemas.microsoft.com/office/drawing/2014/main" id="{E6421E58-FD83-4B01-9F86-B3A6FCA81365}"/>
              </a:ext>
            </a:extLst>
          </p:cNvPr>
          <p:cNvSpPr>
            <a:spLocks xmlns:a="http://schemas.openxmlformats.org/drawingml/2006/main" noGrp="1"/>
          </p:cNvSpPr>
          <p:nvPr/>
        </p:nvSpPr>
        <p:spPr>
          <a:xfrm xmlns:a="http://schemas.openxmlformats.org/drawingml/2006/main">
            <a:off x="1028700" y="1800225"/>
            <a:ext cx="4457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F5F7E"/>
                </a:solidFill>
                <a:latin typeface="Aptos"/>
                <a:ea typeface="Aptos"/>
                <a:cs typeface="Aptos"/>
              </a:defRPr>
            </a:pPr>
            <a:r>
              <a:rPr sz="1050" b="1">
                <a:solidFill>
                  <a:srgbClr val="2F5F7E"/>
                </a:solidFill>
                <a:latin typeface="Aptos"/>
                <a:ea typeface="Aptos"/>
                <a:cs typeface="Aptos"/>
              </a:rPr>
              <a:t>Classical ML result</a:t>
            </a:r>
          </a:p>
        </p:txBody>
      </p:sp>
      <p:sp>
        <p:nvSpPr>
          <p:cNvPr id="10" name="">
            <a:extLst xmlns:a="http://schemas.openxmlformats.org/drawingml/2006/main">
              <a:ext uri="{FF2B5EF4-FFF2-40B4-BE49-F238E27FC236}">
                <a16:creationId xmlns:a16="http://schemas.microsoft.com/office/drawing/2014/main" id="{98EC1C85-5DE9-4608-BF01-7F5E240FD2ED}"/>
              </a:ext>
            </a:extLst>
          </p:cNvPr>
          <p:cNvSpPr>
            <a:spLocks xmlns:a="http://schemas.openxmlformats.org/drawingml/2006/main" noGrp="1"/>
          </p:cNvSpPr>
          <p:nvPr/>
        </p:nvSpPr>
        <p:spPr>
          <a:xfrm xmlns:a="http://schemas.openxmlformats.org/drawingml/2006/main">
            <a:off x="1028700" y="2133600"/>
            <a:ext cx="44577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5923BA-6646-42B2-A482-470B7CC81ED4}"/>
              </a:ext>
            </a:extLst>
          </p:cNvPr>
          <p:cNvSpPr>
            <a:spLocks xmlns:a="http://schemas.openxmlformats.org/drawingml/2006/main" noGrp="1"/>
          </p:cNvSpPr>
          <p:nvPr/>
        </p:nvSpPr>
        <p:spPr>
          <a:xfrm xmlns:a="http://schemas.openxmlformats.org/drawingml/2006/main">
            <a:off x="1047750" y="22669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Model</a:t>
            </a:r>
          </a:p>
        </p:txBody>
      </p:sp>
      <p:sp>
        <p:nvSpPr>
          <p:cNvPr id="12" name="">
            <a:extLst xmlns:a="http://schemas.openxmlformats.org/drawingml/2006/main">
              <a:ext uri="{FF2B5EF4-FFF2-40B4-BE49-F238E27FC236}">
                <a16:creationId xmlns:a16="http://schemas.microsoft.com/office/drawing/2014/main" id="{C10336AF-5A4B-42DA-8AEF-A8204C491AAB}"/>
              </a:ext>
            </a:extLst>
          </p:cNvPr>
          <p:cNvSpPr>
            <a:spLocks xmlns:a="http://schemas.openxmlformats.org/drawingml/2006/main" noGrp="1"/>
          </p:cNvSpPr>
          <p:nvPr/>
        </p:nvSpPr>
        <p:spPr>
          <a:xfrm xmlns:a="http://schemas.openxmlformats.org/drawingml/2006/main">
            <a:off x="3257550" y="226695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5F7E"/>
                </a:solidFill>
                <a:latin typeface="Aptos"/>
                <a:ea typeface="Aptos"/>
                <a:cs typeface="Aptos"/>
              </a:defRPr>
            </a:pPr>
            <a:r>
              <a:rPr sz="1050" b="1">
                <a:solidFill>
                  <a:srgbClr val="2F5F7E"/>
                </a:solidFill>
                <a:latin typeface="Aptos"/>
                <a:ea typeface="Aptos"/>
                <a:cs typeface="Aptos"/>
              </a:rPr>
              <a:t>RandomForestClassifier</a:t>
            </a:r>
          </a:p>
        </p:txBody>
      </p:sp>
      <p:sp>
        <p:nvSpPr>
          <p:cNvPr id="13" name="">
            <a:extLst xmlns:a="http://schemas.openxmlformats.org/drawingml/2006/main">
              <a:ext uri="{FF2B5EF4-FFF2-40B4-BE49-F238E27FC236}">
                <a16:creationId xmlns:a16="http://schemas.microsoft.com/office/drawing/2014/main" id="{331A8167-25F1-4459-8215-306984595090}"/>
              </a:ext>
            </a:extLst>
          </p:cNvPr>
          <p:cNvSpPr>
            <a:spLocks xmlns:a="http://schemas.openxmlformats.org/drawingml/2006/main" noGrp="1"/>
          </p:cNvSpPr>
          <p:nvPr/>
        </p:nvSpPr>
        <p:spPr>
          <a:xfrm xmlns:a="http://schemas.openxmlformats.org/drawingml/2006/main">
            <a:off x="1028700" y="2590800"/>
            <a:ext cx="44577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C00622-412C-4251-9978-33D8D36CEAA3}"/>
              </a:ext>
            </a:extLst>
          </p:cNvPr>
          <p:cNvSpPr>
            <a:spLocks xmlns:a="http://schemas.openxmlformats.org/drawingml/2006/main" noGrp="1"/>
          </p:cNvSpPr>
          <p:nvPr/>
        </p:nvSpPr>
        <p:spPr>
          <a:xfrm xmlns:a="http://schemas.openxmlformats.org/drawingml/2006/main">
            <a:off x="1047750" y="27241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Rows</a:t>
            </a:r>
          </a:p>
        </p:txBody>
      </p:sp>
      <p:sp>
        <p:nvSpPr>
          <p:cNvPr id="15" name="">
            <a:extLst xmlns:a="http://schemas.openxmlformats.org/drawingml/2006/main">
              <a:ext uri="{FF2B5EF4-FFF2-40B4-BE49-F238E27FC236}">
                <a16:creationId xmlns:a16="http://schemas.microsoft.com/office/drawing/2014/main" id="{20DE9817-19F0-4A24-893D-958D23F94683}"/>
              </a:ext>
            </a:extLst>
          </p:cNvPr>
          <p:cNvSpPr>
            <a:spLocks xmlns:a="http://schemas.openxmlformats.org/drawingml/2006/main" noGrp="1"/>
          </p:cNvSpPr>
          <p:nvPr/>
        </p:nvSpPr>
        <p:spPr>
          <a:xfrm xmlns:a="http://schemas.openxmlformats.org/drawingml/2006/main">
            <a:off x="3257550" y="272415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5F7E"/>
                </a:solidFill>
                <a:latin typeface="Aptos"/>
                <a:ea typeface="Aptos"/>
                <a:cs typeface="Aptos"/>
              </a:defRPr>
            </a:pPr>
            <a:r>
              <a:rPr sz="1050" b="1">
                <a:solidFill>
                  <a:srgbClr val="2F5F7E"/>
                </a:solidFill>
                <a:latin typeface="Aptos"/>
                <a:ea typeface="Aptos"/>
                <a:cs typeface="Aptos"/>
              </a:rPr>
              <a:t>20523</a:t>
            </a:r>
          </a:p>
        </p:txBody>
      </p:sp>
      <p:sp>
        <p:nvSpPr>
          <p:cNvPr id="16" name="">
            <a:extLst xmlns:a="http://schemas.openxmlformats.org/drawingml/2006/main">
              <a:ext uri="{FF2B5EF4-FFF2-40B4-BE49-F238E27FC236}">
                <a16:creationId xmlns:a16="http://schemas.microsoft.com/office/drawing/2014/main" id="{AE4F2D7B-F0AB-4137-B8B7-850826E1A29B}"/>
              </a:ext>
            </a:extLst>
          </p:cNvPr>
          <p:cNvSpPr>
            <a:spLocks xmlns:a="http://schemas.openxmlformats.org/drawingml/2006/main" noGrp="1"/>
          </p:cNvSpPr>
          <p:nvPr/>
        </p:nvSpPr>
        <p:spPr>
          <a:xfrm xmlns:a="http://schemas.openxmlformats.org/drawingml/2006/main">
            <a:off x="1028700" y="3048000"/>
            <a:ext cx="44577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B25410-4783-4A85-A60E-9FF36BB6CA28}"/>
              </a:ext>
            </a:extLst>
          </p:cNvPr>
          <p:cNvSpPr>
            <a:spLocks xmlns:a="http://schemas.openxmlformats.org/drawingml/2006/main" noGrp="1"/>
          </p:cNvSpPr>
          <p:nvPr/>
        </p:nvSpPr>
        <p:spPr>
          <a:xfrm xmlns:a="http://schemas.openxmlformats.org/drawingml/2006/main">
            <a:off x="1047750" y="31813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Test macro-F1</a:t>
            </a:r>
          </a:p>
        </p:txBody>
      </p:sp>
      <p:sp>
        <p:nvSpPr>
          <p:cNvPr id="18" name="">
            <a:extLst xmlns:a="http://schemas.openxmlformats.org/drawingml/2006/main">
              <a:ext uri="{FF2B5EF4-FFF2-40B4-BE49-F238E27FC236}">
                <a16:creationId xmlns:a16="http://schemas.microsoft.com/office/drawing/2014/main" id="{02D53B36-F211-460F-9CDA-34588337D60E}"/>
              </a:ext>
            </a:extLst>
          </p:cNvPr>
          <p:cNvSpPr>
            <a:spLocks xmlns:a="http://schemas.openxmlformats.org/drawingml/2006/main" noGrp="1"/>
          </p:cNvSpPr>
          <p:nvPr/>
        </p:nvSpPr>
        <p:spPr>
          <a:xfrm xmlns:a="http://schemas.openxmlformats.org/drawingml/2006/main">
            <a:off x="3257550" y="318135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5F7E"/>
                </a:solidFill>
                <a:latin typeface="Aptos"/>
                <a:ea typeface="Aptos"/>
                <a:cs typeface="Aptos"/>
              </a:defRPr>
            </a:pPr>
            <a:r>
              <a:rPr sz="1050" b="1">
                <a:solidFill>
                  <a:srgbClr val="2F5F7E"/>
                </a:solidFill>
                <a:latin typeface="Aptos"/>
                <a:ea typeface="Aptos"/>
                <a:cs typeface="Aptos"/>
              </a:rPr>
              <a:t>0.708</a:t>
            </a:r>
          </a:p>
        </p:txBody>
      </p:sp>
      <p:sp>
        <p:nvSpPr>
          <p:cNvPr id="19" name="">
            <a:extLst xmlns:a="http://schemas.openxmlformats.org/drawingml/2006/main">
              <a:ext uri="{FF2B5EF4-FFF2-40B4-BE49-F238E27FC236}">
                <a16:creationId xmlns:a16="http://schemas.microsoft.com/office/drawing/2014/main" id="{BF4B8A99-EBDC-4CF5-9481-733E36734433}"/>
              </a:ext>
            </a:extLst>
          </p:cNvPr>
          <p:cNvSpPr>
            <a:spLocks xmlns:a="http://schemas.openxmlformats.org/drawingml/2006/main" noGrp="1"/>
          </p:cNvSpPr>
          <p:nvPr/>
        </p:nvSpPr>
        <p:spPr>
          <a:xfrm xmlns:a="http://schemas.openxmlformats.org/drawingml/2006/main">
            <a:off x="1028700" y="3505200"/>
            <a:ext cx="44577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225BAEA-E4B6-48DD-AF0E-7862083C3064}"/>
              </a:ext>
            </a:extLst>
          </p:cNvPr>
          <p:cNvSpPr>
            <a:spLocks xmlns:a="http://schemas.openxmlformats.org/drawingml/2006/main" noGrp="1"/>
          </p:cNvSpPr>
          <p:nvPr/>
        </p:nvSpPr>
        <p:spPr>
          <a:xfrm xmlns:a="http://schemas.openxmlformats.org/drawingml/2006/main">
            <a:off x="1047750" y="36385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Test accuracy</a:t>
            </a:r>
          </a:p>
        </p:txBody>
      </p:sp>
      <p:sp>
        <p:nvSpPr>
          <p:cNvPr id="21" name="">
            <a:extLst xmlns:a="http://schemas.openxmlformats.org/drawingml/2006/main">
              <a:ext uri="{FF2B5EF4-FFF2-40B4-BE49-F238E27FC236}">
                <a16:creationId xmlns:a16="http://schemas.microsoft.com/office/drawing/2014/main" id="{BDD7A98F-1657-4F39-A531-EC5B5BCB2B5A}"/>
              </a:ext>
            </a:extLst>
          </p:cNvPr>
          <p:cNvSpPr>
            <a:spLocks xmlns:a="http://schemas.openxmlformats.org/drawingml/2006/main" noGrp="1"/>
          </p:cNvSpPr>
          <p:nvPr/>
        </p:nvSpPr>
        <p:spPr>
          <a:xfrm xmlns:a="http://schemas.openxmlformats.org/drawingml/2006/main">
            <a:off x="3257550" y="363855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5F7E"/>
                </a:solidFill>
                <a:latin typeface="Aptos"/>
                <a:ea typeface="Aptos"/>
                <a:cs typeface="Aptos"/>
              </a:defRPr>
            </a:pPr>
            <a:r>
              <a:rPr sz="1050" b="1">
                <a:solidFill>
                  <a:srgbClr val="2F5F7E"/>
                </a:solidFill>
                <a:latin typeface="Aptos"/>
                <a:ea typeface="Aptos"/>
                <a:cs typeface="Aptos"/>
              </a:rPr>
              <a:t>0.690</a:t>
            </a:r>
          </a:p>
        </p:txBody>
      </p:sp>
      <p:sp>
        <p:nvSpPr>
          <p:cNvPr id="22" name="">
            <a:extLst xmlns:a="http://schemas.openxmlformats.org/drawingml/2006/main">
              <a:ext uri="{FF2B5EF4-FFF2-40B4-BE49-F238E27FC236}">
                <a16:creationId xmlns:a16="http://schemas.microsoft.com/office/drawing/2014/main" id="{ADDF959B-C28F-42AF-8149-1B540F67FEE1}"/>
              </a:ext>
            </a:extLst>
          </p:cNvPr>
          <p:cNvSpPr>
            <a:spLocks xmlns:a="http://schemas.openxmlformats.org/drawingml/2006/main" noGrp="1"/>
          </p:cNvSpPr>
          <p:nvPr/>
        </p:nvSpPr>
        <p:spPr>
          <a:xfrm xmlns:a="http://schemas.openxmlformats.org/drawingml/2006/main">
            <a:off x="1028700" y="3962400"/>
            <a:ext cx="44577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46DAD41-5015-4305-979C-C01B16B15CD8}"/>
              </a:ext>
            </a:extLst>
          </p:cNvPr>
          <p:cNvSpPr>
            <a:spLocks xmlns:a="http://schemas.openxmlformats.org/drawingml/2006/main" noGrp="1"/>
          </p:cNvSpPr>
          <p:nvPr/>
        </p:nvSpPr>
        <p:spPr>
          <a:xfrm xmlns:a="http://schemas.openxmlformats.org/drawingml/2006/main">
            <a:off x="1047750" y="40957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Decision</a:t>
            </a:r>
          </a:p>
        </p:txBody>
      </p:sp>
      <p:sp>
        <p:nvSpPr>
          <p:cNvPr id="24" name="">
            <a:extLst xmlns:a="http://schemas.openxmlformats.org/drawingml/2006/main">
              <a:ext uri="{FF2B5EF4-FFF2-40B4-BE49-F238E27FC236}">
                <a16:creationId xmlns:a16="http://schemas.microsoft.com/office/drawing/2014/main" id="{366289AC-DACD-41DE-951B-5403313D8406}"/>
              </a:ext>
            </a:extLst>
          </p:cNvPr>
          <p:cNvSpPr>
            <a:spLocks xmlns:a="http://schemas.openxmlformats.org/drawingml/2006/main" noGrp="1"/>
          </p:cNvSpPr>
          <p:nvPr/>
        </p:nvSpPr>
        <p:spPr>
          <a:xfrm xmlns:a="http://schemas.openxmlformats.org/drawingml/2006/main">
            <a:off x="3257550" y="4095750"/>
            <a:ext cx="2076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2F5F7E"/>
                </a:solidFill>
                <a:latin typeface="Aptos"/>
                <a:ea typeface="Aptos"/>
                <a:cs typeface="Aptos"/>
              </a:defRPr>
            </a:pPr>
            <a:r>
              <a:rPr sz="1050" b="1">
                <a:solidFill>
                  <a:srgbClr val="2F5F7E"/>
                </a:solidFill>
                <a:latin typeface="Aptos"/>
                <a:ea typeface="Aptos"/>
                <a:cs typeface="Aptos"/>
              </a:rPr>
              <a:t>report-only assistance</a:t>
            </a:r>
          </a:p>
        </p:txBody>
      </p:sp>
      <p:sp>
        <p:nvSpPr>
          <p:cNvPr id="25" name="">
            <a:extLst xmlns:a="http://schemas.openxmlformats.org/drawingml/2006/main">
              <a:ext uri="{FF2B5EF4-FFF2-40B4-BE49-F238E27FC236}">
                <a16:creationId xmlns:a16="http://schemas.microsoft.com/office/drawing/2014/main" id="{1E580AB9-3BB7-4996-A34E-6A114F6782A3}"/>
              </a:ext>
            </a:extLst>
          </p:cNvPr>
          <p:cNvSpPr>
            <a:spLocks xmlns:a="http://schemas.openxmlformats.org/drawingml/2006/main" noGrp="1"/>
          </p:cNvSpPr>
          <p:nvPr/>
        </p:nvSpPr>
        <p:spPr>
          <a:xfrm xmlns:a="http://schemas.openxmlformats.org/drawingml/2006/main">
            <a:off x="6248400" y="1676400"/>
            <a:ext cx="4762500" cy="25717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2C179FD3-DEDC-49C9-A9CD-0987CF0AA4D5}"/>
              </a:ext>
            </a:extLst>
          </p:cNvPr>
          <p:cNvSpPr>
            <a:spLocks xmlns:a="http://schemas.openxmlformats.org/drawingml/2006/main" noGrp="1"/>
          </p:cNvSpPr>
          <p:nvPr/>
        </p:nvSpPr>
        <p:spPr>
          <a:xfrm xmlns:a="http://schemas.openxmlformats.org/drawingml/2006/main">
            <a:off x="6419850" y="1828800"/>
            <a:ext cx="4419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A85D57"/>
                </a:solidFill>
                <a:latin typeface="Aptos"/>
                <a:ea typeface="Aptos"/>
                <a:cs typeface="Aptos"/>
              </a:defRPr>
            </a:pPr>
            <a:r>
              <a:rPr sz="1125" b="1">
                <a:solidFill>
                  <a:srgbClr val="A85D57"/>
                </a:solidFill>
                <a:latin typeface="Aptos"/>
                <a:ea typeface="Aptos"/>
                <a:cs typeface="Aptos"/>
              </a:rPr>
              <a:t>Authority boundary</a:t>
            </a:r>
          </a:p>
        </p:txBody>
      </p:sp>
      <p:sp>
        <p:nvSpPr>
          <p:cNvPr id="27" name="">
            <a:extLst xmlns:a="http://schemas.openxmlformats.org/drawingml/2006/main">
              <a:ext uri="{FF2B5EF4-FFF2-40B4-BE49-F238E27FC236}">
                <a16:creationId xmlns:a16="http://schemas.microsoft.com/office/drawing/2014/main" id="{D7D5C2B3-430F-46BF-80B0-58E094D38146}"/>
              </a:ext>
            </a:extLst>
          </p:cNvPr>
          <p:cNvSpPr>
            <a:spLocks xmlns:a="http://schemas.openxmlformats.org/drawingml/2006/main" noGrp="1"/>
          </p:cNvSpPr>
          <p:nvPr/>
        </p:nvSpPr>
        <p:spPr>
          <a:xfrm xmlns:a="http://schemas.openxmlformats.org/drawingml/2006/main">
            <a:off x="6419850" y="22574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FC7B167-6833-4ED9-ACB9-9D6BD979EA1D}"/>
              </a:ext>
            </a:extLst>
          </p:cNvPr>
          <p:cNvSpPr>
            <a:spLocks xmlns:a="http://schemas.openxmlformats.org/drawingml/2006/main" noGrp="1"/>
          </p:cNvSpPr>
          <p:nvPr/>
        </p:nvSpPr>
        <p:spPr>
          <a:xfrm xmlns:a="http://schemas.openxmlformats.org/drawingml/2006/main">
            <a:off x="6591300" y="21907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Allowed: report wording, prioritization, diagnostics.</a:t>
            </a:r>
          </a:p>
        </p:txBody>
      </p:sp>
      <p:sp>
        <p:nvSpPr>
          <p:cNvPr id="29" name="">
            <a:extLst xmlns:a="http://schemas.openxmlformats.org/drawingml/2006/main">
              <a:ext uri="{FF2B5EF4-FFF2-40B4-BE49-F238E27FC236}">
                <a16:creationId xmlns:a16="http://schemas.microsoft.com/office/drawing/2014/main" id="{3D4F91C7-3DE7-41BB-8250-578D4D6748DC}"/>
              </a:ext>
            </a:extLst>
          </p:cNvPr>
          <p:cNvSpPr>
            <a:spLocks xmlns:a="http://schemas.openxmlformats.org/drawingml/2006/main" noGrp="1"/>
          </p:cNvSpPr>
          <p:nvPr/>
        </p:nvSpPr>
        <p:spPr>
          <a:xfrm xmlns:a="http://schemas.openxmlformats.org/drawingml/2006/main">
            <a:off x="6419850" y="28860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633955A-B66D-4612-BEB3-1CF424E8065E}"/>
              </a:ext>
            </a:extLst>
          </p:cNvPr>
          <p:cNvSpPr>
            <a:spLocks xmlns:a="http://schemas.openxmlformats.org/drawingml/2006/main" noGrp="1"/>
          </p:cNvSpPr>
          <p:nvPr/>
        </p:nvSpPr>
        <p:spPr>
          <a:xfrm xmlns:a="http://schemas.openxmlformats.org/drawingml/2006/main">
            <a:off x="6591300" y="281940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Blocked: selected versions, SBOM components, CVE labels, source-validation metrics.</a:t>
            </a:r>
          </a:p>
        </p:txBody>
      </p:sp>
      <p:sp>
        <p:nvSpPr>
          <p:cNvPr id="31" name="">
            <a:extLst xmlns:a="http://schemas.openxmlformats.org/drawingml/2006/main">
              <a:ext uri="{FF2B5EF4-FFF2-40B4-BE49-F238E27FC236}">
                <a16:creationId xmlns:a16="http://schemas.microsoft.com/office/drawing/2014/main" id="{5F6D778E-3D64-449F-A148-BEE36E263FB0}"/>
              </a:ext>
            </a:extLst>
          </p:cNvPr>
          <p:cNvSpPr>
            <a:spLocks xmlns:a="http://schemas.openxmlformats.org/drawingml/2006/main" noGrp="1"/>
          </p:cNvSpPr>
          <p:nvPr/>
        </p:nvSpPr>
        <p:spPr>
          <a:xfrm xmlns:a="http://schemas.openxmlformats.org/drawingml/2006/main">
            <a:off x="6419850" y="35147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27677C0-591B-47E0-B36A-82F6BE7AD035}"/>
              </a:ext>
            </a:extLst>
          </p:cNvPr>
          <p:cNvSpPr>
            <a:spLocks xmlns:a="http://schemas.openxmlformats.org/drawingml/2006/main" noGrp="1"/>
          </p:cNvSpPr>
          <p:nvPr/>
        </p:nvSpPr>
        <p:spPr>
          <a:xfrm xmlns:a="http://schemas.openxmlformats.org/drawingml/2006/main">
            <a:off x="6591300" y="34480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Interpretation: useful triage, not exact Maven version proof.</a:t>
            </a:r>
          </a:p>
        </p:txBody>
      </p:sp>
      <p:sp>
        <p:nvSpPr>
          <p:cNvPr id="33" name="">
            <a:extLst xmlns:a="http://schemas.openxmlformats.org/drawingml/2006/main">
              <a:ext uri="{FF2B5EF4-FFF2-40B4-BE49-F238E27FC236}">
                <a16:creationId xmlns:a16="http://schemas.microsoft.com/office/drawing/2014/main" id="{77F84E4D-B646-46FA-87FB-09C9B1B9ECF0}"/>
              </a:ext>
            </a:extLst>
          </p:cNvPr>
          <p:cNvSpPr>
            <a:spLocks xmlns:a="http://schemas.openxmlformats.org/drawingml/2006/main" noGrp="1"/>
          </p:cNvSpPr>
          <p:nvPr/>
        </p:nvSpPr>
        <p:spPr>
          <a:xfrm xmlns:a="http://schemas.openxmlformats.org/drawingml/2006/main">
            <a:off x="876300" y="4953000"/>
            <a:ext cx="10134600" cy="514350"/>
          </a:xfrm>
          <a:prstGeom xmlns:a="http://schemas.openxmlformats.org/drawingml/2006/main" prst="rect">
            <a:avLst/>
          </a:prstGeom>
          <a:solidFill xmlns:a="http://schemas.openxmlformats.org/drawingml/2006/main">
            <a:srgbClr val="F6EDEA"/>
          </a:solidFill>
          <a:ln xmlns:a="http://schemas.openxmlformats.org/drawingml/2006/main" w="9525">
            <a:solidFill>
              <a:srgbClr val="A85D57"/>
            </a:solidFill>
            <a:prstDash val="solid"/>
          </a:ln>
        </p:spPr>
      </p:sp>
      <p:sp>
        <p:nvSpPr>
          <p:cNvPr id="34" name="">
            <a:extLst xmlns:a="http://schemas.openxmlformats.org/drawingml/2006/main">
              <a:ext uri="{FF2B5EF4-FFF2-40B4-BE49-F238E27FC236}">
                <a16:creationId xmlns:a16="http://schemas.microsoft.com/office/drawing/2014/main" id="{B68E3643-E153-4664-B36B-9F4CEAC282F7}"/>
              </a:ext>
            </a:extLst>
          </p:cNvPr>
          <p:cNvSpPr>
            <a:spLocks xmlns:a="http://schemas.openxmlformats.org/drawingml/2006/main" noGrp="1"/>
          </p:cNvSpPr>
          <p:nvPr/>
        </p:nvSpPr>
        <p:spPr>
          <a:xfrm xmlns:a="http://schemas.openxmlformats.org/drawingml/2006/main">
            <a:off x="1104900" y="5105400"/>
            <a:ext cx="967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The ML result is included because it is useful, and bounded because model output is not direct APK evidence.</a:t>
            </a:r>
          </a:p>
        </p:txBody>
      </p:sp>
      <p:sp>
        <p:nvSpPr>
          <p:cNvPr id="35" name="">
            <a:extLst xmlns:a="http://schemas.openxmlformats.org/drawingml/2006/main">
              <a:ext uri="{FF2B5EF4-FFF2-40B4-BE49-F238E27FC236}">
                <a16:creationId xmlns:a16="http://schemas.microsoft.com/office/drawing/2014/main" id="{24AF23C4-6DCA-4383-A6F8-F5F71EAE18F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987174748"/>
      </p:ext>
    </p:extLst>
  </p:cSld>
</p:sld>
</file>

<file path=ppt/slides/slide5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EC2269-D913-4C84-88CC-9D47D7C3D47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825360-6248-4F2F-8BFB-092EBD050E64}"/>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3BCD53-2C36-494B-ADEC-F58D9551AC0D}"/>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85D57"/>
                </a:solidFill>
                <a:latin typeface="Aptos"/>
                <a:ea typeface="Aptos"/>
                <a:cs typeface="Aptos"/>
              </a:defRPr>
            </a:pPr>
            <a:r>
              <a:rPr sz="900" b="1">
                <a:solidFill>
                  <a:srgbClr val="A85D57"/>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19CD0714-815B-4C2F-91D3-523ACF96344B}"/>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55</a:t>
            </a:r>
          </a:p>
        </p:txBody>
      </p:sp>
      <p:sp>
        <p:nvSpPr>
          <p:cNvPr id="5" name="">
            <a:extLst xmlns:a="http://schemas.openxmlformats.org/drawingml/2006/main">
              <a:ext uri="{FF2B5EF4-FFF2-40B4-BE49-F238E27FC236}">
                <a16:creationId xmlns:a16="http://schemas.microsoft.com/office/drawing/2014/main" id="{159B1CDF-9D47-44A2-A7FD-2AB4502511A4}"/>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Deep learning results are strong only in the guarded lane</a:t>
            </a:r>
          </a:p>
        </p:txBody>
      </p:sp>
      <p:sp>
        <p:nvSpPr>
          <p:cNvPr id="6" name="">
            <a:extLst xmlns:a="http://schemas.openxmlformats.org/drawingml/2006/main">
              <a:ext uri="{FF2B5EF4-FFF2-40B4-BE49-F238E27FC236}">
                <a16:creationId xmlns:a16="http://schemas.microsoft.com/office/drawing/2014/main" id="{A51F7CA7-511B-4853-909C-30F5E0F8E745}"/>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F1FFF16-95F9-481A-9D72-747AB649C060}"/>
              </a:ext>
            </a:extLst>
          </p:cNvPr>
          <p:cNvSpPr>
            <a:spLocks xmlns:a="http://schemas.openxmlformats.org/drawingml/2006/main" noGrp="1"/>
          </p:cNvSpPr>
          <p:nvPr/>
        </p:nvSpPr>
        <p:spPr>
          <a:xfrm xmlns:a="http://schemas.openxmlformats.org/drawingml/2006/main">
            <a:off x="685800" y="1638300"/>
            <a:ext cx="4953000" cy="28384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A25FC980-B388-4050-A160-8DB2D7299850}"/>
              </a:ext>
            </a:extLst>
          </p:cNvPr>
          <p:cNvSpPr>
            <a:spLocks xmlns:a="http://schemas.openxmlformats.org/drawingml/2006/main" noGrp="1"/>
          </p:cNvSpPr>
          <p:nvPr/>
        </p:nvSpPr>
        <p:spPr>
          <a:xfrm xmlns:a="http://schemas.openxmlformats.org/drawingml/2006/main">
            <a:off x="685800" y="1638300"/>
            <a:ext cx="49530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4D817A"/>
            </a:solidFill>
            <a:prstDash val="solid"/>
          </a:ln>
        </p:spPr>
      </p:sp>
      <p:sp>
        <p:nvSpPr>
          <p:cNvPr id="9" name="">
            <a:extLst xmlns:a="http://schemas.openxmlformats.org/drawingml/2006/main">
              <a:ext uri="{FF2B5EF4-FFF2-40B4-BE49-F238E27FC236}">
                <a16:creationId xmlns:a16="http://schemas.microsoft.com/office/drawing/2014/main" id="{3838E8D1-6F3D-4F50-9D1B-765F2272B7C5}"/>
              </a:ext>
            </a:extLst>
          </p:cNvPr>
          <p:cNvSpPr>
            <a:spLocks xmlns:a="http://schemas.openxmlformats.org/drawingml/2006/main" noGrp="1"/>
          </p:cNvSpPr>
          <p:nvPr/>
        </p:nvSpPr>
        <p:spPr>
          <a:xfrm xmlns:a="http://schemas.openxmlformats.org/drawingml/2006/main">
            <a:off x="838200" y="1762125"/>
            <a:ext cx="4648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4D817A"/>
                </a:solidFill>
                <a:latin typeface="Aptos"/>
                <a:ea typeface="Aptos"/>
                <a:cs typeface="Aptos"/>
              </a:defRPr>
            </a:pPr>
            <a:r>
              <a:rPr sz="1050" b="1">
                <a:solidFill>
                  <a:srgbClr val="4D817A"/>
                </a:solidFill>
                <a:latin typeface="Aptos"/>
                <a:ea typeface="Aptos"/>
                <a:cs typeface="Aptos"/>
              </a:rPr>
              <a:t>Deep learning result</a:t>
            </a:r>
          </a:p>
        </p:txBody>
      </p:sp>
      <p:sp>
        <p:nvSpPr>
          <p:cNvPr id="10" name="">
            <a:extLst xmlns:a="http://schemas.openxmlformats.org/drawingml/2006/main">
              <a:ext uri="{FF2B5EF4-FFF2-40B4-BE49-F238E27FC236}">
                <a16:creationId xmlns:a16="http://schemas.microsoft.com/office/drawing/2014/main" id="{4FABF866-F6B5-47D2-9D44-888EB9D45615}"/>
              </a:ext>
            </a:extLst>
          </p:cNvPr>
          <p:cNvSpPr>
            <a:spLocks xmlns:a="http://schemas.openxmlformats.org/drawingml/2006/main" noGrp="1"/>
          </p:cNvSpPr>
          <p:nvPr/>
        </p:nvSpPr>
        <p:spPr>
          <a:xfrm xmlns:a="http://schemas.openxmlformats.org/drawingml/2006/main">
            <a:off x="838200" y="2095500"/>
            <a:ext cx="46482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466DF1-B64C-49C2-A26B-E003B306DBD8}"/>
              </a:ext>
            </a:extLst>
          </p:cNvPr>
          <p:cNvSpPr>
            <a:spLocks xmlns:a="http://schemas.openxmlformats.org/drawingml/2006/main" noGrp="1"/>
          </p:cNvSpPr>
          <p:nvPr/>
        </p:nvSpPr>
        <p:spPr>
          <a:xfrm xmlns:a="http://schemas.openxmlformats.org/drawingml/2006/main">
            <a:off x="857250" y="2228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Structured-token Transformer</a:t>
            </a:r>
          </a:p>
        </p:txBody>
      </p:sp>
      <p:sp>
        <p:nvSpPr>
          <p:cNvPr id="12" name="">
            <a:extLst xmlns:a="http://schemas.openxmlformats.org/drawingml/2006/main">
              <a:ext uri="{FF2B5EF4-FFF2-40B4-BE49-F238E27FC236}">
                <a16:creationId xmlns:a16="http://schemas.microsoft.com/office/drawing/2014/main" id="{BEE5CFD1-B2AA-4C6F-8E6C-3B32005D7062}"/>
              </a:ext>
            </a:extLst>
          </p:cNvPr>
          <p:cNvSpPr>
            <a:spLocks xmlns:a="http://schemas.openxmlformats.org/drawingml/2006/main" noGrp="1"/>
          </p:cNvSpPr>
          <p:nvPr/>
        </p:nvSpPr>
        <p:spPr>
          <a:xfrm xmlns:a="http://schemas.openxmlformats.org/drawingml/2006/main">
            <a:off x="3067050" y="22288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4D817A"/>
                </a:solidFill>
                <a:latin typeface="Aptos"/>
                <a:ea typeface="Aptos"/>
                <a:cs typeface="Aptos"/>
              </a:defRPr>
            </a:pPr>
            <a:r>
              <a:rPr sz="1050" b="1">
                <a:solidFill>
                  <a:srgbClr val="4D817A"/>
                </a:solidFill>
                <a:latin typeface="Aptos"/>
                <a:ea typeface="Aptos"/>
                <a:cs typeface="Aptos"/>
              </a:rPr>
              <a:t>0.977 macro-F1</a:t>
            </a:r>
          </a:p>
        </p:txBody>
      </p:sp>
      <p:sp>
        <p:nvSpPr>
          <p:cNvPr id="13" name="">
            <a:extLst xmlns:a="http://schemas.openxmlformats.org/drawingml/2006/main">
              <a:ext uri="{FF2B5EF4-FFF2-40B4-BE49-F238E27FC236}">
                <a16:creationId xmlns:a16="http://schemas.microsoft.com/office/drawing/2014/main" id="{E7A0D7DF-F51E-4358-B449-992C169682EB}"/>
              </a:ext>
            </a:extLst>
          </p:cNvPr>
          <p:cNvSpPr>
            <a:spLocks xmlns:a="http://schemas.openxmlformats.org/drawingml/2006/main" noGrp="1"/>
          </p:cNvSpPr>
          <p:nvPr/>
        </p:nvSpPr>
        <p:spPr>
          <a:xfrm xmlns:a="http://schemas.openxmlformats.org/drawingml/2006/main">
            <a:off x="838200" y="2552700"/>
            <a:ext cx="46482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1AEA45-08C7-4856-94C8-60493825FA5D}"/>
              </a:ext>
            </a:extLst>
          </p:cNvPr>
          <p:cNvSpPr>
            <a:spLocks xmlns:a="http://schemas.openxmlformats.org/drawingml/2006/main" noGrp="1"/>
          </p:cNvSpPr>
          <p:nvPr/>
        </p:nvSpPr>
        <p:spPr>
          <a:xfrm xmlns:a="http://schemas.openxmlformats.org/drawingml/2006/main">
            <a:off x="857250" y="26860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MVP-safe Transformer</a:t>
            </a:r>
          </a:p>
        </p:txBody>
      </p:sp>
      <p:sp>
        <p:nvSpPr>
          <p:cNvPr id="15" name="">
            <a:extLst xmlns:a="http://schemas.openxmlformats.org/drawingml/2006/main">
              <a:ext uri="{FF2B5EF4-FFF2-40B4-BE49-F238E27FC236}">
                <a16:creationId xmlns:a16="http://schemas.microsoft.com/office/drawing/2014/main" id="{0FE077D4-A0E4-4005-A5C8-9870CB714B6A}"/>
              </a:ext>
            </a:extLst>
          </p:cNvPr>
          <p:cNvSpPr>
            <a:spLocks xmlns:a="http://schemas.openxmlformats.org/drawingml/2006/main" noGrp="1"/>
          </p:cNvSpPr>
          <p:nvPr/>
        </p:nvSpPr>
        <p:spPr>
          <a:xfrm xmlns:a="http://schemas.openxmlformats.org/drawingml/2006/main">
            <a:off x="3067050" y="26860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4D817A"/>
                </a:solidFill>
                <a:latin typeface="Aptos"/>
                <a:ea typeface="Aptos"/>
                <a:cs typeface="Aptos"/>
              </a:defRPr>
            </a:pPr>
            <a:r>
              <a:rPr sz="1050" b="1">
                <a:solidFill>
                  <a:srgbClr val="4D817A"/>
                </a:solidFill>
                <a:latin typeface="Aptos"/>
                <a:ea typeface="Aptos"/>
                <a:cs typeface="Aptos"/>
              </a:rPr>
              <a:t>0.882 macro-F1</a:t>
            </a:r>
          </a:p>
        </p:txBody>
      </p:sp>
      <p:sp>
        <p:nvSpPr>
          <p:cNvPr id="16" name="">
            <a:extLst xmlns:a="http://schemas.openxmlformats.org/drawingml/2006/main">
              <a:ext uri="{FF2B5EF4-FFF2-40B4-BE49-F238E27FC236}">
                <a16:creationId xmlns:a16="http://schemas.microsoft.com/office/drawing/2014/main" id="{79A6F335-E334-4467-8A9B-4C9A097FD7BA}"/>
              </a:ext>
            </a:extLst>
          </p:cNvPr>
          <p:cNvSpPr>
            <a:spLocks xmlns:a="http://schemas.openxmlformats.org/drawingml/2006/main" noGrp="1"/>
          </p:cNvSpPr>
          <p:nvPr/>
        </p:nvSpPr>
        <p:spPr>
          <a:xfrm xmlns:a="http://schemas.openxmlformats.org/drawingml/2006/main">
            <a:off x="838200" y="3009900"/>
            <a:ext cx="46482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FA6D6BF-36FE-4EF0-80FD-2BFC1DE12784}"/>
              </a:ext>
            </a:extLst>
          </p:cNvPr>
          <p:cNvSpPr>
            <a:spLocks xmlns:a="http://schemas.openxmlformats.org/drawingml/2006/main" noGrp="1"/>
          </p:cNvSpPr>
          <p:nvPr/>
        </p:nvSpPr>
        <p:spPr>
          <a:xfrm xmlns:a="http://schemas.openxmlformats.org/drawingml/2006/main">
            <a:off x="857250" y="31432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Raw-opcode Transformer</a:t>
            </a:r>
          </a:p>
        </p:txBody>
      </p:sp>
      <p:sp>
        <p:nvSpPr>
          <p:cNvPr id="18" name="">
            <a:extLst xmlns:a="http://schemas.openxmlformats.org/drawingml/2006/main">
              <a:ext uri="{FF2B5EF4-FFF2-40B4-BE49-F238E27FC236}">
                <a16:creationId xmlns:a16="http://schemas.microsoft.com/office/drawing/2014/main" id="{E41C7853-9D8D-49A1-BF24-5F36F1D13F0D}"/>
              </a:ext>
            </a:extLst>
          </p:cNvPr>
          <p:cNvSpPr>
            <a:spLocks xmlns:a="http://schemas.openxmlformats.org/drawingml/2006/main" noGrp="1"/>
          </p:cNvSpPr>
          <p:nvPr/>
        </p:nvSpPr>
        <p:spPr>
          <a:xfrm xmlns:a="http://schemas.openxmlformats.org/drawingml/2006/main">
            <a:off x="3067050" y="31432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4D817A"/>
                </a:solidFill>
                <a:latin typeface="Aptos"/>
                <a:ea typeface="Aptos"/>
                <a:cs typeface="Aptos"/>
              </a:defRPr>
            </a:pPr>
            <a:r>
              <a:rPr sz="1050" b="1">
                <a:solidFill>
                  <a:srgbClr val="4D817A"/>
                </a:solidFill>
                <a:latin typeface="Aptos"/>
                <a:ea typeface="Aptos"/>
                <a:cs typeface="Aptos"/>
              </a:rPr>
              <a:t>0.110 macro-F1</a:t>
            </a:r>
          </a:p>
        </p:txBody>
      </p:sp>
      <p:sp>
        <p:nvSpPr>
          <p:cNvPr id="19" name="">
            <a:extLst xmlns:a="http://schemas.openxmlformats.org/drawingml/2006/main">
              <a:ext uri="{FF2B5EF4-FFF2-40B4-BE49-F238E27FC236}">
                <a16:creationId xmlns:a16="http://schemas.microsoft.com/office/drawing/2014/main" id="{C4E7AE57-8D08-4F93-8EF4-D61A6471039D}"/>
              </a:ext>
            </a:extLst>
          </p:cNvPr>
          <p:cNvSpPr>
            <a:spLocks xmlns:a="http://schemas.openxmlformats.org/drawingml/2006/main" noGrp="1"/>
          </p:cNvSpPr>
          <p:nvPr/>
        </p:nvSpPr>
        <p:spPr>
          <a:xfrm xmlns:a="http://schemas.openxmlformats.org/drawingml/2006/main">
            <a:off x="838200" y="3467100"/>
            <a:ext cx="46482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38E148A-1DCC-4D5E-92B7-31B926537F9E}"/>
              </a:ext>
            </a:extLst>
          </p:cNvPr>
          <p:cNvSpPr>
            <a:spLocks xmlns:a="http://schemas.openxmlformats.org/drawingml/2006/main" noGrp="1"/>
          </p:cNvSpPr>
          <p:nvPr/>
        </p:nvSpPr>
        <p:spPr>
          <a:xfrm xmlns:a="http://schemas.openxmlformats.org/drawingml/2006/main">
            <a:off x="857250" y="36004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Raw-opcode baseline</a:t>
            </a:r>
          </a:p>
        </p:txBody>
      </p:sp>
      <p:sp>
        <p:nvSpPr>
          <p:cNvPr id="21" name="">
            <a:extLst xmlns:a="http://schemas.openxmlformats.org/drawingml/2006/main">
              <a:ext uri="{FF2B5EF4-FFF2-40B4-BE49-F238E27FC236}">
                <a16:creationId xmlns:a16="http://schemas.microsoft.com/office/drawing/2014/main" id="{4637E376-04D8-4E4F-A608-CC3C473ECAB8}"/>
              </a:ext>
            </a:extLst>
          </p:cNvPr>
          <p:cNvSpPr>
            <a:spLocks xmlns:a="http://schemas.openxmlformats.org/drawingml/2006/main" noGrp="1"/>
          </p:cNvSpPr>
          <p:nvPr/>
        </p:nvSpPr>
        <p:spPr>
          <a:xfrm xmlns:a="http://schemas.openxmlformats.org/drawingml/2006/main">
            <a:off x="3067050" y="36004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4D817A"/>
                </a:solidFill>
                <a:latin typeface="Aptos"/>
                <a:ea typeface="Aptos"/>
                <a:cs typeface="Aptos"/>
              </a:defRPr>
            </a:pPr>
            <a:r>
              <a:rPr sz="1050" b="1">
                <a:solidFill>
                  <a:srgbClr val="4D817A"/>
                </a:solidFill>
                <a:latin typeface="Aptos"/>
                <a:ea typeface="Aptos"/>
                <a:cs typeface="Aptos"/>
              </a:rPr>
              <a:t>0.128 macro-F1</a:t>
            </a:r>
          </a:p>
        </p:txBody>
      </p:sp>
      <p:sp>
        <p:nvSpPr>
          <p:cNvPr id="22" name="">
            <a:extLst xmlns:a="http://schemas.openxmlformats.org/drawingml/2006/main">
              <a:ext uri="{FF2B5EF4-FFF2-40B4-BE49-F238E27FC236}">
                <a16:creationId xmlns:a16="http://schemas.microsoft.com/office/drawing/2014/main" id="{7CA65CD8-5D7F-49CF-ADE0-72DB0E1ACB85}"/>
              </a:ext>
            </a:extLst>
          </p:cNvPr>
          <p:cNvSpPr>
            <a:spLocks xmlns:a="http://schemas.openxmlformats.org/drawingml/2006/main" noGrp="1"/>
          </p:cNvSpPr>
          <p:nvPr/>
        </p:nvSpPr>
        <p:spPr>
          <a:xfrm xmlns:a="http://schemas.openxmlformats.org/drawingml/2006/main">
            <a:off x="838200" y="3924300"/>
            <a:ext cx="4648200" cy="9525"/>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BA1873D-8B35-40AA-9BC1-35C271AE2421}"/>
              </a:ext>
            </a:extLst>
          </p:cNvPr>
          <p:cNvSpPr>
            <a:spLocks xmlns:a="http://schemas.openxmlformats.org/drawingml/2006/main" noGrp="1"/>
          </p:cNvSpPr>
          <p:nvPr/>
        </p:nvSpPr>
        <p:spPr>
          <a:xfrm xmlns:a="http://schemas.openxmlformats.org/drawingml/2006/main">
            <a:off x="857250" y="40576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17212B"/>
                </a:solidFill>
                <a:latin typeface="Aptos"/>
                <a:ea typeface="Aptos"/>
                <a:cs typeface="Aptos"/>
              </a:defRPr>
            </a:pPr>
            <a:r>
              <a:rPr sz="1050" b="1">
                <a:solidFill>
                  <a:srgbClr val="17212B"/>
                </a:solidFill>
                <a:latin typeface="Aptos"/>
                <a:ea typeface="Aptos"/>
                <a:cs typeface="Aptos"/>
              </a:rPr>
              <a:t>Verdict</a:t>
            </a:r>
          </a:p>
        </p:txBody>
      </p:sp>
      <p:sp>
        <p:nvSpPr>
          <p:cNvPr id="24" name="">
            <a:extLst xmlns:a="http://schemas.openxmlformats.org/drawingml/2006/main">
              <a:ext uri="{FF2B5EF4-FFF2-40B4-BE49-F238E27FC236}">
                <a16:creationId xmlns:a16="http://schemas.microsoft.com/office/drawing/2014/main" id="{B79E26CF-CE1B-4D4D-8534-147D66344AED}"/>
              </a:ext>
            </a:extLst>
          </p:cNvPr>
          <p:cNvSpPr>
            <a:spLocks xmlns:a="http://schemas.openxmlformats.org/drawingml/2006/main" noGrp="1"/>
          </p:cNvSpPr>
          <p:nvPr/>
        </p:nvSpPr>
        <p:spPr>
          <a:xfrm xmlns:a="http://schemas.openxmlformats.org/drawingml/2006/main">
            <a:off x="3067050" y="4057650"/>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b="1">
                <a:solidFill>
                  <a:srgbClr val="4D817A"/>
                </a:solidFill>
                <a:latin typeface="Aptos"/>
                <a:ea typeface="Aptos"/>
                <a:cs typeface="Aptos"/>
              </a:defRPr>
            </a:pPr>
            <a:r>
              <a:rPr sz="1050" b="1">
                <a:solidFill>
                  <a:srgbClr val="4D817A"/>
                </a:solidFill>
                <a:latin typeface="Aptos"/>
                <a:ea typeface="Aptos"/>
                <a:cs typeface="Aptos"/>
              </a:rPr>
              <a:t>raw-opcode DL research-only</a:t>
            </a:r>
          </a:p>
        </p:txBody>
      </p:sp>
      <p:sp>
        <p:nvSpPr>
          <p:cNvPr id="25" name="">
            <a:extLst xmlns:a="http://schemas.openxmlformats.org/drawingml/2006/main">
              <a:ext uri="{FF2B5EF4-FFF2-40B4-BE49-F238E27FC236}">
                <a16:creationId xmlns:a16="http://schemas.microsoft.com/office/drawing/2014/main" id="{6A7E2713-BCC1-4687-BBA1-AA7ED25386FB}"/>
              </a:ext>
            </a:extLst>
          </p:cNvPr>
          <p:cNvSpPr>
            <a:spLocks xmlns:a="http://schemas.openxmlformats.org/drawingml/2006/main" noGrp="1"/>
          </p:cNvSpPr>
          <p:nvPr/>
        </p:nvSpPr>
        <p:spPr>
          <a:xfrm xmlns:a="http://schemas.openxmlformats.org/drawingml/2006/main">
            <a:off x="6153150" y="1733550"/>
            <a:ext cx="45720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B1519C61-ECF8-43F9-B20D-A2CE819E02E4}"/>
              </a:ext>
            </a:extLst>
          </p:cNvPr>
          <p:cNvSpPr>
            <a:spLocks xmlns:a="http://schemas.openxmlformats.org/drawingml/2006/main" noGrp="1"/>
          </p:cNvSpPr>
          <p:nvPr/>
        </p:nvSpPr>
        <p:spPr>
          <a:xfrm xmlns:a="http://schemas.openxmlformats.org/drawingml/2006/main">
            <a:off x="6438900" y="19621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4D817A"/>
                </a:solidFill>
                <a:latin typeface="Aptos"/>
                <a:ea typeface="Aptos"/>
                <a:cs typeface="Aptos"/>
              </a:defRPr>
            </a:pPr>
            <a:r>
              <a:rPr sz="1125" b="1">
                <a:solidFill>
                  <a:srgbClr val="4D817A"/>
                </a:solidFill>
                <a:latin typeface="Aptos"/>
                <a:ea typeface="Aptos"/>
                <a:cs typeface="Aptos"/>
              </a:rPr>
              <a:t>Macro-F1 comparison</a:t>
            </a:r>
          </a:p>
        </p:txBody>
      </p:sp>
      <p:sp>
        <p:nvSpPr>
          <p:cNvPr id="27" name="">
            <a:extLst xmlns:a="http://schemas.openxmlformats.org/drawingml/2006/main">
              <a:ext uri="{FF2B5EF4-FFF2-40B4-BE49-F238E27FC236}">
                <a16:creationId xmlns:a16="http://schemas.microsoft.com/office/drawing/2014/main" id="{1723C219-7244-4276-A165-8847D2A023D7}"/>
              </a:ext>
            </a:extLst>
          </p:cNvPr>
          <p:cNvSpPr>
            <a:spLocks xmlns:a="http://schemas.openxmlformats.org/drawingml/2006/main" noGrp="1"/>
          </p:cNvSpPr>
          <p:nvPr/>
        </p:nvSpPr>
        <p:spPr>
          <a:xfrm xmlns:a="http://schemas.openxmlformats.org/drawingml/2006/main">
            <a:off x="6438900" y="23812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7212B"/>
                </a:solidFill>
                <a:latin typeface="Aptos"/>
                <a:ea typeface="Aptos"/>
                <a:cs typeface="Aptos"/>
              </a:defRPr>
            </a:pPr>
            <a:r>
              <a:rPr sz="900" b="1">
                <a:solidFill>
                  <a:srgbClr val="17212B"/>
                </a:solidFill>
                <a:latin typeface="Aptos"/>
                <a:ea typeface="Aptos"/>
                <a:cs typeface="Aptos"/>
              </a:rPr>
              <a:t>Structured token</a:t>
            </a:r>
          </a:p>
        </p:txBody>
      </p:sp>
      <p:sp>
        <p:nvSpPr>
          <p:cNvPr id="28" name="">
            <a:extLst xmlns:a="http://schemas.openxmlformats.org/drawingml/2006/main">
              <a:ext uri="{FF2B5EF4-FFF2-40B4-BE49-F238E27FC236}">
                <a16:creationId xmlns:a16="http://schemas.microsoft.com/office/drawing/2014/main" id="{FB379F72-4EA0-4DF4-8A8E-7D8F0152F83A}"/>
              </a:ext>
            </a:extLst>
          </p:cNvPr>
          <p:cNvSpPr>
            <a:spLocks xmlns:a="http://schemas.openxmlformats.org/drawingml/2006/main" noGrp="1"/>
          </p:cNvSpPr>
          <p:nvPr/>
        </p:nvSpPr>
        <p:spPr>
          <a:xfrm xmlns:a="http://schemas.openxmlformats.org/drawingml/2006/main">
            <a:off x="7677150" y="2409825"/>
            <a:ext cx="2381250" cy="114300"/>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D5D12E6-80E9-4F26-BE8A-6A3AA2EA1DB0}"/>
              </a:ext>
            </a:extLst>
          </p:cNvPr>
          <p:cNvSpPr>
            <a:spLocks xmlns:a="http://schemas.openxmlformats.org/drawingml/2006/main" noGrp="1"/>
          </p:cNvSpPr>
          <p:nvPr/>
        </p:nvSpPr>
        <p:spPr>
          <a:xfrm xmlns:a="http://schemas.openxmlformats.org/drawingml/2006/main">
            <a:off x="7677150" y="2409825"/>
            <a:ext cx="2326481" cy="114300"/>
          </a:xfrm>
          <a:prstGeom xmlns:a="http://schemas.openxmlformats.org/drawingml/2006/main" prst="rect">
            <a:avLst/>
          </a:prstGeom>
          <a:solidFill xmlns:a="http://schemas.openxmlformats.org/drawingml/2006/main">
            <a:srgbClr val="4D817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5E96EF0-463A-4F3D-9891-6B053EA66189}"/>
              </a:ext>
            </a:extLst>
          </p:cNvPr>
          <p:cNvSpPr>
            <a:spLocks xmlns:a="http://schemas.openxmlformats.org/drawingml/2006/main" noGrp="1"/>
          </p:cNvSpPr>
          <p:nvPr/>
        </p:nvSpPr>
        <p:spPr>
          <a:xfrm xmlns:a="http://schemas.openxmlformats.org/drawingml/2006/main">
            <a:off x="10191750" y="23717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4D817A"/>
                </a:solidFill>
                <a:latin typeface="Aptos"/>
                <a:ea typeface="Aptos"/>
                <a:cs typeface="Aptos"/>
              </a:defRPr>
            </a:pPr>
            <a:r>
              <a:rPr sz="900" b="1">
                <a:solidFill>
                  <a:srgbClr val="4D817A"/>
                </a:solidFill>
                <a:latin typeface="Aptos"/>
                <a:ea typeface="Aptos"/>
                <a:cs typeface="Aptos"/>
              </a:rPr>
              <a:t>0.977</a:t>
            </a:r>
          </a:p>
        </p:txBody>
      </p:sp>
      <p:sp>
        <p:nvSpPr>
          <p:cNvPr id="31" name="">
            <a:extLst xmlns:a="http://schemas.openxmlformats.org/drawingml/2006/main">
              <a:ext uri="{FF2B5EF4-FFF2-40B4-BE49-F238E27FC236}">
                <a16:creationId xmlns:a16="http://schemas.microsoft.com/office/drawing/2014/main" id="{6209C7E7-FB7D-4BC6-9893-1102A8992C46}"/>
              </a:ext>
            </a:extLst>
          </p:cNvPr>
          <p:cNvSpPr>
            <a:spLocks xmlns:a="http://schemas.openxmlformats.org/drawingml/2006/main" noGrp="1"/>
          </p:cNvSpPr>
          <p:nvPr/>
        </p:nvSpPr>
        <p:spPr>
          <a:xfrm xmlns:a="http://schemas.openxmlformats.org/drawingml/2006/main">
            <a:off x="6438900" y="27813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7212B"/>
                </a:solidFill>
                <a:latin typeface="Aptos"/>
                <a:ea typeface="Aptos"/>
                <a:cs typeface="Aptos"/>
              </a:defRPr>
            </a:pPr>
            <a:r>
              <a:rPr sz="900" b="1">
                <a:solidFill>
                  <a:srgbClr val="17212B"/>
                </a:solidFill>
                <a:latin typeface="Aptos"/>
                <a:ea typeface="Aptos"/>
                <a:cs typeface="Aptos"/>
              </a:rPr>
              <a:t>MVP safe</a:t>
            </a:r>
          </a:p>
        </p:txBody>
      </p:sp>
      <p:sp>
        <p:nvSpPr>
          <p:cNvPr id="32" name="">
            <a:extLst xmlns:a="http://schemas.openxmlformats.org/drawingml/2006/main">
              <a:ext uri="{FF2B5EF4-FFF2-40B4-BE49-F238E27FC236}">
                <a16:creationId xmlns:a16="http://schemas.microsoft.com/office/drawing/2014/main" id="{24D516B3-6D31-4874-AE62-0FB3004739DB}"/>
              </a:ext>
            </a:extLst>
          </p:cNvPr>
          <p:cNvSpPr>
            <a:spLocks xmlns:a="http://schemas.openxmlformats.org/drawingml/2006/main" noGrp="1"/>
          </p:cNvSpPr>
          <p:nvPr/>
        </p:nvSpPr>
        <p:spPr>
          <a:xfrm xmlns:a="http://schemas.openxmlformats.org/drawingml/2006/main">
            <a:off x="7677150" y="2809875"/>
            <a:ext cx="2381250" cy="114300"/>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1AEF928-F210-40DA-8FB8-B36138C3AAAE}"/>
              </a:ext>
            </a:extLst>
          </p:cNvPr>
          <p:cNvSpPr>
            <a:spLocks xmlns:a="http://schemas.openxmlformats.org/drawingml/2006/main" noGrp="1"/>
          </p:cNvSpPr>
          <p:nvPr/>
        </p:nvSpPr>
        <p:spPr>
          <a:xfrm xmlns:a="http://schemas.openxmlformats.org/drawingml/2006/main">
            <a:off x="7677150" y="2809875"/>
            <a:ext cx="2100263" cy="114300"/>
          </a:xfrm>
          <a:prstGeom xmlns:a="http://schemas.openxmlformats.org/drawingml/2006/main" prst="rect">
            <a:avLst/>
          </a:prstGeom>
          <a:solidFill xmlns:a="http://schemas.openxmlformats.org/drawingml/2006/main">
            <a:srgbClr val="64785E"/>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DF50814-7692-4CC2-B9FE-AC829C8D7113}"/>
              </a:ext>
            </a:extLst>
          </p:cNvPr>
          <p:cNvSpPr>
            <a:spLocks xmlns:a="http://schemas.openxmlformats.org/drawingml/2006/main" noGrp="1"/>
          </p:cNvSpPr>
          <p:nvPr/>
        </p:nvSpPr>
        <p:spPr>
          <a:xfrm xmlns:a="http://schemas.openxmlformats.org/drawingml/2006/main">
            <a:off x="10191750" y="27717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4785E"/>
                </a:solidFill>
                <a:latin typeface="Aptos"/>
                <a:ea typeface="Aptos"/>
                <a:cs typeface="Aptos"/>
              </a:defRPr>
            </a:pPr>
            <a:r>
              <a:rPr sz="900" b="1">
                <a:solidFill>
                  <a:srgbClr val="64785E"/>
                </a:solidFill>
                <a:latin typeface="Aptos"/>
                <a:ea typeface="Aptos"/>
                <a:cs typeface="Aptos"/>
              </a:rPr>
              <a:t>0.882</a:t>
            </a:r>
          </a:p>
        </p:txBody>
      </p:sp>
      <p:sp>
        <p:nvSpPr>
          <p:cNvPr id="35" name="">
            <a:extLst xmlns:a="http://schemas.openxmlformats.org/drawingml/2006/main">
              <a:ext uri="{FF2B5EF4-FFF2-40B4-BE49-F238E27FC236}">
                <a16:creationId xmlns:a16="http://schemas.microsoft.com/office/drawing/2014/main" id="{B4C50B3A-02B5-44E1-BF2E-F2639605B3C2}"/>
              </a:ext>
            </a:extLst>
          </p:cNvPr>
          <p:cNvSpPr>
            <a:spLocks xmlns:a="http://schemas.openxmlformats.org/drawingml/2006/main" noGrp="1"/>
          </p:cNvSpPr>
          <p:nvPr/>
        </p:nvSpPr>
        <p:spPr>
          <a:xfrm xmlns:a="http://schemas.openxmlformats.org/drawingml/2006/main">
            <a:off x="6438900" y="31813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7212B"/>
                </a:solidFill>
                <a:latin typeface="Aptos"/>
                <a:ea typeface="Aptos"/>
                <a:cs typeface="Aptos"/>
              </a:defRPr>
            </a:pPr>
            <a:r>
              <a:rPr sz="900" b="1">
                <a:solidFill>
                  <a:srgbClr val="17212B"/>
                </a:solidFill>
                <a:latin typeface="Aptos"/>
                <a:ea typeface="Aptos"/>
                <a:cs typeface="Aptos"/>
              </a:rPr>
              <a:t>Raw opcode</a:t>
            </a:r>
          </a:p>
        </p:txBody>
      </p:sp>
      <p:sp>
        <p:nvSpPr>
          <p:cNvPr id="36" name="">
            <a:extLst xmlns:a="http://schemas.openxmlformats.org/drawingml/2006/main">
              <a:ext uri="{FF2B5EF4-FFF2-40B4-BE49-F238E27FC236}">
                <a16:creationId xmlns:a16="http://schemas.microsoft.com/office/drawing/2014/main" id="{FB029C09-AD98-4027-B2FC-57F2528A5140}"/>
              </a:ext>
            </a:extLst>
          </p:cNvPr>
          <p:cNvSpPr>
            <a:spLocks xmlns:a="http://schemas.openxmlformats.org/drawingml/2006/main" noGrp="1"/>
          </p:cNvSpPr>
          <p:nvPr/>
        </p:nvSpPr>
        <p:spPr>
          <a:xfrm xmlns:a="http://schemas.openxmlformats.org/drawingml/2006/main">
            <a:off x="7677150" y="3209925"/>
            <a:ext cx="2381250" cy="114300"/>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A36E5A1-DB9E-46DC-ABF6-6D35842047C7}"/>
              </a:ext>
            </a:extLst>
          </p:cNvPr>
          <p:cNvSpPr>
            <a:spLocks xmlns:a="http://schemas.openxmlformats.org/drawingml/2006/main" noGrp="1"/>
          </p:cNvSpPr>
          <p:nvPr/>
        </p:nvSpPr>
        <p:spPr>
          <a:xfrm xmlns:a="http://schemas.openxmlformats.org/drawingml/2006/main">
            <a:off x="7677150" y="3209925"/>
            <a:ext cx="261938" cy="1143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A61C768-6E1F-4004-881A-75C9D2D8EE7B}"/>
              </a:ext>
            </a:extLst>
          </p:cNvPr>
          <p:cNvSpPr>
            <a:spLocks xmlns:a="http://schemas.openxmlformats.org/drawingml/2006/main" noGrp="1"/>
          </p:cNvSpPr>
          <p:nvPr/>
        </p:nvSpPr>
        <p:spPr>
          <a:xfrm xmlns:a="http://schemas.openxmlformats.org/drawingml/2006/main">
            <a:off x="10191750" y="31718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A85D57"/>
                </a:solidFill>
                <a:latin typeface="Aptos"/>
                <a:ea typeface="Aptos"/>
                <a:cs typeface="Aptos"/>
              </a:defRPr>
            </a:pPr>
            <a:r>
              <a:rPr sz="900" b="1">
                <a:solidFill>
                  <a:srgbClr val="A85D57"/>
                </a:solidFill>
                <a:latin typeface="Aptos"/>
                <a:ea typeface="Aptos"/>
                <a:cs typeface="Aptos"/>
              </a:rPr>
              <a:t>0.110</a:t>
            </a:r>
          </a:p>
        </p:txBody>
      </p:sp>
      <p:sp>
        <p:nvSpPr>
          <p:cNvPr id="39" name="">
            <a:extLst xmlns:a="http://schemas.openxmlformats.org/drawingml/2006/main">
              <a:ext uri="{FF2B5EF4-FFF2-40B4-BE49-F238E27FC236}">
                <a16:creationId xmlns:a16="http://schemas.microsoft.com/office/drawing/2014/main" id="{8C9CDA1D-B912-4341-ACF9-A8387B4CFA6C}"/>
              </a:ext>
            </a:extLst>
          </p:cNvPr>
          <p:cNvSpPr>
            <a:spLocks xmlns:a="http://schemas.openxmlformats.org/drawingml/2006/main" noGrp="1"/>
          </p:cNvSpPr>
          <p:nvPr/>
        </p:nvSpPr>
        <p:spPr>
          <a:xfrm xmlns:a="http://schemas.openxmlformats.org/drawingml/2006/main">
            <a:off x="6438900" y="358140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7212B"/>
                </a:solidFill>
                <a:latin typeface="Aptos"/>
                <a:ea typeface="Aptos"/>
                <a:cs typeface="Aptos"/>
              </a:defRPr>
            </a:pPr>
            <a:r>
              <a:rPr sz="900" b="1">
                <a:solidFill>
                  <a:srgbClr val="17212B"/>
                </a:solidFill>
                <a:latin typeface="Aptos"/>
                <a:ea typeface="Aptos"/>
                <a:cs typeface="Aptos"/>
              </a:rPr>
              <a:t>Raw baseline</a:t>
            </a:r>
          </a:p>
        </p:txBody>
      </p:sp>
      <p:sp>
        <p:nvSpPr>
          <p:cNvPr id="40" name="">
            <a:extLst xmlns:a="http://schemas.openxmlformats.org/drawingml/2006/main">
              <a:ext uri="{FF2B5EF4-FFF2-40B4-BE49-F238E27FC236}">
                <a16:creationId xmlns:a16="http://schemas.microsoft.com/office/drawing/2014/main" id="{5F27DC6F-AE59-4D41-BAA6-F0143ACB4314}"/>
              </a:ext>
            </a:extLst>
          </p:cNvPr>
          <p:cNvSpPr>
            <a:spLocks xmlns:a="http://schemas.openxmlformats.org/drawingml/2006/main" noGrp="1"/>
          </p:cNvSpPr>
          <p:nvPr/>
        </p:nvSpPr>
        <p:spPr>
          <a:xfrm xmlns:a="http://schemas.openxmlformats.org/drawingml/2006/main">
            <a:off x="7677150" y="3609975"/>
            <a:ext cx="2381250" cy="114300"/>
          </a:xfrm>
          <a:prstGeom xmlns:a="http://schemas.openxmlformats.org/drawingml/2006/main" prst="rect">
            <a:avLst/>
          </a:prstGeom>
          <a:solidFill xmlns:a="http://schemas.openxmlformats.org/drawingml/2006/main">
            <a:srgbClr val="E6EBF1"/>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12A3B1C-2F23-4346-8236-228749B2ABBE}"/>
              </a:ext>
            </a:extLst>
          </p:cNvPr>
          <p:cNvSpPr>
            <a:spLocks xmlns:a="http://schemas.openxmlformats.org/drawingml/2006/main" noGrp="1"/>
          </p:cNvSpPr>
          <p:nvPr/>
        </p:nvSpPr>
        <p:spPr>
          <a:xfrm xmlns:a="http://schemas.openxmlformats.org/drawingml/2006/main">
            <a:off x="7677150" y="3609975"/>
            <a:ext cx="304800" cy="114300"/>
          </a:xfrm>
          <a:prstGeom xmlns:a="http://schemas.openxmlformats.org/drawingml/2006/main" prst="rect">
            <a:avLst/>
          </a:prstGeom>
          <a:solidFill xmlns:a="http://schemas.openxmlformats.org/drawingml/2006/main">
            <a:srgbClr val="8C7346"/>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1E071F7E-C3E4-45A3-A3D3-4000A7FBD598}"/>
              </a:ext>
            </a:extLst>
          </p:cNvPr>
          <p:cNvSpPr>
            <a:spLocks xmlns:a="http://schemas.openxmlformats.org/drawingml/2006/main" noGrp="1"/>
          </p:cNvSpPr>
          <p:nvPr/>
        </p:nvSpPr>
        <p:spPr>
          <a:xfrm xmlns:a="http://schemas.openxmlformats.org/drawingml/2006/main">
            <a:off x="10191750" y="357187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8C7346"/>
                </a:solidFill>
                <a:latin typeface="Aptos"/>
                <a:ea typeface="Aptos"/>
                <a:cs typeface="Aptos"/>
              </a:defRPr>
            </a:pPr>
            <a:r>
              <a:rPr sz="900" b="1">
                <a:solidFill>
                  <a:srgbClr val="8C7346"/>
                </a:solidFill>
                <a:latin typeface="Aptos"/>
                <a:ea typeface="Aptos"/>
                <a:cs typeface="Aptos"/>
              </a:rPr>
              <a:t>0.128</a:t>
            </a:r>
          </a:p>
        </p:txBody>
      </p:sp>
      <p:sp>
        <p:nvSpPr>
          <p:cNvPr id="43" name="">
            <a:extLst xmlns:a="http://schemas.openxmlformats.org/drawingml/2006/main">
              <a:ext uri="{FF2B5EF4-FFF2-40B4-BE49-F238E27FC236}">
                <a16:creationId xmlns:a16="http://schemas.microsoft.com/office/drawing/2014/main" id="{350EA99E-177B-469A-AA17-D59CC64CD988}"/>
              </a:ext>
            </a:extLst>
          </p:cNvPr>
          <p:cNvSpPr>
            <a:spLocks xmlns:a="http://schemas.openxmlformats.org/drawingml/2006/main" noGrp="1"/>
          </p:cNvSpPr>
          <p:nvPr/>
        </p:nvSpPr>
        <p:spPr>
          <a:xfrm xmlns:a="http://schemas.openxmlformats.org/drawingml/2006/main">
            <a:off x="6153150" y="4457700"/>
            <a:ext cx="4572000" cy="762000"/>
          </a:xfrm>
          <a:prstGeom xmlns:a="http://schemas.openxmlformats.org/drawingml/2006/main" prst="rect">
            <a:avLst/>
          </a:prstGeom>
          <a:solidFill xmlns:a="http://schemas.openxmlformats.org/drawingml/2006/main">
            <a:srgbClr val="EAF3F1"/>
          </a:solidFill>
          <a:ln xmlns:a="http://schemas.openxmlformats.org/drawingml/2006/main" w="9525">
            <a:solidFill>
              <a:srgbClr val="4D817A"/>
            </a:solidFill>
            <a:prstDash val="solid"/>
          </a:ln>
        </p:spPr>
      </p:sp>
      <p:sp>
        <p:nvSpPr>
          <p:cNvPr id="44" name="">
            <a:extLst xmlns:a="http://schemas.openxmlformats.org/drawingml/2006/main">
              <a:ext uri="{FF2B5EF4-FFF2-40B4-BE49-F238E27FC236}">
                <a16:creationId xmlns:a16="http://schemas.microsoft.com/office/drawing/2014/main" id="{AE422015-408D-4385-B5F7-86F04927F5DD}"/>
              </a:ext>
            </a:extLst>
          </p:cNvPr>
          <p:cNvSpPr>
            <a:spLocks xmlns:a="http://schemas.openxmlformats.org/drawingml/2006/main" noGrp="1"/>
          </p:cNvSpPr>
          <p:nvPr/>
        </p:nvSpPr>
        <p:spPr>
          <a:xfrm xmlns:a="http://schemas.openxmlformats.org/drawingml/2006/main">
            <a:off x="6362700" y="46863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Structured evidence helps report-only triage. Raw opcode sequences did not beat the baseline.</a:t>
            </a:r>
          </a:p>
        </p:txBody>
      </p:sp>
      <p:sp>
        <p:nvSpPr>
          <p:cNvPr id="45" name="">
            <a:extLst xmlns:a="http://schemas.openxmlformats.org/drawingml/2006/main">
              <a:ext uri="{FF2B5EF4-FFF2-40B4-BE49-F238E27FC236}">
                <a16:creationId xmlns:a16="http://schemas.microsoft.com/office/drawing/2014/main" id="{062499D3-B473-42FB-8786-352EEAE586C2}"/>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77612275"/>
      </p:ext>
    </p:extLst>
  </p:cSld>
</p:sld>
</file>

<file path=ppt/slides/slide5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E88F07-E402-4DDF-9A66-A2C12B11C5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FCA019-A99E-48B3-8304-F46FDC5F5295}"/>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F9C25EA-CDCE-477C-97B5-72796E9DBDD7}"/>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85D57"/>
                </a:solidFill>
                <a:latin typeface="Aptos"/>
                <a:ea typeface="Aptos"/>
                <a:cs typeface="Aptos"/>
              </a:defRPr>
            </a:pPr>
            <a:r>
              <a:rPr sz="900" b="1">
                <a:solidFill>
                  <a:srgbClr val="A85D57"/>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0CFFEE90-55C6-4C68-9CED-9EA88589A3DB}"/>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56</a:t>
            </a:r>
          </a:p>
        </p:txBody>
      </p:sp>
      <p:sp>
        <p:nvSpPr>
          <p:cNvPr id="5" name="">
            <a:extLst xmlns:a="http://schemas.openxmlformats.org/drawingml/2006/main">
              <a:ext uri="{FF2B5EF4-FFF2-40B4-BE49-F238E27FC236}">
                <a16:creationId xmlns:a16="http://schemas.microsoft.com/office/drawing/2014/main" id="{DA32DB7C-2A84-4FD5-AD83-2D779230974C}"/>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demo follows one deterministic APK-to-report path</a:t>
            </a:r>
          </a:p>
        </p:txBody>
      </p:sp>
      <p:sp>
        <p:nvSpPr>
          <p:cNvPr id="6" name="">
            <a:extLst xmlns:a="http://schemas.openxmlformats.org/drawingml/2006/main">
              <a:ext uri="{FF2B5EF4-FFF2-40B4-BE49-F238E27FC236}">
                <a16:creationId xmlns:a16="http://schemas.microsoft.com/office/drawing/2014/main" id="{461A3459-A009-4277-8210-E14BA866EFB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13736D-CB19-4605-8E60-19AF7BD2C16F}"/>
              </a:ext>
            </a:extLst>
          </p:cNvPr>
          <p:cNvSpPr>
            <a:spLocks xmlns:a="http://schemas.openxmlformats.org/drawingml/2006/main" noGrp="1"/>
          </p:cNvSpPr>
          <p:nvPr/>
        </p:nvSpPr>
        <p:spPr>
          <a:xfrm xmlns:a="http://schemas.openxmlformats.org/drawingml/2006/main">
            <a:off x="1047750" y="2000250"/>
            <a:ext cx="191262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8" name="">
            <a:extLst xmlns:a="http://schemas.openxmlformats.org/drawingml/2006/main">
              <a:ext uri="{FF2B5EF4-FFF2-40B4-BE49-F238E27FC236}">
                <a16:creationId xmlns:a16="http://schemas.microsoft.com/office/drawing/2014/main" id="{DFA9A957-04A3-4C7A-8D92-C0704315997F}"/>
              </a:ext>
            </a:extLst>
          </p:cNvPr>
          <p:cNvSpPr>
            <a:spLocks xmlns:a="http://schemas.openxmlformats.org/drawingml/2006/main" noGrp="1"/>
          </p:cNvSpPr>
          <p:nvPr/>
        </p:nvSpPr>
        <p:spPr>
          <a:xfrm xmlns:a="http://schemas.openxmlformats.org/drawingml/2006/main">
            <a:off x="1143000" y="2181225"/>
            <a:ext cx="17221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Input APK</a:t>
            </a:r>
          </a:p>
        </p:txBody>
      </p:sp>
      <p:sp>
        <p:nvSpPr>
          <p:cNvPr id="9" name="">
            <a:extLst xmlns:a="http://schemas.openxmlformats.org/drawingml/2006/main">
              <a:ext uri="{FF2B5EF4-FFF2-40B4-BE49-F238E27FC236}">
                <a16:creationId xmlns:a16="http://schemas.microsoft.com/office/drawing/2014/main" id="{E01BFF74-1564-4BA0-9510-B114A6D57FD1}"/>
              </a:ext>
            </a:extLst>
          </p:cNvPr>
          <p:cNvSpPr>
            <a:spLocks xmlns:a="http://schemas.openxmlformats.org/drawingml/2006/main" noGrp="1"/>
          </p:cNvSpPr>
          <p:nvPr/>
        </p:nvSpPr>
        <p:spPr>
          <a:xfrm xmlns:a="http://schemas.openxmlformats.org/drawingml/2006/main">
            <a:off x="2950845" y="22002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C150DC2-A135-4F90-8960-55FB1DD20BBC}"/>
              </a:ext>
            </a:extLst>
          </p:cNvPr>
          <p:cNvSpPr>
            <a:spLocks xmlns:a="http://schemas.openxmlformats.org/drawingml/2006/main" noGrp="1"/>
          </p:cNvSpPr>
          <p:nvPr/>
        </p:nvSpPr>
        <p:spPr>
          <a:xfrm xmlns:a="http://schemas.openxmlformats.org/drawingml/2006/main">
            <a:off x="3093720" y="2000250"/>
            <a:ext cx="191262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11" name="">
            <a:extLst xmlns:a="http://schemas.openxmlformats.org/drawingml/2006/main">
              <a:ext uri="{FF2B5EF4-FFF2-40B4-BE49-F238E27FC236}">
                <a16:creationId xmlns:a16="http://schemas.microsoft.com/office/drawing/2014/main" id="{F15BAD30-D3A6-4C1F-9007-E3DE3DA0BA1D}"/>
              </a:ext>
            </a:extLst>
          </p:cNvPr>
          <p:cNvSpPr>
            <a:spLocks xmlns:a="http://schemas.openxmlformats.org/drawingml/2006/main" noGrp="1"/>
          </p:cNvSpPr>
          <p:nvPr/>
        </p:nvSpPr>
        <p:spPr>
          <a:xfrm xmlns:a="http://schemas.openxmlformats.org/drawingml/2006/main">
            <a:off x="3188970" y="2181225"/>
            <a:ext cx="17221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Reference DB</a:t>
            </a:r>
          </a:p>
        </p:txBody>
      </p:sp>
      <p:sp>
        <p:nvSpPr>
          <p:cNvPr id="12" name="">
            <a:extLst xmlns:a="http://schemas.openxmlformats.org/drawingml/2006/main">
              <a:ext uri="{FF2B5EF4-FFF2-40B4-BE49-F238E27FC236}">
                <a16:creationId xmlns:a16="http://schemas.microsoft.com/office/drawing/2014/main" id="{BB6D0AB6-EB2B-44A3-9158-F66AAB294530}"/>
              </a:ext>
            </a:extLst>
          </p:cNvPr>
          <p:cNvSpPr>
            <a:spLocks xmlns:a="http://schemas.openxmlformats.org/drawingml/2006/main" noGrp="1"/>
          </p:cNvSpPr>
          <p:nvPr/>
        </p:nvSpPr>
        <p:spPr>
          <a:xfrm xmlns:a="http://schemas.openxmlformats.org/drawingml/2006/main">
            <a:off x="4996815" y="22002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1BB391-DBAF-4B8D-8421-5B16978FBDC4}"/>
              </a:ext>
            </a:extLst>
          </p:cNvPr>
          <p:cNvSpPr>
            <a:spLocks xmlns:a="http://schemas.openxmlformats.org/drawingml/2006/main" noGrp="1"/>
          </p:cNvSpPr>
          <p:nvPr/>
        </p:nvSpPr>
        <p:spPr>
          <a:xfrm xmlns:a="http://schemas.openxmlformats.org/drawingml/2006/main">
            <a:off x="5139690" y="2000250"/>
            <a:ext cx="191262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14" name="">
            <a:extLst xmlns:a="http://schemas.openxmlformats.org/drawingml/2006/main">
              <a:ext uri="{FF2B5EF4-FFF2-40B4-BE49-F238E27FC236}">
                <a16:creationId xmlns:a16="http://schemas.microsoft.com/office/drawing/2014/main" id="{CE43CAE4-17DE-4ACF-BE38-55BAEDFE98E2}"/>
              </a:ext>
            </a:extLst>
          </p:cNvPr>
          <p:cNvSpPr>
            <a:spLocks xmlns:a="http://schemas.openxmlformats.org/drawingml/2006/main" noGrp="1"/>
          </p:cNvSpPr>
          <p:nvPr/>
        </p:nvSpPr>
        <p:spPr>
          <a:xfrm xmlns:a="http://schemas.openxmlformats.org/drawingml/2006/main">
            <a:off x="5234940" y="2181225"/>
            <a:ext cx="17221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generate-report</a:t>
            </a:r>
          </a:p>
        </p:txBody>
      </p:sp>
      <p:sp>
        <p:nvSpPr>
          <p:cNvPr id="15" name="">
            <a:extLst xmlns:a="http://schemas.openxmlformats.org/drawingml/2006/main">
              <a:ext uri="{FF2B5EF4-FFF2-40B4-BE49-F238E27FC236}">
                <a16:creationId xmlns:a16="http://schemas.microsoft.com/office/drawing/2014/main" id="{E8738F59-38D6-4270-A84A-C5C0AC1F43D2}"/>
              </a:ext>
            </a:extLst>
          </p:cNvPr>
          <p:cNvSpPr>
            <a:spLocks xmlns:a="http://schemas.openxmlformats.org/drawingml/2006/main" noGrp="1"/>
          </p:cNvSpPr>
          <p:nvPr/>
        </p:nvSpPr>
        <p:spPr>
          <a:xfrm xmlns:a="http://schemas.openxmlformats.org/drawingml/2006/main">
            <a:off x="7042785" y="22002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19042B-24F2-4084-B733-729CF8473FC0}"/>
              </a:ext>
            </a:extLst>
          </p:cNvPr>
          <p:cNvSpPr>
            <a:spLocks xmlns:a="http://schemas.openxmlformats.org/drawingml/2006/main" noGrp="1"/>
          </p:cNvSpPr>
          <p:nvPr/>
        </p:nvSpPr>
        <p:spPr>
          <a:xfrm xmlns:a="http://schemas.openxmlformats.org/drawingml/2006/main">
            <a:off x="7185660" y="2000250"/>
            <a:ext cx="191262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17" name="">
            <a:extLst xmlns:a="http://schemas.openxmlformats.org/drawingml/2006/main">
              <a:ext uri="{FF2B5EF4-FFF2-40B4-BE49-F238E27FC236}">
                <a16:creationId xmlns:a16="http://schemas.microsoft.com/office/drawing/2014/main" id="{DA287E73-FCEC-4036-BB10-C451E42FB06D}"/>
              </a:ext>
            </a:extLst>
          </p:cNvPr>
          <p:cNvSpPr>
            <a:spLocks xmlns:a="http://schemas.openxmlformats.org/drawingml/2006/main" noGrp="1"/>
          </p:cNvSpPr>
          <p:nvPr/>
        </p:nvSpPr>
        <p:spPr>
          <a:xfrm xmlns:a="http://schemas.openxmlformats.org/drawingml/2006/main">
            <a:off x="7280910" y="2181225"/>
            <a:ext cx="17221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Output dir</a:t>
            </a:r>
          </a:p>
        </p:txBody>
      </p:sp>
      <p:sp>
        <p:nvSpPr>
          <p:cNvPr id="18" name="">
            <a:extLst xmlns:a="http://schemas.openxmlformats.org/drawingml/2006/main">
              <a:ext uri="{FF2B5EF4-FFF2-40B4-BE49-F238E27FC236}">
                <a16:creationId xmlns:a16="http://schemas.microsoft.com/office/drawing/2014/main" id="{D7465F0E-001F-4A3E-B56F-21FF87891AC9}"/>
              </a:ext>
            </a:extLst>
          </p:cNvPr>
          <p:cNvSpPr>
            <a:spLocks xmlns:a="http://schemas.openxmlformats.org/drawingml/2006/main" noGrp="1"/>
          </p:cNvSpPr>
          <p:nvPr/>
        </p:nvSpPr>
        <p:spPr>
          <a:xfrm xmlns:a="http://schemas.openxmlformats.org/drawingml/2006/main">
            <a:off x="9088755" y="2200275"/>
            <a:ext cx="171450" cy="209550"/>
          </a:xfrm>
          <a:prstGeom xmlns:a="http://schemas.openxmlformats.org/drawingml/2006/main" prst="chevron">
            <a:avLst/>
          </a:prstGeom>
          <a:solidFill xmlns:a="http://schemas.openxmlformats.org/drawingml/2006/main">
            <a:srgbClr val="2F5F7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C0064BD-9EF2-4E58-8796-D7B28A313E7D}"/>
              </a:ext>
            </a:extLst>
          </p:cNvPr>
          <p:cNvSpPr>
            <a:spLocks xmlns:a="http://schemas.openxmlformats.org/drawingml/2006/main" noGrp="1"/>
          </p:cNvSpPr>
          <p:nvPr/>
        </p:nvSpPr>
        <p:spPr>
          <a:xfrm xmlns:a="http://schemas.openxmlformats.org/drawingml/2006/main">
            <a:off x="9231630" y="2000250"/>
            <a:ext cx="1912620" cy="6096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20" name="">
            <a:extLst xmlns:a="http://schemas.openxmlformats.org/drawingml/2006/main">
              <a:ext uri="{FF2B5EF4-FFF2-40B4-BE49-F238E27FC236}">
                <a16:creationId xmlns:a16="http://schemas.microsoft.com/office/drawing/2014/main" id="{A445522C-07C6-4F86-9BC9-2101D41FFCBC}"/>
              </a:ext>
            </a:extLst>
          </p:cNvPr>
          <p:cNvSpPr>
            <a:spLocks xmlns:a="http://schemas.openxmlformats.org/drawingml/2006/main" noGrp="1"/>
          </p:cNvSpPr>
          <p:nvPr/>
        </p:nvSpPr>
        <p:spPr>
          <a:xfrm xmlns:a="http://schemas.openxmlformats.org/drawingml/2006/main">
            <a:off x="9326880" y="2181225"/>
            <a:ext cx="172212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Report bundle</a:t>
            </a:r>
          </a:p>
        </p:txBody>
      </p:sp>
      <p:sp>
        <p:nvSpPr>
          <p:cNvPr id="21" name="">
            <a:extLst xmlns:a="http://schemas.openxmlformats.org/drawingml/2006/main">
              <a:ext uri="{FF2B5EF4-FFF2-40B4-BE49-F238E27FC236}">
                <a16:creationId xmlns:a16="http://schemas.microsoft.com/office/drawing/2014/main" id="{A1D5FF45-3A4B-4FB5-9BD5-136E57B80AE7}"/>
              </a:ext>
            </a:extLst>
          </p:cNvPr>
          <p:cNvSpPr>
            <a:spLocks xmlns:a="http://schemas.openxmlformats.org/drawingml/2006/main" noGrp="1"/>
          </p:cNvSpPr>
          <p:nvPr/>
        </p:nvSpPr>
        <p:spPr>
          <a:xfrm xmlns:a="http://schemas.openxmlformats.org/drawingml/2006/main">
            <a:off x="1066800" y="3429000"/>
            <a:ext cx="2857500" cy="438150"/>
          </a:xfrm>
          <a:prstGeom xmlns:a="http://schemas.openxmlformats.org/drawingml/2006/main" prst="rect">
            <a:avLst/>
          </a:prstGeom>
          <a:solidFill xmlns:a="http://schemas.openxmlformats.org/drawingml/2006/main">
            <a:srgbClr val="EAF2F7"/>
          </a:solidFill>
          <a:ln xmlns:a="http://schemas.openxmlformats.org/drawingml/2006/main" w="9525">
            <a:solidFill>
              <a:srgbClr val="CBD5E1"/>
            </a:solidFill>
            <a:prstDash val="solid"/>
          </a:ln>
        </p:spPr>
      </p:sp>
      <p:sp>
        <p:nvSpPr>
          <p:cNvPr id="22" name="">
            <a:extLst xmlns:a="http://schemas.openxmlformats.org/drawingml/2006/main">
              <a:ext uri="{FF2B5EF4-FFF2-40B4-BE49-F238E27FC236}">
                <a16:creationId xmlns:a16="http://schemas.microsoft.com/office/drawing/2014/main" id="{52D1AF32-CA5E-4888-9D4C-493FEE02447A}"/>
              </a:ext>
            </a:extLst>
          </p:cNvPr>
          <p:cNvSpPr>
            <a:spLocks xmlns:a="http://schemas.openxmlformats.org/drawingml/2006/main" noGrp="1"/>
          </p:cNvSpPr>
          <p:nvPr/>
        </p:nvSpPr>
        <p:spPr>
          <a:xfrm xmlns:a="http://schemas.openxmlformats.org/drawingml/2006/main">
            <a:off x="1181100" y="356235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matches.json</a:t>
            </a:r>
          </a:p>
        </p:txBody>
      </p:sp>
      <p:sp>
        <p:nvSpPr>
          <p:cNvPr id="23" name="">
            <a:extLst xmlns:a="http://schemas.openxmlformats.org/drawingml/2006/main">
              <a:ext uri="{FF2B5EF4-FFF2-40B4-BE49-F238E27FC236}">
                <a16:creationId xmlns:a16="http://schemas.microsoft.com/office/drawing/2014/main" id="{A31B2FFC-6037-407C-B64E-F18478F08A72}"/>
              </a:ext>
            </a:extLst>
          </p:cNvPr>
          <p:cNvSpPr>
            <a:spLocks xmlns:a="http://schemas.openxmlformats.org/drawingml/2006/main" noGrp="1"/>
          </p:cNvSpPr>
          <p:nvPr/>
        </p:nvSpPr>
        <p:spPr>
          <a:xfrm xmlns:a="http://schemas.openxmlformats.org/drawingml/2006/main">
            <a:off x="4400550" y="3429000"/>
            <a:ext cx="2857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3B2FDFD9-65BF-476B-99E1-4DF16C4668A8}"/>
              </a:ext>
            </a:extLst>
          </p:cNvPr>
          <p:cNvSpPr>
            <a:spLocks xmlns:a="http://schemas.openxmlformats.org/drawingml/2006/main" noGrp="1"/>
          </p:cNvSpPr>
          <p:nvPr/>
        </p:nvSpPr>
        <p:spPr>
          <a:xfrm xmlns:a="http://schemas.openxmlformats.org/drawingml/2006/main">
            <a:off x="4514850" y="356235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sbom.cdx.json</a:t>
            </a:r>
          </a:p>
        </p:txBody>
      </p:sp>
      <p:sp>
        <p:nvSpPr>
          <p:cNvPr id="25" name="">
            <a:extLst xmlns:a="http://schemas.openxmlformats.org/drawingml/2006/main">
              <a:ext uri="{FF2B5EF4-FFF2-40B4-BE49-F238E27FC236}">
                <a16:creationId xmlns:a16="http://schemas.microsoft.com/office/drawing/2014/main" id="{277A3F69-EF44-4FEC-9BE4-DD1528E8A4BF}"/>
              </a:ext>
            </a:extLst>
          </p:cNvPr>
          <p:cNvSpPr>
            <a:spLocks xmlns:a="http://schemas.openxmlformats.org/drawingml/2006/main" noGrp="1"/>
          </p:cNvSpPr>
          <p:nvPr/>
        </p:nvSpPr>
        <p:spPr>
          <a:xfrm xmlns:a="http://schemas.openxmlformats.org/drawingml/2006/main">
            <a:off x="7734300" y="3429000"/>
            <a:ext cx="2857500" cy="438150"/>
          </a:xfrm>
          <a:prstGeom xmlns:a="http://schemas.openxmlformats.org/drawingml/2006/main" prst="rect">
            <a:avLst/>
          </a:prstGeom>
          <a:solidFill xmlns:a="http://schemas.openxmlformats.org/drawingml/2006/main">
            <a:srgbClr val="EAF2F7"/>
          </a:solidFill>
          <a:ln xmlns:a="http://schemas.openxmlformats.org/drawingml/2006/main" w="9525">
            <a:solidFill>
              <a:srgbClr val="CBD5E1"/>
            </a:solidFill>
            <a:prstDash val="solid"/>
          </a:ln>
        </p:spPr>
      </p:sp>
      <p:sp>
        <p:nvSpPr>
          <p:cNvPr id="26" name="">
            <a:extLst xmlns:a="http://schemas.openxmlformats.org/drawingml/2006/main">
              <a:ext uri="{FF2B5EF4-FFF2-40B4-BE49-F238E27FC236}">
                <a16:creationId xmlns:a16="http://schemas.microsoft.com/office/drawing/2014/main" id="{559F0242-8408-4313-991B-FA872E42C4D7}"/>
              </a:ext>
            </a:extLst>
          </p:cNvPr>
          <p:cNvSpPr>
            <a:spLocks xmlns:a="http://schemas.openxmlformats.org/drawingml/2006/main" noGrp="1"/>
          </p:cNvSpPr>
          <p:nvPr/>
        </p:nvSpPr>
        <p:spPr>
          <a:xfrm xmlns:a="http://schemas.openxmlformats.org/drawingml/2006/main">
            <a:off x="7848600" y="356235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osv-vulnerabilities.json</a:t>
            </a:r>
          </a:p>
        </p:txBody>
      </p:sp>
      <p:sp>
        <p:nvSpPr>
          <p:cNvPr id="27" name="">
            <a:extLst xmlns:a="http://schemas.openxmlformats.org/drawingml/2006/main">
              <a:ext uri="{FF2B5EF4-FFF2-40B4-BE49-F238E27FC236}">
                <a16:creationId xmlns:a16="http://schemas.microsoft.com/office/drawing/2014/main" id="{6864D334-711E-492F-BE42-53A4882AAA7A}"/>
              </a:ext>
            </a:extLst>
          </p:cNvPr>
          <p:cNvSpPr>
            <a:spLocks xmlns:a="http://schemas.openxmlformats.org/drawingml/2006/main" noGrp="1"/>
          </p:cNvSpPr>
          <p:nvPr/>
        </p:nvSpPr>
        <p:spPr>
          <a:xfrm xmlns:a="http://schemas.openxmlformats.org/drawingml/2006/main">
            <a:off x="1066800" y="4171950"/>
            <a:ext cx="2857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8" name="">
            <a:extLst xmlns:a="http://schemas.openxmlformats.org/drawingml/2006/main">
              <a:ext uri="{FF2B5EF4-FFF2-40B4-BE49-F238E27FC236}">
                <a16:creationId xmlns:a16="http://schemas.microsoft.com/office/drawing/2014/main" id="{7DD68F44-BFCE-46B7-8789-CD027BA80CB2}"/>
              </a:ext>
            </a:extLst>
          </p:cNvPr>
          <p:cNvSpPr>
            <a:spLocks xmlns:a="http://schemas.openxmlformats.org/drawingml/2006/main" noGrp="1"/>
          </p:cNvSpPr>
          <p:nvPr/>
        </p:nvSpPr>
        <p:spPr>
          <a:xfrm xmlns:a="http://schemas.openxmlformats.org/drawingml/2006/main">
            <a:off x="1181100" y="430530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report.json</a:t>
            </a:r>
          </a:p>
        </p:txBody>
      </p:sp>
      <p:sp>
        <p:nvSpPr>
          <p:cNvPr id="29" name="">
            <a:extLst xmlns:a="http://schemas.openxmlformats.org/drawingml/2006/main">
              <a:ext uri="{FF2B5EF4-FFF2-40B4-BE49-F238E27FC236}">
                <a16:creationId xmlns:a16="http://schemas.microsoft.com/office/drawing/2014/main" id="{9A1A52E2-04E6-4D0B-9029-E4E18E3DD714}"/>
              </a:ext>
            </a:extLst>
          </p:cNvPr>
          <p:cNvSpPr>
            <a:spLocks xmlns:a="http://schemas.openxmlformats.org/drawingml/2006/main" noGrp="1"/>
          </p:cNvSpPr>
          <p:nvPr/>
        </p:nvSpPr>
        <p:spPr>
          <a:xfrm xmlns:a="http://schemas.openxmlformats.org/drawingml/2006/main">
            <a:off x="4400550" y="4171950"/>
            <a:ext cx="2857500" cy="438150"/>
          </a:xfrm>
          <a:prstGeom xmlns:a="http://schemas.openxmlformats.org/drawingml/2006/main" prst="rect">
            <a:avLst/>
          </a:prstGeom>
          <a:solidFill xmlns:a="http://schemas.openxmlformats.org/drawingml/2006/main">
            <a:srgbClr val="EAF2F7"/>
          </a:solidFill>
          <a:ln xmlns:a="http://schemas.openxmlformats.org/drawingml/2006/main" w="9525">
            <a:solidFill>
              <a:srgbClr val="CBD5E1"/>
            </a:solidFill>
            <a:prstDash val="solid"/>
          </a:ln>
        </p:spPr>
      </p:sp>
      <p:sp>
        <p:nvSpPr>
          <p:cNvPr id="30" name="">
            <a:extLst xmlns:a="http://schemas.openxmlformats.org/drawingml/2006/main">
              <a:ext uri="{FF2B5EF4-FFF2-40B4-BE49-F238E27FC236}">
                <a16:creationId xmlns:a16="http://schemas.microsoft.com/office/drawing/2014/main" id="{5895C302-D332-4259-8527-522E4D0F28B5}"/>
              </a:ext>
            </a:extLst>
          </p:cNvPr>
          <p:cNvSpPr>
            <a:spLocks xmlns:a="http://schemas.openxmlformats.org/drawingml/2006/main" noGrp="1"/>
          </p:cNvSpPr>
          <p:nvPr/>
        </p:nvSpPr>
        <p:spPr>
          <a:xfrm xmlns:a="http://schemas.openxmlformats.org/drawingml/2006/main">
            <a:off x="4514850" y="430530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report.md</a:t>
            </a:r>
          </a:p>
        </p:txBody>
      </p:sp>
      <p:sp>
        <p:nvSpPr>
          <p:cNvPr id="31" name="">
            <a:extLst xmlns:a="http://schemas.openxmlformats.org/drawingml/2006/main">
              <a:ext uri="{FF2B5EF4-FFF2-40B4-BE49-F238E27FC236}">
                <a16:creationId xmlns:a16="http://schemas.microsoft.com/office/drawing/2014/main" id="{ACEF67D4-1916-400F-B1B6-1CF0F6647C0A}"/>
              </a:ext>
            </a:extLst>
          </p:cNvPr>
          <p:cNvSpPr>
            <a:spLocks xmlns:a="http://schemas.openxmlformats.org/drawingml/2006/main" noGrp="1"/>
          </p:cNvSpPr>
          <p:nvPr/>
        </p:nvSpPr>
        <p:spPr>
          <a:xfrm xmlns:a="http://schemas.openxmlformats.org/drawingml/2006/main">
            <a:off x="7734300" y="4171950"/>
            <a:ext cx="28575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2" name="">
            <a:extLst xmlns:a="http://schemas.openxmlformats.org/drawingml/2006/main">
              <a:ext uri="{FF2B5EF4-FFF2-40B4-BE49-F238E27FC236}">
                <a16:creationId xmlns:a16="http://schemas.microsoft.com/office/drawing/2014/main" id="{8E2220CE-2BCD-4C16-9C77-6EFB6510F501}"/>
              </a:ext>
            </a:extLst>
          </p:cNvPr>
          <p:cNvSpPr>
            <a:spLocks xmlns:a="http://schemas.openxmlformats.org/drawingml/2006/main" noGrp="1"/>
          </p:cNvSpPr>
          <p:nvPr/>
        </p:nvSpPr>
        <p:spPr>
          <a:xfrm xmlns:a="http://schemas.openxmlformats.org/drawingml/2006/main">
            <a:off x="7848600" y="4305300"/>
            <a:ext cx="2628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report.html</a:t>
            </a:r>
          </a:p>
        </p:txBody>
      </p:sp>
      <p:sp>
        <p:nvSpPr>
          <p:cNvPr id="33" name="">
            <a:extLst xmlns:a="http://schemas.openxmlformats.org/drawingml/2006/main">
              <a:ext uri="{FF2B5EF4-FFF2-40B4-BE49-F238E27FC236}">
                <a16:creationId xmlns:a16="http://schemas.microsoft.com/office/drawing/2014/main" id="{40478C7F-4D96-4028-8F19-4E6A361C8107}"/>
              </a:ext>
            </a:extLst>
          </p:cNvPr>
          <p:cNvSpPr>
            <a:spLocks xmlns:a="http://schemas.openxmlformats.org/drawingml/2006/main" noGrp="1"/>
          </p:cNvSpPr>
          <p:nvPr/>
        </p:nvSpPr>
        <p:spPr>
          <a:xfrm xmlns:a="http://schemas.openxmlformats.org/drawingml/2006/main">
            <a:off x="1466850" y="5334000"/>
            <a:ext cx="9258300" cy="419100"/>
          </a:xfrm>
          <a:prstGeom xmlns:a="http://schemas.openxmlformats.org/drawingml/2006/main" prst="rect">
            <a:avLst/>
          </a:prstGeom>
          <a:solidFill xmlns:a="http://schemas.openxmlformats.org/drawingml/2006/main">
            <a:srgbClr val="EAF2F7"/>
          </a:solidFill>
          <a:ln xmlns:a="http://schemas.openxmlformats.org/drawingml/2006/main" w="9525">
            <a:solidFill>
              <a:srgbClr val="2F5F7E"/>
            </a:solidFill>
            <a:prstDash val="solid"/>
          </a:ln>
        </p:spPr>
      </p:sp>
      <p:sp>
        <p:nvSpPr>
          <p:cNvPr id="34" name="">
            <a:extLst xmlns:a="http://schemas.openxmlformats.org/drawingml/2006/main">
              <a:ext uri="{FF2B5EF4-FFF2-40B4-BE49-F238E27FC236}">
                <a16:creationId xmlns:a16="http://schemas.microsoft.com/office/drawing/2014/main" id="{082C2ADA-DEDB-4F95-BFC5-FD1622D7CCE1}"/>
              </a:ext>
            </a:extLst>
          </p:cNvPr>
          <p:cNvSpPr>
            <a:spLocks xmlns:a="http://schemas.openxmlformats.org/drawingml/2006/main" noGrp="1"/>
          </p:cNvSpPr>
          <p:nvPr/>
        </p:nvSpPr>
        <p:spPr>
          <a:xfrm xmlns:a="http://schemas.openxmlformats.org/drawingml/2006/main">
            <a:off x="1714500" y="5457825"/>
            <a:ext cx="876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Optional hybrid AI sections appear only when requested and do not alter the official output.</a:t>
            </a:r>
          </a:p>
        </p:txBody>
      </p:sp>
      <p:sp>
        <p:nvSpPr>
          <p:cNvPr id="35" name="">
            <a:extLst xmlns:a="http://schemas.openxmlformats.org/drawingml/2006/main">
              <a:ext uri="{FF2B5EF4-FFF2-40B4-BE49-F238E27FC236}">
                <a16:creationId xmlns:a16="http://schemas.microsoft.com/office/drawing/2014/main" id="{E6E21853-FE53-4B2D-8588-319A7A276B56}"/>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514350173"/>
      </p:ext>
    </p:extLst>
  </p:cSld>
</p:sld>
</file>

<file path=ppt/slides/slide5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0F1B4F-51D8-4D6B-8B0D-BE74032719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B8382A-961D-4D6B-88FB-61D056E241C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F529CF3-7D3A-4088-B159-B21626292259}"/>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85D57"/>
                </a:solidFill>
                <a:latin typeface="Aptos"/>
                <a:ea typeface="Aptos"/>
                <a:cs typeface="Aptos"/>
              </a:defRPr>
            </a:pPr>
            <a:r>
              <a:rPr sz="900" b="1">
                <a:solidFill>
                  <a:srgbClr val="A85D57"/>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12D4860F-4373-46FD-BA2A-694FDD20BC63}"/>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57</a:t>
            </a:r>
          </a:p>
        </p:txBody>
      </p:sp>
      <p:sp>
        <p:nvSpPr>
          <p:cNvPr id="5" name="">
            <a:extLst xmlns:a="http://schemas.openxmlformats.org/drawingml/2006/main">
              <a:ext uri="{FF2B5EF4-FFF2-40B4-BE49-F238E27FC236}">
                <a16:creationId xmlns:a16="http://schemas.microsoft.com/office/drawing/2014/main" id="{96E4FA07-AFFF-439C-8EED-28EE8A83A6F0}"/>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Clean and vulnerable screenshots prove both CVE lanes</a:t>
            </a:r>
          </a:p>
        </p:txBody>
      </p:sp>
      <p:sp>
        <p:nvSpPr>
          <p:cNvPr id="6" name="">
            <a:extLst xmlns:a="http://schemas.openxmlformats.org/drawingml/2006/main">
              <a:ext uri="{FF2B5EF4-FFF2-40B4-BE49-F238E27FC236}">
                <a16:creationId xmlns:a16="http://schemas.microsoft.com/office/drawing/2014/main" id="{E842E133-11FC-480F-AF0E-13C546A7FAA6}"/>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4FE1F1-41CD-4C86-AC42-69DCD37D9DD8}"/>
              </a:ext>
            </a:extLst>
          </p:cNvPr>
          <p:cNvSpPr>
            <a:spLocks xmlns:a="http://schemas.openxmlformats.org/drawingml/2006/main" noGrp="1"/>
          </p:cNvSpPr>
          <p:nvPr/>
        </p:nvSpPr>
        <p:spPr>
          <a:xfrm xmlns:a="http://schemas.openxmlformats.org/drawingml/2006/main">
            <a:off x="685800" y="13906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2F5F7E"/>
                </a:solidFill>
                <a:latin typeface="Aptos"/>
                <a:ea typeface="Aptos"/>
                <a:cs typeface="Aptos"/>
              </a:defRPr>
            </a:pPr>
            <a:r>
              <a:rPr sz="975" b="1">
                <a:solidFill>
                  <a:srgbClr val="2F5F7E"/>
                </a:solidFill>
                <a:latin typeface="Aptos"/>
                <a:ea typeface="Aptos"/>
                <a:cs typeface="Aptos"/>
              </a:rPr>
              <a:t>CLEAN REAL APK</a:t>
            </a:r>
          </a:p>
        </p:txBody>
      </p:sp>
      <p:sp>
        <p:nvSpPr>
          <p:cNvPr id="8" name="">
            <a:extLst xmlns:a="http://schemas.openxmlformats.org/drawingml/2006/main">
              <a:ext uri="{FF2B5EF4-FFF2-40B4-BE49-F238E27FC236}">
                <a16:creationId xmlns:a16="http://schemas.microsoft.com/office/drawing/2014/main" id="{197FE725-52B9-4AFE-A30A-E51893805AD5}"/>
              </a:ext>
            </a:extLst>
          </p:cNvPr>
          <p:cNvSpPr>
            <a:spLocks xmlns:a="http://schemas.openxmlformats.org/drawingml/2006/main" noGrp="1"/>
          </p:cNvSpPr>
          <p:nvPr/>
        </p:nvSpPr>
        <p:spPr>
          <a:xfrm xmlns:a="http://schemas.openxmlformats.org/drawingml/2006/main">
            <a:off x="6381750" y="13906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A85D57"/>
                </a:solidFill>
                <a:latin typeface="Aptos"/>
                <a:ea typeface="Aptos"/>
                <a:cs typeface="Aptos"/>
              </a:defRPr>
            </a:pPr>
            <a:r>
              <a:rPr sz="975" b="1">
                <a:solidFill>
                  <a:srgbClr val="A85D57"/>
                </a:solidFill>
                <a:latin typeface="Aptos"/>
                <a:ea typeface="Aptos"/>
                <a:cs typeface="Aptos"/>
              </a:rPr>
              <a:t>CONTROLLED POSITIVE CVE</a:t>
            </a:r>
          </a:p>
        </p:txBody>
      </p:sp>
      <p:sp>
        <p:nvSpPr>
          <p:cNvPr id="9" name="">
            <a:extLst xmlns:a="http://schemas.openxmlformats.org/drawingml/2006/main">
              <a:ext uri="{FF2B5EF4-FFF2-40B4-BE49-F238E27FC236}">
                <a16:creationId xmlns:a16="http://schemas.microsoft.com/office/drawing/2014/main" id="{75029805-49F5-473A-8697-541BD97E3D4E}"/>
              </a:ext>
            </a:extLst>
          </p:cNvPr>
          <p:cNvSpPr>
            <a:spLocks xmlns:a="http://schemas.openxmlformats.org/drawingml/2006/main" noGrp="1"/>
          </p:cNvSpPr>
          <p:nvPr/>
        </p:nvSpPr>
        <p:spPr>
          <a:xfrm xmlns:a="http://schemas.openxmlformats.org/drawingml/2006/main">
            <a:off x="685800" y="1676400"/>
            <a:ext cx="514350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8eb2d7efa484bf4"/>
          <a:stretch xmlns:a="http://schemas.openxmlformats.org/drawingml/2006/main"/>
        </p:blipFill>
        <p:spPr>
          <a:xfrm xmlns:a="http://schemas.openxmlformats.org/drawingml/2006/main">
            <a:off x="1117854" y="1752600"/>
            <a:ext cx="4279392" cy="2971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958EE6B-3EC6-4E7F-A39E-115312F498E3}"/>
              </a:ext>
            </a:extLst>
          </p:cNvPr>
          <p:cNvSpPr>
            <a:spLocks xmlns:a="http://schemas.openxmlformats.org/drawingml/2006/main" noGrp="1"/>
          </p:cNvSpPr>
          <p:nvPr/>
        </p:nvSpPr>
        <p:spPr>
          <a:xfrm xmlns:a="http://schemas.openxmlformats.org/drawingml/2006/main">
            <a:off x="6381750" y="1676400"/>
            <a:ext cx="51244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215dffb38c042d7"/>
          <a:stretch xmlns:a="http://schemas.openxmlformats.org/drawingml/2006/main"/>
        </p:blipFill>
        <p:spPr>
          <a:xfrm xmlns:a="http://schemas.openxmlformats.org/drawingml/2006/main">
            <a:off x="6804279" y="1752600"/>
            <a:ext cx="4279392" cy="2971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D05972F-9FD1-49E4-B998-9DD86EB62541}"/>
              </a:ext>
            </a:extLst>
          </p:cNvPr>
          <p:cNvSpPr>
            <a:spLocks xmlns:a="http://schemas.openxmlformats.org/drawingml/2006/main" noGrp="1"/>
          </p:cNvSpPr>
          <p:nvPr/>
        </p:nvSpPr>
        <p:spPr>
          <a:xfrm xmlns:a="http://schemas.openxmlformats.org/drawingml/2006/main">
            <a:off x="914400" y="4991100"/>
            <a:ext cx="4476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2F5F7E"/>
            </a:solidFill>
            <a:prstDash val="solid"/>
          </a:ln>
        </p:spPr>
      </p:sp>
      <p:sp>
        <p:nvSpPr>
          <p:cNvPr id="14" name="">
            <a:extLst xmlns:a="http://schemas.openxmlformats.org/drawingml/2006/main">
              <a:ext uri="{FF2B5EF4-FFF2-40B4-BE49-F238E27FC236}">
                <a16:creationId xmlns:a16="http://schemas.microsoft.com/office/drawing/2014/main" id="{AFEE3BEB-D013-4B95-8A50-CD027985E501}"/>
              </a:ext>
            </a:extLst>
          </p:cNvPr>
          <p:cNvSpPr>
            <a:spLocks xmlns:a="http://schemas.openxmlformats.org/drawingml/2006/main" noGrp="1"/>
          </p:cNvSpPr>
          <p:nvPr/>
        </p:nvSpPr>
        <p:spPr>
          <a:xfrm xmlns:a="http://schemas.openxmlformats.org/drawingml/2006/main">
            <a:off x="990600" y="5048250"/>
            <a:ext cx="4324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2F5F7E"/>
                </a:solidFill>
                <a:latin typeface="Aptos"/>
                <a:ea typeface="Aptos"/>
                <a:cs typeface="Aptos"/>
              </a:defRPr>
            </a:pPr>
            <a:r>
              <a:rPr sz="825" b="1">
                <a:solidFill>
                  <a:srgbClr val="2F5F7E"/>
                </a:solidFill>
                <a:latin typeface="Aptos"/>
                <a:ea typeface="Aptos"/>
                <a:cs typeface="Aptos"/>
              </a:rPr>
              <a:t>23 Maven components | OSV 0</a:t>
            </a:r>
          </a:p>
        </p:txBody>
      </p:sp>
      <p:sp>
        <p:nvSpPr>
          <p:cNvPr id="15" name="">
            <a:extLst xmlns:a="http://schemas.openxmlformats.org/drawingml/2006/main">
              <a:ext uri="{FF2B5EF4-FFF2-40B4-BE49-F238E27FC236}">
                <a16:creationId xmlns:a16="http://schemas.microsoft.com/office/drawing/2014/main" id="{9C4166C6-4667-44ED-A19B-F4C93CAD000A}"/>
              </a:ext>
            </a:extLst>
          </p:cNvPr>
          <p:cNvSpPr>
            <a:spLocks xmlns:a="http://schemas.openxmlformats.org/drawingml/2006/main" noGrp="1"/>
          </p:cNvSpPr>
          <p:nvPr/>
        </p:nvSpPr>
        <p:spPr>
          <a:xfrm xmlns:a="http://schemas.openxmlformats.org/drawingml/2006/main">
            <a:off x="6591300" y="4991100"/>
            <a:ext cx="44767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85D57"/>
            </a:solidFill>
            <a:prstDash val="solid"/>
          </a:ln>
        </p:spPr>
      </p:sp>
      <p:sp>
        <p:nvSpPr>
          <p:cNvPr id="16" name="">
            <a:extLst xmlns:a="http://schemas.openxmlformats.org/drawingml/2006/main">
              <a:ext uri="{FF2B5EF4-FFF2-40B4-BE49-F238E27FC236}">
                <a16:creationId xmlns:a16="http://schemas.microsoft.com/office/drawing/2014/main" id="{66D2CDC9-A1C2-4A7D-B0DB-2C0F6076A4EA}"/>
              </a:ext>
            </a:extLst>
          </p:cNvPr>
          <p:cNvSpPr>
            <a:spLocks xmlns:a="http://schemas.openxmlformats.org/drawingml/2006/main" noGrp="1"/>
          </p:cNvSpPr>
          <p:nvPr/>
        </p:nvSpPr>
        <p:spPr>
          <a:xfrm xmlns:a="http://schemas.openxmlformats.org/drawingml/2006/main">
            <a:off x="6667500" y="5048250"/>
            <a:ext cx="4324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85D57"/>
                </a:solidFill>
                <a:latin typeface="Aptos"/>
                <a:ea typeface="Aptos"/>
                <a:cs typeface="Aptos"/>
              </a:defRPr>
            </a:pPr>
            <a:r>
              <a:rPr sz="825" b="1">
                <a:solidFill>
                  <a:srgbClr val="A85D57"/>
                </a:solidFill>
                <a:latin typeface="Aptos"/>
                <a:ea typeface="Aptos"/>
                <a:cs typeface="Aptos"/>
              </a:rPr>
              <a:t>Jackson Databind 2.9.10.8 | 3 HIGH</a:t>
            </a:r>
          </a:p>
        </p:txBody>
      </p:sp>
      <p:sp>
        <p:nvSpPr>
          <p:cNvPr id="17" name="">
            <a:extLst xmlns:a="http://schemas.openxmlformats.org/drawingml/2006/main">
              <a:ext uri="{FF2B5EF4-FFF2-40B4-BE49-F238E27FC236}">
                <a16:creationId xmlns:a16="http://schemas.microsoft.com/office/drawing/2014/main" id="{DAAB40D6-84B6-42DE-8E1D-E0ACB0BB9B86}"/>
              </a:ext>
            </a:extLst>
          </p:cNvPr>
          <p:cNvSpPr>
            <a:spLocks xmlns:a="http://schemas.openxmlformats.org/drawingml/2006/main" noGrp="1"/>
          </p:cNvSpPr>
          <p:nvPr/>
        </p:nvSpPr>
        <p:spPr>
          <a:xfrm xmlns:a="http://schemas.openxmlformats.org/drawingml/2006/main">
            <a:off x="6591300" y="5448300"/>
            <a:ext cx="138112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85D57"/>
            </a:solidFill>
            <a:prstDash val="solid"/>
          </a:ln>
        </p:spPr>
      </p:sp>
      <p:sp>
        <p:nvSpPr>
          <p:cNvPr id="18" name="">
            <a:extLst xmlns:a="http://schemas.openxmlformats.org/drawingml/2006/main">
              <a:ext uri="{FF2B5EF4-FFF2-40B4-BE49-F238E27FC236}">
                <a16:creationId xmlns:a16="http://schemas.microsoft.com/office/drawing/2014/main" id="{8401B787-4BC8-478C-A002-34D8E8887D19}"/>
              </a:ext>
            </a:extLst>
          </p:cNvPr>
          <p:cNvSpPr>
            <a:spLocks xmlns:a="http://schemas.openxmlformats.org/drawingml/2006/main" noGrp="1"/>
          </p:cNvSpPr>
          <p:nvPr/>
        </p:nvSpPr>
        <p:spPr>
          <a:xfrm xmlns:a="http://schemas.openxmlformats.org/drawingml/2006/main">
            <a:off x="6667500" y="5505450"/>
            <a:ext cx="12287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85D57"/>
                </a:solidFill>
                <a:latin typeface="Aptos"/>
                <a:ea typeface="Aptos"/>
                <a:cs typeface="Aptos"/>
              </a:defRPr>
            </a:pPr>
            <a:r>
              <a:rPr sz="825" b="1">
                <a:solidFill>
                  <a:srgbClr val="A85D57"/>
                </a:solidFill>
                <a:latin typeface="Aptos"/>
                <a:ea typeface="Aptos"/>
                <a:cs typeface="Aptos"/>
              </a:rPr>
              <a:t>CVE-2020-36518</a:t>
            </a:r>
          </a:p>
        </p:txBody>
      </p:sp>
      <p:sp>
        <p:nvSpPr>
          <p:cNvPr id="19" name="">
            <a:extLst xmlns:a="http://schemas.openxmlformats.org/drawingml/2006/main">
              <a:ext uri="{FF2B5EF4-FFF2-40B4-BE49-F238E27FC236}">
                <a16:creationId xmlns:a16="http://schemas.microsoft.com/office/drawing/2014/main" id="{31456324-B388-48B2-96E9-70D02370E0C3}"/>
              </a:ext>
            </a:extLst>
          </p:cNvPr>
          <p:cNvSpPr>
            <a:spLocks xmlns:a="http://schemas.openxmlformats.org/drawingml/2006/main" noGrp="1"/>
          </p:cNvSpPr>
          <p:nvPr/>
        </p:nvSpPr>
        <p:spPr>
          <a:xfrm xmlns:a="http://schemas.openxmlformats.org/drawingml/2006/main">
            <a:off x="8115300" y="5448300"/>
            <a:ext cx="138112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85D57"/>
            </a:solidFill>
            <a:prstDash val="solid"/>
          </a:ln>
        </p:spPr>
      </p:sp>
      <p:sp>
        <p:nvSpPr>
          <p:cNvPr id="20" name="">
            <a:extLst xmlns:a="http://schemas.openxmlformats.org/drawingml/2006/main">
              <a:ext uri="{FF2B5EF4-FFF2-40B4-BE49-F238E27FC236}">
                <a16:creationId xmlns:a16="http://schemas.microsoft.com/office/drawing/2014/main" id="{01820A25-8193-4F94-ABED-225C118FCB25}"/>
              </a:ext>
            </a:extLst>
          </p:cNvPr>
          <p:cNvSpPr>
            <a:spLocks xmlns:a="http://schemas.openxmlformats.org/drawingml/2006/main" noGrp="1"/>
          </p:cNvSpPr>
          <p:nvPr/>
        </p:nvSpPr>
        <p:spPr>
          <a:xfrm xmlns:a="http://schemas.openxmlformats.org/drawingml/2006/main">
            <a:off x="8191500" y="5505450"/>
            <a:ext cx="12287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85D57"/>
                </a:solidFill>
                <a:latin typeface="Aptos"/>
                <a:ea typeface="Aptos"/>
                <a:cs typeface="Aptos"/>
              </a:defRPr>
            </a:pPr>
            <a:r>
              <a:rPr sz="825" b="1">
                <a:solidFill>
                  <a:srgbClr val="A85D57"/>
                </a:solidFill>
                <a:latin typeface="Aptos"/>
                <a:ea typeface="Aptos"/>
                <a:cs typeface="Aptos"/>
              </a:rPr>
              <a:t>CVE-2022-42003</a:t>
            </a:r>
          </a:p>
        </p:txBody>
      </p:sp>
      <p:sp>
        <p:nvSpPr>
          <p:cNvPr id="21" name="">
            <a:extLst xmlns:a="http://schemas.openxmlformats.org/drawingml/2006/main">
              <a:ext uri="{FF2B5EF4-FFF2-40B4-BE49-F238E27FC236}">
                <a16:creationId xmlns:a16="http://schemas.microsoft.com/office/drawing/2014/main" id="{04D5CE89-A68F-4CB2-88A9-C63E2F926755}"/>
              </a:ext>
            </a:extLst>
          </p:cNvPr>
          <p:cNvSpPr>
            <a:spLocks xmlns:a="http://schemas.openxmlformats.org/drawingml/2006/main" noGrp="1"/>
          </p:cNvSpPr>
          <p:nvPr/>
        </p:nvSpPr>
        <p:spPr>
          <a:xfrm xmlns:a="http://schemas.openxmlformats.org/drawingml/2006/main">
            <a:off x="9639300" y="5448300"/>
            <a:ext cx="138112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A85D57"/>
            </a:solidFill>
            <a:prstDash val="solid"/>
          </a:ln>
        </p:spPr>
      </p:sp>
      <p:sp>
        <p:nvSpPr>
          <p:cNvPr id="22" name="">
            <a:extLst xmlns:a="http://schemas.openxmlformats.org/drawingml/2006/main">
              <a:ext uri="{FF2B5EF4-FFF2-40B4-BE49-F238E27FC236}">
                <a16:creationId xmlns:a16="http://schemas.microsoft.com/office/drawing/2014/main" id="{D9CEB35E-D75D-4425-A222-0079C76AADEC}"/>
              </a:ext>
            </a:extLst>
          </p:cNvPr>
          <p:cNvSpPr>
            <a:spLocks xmlns:a="http://schemas.openxmlformats.org/drawingml/2006/main" noGrp="1"/>
          </p:cNvSpPr>
          <p:nvPr/>
        </p:nvSpPr>
        <p:spPr>
          <a:xfrm xmlns:a="http://schemas.openxmlformats.org/drawingml/2006/main">
            <a:off x="9715500" y="5505450"/>
            <a:ext cx="12287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825" b="1">
                <a:solidFill>
                  <a:srgbClr val="A85D57"/>
                </a:solidFill>
                <a:latin typeface="Aptos"/>
                <a:ea typeface="Aptos"/>
                <a:cs typeface="Aptos"/>
              </a:defRPr>
            </a:pPr>
            <a:r>
              <a:rPr sz="825" b="1">
                <a:solidFill>
                  <a:srgbClr val="A85D57"/>
                </a:solidFill>
                <a:latin typeface="Aptos"/>
                <a:ea typeface="Aptos"/>
                <a:cs typeface="Aptos"/>
              </a:rPr>
              <a:t>CVE-2022-42004</a:t>
            </a:r>
          </a:p>
        </p:txBody>
      </p:sp>
      <p:sp>
        <p:nvSpPr>
          <p:cNvPr id="23" name="">
            <a:extLst xmlns:a="http://schemas.openxmlformats.org/drawingml/2006/main">
              <a:ext uri="{FF2B5EF4-FFF2-40B4-BE49-F238E27FC236}">
                <a16:creationId xmlns:a16="http://schemas.microsoft.com/office/drawing/2014/main" id="{BB69379E-F849-41AE-9E16-FB28970D095B}"/>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766951026"/>
      </p:ext>
    </p:extLst>
  </p:cSld>
</p:sld>
</file>

<file path=ppt/slides/slide5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715896-99D0-4D47-9267-FAD44898FBE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436FC4-DB27-4AC5-BC7A-EF1AD3AEB81F}"/>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A85D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C285C95-C2C8-4243-A0C8-ABE45B859F2D}"/>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A85D57"/>
                </a:solidFill>
                <a:latin typeface="Aptos"/>
                <a:ea typeface="Aptos"/>
                <a:cs typeface="Aptos"/>
              </a:defRPr>
            </a:pPr>
            <a:r>
              <a:rPr sz="900" b="1">
                <a:solidFill>
                  <a:srgbClr val="A85D57"/>
                </a:solidFill>
                <a:latin typeface="Aptos"/>
                <a:ea typeface="Aptos"/>
                <a:cs typeface="Aptos"/>
              </a:rPr>
              <a:t>DEMONSTRATION</a:t>
            </a:r>
          </a:p>
        </p:txBody>
      </p:sp>
      <p:sp>
        <p:nvSpPr>
          <p:cNvPr id="4" name="">
            <a:extLst xmlns:a="http://schemas.openxmlformats.org/drawingml/2006/main">
              <a:ext uri="{FF2B5EF4-FFF2-40B4-BE49-F238E27FC236}">
                <a16:creationId xmlns:a16="http://schemas.microsoft.com/office/drawing/2014/main" id="{7F9F044F-0B87-4B53-A32D-8ACF6697759C}"/>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58</a:t>
            </a:r>
          </a:p>
        </p:txBody>
      </p:sp>
      <p:sp>
        <p:nvSpPr>
          <p:cNvPr id="5" name="">
            <a:extLst xmlns:a="http://schemas.openxmlformats.org/drawingml/2006/main">
              <a:ext uri="{FF2B5EF4-FFF2-40B4-BE49-F238E27FC236}">
                <a16:creationId xmlns:a16="http://schemas.microsoft.com/office/drawing/2014/main" id="{AB98401A-3419-48C7-AF79-27173257A381}"/>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Full report pages and AI screenshots show output integrity</a:t>
            </a:r>
          </a:p>
        </p:txBody>
      </p:sp>
      <p:sp>
        <p:nvSpPr>
          <p:cNvPr id="6" name="">
            <a:extLst xmlns:a="http://schemas.openxmlformats.org/drawingml/2006/main">
              <a:ext uri="{FF2B5EF4-FFF2-40B4-BE49-F238E27FC236}">
                <a16:creationId xmlns:a16="http://schemas.microsoft.com/office/drawing/2014/main" id="{B5B3F5F4-D7B6-4EAF-B707-9101BE97DD41}"/>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1C1EB2B-E25D-4B80-AD7E-CB39CD6B9504}"/>
              </a:ext>
            </a:extLst>
          </p:cNvPr>
          <p:cNvSpPr>
            <a:spLocks xmlns:a="http://schemas.openxmlformats.org/drawingml/2006/main" noGrp="1"/>
          </p:cNvSpPr>
          <p:nvPr/>
        </p:nvSpPr>
        <p:spPr>
          <a:xfrm xmlns:a="http://schemas.openxmlformats.org/drawingml/2006/main">
            <a:off x="742950" y="14668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c8605d620f3483d"/>
          <a:stretch xmlns:a="http://schemas.openxmlformats.org/drawingml/2006/main"/>
        </p:blipFill>
        <p:spPr>
          <a:xfrm xmlns:a="http://schemas.openxmlformats.org/drawingml/2006/main">
            <a:off x="1638300" y="1504950"/>
            <a:ext cx="1447800" cy="10858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D515C1B-0A04-444C-B8DB-2D3C7EA0DCEF}"/>
              </a:ext>
            </a:extLst>
          </p:cNvPr>
          <p:cNvSpPr>
            <a:spLocks xmlns:a="http://schemas.openxmlformats.org/drawingml/2006/main" noGrp="1"/>
          </p:cNvSpPr>
          <p:nvPr/>
        </p:nvSpPr>
        <p:spPr>
          <a:xfrm xmlns:a="http://schemas.openxmlformats.org/drawingml/2006/main">
            <a:off x="4381500" y="14668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454db8e28ec244a2"/>
          <a:stretch xmlns:a="http://schemas.openxmlformats.org/drawingml/2006/main"/>
        </p:blipFill>
        <p:spPr>
          <a:xfrm xmlns:a="http://schemas.openxmlformats.org/drawingml/2006/main">
            <a:off x="5276850" y="1504950"/>
            <a:ext cx="1447800" cy="10858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C530D20-D646-4E50-8182-A4B508AE804F}"/>
              </a:ext>
            </a:extLst>
          </p:cNvPr>
          <p:cNvSpPr>
            <a:spLocks xmlns:a="http://schemas.openxmlformats.org/drawingml/2006/main" noGrp="1"/>
          </p:cNvSpPr>
          <p:nvPr/>
        </p:nvSpPr>
        <p:spPr>
          <a:xfrm xmlns:a="http://schemas.openxmlformats.org/drawingml/2006/main">
            <a:off x="8020050" y="14668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4511061bd1e47b6"/>
          <a:stretch xmlns:a="http://schemas.openxmlformats.org/drawingml/2006/main"/>
        </p:blipFill>
        <p:spPr>
          <a:xfrm xmlns:a="http://schemas.openxmlformats.org/drawingml/2006/main">
            <a:off x="8915400" y="1504950"/>
            <a:ext cx="1447800" cy="10858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5711D12-1B9D-481D-A376-D56EB78591F7}"/>
              </a:ext>
            </a:extLst>
          </p:cNvPr>
          <p:cNvSpPr>
            <a:spLocks xmlns:a="http://schemas.openxmlformats.org/drawingml/2006/main" noGrp="1"/>
          </p:cNvSpPr>
          <p:nvPr/>
        </p:nvSpPr>
        <p:spPr>
          <a:xfrm xmlns:a="http://schemas.openxmlformats.org/drawingml/2006/main">
            <a:off x="742950" y="285750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64b67fe5eb4d4d04"/>
          <a:stretch xmlns:a="http://schemas.openxmlformats.org/drawingml/2006/main"/>
        </p:blipFill>
        <p:spPr>
          <a:xfrm xmlns:a="http://schemas.openxmlformats.org/drawingml/2006/main">
            <a:off x="1638300" y="2895600"/>
            <a:ext cx="1447800" cy="10858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99B9313-6F6E-48EA-B3AC-4D7911CF42F5}"/>
              </a:ext>
            </a:extLst>
          </p:cNvPr>
          <p:cNvSpPr>
            <a:spLocks xmlns:a="http://schemas.openxmlformats.org/drawingml/2006/main" noGrp="1"/>
          </p:cNvSpPr>
          <p:nvPr/>
        </p:nvSpPr>
        <p:spPr>
          <a:xfrm xmlns:a="http://schemas.openxmlformats.org/drawingml/2006/main">
            <a:off x="4381500" y="285750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916ceb19e0c47c8"/>
          <a:stretch xmlns:a="http://schemas.openxmlformats.org/drawingml/2006/main"/>
        </p:blipFill>
        <p:spPr>
          <a:xfrm xmlns:a="http://schemas.openxmlformats.org/drawingml/2006/main">
            <a:off x="5276850" y="2895600"/>
            <a:ext cx="1447800" cy="10858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6F7AEAF-F4F6-4586-A77B-9DF9A406060E}"/>
              </a:ext>
            </a:extLst>
          </p:cNvPr>
          <p:cNvSpPr>
            <a:spLocks xmlns:a="http://schemas.openxmlformats.org/drawingml/2006/main" noGrp="1"/>
          </p:cNvSpPr>
          <p:nvPr/>
        </p:nvSpPr>
        <p:spPr>
          <a:xfrm xmlns:a="http://schemas.openxmlformats.org/drawingml/2006/main">
            <a:off x="8020050" y="285750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bc6db5387b6b4231"/>
          <a:stretch xmlns:a="http://schemas.openxmlformats.org/drawingml/2006/main"/>
        </p:blipFill>
        <p:spPr>
          <a:xfrm xmlns:a="http://schemas.openxmlformats.org/drawingml/2006/main">
            <a:off x="8915400" y="2895600"/>
            <a:ext cx="1447800" cy="10858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52878BB9-4ED5-4D3A-B5E4-54D9A3F37026}"/>
              </a:ext>
            </a:extLst>
          </p:cNvPr>
          <p:cNvSpPr>
            <a:spLocks xmlns:a="http://schemas.openxmlformats.org/drawingml/2006/main" noGrp="1"/>
          </p:cNvSpPr>
          <p:nvPr/>
        </p:nvSpPr>
        <p:spPr>
          <a:xfrm xmlns:a="http://schemas.openxmlformats.org/drawingml/2006/main">
            <a:off x="742950" y="42481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8103f9c53a042ad"/>
          <a:stretch xmlns:a="http://schemas.openxmlformats.org/drawingml/2006/main"/>
        </p:blipFill>
        <p:spPr>
          <a:xfrm xmlns:a="http://schemas.openxmlformats.org/drawingml/2006/main">
            <a:off x="1638300" y="4286250"/>
            <a:ext cx="1447800" cy="10858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422DC68-8359-45AF-AC31-F72A47FD1404}"/>
              </a:ext>
            </a:extLst>
          </p:cNvPr>
          <p:cNvSpPr>
            <a:spLocks xmlns:a="http://schemas.openxmlformats.org/drawingml/2006/main" noGrp="1"/>
          </p:cNvSpPr>
          <p:nvPr/>
        </p:nvSpPr>
        <p:spPr>
          <a:xfrm xmlns:a="http://schemas.openxmlformats.org/drawingml/2006/main">
            <a:off x="4381500" y="42481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41588ad06a844700"/>
          <a:stretch xmlns:a="http://schemas.openxmlformats.org/drawingml/2006/main"/>
        </p:blipFill>
        <p:spPr>
          <a:xfrm xmlns:a="http://schemas.openxmlformats.org/drawingml/2006/main">
            <a:off x="5276850" y="4286250"/>
            <a:ext cx="1447800" cy="10858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57CAED5-1B9E-4206-836D-2388F28FD766}"/>
              </a:ext>
            </a:extLst>
          </p:cNvPr>
          <p:cNvSpPr>
            <a:spLocks xmlns:a="http://schemas.openxmlformats.org/drawingml/2006/main" noGrp="1"/>
          </p:cNvSpPr>
          <p:nvPr/>
        </p:nvSpPr>
        <p:spPr>
          <a:xfrm xmlns:a="http://schemas.openxmlformats.org/drawingml/2006/main">
            <a:off x="8020050" y="4248150"/>
            <a:ext cx="3238500" cy="1162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efaed2ec3ae84111"/>
          <a:stretch xmlns:a="http://schemas.openxmlformats.org/drawingml/2006/main"/>
        </p:blipFill>
        <p:spPr>
          <a:xfrm xmlns:a="http://schemas.openxmlformats.org/drawingml/2006/main">
            <a:off x="8857488" y="4286250"/>
            <a:ext cx="1563624" cy="10858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42D69233-D8E4-48B9-AC14-4C1573D9FD00}"/>
              </a:ext>
            </a:extLst>
          </p:cNvPr>
          <p:cNvSpPr>
            <a:spLocks xmlns:a="http://schemas.openxmlformats.org/drawingml/2006/main" noGrp="1"/>
          </p:cNvSpPr>
          <p:nvPr/>
        </p:nvSpPr>
        <p:spPr>
          <a:xfrm xmlns:a="http://schemas.openxmlformats.org/drawingml/2006/main">
            <a:off x="1066800" y="5753100"/>
            <a:ext cx="10058400" cy="381000"/>
          </a:xfrm>
          <a:prstGeom xmlns:a="http://schemas.openxmlformats.org/drawingml/2006/main" prst="rect">
            <a:avLst/>
          </a:prstGeom>
          <a:solidFill xmlns:a="http://schemas.openxmlformats.org/drawingml/2006/main">
            <a:srgbClr val="F6EDEA"/>
          </a:solidFill>
          <a:ln xmlns:a="http://schemas.openxmlformats.org/drawingml/2006/main" w="9525">
            <a:solidFill>
              <a:srgbClr val="A85D57"/>
            </a:solidFill>
            <a:prstDash val="solid"/>
          </a:ln>
        </p:spPr>
      </p:sp>
      <p:sp>
        <p:nvSpPr>
          <p:cNvPr id="26" name="">
            <a:extLst xmlns:a="http://schemas.openxmlformats.org/drawingml/2006/main">
              <a:ext uri="{FF2B5EF4-FFF2-40B4-BE49-F238E27FC236}">
                <a16:creationId xmlns:a16="http://schemas.microsoft.com/office/drawing/2014/main" id="{F4198F23-F647-404E-9F52-7F4EAC209FFB}"/>
              </a:ext>
            </a:extLst>
          </p:cNvPr>
          <p:cNvSpPr>
            <a:spLocks xmlns:a="http://schemas.openxmlformats.org/drawingml/2006/main" noGrp="1"/>
          </p:cNvSpPr>
          <p:nvPr/>
        </p:nvSpPr>
        <p:spPr>
          <a:xfrm xmlns:a="http://schemas.openxmlformats.org/drawingml/2006/main">
            <a:off x="1276350" y="5867400"/>
            <a:ext cx="9639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1">
                <a:solidFill>
                  <a:srgbClr val="17212B"/>
                </a:solidFill>
                <a:latin typeface="Aptos"/>
                <a:ea typeface="Aptos"/>
                <a:cs typeface="Aptos"/>
              </a:defRPr>
            </a:pPr>
            <a:r>
              <a:rPr sz="1050" b="1">
                <a:solidFill>
                  <a:srgbClr val="17212B"/>
                </a:solidFill>
                <a:latin typeface="Aptos"/>
                <a:ea typeface="Aptos"/>
                <a:cs typeface="Aptos"/>
              </a:rPr>
              <a:t>The screenshots prove implemented output surfaces. They do not claim perfect APK coverage.</a:t>
            </a:r>
          </a:p>
        </p:txBody>
      </p:sp>
      <p:sp>
        <p:nvSpPr>
          <p:cNvPr id="27" name="">
            <a:extLst xmlns:a="http://schemas.openxmlformats.org/drawingml/2006/main">
              <a:ext uri="{FF2B5EF4-FFF2-40B4-BE49-F238E27FC236}">
                <a16:creationId xmlns:a16="http://schemas.microsoft.com/office/drawing/2014/main" id="{9FCB5C68-0093-44BB-B32C-91BA7D86C894}"/>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368784324"/>
      </p:ext>
    </p:extLst>
  </p:cSld>
</p:sld>
</file>

<file path=ppt/slides/slide5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CDA70B-D109-4257-9A64-D9B9C27E59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1BCB60-4894-4D2B-A3C5-6AA9FEB1B778}"/>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C734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F8AD8B-CC38-4921-BF8A-3CBD19F74F5E}"/>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C7346"/>
                </a:solidFill>
                <a:latin typeface="Aptos"/>
                <a:ea typeface="Aptos"/>
                <a:cs typeface="Aptos"/>
              </a:defRPr>
            </a:pPr>
            <a:r>
              <a:rPr sz="900" b="1">
                <a:solidFill>
                  <a:srgbClr val="8C7346"/>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7B168409-8F68-4886-933A-19379D9FAD14}"/>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59</a:t>
            </a:r>
          </a:p>
        </p:txBody>
      </p:sp>
      <p:sp>
        <p:nvSpPr>
          <p:cNvPr id="5" name="">
            <a:extLst xmlns:a="http://schemas.openxmlformats.org/drawingml/2006/main">
              <a:ext uri="{FF2B5EF4-FFF2-40B4-BE49-F238E27FC236}">
                <a16:creationId xmlns:a16="http://schemas.microsoft.com/office/drawing/2014/main" id="{AE18C7AD-9BBA-46DC-9D57-E288CFC640B3}"/>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The main result is bounded, auditable recovery</a:t>
            </a:r>
          </a:p>
        </p:txBody>
      </p:sp>
      <p:sp>
        <p:nvSpPr>
          <p:cNvPr id="6" name="">
            <a:extLst xmlns:a="http://schemas.openxmlformats.org/drawingml/2006/main">
              <a:ext uri="{FF2B5EF4-FFF2-40B4-BE49-F238E27FC236}">
                <a16:creationId xmlns:a16="http://schemas.microsoft.com/office/drawing/2014/main" id="{25B4FA5D-35E7-40C6-848C-1DF3A2E3292C}"/>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0CB599-A4ED-4865-945D-ED0F6FF94433}"/>
              </a:ext>
            </a:extLst>
          </p:cNvPr>
          <p:cNvSpPr>
            <a:spLocks xmlns:a="http://schemas.openxmlformats.org/drawingml/2006/main" noGrp="1"/>
          </p:cNvSpPr>
          <p:nvPr/>
        </p:nvSpPr>
        <p:spPr>
          <a:xfrm xmlns:a="http://schemas.openxmlformats.org/drawingml/2006/main">
            <a:off x="1066800" y="1809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64785E"/>
                </a:solidFill>
                <a:latin typeface="Aptos Display"/>
                <a:ea typeface="Aptos Display"/>
                <a:cs typeface="Aptos Display"/>
              </a:defRPr>
            </a:pPr>
            <a:r>
              <a:rPr sz="2700" b="1">
                <a:solidFill>
                  <a:srgbClr val="64785E"/>
                </a:solidFill>
                <a:latin typeface="Aptos Display"/>
                <a:ea typeface="Aptos Display"/>
                <a:cs typeface="Aptos Display"/>
              </a:rPr>
              <a:t>84 / 84</a:t>
            </a:r>
          </a:p>
        </p:txBody>
      </p:sp>
      <p:sp>
        <p:nvSpPr>
          <p:cNvPr id="8" name="">
            <a:extLst xmlns:a="http://schemas.openxmlformats.org/drawingml/2006/main">
              <a:ext uri="{FF2B5EF4-FFF2-40B4-BE49-F238E27FC236}">
                <a16:creationId xmlns:a16="http://schemas.microsoft.com/office/drawing/2014/main" id="{A3211D67-5D76-448F-8559-677DCCEADCE1}"/>
              </a:ext>
            </a:extLst>
          </p:cNvPr>
          <p:cNvSpPr>
            <a:spLocks xmlns:a="http://schemas.openxmlformats.org/drawingml/2006/main" noGrp="1"/>
          </p:cNvSpPr>
          <p:nvPr/>
        </p:nvSpPr>
        <p:spPr>
          <a:xfrm xmlns:a="http://schemas.openxmlformats.org/drawingml/2006/main">
            <a:off x="1066800" y="2286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controlled expected versions</a:t>
            </a:r>
          </a:p>
        </p:txBody>
      </p:sp>
      <p:sp>
        <p:nvSpPr>
          <p:cNvPr id="9" name="">
            <a:extLst xmlns:a="http://schemas.openxmlformats.org/drawingml/2006/main">
              <a:ext uri="{FF2B5EF4-FFF2-40B4-BE49-F238E27FC236}">
                <a16:creationId xmlns:a16="http://schemas.microsoft.com/office/drawing/2014/main" id="{E966F202-EAC8-4EA6-A98F-88D80D73E5DA}"/>
              </a:ext>
            </a:extLst>
          </p:cNvPr>
          <p:cNvSpPr>
            <a:spLocks xmlns:a="http://schemas.openxmlformats.org/drawingml/2006/main" noGrp="1"/>
          </p:cNvSpPr>
          <p:nvPr/>
        </p:nvSpPr>
        <p:spPr>
          <a:xfrm xmlns:a="http://schemas.openxmlformats.org/drawingml/2006/main">
            <a:off x="4495800" y="1809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2F5F7E"/>
                </a:solidFill>
                <a:latin typeface="Aptos Display"/>
                <a:ea typeface="Aptos Display"/>
                <a:cs typeface="Aptos Display"/>
              </a:defRPr>
            </a:pPr>
            <a:r>
              <a:rPr sz="2700" b="1">
                <a:solidFill>
                  <a:srgbClr val="2F5F7E"/>
                </a:solidFill>
                <a:latin typeface="Aptos Display"/>
                <a:ea typeface="Aptos Display"/>
                <a:cs typeface="Aptos Display"/>
              </a:rPr>
              <a:t>927 / 1837</a:t>
            </a:r>
          </a:p>
        </p:txBody>
      </p:sp>
      <p:sp>
        <p:nvSpPr>
          <p:cNvPr id="10" name="">
            <a:extLst xmlns:a="http://schemas.openxmlformats.org/drawingml/2006/main">
              <a:ext uri="{FF2B5EF4-FFF2-40B4-BE49-F238E27FC236}">
                <a16:creationId xmlns:a16="http://schemas.microsoft.com/office/drawing/2014/main" id="{5C615AE2-6752-441C-8782-A970C594F224}"/>
              </a:ext>
            </a:extLst>
          </p:cNvPr>
          <p:cNvSpPr>
            <a:spLocks xmlns:a="http://schemas.openxmlformats.org/drawingml/2006/main" noGrp="1"/>
          </p:cNvSpPr>
          <p:nvPr/>
        </p:nvSpPr>
        <p:spPr>
          <a:xfrm xmlns:a="http://schemas.openxmlformats.org/drawingml/2006/main">
            <a:off x="4495800" y="2286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source-validated emitted Maven versions</a:t>
            </a:r>
          </a:p>
        </p:txBody>
      </p:sp>
      <p:sp>
        <p:nvSpPr>
          <p:cNvPr id="11" name="">
            <a:extLst xmlns:a="http://schemas.openxmlformats.org/drawingml/2006/main">
              <a:ext uri="{FF2B5EF4-FFF2-40B4-BE49-F238E27FC236}">
                <a16:creationId xmlns:a16="http://schemas.microsoft.com/office/drawing/2014/main" id="{3EE43A49-B824-4575-90C0-5D3C15815334}"/>
              </a:ext>
            </a:extLst>
          </p:cNvPr>
          <p:cNvSpPr>
            <a:spLocks xmlns:a="http://schemas.openxmlformats.org/drawingml/2006/main" noGrp="1"/>
          </p:cNvSpPr>
          <p:nvPr/>
        </p:nvSpPr>
        <p:spPr>
          <a:xfrm xmlns:a="http://schemas.openxmlformats.org/drawingml/2006/main">
            <a:off x="7924800" y="1809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4D817A"/>
                </a:solidFill>
                <a:latin typeface="Aptos Display"/>
                <a:ea typeface="Aptos Display"/>
                <a:cs typeface="Aptos Display"/>
              </a:defRPr>
            </a:pPr>
            <a:r>
              <a:rPr sz="2700" b="1">
                <a:solidFill>
                  <a:srgbClr val="4D817A"/>
                </a:solidFill>
                <a:latin typeface="Aptos Display"/>
                <a:ea typeface="Aptos Display"/>
                <a:cs typeface="Aptos Display"/>
              </a:rPr>
              <a:t>6772 / 6772</a:t>
            </a:r>
          </a:p>
        </p:txBody>
      </p:sp>
      <p:sp>
        <p:nvSpPr>
          <p:cNvPr id="12" name="">
            <a:extLst xmlns:a="http://schemas.openxmlformats.org/drawingml/2006/main">
              <a:ext uri="{FF2B5EF4-FFF2-40B4-BE49-F238E27FC236}">
                <a16:creationId xmlns:a16="http://schemas.microsoft.com/office/drawing/2014/main" id="{582ABD8D-9DFD-4781-8554-5D6E57361C91}"/>
              </a:ext>
            </a:extLst>
          </p:cNvPr>
          <p:cNvSpPr>
            <a:spLocks xmlns:a="http://schemas.openxmlformats.org/drawingml/2006/main" noGrp="1"/>
          </p:cNvSpPr>
          <p:nvPr/>
        </p:nvSpPr>
        <p:spPr>
          <a:xfrm xmlns:a="http://schemas.openxmlformats.org/drawingml/2006/main">
            <a:off x="7924800" y="22860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0">
                <a:solidFill>
                  <a:srgbClr val="5E6B78"/>
                </a:solidFill>
                <a:latin typeface="Aptos"/>
                <a:ea typeface="Aptos"/>
                <a:cs typeface="Aptos"/>
              </a:defRPr>
            </a:pPr>
            <a:r>
              <a:rPr sz="900" b="0">
                <a:solidFill>
                  <a:srgbClr val="5E6B78"/>
                </a:solidFill>
                <a:latin typeface="Aptos"/>
                <a:ea typeface="Aptos"/>
                <a:cs typeface="Aptos"/>
              </a:rPr>
              <a:t>source-known v2 emitted rows</a:t>
            </a:r>
          </a:p>
        </p:txBody>
      </p:sp>
      <p:sp>
        <p:nvSpPr>
          <p:cNvPr id="13" name="">
            <a:extLst xmlns:a="http://schemas.openxmlformats.org/drawingml/2006/main">
              <a:ext uri="{FF2B5EF4-FFF2-40B4-BE49-F238E27FC236}">
                <a16:creationId xmlns:a16="http://schemas.microsoft.com/office/drawing/2014/main" id="{2F586E20-3509-4176-A790-748267F44AF4}"/>
              </a:ext>
            </a:extLst>
          </p:cNvPr>
          <p:cNvSpPr>
            <a:spLocks xmlns:a="http://schemas.openxmlformats.org/drawingml/2006/main" noGrp="1"/>
          </p:cNvSpPr>
          <p:nvPr/>
        </p:nvSpPr>
        <p:spPr>
          <a:xfrm xmlns:a="http://schemas.openxmlformats.org/drawingml/2006/main">
            <a:off x="1066800" y="3333750"/>
            <a:ext cx="962025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64D2C08-BF27-478D-861D-1BCB061BF02B}"/>
              </a:ext>
            </a:extLst>
          </p:cNvPr>
          <p:cNvSpPr>
            <a:spLocks xmlns:a="http://schemas.openxmlformats.org/drawingml/2006/main" noGrp="1"/>
          </p:cNvSpPr>
          <p:nvPr/>
        </p:nvSpPr>
        <p:spPr>
          <a:xfrm xmlns:a="http://schemas.openxmlformats.org/drawingml/2006/main">
            <a:off x="1238250" y="3486150"/>
            <a:ext cx="927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8C7346"/>
                </a:solidFill>
                <a:latin typeface="Aptos"/>
                <a:ea typeface="Aptos"/>
                <a:cs typeface="Aptos"/>
              </a:defRPr>
            </a:pPr>
            <a:r>
              <a:rPr sz="1125" b="1">
                <a:solidFill>
                  <a:srgbClr val="8C7346"/>
                </a:solidFill>
                <a:latin typeface="Aptos"/>
                <a:ea typeface="Aptos"/>
                <a:cs typeface="Aptos"/>
              </a:rPr>
              <a:t>Synthesis</a:t>
            </a:r>
          </a:p>
        </p:txBody>
      </p:sp>
      <p:sp>
        <p:nvSpPr>
          <p:cNvPr id="15" name="">
            <a:extLst xmlns:a="http://schemas.openxmlformats.org/drawingml/2006/main">
              <a:ext uri="{FF2B5EF4-FFF2-40B4-BE49-F238E27FC236}">
                <a16:creationId xmlns:a16="http://schemas.microsoft.com/office/drawing/2014/main" id="{5050320B-79BE-4B31-B336-E254D40EE634}"/>
              </a:ext>
            </a:extLst>
          </p:cNvPr>
          <p:cNvSpPr>
            <a:spLocks xmlns:a="http://schemas.openxmlformats.org/drawingml/2006/main" noGrp="1"/>
          </p:cNvSpPr>
          <p:nvPr/>
        </p:nvSpPr>
        <p:spPr>
          <a:xfrm xmlns:a="http://schemas.openxmlformats.org/drawingml/2006/main">
            <a:off x="1238250" y="39147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A7CAB8-0EFA-4302-918C-BCF94B806CF7}"/>
              </a:ext>
            </a:extLst>
          </p:cNvPr>
          <p:cNvSpPr>
            <a:spLocks xmlns:a="http://schemas.openxmlformats.org/drawingml/2006/main" noGrp="1"/>
          </p:cNvSpPr>
          <p:nvPr/>
        </p:nvSpPr>
        <p:spPr>
          <a:xfrm xmlns:a="http://schemas.openxmlformats.org/drawingml/2006/main">
            <a:off x="1409700" y="384810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Master thesis defines trustworthy APK-derived SBOM claims.</a:t>
            </a:r>
          </a:p>
        </p:txBody>
      </p:sp>
      <p:sp>
        <p:nvSpPr>
          <p:cNvPr id="17" name="">
            <a:extLst xmlns:a="http://schemas.openxmlformats.org/drawingml/2006/main">
              <a:ext uri="{FF2B5EF4-FFF2-40B4-BE49-F238E27FC236}">
                <a16:creationId xmlns:a16="http://schemas.microsoft.com/office/drawing/2014/main" id="{8AF2A388-2A0E-450E-A606-01B6BDA0B18B}"/>
              </a:ext>
            </a:extLst>
          </p:cNvPr>
          <p:cNvSpPr>
            <a:spLocks xmlns:a="http://schemas.openxmlformats.org/drawingml/2006/main" noGrp="1"/>
          </p:cNvSpPr>
          <p:nvPr/>
        </p:nvSpPr>
        <p:spPr>
          <a:xfrm xmlns:a="http://schemas.openxmlformats.org/drawingml/2006/main">
            <a:off x="1238250" y="43148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1526A4-7F73-4248-A61B-D1112C0C95A8}"/>
              </a:ext>
            </a:extLst>
          </p:cNvPr>
          <p:cNvSpPr>
            <a:spLocks xmlns:a="http://schemas.openxmlformats.org/drawingml/2006/main" noGrp="1"/>
          </p:cNvSpPr>
          <p:nvPr/>
        </p:nvSpPr>
        <p:spPr>
          <a:xfrm xmlns:a="http://schemas.openxmlformats.org/drawingml/2006/main">
            <a:off x="1409700" y="424815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Engineering thesis implements an evidence-gated APK-to-SBOM pipeline.</a:t>
            </a:r>
          </a:p>
        </p:txBody>
      </p:sp>
      <p:sp>
        <p:nvSpPr>
          <p:cNvPr id="19" name="">
            <a:extLst xmlns:a="http://schemas.openxmlformats.org/drawingml/2006/main">
              <a:ext uri="{FF2B5EF4-FFF2-40B4-BE49-F238E27FC236}">
                <a16:creationId xmlns:a16="http://schemas.microsoft.com/office/drawing/2014/main" id="{00BECEB9-7E2F-4685-A506-74BA0C8CA96D}"/>
              </a:ext>
            </a:extLst>
          </p:cNvPr>
          <p:cNvSpPr>
            <a:spLocks xmlns:a="http://schemas.openxmlformats.org/drawingml/2006/main" noGrp="1"/>
          </p:cNvSpPr>
          <p:nvPr/>
        </p:nvSpPr>
        <p:spPr>
          <a:xfrm xmlns:a="http://schemas.openxmlformats.org/drawingml/2006/main">
            <a:off x="1238250" y="47148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6E13A8B-838A-4D56-8EB7-B2F155070E8C}"/>
              </a:ext>
            </a:extLst>
          </p:cNvPr>
          <p:cNvSpPr>
            <a:spLocks xmlns:a="http://schemas.openxmlformats.org/drawingml/2006/main" noGrp="1"/>
          </p:cNvSpPr>
          <p:nvPr/>
        </p:nvSpPr>
        <p:spPr>
          <a:xfrm xmlns:a="http://schemas.openxmlformats.org/drawingml/2006/main">
            <a:off x="1409700" y="464820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Controlled fixtures confirm 84 of 84 expected versions.</a:t>
            </a:r>
          </a:p>
        </p:txBody>
      </p:sp>
      <p:sp>
        <p:nvSpPr>
          <p:cNvPr id="21" name="">
            <a:extLst xmlns:a="http://schemas.openxmlformats.org/drawingml/2006/main">
              <a:ext uri="{FF2B5EF4-FFF2-40B4-BE49-F238E27FC236}">
                <a16:creationId xmlns:a16="http://schemas.microsoft.com/office/drawing/2014/main" id="{3396E97F-73E4-402A-B0B5-EF2FBE8CE6D2}"/>
              </a:ext>
            </a:extLst>
          </p:cNvPr>
          <p:cNvSpPr>
            <a:spLocks xmlns:a="http://schemas.openxmlformats.org/drawingml/2006/main" noGrp="1"/>
          </p:cNvSpPr>
          <p:nvPr/>
        </p:nvSpPr>
        <p:spPr>
          <a:xfrm xmlns:a="http://schemas.openxmlformats.org/drawingml/2006/main">
            <a:off x="1238250" y="511492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1D0D3E4-5762-4A0D-8F7F-0410FB69B2A1}"/>
              </a:ext>
            </a:extLst>
          </p:cNvPr>
          <p:cNvSpPr>
            <a:spLocks xmlns:a="http://schemas.openxmlformats.org/drawingml/2006/main" noGrp="1"/>
          </p:cNvSpPr>
          <p:nvPr/>
        </p:nvSpPr>
        <p:spPr>
          <a:xfrm xmlns:a="http://schemas.openxmlformats.org/drawingml/2006/main">
            <a:off x="1409700" y="504825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Real APKs show 927 of 1837 confirmed emitted Maven versions.</a:t>
            </a:r>
          </a:p>
        </p:txBody>
      </p:sp>
      <p:sp>
        <p:nvSpPr>
          <p:cNvPr id="23" name="">
            <a:extLst xmlns:a="http://schemas.openxmlformats.org/drawingml/2006/main">
              <a:ext uri="{FF2B5EF4-FFF2-40B4-BE49-F238E27FC236}">
                <a16:creationId xmlns:a16="http://schemas.microsoft.com/office/drawing/2014/main" id="{EF7ABCE4-CAB2-4095-A9D1-3DD5A9A9048F}"/>
              </a:ext>
            </a:extLst>
          </p:cNvPr>
          <p:cNvSpPr>
            <a:spLocks xmlns:a="http://schemas.openxmlformats.org/drawingml/2006/main" noGrp="1"/>
          </p:cNvSpPr>
          <p:nvPr/>
        </p:nvSpPr>
        <p:spPr>
          <a:xfrm xmlns:a="http://schemas.openxmlformats.org/drawingml/2006/main">
            <a:off x="1238250" y="5514975"/>
            <a:ext cx="66675" cy="66675"/>
          </a:xfrm>
          <a:prstGeom xmlns:a="http://schemas.openxmlformats.org/drawingml/2006/main" prst="ellipse">
            <a:avLst/>
          </a:prstGeom>
          <a:solidFill xmlns:a="http://schemas.openxmlformats.org/drawingml/2006/main">
            <a:srgbClr val="2F5F7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358EFFA-AA66-4EE6-BDF1-5E04242C9118}"/>
              </a:ext>
            </a:extLst>
          </p:cNvPr>
          <p:cNvSpPr>
            <a:spLocks xmlns:a="http://schemas.openxmlformats.org/drawingml/2006/main" noGrp="1"/>
          </p:cNvSpPr>
          <p:nvPr/>
        </p:nvSpPr>
        <p:spPr>
          <a:xfrm xmlns:a="http://schemas.openxmlformats.org/drawingml/2006/main">
            <a:off x="1409700" y="5448300"/>
            <a:ext cx="9105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7212B"/>
                </a:solidFill>
                <a:latin typeface="Aptos"/>
                <a:ea typeface="Aptos"/>
                <a:cs typeface="Aptos"/>
              </a:defRPr>
            </a:pPr>
            <a:r>
              <a:rPr sz="1200" b="0">
                <a:solidFill>
                  <a:srgbClr val="17212B"/>
                </a:solidFill>
                <a:latin typeface="Aptos"/>
                <a:ea typeface="Aptos"/>
                <a:cs typeface="Aptos"/>
              </a:rPr>
              <a:t>The v2 lane confirms 6772 of 6772 source-version constrained emitted rows as an upper bound.</a:t>
            </a:r>
          </a:p>
        </p:txBody>
      </p:sp>
      <p:sp>
        <p:nvSpPr>
          <p:cNvPr id="25" name="">
            <a:extLst xmlns:a="http://schemas.openxmlformats.org/drawingml/2006/main">
              <a:ext uri="{FF2B5EF4-FFF2-40B4-BE49-F238E27FC236}">
                <a16:creationId xmlns:a16="http://schemas.microsoft.com/office/drawing/2014/main" id="{08E20FEF-CD6A-4C85-8CF7-EE9F2DDE622C}"/>
              </a:ext>
            </a:extLst>
          </p:cNvPr>
          <p:cNvSpPr>
            <a:spLocks xmlns:a="http://schemas.openxmlformats.org/drawingml/2006/main" noGrp="1"/>
          </p:cNvSpPr>
          <p:nvPr/>
        </p:nvSpPr>
        <p:spPr>
          <a:xfrm xmlns:a="http://schemas.openxmlformats.org/drawingml/2006/main">
            <a:off x="1924050" y="5524500"/>
            <a:ext cx="8343900" cy="438150"/>
          </a:xfrm>
          <a:prstGeom xmlns:a="http://schemas.openxmlformats.org/drawingml/2006/main" prst="rect">
            <a:avLst/>
          </a:prstGeom>
          <a:solidFill xmlns:a="http://schemas.openxmlformats.org/drawingml/2006/main">
            <a:srgbClr val="F4EFE5"/>
          </a:solidFill>
          <a:ln xmlns:a="http://schemas.openxmlformats.org/drawingml/2006/main" w="9525">
            <a:solidFill>
              <a:srgbClr val="8C7346"/>
            </a:solidFill>
            <a:prstDash val="solid"/>
          </a:ln>
        </p:spPr>
      </p:sp>
      <p:sp>
        <p:nvSpPr>
          <p:cNvPr id="26" name="">
            <a:extLst xmlns:a="http://schemas.openxmlformats.org/drawingml/2006/main">
              <a:ext uri="{FF2B5EF4-FFF2-40B4-BE49-F238E27FC236}">
                <a16:creationId xmlns:a16="http://schemas.microsoft.com/office/drawing/2014/main" id="{BA2FB378-70EA-4522-A5E7-AD0ADFD86AE6}"/>
              </a:ext>
            </a:extLst>
          </p:cNvPr>
          <p:cNvSpPr>
            <a:spLocks xmlns:a="http://schemas.openxmlformats.org/drawingml/2006/main" noGrp="1"/>
          </p:cNvSpPr>
          <p:nvPr/>
        </p:nvSpPr>
        <p:spPr>
          <a:xfrm xmlns:a="http://schemas.openxmlformats.org/drawingml/2006/main">
            <a:off x="2152650" y="5657850"/>
            <a:ext cx="788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1">
                <a:solidFill>
                  <a:srgbClr val="17212B"/>
                </a:solidFill>
                <a:latin typeface="Aptos"/>
                <a:ea typeface="Aptos"/>
                <a:cs typeface="Aptos"/>
              </a:defRPr>
            </a:pPr>
            <a:r>
              <a:rPr sz="1200" b="1">
                <a:solidFill>
                  <a:srgbClr val="17212B"/>
                </a:solidFill>
                <a:latin typeface="Aptos"/>
                <a:ea typeface="Aptos"/>
                <a:cs typeface="Aptos"/>
              </a:rPr>
              <a:t>Auditable partial knowledge is safer than unsupported exact-version certainty.</a:t>
            </a:r>
          </a:p>
        </p:txBody>
      </p:sp>
      <p:sp>
        <p:nvSpPr>
          <p:cNvPr id="27" name="">
            <a:extLst xmlns:a="http://schemas.openxmlformats.org/drawingml/2006/main">
              <a:ext uri="{FF2B5EF4-FFF2-40B4-BE49-F238E27FC236}">
                <a16:creationId xmlns:a16="http://schemas.microsoft.com/office/drawing/2014/main" id="{46FC3CEA-B4F2-48BA-BD81-C0628FB7298C}"/>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1461585237"/>
      </p:ext>
    </p:extLst>
  </p:cSld>
</p:sld>
</file>

<file path=ppt/slides/slide6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B84A444-261F-402B-B91A-3106AFDAEF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8FAF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5A87FC-458D-4E88-B542-B6C2BC3167E1}"/>
              </a:ext>
            </a:extLst>
          </p:cNvPr>
          <p:cNvSpPr>
            <a:spLocks xmlns:a="http://schemas.openxmlformats.org/drawingml/2006/main" noGrp="1"/>
          </p:cNvSpPr>
          <p:nvPr/>
        </p:nvSpPr>
        <p:spPr>
          <a:xfrm xmlns:a="http://schemas.openxmlformats.org/drawingml/2006/main">
            <a:off x="0" y="0"/>
            <a:ext cx="66675" cy="6858000"/>
          </a:xfrm>
          <a:prstGeom xmlns:a="http://schemas.openxmlformats.org/drawingml/2006/main" prst="rect">
            <a:avLst/>
          </a:prstGeom>
          <a:solidFill xmlns:a="http://schemas.openxmlformats.org/drawingml/2006/main">
            <a:srgbClr val="8C734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54046D-3514-49ED-8868-73542F48B846}"/>
              </a:ext>
            </a:extLst>
          </p:cNvPr>
          <p:cNvSpPr>
            <a:spLocks xmlns:a="http://schemas.openxmlformats.org/drawingml/2006/main" noGrp="1"/>
          </p:cNvSpPr>
          <p:nvPr/>
        </p:nvSpPr>
        <p:spPr>
          <a:xfrm xmlns:a="http://schemas.openxmlformats.org/drawingml/2006/main">
            <a:off x="628650" y="3238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8C7346"/>
                </a:solidFill>
                <a:latin typeface="Aptos"/>
                <a:ea typeface="Aptos"/>
                <a:cs typeface="Aptos"/>
              </a:defRPr>
            </a:pPr>
            <a:r>
              <a:rPr sz="900" b="1">
                <a:solidFill>
                  <a:srgbClr val="8C7346"/>
                </a:solidFill>
                <a:latin typeface="Aptos"/>
                <a:ea typeface="Aptos"/>
                <a:cs typeface="Aptos"/>
              </a:rPr>
              <a:t>CONCLUSION</a:t>
            </a:r>
          </a:p>
        </p:txBody>
      </p:sp>
      <p:sp>
        <p:nvSpPr>
          <p:cNvPr id="4" name="">
            <a:extLst xmlns:a="http://schemas.openxmlformats.org/drawingml/2006/main">
              <a:ext uri="{FF2B5EF4-FFF2-40B4-BE49-F238E27FC236}">
                <a16:creationId xmlns:a16="http://schemas.microsoft.com/office/drawing/2014/main" id="{FF3824E0-B009-4C7B-ADCF-DF70A229E459}"/>
              </a:ext>
            </a:extLst>
          </p:cNvPr>
          <p:cNvSpPr>
            <a:spLocks xmlns:a="http://schemas.openxmlformats.org/drawingml/2006/main" noGrp="1"/>
          </p:cNvSpPr>
          <p:nvPr/>
        </p:nvSpPr>
        <p:spPr>
          <a:xfrm xmlns:a="http://schemas.openxmlformats.org/drawingml/2006/main">
            <a:off x="11068050" y="3238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5E6B78"/>
                </a:solidFill>
                <a:latin typeface="Aptos"/>
                <a:ea typeface="Aptos"/>
                <a:cs typeface="Aptos"/>
              </a:defRPr>
            </a:pPr>
            <a:r>
              <a:rPr sz="900" b="1">
                <a:solidFill>
                  <a:srgbClr val="5E6B78"/>
                </a:solidFill>
                <a:latin typeface="Aptos"/>
                <a:ea typeface="Aptos"/>
                <a:cs typeface="Aptos"/>
              </a:rPr>
              <a:t>60</a:t>
            </a:r>
          </a:p>
        </p:txBody>
      </p:sp>
      <p:sp>
        <p:nvSpPr>
          <p:cNvPr id="5" name="">
            <a:extLst xmlns:a="http://schemas.openxmlformats.org/drawingml/2006/main">
              <a:ext uri="{FF2B5EF4-FFF2-40B4-BE49-F238E27FC236}">
                <a16:creationId xmlns:a16="http://schemas.microsoft.com/office/drawing/2014/main" id="{FE08369D-B387-4927-B088-47B6A9E2B3F6}"/>
              </a:ext>
            </a:extLst>
          </p:cNvPr>
          <p:cNvSpPr>
            <a:spLocks xmlns:a="http://schemas.openxmlformats.org/drawingml/2006/main" noGrp="1"/>
          </p:cNvSpPr>
          <p:nvPr/>
        </p:nvSpPr>
        <p:spPr>
          <a:xfrm xmlns:a="http://schemas.openxmlformats.org/drawingml/2006/main">
            <a:off x="628650" y="609600"/>
            <a:ext cx="9982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7212B"/>
                </a:solidFill>
                <a:latin typeface="Aptos Display"/>
                <a:ea typeface="Aptos Display"/>
                <a:cs typeface="Aptos Display"/>
              </a:defRPr>
            </a:pPr>
            <a:r>
              <a:rPr sz="2325" b="1">
                <a:solidFill>
                  <a:srgbClr val="17212B"/>
                </a:solidFill>
                <a:latin typeface="Aptos Display"/>
                <a:ea typeface="Aptos Display"/>
                <a:cs typeface="Aptos Display"/>
              </a:rPr>
              <a:t>Limitations and future work define the next research agenda</a:t>
            </a:r>
          </a:p>
        </p:txBody>
      </p:sp>
      <p:sp>
        <p:nvSpPr>
          <p:cNvPr id="6" name="">
            <a:extLst xmlns:a="http://schemas.openxmlformats.org/drawingml/2006/main">
              <a:ext uri="{FF2B5EF4-FFF2-40B4-BE49-F238E27FC236}">
                <a16:creationId xmlns:a16="http://schemas.microsoft.com/office/drawing/2014/main" id="{B22B62B0-08A1-4B93-9912-C66259C9210B}"/>
              </a:ext>
            </a:extLst>
          </p:cNvPr>
          <p:cNvSpPr>
            <a:spLocks xmlns:a="http://schemas.openxmlformats.org/drawingml/2006/main" noGrp="1"/>
          </p:cNvSpPr>
          <p:nvPr/>
        </p:nvSpPr>
        <p:spPr>
          <a:xfrm xmlns:a="http://schemas.openxmlformats.org/drawingml/2006/main">
            <a:off x="628650" y="1238250"/>
            <a:ext cx="10934700" cy="9525"/>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C10C39-58C0-4D8A-A23B-D54CD16964D0}"/>
              </a:ext>
            </a:extLst>
          </p:cNvPr>
          <p:cNvSpPr>
            <a:spLocks xmlns:a="http://schemas.openxmlformats.org/drawingml/2006/main" noGrp="1"/>
          </p:cNvSpPr>
          <p:nvPr/>
        </p:nvSpPr>
        <p:spPr>
          <a:xfrm xmlns:a="http://schemas.openxmlformats.org/drawingml/2006/main">
            <a:off x="838200"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01</a:t>
            </a:r>
          </a:p>
        </p:txBody>
      </p:sp>
      <p:sp>
        <p:nvSpPr>
          <p:cNvPr id="8" name="">
            <a:extLst xmlns:a="http://schemas.openxmlformats.org/drawingml/2006/main">
              <a:ext uri="{FF2B5EF4-FFF2-40B4-BE49-F238E27FC236}">
                <a16:creationId xmlns:a16="http://schemas.microsoft.com/office/drawing/2014/main" id="{76F59A80-FE5A-477B-B165-98EED1E86081}"/>
              </a:ext>
            </a:extLst>
          </p:cNvPr>
          <p:cNvSpPr>
            <a:spLocks xmlns:a="http://schemas.openxmlformats.org/drawingml/2006/main" noGrp="1"/>
          </p:cNvSpPr>
          <p:nvPr/>
        </p:nvSpPr>
        <p:spPr>
          <a:xfrm xmlns:a="http://schemas.openxmlformats.org/drawingml/2006/main">
            <a:off x="838200" y="2133600"/>
            <a:ext cx="3048000" cy="914400"/>
          </a:xfrm>
          <a:prstGeom xmlns:a="http://schemas.openxmlformats.org/drawingml/2006/main" prst="rect">
            <a:avLst/>
          </a:prstGeom>
          <a:solidFill xmlns:a="http://schemas.openxmlformats.org/drawingml/2006/main">
            <a:srgbClr val="F4EFE5"/>
          </a:solidFill>
          <a:ln xmlns:a="http://schemas.openxmlformats.org/drawingml/2006/main" w="9525">
            <a:solidFill>
              <a:srgbClr val="8C7346"/>
            </a:solidFill>
            <a:prstDash val="solid"/>
          </a:ln>
        </p:spPr>
      </p:sp>
      <p:sp>
        <p:nvSpPr>
          <p:cNvPr id="9" name="">
            <a:extLst xmlns:a="http://schemas.openxmlformats.org/drawingml/2006/main">
              <a:ext uri="{FF2B5EF4-FFF2-40B4-BE49-F238E27FC236}">
                <a16:creationId xmlns:a16="http://schemas.microsoft.com/office/drawing/2014/main" id="{624C8BBD-C0CF-455E-BEEC-E67B865085EE}"/>
              </a:ext>
            </a:extLst>
          </p:cNvPr>
          <p:cNvSpPr>
            <a:spLocks xmlns:a="http://schemas.openxmlformats.org/drawingml/2006/main" noGrp="1"/>
          </p:cNvSpPr>
          <p:nvPr/>
        </p:nvSpPr>
        <p:spPr>
          <a:xfrm xmlns:a="http://schemas.openxmlformats.org/drawingml/2006/main">
            <a:off x="1009650" y="23812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Improve reference coverage without unsafe promotion.</a:t>
            </a:r>
          </a:p>
        </p:txBody>
      </p:sp>
      <p:sp>
        <p:nvSpPr>
          <p:cNvPr id="10" name="">
            <a:extLst xmlns:a="http://schemas.openxmlformats.org/drawingml/2006/main">
              <a:ext uri="{FF2B5EF4-FFF2-40B4-BE49-F238E27FC236}">
                <a16:creationId xmlns:a16="http://schemas.microsoft.com/office/drawing/2014/main" id="{4AFEE91F-58D2-489D-88F4-2582B9FB9697}"/>
              </a:ext>
            </a:extLst>
          </p:cNvPr>
          <p:cNvSpPr>
            <a:spLocks xmlns:a="http://schemas.openxmlformats.org/drawingml/2006/main" noGrp="1"/>
          </p:cNvSpPr>
          <p:nvPr/>
        </p:nvSpPr>
        <p:spPr>
          <a:xfrm xmlns:a="http://schemas.openxmlformats.org/drawingml/2006/main">
            <a:off x="4400550"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C60AB0E7-179C-4E80-95F8-8BCC77EE3DA3}"/>
              </a:ext>
            </a:extLst>
          </p:cNvPr>
          <p:cNvSpPr>
            <a:spLocks xmlns:a="http://schemas.openxmlformats.org/drawingml/2006/main" noGrp="1"/>
          </p:cNvSpPr>
          <p:nvPr/>
        </p:nvSpPr>
        <p:spPr>
          <a:xfrm xmlns:a="http://schemas.openxmlformats.org/drawingml/2006/main">
            <a:off x="4400550" y="2133600"/>
            <a:ext cx="30480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8C7346"/>
            </a:solidFill>
            <a:prstDash val="solid"/>
          </a:ln>
        </p:spPr>
      </p:sp>
      <p:sp>
        <p:nvSpPr>
          <p:cNvPr id="12" name="">
            <a:extLst xmlns:a="http://schemas.openxmlformats.org/drawingml/2006/main">
              <a:ext uri="{FF2B5EF4-FFF2-40B4-BE49-F238E27FC236}">
                <a16:creationId xmlns:a16="http://schemas.microsoft.com/office/drawing/2014/main" id="{41C46C02-ABBE-41AD-B9A6-D82A6B6841B9}"/>
              </a:ext>
            </a:extLst>
          </p:cNvPr>
          <p:cNvSpPr>
            <a:spLocks xmlns:a="http://schemas.openxmlformats.org/drawingml/2006/main" noGrp="1"/>
          </p:cNvSpPr>
          <p:nvPr/>
        </p:nvSpPr>
        <p:spPr>
          <a:xfrm xmlns:a="http://schemas.openxmlformats.org/drawingml/2006/main">
            <a:off x="4572000" y="23812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Improve matcher recall for source-gap rows.</a:t>
            </a:r>
          </a:p>
        </p:txBody>
      </p:sp>
      <p:sp>
        <p:nvSpPr>
          <p:cNvPr id="13" name="">
            <a:extLst xmlns:a="http://schemas.openxmlformats.org/drawingml/2006/main">
              <a:ext uri="{FF2B5EF4-FFF2-40B4-BE49-F238E27FC236}">
                <a16:creationId xmlns:a16="http://schemas.microsoft.com/office/drawing/2014/main" id="{BB110163-FC3D-445E-AC08-F4E57F4AF864}"/>
              </a:ext>
            </a:extLst>
          </p:cNvPr>
          <p:cNvSpPr>
            <a:spLocks xmlns:a="http://schemas.openxmlformats.org/drawingml/2006/main" noGrp="1"/>
          </p:cNvSpPr>
          <p:nvPr/>
        </p:nvSpPr>
        <p:spPr>
          <a:xfrm xmlns:a="http://schemas.openxmlformats.org/drawingml/2006/main">
            <a:off x="7962900" y="17145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03</a:t>
            </a:r>
          </a:p>
        </p:txBody>
      </p:sp>
      <p:sp>
        <p:nvSpPr>
          <p:cNvPr id="14" name="">
            <a:extLst xmlns:a="http://schemas.openxmlformats.org/drawingml/2006/main">
              <a:ext uri="{FF2B5EF4-FFF2-40B4-BE49-F238E27FC236}">
                <a16:creationId xmlns:a16="http://schemas.microsoft.com/office/drawing/2014/main" id="{16B7DDB4-771F-42A0-B33E-2F6306C05B89}"/>
              </a:ext>
            </a:extLst>
          </p:cNvPr>
          <p:cNvSpPr>
            <a:spLocks xmlns:a="http://schemas.openxmlformats.org/drawingml/2006/main" noGrp="1"/>
          </p:cNvSpPr>
          <p:nvPr/>
        </p:nvSpPr>
        <p:spPr>
          <a:xfrm xmlns:a="http://schemas.openxmlformats.org/drawingml/2006/main">
            <a:off x="7962900" y="2133600"/>
            <a:ext cx="3048000" cy="914400"/>
          </a:xfrm>
          <a:prstGeom xmlns:a="http://schemas.openxmlformats.org/drawingml/2006/main" prst="rect">
            <a:avLst/>
          </a:prstGeom>
          <a:solidFill xmlns:a="http://schemas.openxmlformats.org/drawingml/2006/main">
            <a:srgbClr val="F4EFE5"/>
          </a:solidFill>
          <a:ln xmlns:a="http://schemas.openxmlformats.org/drawingml/2006/main" w="9525">
            <a:solidFill>
              <a:srgbClr val="8C7346"/>
            </a:solidFill>
            <a:prstDash val="solid"/>
          </a:ln>
        </p:spPr>
      </p:sp>
      <p:sp>
        <p:nvSpPr>
          <p:cNvPr id="15" name="">
            <a:extLst xmlns:a="http://schemas.openxmlformats.org/drawingml/2006/main">
              <a:ext uri="{FF2B5EF4-FFF2-40B4-BE49-F238E27FC236}">
                <a16:creationId xmlns:a16="http://schemas.microsoft.com/office/drawing/2014/main" id="{BB617AF7-6182-4767-95C1-933645DFF8B1}"/>
              </a:ext>
            </a:extLst>
          </p:cNvPr>
          <p:cNvSpPr>
            <a:spLocks xmlns:a="http://schemas.openxmlformats.org/drawingml/2006/main" noGrp="1"/>
          </p:cNvSpPr>
          <p:nvPr/>
        </p:nvSpPr>
        <p:spPr>
          <a:xfrm xmlns:a="http://schemas.openxmlformats.org/drawingml/2006/main">
            <a:off x="8134350" y="23812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Calibrate identity, version, ambiguity, and abstention classes.</a:t>
            </a:r>
          </a:p>
        </p:txBody>
      </p:sp>
      <p:sp>
        <p:nvSpPr>
          <p:cNvPr id="16" name="">
            <a:extLst xmlns:a="http://schemas.openxmlformats.org/drawingml/2006/main">
              <a:ext uri="{FF2B5EF4-FFF2-40B4-BE49-F238E27FC236}">
                <a16:creationId xmlns:a16="http://schemas.microsoft.com/office/drawing/2014/main" id="{438B04EA-9A12-4237-BAD5-D62AD29975CF}"/>
              </a:ext>
            </a:extLst>
          </p:cNvPr>
          <p:cNvSpPr>
            <a:spLocks xmlns:a="http://schemas.openxmlformats.org/drawingml/2006/main" noGrp="1"/>
          </p:cNvSpPr>
          <p:nvPr/>
        </p:nvSpPr>
        <p:spPr>
          <a:xfrm xmlns:a="http://schemas.openxmlformats.org/drawingml/2006/main">
            <a:off x="838200" y="34290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04</a:t>
            </a:r>
          </a:p>
        </p:txBody>
      </p:sp>
      <p:sp>
        <p:nvSpPr>
          <p:cNvPr id="17" name="">
            <a:extLst xmlns:a="http://schemas.openxmlformats.org/drawingml/2006/main">
              <a:ext uri="{FF2B5EF4-FFF2-40B4-BE49-F238E27FC236}">
                <a16:creationId xmlns:a16="http://schemas.microsoft.com/office/drawing/2014/main" id="{73241275-E010-4661-93CE-2F8236715C59}"/>
              </a:ext>
            </a:extLst>
          </p:cNvPr>
          <p:cNvSpPr>
            <a:spLocks xmlns:a="http://schemas.openxmlformats.org/drawingml/2006/main" noGrp="1"/>
          </p:cNvSpPr>
          <p:nvPr/>
        </p:nvSpPr>
        <p:spPr>
          <a:xfrm xmlns:a="http://schemas.openxmlformats.org/drawingml/2006/main">
            <a:off x="838200" y="3848100"/>
            <a:ext cx="30480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8C7346"/>
            </a:solidFill>
            <a:prstDash val="solid"/>
          </a:ln>
        </p:spPr>
      </p:sp>
      <p:sp>
        <p:nvSpPr>
          <p:cNvPr id="18" name="">
            <a:extLst xmlns:a="http://schemas.openxmlformats.org/drawingml/2006/main">
              <a:ext uri="{FF2B5EF4-FFF2-40B4-BE49-F238E27FC236}">
                <a16:creationId xmlns:a16="http://schemas.microsoft.com/office/drawing/2014/main" id="{4EE1D1EC-4202-4F25-9BA8-66FB14A545AF}"/>
              </a:ext>
            </a:extLst>
          </p:cNvPr>
          <p:cNvSpPr>
            <a:spLocks xmlns:a="http://schemas.openxmlformats.org/drawingml/2006/main" noGrp="1"/>
          </p:cNvSpPr>
          <p:nvPr/>
        </p:nvSpPr>
        <p:spPr>
          <a:xfrm xmlns:a="http://schemas.openxmlformats.org/drawingml/2006/main">
            <a:off x="1009650" y="40957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Extend native and dynamically loaded code attribution.</a:t>
            </a:r>
          </a:p>
        </p:txBody>
      </p:sp>
      <p:sp>
        <p:nvSpPr>
          <p:cNvPr id="19" name="">
            <a:extLst xmlns:a="http://schemas.openxmlformats.org/drawingml/2006/main">
              <a:ext uri="{FF2B5EF4-FFF2-40B4-BE49-F238E27FC236}">
                <a16:creationId xmlns:a16="http://schemas.microsoft.com/office/drawing/2014/main" id="{9A24F85B-6B65-4DEF-B899-E56639885D9D}"/>
              </a:ext>
            </a:extLst>
          </p:cNvPr>
          <p:cNvSpPr>
            <a:spLocks xmlns:a="http://schemas.openxmlformats.org/drawingml/2006/main" noGrp="1"/>
          </p:cNvSpPr>
          <p:nvPr/>
        </p:nvSpPr>
        <p:spPr>
          <a:xfrm xmlns:a="http://schemas.openxmlformats.org/drawingml/2006/main">
            <a:off x="4400550" y="34290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05</a:t>
            </a:r>
          </a:p>
        </p:txBody>
      </p:sp>
      <p:sp>
        <p:nvSpPr>
          <p:cNvPr id="20" name="">
            <a:extLst xmlns:a="http://schemas.openxmlformats.org/drawingml/2006/main">
              <a:ext uri="{FF2B5EF4-FFF2-40B4-BE49-F238E27FC236}">
                <a16:creationId xmlns:a16="http://schemas.microsoft.com/office/drawing/2014/main" id="{EE175AD0-F84F-494A-B6A2-45D13E2F7E35}"/>
              </a:ext>
            </a:extLst>
          </p:cNvPr>
          <p:cNvSpPr>
            <a:spLocks xmlns:a="http://schemas.openxmlformats.org/drawingml/2006/main" noGrp="1"/>
          </p:cNvSpPr>
          <p:nvPr/>
        </p:nvSpPr>
        <p:spPr>
          <a:xfrm xmlns:a="http://schemas.openxmlformats.org/drawingml/2006/main">
            <a:off x="4400550" y="3848100"/>
            <a:ext cx="3048000" cy="914400"/>
          </a:xfrm>
          <a:prstGeom xmlns:a="http://schemas.openxmlformats.org/drawingml/2006/main" prst="rect">
            <a:avLst/>
          </a:prstGeom>
          <a:solidFill xmlns:a="http://schemas.openxmlformats.org/drawingml/2006/main">
            <a:srgbClr val="F4EFE5"/>
          </a:solidFill>
          <a:ln xmlns:a="http://schemas.openxmlformats.org/drawingml/2006/main" w="9525">
            <a:solidFill>
              <a:srgbClr val="8C7346"/>
            </a:solidFill>
            <a:prstDash val="solid"/>
          </a:ln>
        </p:spPr>
      </p:sp>
      <p:sp>
        <p:nvSpPr>
          <p:cNvPr id="21" name="">
            <a:extLst xmlns:a="http://schemas.openxmlformats.org/drawingml/2006/main">
              <a:ext uri="{FF2B5EF4-FFF2-40B4-BE49-F238E27FC236}">
                <a16:creationId xmlns:a16="http://schemas.microsoft.com/office/drawing/2014/main" id="{7A1AC1A3-624F-4A94-B9AF-EC0AD47902F8}"/>
              </a:ext>
            </a:extLst>
          </p:cNvPr>
          <p:cNvSpPr>
            <a:spLocks xmlns:a="http://schemas.openxmlformats.org/drawingml/2006/main" noGrp="1"/>
          </p:cNvSpPr>
          <p:nvPr/>
        </p:nvSpPr>
        <p:spPr>
          <a:xfrm xmlns:a="http://schemas.openxmlformats.org/drawingml/2006/main">
            <a:off x="4572000" y="40957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Build public benchmarks with exact denominators and transformation labels.</a:t>
            </a:r>
          </a:p>
        </p:txBody>
      </p:sp>
      <p:sp>
        <p:nvSpPr>
          <p:cNvPr id="22" name="">
            <a:extLst xmlns:a="http://schemas.openxmlformats.org/drawingml/2006/main">
              <a:ext uri="{FF2B5EF4-FFF2-40B4-BE49-F238E27FC236}">
                <a16:creationId xmlns:a16="http://schemas.microsoft.com/office/drawing/2014/main" id="{8B6F80E0-BFCE-456A-824B-07BBD059200C}"/>
              </a:ext>
            </a:extLst>
          </p:cNvPr>
          <p:cNvSpPr>
            <a:spLocks xmlns:a="http://schemas.openxmlformats.org/drawingml/2006/main" noGrp="1"/>
          </p:cNvSpPr>
          <p:nvPr/>
        </p:nvSpPr>
        <p:spPr>
          <a:xfrm xmlns:a="http://schemas.openxmlformats.org/drawingml/2006/main">
            <a:off x="7962900" y="34290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8C7346"/>
                </a:solidFill>
                <a:latin typeface="Aptos Display"/>
                <a:ea typeface="Aptos Display"/>
                <a:cs typeface="Aptos Display"/>
              </a:defRPr>
            </a:pPr>
            <a:r>
              <a:rPr sz="1800" b="1">
                <a:solidFill>
                  <a:srgbClr val="8C7346"/>
                </a:solidFill>
                <a:latin typeface="Aptos Display"/>
                <a:ea typeface="Aptos Display"/>
                <a:cs typeface="Aptos Display"/>
              </a:rPr>
              <a:t>06</a:t>
            </a:r>
          </a:p>
        </p:txBody>
      </p:sp>
      <p:sp>
        <p:nvSpPr>
          <p:cNvPr id="23" name="">
            <a:extLst xmlns:a="http://schemas.openxmlformats.org/drawingml/2006/main">
              <a:ext uri="{FF2B5EF4-FFF2-40B4-BE49-F238E27FC236}">
                <a16:creationId xmlns:a16="http://schemas.microsoft.com/office/drawing/2014/main" id="{80A29E6B-B7DF-4470-A237-B09E4E926546}"/>
              </a:ext>
            </a:extLst>
          </p:cNvPr>
          <p:cNvSpPr>
            <a:spLocks xmlns:a="http://schemas.openxmlformats.org/drawingml/2006/main" noGrp="1"/>
          </p:cNvSpPr>
          <p:nvPr/>
        </p:nvSpPr>
        <p:spPr>
          <a:xfrm xmlns:a="http://schemas.openxmlformats.org/drawingml/2006/main">
            <a:off x="7962900" y="3848100"/>
            <a:ext cx="3048000" cy="914400"/>
          </a:xfrm>
          <a:prstGeom xmlns:a="http://schemas.openxmlformats.org/drawingml/2006/main" prst="rect">
            <a:avLst/>
          </a:prstGeom>
          <a:solidFill xmlns:a="http://schemas.openxmlformats.org/drawingml/2006/main">
            <a:srgbClr val="FFFFFF"/>
          </a:solidFill>
          <a:ln xmlns:a="http://schemas.openxmlformats.org/drawingml/2006/main" w="9525">
            <a:solidFill>
              <a:srgbClr val="8C7346"/>
            </a:solidFill>
            <a:prstDash val="solid"/>
          </a:ln>
        </p:spPr>
      </p:sp>
      <p:sp>
        <p:nvSpPr>
          <p:cNvPr id="24" name="">
            <a:extLst xmlns:a="http://schemas.openxmlformats.org/drawingml/2006/main">
              <a:ext uri="{FF2B5EF4-FFF2-40B4-BE49-F238E27FC236}">
                <a16:creationId xmlns:a16="http://schemas.microsoft.com/office/drawing/2014/main" id="{0BE1AC5E-3B3D-4BA4-9E9C-1DE4289A3655}"/>
              </a:ext>
            </a:extLst>
          </p:cNvPr>
          <p:cNvSpPr>
            <a:spLocks xmlns:a="http://schemas.openxmlformats.org/drawingml/2006/main" noGrp="1"/>
          </p:cNvSpPr>
          <p:nvPr/>
        </p:nvSpPr>
        <p:spPr>
          <a:xfrm xmlns:a="http://schemas.openxmlformats.org/drawingml/2006/main">
            <a:off x="8134350" y="4095750"/>
            <a:ext cx="2705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125" b="1">
                <a:solidFill>
                  <a:srgbClr val="17212B"/>
                </a:solidFill>
                <a:latin typeface="Aptos"/>
                <a:ea typeface="Aptos"/>
                <a:cs typeface="Aptos"/>
              </a:defRPr>
            </a:pPr>
            <a:r>
              <a:rPr sz="1125" b="1">
                <a:solidFill>
                  <a:srgbClr val="17212B"/>
                </a:solidFill>
                <a:latin typeface="Aptos"/>
                <a:ea typeface="Aptos"/>
                <a:cs typeface="Aptos"/>
              </a:rPr>
              <a:t>Evaluate human understanding of confidence and report-only evidence.</a:t>
            </a:r>
          </a:p>
        </p:txBody>
      </p:sp>
      <p:sp>
        <p:nvSpPr>
          <p:cNvPr id="25" name="">
            <a:extLst xmlns:a="http://schemas.openxmlformats.org/drawingml/2006/main">
              <a:ext uri="{FF2B5EF4-FFF2-40B4-BE49-F238E27FC236}">
                <a16:creationId xmlns:a16="http://schemas.microsoft.com/office/drawing/2014/main" id="{F0BEA64B-B72D-49A5-B7A8-343FC7C12BB3}"/>
              </a:ext>
            </a:extLst>
          </p:cNvPr>
          <p:cNvSpPr>
            <a:spLocks xmlns:a="http://schemas.openxmlformats.org/drawingml/2006/main" noGrp="1"/>
          </p:cNvSpPr>
          <p:nvPr/>
        </p:nvSpPr>
        <p:spPr>
          <a:xfrm xmlns:a="http://schemas.openxmlformats.org/drawingml/2006/main">
            <a:off x="628650" y="6496050"/>
            <a:ext cx="952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75" b="0">
                <a:solidFill>
                  <a:srgbClr val="738195"/>
                </a:solidFill>
                <a:latin typeface="Aptos"/>
                <a:ea typeface="Aptos"/>
                <a:cs typeface="Aptos"/>
              </a:defRPr>
            </a:pPr>
            <a:r>
              <a:rPr sz="675" b="0">
                <a:solidFill>
                  <a:srgbClr val="738195"/>
                </a:solidFill>
                <a:latin typeface="Aptos"/>
                <a:ea typeface="Aptos"/>
                <a:cs typeface="Aptos"/>
              </a:rPr>
              <a:t>APK-to-SBOM MVP | emitted confirmation is not full recall | v2 is a source-known upper bound</a:t>
            </a:r>
          </a:p>
        </p:txBody>
      </p:sp>
    </p:spTree>
    <p:extLst>
      <p:ext uri="{BB962C8B-B14F-4D97-AF65-F5344CB8AC3E}">
        <p14:creationId xmlns:p14="http://schemas.microsoft.com/office/powerpoint/2010/main" val="4973745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2026-07-05T11:58:06.4570000Z</dcterms:created>
  <dcterms:modified xsi:type="dcterms:W3CDTF">2026-07-05T11:58:06.4570000Z</dcterms:modified>
</coreProperties>
</file>