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d5ac49d17f415b" /><Relationship Type="http://schemas.openxmlformats.org/officeDocument/2006/relationships/extended-properties" Target="/docProps/app.xml" Id="R282c7d1d43fa43c4" /><Relationship Type="http://schemas.openxmlformats.org/officeDocument/2006/relationships/officeDocument" Target="/ppt/presentation.xml" Id="R0767ed5ef7fc40ad" /></Relationships>
</file>

<file path=ppt/presentation.xml><?xml version="1.0" encoding="utf-8"?>
<p:presentation xmlns:p="http://schemas.openxmlformats.org/presentationml/2006/main">
  <p:sldMasterIdLst>
    <p:sldMasterId xmlns:r="http://schemas.openxmlformats.org/officeDocument/2006/relationships" id="2147483648" r:id="Re5bc251098e94a9b"/>
  </p:sldMasterIdLst>
  <p:notesMasterIdLst>
    <p:notesMasterId xmlns:r="http://schemas.openxmlformats.org/officeDocument/2006/relationships" r:id="R5d834dfe84d14628"/>
  </p:notesMasterIdLst>
  <p:sldIdLst>
    <p:sldId xmlns:r="http://schemas.openxmlformats.org/officeDocument/2006/relationships" id="256" r:id="R3af97aede89c444c"/>
    <p:sldId xmlns:r="http://schemas.openxmlformats.org/officeDocument/2006/relationships" id="257" r:id="Rb460093976d2408e"/>
    <p:sldId xmlns:r="http://schemas.openxmlformats.org/officeDocument/2006/relationships" id="258" r:id="R44644211850d4c03"/>
    <p:sldId xmlns:r="http://schemas.openxmlformats.org/officeDocument/2006/relationships" id="259" r:id="R731bb05c59df4ed8"/>
    <p:sldId xmlns:r="http://schemas.openxmlformats.org/officeDocument/2006/relationships" id="260" r:id="R1071edf4017e49e9"/>
    <p:sldId xmlns:r="http://schemas.openxmlformats.org/officeDocument/2006/relationships" id="261" r:id="R4e4526ad22964ea2"/>
    <p:sldId xmlns:r="http://schemas.openxmlformats.org/officeDocument/2006/relationships" id="262" r:id="R623e4e12085a427d"/>
    <p:sldId xmlns:r="http://schemas.openxmlformats.org/officeDocument/2006/relationships" id="263" r:id="R79da84ed3afe41a9"/>
    <p:sldId xmlns:r="http://schemas.openxmlformats.org/officeDocument/2006/relationships" id="264" r:id="Re014311a13eb4202"/>
    <p:sldId xmlns:r="http://schemas.openxmlformats.org/officeDocument/2006/relationships" id="265" r:id="R68c68b8a101941d3"/>
    <p:sldId xmlns:r="http://schemas.openxmlformats.org/officeDocument/2006/relationships" id="266" r:id="R00a6aa5e3fbd4062"/>
    <p:sldId xmlns:r="http://schemas.openxmlformats.org/officeDocument/2006/relationships" id="267" r:id="Rfe8607565d624851"/>
    <p:sldId xmlns:r="http://schemas.openxmlformats.org/officeDocument/2006/relationships" id="268" r:id="R9c33813d10d64c00"/>
    <p:sldId xmlns:r="http://schemas.openxmlformats.org/officeDocument/2006/relationships" id="269" r:id="R6b233269f9b04ff7"/>
    <p:sldId xmlns:r="http://schemas.openxmlformats.org/officeDocument/2006/relationships" id="270" r:id="R5d8b7e2f5d324e78"/>
    <p:sldId xmlns:r="http://schemas.openxmlformats.org/officeDocument/2006/relationships" id="271" r:id="R6b7ad558389a4341"/>
    <p:sldId xmlns:r="http://schemas.openxmlformats.org/officeDocument/2006/relationships" id="272" r:id="Re85ac21549b34257"/>
    <p:sldId xmlns:r="http://schemas.openxmlformats.org/officeDocument/2006/relationships" id="273" r:id="Rd5a815e0d66340b5"/>
    <p:sldId xmlns:r="http://schemas.openxmlformats.org/officeDocument/2006/relationships" id="274" r:id="R5bfda08e44ed4629"/>
    <p:sldId xmlns:r="http://schemas.openxmlformats.org/officeDocument/2006/relationships" id="275" r:id="R613212bd50fc49f5"/>
    <p:sldId xmlns:r="http://schemas.openxmlformats.org/officeDocument/2006/relationships" id="276" r:id="R8cadbd54a34442ce"/>
    <p:sldId xmlns:r="http://schemas.openxmlformats.org/officeDocument/2006/relationships" id="277" r:id="R4d132d47b59f406c"/>
    <p:sldId xmlns:r="http://schemas.openxmlformats.org/officeDocument/2006/relationships" id="278" r:id="R323fdfa73d57421c"/>
    <p:sldId xmlns:r="http://schemas.openxmlformats.org/officeDocument/2006/relationships" id="279" r:id="Rf716c9fce61342f9"/>
    <p:sldId xmlns:r="http://schemas.openxmlformats.org/officeDocument/2006/relationships" id="280" r:id="R7c81e43fcecd46bc"/>
    <p:sldId xmlns:r="http://schemas.openxmlformats.org/officeDocument/2006/relationships" id="281" r:id="Rb902289dd0b94098"/>
    <p:sldId xmlns:r="http://schemas.openxmlformats.org/officeDocument/2006/relationships" id="282" r:id="R457bb0ea496c49bd"/>
    <p:sldId xmlns:r="http://schemas.openxmlformats.org/officeDocument/2006/relationships" id="283" r:id="R95e1458325864294"/>
    <p:sldId xmlns:r="http://schemas.openxmlformats.org/officeDocument/2006/relationships" id="284" r:id="Rb20c979cc5d04af0"/>
    <p:sldId xmlns:r="http://schemas.openxmlformats.org/officeDocument/2006/relationships" id="285" r:id="R1c961ecdf3824ba9"/>
    <p:sldId xmlns:r="http://schemas.openxmlformats.org/officeDocument/2006/relationships" id="286" r:id="Rc65ef53886d04ec3"/>
    <p:sldId xmlns:r="http://schemas.openxmlformats.org/officeDocument/2006/relationships" id="287" r:id="R0bfe1b78f9694e5c"/>
    <p:sldId xmlns:r="http://schemas.openxmlformats.org/officeDocument/2006/relationships" id="288" r:id="Rb681967473224868"/>
    <p:sldId xmlns:r="http://schemas.openxmlformats.org/officeDocument/2006/relationships" id="289" r:id="R2bffa25bc9fd46a1"/>
    <p:sldId xmlns:r="http://schemas.openxmlformats.org/officeDocument/2006/relationships" id="290" r:id="R1029620724cf44d8"/>
    <p:sldId xmlns:r="http://schemas.openxmlformats.org/officeDocument/2006/relationships" id="291" r:id="Rab20f8503e2c4fdc"/>
    <p:sldId xmlns:r="http://schemas.openxmlformats.org/officeDocument/2006/relationships" id="292" r:id="Ra7e2c0c54b184f3a"/>
    <p:sldId xmlns:r="http://schemas.openxmlformats.org/officeDocument/2006/relationships" id="293" r:id="R529982dfe7d344a6"/>
    <p:sldId xmlns:r="http://schemas.openxmlformats.org/officeDocument/2006/relationships" id="294" r:id="R64b2a67b42ce4b3a"/>
    <p:sldId xmlns:r="http://schemas.openxmlformats.org/officeDocument/2006/relationships" id="295" r:id="R2fbfdfe414e94c33"/>
    <p:sldId xmlns:r="http://schemas.openxmlformats.org/officeDocument/2006/relationships" id="296" r:id="R38526fad68ec49f6"/>
    <p:sldId xmlns:r="http://schemas.openxmlformats.org/officeDocument/2006/relationships" id="297" r:id="Rbb535a0d17b648b0"/>
    <p:sldId xmlns:r="http://schemas.openxmlformats.org/officeDocument/2006/relationships" id="298" r:id="R43fab59e27af40b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a79fd3d78c4851" /><Relationship Type="http://schemas.openxmlformats.org/officeDocument/2006/relationships/slideMaster" Target="/ppt/slideMasters/slideMaster1.xml" Id="Re5bc251098e94a9b" /><Relationship Type="http://schemas.openxmlformats.org/officeDocument/2006/relationships/notesMaster" Target="/ppt/notesMasters/notesMaster1.xml" Id="R5d834dfe84d14628" /><Relationship Type="http://schemas.openxmlformats.org/officeDocument/2006/relationships/presProps" Target="/ppt/presProps.xml" Id="R23c45903f3af443a" /><Relationship Type="http://schemas.openxmlformats.org/officeDocument/2006/relationships/tableStyles" Target="/ppt/tableStyles.xml" Id="R53ef249505a24f01" /><Relationship Type="http://schemas.openxmlformats.org/officeDocument/2006/relationships/slide" Target="/ppt/slides/slide1.xml" Id="R3af97aede89c444c" /><Relationship Type="http://schemas.openxmlformats.org/officeDocument/2006/relationships/slide" Target="/ppt/slides/slide2.xml" Id="Rb460093976d2408e" /><Relationship Type="http://schemas.openxmlformats.org/officeDocument/2006/relationships/slide" Target="/ppt/slides/slide3.xml" Id="R44644211850d4c03" /><Relationship Type="http://schemas.openxmlformats.org/officeDocument/2006/relationships/slide" Target="/ppt/slides/slide4.xml" Id="R731bb05c59df4ed8" /><Relationship Type="http://schemas.openxmlformats.org/officeDocument/2006/relationships/slide" Target="/ppt/slides/slide5.xml" Id="R1071edf4017e49e9" /><Relationship Type="http://schemas.openxmlformats.org/officeDocument/2006/relationships/slide" Target="/ppt/slides/slide6.xml" Id="R4e4526ad22964ea2" /><Relationship Type="http://schemas.openxmlformats.org/officeDocument/2006/relationships/slide" Target="/ppt/slides/slide7.xml" Id="R623e4e12085a427d" /><Relationship Type="http://schemas.openxmlformats.org/officeDocument/2006/relationships/slide" Target="/ppt/slides/slide8.xml" Id="R79da84ed3afe41a9" /><Relationship Type="http://schemas.openxmlformats.org/officeDocument/2006/relationships/slide" Target="/ppt/slides/slide9.xml" Id="Re014311a13eb4202" /><Relationship Type="http://schemas.openxmlformats.org/officeDocument/2006/relationships/slide" Target="/ppt/slides/slide10.xml" Id="R68c68b8a101941d3" /><Relationship Type="http://schemas.openxmlformats.org/officeDocument/2006/relationships/slide" Target="/ppt/slides/slide11.xml" Id="R00a6aa5e3fbd4062" /><Relationship Type="http://schemas.openxmlformats.org/officeDocument/2006/relationships/slide" Target="/ppt/slides/slide12.xml" Id="Rfe8607565d624851" /><Relationship Type="http://schemas.openxmlformats.org/officeDocument/2006/relationships/slide" Target="/ppt/slides/slide13.xml" Id="R9c33813d10d64c00" /><Relationship Type="http://schemas.openxmlformats.org/officeDocument/2006/relationships/slide" Target="/ppt/slides/slide14.xml" Id="R6b233269f9b04ff7" /><Relationship Type="http://schemas.openxmlformats.org/officeDocument/2006/relationships/slide" Target="/ppt/slides/slide15.xml" Id="R5d8b7e2f5d324e78" /><Relationship Type="http://schemas.openxmlformats.org/officeDocument/2006/relationships/slide" Target="/ppt/slides/slide16.xml" Id="R6b7ad558389a4341" /><Relationship Type="http://schemas.openxmlformats.org/officeDocument/2006/relationships/slide" Target="/ppt/slides/slide17.xml" Id="Re85ac21549b34257" /><Relationship Type="http://schemas.openxmlformats.org/officeDocument/2006/relationships/slide" Target="/ppt/slides/slide18.xml" Id="Rd5a815e0d66340b5" /><Relationship Type="http://schemas.openxmlformats.org/officeDocument/2006/relationships/slide" Target="/ppt/slides/slide19.xml" Id="R5bfda08e44ed4629" /><Relationship Type="http://schemas.openxmlformats.org/officeDocument/2006/relationships/slide" Target="/ppt/slides/slide20.xml" Id="R613212bd50fc49f5" /><Relationship Type="http://schemas.openxmlformats.org/officeDocument/2006/relationships/slide" Target="/ppt/slides/slide21.xml" Id="R8cadbd54a34442ce" /><Relationship Type="http://schemas.openxmlformats.org/officeDocument/2006/relationships/slide" Target="/ppt/slides/slide22.xml" Id="R4d132d47b59f406c" /><Relationship Type="http://schemas.openxmlformats.org/officeDocument/2006/relationships/slide" Target="/ppt/slides/slide23.xml" Id="R323fdfa73d57421c" /><Relationship Type="http://schemas.openxmlformats.org/officeDocument/2006/relationships/slide" Target="/ppt/slides/slide24.xml" Id="Rf716c9fce61342f9" /><Relationship Type="http://schemas.openxmlformats.org/officeDocument/2006/relationships/slide" Target="/ppt/slides/slide25.xml" Id="R7c81e43fcecd46bc" /><Relationship Type="http://schemas.openxmlformats.org/officeDocument/2006/relationships/slide" Target="/ppt/slides/slide26.xml" Id="Rb902289dd0b94098" /><Relationship Type="http://schemas.openxmlformats.org/officeDocument/2006/relationships/slide" Target="/ppt/slides/slide27.xml" Id="R457bb0ea496c49bd" /><Relationship Type="http://schemas.openxmlformats.org/officeDocument/2006/relationships/slide" Target="/ppt/slides/slide28.xml" Id="R95e1458325864294" /><Relationship Type="http://schemas.openxmlformats.org/officeDocument/2006/relationships/slide" Target="/ppt/slides/slide29.xml" Id="Rb20c979cc5d04af0" /><Relationship Type="http://schemas.openxmlformats.org/officeDocument/2006/relationships/slide" Target="/ppt/slides/slide30.xml" Id="R1c961ecdf3824ba9" /><Relationship Type="http://schemas.openxmlformats.org/officeDocument/2006/relationships/slide" Target="/ppt/slides/slide31.xml" Id="Rc65ef53886d04ec3" /><Relationship Type="http://schemas.openxmlformats.org/officeDocument/2006/relationships/slide" Target="/ppt/slides/slide32.xml" Id="R0bfe1b78f9694e5c" /><Relationship Type="http://schemas.openxmlformats.org/officeDocument/2006/relationships/slide" Target="/ppt/slides/slide33.xml" Id="Rb681967473224868" /><Relationship Type="http://schemas.openxmlformats.org/officeDocument/2006/relationships/slide" Target="/ppt/slides/slide34.xml" Id="R2bffa25bc9fd46a1" /><Relationship Type="http://schemas.openxmlformats.org/officeDocument/2006/relationships/slide" Target="/ppt/slides/slide35.xml" Id="R1029620724cf44d8" /><Relationship Type="http://schemas.openxmlformats.org/officeDocument/2006/relationships/slide" Target="/ppt/slides/slide36.xml" Id="Rab20f8503e2c4fdc" /><Relationship Type="http://schemas.openxmlformats.org/officeDocument/2006/relationships/slide" Target="/ppt/slides/slide37.xml" Id="Ra7e2c0c54b184f3a" /><Relationship Type="http://schemas.openxmlformats.org/officeDocument/2006/relationships/slide" Target="/ppt/slides/slide38.xml" Id="R529982dfe7d344a6" /><Relationship Type="http://schemas.openxmlformats.org/officeDocument/2006/relationships/slide" Target="/ppt/slides/slide39.xml" Id="R64b2a67b42ce4b3a" /><Relationship Type="http://schemas.openxmlformats.org/officeDocument/2006/relationships/slide" Target="/ppt/slides/slide40.xml" Id="R2fbfdfe414e94c33" /><Relationship Type="http://schemas.openxmlformats.org/officeDocument/2006/relationships/slide" Target="/ppt/slides/slide41.xml" Id="R38526fad68ec49f6" /><Relationship Type="http://schemas.openxmlformats.org/officeDocument/2006/relationships/slide" Target="/ppt/slides/slide42.xml" Id="Rbb535a0d17b648b0" /><Relationship Type="http://schemas.openxmlformats.org/officeDocument/2006/relationships/slide" Target="/ppt/slides/slide43.xml" Id="R43fab59e27af40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cb8ea719084d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49b3c3bdf048fb" /><Relationship Type="http://schemas.openxmlformats.org/officeDocument/2006/relationships/notesMaster" Target="/ppt/notesMasters/notesMaster1.xml" Id="R0f31f06a82e04c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42ccfcba2c4aeb" /><Relationship Type="http://schemas.openxmlformats.org/officeDocument/2006/relationships/notesMaster" Target="/ppt/notesMasters/notesMaster1.xml" Id="R1fbddf00c83840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882c7b1dac4e89" /><Relationship Type="http://schemas.openxmlformats.org/officeDocument/2006/relationships/notesMaster" Target="/ppt/notesMasters/notesMaster1.xml" Id="R1022eb51cca344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2b0c9099bf4ee5" /><Relationship Type="http://schemas.openxmlformats.org/officeDocument/2006/relationships/notesMaster" Target="/ppt/notesMasters/notesMaster1.xml" Id="R3bff36c8aa1f4a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f43a839ced413b" /><Relationship Type="http://schemas.openxmlformats.org/officeDocument/2006/relationships/notesMaster" Target="/ppt/notesMasters/notesMaster1.xml" Id="R35f66c67d9e545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f5d7f1f5074f34" /><Relationship Type="http://schemas.openxmlformats.org/officeDocument/2006/relationships/notesMaster" Target="/ppt/notesMasters/notesMaster1.xml" Id="Rccb8181555c044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931a5366c648cf" /><Relationship Type="http://schemas.openxmlformats.org/officeDocument/2006/relationships/notesMaster" Target="/ppt/notesMasters/notesMaster1.xml" Id="Ree9c50f38e3f4e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4c1d3ff37e44672" /><Relationship Type="http://schemas.openxmlformats.org/officeDocument/2006/relationships/notesMaster" Target="/ppt/notesMasters/notesMaster1.xml" Id="R06dc0cebc6a947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0c37dc2cc847f3" /><Relationship Type="http://schemas.openxmlformats.org/officeDocument/2006/relationships/notesMaster" Target="/ppt/notesMasters/notesMaster1.xml" Id="R8dc60f06b9a744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339994077044e7" /><Relationship Type="http://schemas.openxmlformats.org/officeDocument/2006/relationships/notesMaster" Target="/ppt/notesMasters/notesMaster1.xml" Id="R3493e3638d2546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71e9e5c913451c" /><Relationship Type="http://schemas.openxmlformats.org/officeDocument/2006/relationships/notesMaster" Target="/ppt/notesMasters/notesMaster1.xml" Id="Ree73424a87ce494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dec1cca27c441e" /><Relationship Type="http://schemas.openxmlformats.org/officeDocument/2006/relationships/notesMaster" Target="/ppt/notesMasters/notesMaster1.xml" Id="R114cb2daab6b4f1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0e48d96af304984" /><Relationship Type="http://schemas.openxmlformats.org/officeDocument/2006/relationships/notesMaster" Target="/ppt/notesMasters/notesMaster1.xml" Id="R78923df4aff5485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b9b2eb31960456e" /><Relationship Type="http://schemas.openxmlformats.org/officeDocument/2006/relationships/notesMaster" Target="/ppt/notesMasters/notesMaster1.xml" Id="R24de6ef466b94e8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a144b1c31a34bd2" /><Relationship Type="http://schemas.openxmlformats.org/officeDocument/2006/relationships/notesMaster" Target="/ppt/notesMasters/notesMaster1.xml" Id="Rdf8ebe73709542a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b466282c58a4dbc" /><Relationship Type="http://schemas.openxmlformats.org/officeDocument/2006/relationships/notesMaster" Target="/ppt/notesMasters/notesMaster1.xml" Id="R237090ca42914e8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cf0003bc4e54152" /><Relationship Type="http://schemas.openxmlformats.org/officeDocument/2006/relationships/notesMaster" Target="/ppt/notesMasters/notesMaster1.xml" Id="R48ea0b0387dc408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555c80244c841b6" /><Relationship Type="http://schemas.openxmlformats.org/officeDocument/2006/relationships/notesMaster" Target="/ppt/notesMasters/notesMaster1.xml" Id="R17f679079a74487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aedec42e6a04626" /><Relationship Type="http://schemas.openxmlformats.org/officeDocument/2006/relationships/notesMaster" Target="/ppt/notesMasters/notesMaster1.xml" Id="R42630bc28db7410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6e52f9c42994464" /><Relationship Type="http://schemas.openxmlformats.org/officeDocument/2006/relationships/notesMaster" Target="/ppt/notesMasters/notesMaster1.xml" Id="Rf4924b4b74e5405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5112c5eeaee4d65" /><Relationship Type="http://schemas.openxmlformats.org/officeDocument/2006/relationships/notesMaster" Target="/ppt/notesMasters/notesMaster1.xml" Id="Rdef47632f3414c5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96b04bfc1cb4952" /><Relationship Type="http://schemas.openxmlformats.org/officeDocument/2006/relationships/notesMaster" Target="/ppt/notesMasters/notesMaster1.xml" Id="R5ae5724cb87f401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9ee1f68a996474c" /><Relationship Type="http://schemas.openxmlformats.org/officeDocument/2006/relationships/notesMaster" Target="/ppt/notesMasters/notesMaster1.xml" Id="R57cb546b0331431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bd0dea03f824bf6" /><Relationship Type="http://schemas.openxmlformats.org/officeDocument/2006/relationships/notesMaster" Target="/ppt/notesMasters/notesMaster1.xml" Id="Rd074cb7e7b4e4ee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d3cb946a3bc4829" /><Relationship Type="http://schemas.openxmlformats.org/officeDocument/2006/relationships/notesMaster" Target="/ppt/notesMasters/notesMaster1.xml" Id="R340a156147034d5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b5476c088014483" /><Relationship Type="http://schemas.openxmlformats.org/officeDocument/2006/relationships/notesMaster" Target="/ppt/notesMasters/notesMaster1.xml" Id="R8417d7dc99f44d9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65ae86c60814ea7" /><Relationship Type="http://schemas.openxmlformats.org/officeDocument/2006/relationships/notesMaster" Target="/ppt/notesMasters/notesMaster1.xml" Id="Rd31d250aeeba4f4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78b213a5dec453e" /><Relationship Type="http://schemas.openxmlformats.org/officeDocument/2006/relationships/notesMaster" Target="/ppt/notesMasters/notesMaster1.xml" Id="Rc262b06dadd44e9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a46dadacfd1447a" /><Relationship Type="http://schemas.openxmlformats.org/officeDocument/2006/relationships/notesMaster" Target="/ppt/notesMasters/notesMaster1.xml" Id="R1ca90e95b67f416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86f0092dd584ee4" /><Relationship Type="http://schemas.openxmlformats.org/officeDocument/2006/relationships/notesMaster" Target="/ppt/notesMasters/notesMaster1.xml" Id="R0be2f2e6ad00477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893f0bb73ab4e6e" /><Relationship Type="http://schemas.openxmlformats.org/officeDocument/2006/relationships/notesMaster" Target="/ppt/notesMasters/notesMaster1.xml" Id="R28b73170ea444f6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2df33d7c5a446c4" /><Relationship Type="http://schemas.openxmlformats.org/officeDocument/2006/relationships/notesMaster" Target="/ppt/notesMasters/notesMaster1.xml" Id="Ra6308383df47499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356377844744378" /><Relationship Type="http://schemas.openxmlformats.org/officeDocument/2006/relationships/notesMaster" Target="/ppt/notesMasters/notesMaster1.xml" Id="R4e7978eae2a24a3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4a9bcc7f38b42aa" /><Relationship Type="http://schemas.openxmlformats.org/officeDocument/2006/relationships/notesMaster" Target="/ppt/notesMasters/notesMaster1.xml" Id="Rce2622976570443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6ba382ad97b4307" /><Relationship Type="http://schemas.openxmlformats.org/officeDocument/2006/relationships/notesMaster" Target="/ppt/notesMasters/notesMaster1.xml" Id="R0e168561687f428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27a686b9037427d" /><Relationship Type="http://schemas.openxmlformats.org/officeDocument/2006/relationships/notesMaster" Target="/ppt/notesMasters/notesMaster1.xml" Id="R6283ad904a10445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64d8d2e895a4ee8" /><Relationship Type="http://schemas.openxmlformats.org/officeDocument/2006/relationships/notesMaster" Target="/ppt/notesMasters/notesMaster1.xml" Id="Ra8b4a879616247e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3ac9bfb99b54fcf" /><Relationship Type="http://schemas.openxmlformats.org/officeDocument/2006/relationships/notesMaster" Target="/ppt/notesMasters/notesMaster1.xml" Id="Rbb876b30946d489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28b5233a3a54288" /><Relationship Type="http://schemas.openxmlformats.org/officeDocument/2006/relationships/notesMaster" Target="/ppt/notesMasters/notesMaster1.xml" Id="R0adf6e21a63d459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69b3f9954254d3c" /><Relationship Type="http://schemas.openxmlformats.org/officeDocument/2006/relationships/notesMaster" Target="/ppt/notesMasters/notesMaster1.xml" Id="R25d08dfad1604cd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36dd93c5680490b" /><Relationship Type="http://schemas.openxmlformats.org/officeDocument/2006/relationships/notesMaster" Target="/ppt/notesMasters/notesMaster1.xml" Id="Rb6d6ccad6dfe406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0c158b7bf6b46f3" /><Relationship Type="http://schemas.openxmlformats.org/officeDocument/2006/relationships/notesMaster" Target="/ppt/notesMasters/notesMaster1.xml" Id="Rbf0dbf7de4444e5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84921df19c340d7" /><Relationship Type="http://schemas.openxmlformats.org/officeDocument/2006/relationships/notesMaster" Target="/ppt/notesMasters/notesMaster1.xml" Id="R3bec45faf56246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problem, not the score. Say: this project starts from a compiled APK, where dependency metadata is absent. The tool recovers evidence, emits CycloneDX, maps vulnerabilities, and keeps uncertainty visible. Mention the three headline numbers only after stating that the v2 lane is source-known and not APK-only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normal SBOM tools are not enough: they consume source metadata. In an APK, Maven coordinates and exact versions are usually absent and R8 can transform the remaining bytecode. The research problem is evidence reconstruction, not manifest parsing.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present the papers as a list. Present the progression: signatures, structure, then learned models. The unresolved gap is exact version recovery under optimization together with standard SBOM and vulnerability output. Our design combines proven signals and reports uncertainty.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output is not only a list of library names. It is a CycloneDX SBOM with identity confidence, version confidence, ambiguous alternatives, and confidence-aware OSV results. Ambiguity is preserved because a false exact version can create a false confirmed CVE.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choices as engineering decisions, not decoration. Static hybrid analysis was chosen because the input is an APK and package/hash-only evidence is fragile. Maven references were chosen because exact versions are required for SBOM and CVE work. CycloneDX and PURL provide interoperability. OSV aligns with Maven package/version queries. R8 is treated as confidence-affecting because perfect resilience is not supported by the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actual MVP architecture. The main APK lane extracts and analyzes evidence, the separate Maven lane builds comparable versioned profiles, and both meet at the hybrid matcher. A confidence gate sits before CycloneDX and OSV so uncertain version evidence cannot become a strong vulnerability claim. The separation also makes the system reproducible: reference construction can evolve without hiding matcher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Evolution: the extractor began as a ZIP/DEX inventory, then added manifest decoding, native hashing, and finally forensic indicators for nonstandard DEX and protector-like packaging. We chose this because later confidence is only credible if the pipeline first knows which evidence is present or hidden. Code: src/apk_sbom/apk_extractor.py.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DEX analyzer started with packages and opcode counts. It then added class/method identity, graph and literal evidence, and later the Phase 3 multi-scale features. The key choice is to extract broadly but keep new features inert until control matrices justify scoring. Code: src/apk_sbom/dex_analyzer.py. Evidence: docs/evaluation/R8_MULTISCALE_FEATURE_DIAGNOSTICS.md.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lane evolved from a small manual list into a reproducible factory: fetch Maven artifacts and POMs, normalize JAR/AAR bytecode through D8, extract the same features as the APK, and store them in SQLite. We guard reference growth because adding the correct version can still regress another APK when adjacent versions are similar.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matcher evolved from package-driven candidate generation into weighted multi-signal fusion, then added artifact-family and version-ambiguity policies. The strongest project lesson is the evidence gate: a change that fixes one target but regresses controls is not promoted. Code: src/apk_sbom/matcher.py.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single-score view was too easy to overinterpret. The current model separates identity from exact version, records score-gap and distinctive evidence, and exports ambiguous alternatives. This is why uncertain versions cannot create confirmed vulnerabilities.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SBOM lane moved from internal result JSON to CycloneDX 1.5, then added Maven PURLs, evidence properties, separate identity/version confidence, ambiguity, and native hash-only file components. We chose CycloneDX because it connects directly to vulnerability and scanner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considered NVD-first mapping, but Maven coordinates align much better with OSV. The current lane batches queries, enriches and deduplicates aliases, extracts severity, and then classifies findings using the component confidence and source validation. Code: src/apk_sbom/vulnerability.py.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Reporting is not cosmetic. It is the transparency layer that keeps default matcher authority separate from experiment-only and AI assistance. All formats are generated from the same evidence, so uncertainty and provenance stay consistent. Code: src/apk_sbom/report.py.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layered design prevents claim inflation. Controlled and source-validated APKs support quantitative correctness claims. Smoke APKs support robustness claims. Limitation APKs show whether the tool warns honestly. Evidence: docs/evaluation/DATASET_DESIGN.md.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real APK is not counted because a source link exists. The proof bundle must identify the exact binary, matching source, resolved runtime dependency tree, generated report, and source-validation output. For difficult builds we used validation-only copies and exact module/configuration probing.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five layers. Controlled cases test mechanics. Clean real APKs provide strong exact evidence. Partial real APKs are the difficult, realistic population. Blocked is now zero. Limitation cases remain visible but are excluded from exact Maven-version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generated truth is 72 controlled fixtures, 102 source-validated real APKs split into 5 clean and 97 partial, plus 4 boundary cases. These counts come from data/results/evaluation/thesis-evaluation-tables.json, not the older planning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about the metric. Controlled fixtures can support full precision/recall/F1 because dependencies are known by construction. Real APKs use the resolved source tree to confirm the versions the tool emitted. That is not full dependency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normal metric first: 927 of 1837 emitted Maven versions confirmed across 102 source-validated real APKs. Then separate the v2 lane: 6772 exact emitted rows across 106 source-tree cases under exact source-version slices. It is an upper-bound recognition test, not APK-only production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where wording matters most. The v2 lane uses exact source coordinate-version slices, so it answers whether the matcher recognizes correct bytecode when candidate selection is bounded. It does not measure unconstrained APK-only production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screenshots of the generated project reports, not mockups. The clean F-Droid report shows 23 Maven components and zero returned vulnerabilities. The controlled Jackson Databind 2.9.10.8 report shows three confirmed HIGH advisories: CVE-2020-36518, CVE-2022-42003, and CVE-2022-42004.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concrete examples. F-Droid confirms versions such as okhttp 4.12.0, coroutines-android 1.7.3, and activity 1.10.1. The okio 2.8.0 candidate disagreed with source 3.7.0 and was not promoted as confirmed. activity-compose 1.10.1 is a matcher-recall case because the reference exists. collection-ktx 1.4.4 is a missing-reference case because the exact version is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strength, not an apology. The project records experiments that looked promising but failed controls. The production matcher stays conservative because target improvements were not allowed to hide regressions. Evidence: docs/thesis/EXPERIMENT_DECISION_LEDGER.md.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 task is deliberately not exact-version selection. Each row is classified into one of six evidence roles. Splits are grouped by APK case to reduce leakage. The labels and features come from existing matcher, transparency, Phase 5, and boundary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RandomForest was chosen because the evidence is structured and numeric, the model trains quickly, class weights handle imbalance, and feature importance is explainable. The result is 0.708 macro-F1, but suggestions remain report-only.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structured-token Transformer is strong even after obvious source shortcuts are removed. The raw-opcode Transformer is much weaker and does not beat a simple baseline under a case-heldout split. This is why the DL story includes both a useful prototype and a negative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AI as a guarded research contribution. The RandomForest is integrated only for report suggestions. The source-free MVP-safe Transformer reaches 0.882 macro-F1 and is a report-only risk-triage candidate. The raw-opcode model underperforms its baseline, so it remains an honest negative result. AI cannot select final versions or change SBOM/CVE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exact command was rerun through the project virtual environment and returned 10 of 10 checks with ready true. The RandomForest, five-epoch MVP-safe Transformer, and raw-opcode Transformer scripts were also rerun; the five-epoch structured model reproduced 0.882165 macro-F1. During the defense, show the saved metrics and reports instead of spending several minutes retraining. Avoid rebuilding the large DB or querying OSV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work is evidence-driven. The first priority is version-distinctive and candidate-recall evidence, then broader independent R8 data and stricter APK-only promotion controls. Native and hidden-code recovery remain separate research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three contributions: an end-to-end APK-to-SBOM pipeline, a transparent evaluation that keeps hard cases visible, and guarded matcher/AI research that does not overrule deterministic evidence. The next work is stronger version-specific evidence and larger independent R8 corpora. Then invite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when asked how the repository is organized. It shows the complete path from APK inputs and Maven reference databases through production modules, evaluation scripts, tests, Docker, and generated evidence under data/results.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Weights are evidence contributions, not probabilities, and some policies can adjust the final decision. The most important defense point is that optional API-reference and opcode tri-gram weights remain zero globally.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Docker image contains the Android and SBOM toolchain, while Compose bind-mounts the repository at /app so APK inputs, the 15.8 GB reference DB, and generated results remain visible and reusable on the host. The .dockerignore excludes large result, DB, source, and APK directories from the image build context; they are supplied through the bind mount.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when asked how APK types change expected behavior. The classifier is part of the evaluation interpretation, not an excuse to hide failures.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taxonomy prevents the 5,238 source-gap rows from being mislabeled as one kind of failure. Some are aliases or metadata-only; 2,281 are matcher recall and 442 are missing-reference candidates.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scoped Phase 5 trigger is the interesting middle ground: it retained four improvements without triggered regressions, but it stays experiment-only because the profiles are narrow and learned from a small candidate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excellent on exact and report-only labels but weaker on broad risk and mismatch categories. The ablation shows that no single feature family explains the result; the full structured evidence is useful, but the model remains diagnostic.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structured model performs well across all six report labels. The raw opcode corpus uses a stricter case-heldout setup but is still too small: only two APK cases per label, one held out for test. This supports the next-data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6b613efb9443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d51de85a8a4fb6" /><Relationship Type="http://schemas.openxmlformats.org/officeDocument/2006/relationships/slideLayout" Target="/ppt/slideLayouts/slideLayout1.xml" Id="Rb3b6ade754f245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b6ade754f245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2b3033353944211" /><Relationship Type="http://schemas.openxmlformats.org/officeDocument/2006/relationships/notesSlide" Target="/ppt/notesSlides/notesSlide1.xml" Id="R8f8a96ec546247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c81b9bf98ab4b24" /><Relationship Type="http://schemas.openxmlformats.org/officeDocument/2006/relationships/notesSlide" Target="/ppt/notesSlides/notesSlide2.xml" Id="R5ccbe709d5cf4f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aac66cd0254580" /><Relationship Type="http://schemas.openxmlformats.org/officeDocument/2006/relationships/notesSlide" Target="/ppt/notesSlides/notesSlide3.xml" Id="R0d55c937827f4e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3f38d5f7e546c9" /><Relationship Type="http://schemas.openxmlformats.org/officeDocument/2006/relationships/notesSlide" Target="/ppt/notesSlides/notesSlide4.xml" Id="R026d4b4894c24e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31d7bec06e4fb4" /><Relationship Type="http://schemas.openxmlformats.org/officeDocument/2006/relationships/notesSlide" Target="/ppt/notesSlides/notesSlide5.xml" Id="R2b227c99a92b4a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71596fc268a47d6" /><Relationship Type="http://schemas.openxmlformats.org/officeDocument/2006/relationships/notesSlide" Target="/ppt/notesSlides/notesSlide6.xml" Id="R81b99703b6a24f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3f0ef2bff15471b" /><Relationship Type="http://schemas.openxmlformats.org/officeDocument/2006/relationships/notesSlide" Target="/ppt/notesSlides/notesSlide7.xml" Id="R76cb0a12c32448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f8de08e5cf4bf9" /><Relationship Type="http://schemas.openxmlformats.org/officeDocument/2006/relationships/notesSlide" Target="/ppt/notesSlides/notesSlide8.xml" Id="Rcfba9d8b15ed4fa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dec537920d14636" /><Relationship Type="http://schemas.openxmlformats.org/officeDocument/2006/relationships/notesSlide" Target="/ppt/notesSlides/notesSlide9.xml" Id="Rd7b2200d592d4c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2255bd3eb014d1c" /><Relationship Type="http://schemas.openxmlformats.org/officeDocument/2006/relationships/notesSlide" Target="/ppt/notesSlides/notesSlide10.xml" Id="R104964e9e93a4b4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efa8e14adc342cb" /><Relationship Type="http://schemas.openxmlformats.org/officeDocument/2006/relationships/notesSlide" Target="/ppt/notesSlides/notesSlide11.xml" Id="R0b6271af09c84e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b97959167914b58" /><Relationship Type="http://schemas.openxmlformats.org/officeDocument/2006/relationships/notesSlide" Target="/ppt/notesSlides/notesSlide12.xml" Id="Rcdd08f2a1d884d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3b5497e985541c8" /><Relationship Type="http://schemas.openxmlformats.org/officeDocument/2006/relationships/notesSlide" Target="/ppt/notesSlides/notesSlide13.xml" Id="Raea6ec32990a4c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b7aa106444a48af" /><Relationship Type="http://schemas.openxmlformats.org/officeDocument/2006/relationships/notesSlide" Target="/ppt/notesSlides/notesSlide14.xml" Id="R7b4503e5bd7c47b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6223730b7524989" /><Relationship Type="http://schemas.openxmlformats.org/officeDocument/2006/relationships/notesSlide" Target="/ppt/notesSlides/notesSlide15.xml" Id="R4ecb07379e084ca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c5846b924a64979" /><Relationship Type="http://schemas.openxmlformats.org/officeDocument/2006/relationships/notesSlide" Target="/ppt/notesSlides/notesSlide16.xml" Id="R2464819db66244b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1f14998f17e4e4b" /><Relationship Type="http://schemas.openxmlformats.org/officeDocument/2006/relationships/notesSlide" Target="/ppt/notesSlides/notesSlide17.xml" Id="R75ee6d7854714a3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d6c189acab748ee" /><Relationship Type="http://schemas.openxmlformats.org/officeDocument/2006/relationships/notesSlide" Target="/ppt/notesSlides/notesSlide18.xml" Id="R592fbf3766a243e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5d9a60bdde04a49" /><Relationship Type="http://schemas.openxmlformats.org/officeDocument/2006/relationships/notesSlide" Target="/ppt/notesSlides/notesSlide19.xml" Id="R0057d9e2caf24c1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85103c7a4a8472f" /><Relationship Type="http://schemas.openxmlformats.org/officeDocument/2006/relationships/notesSlide" Target="/ppt/notesSlides/notesSlide20.xml" Id="Rc380a90110a64fc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bda87fd2b934b86" /><Relationship Type="http://schemas.openxmlformats.org/officeDocument/2006/relationships/notesSlide" Target="/ppt/notesSlides/notesSlide21.xml" Id="R846c09ad01c6409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123f1fff0534926" /><Relationship Type="http://schemas.openxmlformats.org/officeDocument/2006/relationships/image" Target="/ppt/media/image.png" Id="R362c6c541e774c07" /><Relationship Type="http://schemas.openxmlformats.org/officeDocument/2006/relationships/image" Target="/ppt/media/image2.png" Id="R36979d4a59b6411c" /><Relationship Type="http://schemas.openxmlformats.org/officeDocument/2006/relationships/notesSlide" Target="/ppt/notesSlides/notesSlide22.xml" Id="R5293709d3558486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d8a50b3c6bb49ab" /><Relationship Type="http://schemas.openxmlformats.org/officeDocument/2006/relationships/notesSlide" Target="/ppt/notesSlides/notesSlide23.xml" Id="R815a3f2104b443f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47e18e524464d33" /><Relationship Type="http://schemas.openxmlformats.org/officeDocument/2006/relationships/notesSlide" Target="/ppt/notesSlides/notesSlide24.xml" Id="R13c7aba4685848a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425ab54fbad42c0" /><Relationship Type="http://schemas.openxmlformats.org/officeDocument/2006/relationships/notesSlide" Target="/ppt/notesSlides/notesSlide25.xml" Id="R854330b059674d2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5deaed814b84f98" /><Relationship Type="http://schemas.openxmlformats.org/officeDocument/2006/relationships/notesSlide" Target="/ppt/notesSlides/notesSlide26.xml" Id="Rda64ea61314447b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d39895fbdaf41b5" /><Relationship Type="http://schemas.openxmlformats.org/officeDocument/2006/relationships/notesSlide" Target="/ppt/notesSlides/notesSlide27.xml" Id="R1b42f65b08cc415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6358bfb57064673" /><Relationship Type="http://schemas.openxmlformats.org/officeDocument/2006/relationships/notesSlide" Target="/ppt/notesSlides/notesSlide28.xml" Id="R5a803c7ffcc24f6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7b6a726bc8343e6" /><Relationship Type="http://schemas.openxmlformats.org/officeDocument/2006/relationships/image" Target="/ppt/media/image3.png" Id="R01316aec14584564" /><Relationship Type="http://schemas.openxmlformats.org/officeDocument/2006/relationships/notesSlide" Target="/ppt/notesSlides/notesSlide29.xml" Id="R91080b7fab4b485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a54dd9ff7994dd1" /><Relationship Type="http://schemas.openxmlformats.org/officeDocument/2006/relationships/notesSlide" Target="/ppt/notesSlides/notesSlide30.xml" Id="Rca49767b59d14ad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82862cfd535440f" /><Relationship Type="http://schemas.openxmlformats.org/officeDocument/2006/relationships/notesSlide" Target="/ppt/notesSlides/notesSlide31.xml" Id="R4dbf93a95ead4ee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87639f7574d459d" /><Relationship Type="http://schemas.openxmlformats.org/officeDocument/2006/relationships/notesSlide" Target="/ppt/notesSlides/notesSlide32.xml" Id="R52bd11f8ba2345b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bf253e0026540ae" /><Relationship Type="http://schemas.openxmlformats.org/officeDocument/2006/relationships/notesSlide" Target="/ppt/notesSlides/notesSlide33.xml" Id="R73738192840d4db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5c04b7b62b44ca2" /><Relationship Type="http://schemas.openxmlformats.org/officeDocument/2006/relationships/notesSlide" Target="/ppt/notesSlides/notesSlide34.xml" Id="Rb9fbc827316b470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bbb0a2a2fec4a91" /><Relationship Type="http://schemas.openxmlformats.org/officeDocument/2006/relationships/notesSlide" Target="/ppt/notesSlides/notesSlide35.xml" Id="Rdb197ff96f46405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c5ed35f35c74480" /><Relationship Type="http://schemas.openxmlformats.org/officeDocument/2006/relationships/notesSlide" Target="/ppt/notesSlides/notesSlide36.xml" Id="Ra7350fa904b94a1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b4262d907280435d" /><Relationship Type="http://schemas.openxmlformats.org/officeDocument/2006/relationships/notesSlide" Target="/ppt/notesSlides/notesSlide37.xml" Id="Rdef688e66c354d4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a123b5222b347a9" /><Relationship Type="http://schemas.openxmlformats.org/officeDocument/2006/relationships/notesSlide" Target="/ppt/notesSlides/notesSlide38.xml" Id="Rbe6c162fdd5b481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bd723654b3654d63" /><Relationship Type="http://schemas.openxmlformats.org/officeDocument/2006/relationships/notesSlide" Target="/ppt/notesSlides/notesSlide39.xml" Id="R58ee10a2acb04e0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2c67f5ade5041c8" /><Relationship Type="http://schemas.openxmlformats.org/officeDocument/2006/relationships/image" Target="/ppt/media/image4.png" Id="R4e0a819dd8904966" /><Relationship Type="http://schemas.openxmlformats.org/officeDocument/2006/relationships/image" Target="/ppt/media/image5.png" Id="Rafdd41f315c6448d" /><Relationship Type="http://schemas.openxmlformats.org/officeDocument/2006/relationships/notesSlide" Target="/ppt/notesSlides/notesSlide40.xml" Id="Rd290d8700dd2450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d0179a4e9314ccc" /><Relationship Type="http://schemas.openxmlformats.org/officeDocument/2006/relationships/image" Target="/ppt/media/image6.png" Id="Ra7ef4a8351254900" /><Relationship Type="http://schemas.openxmlformats.org/officeDocument/2006/relationships/image" Target="/ppt/media/image7.png" Id="R8e0d55272ac74f74" /><Relationship Type="http://schemas.openxmlformats.org/officeDocument/2006/relationships/image" Target="/ppt/media/image8.png" Id="R1fec73c85aa44968" /><Relationship Type="http://schemas.openxmlformats.org/officeDocument/2006/relationships/notesSlide" Target="/ppt/notesSlides/notesSlide41.xml" Id="Ra0f6e83b7d77435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f71b5e36deca4666" /><Relationship Type="http://schemas.openxmlformats.org/officeDocument/2006/relationships/image" Target="/ppt/media/image9.png" Id="Rf175881fbadf4de7" /><Relationship Type="http://schemas.openxmlformats.org/officeDocument/2006/relationships/image" Target="/ppt/media/image10.png" Id="R677635f8433b4efc" /><Relationship Type="http://schemas.openxmlformats.org/officeDocument/2006/relationships/notesSlide" Target="/ppt/notesSlides/notesSlide42.xml" Id="R36add321fc194d9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60df7589360e4730" /><Relationship Type="http://schemas.openxmlformats.org/officeDocument/2006/relationships/image" Target="/ppt/media/image11.png" Id="R1611cd47455b4ffb" /><Relationship Type="http://schemas.openxmlformats.org/officeDocument/2006/relationships/notesSlide" Target="/ppt/notesSlides/notesSlide43.xml" Id="R7db10acc234c42a7" /></Relationships>
</file>

<file path=ppt/slides/slide1.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0C0AB2A-4CB7-4148-ADDE-20EE2148AF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08D3FAC-0D11-40AE-98B8-C00836B586D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7E6E3A5-2E1C-4349-BB75-F804249D952E}"/>
              </a:ext>
            </a:extLst>
          </p:cNvPr>
          <p:cNvSpPr>
            <a:spLocks xmlns:a="http://schemas.openxmlformats.org/drawingml/2006/main" noGrp="1"/>
          </p:cNvSpPr>
          <p:nvPr/>
        </p:nvSpPr>
        <p:spPr>
          <a:xfrm xmlns:a="http://schemas.openxmlformats.org/drawingml/2006/main">
            <a:off x="685800" y="4953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4F7D76"/>
                </a:solidFill>
                <a:latin typeface="Aptos"/>
                <a:ea typeface="Aptos"/>
                <a:cs typeface="Aptos"/>
              </a:defRPr>
            </a:pPr>
            <a:r>
              <a:rPr sz="900" b="1">
                <a:solidFill>
                  <a:srgbClr val="4F7D76"/>
                </a:solidFill>
                <a:latin typeface="Aptos"/>
                <a:ea typeface="Aptos"/>
                <a:cs typeface="Aptos"/>
              </a:rPr>
              <a:t>PFE DEFENSE  /  JUNE 2026</a:t>
            </a:r>
          </a:p>
        </p:txBody>
      </p:sp>
      <p:sp>
        <p:nvSpPr>
          <p:cNvPr id="4" name="">
            <a:extLst xmlns:a="http://schemas.openxmlformats.org/drawingml/2006/main">
              <a:ext uri="{FF2B5EF4-FFF2-40B4-BE49-F238E27FC236}">
                <a16:creationId xmlns:a16="http://schemas.microsoft.com/office/drawing/2014/main" id="{9F8E53E5-246C-4BA8-92BC-BA6592813AC0}"/>
              </a:ext>
            </a:extLst>
          </p:cNvPr>
          <p:cNvSpPr>
            <a:spLocks xmlns:a="http://schemas.openxmlformats.org/drawingml/2006/main" noGrp="1"/>
          </p:cNvSpPr>
          <p:nvPr/>
        </p:nvSpPr>
        <p:spPr>
          <a:xfrm xmlns:a="http://schemas.openxmlformats.org/drawingml/2006/main">
            <a:off x="685800" y="1085850"/>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Evidence-Based</a:t>
            </a:r>
          </a:p>
        </p:txBody>
      </p:sp>
      <p:sp>
        <p:nvSpPr>
          <p:cNvPr id="5" name="">
            <a:extLst xmlns:a="http://schemas.openxmlformats.org/drawingml/2006/main">
              <a:ext uri="{FF2B5EF4-FFF2-40B4-BE49-F238E27FC236}">
                <a16:creationId xmlns:a16="http://schemas.microsoft.com/office/drawing/2014/main" id="{7B9AA849-1035-41BF-9AA4-7A05E0623CE1}"/>
              </a:ext>
            </a:extLst>
          </p:cNvPr>
          <p:cNvSpPr>
            <a:spLocks xmlns:a="http://schemas.openxmlformats.org/drawingml/2006/main" noGrp="1"/>
          </p:cNvSpPr>
          <p:nvPr/>
        </p:nvSpPr>
        <p:spPr>
          <a:xfrm xmlns:a="http://schemas.openxmlformats.org/drawingml/2006/main">
            <a:off x="685800" y="1638300"/>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SBOM Recovery</a:t>
            </a:r>
          </a:p>
        </p:txBody>
      </p:sp>
      <p:sp>
        <p:nvSpPr>
          <p:cNvPr id="6" name="">
            <a:extLst xmlns:a="http://schemas.openxmlformats.org/drawingml/2006/main">
              <a:ext uri="{FF2B5EF4-FFF2-40B4-BE49-F238E27FC236}">
                <a16:creationId xmlns:a16="http://schemas.microsoft.com/office/drawing/2014/main" id="{8D40A314-4A02-41AA-8F80-B9E75EE73FA9}"/>
              </a:ext>
            </a:extLst>
          </p:cNvPr>
          <p:cNvSpPr>
            <a:spLocks xmlns:a="http://schemas.openxmlformats.org/drawingml/2006/main" noGrp="1"/>
          </p:cNvSpPr>
          <p:nvPr/>
        </p:nvSpPr>
        <p:spPr>
          <a:xfrm xmlns:a="http://schemas.openxmlformats.org/drawingml/2006/main">
            <a:off x="70485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A9B6C9"/>
                </a:solidFill>
                <a:latin typeface="Aptos"/>
                <a:ea typeface="Aptos"/>
                <a:cs typeface="Aptos"/>
              </a:defRPr>
            </a:pPr>
            <a:r>
              <a:rPr sz="1800" b="1">
                <a:solidFill>
                  <a:srgbClr val="A9B6C9"/>
                </a:solidFill>
                <a:latin typeface="Aptos"/>
                <a:ea typeface="Aptos"/>
                <a:cs typeface="Aptos"/>
              </a:rPr>
              <a:t>from compiled Android APKs</a:t>
            </a:r>
          </a:p>
        </p:txBody>
      </p:sp>
      <p:sp>
        <p:nvSpPr>
          <p:cNvPr id="7" name="">
            <a:extLst xmlns:a="http://schemas.openxmlformats.org/drawingml/2006/main">
              <a:ext uri="{FF2B5EF4-FFF2-40B4-BE49-F238E27FC236}">
                <a16:creationId xmlns:a16="http://schemas.microsoft.com/office/drawing/2014/main" id="{6B806078-3DB6-497F-B1A8-FB666EEB57D9}"/>
              </a:ext>
            </a:extLst>
          </p:cNvPr>
          <p:cNvSpPr>
            <a:spLocks xmlns:a="http://schemas.openxmlformats.org/drawingml/2006/main" noGrp="1"/>
          </p:cNvSpPr>
          <p:nvPr/>
        </p:nvSpPr>
        <p:spPr>
          <a:xfrm xmlns:a="http://schemas.openxmlformats.org/drawingml/2006/main">
            <a:off x="704850" y="2952750"/>
            <a:ext cx="552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C6D0DE"/>
                </a:solidFill>
                <a:latin typeface="Aptos"/>
                <a:ea typeface="Aptos"/>
                <a:cs typeface="Aptos"/>
              </a:defRPr>
            </a:pPr>
            <a:r>
              <a:rPr sz="1275" b="0">
                <a:solidFill>
                  <a:srgbClr val="C6D0DE"/>
                </a:solidFill>
                <a:latin typeface="Aptos"/>
                <a:ea typeface="Aptos"/>
                <a:cs typeface="Aptos"/>
              </a:rPr>
              <a:t>Static evidence fusion, CycloneDX output, confidence-aware CVE mapping, and guarded AI assistance.</a:t>
            </a:r>
          </a:p>
        </p:txBody>
      </p:sp>
      <p:sp>
        <p:nvSpPr>
          <p:cNvPr id="8" name="">
            <a:extLst xmlns:a="http://schemas.openxmlformats.org/drawingml/2006/main">
              <a:ext uri="{FF2B5EF4-FFF2-40B4-BE49-F238E27FC236}">
                <a16:creationId xmlns:a16="http://schemas.microsoft.com/office/drawing/2014/main" id="{8636D43E-C3A7-476B-AEAA-BF694C253983}"/>
              </a:ext>
            </a:extLst>
          </p:cNvPr>
          <p:cNvSpPr>
            <a:spLocks xmlns:a="http://schemas.openxmlformats.org/drawingml/2006/main" noGrp="1"/>
          </p:cNvSpPr>
          <p:nvPr/>
        </p:nvSpPr>
        <p:spPr>
          <a:xfrm xmlns:a="http://schemas.openxmlformats.org/drawingml/2006/main">
            <a:off x="6972300" y="1047750"/>
            <a:ext cx="914400" cy="914400"/>
          </a:xfrm>
          <a:prstGeom xmlns:a="http://schemas.openxmlformats.org/drawingml/2006/main" prst="ellipse">
            <a:avLst/>
          </a:prstGeom>
          <a:solidFill xmlns:a="http://schemas.openxmlformats.org/drawingml/2006/main">
            <a:srgbClr val="22303C"/>
          </a:solidFill>
          <a:ln xmlns:a="http://schemas.openxmlformats.org/drawingml/2006/main" w="9525">
            <a:solidFill>
              <a:srgbClr val="365F7D"/>
            </a:solidFill>
            <a:prstDash val="solid"/>
          </a:ln>
        </p:spPr>
      </p:sp>
      <p:sp>
        <p:nvSpPr>
          <p:cNvPr id="9" name="">
            <a:extLst xmlns:a="http://schemas.openxmlformats.org/drawingml/2006/main">
              <a:ext uri="{FF2B5EF4-FFF2-40B4-BE49-F238E27FC236}">
                <a16:creationId xmlns:a16="http://schemas.microsoft.com/office/drawing/2014/main" id="{18C64643-A52E-462A-BC98-33EC6B9533F5}"/>
              </a:ext>
            </a:extLst>
          </p:cNvPr>
          <p:cNvSpPr>
            <a:spLocks xmlns:a="http://schemas.openxmlformats.org/drawingml/2006/main" noGrp="1"/>
          </p:cNvSpPr>
          <p:nvPr/>
        </p:nvSpPr>
        <p:spPr>
          <a:xfrm xmlns:a="http://schemas.openxmlformats.org/drawingml/2006/main">
            <a:off x="6972300" y="13906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APK</a:t>
            </a:r>
          </a:p>
        </p:txBody>
      </p:sp>
      <p:sp>
        <p:nvSpPr>
          <p:cNvPr id="10" name="">
            <a:extLst xmlns:a="http://schemas.openxmlformats.org/drawingml/2006/main">
              <a:ext uri="{FF2B5EF4-FFF2-40B4-BE49-F238E27FC236}">
                <a16:creationId xmlns:a16="http://schemas.microsoft.com/office/drawing/2014/main" id="{52A8A9C1-C57B-46C9-BA8F-9EC0560A5AF5}"/>
              </a:ext>
            </a:extLst>
          </p:cNvPr>
          <p:cNvSpPr>
            <a:spLocks xmlns:a="http://schemas.openxmlformats.org/drawingml/2006/main" noGrp="1"/>
          </p:cNvSpPr>
          <p:nvPr/>
        </p:nvSpPr>
        <p:spPr>
          <a:xfrm xmlns:a="http://schemas.openxmlformats.org/drawingml/2006/main">
            <a:off x="8858250" y="819150"/>
            <a:ext cx="914400" cy="914400"/>
          </a:xfrm>
          <a:prstGeom xmlns:a="http://schemas.openxmlformats.org/drawingml/2006/main" prst="ellipse">
            <a:avLst/>
          </a:prstGeom>
          <a:solidFill xmlns:a="http://schemas.openxmlformats.org/drawingml/2006/main">
            <a:srgbClr val="22303C"/>
          </a:solidFill>
          <a:ln xmlns:a="http://schemas.openxmlformats.org/drawingml/2006/main" w="9525">
            <a:solidFill>
              <a:srgbClr val="655F73"/>
            </a:solidFill>
            <a:prstDash val="solid"/>
          </a:ln>
        </p:spPr>
      </p:sp>
      <p:sp>
        <p:nvSpPr>
          <p:cNvPr id="11" name="">
            <a:extLst xmlns:a="http://schemas.openxmlformats.org/drawingml/2006/main">
              <a:ext uri="{FF2B5EF4-FFF2-40B4-BE49-F238E27FC236}">
                <a16:creationId xmlns:a16="http://schemas.microsoft.com/office/drawing/2014/main" id="{78CC42B7-628C-4D44-9E4A-3B9A54DCBA00}"/>
              </a:ext>
            </a:extLst>
          </p:cNvPr>
          <p:cNvSpPr>
            <a:spLocks xmlns:a="http://schemas.openxmlformats.org/drawingml/2006/main" noGrp="1"/>
          </p:cNvSpPr>
          <p:nvPr/>
        </p:nvSpPr>
        <p:spPr>
          <a:xfrm xmlns:a="http://schemas.openxmlformats.org/drawingml/2006/main">
            <a:off x="8858250" y="11620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DEX</a:t>
            </a:r>
          </a:p>
        </p:txBody>
      </p:sp>
      <p:sp>
        <p:nvSpPr>
          <p:cNvPr id="12" name="">
            <a:extLst xmlns:a="http://schemas.openxmlformats.org/drawingml/2006/main">
              <a:ext uri="{FF2B5EF4-FFF2-40B4-BE49-F238E27FC236}">
                <a16:creationId xmlns:a16="http://schemas.microsoft.com/office/drawing/2014/main" id="{15E63A7B-D4DD-4F12-ABE0-6822CAD40BFD}"/>
              </a:ext>
            </a:extLst>
          </p:cNvPr>
          <p:cNvSpPr>
            <a:spLocks xmlns:a="http://schemas.openxmlformats.org/drawingml/2006/main" noGrp="1"/>
          </p:cNvSpPr>
          <p:nvPr/>
        </p:nvSpPr>
        <p:spPr>
          <a:xfrm xmlns:a="http://schemas.openxmlformats.org/drawingml/2006/main">
            <a:off x="9848850" y="2209800"/>
            <a:ext cx="1200150" cy="1200150"/>
          </a:xfrm>
          <a:prstGeom xmlns:a="http://schemas.openxmlformats.org/drawingml/2006/main" prst="ellipse">
            <a:avLst/>
          </a:prstGeom>
          <a:solidFill xmlns:a="http://schemas.openxmlformats.org/drawingml/2006/main">
            <a:srgbClr val="4F7D76"/>
          </a:solidFill>
          <a:ln xmlns:a="http://schemas.openxmlformats.org/drawingml/2006/main" w="9525">
            <a:solidFill>
              <a:srgbClr val="4F7D76"/>
            </a:solidFill>
            <a:prstDash val="solid"/>
          </a:ln>
        </p:spPr>
      </p:sp>
      <p:sp>
        <p:nvSpPr>
          <p:cNvPr id="13" name="">
            <a:extLst xmlns:a="http://schemas.openxmlformats.org/drawingml/2006/main">
              <a:ext uri="{FF2B5EF4-FFF2-40B4-BE49-F238E27FC236}">
                <a16:creationId xmlns:a16="http://schemas.microsoft.com/office/drawing/2014/main" id="{72C05737-DA5D-46DE-92C7-50F34E9622DF}"/>
              </a:ext>
            </a:extLst>
          </p:cNvPr>
          <p:cNvSpPr>
            <a:spLocks xmlns:a="http://schemas.openxmlformats.org/drawingml/2006/main" noGrp="1"/>
          </p:cNvSpPr>
          <p:nvPr/>
        </p:nvSpPr>
        <p:spPr>
          <a:xfrm xmlns:a="http://schemas.openxmlformats.org/drawingml/2006/main">
            <a:off x="9848850" y="269557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FFFFFF"/>
                </a:solidFill>
                <a:latin typeface="Aptos"/>
                <a:ea typeface="Aptos"/>
                <a:cs typeface="Aptos"/>
              </a:defRPr>
            </a:pPr>
            <a:r>
              <a:rPr sz="1425" b="1">
                <a:solidFill>
                  <a:srgbClr val="FFFFFF"/>
                </a:solidFill>
                <a:latin typeface="Aptos"/>
                <a:ea typeface="Aptos"/>
                <a:cs typeface="Aptos"/>
              </a:rPr>
              <a:t>MATCH</a:t>
            </a:r>
          </a:p>
        </p:txBody>
      </p:sp>
      <p:sp>
        <p:nvSpPr>
          <p:cNvPr id="14" name="">
            <a:extLst xmlns:a="http://schemas.openxmlformats.org/drawingml/2006/main">
              <a:ext uri="{FF2B5EF4-FFF2-40B4-BE49-F238E27FC236}">
                <a16:creationId xmlns:a16="http://schemas.microsoft.com/office/drawing/2014/main" id="{D61298D7-FC91-4F2F-A71D-96DB71741121}"/>
              </a:ext>
            </a:extLst>
          </p:cNvPr>
          <p:cNvSpPr>
            <a:spLocks xmlns:a="http://schemas.openxmlformats.org/drawingml/2006/main" noGrp="1"/>
          </p:cNvSpPr>
          <p:nvPr/>
        </p:nvSpPr>
        <p:spPr>
          <a:xfrm xmlns:a="http://schemas.openxmlformats.org/drawingml/2006/main">
            <a:off x="8705850" y="3638550"/>
            <a:ext cx="914400" cy="914400"/>
          </a:xfrm>
          <a:prstGeom xmlns:a="http://schemas.openxmlformats.org/drawingml/2006/main" prst="ellipse">
            <a:avLst/>
          </a:prstGeom>
          <a:solidFill xmlns:a="http://schemas.openxmlformats.org/drawingml/2006/main">
            <a:srgbClr val="22303C"/>
          </a:solidFill>
          <a:ln xmlns:a="http://schemas.openxmlformats.org/drawingml/2006/main" w="9525">
            <a:solidFill>
              <a:srgbClr val="6F7C61"/>
            </a:solidFill>
            <a:prstDash val="solid"/>
          </a:ln>
        </p:spPr>
      </p:sp>
      <p:sp>
        <p:nvSpPr>
          <p:cNvPr id="15" name="">
            <a:extLst xmlns:a="http://schemas.openxmlformats.org/drawingml/2006/main">
              <a:ext uri="{FF2B5EF4-FFF2-40B4-BE49-F238E27FC236}">
                <a16:creationId xmlns:a16="http://schemas.microsoft.com/office/drawing/2014/main" id="{C5956937-5E7E-46B2-B96A-920E523144B7}"/>
              </a:ext>
            </a:extLst>
          </p:cNvPr>
          <p:cNvSpPr>
            <a:spLocks xmlns:a="http://schemas.openxmlformats.org/drawingml/2006/main" noGrp="1"/>
          </p:cNvSpPr>
          <p:nvPr/>
        </p:nvSpPr>
        <p:spPr>
          <a:xfrm xmlns:a="http://schemas.openxmlformats.org/drawingml/2006/main">
            <a:off x="8705850" y="39814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SBOM</a:t>
            </a:r>
          </a:p>
        </p:txBody>
      </p:sp>
      <p:sp>
        <p:nvSpPr>
          <p:cNvPr id="16" name="">
            <a:extLst xmlns:a="http://schemas.openxmlformats.org/drawingml/2006/main">
              <a:ext uri="{FF2B5EF4-FFF2-40B4-BE49-F238E27FC236}">
                <a16:creationId xmlns:a16="http://schemas.microsoft.com/office/drawing/2014/main" id="{4855A323-DED2-464A-A95F-8A357D7E4D9E}"/>
              </a:ext>
            </a:extLst>
          </p:cNvPr>
          <p:cNvSpPr>
            <a:spLocks xmlns:a="http://schemas.openxmlformats.org/drawingml/2006/main" noGrp="1"/>
          </p:cNvSpPr>
          <p:nvPr/>
        </p:nvSpPr>
        <p:spPr>
          <a:xfrm xmlns:a="http://schemas.openxmlformats.org/drawingml/2006/main">
            <a:off x="6762750" y="3409950"/>
            <a:ext cx="914400" cy="914400"/>
          </a:xfrm>
          <a:prstGeom xmlns:a="http://schemas.openxmlformats.org/drawingml/2006/main" prst="ellipse">
            <a:avLst/>
          </a:prstGeom>
          <a:solidFill xmlns:a="http://schemas.openxmlformats.org/drawingml/2006/main">
            <a:srgbClr val="22303C"/>
          </a:solidFill>
          <a:ln xmlns:a="http://schemas.openxmlformats.org/drawingml/2006/main" w="9525">
            <a:solidFill>
              <a:srgbClr val="A65C55"/>
            </a:solidFill>
            <a:prstDash val="solid"/>
          </a:ln>
        </p:spPr>
      </p:sp>
      <p:sp>
        <p:nvSpPr>
          <p:cNvPr id="17" name="">
            <a:extLst xmlns:a="http://schemas.openxmlformats.org/drawingml/2006/main">
              <a:ext uri="{FF2B5EF4-FFF2-40B4-BE49-F238E27FC236}">
                <a16:creationId xmlns:a16="http://schemas.microsoft.com/office/drawing/2014/main" id="{F9802B32-96D0-4B54-8D2B-57A3E6866DDA}"/>
              </a:ext>
            </a:extLst>
          </p:cNvPr>
          <p:cNvSpPr>
            <a:spLocks xmlns:a="http://schemas.openxmlformats.org/drawingml/2006/main" noGrp="1"/>
          </p:cNvSpPr>
          <p:nvPr/>
        </p:nvSpPr>
        <p:spPr>
          <a:xfrm xmlns:a="http://schemas.openxmlformats.org/drawingml/2006/main">
            <a:off x="6762750" y="37528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CVE</a:t>
            </a:r>
          </a:p>
        </p:txBody>
      </p:sp>
      <p:sp>
        <p:nvSpPr>
          <p:cNvPr id="18" name="rule">
            <a:extLst xmlns:a="http://schemas.openxmlformats.org/drawingml/2006/main">
              <a:ext uri="{FF2B5EF4-FFF2-40B4-BE49-F238E27FC236}">
                <a16:creationId xmlns:a16="http://schemas.microsoft.com/office/drawing/2014/main" id="{0F57AF33-7B67-459F-9475-3FAA88596E03}"/>
              </a:ext>
            </a:extLst>
          </p:cNvPr>
          <p:cNvSpPr>
            <a:spLocks xmlns:a="http://schemas.openxmlformats.org/drawingml/2006/main" noGrp="1"/>
          </p:cNvSpPr>
          <p:nvPr/>
        </p:nvSpPr>
        <p:spPr>
          <a:xfrm xmlns:a="http://schemas.openxmlformats.org/drawingml/2006/main">
            <a:off x="7810500" y="1466850"/>
            <a:ext cx="11620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9" name="rule">
            <a:extLst xmlns:a="http://schemas.openxmlformats.org/drawingml/2006/main">
              <a:ext uri="{FF2B5EF4-FFF2-40B4-BE49-F238E27FC236}">
                <a16:creationId xmlns:a16="http://schemas.microsoft.com/office/drawing/2014/main" id="{6B1DB354-4422-4851-A56E-5B79684E9DFF}"/>
              </a:ext>
            </a:extLst>
          </p:cNvPr>
          <p:cNvSpPr>
            <a:spLocks xmlns:a="http://schemas.openxmlformats.org/drawingml/2006/main" noGrp="1"/>
          </p:cNvSpPr>
          <p:nvPr/>
        </p:nvSpPr>
        <p:spPr>
          <a:xfrm xmlns:a="http://schemas.openxmlformats.org/drawingml/2006/main">
            <a:off x="9601200" y="1590675"/>
            <a:ext cx="76200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20" name="rule">
            <a:extLst xmlns:a="http://schemas.openxmlformats.org/drawingml/2006/main">
              <a:ext uri="{FF2B5EF4-FFF2-40B4-BE49-F238E27FC236}">
                <a16:creationId xmlns:a16="http://schemas.microsoft.com/office/drawing/2014/main" id="{CCA5FA0B-1A41-4E2B-AB8A-A6173E7AE348}"/>
              </a:ext>
            </a:extLst>
          </p:cNvPr>
          <p:cNvSpPr>
            <a:spLocks xmlns:a="http://schemas.openxmlformats.org/drawingml/2006/main" noGrp="1"/>
          </p:cNvSpPr>
          <p:nvPr/>
        </p:nvSpPr>
        <p:spPr>
          <a:xfrm xmlns:a="http://schemas.openxmlformats.org/drawingml/2006/main">
            <a:off x="9791700" y="3209925"/>
            <a:ext cx="8382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1" name="rule">
            <a:extLst xmlns:a="http://schemas.openxmlformats.org/drawingml/2006/main">
              <a:ext uri="{FF2B5EF4-FFF2-40B4-BE49-F238E27FC236}">
                <a16:creationId xmlns:a16="http://schemas.microsoft.com/office/drawing/2014/main" id="{5A7AA08C-3419-4BD6-B949-EEEEEC009EB5}"/>
              </a:ext>
            </a:extLst>
          </p:cNvPr>
          <p:cNvSpPr>
            <a:spLocks xmlns:a="http://schemas.openxmlformats.org/drawingml/2006/main" noGrp="1"/>
          </p:cNvSpPr>
          <p:nvPr/>
        </p:nvSpPr>
        <p:spPr>
          <a:xfrm xmlns:a="http://schemas.openxmlformats.org/drawingml/2006/main">
            <a:off x="7639050" y="3924300"/>
            <a:ext cx="11811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22" name="rule">
            <a:extLst xmlns:a="http://schemas.openxmlformats.org/drawingml/2006/main">
              <a:ext uri="{FF2B5EF4-FFF2-40B4-BE49-F238E27FC236}">
                <a16:creationId xmlns:a16="http://schemas.microsoft.com/office/drawing/2014/main" id="{8CCAAD05-16DD-4C19-BD72-E157DDC8DA12}"/>
              </a:ext>
            </a:extLst>
          </p:cNvPr>
          <p:cNvSpPr>
            <a:spLocks xmlns:a="http://schemas.openxmlformats.org/drawingml/2006/main" noGrp="1"/>
          </p:cNvSpPr>
          <p:nvPr/>
        </p:nvSpPr>
        <p:spPr>
          <a:xfrm xmlns:a="http://schemas.openxmlformats.org/drawingml/2006/main">
            <a:off x="7219950" y="2733675"/>
            <a:ext cx="19050" cy="7429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4B44ECB-0E17-47B6-9274-6CEE1E270622}"/>
              </a:ext>
            </a:extLst>
          </p:cNvPr>
          <p:cNvSpPr>
            <a:spLocks xmlns:a="http://schemas.openxmlformats.org/drawingml/2006/main" noGrp="1"/>
          </p:cNvSpPr>
          <p:nvPr/>
        </p:nvSpPr>
        <p:spPr>
          <a:xfrm xmlns:a="http://schemas.openxmlformats.org/drawingml/2006/main">
            <a:off x="666750" y="4705350"/>
            <a:ext cx="104775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C1BDCBB-BA19-4E96-87CE-7509878066CD}"/>
              </a:ext>
            </a:extLst>
          </p:cNvPr>
          <p:cNvSpPr>
            <a:spLocks xmlns:a="http://schemas.openxmlformats.org/drawingml/2006/main" noGrp="1"/>
          </p:cNvSpPr>
          <p:nvPr/>
        </p:nvSpPr>
        <p:spPr>
          <a:xfrm xmlns:a="http://schemas.openxmlformats.org/drawingml/2006/main">
            <a:off x="704850" y="49911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400" b="1">
                <a:solidFill>
                  <a:srgbClr val="4F7D76"/>
                </a:solidFill>
                <a:latin typeface="Aptos Display"/>
                <a:ea typeface="Aptos Display"/>
                <a:cs typeface="Aptos Display"/>
              </a:defRPr>
            </a:pPr>
            <a:r>
              <a:rPr sz="2400" b="1">
                <a:solidFill>
                  <a:srgbClr val="4F7D76"/>
                </a:solidFill>
                <a:latin typeface="Aptos Display"/>
                <a:ea typeface="Aptos Display"/>
                <a:cs typeface="Aptos Display"/>
              </a:rPr>
              <a:t>927 / 1837</a:t>
            </a:r>
          </a:p>
        </p:txBody>
      </p:sp>
      <p:sp>
        <p:nvSpPr>
          <p:cNvPr id="25" name="">
            <a:extLst xmlns:a="http://schemas.openxmlformats.org/drawingml/2006/main">
              <a:ext uri="{FF2B5EF4-FFF2-40B4-BE49-F238E27FC236}">
                <a16:creationId xmlns:a16="http://schemas.microsoft.com/office/drawing/2014/main" id="{A0E068C2-6E50-4C78-AAD6-EC93EC852F63}"/>
              </a:ext>
            </a:extLst>
          </p:cNvPr>
          <p:cNvSpPr>
            <a:spLocks xmlns:a="http://schemas.openxmlformats.org/drawingml/2006/main" noGrp="1"/>
          </p:cNvSpPr>
          <p:nvPr/>
        </p:nvSpPr>
        <p:spPr>
          <a:xfrm xmlns:a="http://schemas.openxmlformats.org/drawingml/2006/main">
            <a:off x="704850" y="55626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8C3D4"/>
                </a:solidFill>
                <a:latin typeface="Aptos"/>
                <a:ea typeface="Aptos"/>
                <a:cs typeface="Aptos"/>
              </a:defRPr>
            </a:pPr>
            <a:r>
              <a:rPr sz="975" b="0">
                <a:solidFill>
                  <a:srgbClr val="B8C3D4"/>
                </a:solidFill>
                <a:latin typeface="Aptos"/>
                <a:ea typeface="Aptos"/>
                <a:cs typeface="Aptos"/>
              </a:rPr>
              <a:t>normal source-validated emitted versions confirmed</a:t>
            </a:r>
          </a:p>
        </p:txBody>
      </p:sp>
      <p:sp>
        <p:nvSpPr>
          <p:cNvPr id="26" name="">
            <a:extLst xmlns:a="http://schemas.openxmlformats.org/drawingml/2006/main">
              <a:ext uri="{FF2B5EF4-FFF2-40B4-BE49-F238E27FC236}">
                <a16:creationId xmlns:a16="http://schemas.microsoft.com/office/drawing/2014/main" id="{0647FCFF-B71A-47B1-BDC1-3B0C6EC58140}"/>
              </a:ext>
            </a:extLst>
          </p:cNvPr>
          <p:cNvSpPr>
            <a:spLocks xmlns:a="http://schemas.openxmlformats.org/drawingml/2006/main" noGrp="1"/>
          </p:cNvSpPr>
          <p:nvPr/>
        </p:nvSpPr>
        <p:spPr>
          <a:xfrm xmlns:a="http://schemas.openxmlformats.org/drawingml/2006/main">
            <a:off x="4171950" y="49911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400" b="1">
                <a:solidFill>
                  <a:srgbClr val="6F7C61"/>
                </a:solidFill>
                <a:latin typeface="Aptos Display"/>
                <a:ea typeface="Aptos Display"/>
                <a:cs typeface="Aptos Display"/>
              </a:defRPr>
            </a:pPr>
            <a:r>
              <a:rPr sz="2400" b="1">
                <a:solidFill>
                  <a:srgbClr val="6F7C61"/>
                </a:solidFill>
                <a:latin typeface="Aptos Display"/>
                <a:ea typeface="Aptos Display"/>
                <a:cs typeface="Aptos Display"/>
              </a:rPr>
              <a:t>84 / 84</a:t>
            </a:r>
          </a:p>
        </p:txBody>
      </p:sp>
      <p:sp>
        <p:nvSpPr>
          <p:cNvPr id="27" name="">
            <a:extLst xmlns:a="http://schemas.openxmlformats.org/drawingml/2006/main">
              <a:ext uri="{FF2B5EF4-FFF2-40B4-BE49-F238E27FC236}">
                <a16:creationId xmlns:a16="http://schemas.microsoft.com/office/drawing/2014/main" id="{BF49D0E6-B783-48AB-9479-864E410B50DF}"/>
              </a:ext>
            </a:extLst>
          </p:cNvPr>
          <p:cNvSpPr>
            <a:spLocks xmlns:a="http://schemas.openxmlformats.org/drawingml/2006/main" noGrp="1"/>
          </p:cNvSpPr>
          <p:nvPr/>
        </p:nvSpPr>
        <p:spPr>
          <a:xfrm xmlns:a="http://schemas.openxmlformats.org/drawingml/2006/main">
            <a:off x="4171950" y="55626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8C3D4"/>
                </a:solidFill>
                <a:latin typeface="Aptos"/>
                <a:ea typeface="Aptos"/>
                <a:cs typeface="Aptos"/>
              </a:defRPr>
            </a:pPr>
            <a:r>
              <a:rPr sz="975" b="0">
                <a:solidFill>
                  <a:srgbClr val="B8C3D4"/>
                </a:solidFill>
                <a:latin typeface="Aptos"/>
                <a:ea typeface="Aptos"/>
                <a:cs typeface="Aptos"/>
              </a:rPr>
              <a:t>controlled expected Maven versions</a:t>
            </a:r>
          </a:p>
        </p:txBody>
      </p:sp>
      <p:sp>
        <p:nvSpPr>
          <p:cNvPr id="28" name="">
            <a:extLst xmlns:a="http://schemas.openxmlformats.org/drawingml/2006/main">
              <a:ext uri="{FF2B5EF4-FFF2-40B4-BE49-F238E27FC236}">
                <a16:creationId xmlns:a16="http://schemas.microsoft.com/office/drawing/2014/main" id="{D28E7733-7333-4911-85A8-2C453A0FD61B}"/>
              </a:ext>
            </a:extLst>
          </p:cNvPr>
          <p:cNvSpPr>
            <a:spLocks xmlns:a="http://schemas.openxmlformats.org/drawingml/2006/main" noGrp="1"/>
          </p:cNvSpPr>
          <p:nvPr/>
        </p:nvSpPr>
        <p:spPr>
          <a:xfrm xmlns:a="http://schemas.openxmlformats.org/drawingml/2006/main">
            <a:off x="7086600" y="499110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400" b="1">
                <a:solidFill>
                  <a:srgbClr val="8D754D"/>
                </a:solidFill>
                <a:latin typeface="Aptos Display"/>
                <a:ea typeface="Aptos Display"/>
                <a:cs typeface="Aptos Display"/>
              </a:defRPr>
            </a:pPr>
            <a:r>
              <a:rPr sz="2400" b="1">
                <a:solidFill>
                  <a:srgbClr val="8D754D"/>
                </a:solidFill>
                <a:latin typeface="Aptos Display"/>
                <a:ea typeface="Aptos Display"/>
                <a:cs typeface="Aptos Display"/>
              </a:rPr>
              <a:t>6772 / 6772</a:t>
            </a:r>
          </a:p>
        </p:txBody>
      </p:sp>
      <p:sp>
        <p:nvSpPr>
          <p:cNvPr id="29" name="">
            <a:extLst xmlns:a="http://schemas.openxmlformats.org/drawingml/2006/main">
              <a:ext uri="{FF2B5EF4-FFF2-40B4-BE49-F238E27FC236}">
                <a16:creationId xmlns:a16="http://schemas.microsoft.com/office/drawing/2014/main" id="{8022C2A7-F13F-4136-95C6-375112B3A648}"/>
              </a:ext>
            </a:extLst>
          </p:cNvPr>
          <p:cNvSpPr>
            <a:spLocks xmlns:a="http://schemas.openxmlformats.org/drawingml/2006/main" noGrp="1"/>
          </p:cNvSpPr>
          <p:nvPr/>
        </p:nvSpPr>
        <p:spPr>
          <a:xfrm xmlns:a="http://schemas.openxmlformats.org/drawingml/2006/main">
            <a:off x="7086600" y="55626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8C3D4"/>
                </a:solidFill>
                <a:latin typeface="Aptos"/>
                <a:ea typeface="Aptos"/>
                <a:cs typeface="Aptos"/>
              </a:defRPr>
            </a:pPr>
            <a:r>
              <a:rPr sz="975" b="0">
                <a:solidFill>
                  <a:srgbClr val="B8C3D4"/>
                </a:solidFill>
                <a:latin typeface="Aptos"/>
                <a:ea typeface="Aptos"/>
                <a:cs typeface="Aptos"/>
              </a:rPr>
              <a:t>source-known v2 lane, not APK-only accuracy</a:t>
            </a:r>
          </a:p>
        </p:txBody>
      </p:sp>
    </p:spTree>
    <p:extLst>
      <p:ext uri="{BB962C8B-B14F-4D97-AF65-F5344CB8AC3E}">
        <p14:creationId xmlns:p14="http://schemas.microsoft.com/office/powerpoint/2010/main" val="1357368139"/>
      </p:ext>
    </p:extLst>
  </p:cSld>
</p:sld>
</file>

<file path=ppt/slides/slide2.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A7FC70-C48E-4BF4-AD57-944BCBA74DFA}"/>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A65C55"/>
                </a:solidFill>
                <a:latin typeface="Aptos"/>
                <a:ea typeface="Aptos"/>
                <a:cs typeface="Aptos"/>
              </a:defRPr>
            </a:pPr>
            <a:r>
              <a:rPr sz="900" b="1">
                <a:solidFill>
                  <a:srgbClr val="A65C55"/>
                </a:solidFill>
                <a:latin typeface="Aptos"/>
                <a:ea typeface="Aptos"/>
                <a:cs typeface="Aptos"/>
              </a:rPr>
              <a:t>THE PROBLEM</a:t>
            </a:r>
          </a:p>
        </p:txBody>
      </p:sp>
      <p:sp>
        <p:nvSpPr>
          <p:cNvPr id="2" name="">
            <a:extLst xmlns:a="http://schemas.openxmlformats.org/drawingml/2006/main">
              <a:ext uri="{FF2B5EF4-FFF2-40B4-BE49-F238E27FC236}">
                <a16:creationId xmlns:a16="http://schemas.microsoft.com/office/drawing/2014/main" id="{5858D323-ED09-44A4-ACA2-3D173B8695C0}"/>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Compilation removes the dependency metadata SBOM tools expect</a:t>
            </a:r>
          </a:p>
        </p:txBody>
      </p:sp>
      <p:sp>
        <p:nvSpPr>
          <p:cNvPr id="3" name="">
            <a:extLst xmlns:a="http://schemas.openxmlformats.org/drawingml/2006/main">
              <a:ext uri="{FF2B5EF4-FFF2-40B4-BE49-F238E27FC236}">
                <a16:creationId xmlns:a16="http://schemas.microsoft.com/office/drawing/2014/main" id="{A393B47D-628D-4A4F-AB07-969E6A1B7B15}"/>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A52917C9-0EA5-4565-9A0E-76B8ABFB5777}"/>
              </a:ext>
            </a:extLst>
          </p:cNvPr>
          <p:cNvSpPr>
            <a:spLocks xmlns:a="http://schemas.openxmlformats.org/drawingml/2006/main" noGrp="1"/>
          </p:cNvSpPr>
          <p:nvPr/>
        </p:nvSpPr>
        <p:spPr>
          <a:xfrm xmlns:a="http://schemas.openxmlformats.org/drawingml/2006/main">
            <a:off x="666750" y="1504950"/>
            <a:ext cx="409575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5" name="">
            <a:extLst xmlns:a="http://schemas.openxmlformats.org/drawingml/2006/main">
              <a:ext uri="{FF2B5EF4-FFF2-40B4-BE49-F238E27FC236}">
                <a16:creationId xmlns:a16="http://schemas.microsoft.com/office/drawing/2014/main" id="{1538DD1D-2D44-47EC-B026-777003673E41}"/>
              </a:ext>
            </a:extLst>
          </p:cNvPr>
          <p:cNvSpPr>
            <a:spLocks xmlns:a="http://schemas.openxmlformats.org/drawingml/2006/main" noGrp="1"/>
          </p:cNvSpPr>
          <p:nvPr/>
        </p:nvSpPr>
        <p:spPr>
          <a:xfrm xmlns:a="http://schemas.openxmlformats.org/drawingml/2006/main">
            <a:off x="895350" y="1733550"/>
            <a:ext cx="1428750" cy="266700"/>
          </a:xfrm>
          <a:prstGeom xmlns:a="http://schemas.openxmlformats.org/drawingml/2006/main" prst="rect">
            <a:avLst/>
          </a:prstGeom>
          <a:solidFill xmlns:a="http://schemas.openxmlformats.org/drawingml/2006/main">
            <a:srgbClr val="EEF0EA"/>
          </a:solidFill>
          <a:ln xmlns:a="http://schemas.openxmlformats.org/drawingml/2006/main" w="9525">
            <a:solidFill>
              <a:srgbClr val="6F7C61"/>
            </a:solidFill>
            <a:prstDash val="solid"/>
          </a:ln>
        </p:spPr>
      </p:sp>
      <p:sp>
        <p:nvSpPr>
          <p:cNvPr id="6" name="">
            <a:extLst xmlns:a="http://schemas.openxmlformats.org/drawingml/2006/main">
              <a:ext uri="{FF2B5EF4-FFF2-40B4-BE49-F238E27FC236}">
                <a16:creationId xmlns:a16="http://schemas.microsoft.com/office/drawing/2014/main" id="{FF0B9103-FA7D-4A3F-9847-8015742B02B0}"/>
              </a:ext>
            </a:extLst>
          </p:cNvPr>
          <p:cNvSpPr>
            <a:spLocks xmlns:a="http://schemas.openxmlformats.org/drawingml/2006/main" noGrp="1"/>
          </p:cNvSpPr>
          <p:nvPr/>
        </p:nvSpPr>
        <p:spPr>
          <a:xfrm xmlns:a="http://schemas.openxmlformats.org/drawingml/2006/main">
            <a:off x="962025" y="1790700"/>
            <a:ext cx="1295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F7C61"/>
                </a:solidFill>
                <a:latin typeface="Aptos"/>
                <a:ea typeface="Aptos"/>
                <a:cs typeface="Aptos"/>
              </a:defRPr>
            </a:pPr>
            <a:r>
              <a:rPr sz="825" b="1">
                <a:solidFill>
                  <a:srgbClr val="6F7C61"/>
                </a:solidFill>
                <a:latin typeface="Aptos"/>
                <a:ea typeface="Aptos"/>
                <a:cs typeface="Aptos"/>
              </a:rPr>
              <a:t>SOURCE PROJECT</a:t>
            </a:r>
          </a:p>
        </p:txBody>
      </p:sp>
      <p:sp>
        <p:nvSpPr>
          <p:cNvPr id="7" name="">
            <a:extLst xmlns:a="http://schemas.openxmlformats.org/drawingml/2006/main">
              <a:ext uri="{FF2B5EF4-FFF2-40B4-BE49-F238E27FC236}">
                <a16:creationId xmlns:a16="http://schemas.microsoft.com/office/drawing/2014/main" id="{A311564E-CF29-42DA-8B0A-437D38CB4F31}"/>
              </a:ext>
            </a:extLst>
          </p:cNvPr>
          <p:cNvSpPr>
            <a:spLocks xmlns:a="http://schemas.openxmlformats.org/drawingml/2006/main" noGrp="1"/>
          </p:cNvSpPr>
          <p:nvPr/>
        </p:nvSpPr>
        <p:spPr>
          <a:xfrm xmlns:a="http://schemas.openxmlformats.org/drawingml/2006/main">
            <a:off x="895350" y="22098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202A33"/>
                </a:solidFill>
                <a:latin typeface="Aptos"/>
                <a:ea typeface="Aptos"/>
                <a:cs typeface="Aptos"/>
              </a:defRPr>
            </a:pPr>
            <a:r>
              <a:rPr sz="1875" b="1">
                <a:solidFill>
                  <a:srgbClr val="202A33"/>
                </a:solidFill>
                <a:latin typeface="Aptos"/>
                <a:ea typeface="Aptos"/>
                <a:cs typeface="Aptos"/>
              </a:rPr>
              <a:t>Dependencies are explicit</a:t>
            </a:r>
          </a:p>
        </p:txBody>
      </p:sp>
      <p:sp>
        <p:nvSpPr>
          <p:cNvPr id="8" name="">
            <a:extLst xmlns:a="http://schemas.openxmlformats.org/drawingml/2006/main">
              <a:ext uri="{FF2B5EF4-FFF2-40B4-BE49-F238E27FC236}">
                <a16:creationId xmlns:a16="http://schemas.microsoft.com/office/drawing/2014/main" id="{20599D26-ED56-463C-8A15-5F189BDF7C17}"/>
              </a:ext>
            </a:extLst>
          </p:cNvPr>
          <p:cNvSpPr>
            <a:spLocks xmlns:a="http://schemas.openxmlformats.org/drawingml/2006/main" noGrp="1"/>
          </p:cNvSpPr>
          <p:nvPr/>
        </p:nvSpPr>
        <p:spPr>
          <a:xfrm xmlns:a="http://schemas.openxmlformats.org/drawingml/2006/main">
            <a:off x="914400" y="2800350"/>
            <a:ext cx="95250" cy="400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DE9C19F-A7D1-4BD1-98D7-9B03BE858E21}"/>
              </a:ext>
            </a:extLst>
          </p:cNvPr>
          <p:cNvSpPr>
            <a:spLocks xmlns:a="http://schemas.openxmlformats.org/drawingml/2006/main" noGrp="1"/>
          </p:cNvSpPr>
          <p:nvPr/>
        </p:nvSpPr>
        <p:spPr>
          <a:xfrm xmlns:a="http://schemas.openxmlformats.org/drawingml/2006/main">
            <a:off x="1181100" y="27813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build.gradle</a:t>
            </a:r>
          </a:p>
        </p:txBody>
      </p:sp>
      <p:sp>
        <p:nvSpPr>
          <p:cNvPr id="10" name="">
            <a:extLst xmlns:a="http://schemas.openxmlformats.org/drawingml/2006/main">
              <a:ext uri="{FF2B5EF4-FFF2-40B4-BE49-F238E27FC236}">
                <a16:creationId xmlns:a16="http://schemas.microsoft.com/office/drawing/2014/main" id="{21D7CF4D-2AC7-4F69-9E84-7A641F5D41EE}"/>
              </a:ext>
            </a:extLst>
          </p:cNvPr>
          <p:cNvSpPr>
            <a:spLocks xmlns:a="http://schemas.openxmlformats.org/drawingml/2006/main" noGrp="1"/>
          </p:cNvSpPr>
          <p:nvPr/>
        </p:nvSpPr>
        <p:spPr>
          <a:xfrm xmlns:a="http://schemas.openxmlformats.org/drawingml/2006/main">
            <a:off x="1181100" y="2990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5717A"/>
                </a:solidFill>
                <a:latin typeface="Aptos"/>
                <a:ea typeface="Aptos"/>
                <a:cs typeface="Aptos"/>
              </a:defRPr>
            </a:pPr>
            <a:r>
              <a:rPr sz="900" b="0">
                <a:solidFill>
                  <a:srgbClr val="65717A"/>
                </a:solidFill>
                <a:latin typeface="Aptos"/>
                <a:ea typeface="Aptos"/>
                <a:cs typeface="Aptos"/>
              </a:rPr>
              <a:t>coordinates + versions</a:t>
            </a:r>
          </a:p>
        </p:txBody>
      </p:sp>
      <p:sp>
        <p:nvSpPr>
          <p:cNvPr id="11" name="">
            <a:extLst xmlns:a="http://schemas.openxmlformats.org/drawingml/2006/main">
              <a:ext uri="{FF2B5EF4-FFF2-40B4-BE49-F238E27FC236}">
                <a16:creationId xmlns:a16="http://schemas.microsoft.com/office/drawing/2014/main" id="{3A6A63FE-FA89-4AB7-8A5E-D635A640F187}"/>
              </a:ext>
            </a:extLst>
          </p:cNvPr>
          <p:cNvSpPr>
            <a:spLocks xmlns:a="http://schemas.openxmlformats.org/drawingml/2006/main" noGrp="1"/>
          </p:cNvSpPr>
          <p:nvPr/>
        </p:nvSpPr>
        <p:spPr>
          <a:xfrm xmlns:a="http://schemas.openxmlformats.org/drawingml/2006/main">
            <a:off x="914400" y="3390900"/>
            <a:ext cx="95250" cy="400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44FC558-FF88-4ADD-B903-32BAD3E0C35B}"/>
              </a:ext>
            </a:extLst>
          </p:cNvPr>
          <p:cNvSpPr>
            <a:spLocks xmlns:a="http://schemas.openxmlformats.org/drawingml/2006/main" noGrp="1"/>
          </p:cNvSpPr>
          <p:nvPr/>
        </p:nvSpPr>
        <p:spPr>
          <a:xfrm xmlns:a="http://schemas.openxmlformats.org/drawingml/2006/main">
            <a:off x="1181100" y="3371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version catalog</a:t>
            </a:r>
          </a:p>
        </p:txBody>
      </p:sp>
      <p:sp>
        <p:nvSpPr>
          <p:cNvPr id="13" name="">
            <a:extLst xmlns:a="http://schemas.openxmlformats.org/drawingml/2006/main">
              <a:ext uri="{FF2B5EF4-FFF2-40B4-BE49-F238E27FC236}">
                <a16:creationId xmlns:a16="http://schemas.microsoft.com/office/drawing/2014/main" id="{699DD664-132C-4FA4-950D-3594FDC10FD7}"/>
              </a:ext>
            </a:extLst>
          </p:cNvPr>
          <p:cNvSpPr>
            <a:spLocks xmlns:a="http://schemas.openxmlformats.org/drawingml/2006/main" noGrp="1"/>
          </p:cNvSpPr>
          <p:nvPr/>
        </p:nvSpPr>
        <p:spPr>
          <a:xfrm xmlns:a="http://schemas.openxmlformats.org/drawingml/2006/main">
            <a:off x="1181100" y="35814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5717A"/>
                </a:solidFill>
                <a:latin typeface="Aptos"/>
                <a:ea typeface="Aptos"/>
                <a:cs typeface="Aptos"/>
              </a:defRPr>
            </a:pPr>
            <a:r>
              <a:rPr sz="900" b="0">
                <a:solidFill>
                  <a:srgbClr val="65717A"/>
                </a:solidFill>
                <a:latin typeface="Aptos"/>
                <a:ea typeface="Aptos"/>
                <a:cs typeface="Aptos"/>
              </a:rPr>
              <a:t>shared dependency policy</a:t>
            </a:r>
          </a:p>
        </p:txBody>
      </p:sp>
      <p:sp>
        <p:nvSpPr>
          <p:cNvPr id="14" name="">
            <a:extLst xmlns:a="http://schemas.openxmlformats.org/drawingml/2006/main">
              <a:ext uri="{FF2B5EF4-FFF2-40B4-BE49-F238E27FC236}">
                <a16:creationId xmlns:a16="http://schemas.microsoft.com/office/drawing/2014/main" id="{8C2EA6BE-C15D-4167-87EB-D334C4EF7276}"/>
              </a:ext>
            </a:extLst>
          </p:cNvPr>
          <p:cNvSpPr>
            <a:spLocks xmlns:a="http://schemas.openxmlformats.org/drawingml/2006/main" noGrp="1"/>
          </p:cNvSpPr>
          <p:nvPr/>
        </p:nvSpPr>
        <p:spPr>
          <a:xfrm xmlns:a="http://schemas.openxmlformats.org/drawingml/2006/main">
            <a:off x="914400" y="3981450"/>
            <a:ext cx="95250" cy="400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CFE9B43-C961-49B5-A4FB-296AE688BA0F}"/>
              </a:ext>
            </a:extLst>
          </p:cNvPr>
          <p:cNvSpPr>
            <a:spLocks xmlns:a="http://schemas.openxmlformats.org/drawingml/2006/main" noGrp="1"/>
          </p:cNvSpPr>
          <p:nvPr/>
        </p:nvSpPr>
        <p:spPr>
          <a:xfrm xmlns:a="http://schemas.openxmlformats.org/drawingml/2006/main">
            <a:off x="1181100" y="39624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lock / tree</a:t>
            </a:r>
          </a:p>
        </p:txBody>
      </p:sp>
      <p:sp>
        <p:nvSpPr>
          <p:cNvPr id="16" name="">
            <a:extLst xmlns:a="http://schemas.openxmlformats.org/drawingml/2006/main">
              <a:ext uri="{FF2B5EF4-FFF2-40B4-BE49-F238E27FC236}">
                <a16:creationId xmlns:a16="http://schemas.microsoft.com/office/drawing/2014/main" id="{02E61D6F-EC71-4441-9F00-1AD0CDF8BBD8}"/>
              </a:ext>
            </a:extLst>
          </p:cNvPr>
          <p:cNvSpPr>
            <a:spLocks xmlns:a="http://schemas.openxmlformats.org/drawingml/2006/main" noGrp="1"/>
          </p:cNvSpPr>
          <p:nvPr/>
        </p:nvSpPr>
        <p:spPr>
          <a:xfrm xmlns:a="http://schemas.openxmlformats.org/drawingml/2006/main">
            <a:off x="1181100" y="41719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5717A"/>
                </a:solidFill>
                <a:latin typeface="Aptos"/>
                <a:ea typeface="Aptos"/>
                <a:cs typeface="Aptos"/>
              </a:defRPr>
            </a:pPr>
            <a:r>
              <a:rPr sz="900" b="0">
                <a:solidFill>
                  <a:srgbClr val="65717A"/>
                </a:solidFill>
                <a:latin typeface="Aptos"/>
                <a:ea typeface="Aptos"/>
                <a:cs typeface="Aptos"/>
              </a:rPr>
              <a:t>resolved transitives</a:t>
            </a:r>
          </a:p>
        </p:txBody>
      </p:sp>
      <p:sp>
        <p:nvSpPr>
          <p:cNvPr id="17" name="">
            <a:extLst xmlns:a="http://schemas.openxmlformats.org/drawingml/2006/main">
              <a:ext uri="{FF2B5EF4-FFF2-40B4-BE49-F238E27FC236}">
                <a16:creationId xmlns:a16="http://schemas.microsoft.com/office/drawing/2014/main" id="{DCE46505-5631-4AB1-B662-6A0172E176E9}"/>
              </a:ext>
            </a:extLst>
          </p:cNvPr>
          <p:cNvSpPr>
            <a:spLocks xmlns:a="http://schemas.openxmlformats.org/drawingml/2006/main" noGrp="1"/>
          </p:cNvSpPr>
          <p:nvPr/>
        </p:nvSpPr>
        <p:spPr>
          <a:xfrm xmlns:a="http://schemas.openxmlformats.org/drawingml/2006/main">
            <a:off x="895350" y="4762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6F7C61"/>
                </a:solidFill>
                <a:latin typeface="Aptos"/>
                <a:ea typeface="Aptos"/>
                <a:cs typeface="Aptos"/>
              </a:defRPr>
            </a:pPr>
            <a:r>
              <a:rPr sz="1200" b="1">
                <a:solidFill>
                  <a:srgbClr val="6F7C61"/>
                </a:solidFill>
                <a:latin typeface="Aptos"/>
                <a:ea typeface="Aptos"/>
                <a:cs typeface="Aptos"/>
              </a:rPr>
              <a:t>Normal source-based SBOM</a:t>
            </a:r>
          </a:p>
        </p:txBody>
      </p:sp>
      <p:sp>
        <p:nvSpPr>
          <p:cNvPr id="18" name="rule">
            <a:extLst xmlns:a="http://schemas.openxmlformats.org/drawingml/2006/main">
              <a:ext uri="{FF2B5EF4-FFF2-40B4-BE49-F238E27FC236}">
                <a16:creationId xmlns:a16="http://schemas.microsoft.com/office/drawing/2014/main" id="{DAEA5FBC-AC46-4479-806C-4CBC16C64587}"/>
              </a:ext>
            </a:extLst>
          </p:cNvPr>
          <p:cNvSpPr>
            <a:spLocks xmlns:a="http://schemas.openxmlformats.org/drawingml/2006/main" noGrp="1"/>
          </p:cNvSpPr>
          <p:nvPr/>
        </p:nvSpPr>
        <p:spPr>
          <a:xfrm xmlns:a="http://schemas.openxmlformats.org/drawingml/2006/main">
            <a:off x="4933950" y="3152775"/>
            <a:ext cx="1409700" cy="190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40CEBEC-0034-4043-BC58-F2666C8EE596}"/>
              </a:ext>
            </a:extLst>
          </p:cNvPr>
          <p:cNvSpPr>
            <a:spLocks xmlns:a="http://schemas.openxmlformats.org/drawingml/2006/main" noGrp="1"/>
          </p:cNvSpPr>
          <p:nvPr/>
        </p:nvSpPr>
        <p:spPr>
          <a:xfrm xmlns:a="http://schemas.openxmlformats.org/drawingml/2006/main">
            <a:off x="6267450" y="3067050"/>
            <a:ext cx="228600" cy="190500"/>
          </a:xfrm>
          <a:prstGeom xmlns:a="http://schemas.openxmlformats.org/drawingml/2006/main" prst="chevron">
            <a:avLst/>
          </a:prstGeom>
          <a:solidFill xmlns:a="http://schemas.openxmlformats.org/drawingml/2006/main">
            <a:srgbClr val="A65C5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C65DC54-9BE5-4CD9-A70B-71ADA7EF94DB}"/>
              </a:ext>
            </a:extLst>
          </p:cNvPr>
          <p:cNvSpPr>
            <a:spLocks xmlns:a="http://schemas.openxmlformats.org/drawingml/2006/main" noGrp="1"/>
          </p:cNvSpPr>
          <p:nvPr/>
        </p:nvSpPr>
        <p:spPr>
          <a:xfrm xmlns:a="http://schemas.openxmlformats.org/drawingml/2006/main">
            <a:off x="4933950" y="2876550"/>
            <a:ext cx="1562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a:solidFill>
                  <a:srgbClr val="A65C55"/>
                </a:solidFill>
                <a:latin typeface="Aptos"/>
                <a:ea typeface="Aptos"/>
                <a:cs typeface="Aptos"/>
              </a:defRPr>
            </a:pPr>
            <a:r>
              <a:rPr sz="750" b="1">
                <a:solidFill>
                  <a:srgbClr val="A65C55"/>
                </a:solidFill>
                <a:latin typeface="Aptos"/>
                <a:ea typeface="Aptos"/>
                <a:cs typeface="Aptos"/>
              </a:rPr>
              <a:t>compile + R8</a:t>
            </a:r>
          </a:p>
        </p:txBody>
      </p:sp>
      <p:sp>
        <p:nvSpPr>
          <p:cNvPr id="21" name="">
            <a:extLst xmlns:a="http://schemas.openxmlformats.org/drawingml/2006/main">
              <a:ext uri="{FF2B5EF4-FFF2-40B4-BE49-F238E27FC236}">
                <a16:creationId xmlns:a16="http://schemas.microsoft.com/office/drawing/2014/main" id="{1B402514-73DB-4328-9783-097ACD2CCB04}"/>
              </a:ext>
            </a:extLst>
          </p:cNvPr>
          <p:cNvSpPr>
            <a:spLocks xmlns:a="http://schemas.openxmlformats.org/drawingml/2006/main" noGrp="1"/>
          </p:cNvSpPr>
          <p:nvPr/>
        </p:nvSpPr>
        <p:spPr>
          <a:xfrm xmlns:a="http://schemas.openxmlformats.org/drawingml/2006/main">
            <a:off x="5067300" y="35242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1">
                <a:solidFill>
                  <a:srgbClr val="A65C55"/>
                </a:solidFill>
                <a:latin typeface="Aptos"/>
                <a:ea typeface="Aptos"/>
                <a:cs typeface="Aptos"/>
              </a:defRPr>
            </a:pPr>
            <a:r>
              <a:rPr sz="975" b="1">
                <a:solidFill>
                  <a:srgbClr val="A65C55"/>
                </a:solidFill>
                <a:latin typeface="Aptos"/>
                <a:ea typeface="Aptos"/>
                <a:cs typeface="Aptos"/>
              </a:rPr>
              <a:t>metadata lost</a:t>
            </a:r>
          </a:p>
        </p:txBody>
      </p:sp>
      <p:sp>
        <p:nvSpPr>
          <p:cNvPr id="22" name="">
            <a:extLst xmlns:a="http://schemas.openxmlformats.org/drawingml/2006/main">
              <a:ext uri="{FF2B5EF4-FFF2-40B4-BE49-F238E27FC236}">
                <a16:creationId xmlns:a16="http://schemas.microsoft.com/office/drawing/2014/main" id="{7C3A91F4-1607-4B33-8D61-F068B22F576B}"/>
              </a:ext>
            </a:extLst>
          </p:cNvPr>
          <p:cNvSpPr>
            <a:spLocks xmlns:a="http://schemas.openxmlformats.org/drawingml/2006/main" noGrp="1"/>
          </p:cNvSpPr>
          <p:nvPr/>
        </p:nvSpPr>
        <p:spPr>
          <a:xfrm xmlns:a="http://schemas.openxmlformats.org/drawingml/2006/main">
            <a:off x="6667500" y="1504950"/>
            <a:ext cx="4762500" cy="38100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23" name="">
            <a:extLst xmlns:a="http://schemas.openxmlformats.org/drawingml/2006/main">
              <a:ext uri="{FF2B5EF4-FFF2-40B4-BE49-F238E27FC236}">
                <a16:creationId xmlns:a16="http://schemas.microsoft.com/office/drawing/2014/main" id="{DC27496D-495B-46FE-8DA3-741BDB0509BE}"/>
              </a:ext>
            </a:extLst>
          </p:cNvPr>
          <p:cNvSpPr>
            <a:spLocks xmlns:a="http://schemas.openxmlformats.org/drawingml/2006/main" noGrp="1"/>
          </p:cNvSpPr>
          <p:nvPr/>
        </p:nvSpPr>
        <p:spPr>
          <a:xfrm xmlns:a="http://schemas.openxmlformats.org/drawingml/2006/main">
            <a:off x="6896100" y="1733550"/>
            <a:ext cx="13525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24" name="">
            <a:extLst xmlns:a="http://schemas.openxmlformats.org/drawingml/2006/main">
              <a:ext uri="{FF2B5EF4-FFF2-40B4-BE49-F238E27FC236}">
                <a16:creationId xmlns:a16="http://schemas.microsoft.com/office/drawing/2014/main" id="{F7618D2E-F62B-42BE-A877-7FAB54D73CC4}"/>
              </a:ext>
            </a:extLst>
          </p:cNvPr>
          <p:cNvSpPr>
            <a:spLocks xmlns:a="http://schemas.openxmlformats.org/drawingml/2006/main" noGrp="1"/>
          </p:cNvSpPr>
          <p:nvPr/>
        </p:nvSpPr>
        <p:spPr>
          <a:xfrm xmlns:a="http://schemas.openxmlformats.org/drawingml/2006/main">
            <a:off x="6962775" y="1790700"/>
            <a:ext cx="1219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COMPILED APK</a:t>
            </a:r>
          </a:p>
        </p:txBody>
      </p:sp>
      <p:sp>
        <p:nvSpPr>
          <p:cNvPr id="25" name="">
            <a:extLst xmlns:a="http://schemas.openxmlformats.org/drawingml/2006/main">
              <a:ext uri="{FF2B5EF4-FFF2-40B4-BE49-F238E27FC236}">
                <a16:creationId xmlns:a16="http://schemas.microsoft.com/office/drawing/2014/main" id="{ADE72E14-0A59-4EE9-B217-8DE0AA4ADC03}"/>
              </a:ext>
            </a:extLst>
          </p:cNvPr>
          <p:cNvSpPr>
            <a:spLocks xmlns:a="http://schemas.openxmlformats.org/drawingml/2006/main" noGrp="1"/>
          </p:cNvSpPr>
          <p:nvPr/>
        </p:nvSpPr>
        <p:spPr>
          <a:xfrm xmlns:a="http://schemas.openxmlformats.org/drawingml/2006/main">
            <a:off x="6896100" y="22098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FFFFFF"/>
                </a:solidFill>
                <a:latin typeface="Aptos"/>
                <a:ea typeface="Aptos"/>
                <a:cs typeface="Aptos"/>
              </a:defRPr>
            </a:pPr>
            <a:r>
              <a:rPr sz="1875" b="1">
                <a:solidFill>
                  <a:srgbClr val="FFFFFF"/>
                </a:solidFill>
                <a:latin typeface="Aptos"/>
                <a:ea typeface="Aptos"/>
                <a:cs typeface="Aptos"/>
              </a:rPr>
              <a:t>Evidence is indirect</a:t>
            </a:r>
          </a:p>
        </p:txBody>
      </p:sp>
      <p:sp>
        <p:nvSpPr>
          <p:cNvPr id="26" name="">
            <a:extLst xmlns:a="http://schemas.openxmlformats.org/drawingml/2006/main">
              <a:ext uri="{FF2B5EF4-FFF2-40B4-BE49-F238E27FC236}">
                <a16:creationId xmlns:a16="http://schemas.microsoft.com/office/drawing/2014/main" id="{8195F02B-734E-4391-9A95-CB362451CBE0}"/>
              </a:ext>
            </a:extLst>
          </p:cNvPr>
          <p:cNvSpPr>
            <a:spLocks xmlns:a="http://schemas.openxmlformats.org/drawingml/2006/main" noGrp="1"/>
          </p:cNvSpPr>
          <p:nvPr/>
        </p:nvSpPr>
        <p:spPr>
          <a:xfrm xmlns:a="http://schemas.openxmlformats.org/drawingml/2006/main">
            <a:off x="6915150" y="2838450"/>
            <a:ext cx="171450" cy="1714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6BC9DE9-0C8B-4E30-A6E8-86B980857778}"/>
              </a:ext>
            </a:extLst>
          </p:cNvPr>
          <p:cNvSpPr>
            <a:spLocks xmlns:a="http://schemas.openxmlformats.org/drawingml/2006/main" noGrp="1"/>
          </p:cNvSpPr>
          <p:nvPr/>
        </p:nvSpPr>
        <p:spPr>
          <a:xfrm xmlns:a="http://schemas.openxmlformats.org/drawingml/2006/main">
            <a:off x="7219950" y="28003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FFFFFF"/>
                </a:solidFill>
                <a:latin typeface="Aptos"/>
                <a:ea typeface="Aptos"/>
                <a:cs typeface="Aptos"/>
              </a:defRPr>
            </a:pPr>
            <a:r>
              <a:rPr sz="1050" b="1">
                <a:solidFill>
                  <a:srgbClr val="FFFFFF"/>
                </a:solidFill>
                <a:latin typeface="Aptos"/>
                <a:ea typeface="Aptos"/>
                <a:cs typeface="Aptos"/>
              </a:rPr>
              <a:t>DEX bytecode</a:t>
            </a:r>
          </a:p>
        </p:txBody>
      </p:sp>
      <p:sp>
        <p:nvSpPr>
          <p:cNvPr id="28" name="">
            <a:extLst xmlns:a="http://schemas.openxmlformats.org/drawingml/2006/main">
              <a:ext uri="{FF2B5EF4-FFF2-40B4-BE49-F238E27FC236}">
                <a16:creationId xmlns:a16="http://schemas.microsoft.com/office/drawing/2014/main" id="{4012004A-8BB1-49DC-9DA6-9067EE65F59D}"/>
              </a:ext>
            </a:extLst>
          </p:cNvPr>
          <p:cNvSpPr>
            <a:spLocks xmlns:a="http://schemas.openxmlformats.org/drawingml/2006/main" noGrp="1"/>
          </p:cNvSpPr>
          <p:nvPr/>
        </p:nvSpPr>
        <p:spPr>
          <a:xfrm xmlns:a="http://schemas.openxmlformats.org/drawingml/2006/main">
            <a:off x="8705850" y="28003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AEBACB"/>
                </a:solidFill>
                <a:latin typeface="Aptos"/>
                <a:ea typeface="Aptos"/>
                <a:cs typeface="Aptos"/>
              </a:defRPr>
            </a:pPr>
            <a:r>
              <a:rPr sz="975" b="0">
                <a:solidFill>
                  <a:srgbClr val="AEBACB"/>
                </a:solidFill>
                <a:latin typeface="Aptos"/>
                <a:ea typeface="Aptos"/>
                <a:cs typeface="Aptos"/>
              </a:rPr>
              <a:t>classes mixed and optimized</a:t>
            </a:r>
          </a:p>
        </p:txBody>
      </p:sp>
      <p:sp>
        <p:nvSpPr>
          <p:cNvPr id="29" name="">
            <a:extLst xmlns:a="http://schemas.openxmlformats.org/drawingml/2006/main">
              <a:ext uri="{FF2B5EF4-FFF2-40B4-BE49-F238E27FC236}">
                <a16:creationId xmlns:a16="http://schemas.microsoft.com/office/drawing/2014/main" id="{C766A79A-80E6-4CCF-AC31-3BB5C9C741E8}"/>
              </a:ext>
            </a:extLst>
          </p:cNvPr>
          <p:cNvSpPr>
            <a:spLocks xmlns:a="http://schemas.openxmlformats.org/drawingml/2006/main" noGrp="1"/>
          </p:cNvSpPr>
          <p:nvPr/>
        </p:nvSpPr>
        <p:spPr>
          <a:xfrm xmlns:a="http://schemas.openxmlformats.org/drawingml/2006/main">
            <a:off x="6915150" y="3333750"/>
            <a:ext cx="171450" cy="17145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285D27F-42FF-4174-87C3-7BC07E7D1DC6}"/>
              </a:ext>
            </a:extLst>
          </p:cNvPr>
          <p:cNvSpPr>
            <a:spLocks xmlns:a="http://schemas.openxmlformats.org/drawingml/2006/main" noGrp="1"/>
          </p:cNvSpPr>
          <p:nvPr/>
        </p:nvSpPr>
        <p:spPr>
          <a:xfrm xmlns:a="http://schemas.openxmlformats.org/drawingml/2006/main">
            <a:off x="7219950" y="32956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FFFFFF"/>
                </a:solidFill>
                <a:latin typeface="Aptos"/>
                <a:ea typeface="Aptos"/>
                <a:cs typeface="Aptos"/>
              </a:defRPr>
            </a:pPr>
            <a:r>
              <a:rPr sz="1050" b="1">
                <a:solidFill>
                  <a:srgbClr val="FFFFFF"/>
                </a:solidFill>
                <a:latin typeface="Aptos"/>
                <a:ea typeface="Aptos"/>
                <a:cs typeface="Aptos"/>
              </a:rPr>
              <a:t>R8 transforms</a:t>
            </a:r>
          </a:p>
        </p:txBody>
      </p:sp>
      <p:sp>
        <p:nvSpPr>
          <p:cNvPr id="31" name="">
            <a:extLst xmlns:a="http://schemas.openxmlformats.org/drawingml/2006/main">
              <a:ext uri="{FF2B5EF4-FFF2-40B4-BE49-F238E27FC236}">
                <a16:creationId xmlns:a16="http://schemas.microsoft.com/office/drawing/2014/main" id="{45EEE6EE-FAEE-490A-99F5-CC1D0233C097}"/>
              </a:ext>
            </a:extLst>
          </p:cNvPr>
          <p:cNvSpPr>
            <a:spLocks xmlns:a="http://schemas.openxmlformats.org/drawingml/2006/main" noGrp="1"/>
          </p:cNvSpPr>
          <p:nvPr/>
        </p:nvSpPr>
        <p:spPr>
          <a:xfrm xmlns:a="http://schemas.openxmlformats.org/drawingml/2006/main">
            <a:off x="8705850" y="32956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AEBACB"/>
                </a:solidFill>
                <a:latin typeface="Aptos"/>
                <a:ea typeface="Aptos"/>
                <a:cs typeface="Aptos"/>
              </a:defRPr>
            </a:pPr>
            <a:r>
              <a:rPr sz="975" b="0">
                <a:solidFill>
                  <a:srgbClr val="AEBACB"/>
                </a:solidFill>
                <a:latin typeface="Aptos"/>
                <a:ea typeface="Aptos"/>
                <a:cs typeface="Aptos"/>
              </a:rPr>
              <a:t>rename, shrink, inline</a:t>
            </a:r>
          </a:p>
        </p:txBody>
      </p:sp>
      <p:sp>
        <p:nvSpPr>
          <p:cNvPr id="32" name="">
            <a:extLst xmlns:a="http://schemas.openxmlformats.org/drawingml/2006/main">
              <a:ext uri="{FF2B5EF4-FFF2-40B4-BE49-F238E27FC236}">
                <a16:creationId xmlns:a16="http://schemas.microsoft.com/office/drawing/2014/main" id="{97DD40BF-219F-416B-895F-C8F21889BAB4}"/>
              </a:ext>
            </a:extLst>
          </p:cNvPr>
          <p:cNvSpPr>
            <a:spLocks xmlns:a="http://schemas.openxmlformats.org/drawingml/2006/main" noGrp="1"/>
          </p:cNvSpPr>
          <p:nvPr/>
        </p:nvSpPr>
        <p:spPr>
          <a:xfrm xmlns:a="http://schemas.openxmlformats.org/drawingml/2006/main">
            <a:off x="6915150" y="3829050"/>
            <a:ext cx="171450" cy="1714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6E8A43B-1B78-45B2-BBD6-A1957B9AA07B}"/>
              </a:ext>
            </a:extLst>
          </p:cNvPr>
          <p:cNvSpPr>
            <a:spLocks xmlns:a="http://schemas.openxmlformats.org/drawingml/2006/main" noGrp="1"/>
          </p:cNvSpPr>
          <p:nvPr/>
        </p:nvSpPr>
        <p:spPr>
          <a:xfrm xmlns:a="http://schemas.openxmlformats.org/drawingml/2006/main">
            <a:off x="7219950" y="3790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FFFFFF"/>
                </a:solidFill>
                <a:latin typeface="Aptos"/>
                <a:ea typeface="Aptos"/>
                <a:cs typeface="Aptos"/>
              </a:defRPr>
            </a:pPr>
            <a:r>
              <a:rPr sz="1050" b="1">
                <a:solidFill>
                  <a:srgbClr val="FFFFFF"/>
                </a:solidFill>
                <a:latin typeface="Aptos"/>
                <a:ea typeface="Aptos"/>
                <a:cs typeface="Aptos"/>
              </a:rPr>
              <a:t>Native files</a:t>
            </a:r>
          </a:p>
        </p:txBody>
      </p:sp>
      <p:sp>
        <p:nvSpPr>
          <p:cNvPr id="34" name="">
            <a:extLst xmlns:a="http://schemas.openxmlformats.org/drawingml/2006/main">
              <a:ext uri="{FF2B5EF4-FFF2-40B4-BE49-F238E27FC236}">
                <a16:creationId xmlns:a16="http://schemas.microsoft.com/office/drawing/2014/main" id="{67F29B29-29FE-4692-A1D4-BC883ECACF4F}"/>
              </a:ext>
            </a:extLst>
          </p:cNvPr>
          <p:cNvSpPr>
            <a:spLocks xmlns:a="http://schemas.openxmlformats.org/drawingml/2006/main" noGrp="1"/>
          </p:cNvSpPr>
          <p:nvPr/>
        </p:nvSpPr>
        <p:spPr>
          <a:xfrm xmlns:a="http://schemas.openxmlformats.org/drawingml/2006/main">
            <a:off x="8705850" y="37909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AEBACB"/>
                </a:solidFill>
                <a:latin typeface="Aptos"/>
                <a:ea typeface="Aptos"/>
                <a:cs typeface="Aptos"/>
              </a:defRPr>
            </a:pPr>
            <a:r>
              <a:rPr sz="975" b="0">
                <a:solidFill>
                  <a:srgbClr val="AEBACB"/>
                </a:solidFill>
                <a:latin typeface="Aptos"/>
                <a:ea typeface="Aptos"/>
                <a:cs typeface="Aptos"/>
              </a:rPr>
              <a:t>hash evidence only</a:t>
            </a:r>
          </a:p>
        </p:txBody>
      </p:sp>
      <p:sp>
        <p:nvSpPr>
          <p:cNvPr id="35" name="">
            <a:extLst xmlns:a="http://schemas.openxmlformats.org/drawingml/2006/main">
              <a:ext uri="{FF2B5EF4-FFF2-40B4-BE49-F238E27FC236}">
                <a16:creationId xmlns:a16="http://schemas.microsoft.com/office/drawing/2014/main" id="{BA9B256F-2B1C-454D-BD28-67929D61CA97}"/>
              </a:ext>
            </a:extLst>
          </p:cNvPr>
          <p:cNvSpPr>
            <a:spLocks xmlns:a="http://schemas.openxmlformats.org/drawingml/2006/main" noGrp="1"/>
          </p:cNvSpPr>
          <p:nvPr/>
        </p:nvSpPr>
        <p:spPr>
          <a:xfrm xmlns:a="http://schemas.openxmlformats.org/drawingml/2006/main">
            <a:off x="6915150" y="4324350"/>
            <a:ext cx="171450" cy="1714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FD81B24-32E6-4920-AD0F-58285C1EF852}"/>
              </a:ext>
            </a:extLst>
          </p:cNvPr>
          <p:cNvSpPr>
            <a:spLocks xmlns:a="http://schemas.openxmlformats.org/drawingml/2006/main" noGrp="1"/>
          </p:cNvSpPr>
          <p:nvPr/>
        </p:nvSpPr>
        <p:spPr>
          <a:xfrm xmlns:a="http://schemas.openxmlformats.org/drawingml/2006/main">
            <a:off x="7219950" y="42862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FFFFFF"/>
                </a:solidFill>
                <a:latin typeface="Aptos"/>
                <a:ea typeface="Aptos"/>
                <a:cs typeface="Aptos"/>
              </a:defRPr>
            </a:pPr>
            <a:r>
              <a:rPr sz="1050" b="1">
                <a:solidFill>
                  <a:srgbClr val="FFFFFF"/>
                </a:solidFill>
                <a:latin typeface="Aptos"/>
                <a:ea typeface="Aptos"/>
                <a:cs typeface="Aptos"/>
              </a:rPr>
              <a:t>No Maven version</a:t>
            </a:r>
          </a:p>
        </p:txBody>
      </p:sp>
      <p:sp>
        <p:nvSpPr>
          <p:cNvPr id="37" name="">
            <a:extLst xmlns:a="http://schemas.openxmlformats.org/drawingml/2006/main">
              <a:ext uri="{FF2B5EF4-FFF2-40B4-BE49-F238E27FC236}">
                <a16:creationId xmlns:a16="http://schemas.microsoft.com/office/drawing/2014/main" id="{97712EDD-C04A-4828-A957-6891F9CC4E72}"/>
              </a:ext>
            </a:extLst>
          </p:cNvPr>
          <p:cNvSpPr>
            <a:spLocks xmlns:a="http://schemas.openxmlformats.org/drawingml/2006/main" noGrp="1"/>
          </p:cNvSpPr>
          <p:nvPr/>
        </p:nvSpPr>
        <p:spPr>
          <a:xfrm xmlns:a="http://schemas.openxmlformats.org/drawingml/2006/main">
            <a:off x="8705850" y="42862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AEBACB"/>
                </a:solidFill>
                <a:latin typeface="Aptos"/>
                <a:ea typeface="Aptos"/>
                <a:cs typeface="Aptos"/>
              </a:defRPr>
            </a:pPr>
            <a:r>
              <a:rPr sz="975" b="0">
                <a:solidFill>
                  <a:srgbClr val="AEBACB"/>
                </a:solidFill>
                <a:latin typeface="Aptos"/>
                <a:ea typeface="Aptos"/>
                <a:cs typeface="Aptos"/>
              </a:rPr>
              <a:t>must be inferred</a:t>
            </a:r>
          </a:p>
        </p:txBody>
      </p:sp>
      <p:sp>
        <p:nvSpPr>
          <p:cNvPr id="38" name="">
            <a:extLst xmlns:a="http://schemas.openxmlformats.org/drawingml/2006/main">
              <a:ext uri="{FF2B5EF4-FFF2-40B4-BE49-F238E27FC236}">
                <a16:creationId xmlns:a16="http://schemas.microsoft.com/office/drawing/2014/main" id="{BB09C086-2E95-48D6-845A-57B9345DFC45}"/>
              </a:ext>
            </a:extLst>
          </p:cNvPr>
          <p:cNvSpPr>
            <a:spLocks xmlns:a="http://schemas.openxmlformats.org/drawingml/2006/main" noGrp="1"/>
          </p:cNvSpPr>
          <p:nvPr/>
        </p:nvSpPr>
        <p:spPr>
          <a:xfrm xmlns:a="http://schemas.openxmlformats.org/drawingml/2006/main">
            <a:off x="6896100" y="47625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4F7D76"/>
                </a:solidFill>
                <a:latin typeface="Aptos"/>
                <a:ea typeface="Aptos"/>
                <a:cs typeface="Aptos"/>
              </a:defRPr>
            </a:pPr>
            <a:r>
              <a:rPr sz="1200" b="1">
                <a:solidFill>
                  <a:srgbClr val="4F7D76"/>
                </a:solidFill>
                <a:latin typeface="Aptos"/>
                <a:ea typeface="Aptos"/>
                <a:cs typeface="Aptos"/>
              </a:rPr>
              <a:t>Reverse-SBOM problem</a:t>
            </a:r>
          </a:p>
        </p:txBody>
      </p:sp>
      <p:sp>
        <p:nvSpPr>
          <p:cNvPr id="39" name="">
            <a:extLst xmlns:a="http://schemas.openxmlformats.org/drawingml/2006/main">
              <a:ext uri="{FF2B5EF4-FFF2-40B4-BE49-F238E27FC236}">
                <a16:creationId xmlns:a16="http://schemas.microsoft.com/office/drawing/2014/main" id="{B8E733F1-1619-416E-A074-48D07D103890}"/>
              </a:ext>
            </a:extLst>
          </p:cNvPr>
          <p:cNvSpPr>
            <a:spLocks xmlns:a="http://schemas.openxmlformats.org/drawingml/2006/main" noGrp="1"/>
          </p:cNvSpPr>
          <p:nvPr/>
        </p:nvSpPr>
        <p:spPr>
          <a:xfrm xmlns:a="http://schemas.openxmlformats.org/drawingml/2006/main">
            <a:off x="1581150" y="5772150"/>
            <a:ext cx="904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202A33"/>
                </a:solidFill>
                <a:latin typeface="Aptos"/>
                <a:ea typeface="Aptos"/>
                <a:cs typeface="Aptos"/>
              </a:defRPr>
            </a:pPr>
            <a:r>
              <a:rPr sz="1575" b="1">
                <a:solidFill>
                  <a:srgbClr val="202A33"/>
                </a:solidFill>
                <a:latin typeface="Aptos"/>
                <a:ea typeface="Aptos"/>
                <a:cs typeface="Aptos"/>
              </a:rPr>
              <a:t>The MVP must reconstruct identity and version from what survives compilation.</a:t>
            </a:r>
          </a:p>
        </p:txBody>
      </p:sp>
      <p:sp>
        <p:nvSpPr>
          <p:cNvPr id="40" name="">
            <a:extLst xmlns:a="http://schemas.openxmlformats.org/drawingml/2006/main">
              <a:ext uri="{FF2B5EF4-FFF2-40B4-BE49-F238E27FC236}">
                <a16:creationId xmlns:a16="http://schemas.microsoft.com/office/drawing/2014/main" id="{366B03B9-BA98-4CCD-B03A-F3C9A3B80BB5}"/>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570955019"/>
      </p:ext>
    </p:extLst>
  </p:cSld>
</p:sld>
</file>

<file path=ppt/slides/slide3.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9E509CB-734B-4660-AA55-08C83C5690E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66267A0-C317-49B2-88FA-FE96CCCA222E}"/>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8984C98-F418-4DCD-B641-EA3B04804EB5}"/>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5F73"/>
                </a:solidFill>
                <a:latin typeface="Aptos"/>
                <a:ea typeface="Aptos"/>
                <a:cs typeface="Aptos"/>
              </a:defRPr>
            </a:pPr>
            <a:r>
              <a:rPr sz="900" b="1">
                <a:solidFill>
                  <a:srgbClr val="655F73"/>
                </a:solidFill>
                <a:latin typeface="Aptos"/>
                <a:ea typeface="Aptos"/>
                <a:cs typeface="Aptos"/>
              </a:rPr>
              <a:t>RESEARCH POSITIONING</a:t>
            </a:r>
          </a:p>
        </p:txBody>
      </p:sp>
      <p:sp>
        <p:nvSpPr>
          <p:cNvPr id="4" name="">
            <a:extLst xmlns:a="http://schemas.openxmlformats.org/drawingml/2006/main">
              <a:ext uri="{FF2B5EF4-FFF2-40B4-BE49-F238E27FC236}">
                <a16:creationId xmlns:a16="http://schemas.microsoft.com/office/drawing/2014/main" id="{6B5E8B50-D25F-4F9A-AD31-A6C489EE2EBF}"/>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literature converges on hybrid evidence, but not perfect version recovery</a:t>
            </a:r>
          </a:p>
        </p:txBody>
      </p:sp>
      <p:sp>
        <p:nvSpPr>
          <p:cNvPr id="5" name="">
            <a:extLst xmlns:a="http://schemas.openxmlformats.org/drawingml/2006/main">
              <a:ext uri="{FF2B5EF4-FFF2-40B4-BE49-F238E27FC236}">
                <a16:creationId xmlns:a16="http://schemas.microsoft.com/office/drawing/2014/main" id="{13086B67-700E-48EB-8A62-0928A8B0D04B}"/>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8290A6"/>
                </a:solidFill>
                <a:latin typeface="Aptos"/>
                <a:ea typeface="Aptos"/>
                <a:cs typeface="Aptos"/>
              </a:defRPr>
            </a:pPr>
            <a:r>
              <a:rPr sz="900" b="1">
                <a:solidFill>
                  <a:srgbClr val="8290A6"/>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28585E34-8BA0-4DCC-8060-7B9C9563D123}"/>
              </a:ext>
            </a:extLst>
          </p:cNvPr>
          <p:cNvSpPr>
            <a:spLocks xmlns:a="http://schemas.openxmlformats.org/drawingml/2006/main" noGrp="1"/>
          </p:cNvSpPr>
          <p:nvPr/>
        </p:nvSpPr>
        <p:spPr>
          <a:xfrm xmlns:a="http://schemas.openxmlformats.org/drawingml/2006/main">
            <a:off x="685800" y="1657350"/>
            <a:ext cx="2743200" cy="2724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7D2952D7-3920-4829-8271-BB166DD2D43C}"/>
              </a:ext>
            </a:extLst>
          </p:cNvPr>
          <p:cNvSpPr>
            <a:spLocks xmlns:a="http://schemas.openxmlformats.org/drawingml/2006/main" noGrp="1"/>
          </p:cNvSpPr>
          <p:nvPr/>
        </p:nvSpPr>
        <p:spPr>
          <a:xfrm xmlns:a="http://schemas.openxmlformats.org/drawingml/2006/main">
            <a:off x="876300" y="1847850"/>
            <a:ext cx="83820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8" name="">
            <a:extLst xmlns:a="http://schemas.openxmlformats.org/drawingml/2006/main">
              <a:ext uri="{FF2B5EF4-FFF2-40B4-BE49-F238E27FC236}">
                <a16:creationId xmlns:a16="http://schemas.microsoft.com/office/drawing/2014/main" id="{CB8005A0-0068-4BF3-BFA3-F6EE8BFDE9C4}"/>
              </a:ext>
            </a:extLst>
          </p:cNvPr>
          <p:cNvSpPr>
            <a:spLocks xmlns:a="http://schemas.openxmlformats.org/drawingml/2006/main" noGrp="1"/>
          </p:cNvSpPr>
          <p:nvPr/>
        </p:nvSpPr>
        <p:spPr>
          <a:xfrm xmlns:a="http://schemas.openxmlformats.org/drawingml/2006/main">
            <a:off x="942975" y="1905000"/>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365F7D"/>
                </a:solidFill>
                <a:latin typeface="Aptos"/>
                <a:ea typeface="Aptos"/>
                <a:cs typeface="Aptos"/>
              </a:defRPr>
            </a:pPr>
            <a:r>
              <a:rPr sz="825" b="1">
                <a:solidFill>
                  <a:srgbClr val="365F7D"/>
                </a:solidFill>
                <a:latin typeface="Aptos"/>
                <a:ea typeface="Aptos"/>
                <a:cs typeface="Aptos"/>
              </a:rPr>
              <a:t>GEN 1</a:t>
            </a:r>
          </a:p>
        </p:txBody>
      </p:sp>
      <p:sp>
        <p:nvSpPr>
          <p:cNvPr id="9" name="">
            <a:extLst xmlns:a="http://schemas.openxmlformats.org/drawingml/2006/main">
              <a:ext uri="{FF2B5EF4-FFF2-40B4-BE49-F238E27FC236}">
                <a16:creationId xmlns:a16="http://schemas.microsoft.com/office/drawing/2014/main" id="{080F3ED2-5B8F-43CC-A4AD-5E3973502950}"/>
              </a:ext>
            </a:extLst>
          </p:cNvPr>
          <p:cNvSpPr>
            <a:spLocks xmlns:a="http://schemas.openxmlformats.org/drawingml/2006/main" noGrp="1"/>
          </p:cNvSpPr>
          <p:nvPr/>
        </p:nvSpPr>
        <p:spPr>
          <a:xfrm xmlns:a="http://schemas.openxmlformats.org/drawingml/2006/main">
            <a:off x="87630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FFFFFF"/>
                </a:solidFill>
                <a:latin typeface="Aptos"/>
                <a:ea typeface="Aptos"/>
                <a:cs typeface="Aptos"/>
              </a:defRPr>
            </a:pPr>
            <a:r>
              <a:rPr sz="1725" b="1">
                <a:solidFill>
                  <a:srgbClr val="FFFFFF"/>
                </a:solidFill>
                <a:latin typeface="Aptos"/>
                <a:ea typeface="Aptos"/>
                <a:cs typeface="Aptos"/>
              </a:rPr>
              <a:t>Signatures</a:t>
            </a:r>
          </a:p>
        </p:txBody>
      </p:sp>
      <p:sp>
        <p:nvSpPr>
          <p:cNvPr id="10" name="">
            <a:extLst xmlns:a="http://schemas.openxmlformats.org/drawingml/2006/main">
              <a:ext uri="{FF2B5EF4-FFF2-40B4-BE49-F238E27FC236}">
                <a16:creationId xmlns:a16="http://schemas.microsoft.com/office/drawing/2014/main" id="{E8D3DE03-13F4-4332-B2E3-D7710D239EED}"/>
              </a:ext>
            </a:extLst>
          </p:cNvPr>
          <p:cNvSpPr>
            <a:spLocks xmlns:a="http://schemas.openxmlformats.org/drawingml/2006/main" noGrp="1"/>
          </p:cNvSpPr>
          <p:nvPr/>
        </p:nvSpPr>
        <p:spPr>
          <a:xfrm xmlns:a="http://schemas.openxmlformats.org/drawingml/2006/main">
            <a:off x="895350" y="28765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397CD49-B63A-40F8-B681-2C72B9DC1FA9}"/>
              </a:ext>
            </a:extLst>
          </p:cNvPr>
          <p:cNvSpPr>
            <a:spLocks xmlns:a="http://schemas.openxmlformats.org/drawingml/2006/main" noGrp="1"/>
          </p:cNvSpPr>
          <p:nvPr/>
        </p:nvSpPr>
        <p:spPr>
          <a:xfrm xmlns:a="http://schemas.openxmlformats.org/drawingml/2006/main">
            <a:off x="1143000" y="2819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C5CFDD"/>
                </a:solidFill>
                <a:latin typeface="Aptos"/>
                <a:ea typeface="Aptos"/>
                <a:cs typeface="Aptos"/>
              </a:defRPr>
            </a:pPr>
            <a:r>
              <a:rPr sz="1050" b="0">
                <a:solidFill>
                  <a:srgbClr val="C5CFDD"/>
                </a:solidFill>
                <a:latin typeface="Aptos"/>
                <a:ea typeface="Aptos"/>
                <a:cs typeface="Aptos"/>
              </a:rPr>
              <a:t>packages</a:t>
            </a:r>
          </a:p>
        </p:txBody>
      </p:sp>
      <p:sp>
        <p:nvSpPr>
          <p:cNvPr id="12" name="">
            <a:extLst xmlns:a="http://schemas.openxmlformats.org/drawingml/2006/main">
              <a:ext uri="{FF2B5EF4-FFF2-40B4-BE49-F238E27FC236}">
                <a16:creationId xmlns:a16="http://schemas.microsoft.com/office/drawing/2014/main" id="{964DE369-772D-4C91-870E-7276D6D917B2}"/>
              </a:ext>
            </a:extLst>
          </p:cNvPr>
          <p:cNvSpPr>
            <a:spLocks xmlns:a="http://schemas.openxmlformats.org/drawingml/2006/main" noGrp="1"/>
          </p:cNvSpPr>
          <p:nvPr/>
        </p:nvSpPr>
        <p:spPr>
          <a:xfrm xmlns:a="http://schemas.openxmlformats.org/drawingml/2006/main">
            <a:off x="895350" y="327660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956AE24-B248-4185-8C4F-3C94408974C1}"/>
              </a:ext>
            </a:extLst>
          </p:cNvPr>
          <p:cNvSpPr>
            <a:spLocks xmlns:a="http://schemas.openxmlformats.org/drawingml/2006/main" noGrp="1"/>
          </p:cNvSpPr>
          <p:nvPr/>
        </p:nvSpPr>
        <p:spPr>
          <a:xfrm xmlns:a="http://schemas.openxmlformats.org/drawingml/2006/main">
            <a:off x="1143000" y="3219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C5CFDD"/>
                </a:solidFill>
                <a:latin typeface="Aptos"/>
                <a:ea typeface="Aptos"/>
                <a:cs typeface="Aptos"/>
              </a:defRPr>
            </a:pPr>
            <a:r>
              <a:rPr sz="1050" b="0">
                <a:solidFill>
                  <a:srgbClr val="C5CFDD"/>
                </a:solidFill>
                <a:latin typeface="Aptos"/>
                <a:ea typeface="Aptos"/>
                <a:cs typeface="Aptos"/>
              </a:rPr>
              <a:t>class hashes</a:t>
            </a:r>
          </a:p>
        </p:txBody>
      </p:sp>
      <p:sp>
        <p:nvSpPr>
          <p:cNvPr id="14" name="">
            <a:extLst xmlns:a="http://schemas.openxmlformats.org/drawingml/2006/main">
              <a:ext uri="{FF2B5EF4-FFF2-40B4-BE49-F238E27FC236}">
                <a16:creationId xmlns:a16="http://schemas.microsoft.com/office/drawing/2014/main" id="{3B7B6D58-8EFF-49AF-949A-84098086FD58}"/>
              </a:ext>
            </a:extLst>
          </p:cNvPr>
          <p:cNvSpPr>
            <a:spLocks xmlns:a="http://schemas.openxmlformats.org/drawingml/2006/main" noGrp="1"/>
          </p:cNvSpPr>
          <p:nvPr/>
        </p:nvSpPr>
        <p:spPr>
          <a:xfrm xmlns:a="http://schemas.openxmlformats.org/drawingml/2006/main">
            <a:off x="895350" y="36766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00B4373-23B7-430E-84FA-F34236EDE4FF}"/>
              </a:ext>
            </a:extLst>
          </p:cNvPr>
          <p:cNvSpPr>
            <a:spLocks xmlns:a="http://schemas.openxmlformats.org/drawingml/2006/main" noGrp="1"/>
          </p:cNvSpPr>
          <p:nvPr/>
        </p:nvSpPr>
        <p:spPr>
          <a:xfrm xmlns:a="http://schemas.openxmlformats.org/drawingml/2006/main">
            <a:off x="114300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C5CFDD"/>
                </a:solidFill>
                <a:latin typeface="Aptos"/>
                <a:ea typeface="Aptos"/>
                <a:cs typeface="Aptos"/>
              </a:defRPr>
            </a:pPr>
            <a:r>
              <a:rPr sz="1050" b="0">
                <a:solidFill>
                  <a:srgbClr val="C5CFDD"/>
                </a:solidFill>
                <a:latin typeface="Aptos"/>
                <a:ea typeface="Aptos"/>
                <a:cs typeface="Aptos"/>
              </a:rPr>
              <a:t>profiles</a:t>
            </a:r>
          </a:p>
        </p:txBody>
      </p:sp>
      <p:sp>
        <p:nvSpPr>
          <p:cNvPr id="16" name="rule">
            <a:extLst xmlns:a="http://schemas.openxmlformats.org/drawingml/2006/main">
              <a:ext uri="{FF2B5EF4-FFF2-40B4-BE49-F238E27FC236}">
                <a16:creationId xmlns:a16="http://schemas.microsoft.com/office/drawing/2014/main" id="{813A2C2E-D04D-40AC-9320-703A4A2DA14E}"/>
              </a:ext>
            </a:extLst>
          </p:cNvPr>
          <p:cNvSpPr>
            <a:spLocks xmlns:a="http://schemas.openxmlformats.org/drawingml/2006/main" noGrp="1"/>
          </p:cNvSpPr>
          <p:nvPr/>
        </p:nvSpPr>
        <p:spPr>
          <a:xfrm xmlns:a="http://schemas.openxmlformats.org/drawingml/2006/main">
            <a:off x="876300" y="3943350"/>
            <a:ext cx="23622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DFD2890-F1C4-4359-A04C-B0D20D098B6D}"/>
              </a:ext>
            </a:extLst>
          </p:cNvPr>
          <p:cNvSpPr>
            <a:spLocks xmlns:a="http://schemas.openxmlformats.org/drawingml/2006/main" noGrp="1"/>
          </p:cNvSpPr>
          <p:nvPr/>
        </p:nvSpPr>
        <p:spPr>
          <a:xfrm xmlns:a="http://schemas.openxmlformats.org/drawingml/2006/main">
            <a:off x="876300" y="4095750"/>
            <a:ext cx="2362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Aptos"/>
                <a:ea typeface="Aptos"/>
                <a:cs typeface="Aptos"/>
              </a:defRPr>
            </a:pPr>
            <a:r>
              <a:rPr sz="825" b="1">
                <a:solidFill>
                  <a:srgbClr val="365F7D"/>
                </a:solidFill>
                <a:latin typeface="Aptos"/>
                <a:ea typeface="Aptos"/>
                <a:cs typeface="Aptos"/>
              </a:rPr>
              <a:t>LibScout  LibRadar</a:t>
            </a:r>
          </a:p>
        </p:txBody>
      </p:sp>
      <p:sp>
        <p:nvSpPr>
          <p:cNvPr id="18" name="">
            <a:extLst xmlns:a="http://schemas.openxmlformats.org/drawingml/2006/main">
              <a:ext uri="{FF2B5EF4-FFF2-40B4-BE49-F238E27FC236}">
                <a16:creationId xmlns:a16="http://schemas.microsoft.com/office/drawing/2014/main" id="{67B8F08F-1703-48C4-97C6-E2495D6A0EB2}"/>
              </a:ext>
            </a:extLst>
          </p:cNvPr>
          <p:cNvSpPr>
            <a:spLocks xmlns:a="http://schemas.openxmlformats.org/drawingml/2006/main" noGrp="1"/>
          </p:cNvSpPr>
          <p:nvPr/>
        </p:nvSpPr>
        <p:spPr>
          <a:xfrm xmlns:a="http://schemas.openxmlformats.org/drawingml/2006/main">
            <a:off x="3848100" y="1657350"/>
            <a:ext cx="2743200" cy="2724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2470F062-44E1-44CC-AC4C-D1B75391BC44}"/>
              </a:ext>
            </a:extLst>
          </p:cNvPr>
          <p:cNvSpPr>
            <a:spLocks xmlns:a="http://schemas.openxmlformats.org/drawingml/2006/main" noGrp="1"/>
          </p:cNvSpPr>
          <p:nvPr/>
        </p:nvSpPr>
        <p:spPr>
          <a:xfrm xmlns:a="http://schemas.openxmlformats.org/drawingml/2006/main">
            <a:off x="4038600" y="1847850"/>
            <a:ext cx="83820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4F7D76"/>
            </a:solidFill>
            <a:prstDash val="solid"/>
          </a:ln>
        </p:spPr>
      </p:sp>
      <p:sp>
        <p:nvSpPr>
          <p:cNvPr id="20" name="">
            <a:extLst xmlns:a="http://schemas.openxmlformats.org/drawingml/2006/main">
              <a:ext uri="{FF2B5EF4-FFF2-40B4-BE49-F238E27FC236}">
                <a16:creationId xmlns:a16="http://schemas.microsoft.com/office/drawing/2014/main" id="{8C72AD25-A9F3-4754-B2F7-5EFEBAAB5F94}"/>
              </a:ext>
            </a:extLst>
          </p:cNvPr>
          <p:cNvSpPr>
            <a:spLocks xmlns:a="http://schemas.openxmlformats.org/drawingml/2006/main" noGrp="1"/>
          </p:cNvSpPr>
          <p:nvPr/>
        </p:nvSpPr>
        <p:spPr>
          <a:xfrm xmlns:a="http://schemas.openxmlformats.org/drawingml/2006/main">
            <a:off x="4105275" y="1905000"/>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4F7D76"/>
                </a:solidFill>
                <a:latin typeface="Aptos"/>
                <a:ea typeface="Aptos"/>
                <a:cs typeface="Aptos"/>
              </a:defRPr>
            </a:pPr>
            <a:r>
              <a:rPr sz="825" b="1">
                <a:solidFill>
                  <a:srgbClr val="4F7D76"/>
                </a:solidFill>
                <a:latin typeface="Aptos"/>
                <a:ea typeface="Aptos"/>
                <a:cs typeface="Aptos"/>
              </a:rPr>
              <a:t>GEN 2</a:t>
            </a:r>
          </a:p>
        </p:txBody>
      </p:sp>
      <p:sp>
        <p:nvSpPr>
          <p:cNvPr id="21" name="">
            <a:extLst xmlns:a="http://schemas.openxmlformats.org/drawingml/2006/main">
              <a:ext uri="{FF2B5EF4-FFF2-40B4-BE49-F238E27FC236}">
                <a16:creationId xmlns:a16="http://schemas.microsoft.com/office/drawing/2014/main" id="{62F6619E-E4F0-46CB-AFFA-95BAD4A822B5}"/>
              </a:ext>
            </a:extLst>
          </p:cNvPr>
          <p:cNvSpPr>
            <a:spLocks xmlns:a="http://schemas.openxmlformats.org/drawingml/2006/main" noGrp="1"/>
          </p:cNvSpPr>
          <p:nvPr/>
        </p:nvSpPr>
        <p:spPr>
          <a:xfrm xmlns:a="http://schemas.openxmlformats.org/drawingml/2006/main">
            <a:off x="403860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FFFFFF"/>
                </a:solidFill>
                <a:latin typeface="Aptos"/>
                <a:ea typeface="Aptos"/>
                <a:cs typeface="Aptos"/>
              </a:defRPr>
            </a:pPr>
            <a:r>
              <a:rPr sz="1725" b="1">
                <a:solidFill>
                  <a:srgbClr val="FFFFFF"/>
                </a:solidFill>
                <a:latin typeface="Aptos"/>
                <a:ea typeface="Aptos"/>
                <a:cs typeface="Aptos"/>
              </a:rPr>
              <a:t>Structure</a:t>
            </a:r>
          </a:p>
        </p:txBody>
      </p:sp>
      <p:sp>
        <p:nvSpPr>
          <p:cNvPr id="22" name="">
            <a:extLst xmlns:a="http://schemas.openxmlformats.org/drawingml/2006/main">
              <a:ext uri="{FF2B5EF4-FFF2-40B4-BE49-F238E27FC236}">
                <a16:creationId xmlns:a16="http://schemas.microsoft.com/office/drawing/2014/main" id="{54066577-B35C-4B8E-AE42-2E850763D46A}"/>
              </a:ext>
            </a:extLst>
          </p:cNvPr>
          <p:cNvSpPr>
            <a:spLocks xmlns:a="http://schemas.openxmlformats.org/drawingml/2006/main" noGrp="1"/>
          </p:cNvSpPr>
          <p:nvPr/>
        </p:nvSpPr>
        <p:spPr>
          <a:xfrm xmlns:a="http://schemas.openxmlformats.org/drawingml/2006/main">
            <a:off x="4057650" y="28765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D6B69C1-D8D1-4B84-AABF-85099703DB27}"/>
              </a:ext>
            </a:extLst>
          </p:cNvPr>
          <p:cNvSpPr>
            <a:spLocks xmlns:a="http://schemas.openxmlformats.org/drawingml/2006/main" noGrp="1"/>
          </p:cNvSpPr>
          <p:nvPr/>
        </p:nvSpPr>
        <p:spPr>
          <a:xfrm xmlns:a="http://schemas.openxmlformats.org/drawingml/2006/main">
            <a:off x="4305300" y="2819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C5CFDD"/>
                </a:solidFill>
                <a:latin typeface="Aptos"/>
                <a:ea typeface="Aptos"/>
                <a:cs typeface="Aptos"/>
              </a:defRPr>
            </a:pPr>
            <a:r>
              <a:rPr sz="1050" b="0">
                <a:solidFill>
                  <a:srgbClr val="C5CFDD"/>
                </a:solidFill>
                <a:latin typeface="Aptos"/>
                <a:ea typeface="Aptos"/>
                <a:cs typeface="Aptos"/>
              </a:rPr>
              <a:t>graphs</a:t>
            </a:r>
          </a:p>
        </p:txBody>
      </p:sp>
      <p:sp>
        <p:nvSpPr>
          <p:cNvPr id="24" name="">
            <a:extLst xmlns:a="http://schemas.openxmlformats.org/drawingml/2006/main">
              <a:ext uri="{FF2B5EF4-FFF2-40B4-BE49-F238E27FC236}">
                <a16:creationId xmlns:a16="http://schemas.microsoft.com/office/drawing/2014/main" id="{AE51B576-1DC9-4763-A0F1-BCEFD8A0D51F}"/>
              </a:ext>
            </a:extLst>
          </p:cNvPr>
          <p:cNvSpPr>
            <a:spLocks xmlns:a="http://schemas.openxmlformats.org/drawingml/2006/main" noGrp="1"/>
          </p:cNvSpPr>
          <p:nvPr/>
        </p:nvSpPr>
        <p:spPr>
          <a:xfrm xmlns:a="http://schemas.openxmlformats.org/drawingml/2006/main">
            <a:off x="4057650" y="327660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E43A93A-99EB-48F4-B059-471533D3826E}"/>
              </a:ext>
            </a:extLst>
          </p:cNvPr>
          <p:cNvSpPr>
            <a:spLocks xmlns:a="http://schemas.openxmlformats.org/drawingml/2006/main" noGrp="1"/>
          </p:cNvSpPr>
          <p:nvPr/>
        </p:nvSpPr>
        <p:spPr>
          <a:xfrm xmlns:a="http://schemas.openxmlformats.org/drawingml/2006/main">
            <a:off x="4305300" y="3219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C5CFDD"/>
                </a:solidFill>
                <a:latin typeface="Aptos"/>
                <a:ea typeface="Aptos"/>
                <a:cs typeface="Aptos"/>
              </a:defRPr>
            </a:pPr>
            <a:r>
              <a:rPr sz="1050" b="0">
                <a:solidFill>
                  <a:srgbClr val="C5CFDD"/>
                </a:solidFill>
                <a:latin typeface="Aptos"/>
                <a:ea typeface="Aptos"/>
                <a:cs typeface="Aptos"/>
              </a:rPr>
              <a:t>opcodes</a:t>
            </a:r>
          </a:p>
        </p:txBody>
      </p:sp>
      <p:sp>
        <p:nvSpPr>
          <p:cNvPr id="26" name="">
            <a:extLst xmlns:a="http://schemas.openxmlformats.org/drawingml/2006/main">
              <a:ext uri="{FF2B5EF4-FFF2-40B4-BE49-F238E27FC236}">
                <a16:creationId xmlns:a16="http://schemas.microsoft.com/office/drawing/2014/main" id="{90458220-BB32-43F1-9D8F-F82F9B285D4F}"/>
              </a:ext>
            </a:extLst>
          </p:cNvPr>
          <p:cNvSpPr>
            <a:spLocks xmlns:a="http://schemas.openxmlformats.org/drawingml/2006/main" noGrp="1"/>
          </p:cNvSpPr>
          <p:nvPr/>
        </p:nvSpPr>
        <p:spPr>
          <a:xfrm xmlns:a="http://schemas.openxmlformats.org/drawingml/2006/main">
            <a:off x="4057650" y="36766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2B56D6B-67AC-48D7-A212-99BDEF22C94E}"/>
              </a:ext>
            </a:extLst>
          </p:cNvPr>
          <p:cNvSpPr>
            <a:spLocks xmlns:a="http://schemas.openxmlformats.org/drawingml/2006/main" noGrp="1"/>
          </p:cNvSpPr>
          <p:nvPr/>
        </p:nvSpPr>
        <p:spPr>
          <a:xfrm xmlns:a="http://schemas.openxmlformats.org/drawingml/2006/main">
            <a:off x="430530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C5CFDD"/>
                </a:solidFill>
                <a:latin typeface="Aptos"/>
                <a:ea typeface="Aptos"/>
                <a:cs typeface="Aptos"/>
              </a:defRPr>
            </a:pPr>
            <a:r>
              <a:rPr sz="1050" b="0">
                <a:solidFill>
                  <a:srgbClr val="C5CFDD"/>
                </a:solidFill>
                <a:latin typeface="Aptos"/>
                <a:ea typeface="Aptos"/>
                <a:cs typeface="Aptos"/>
              </a:rPr>
              <a:t>fuzzy similarity</a:t>
            </a:r>
          </a:p>
        </p:txBody>
      </p:sp>
      <p:sp>
        <p:nvSpPr>
          <p:cNvPr id="28" name="rule">
            <a:extLst xmlns:a="http://schemas.openxmlformats.org/drawingml/2006/main">
              <a:ext uri="{FF2B5EF4-FFF2-40B4-BE49-F238E27FC236}">
                <a16:creationId xmlns:a16="http://schemas.microsoft.com/office/drawing/2014/main" id="{A6FDE01E-F764-4118-91CB-8305A58F0698}"/>
              </a:ext>
            </a:extLst>
          </p:cNvPr>
          <p:cNvSpPr>
            <a:spLocks xmlns:a="http://schemas.openxmlformats.org/drawingml/2006/main" noGrp="1"/>
          </p:cNvSpPr>
          <p:nvPr/>
        </p:nvSpPr>
        <p:spPr>
          <a:xfrm xmlns:a="http://schemas.openxmlformats.org/drawingml/2006/main">
            <a:off x="4038600" y="3943350"/>
            <a:ext cx="23622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E5A2DD4-5E0A-441E-854B-129BFB0F260D}"/>
              </a:ext>
            </a:extLst>
          </p:cNvPr>
          <p:cNvSpPr>
            <a:spLocks xmlns:a="http://schemas.openxmlformats.org/drawingml/2006/main" noGrp="1"/>
          </p:cNvSpPr>
          <p:nvPr/>
        </p:nvSpPr>
        <p:spPr>
          <a:xfrm xmlns:a="http://schemas.openxmlformats.org/drawingml/2006/main">
            <a:off x="4038600" y="4095750"/>
            <a:ext cx="2362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4F7D76"/>
                </a:solidFill>
                <a:latin typeface="Aptos"/>
                <a:ea typeface="Aptos"/>
                <a:cs typeface="Aptos"/>
              </a:defRPr>
            </a:pPr>
            <a:r>
              <a:rPr sz="825" b="1">
                <a:solidFill>
                  <a:srgbClr val="4F7D76"/>
                </a:solidFill>
                <a:latin typeface="Aptos"/>
                <a:ea typeface="Aptos"/>
                <a:cs typeface="Aptos"/>
              </a:rPr>
              <a:t>LibPecker  SAD  ATVHunter</a:t>
            </a:r>
          </a:p>
        </p:txBody>
      </p:sp>
      <p:sp>
        <p:nvSpPr>
          <p:cNvPr id="30" name="">
            <a:extLst xmlns:a="http://schemas.openxmlformats.org/drawingml/2006/main">
              <a:ext uri="{FF2B5EF4-FFF2-40B4-BE49-F238E27FC236}">
                <a16:creationId xmlns:a16="http://schemas.microsoft.com/office/drawing/2014/main" id="{0BA80068-62CE-4269-A52A-98C4D4094E69}"/>
              </a:ext>
            </a:extLst>
          </p:cNvPr>
          <p:cNvSpPr>
            <a:spLocks xmlns:a="http://schemas.openxmlformats.org/drawingml/2006/main" noGrp="1"/>
          </p:cNvSpPr>
          <p:nvPr/>
        </p:nvSpPr>
        <p:spPr>
          <a:xfrm xmlns:a="http://schemas.openxmlformats.org/drawingml/2006/main">
            <a:off x="7010400" y="1657350"/>
            <a:ext cx="2743200" cy="2724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1" name="">
            <a:extLst xmlns:a="http://schemas.openxmlformats.org/drawingml/2006/main">
              <a:ext uri="{FF2B5EF4-FFF2-40B4-BE49-F238E27FC236}">
                <a16:creationId xmlns:a16="http://schemas.microsoft.com/office/drawing/2014/main" id="{0C7FF1A8-7253-49F2-AD98-C1901C640F0C}"/>
              </a:ext>
            </a:extLst>
          </p:cNvPr>
          <p:cNvSpPr>
            <a:spLocks xmlns:a="http://schemas.openxmlformats.org/drawingml/2006/main" noGrp="1"/>
          </p:cNvSpPr>
          <p:nvPr/>
        </p:nvSpPr>
        <p:spPr>
          <a:xfrm xmlns:a="http://schemas.openxmlformats.org/drawingml/2006/main">
            <a:off x="7200900" y="1847850"/>
            <a:ext cx="83820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5F73"/>
            </a:solidFill>
            <a:prstDash val="solid"/>
          </a:ln>
        </p:spPr>
      </p:sp>
      <p:sp>
        <p:nvSpPr>
          <p:cNvPr id="32" name="">
            <a:extLst xmlns:a="http://schemas.openxmlformats.org/drawingml/2006/main">
              <a:ext uri="{FF2B5EF4-FFF2-40B4-BE49-F238E27FC236}">
                <a16:creationId xmlns:a16="http://schemas.microsoft.com/office/drawing/2014/main" id="{C62E35A1-9CC7-44C5-8881-4E3BD8EABA0B}"/>
              </a:ext>
            </a:extLst>
          </p:cNvPr>
          <p:cNvSpPr>
            <a:spLocks xmlns:a="http://schemas.openxmlformats.org/drawingml/2006/main" noGrp="1"/>
          </p:cNvSpPr>
          <p:nvPr/>
        </p:nvSpPr>
        <p:spPr>
          <a:xfrm xmlns:a="http://schemas.openxmlformats.org/drawingml/2006/main">
            <a:off x="7267575" y="1905000"/>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55F73"/>
                </a:solidFill>
                <a:latin typeface="Aptos"/>
                <a:ea typeface="Aptos"/>
                <a:cs typeface="Aptos"/>
              </a:defRPr>
            </a:pPr>
            <a:r>
              <a:rPr sz="825" b="1">
                <a:solidFill>
                  <a:srgbClr val="655F73"/>
                </a:solidFill>
                <a:latin typeface="Aptos"/>
                <a:ea typeface="Aptos"/>
                <a:cs typeface="Aptos"/>
              </a:rPr>
              <a:t>GEN 3</a:t>
            </a:r>
          </a:p>
        </p:txBody>
      </p:sp>
      <p:sp>
        <p:nvSpPr>
          <p:cNvPr id="33" name="">
            <a:extLst xmlns:a="http://schemas.openxmlformats.org/drawingml/2006/main">
              <a:ext uri="{FF2B5EF4-FFF2-40B4-BE49-F238E27FC236}">
                <a16:creationId xmlns:a16="http://schemas.microsoft.com/office/drawing/2014/main" id="{00AF3391-6651-4D7D-8551-EC7413F004B9}"/>
              </a:ext>
            </a:extLst>
          </p:cNvPr>
          <p:cNvSpPr>
            <a:spLocks xmlns:a="http://schemas.openxmlformats.org/drawingml/2006/main" noGrp="1"/>
          </p:cNvSpPr>
          <p:nvPr/>
        </p:nvSpPr>
        <p:spPr>
          <a:xfrm xmlns:a="http://schemas.openxmlformats.org/drawingml/2006/main">
            <a:off x="720090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FFFFFF"/>
                </a:solidFill>
                <a:latin typeface="Aptos"/>
                <a:ea typeface="Aptos"/>
                <a:cs typeface="Aptos"/>
              </a:defRPr>
            </a:pPr>
            <a:r>
              <a:rPr sz="1725" b="1">
                <a:solidFill>
                  <a:srgbClr val="FFFFFF"/>
                </a:solidFill>
                <a:latin typeface="Aptos"/>
                <a:ea typeface="Aptos"/>
                <a:cs typeface="Aptos"/>
              </a:rPr>
              <a:t>Learned models</a:t>
            </a:r>
          </a:p>
        </p:txBody>
      </p:sp>
      <p:sp>
        <p:nvSpPr>
          <p:cNvPr id="34" name="">
            <a:extLst xmlns:a="http://schemas.openxmlformats.org/drawingml/2006/main">
              <a:ext uri="{FF2B5EF4-FFF2-40B4-BE49-F238E27FC236}">
                <a16:creationId xmlns:a16="http://schemas.microsoft.com/office/drawing/2014/main" id="{2A6A6814-499F-4547-9366-F260CD713F05}"/>
              </a:ext>
            </a:extLst>
          </p:cNvPr>
          <p:cNvSpPr>
            <a:spLocks xmlns:a="http://schemas.openxmlformats.org/drawingml/2006/main" noGrp="1"/>
          </p:cNvSpPr>
          <p:nvPr/>
        </p:nvSpPr>
        <p:spPr>
          <a:xfrm xmlns:a="http://schemas.openxmlformats.org/drawingml/2006/main">
            <a:off x="7219950" y="28765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A57AD20-5DDC-46BF-87DB-4A8B9DAF97C7}"/>
              </a:ext>
            </a:extLst>
          </p:cNvPr>
          <p:cNvSpPr>
            <a:spLocks xmlns:a="http://schemas.openxmlformats.org/drawingml/2006/main" noGrp="1"/>
          </p:cNvSpPr>
          <p:nvPr/>
        </p:nvSpPr>
        <p:spPr>
          <a:xfrm xmlns:a="http://schemas.openxmlformats.org/drawingml/2006/main">
            <a:off x="7467600" y="2819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C5CFDD"/>
                </a:solidFill>
                <a:latin typeface="Aptos"/>
                <a:ea typeface="Aptos"/>
                <a:cs typeface="Aptos"/>
              </a:defRPr>
            </a:pPr>
            <a:r>
              <a:rPr sz="1050" b="0">
                <a:solidFill>
                  <a:srgbClr val="C5CFDD"/>
                </a:solidFill>
                <a:latin typeface="Aptos"/>
                <a:ea typeface="Aptos"/>
                <a:cs typeface="Aptos"/>
              </a:rPr>
              <a:t>token models</a:t>
            </a:r>
          </a:p>
        </p:txBody>
      </p:sp>
      <p:sp>
        <p:nvSpPr>
          <p:cNvPr id="36" name="">
            <a:extLst xmlns:a="http://schemas.openxmlformats.org/drawingml/2006/main">
              <a:ext uri="{FF2B5EF4-FFF2-40B4-BE49-F238E27FC236}">
                <a16:creationId xmlns:a16="http://schemas.microsoft.com/office/drawing/2014/main" id="{775353F5-97E6-4A82-8956-16A176A35ABE}"/>
              </a:ext>
            </a:extLst>
          </p:cNvPr>
          <p:cNvSpPr>
            <a:spLocks xmlns:a="http://schemas.openxmlformats.org/drawingml/2006/main" noGrp="1"/>
          </p:cNvSpPr>
          <p:nvPr/>
        </p:nvSpPr>
        <p:spPr>
          <a:xfrm xmlns:a="http://schemas.openxmlformats.org/drawingml/2006/main">
            <a:off x="7219950" y="32766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8FFBC0B-7F5A-4B4C-A303-5A31076007D4}"/>
              </a:ext>
            </a:extLst>
          </p:cNvPr>
          <p:cNvSpPr>
            <a:spLocks xmlns:a="http://schemas.openxmlformats.org/drawingml/2006/main" noGrp="1"/>
          </p:cNvSpPr>
          <p:nvPr/>
        </p:nvSpPr>
        <p:spPr>
          <a:xfrm xmlns:a="http://schemas.openxmlformats.org/drawingml/2006/main">
            <a:off x="7467600" y="3219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C5CFDD"/>
                </a:solidFill>
                <a:latin typeface="Aptos"/>
                <a:ea typeface="Aptos"/>
                <a:cs typeface="Aptos"/>
              </a:defRPr>
            </a:pPr>
            <a:r>
              <a:rPr sz="1050" b="0">
                <a:solidFill>
                  <a:srgbClr val="C5CFDD"/>
                </a:solidFill>
                <a:latin typeface="Aptos"/>
                <a:ea typeface="Aptos"/>
                <a:cs typeface="Aptos"/>
              </a:rPr>
              <a:t>R8 resilience</a:t>
            </a:r>
          </a:p>
        </p:txBody>
      </p:sp>
      <p:sp>
        <p:nvSpPr>
          <p:cNvPr id="38" name="">
            <a:extLst xmlns:a="http://schemas.openxmlformats.org/drawingml/2006/main">
              <a:ext uri="{FF2B5EF4-FFF2-40B4-BE49-F238E27FC236}">
                <a16:creationId xmlns:a16="http://schemas.microsoft.com/office/drawing/2014/main" id="{7D339709-E6C8-4C68-973D-A0BDDB2D1C3C}"/>
              </a:ext>
            </a:extLst>
          </p:cNvPr>
          <p:cNvSpPr>
            <a:spLocks xmlns:a="http://schemas.openxmlformats.org/drawingml/2006/main" noGrp="1"/>
          </p:cNvSpPr>
          <p:nvPr/>
        </p:nvSpPr>
        <p:spPr>
          <a:xfrm xmlns:a="http://schemas.openxmlformats.org/drawingml/2006/main">
            <a:off x="7219950" y="36766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DACB987-BEA8-4030-B57E-B9BC292FC954}"/>
              </a:ext>
            </a:extLst>
          </p:cNvPr>
          <p:cNvSpPr>
            <a:spLocks xmlns:a="http://schemas.openxmlformats.org/drawingml/2006/main" noGrp="1"/>
          </p:cNvSpPr>
          <p:nvPr/>
        </p:nvSpPr>
        <p:spPr>
          <a:xfrm xmlns:a="http://schemas.openxmlformats.org/drawingml/2006/main">
            <a:off x="746760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C5CFDD"/>
                </a:solidFill>
                <a:latin typeface="Aptos"/>
                <a:ea typeface="Aptos"/>
                <a:cs typeface="Aptos"/>
              </a:defRPr>
            </a:pPr>
            <a:r>
              <a:rPr sz="1050" b="0">
                <a:solidFill>
                  <a:srgbClr val="C5CFDD"/>
                </a:solidFill>
                <a:latin typeface="Aptos"/>
                <a:ea typeface="Aptos"/>
                <a:cs typeface="Aptos"/>
              </a:rPr>
              <a:t>risk classification</a:t>
            </a:r>
          </a:p>
        </p:txBody>
      </p:sp>
      <p:sp>
        <p:nvSpPr>
          <p:cNvPr id="40" name="rule">
            <a:extLst xmlns:a="http://schemas.openxmlformats.org/drawingml/2006/main">
              <a:ext uri="{FF2B5EF4-FFF2-40B4-BE49-F238E27FC236}">
                <a16:creationId xmlns:a16="http://schemas.microsoft.com/office/drawing/2014/main" id="{41621A4F-8BB6-4049-BC59-D73794C49119}"/>
              </a:ext>
            </a:extLst>
          </p:cNvPr>
          <p:cNvSpPr>
            <a:spLocks xmlns:a="http://schemas.openxmlformats.org/drawingml/2006/main" noGrp="1"/>
          </p:cNvSpPr>
          <p:nvPr/>
        </p:nvSpPr>
        <p:spPr>
          <a:xfrm xmlns:a="http://schemas.openxmlformats.org/drawingml/2006/main">
            <a:off x="7200900" y="3943350"/>
            <a:ext cx="23622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3031F22-C2FF-45B4-82FF-C8185FDCA1CA}"/>
              </a:ext>
            </a:extLst>
          </p:cNvPr>
          <p:cNvSpPr>
            <a:spLocks xmlns:a="http://schemas.openxmlformats.org/drawingml/2006/main" noGrp="1"/>
          </p:cNvSpPr>
          <p:nvPr/>
        </p:nvSpPr>
        <p:spPr>
          <a:xfrm xmlns:a="http://schemas.openxmlformats.org/drawingml/2006/main">
            <a:off x="7200900" y="4095750"/>
            <a:ext cx="2362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655F73"/>
                </a:solidFill>
                <a:latin typeface="Aptos"/>
                <a:ea typeface="Aptos"/>
                <a:cs typeface="Aptos"/>
              </a:defRPr>
            </a:pPr>
            <a:r>
              <a:rPr sz="825" b="1">
                <a:solidFill>
                  <a:srgbClr val="655F73"/>
                </a:solidFill>
                <a:latin typeface="Aptos"/>
                <a:ea typeface="Aptos"/>
                <a:cs typeface="Aptos"/>
              </a:rPr>
              <a:t>LibAttention  ObfDetector</a:t>
            </a:r>
          </a:p>
        </p:txBody>
      </p:sp>
      <p:sp>
        <p:nvSpPr>
          <p:cNvPr id="42" name="">
            <a:extLst xmlns:a="http://schemas.openxmlformats.org/drawingml/2006/main">
              <a:ext uri="{FF2B5EF4-FFF2-40B4-BE49-F238E27FC236}">
                <a16:creationId xmlns:a16="http://schemas.microsoft.com/office/drawing/2014/main" id="{6C3CB2BD-0555-43B4-B97F-AE65404C58FE}"/>
              </a:ext>
            </a:extLst>
          </p:cNvPr>
          <p:cNvSpPr>
            <a:spLocks xmlns:a="http://schemas.openxmlformats.org/drawingml/2006/main" noGrp="1"/>
          </p:cNvSpPr>
          <p:nvPr/>
        </p:nvSpPr>
        <p:spPr>
          <a:xfrm xmlns:a="http://schemas.openxmlformats.org/drawingml/2006/main">
            <a:off x="10058400" y="1657350"/>
            <a:ext cx="1466850"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98AF70C8-0845-4506-8859-91B2D0CCC9A7}"/>
              </a:ext>
            </a:extLst>
          </p:cNvPr>
          <p:cNvSpPr>
            <a:spLocks xmlns:a="http://schemas.openxmlformats.org/drawingml/2006/main" noGrp="1"/>
          </p:cNvSpPr>
          <p:nvPr/>
        </p:nvSpPr>
        <p:spPr>
          <a:xfrm xmlns:a="http://schemas.openxmlformats.org/drawingml/2006/main">
            <a:off x="10287000" y="186690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A65C55"/>
                </a:solidFill>
                <a:latin typeface="Aptos"/>
                <a:ea typeface="Aptos"/>
                <a:cs typeface="Aptos"/>
              </a:defRPr>
            </a:pPr>
            <a:r>
              <a:rPr sz="900" b="1">
                <a:solidFill>
                  <a:srgbClr val="A65C55"/>
                </a:solidFill>
                <a:latin typeface="Aptos"/>
                <a:ea typeface="Aptos"/>
                <a:cs typeface="Aptos"/>
              </a:rPr>
              <a:t>GAP</a:t>
            </a:r>
          </a:p>
        </p:txBody>
      </p:sp>
      <p:sp>
        <p:nvSpPr>
          <p:cNvPr id="44" name="">
            <a:extLst xmlns:a="http://schemas.openxmlformats.org/drawingml/2006/main">
              <a:ext uri="{FF2B5EF4-FFF2-40B4-BE49-F238E27FC236}">
                <a16:creationId xmlns:a16="http://schemas.microsoft.com/office/drawing/2014/main" id="{C65560C8-26AB-4EFA-8779-5CE356E24817}"/>
              </a:ext>
            </a:extLst>
          </p:cNvPr>
          <p:cNvSpPr>
            <a:spLocks xmlns:a="http://schemas.openxmlformats.org/drawingml/2006/main" noGrp="1"/>
          </p:cNvSpPr>
          <p:nvPr/>
        </p:nvSpPr>
        <p:spPr>
          <a:xfrm xmlns:a="http://schemas.openxmlformats.org/drawingml/2006/main">
            <a:off x="10248900" y="2362200"/>
            <a:ext cx="1085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202A33"/>
                </a:solidFill>
                <a:latin typeface="Aptos"/>
                <a:ea typeface="Aptos"/>
                <a:cs typeface="Aptos"/>
              </a:defRPr>
            </a:pPr>
            <a:r>
              <a:rPr sz="1575" b="1">
                <a:solidFill>
                  <a:srgbClr val="202A33"/>
                </a:solidFill>
                <a:latin typeface="Aptos"/>
                <a:ea typeface="Aptos"/>
                <a:cs typeface="Aptos"/>
              </a:rPr>
              <a:t>Exact</a:t>
            </a:r>
          </a:p>
          <a:p xmlns:a="http://schemas.openxmlformats.org/drawingml/2006/main">
            <a:pPr algn="ctr">
              <a:buNone/>
              <a:defRPr sz="1575" b="1">
                <a:solidFill>
                  <a:srgbClr val="202A33"/>
                </a:solidFill>
                <a:latin typeface="Aptos"/>
                <a:ea typeface="Aptos"/>
                <a:cs typeface="Aptos"/>
              </a:defRPr>
            </a:pPr>
            <a:r>
              <a:rPr sz="1575" b="1">
                <a:solidFill>
                  <a:srgbClr val="202A33"/>
                </a:solidFill>
                <a:latin typeface="Aptos"/>
                <a:ea typeface="Aptos"/>
                <a:cs typeface="Aptos"/>
              </a:rPr>
              <a:t>versions</a:t>
            </a:r>
          </a:p>
          <a:p xmlns:a="http://schemas.openxmlformats.org/drawingml/2006/main">
            <a:pPr algn="ctr">
              <a:buNone/>
              <a:defRPr sz="1575" b="1">
                <a:solidFill>
                  <a:srgbClr val="202A33"/>
                </a:solidFill>
                <a:latin typeface="Aptos"/>
                <a:ea typeface="Aptos"/>
                <a:cs typeface="Aptos"/>
              </a:defRPr>
            </a:pPr>
            <a:r>
              <a:rPr sz="1575" b="1">
                <a:solidFill>
                  <a:srgbClr val="202A33"/>
                </a:solidFill>
                <a:latin typeface="Aptos"/>
                <a:ea typeface="Aptos"/>
                <a:cs typeface="Aptos"/>
              </a:rPr>
              <a:t>under R8</a:t>
            </a:r>
          </a:p>
        </p:txBody>
      </p:sp>
      <p:sp>
        <p:nvSpPr>
          <p:cNvPr id="45" name="">
            <a:extLst xmlns:a="http://schemas.openxmlformats.org/drawingml/2006/main">
              <a:ext uri="{FF2B5EF4-FFF2-40B4-BE49-F238E27FC236}">
                <a16:creationId xmlns:a16="http://schemas.microsoft.com/office/drawing/2014/main" id="{831EA070-3F2A-4493-A562-F2A03231E5B2}"/>
              </a:ext>
            </a:extLst>
          </p:cNvPr>
          <p:cNvSpPr>
            <a:spLocks xmlns:a="http://schemas.openxmlformats.org/drawingml/2006/main" noGrp="1"/>
          </p:cNvSpPr>
          <p:nvPr/>
        </p:nvSpPr>
        <p:spPr>
          <a:xfrm xmlns:a="http://schemas.openxmlformats.org/drawingml/2006/main">
            <a:off x="10287000" y="3505200"/>
            <a:ext cx="100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0">
                <a:solidFill>
                  <a:srgbClr val="65717A"/>
                </a:solidFill>
                <a:latin typeface="Aptos"/>
                <a:ea typeface="Aptos"/>
                <a:cs typeface="Aptos"/>
              </a:defRPr>
            </a:pPr>
            <a:r>
              <a:rPr sz="1050" b="0">
                <a:solidFill>
                  <a:srgbClr val="65717A"/>
                </a:solidFill>
                <a:latin typeface="Aptos"/>
                <a:ea typeface="Aptos"/>
                <a:cs typeface="Aptos"/>
              </a:rPr>
              <a:t>+ standard</a:t>
            </a:r>
          </a:p>
          <a:p xmlns:a="http://schemas.openxmlformats.org/drawingml/2006/main">
            <a:pPr algn="ctr">
              <a:buNone/>
              <a:defRPr sz="1050" b="0">
                <a:solidFill>
                  <a:srgbClr val="65717A"/>
                </a:solidFill>
                <a:latin typeface="Aptos"/>
                <a:ea typeface="Aptos"/>
                <a:cs typeface="Aptos"/>
              </a:defRPr>
            </a:pPr>
            <a:r>
              <a:rPr sz="1050" b="0">
                <a:solidFill>
                  <a:srgbClr val="65717A"/>
                </a:solidFill>
                <a:latin typeface="Aptos"/>
                <a:ea typeface="Aptos"/>
                <a:cs typeface="Aptos"/>
              </a:rPr>
              <a:t>SBOM output</a:t>
            </a:r>
          </a:p>
        </p:txBody>
      </p:sp>
      <p:sp>
        <p:nvSpPr>
          <p:cNvPr id="46" name="">
            <a:extLst xmlns:a="http://schemas.openxmlformats.org/drawingml/2006/main">
              <a:ext uri="{FF2B5EF4-FFF2-40B4-BE49-F238E27FC236}">
                <a16:creationId xmlns:a16="http://schemas.microsoft.com/office/drawing/2014/main" id="{EFDEDAA4-2566-49F6-8CAC-0E05BB7BED25}"/>
              </a:ext>
            </a:extLst>
          </p:cNvPr>
          <p:cNvSpPr>
            <a:spLocks xmlns:a="http://schemas.openxmlformats.org/drawingml/2006/main" noGrp="1"/>
          </p:cNvSpPr>
          <p:nvPr/>
        </p:nvSpPr>
        <p:spPr>
          <a:xfrm xmlns:a="http://schemas.openxmlformats.org/drawingml/2006/main">
            <a:off x="685800" y="4857750"/>
            <a:ext cx="10839450" cy="8191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BA7CD717-F603-47E0-ACCA-CEF075EB327F}"/>
              </a:ext>
            </a:extLst>
          </p:cNvPr>
          <p:cNvSpPr>
            <a:spLocks xmlns:a="http://schemas.openxmlformats.org/drawingml/2006/main" noGrp="1"/>
          </p:cNvSpPr>
          <p:nvPr/>
        </p:nvSpPr>
        <p:spPr>
          <a:xfrm xmlns:a="http://schemas.openxmlformats.org/drawingml/2006/main">
            <a:off x="914400" y="5067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FFFFFF"/>
                </a:solidFill>
                <a:latin typeface="Aptos"/>
                <a:ea typeface="Aptos"/>
                <a:cs typeface="Aptos"/>
              </a:defRPr>
            </a:pPr>
            <a:r>
              <a:rPr sz="1275" b="1">
                <a:solidFill>
                  <a:srgbClr val="FFFFFF"/>
                </a:solidFill>
                <a:latin typeface="Aptos"/>
                <a:ea typeface="Aptos"/>
                <a:cs typeface="Aptos"/>
              </a:rPr>
              <a:t>Project response</a:t>
            </a:r>
          </a:p>
        </p:txBody>
      </p:sp>
      <p:sp>
        <p:nvSpPr>
          <p:cNvPr id="48" name="">
            <a:extLst xmlns:a="http://schemas.openxmlformats.org/drawingml/2006/main">
              <a:ext uri="{FF2B5EF4-FFF2-40B4-BE49-F238E27FC236}">
                <a16:creationId xmlns:a16="http://schemas.microsoft.com/office/drawing/2014/main" id="{FBB0D66A-9B29-473A-AFBF-EF1C73DBE378}"/>
              </a:ext>
            </a:extLst>
          </p:cNvPr>
          <p:cNvSpPr>
            <a:spLocks xmlns:a="http://schemas.openxmlformats.org/drawingml/2006/main" noGrp="1"/>
          </p:cNvSpPr>
          <p:nvPr/>
        </p:nvSpPr>
        <p:spPr>
          <a:xfrm xmlns:a="http://schemas.openxmlformats.org/drawingml/2006/main">
            <a:off x="2781300" y="5048250"/>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multi-scale evidence  +  separate identity/version confidence  +  CycloneDX  +  transparent limits</a:t>
            </a:r>
          </a:p>
        </p:txBody>
      </p:sp>
      <p:sp>
        <p:nvSpPr>
          <p:cNvPr id="49" name="">
            <a:extLst xmlns:a="http://schemas.openxmlformats.org/drawingml/2006/main">
              <a:ext uri="{FF2B5EF4-FFF2-40B4-BE49-F238E27FC236}">
                <a16:creationId xmlns:a16="http://schemas.microsoft.com/office/drawing/2014/main" id="{80FF4F23-8699-4034-86CB-51003F8FFF2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565691737"/>
      </p:ext>
    </p:extLst>
  </p:cSld>
</p:sld>
</file>

<file path=ppt/slides/slide4.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E8D1480-9EC3-4A7B-ABB7-AA95D1D4DCE5}"/>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4F7D76"/>
                </a:solidFill>
                <a:latin typeface="Aptos"/>
                <a:ea typeface="Aptos"/>
                <a:cs typeface="Aptos"/>
              </a:defRPr>
            </a:pPr>
            <a:r>
              <a:rPr sz="900" b="1">
                <a:solidFill>
                  <a:srgbClr val="4F7D76"/>
                </a:solidFill>
                <a:latin typeface="Aptos"/>
                <a:ea typeface="Aptos"/>
                <a:cs typeface="Aptos"/>
              </a:rPr>
              <a:t>PROJECT OBJECTIVE</a:t>
            </a:r>
          </a:p>
        </p:txBody>
      </p:sp>
      <p:sp>
        <p:nvSpPr>
          <p:cNvPr id="2" name="">
            <a:extLst xmlns:a="http://schemas.openxmlformats.org/drawingml/2006/main">
              <a:ext uri="{FF2B5EF4-FFF2-40B4-BE49-F238E27FC236}">
                <a16:creationId xmlns:a16="http://schemas.microsoft.com/office/drawing/2014/main" id="{333F00CB-1F26-49B5-904A-70E108FAF3D6}"/>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objective is a useful security artifact, not forced certainty</a:t>
            </a:r>
          </a:p>
        </p:txBody>
      </p:sp>
      <p:sp>
        <p:nvSpPr>
          <p:cNvPr id="3" name="">
            <a:extLst xmlns:a="http://schemas.openxmlformats.org/drawingml/2006/main">
              <a:ext uri="{FF2B5EF4-FFF2-40B4-BE49-F238E27FC236}">
                <a16:creationId xmlns:a16="http://schemas.microsoft.com/office/drawing/2014/main" id="{7EACDF5E-0365-4875-8389-897D07EDF968}"/>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04</a:t>
            </a:r>
          </a:p>
        </p:txBody>
      </p:sp>
      <p:sp>
        <p:nvSpPr>
          <p:cNvPr id="4" name="">
            <a:extLst xmlns:a="http://schemas.openxmlformats.org/drawingml/2006/main">
              <a:ext uri="{FF2B5EF4-FFF2-40B4-BE49-F238E27FC236}">
                <a16:creationId xmlns:a16="http://schemas.microsoft.com/office/drawing/2014/main" id="{47DD60D6-E997-43FF-B3BC-8DA7C3E95629}"/>
              </a:ext>
            </a:extLst>
          </p:cNvPr>
          <p:cNvSpPr>
            <a:spLocks xmlns:a="http://schemas.openxmlformats.org/drawingml/2006/main" noGrp="1"/>
          </p:cNvSpPr>
          <p:nvPr/>
        </p:nvSpPr>
        <p:spPr>
          <a:xfrm xmlns:a="http://schemas.openxmlformats.org/drawingml/2006/main">
            <a:off x="723900" y="1676400"/>
            <a:ext cx="2247900" cy="314325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5" name="">
            <a:extLst xmlns:a="http://schemas.openxmlformats.org/drawingml/2006/main">
              <a:ext uri="{FF2B5EF4-FFF2-40B4-BE49-F238E27FC236}">
                <a16:creationId xmlns:a16="http://schemas.microsoft.com/office/drawing/2014/main" id="{9F30882A-F4B2-41F7-825D-A58808F5F9AA}"/>
              </a:ext>
            </a:extLst>
          </p:cNvPr>
          <p:cNvSpPr>
            <a:spLocks xmlns:a="http://schemas.openxmlformats.org/drawingml/2006/main" noGrp="1"/>
          </p:cNvSpPr>
          <p:nvPr/>
        </p:nvSpPr>
        <p:spPr>
          <a:xfrm xmlns:a="http://schemas.openxmlformats.org/drawingml/2006/main">
            <a:off x="933450" y="18859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4F7D76"/>
                </a:solidFill>
                <a:latin typeface="Aptos"/>
                <a:ea typeface="Aptos"/>
                <a:cs typeface="Aptos"/>
              </a:defRPr>
            </a:pPr>
            <a:r>
              <a:rPr sz="825" b="1">
                <a:solidFill>
                  <a:srgbClr val="4F7D76"/>
                </a:solidFill>
                <a:latin typeface="Aptos"/>
                <a:ea typeface="Aptos"/>
                <a:cs typeface="Aptos"/>
              </a:rPr>
              <a:t>INPUT</a:t>
            </a:r>
          </a:p>
        </p:txBody>
      </p:sp>
      <p:sp>
        <p:nvSpPr>
          <p:cNvPr id="6" name="">
            <a:extLst xmlns:a="http://schemas.openxmlformats.org/drawingml/2006/main">
              <a:ext uri="{FF2B5EF4-FFF2-40B4-BE49-F238E27FC236}">
                <a16:creationId xmlns:a16="http://schemas.microsoft.com/office/drawing/2014/main" id="{B0BDADAE-5D1A-48D3-8BC2-82D0700E0728}"/>
              </a:ext>
            </a:extLst>
          </p:cNvPr>
          <p:cNvSpPr>
            <a:spLocks xmlns:a="http://schemas.openxmlformats.org/drawingml/2006/main" noGrp="1"/>
          </p:cNvSpPr>
          <p:nvPr/>
        </p:nvSpPr>
        <p:spPr>
          <a:xfrm xmlns:a="http://schemas.openxmlformats.org/drawingml/2006/main">
            <a:off x="933450" y="23431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APK</a:t>
            </a:r>
          </a:p>
        </p:txBody>
      </p:sp>
      <p:sp>
        <p:nvSpPr>
          <p:cNvPr id="7" name="">
            <a:extLst xmlns:a="http://schemas.openxmlformats.org/drawingml/2006/main">
              <a:ext uri="{FF2B5EF4-FFF2-40B4-BE49-F238E27FC236}">
                <a16:creationId xmlns:a16="http://schemas.microsoft.com/office/drawing/2014/main" id="{03DED3D1-3F75-4032-8D28-2314EC78F7B0}"/>
              </a:ext>
            </a:extLst>
          </p:cNvPr>
          <p:cNvSpPr>
            <a:spLocks xmlns:a="http://schemas.openxmlformats.org/drawingml/2006/main" noGrp="1"/>
          </p:cNvSpPr>
          <p:nvPr/>
        </p:nvSpPr>
        <p:spPr>
          <a:xfrm xmlns:a="http://schemas.openxmlformats.org/drawingml/2006/main">
            <a:off x="933450" y="3143250"/>
            <a:ext cx="990600" cy="1714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132DA06-6985-49EE-AE46-CEE313C07E8E}"/>
              </a:ext>
            </a:extLst>
          </p:cNvPr>
          <p:cNvSpPr>
            <a:spLocks xmlns:a="http://schemas.openxmlformats.org/drawingml/2006/main" noGrp="1"/>
          </p:cNvSpPr>
          <p:nvPr/>
        </p:nvSpPr>
        <p:spPr>
          <a:xfrm xmlns:a="http://schemas.openxmlformats.org/drawingml/2006/main">
            <a:off x="933450" y="3409950"/>
            <a:ext cx="1352550" cy="1714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E13B5E0-AFFB-458D-B7B5-F35100EA2254}"/>
              </a:ext>
            </a:extLst>
          </p:cNvPr>
          <p:cNvSpPr>
            <a:spLocks xmlns:a="http://schemas.openxmlformats.org/drawingml/2006/main" noGrp="1"/>
          </p:cNvSpPr>
          <p:nvPr/>
        </p:nvSpPr>
        <p:spPr>
          <a:xfrm xmlns:a="http://schemas.openxmlformats.org/drawingml/2006/main">
            <a:off x="933450" y="3676650"/>
            <a:ext cx="781050" cy="1714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258E38-0322-42CE-B96B-05D2DD956490}"/>
              </a:ext>
            </a:extLst>
          </p:cNvPr>
          <p:cNvSpPr>
            <a:spLocks xmlns:a="http://schemas.openxmlformats.org/drawingml/2006/main" noGrp="1"/>
          </p:cNvSpPr>
          <p:nvPr/>
        </p:nvSpPr>
        <p:spPr>
          <a:xfrm xmlns:a="http://schemas.openxmlformats.org/drawingml/2006/main">
            <a:off x="933450" y="4114800"/>
            <a:ext cx="142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7C2D1"/>
                </a:solidFill>
                <a:latin typeface="Cascadia Mono"/>
                <a:ea typeface="Cascadia Mono"/>
                <a:cs typeface="Cascadia Mono"/>
              </a:defRPr>
            </a:pPr>
            <a:r>
              <a:rPr sz="975" b="0">
                <a:solidFill>
                  <a:srgbClr val="B7C2D1"/>
                </a:solidFill>
                <a:latin typeface="Cascadia Mono"/>
                <a:ea typeface="Cascadia Mono"/>
                <a:cs typeface="Cascadia Mono"/>
              </a:rPr>
              <a:t>DEX  manifest</a:t>
            </a:r>
          </a:p>
          <a:p xmlns:a="http://schemas.openxmlformats.org/drawingml/2006/main">
            <a:pPr algn="l">
              <a:buNone/>
              <a:defRPr sz="975" b="0">
                <a:solidFill>
                  <a:srgbClr val="B7C2D1"/>
                </a:solidFill>
                <a:latin typeface="Cascadia Mono"/>
                <a:ea typeface="Cascadia Mono"/>
                <a:cs typeface="Cascadia Mono"/>
              </a:defRPr>
            </a:pPr>
            <a:r>
              <a:rPr sz="975" b="0">
                <a:solidFill>
                  <a:srgbClr val="B7C2D1"/>
                </a:solidFill>
                <a:latin typeface="Cascadia Mono"/>
                <a:ea typeface="Cascadia Mono"/>
                <a:cs typeface="Cascadia Mono"/>
              </a:rPr>
              <a:t>resources  native</a:t>
            </a:r>
          </a:p>
        </p:txBody>
      </p:sp>
      <p:sp>
        <p:nvSpPr>
          <p:cNvPr id="11" name="rule">
            <a:extLst xmlns:a="http://schemas.openxmlformats.org/drawingml/2006/main">
              <a:ext uri="{FF2B5EF4-FFF2-40B4-BE49-F238E27FC236}">
                <a16:creationId xmlns:a16="http://schemas.microsoft.com/office/drawing/2014/main" id="{33D10C3D-0796-41C6-B61C-4DCBB2388D75}"/>
              </a:ext>
            </a:extLst>
          </p:cNvPr>
          <p:cNvSpPr>
            <a:spLocks xmlns:a="http://schemas.openxmlformats.org/drawingml/2006/main" noGrp="1"/>
          </p:cNvSpPr>
          <p:nvPr/>
        </p:nvSpPr>
        <p:spPr>
          <a:xfrm xmlns:a="http://schemas.openxmlformats.org/drawingml/2006/main">
            <a:off x="3086100" y="3228975"/>
            <a:ext cx="12192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097E346-9ED2-42E2-8C9B-6BB2996ED571}"/>
              </a:ext>
            </a:extLst>
          </p:cNvPr>
          <p:cNvSpPr>
            <a:spLocks xmlns:a="http://schemas.openxmlformats.org/drawingml/2006/main" noGrp="1"/>
          </p:cNvSpPr>
          <p:nvPr/>
        </p:nvSpPr>
        <p:spPr>
          <a:xfrm xmlns:a="http://schemas.openxmlformats.org/drawingml/2006/main">
            <a:off x="4229100" y="314325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6A0AD04-E6D7-46DC-A94A-BB5992136F15}"/>
              </a:ext>
            </a:extLst>
          </p:cNvPr>
          <p:cNvSpPr>
            <a:spLocks xmlns:a="http://schemas.openxmlformats.org/drawingml/2006/main" noGrp="1"/>
          </p:cNvSpPr>
          <p:nvPr/>
        </p:nvSpPr>
        <p:spPr>
          <a:xfrm xmlns:a="http://schemas.openxmlformats.org/drawingml/2006/main">
            <a:off x="3086100" y="2952750"/>
            <a:ext cx="1371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a:solidFill>
                  <a:srgbClr val="365F7D"/>
                </a:solidFill>
                <a:latin typeface="Aptos"/>
                <a:ea typeface="Aptos"/>
                <a:cs typeface="Aptos"/>
              </a:defRPr>
            </a:pPr>
            <a:r>
              <a:rPr sz="750" b="1">
                <a:solidFill>
                  <a:srgbClr val="365F7D"/>
                </a:solidFill>
                <a:latin typeface="Aptos"/>
                <a:ea typeface="Aptos"/>
                <a:cs typeface="Aptos"/>
              </a:rPr>
              <a:t>static evidence</a:t>
            </a:r>
          </a:p>
        </p:txBody>
      </p:sp>
      <p:sp>
        <p:nvSpPr>
          <p:cNvPr id="14" name="">
            <a:extLst xmlns:a="http://schemas.openxmlformats.org/drawingml/2006/main">
              <a:ext uri="{FF2B5EF4-FFF2-40B4-BE49-F238E27FC236}">
                <a16:creationId xmlns:a16="http://schemas.microsoft.com/office/drawing/2014/main" id="{A1F6A7AE-7E34-4CE8-9CED-65238DE02B87}"/>
              </a:ext>
            </a:extLst>
          </p:cNvPr>
          <p:cNvSpPr>
            <a:spLocks xmlns:a="http://schemas.openxmlformats.org/drawingml/2006/main" noGrp="1"/>
          </p:cNvSpPr>
          <p:nvPr/>
        </p:nvSpPr>
        <p:spPr>
          <a:xfrm xmlns:a="http://schemas.openxmlformats.org/drawingml/2006/main">
            <a:off x="4572000" y="1676400"/>
            <a:ext cx="2895600" cy="314325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15" name="">
            <a:extLst xmlns:a="http://schemas.openxmlformats.org/drawingml/2006/main">
              <a:ext uri="{FF2B5EF4-FFF2-40B4-BE49-F238E27FC236}">
                <a16:creationId xmlns:a16="http://schemas.microsoft.com/office/drawing/2014/main" id="{A7584A02-E3E0-441E-BA9B-3F92F85165D5}"/>
              </a:ext>
            </a:extLst>
          </p:cNvPr>
          <p:cNvSpPr>
            <a:spLocks xmlns:a="http://schemas.openxmlformats.org/drawingml/2006/main" noGrp="1"/>
          </p:cNvSpPr>
          <p:nvPr/>
        </p:nvSpPr>
        <p:spPr>
          <a:xfrm xmlns:a="http://schemas.openxmlformats.org/drawingml/2006/main">
            <a:off x="4819650" y="18859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Aptos"/>
                <a:ea typeface="Aptos"/>
                <a:cs typeface="Aptos"/>
              </a:defRPr>
            </a:pPr>
            <a:r>
              <a:rPr sz="825" b="1">
                <a:solidFill>
                  <a:srgbClr val="365F7D"/>
                </a:solidFill>
                <a:latin typeface="Aptos"/>
                <a:ea typeface="Aptos"/>
                <a:cs typeface="Aptos"/>
              </a:rPr>
              <a:t>EVIDENCE ENGINE</a:t>
            </a:r>
          </a:p>
        </p:txBody>
      </p:sp>
      <p:sp>
        <p:nvSpPr>
          <p:cNvPr id="16" name="">
            <a:extLst xmlns:a="http://schemas.openxmlformats.org/drawingml/2006/main">
              <a:ext uri="{FF2B5EF4-FFF2-40B4-BE49-F238E27FC236}">
                <a16:creationId xmlns:a16="http://schemas.microsoft.com/office/drawing/2014/main" id="{A9B87D9C-B1B7-4E01-B475-AA65D2A23EF2}"/>
              </a:ext>
            </a:extLst>
          </p:cNvPr>
          <p:cNvSpPr>
            <a:spLocks xmlns:a="http://schemas.openxmlformats.org/drawingml/2006/main" noGrp="1"/>
          </p:cNvSpPr>
          <p:nvPr/>
        </p:nvSpPr>
        <p:spPr>
          <a:xfrm xmlns:a="http://schemas.openxmlformats.org/drawingml/2006/main">
            <a:off x="4819650" y="236220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202A33"/>
                </a:solidFill>
                <a:latin typeface="Aptos"/>
                <a:ea typeface="Aptos"/>
                <a:cs typeface="Aptos"/>
              </a:defRPr>
            </a:pPr>
            <a:r>
              <a:rPr sz="1650" b="1">
                <a:solidFill>
                  <a:srgbClr val="202A33"/>
                </a:solidFill>
                <a:latin typeface="Aptos"/>
                <a:ea typeface="Aptos"/>
                <a:cs typeface="Aptos"/>
              </a:rPr>
              <a:t>Identity</a:t>
            </a:r>
          </a:p>
        </p:txBody>
      </p:sp>
      <p:sp>
        <p:nvSpPr>
          <p:cNvPr id="17" name="">
            <a:extLst xmlns:a="http://schemas.openxmlformats.org/drawingml/2006/main">
              <a:ext uri="{FF2B5EF4-FFF2-40B4-BE49-F238E27FC236}">
                <a16:creationId xmlns:a16="http://schemas.microsoft.com/office/drawing/2014/main" id="{66FBF85E-8111-41B0-9606-9DCB9ADA991D}"/>
              </a:ext>
            </a:extLst>
          </p:cNvPr>
          <p:cNvSpPr>
            <a:spLocks xmlns:a="http://schemas.openxmlformats.org/drawingml/2006/main" noGrp="1"/>
          </p:cNvSpPr>
          <p:nvPr/>
        </p:nvSpPr>
        <p:spPr>
          <a:xfrm xmlns:a="http://schemas.openxmlformats.org/drawingml/2006/main">
            <a:off x="6076950" y="23622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202A33"/>
                </a:solidFill>
                <a:latin typeface="Aptos"/>
                <a:ea typeface="Aptos"/>
                <a:cs typeface="Aptos"/>
              </a:defRPr>
            </a:pPr>
            <a:r>
              <a:rPr sz="1650" b="1">
                <a:solidFill>
                  <a:srgbClr val="202A33"/>
                </a:solidFill>
                <a:latin typeface="Aptos"/>
                <a:ea typeface="Aptos"/>
                <a:cs typeface="Aptos"/>
              </a:rPr>
              <a:t>Version</a:t>
            </a:r>
          </a:p>
        </p:txBody>
      </p:sp>
      <p:sp>
        <p:nvSpPr>
          <p:cNvPr id="18" name="">
            <a:extLst xmlns:a="http://schemas.openxmlformats.org/drawingml/2006/main">
              <a:ext uri="{FF2B5EF4-FFF2-40B4-BE49-F238E27FC236}">
                <a16:creationId xmlns:a16="http://schemas.microsoft.com/office/drawing/2014/main" id="{4D65F97F-8C79-41E7-974C-64DBEEBAD964}"/>
              </a:ext>
            </a:extLst>
          </p:cNvPr>
          <p:cNvSpPr>
            <a:spLocks xmlns:a="http://schemas.openxmlformats.org/drawingml/2006/main" noGrp="1"/>
          </p:cNvSpPr>
          <p:nvPr/>
        </p:nvSpPr>
        <p:spPr>
          <a:xfrm xmlns:a="http://schemas.openxmlformats.org/drawingml/2006/main">
            <a:off x="4819650" y="295275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class / method</a:t>
            </a:r>
          </a:p>
        </p:txBody>
      </p:sp>
      <p:sp>
        <p:nvSpPr>
          <p:cNvPr id="19" name="">
            <a:extLst xmlns:a="http://schemas.openxmlformats.org/drawingml/2006/main">
              <a:ext uri="{FF2B5EF4-FFF2-40B4-BE49-F238E27FC236}">
                <a16:creationId xmlns:a16="http://schemas.microsoft.com/office/drawing/2014/main" id="{B6FAEBFE-7642-46FF-86D4-DBA5A85CD976}"/>
              </a:ext>
            </a:extLst>
          </p:cNvPr>
          <p:cNvSpPr>
            <a:spLocks xmlns:a="http://schemas.openxmlformats.org/drawingml/2006/main" noGrp="1"/>
          </p:cNvSpPr>
          <p:nvPr/>
        </p:nvSpPr>
        <p:spPr>
          <a:xfrm xmlns:a="http://schemas.openxmlformats.org/drawingml/2006/main">
            <a:off x="6153150" y="2981325"/>
            <a:ext cx="7810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471D783-298A-484D-B26E-78A3BDFAC994}"/>
              </a:ext>
            </a:extLst>
          </p:cNvPr>
          <p:cNvSpPr>
            <a:spLocks xmlns:a="http://schemas.openxmlformats.org/drawingml/2006/main" noGrp="1"/>
          </p:cNvSpPr>
          <p:nvPr/>
        </p:nvSpPr>
        <p:spPr>
          <a:xfrm xmlns:a="http://schemas.openxmlformats.org/drawingml/2006/main">
            <a:off x="6153150" y="2981325"/>
            <a:ext cx="687324" cy="1333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A59823D-3116-48C7-873C-C0F28C085938}"/>
              </a:ext>
            </a:extLst>
          </p:cNvPr>
          <p:cNvSpPr>
            <a:spLocks xmlns:a="http://schemas.openxmlformats.org/drawingml/2006/main" noGrp="1"/>
          </p:cNvSpPr>
          <p:nvPr/>
        </p:nvSpPr>
        <p:spPr>
          <a:xfrm xmlns:a="http://schemas.openxmlformats.org/drawingml/2006/main">
            <a:off x="6915150" y="294322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1">
                <a:solidFill>
                  <a:srgbClr val="365F7D"/>
                </a:solidFill>
                <a:latin typeface="Aptos"/>
                <a:ea typeface="Aptos"/>
                <a:cs typeface="Aptos"/>
              </a:defRPr>
            </a:pPr>
            <a:r>
              <a:rPr sz="750" b="1">
                <a:solidFill>
                  <a:srgbClr val="365F7D"/>
                </a:solidFill>
                <a:latin typeface="Aptos"/>
                <a:ea typeface="Aptos"/>
                <a:cs typeface="Aptos"/>
              </a:rPr>
              <a:t>88/100</a:t>
            </a:r>
          </a:p>
        </p:txBody>
      </p:sp>
      <p:sp>
        <p:nvSpPr>
          <p:cNvPr id="22" name="">
            <a:extLst xmlns:a="http://schemas.openxmlformats.org/drawingml/2006/main">
              <a:ext uri="{FF2B5EF4-FFF2-40B4-BE49-F238E27FC236}">
                <a16:creationId xmlns:a16="http://schemas.microsoft.com/office/drawing/2014/main" id="{8353BCA0-F92E-4DB4-BA76-916337AB5CF3}"/>
              </a:ext>
            </a:extLst>
          </p:cNvPr>
          <p:cNvSpPr>
            <a:spLocks xmlns:a="http://schemas.openxmlformats.org/drawingml/2006/main" noGrp="1"/>
          </p:cNvSpPr>
          <p:nvPr/>
        </p:nvSpPr>
        <p:spPr>
          <a:xfrm xmlns:a="http://schemas.openxmlformats.org/drawingml/2006/main">
            <a:off x="4819650" y="339090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opcode / graph</a:t>
            </a:r>
          </a:p>
        </p:txBody>
      </p:sp>
      <p:sp>
        <p:nvSpPr>
          <p:cNvPr id="23" name="">
            <a:extLst xmlns:a="http://schemas.openxmlformats.org/drawingml/2006/main">
              <a:ext uri="{FF2B5EF4-FFF2-40B4-BE49-F238E27FC236}">
                <a16:creationId xmlns:a16="http://schemas.microsoft.com/office/drawing/2014/main" id="{BAFC231C-4180-4AE8-87FF-338463E7100E}"/>
              </a:ext>
            </a:extLst>
          </p:cNvPr>
          <p:cNvSpPr>
            <a:spLocks xmlns:a="http://schemas.openxmlformats.org/drawingml/2006/main" noGrp="1"/>
          </p:cNvSpPr>
          <p:nvPr/>
        </p:nvSpPr>
        <p:spPr>
          <a:xfrm xmlns:a="http://schemas.openxmlformats.org/drawingml/2006/main">
            <a:off x="6153150" y="3419475"/>
            <a:ext cx="7810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2223EC9-A9BF-4D0B-B05F-65D67C2C0986}"/>
              </a:ext>
            </a:extLst>
          </p:cNvPr>
          <p:cNvSpPr>
            <a:spLocks xmlns:a="http://schemas.openxmlformats.org/drawingml/2006/main" noGrp="1"/>
          </p:cNvSpPr>
          <p:nvPr/>
        </p:nvSpPr>
        <p:spPr>
          <a:xfrm xmlns:a="http://schemas.openxmlformats.org/drawingml/2006/main">
            <a:off x="6153150" y="3419475"/>
            <a:ext cx="577977" cy="1333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12E2BF5-88FF-4279-AB28-41DE12874DD1}"/>
              </a:ext>
            </a:extLst>
          </p:cNvPr>
          <p:cNvSpPr>
            <a:spLocks xmlns:a="http://schemas.openxmlformats.org/drawingml/2006/main" noGrp="1"/>
          </p:cNvSpPr>
          <p:nvPr/>
        </p:nvSpPr>
        <p:spPr>
          <a:xfrm xmlns:a="http://schemas.openxmlformats.org/drawingml/2006/main">
            <a:off x="6915150" y="3381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1">
                <a:solidFill>
                  <a:srgbClr val="4F7D76"/>
                </a:solidFill>
                <a:latin typeface="Aptos"/>
                <a:ea typeface="Aptos"/>
                <a:cs typeface="Aptos"/>
              </a:defRPr>
            </a:pPr>
            <a:r>
              <a:rPr sz="750" b="1">
                <a:solidFill>
                  <a:srgbClr val="4F7D76"/>
                </a:solidFill>
                <a:latin typeface="Aptos"/>
                <a:ea typeface="Aptos"/>
                <a:cs typeface="Aptos"/>
              </a:rPr>
              <a:t>74/100</a:t>
            </a:r>
          </a:p>
        </p:txBody>
      </p:sp>
      <p:sp>
        <p:nvSpPr>
          <p:cNvPr id="26" name="">
            <a:extLst xmlns:a="http://schemas.openxmlformats.org/drawingml/2006/main">
              <a:ext uri="{FF2B5EF4-FFF2-40B4-BE49-F238E27FC236}">
                <a16:creationId xmlns:a16="http://schemas.microsoft.com/office/drawing/2014/main" id="{C3520724-EAB5-4CB5-92A0-47DC7A1FC8E3}"/>
              </a:ext>
            </a:extLst>
          </p:cNvPr>
          <p:cNvSpPr>
            <a:spLocks xmlns:a="http://schemas.openxmlformats.org/drawingml/2006/main" noGrp="1"/>
          </p:cNvSpPr>
          <p:nvPr/>
        </p:nvSpPr>
        <p:spPr>
          <a:xfrm xmlns:a="http://schemas.openxmlformats.org/drawingml/2006/main">
            <a:off x="4819650" y="382905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literal / unique</a:t>
            </a:r>
          </a:p>
        </p:txBody>
      </p:sp>
      <p:sp>
        <p:nvSpPr>
          <p:cNvPr id="27" name="">
            <a:extLst xmlns:a="http://schemas.openxmlformats.org/drawingml/2006/main">
              <a:ext uri="{FF2B5EF4-FFF2-40B4-BE49-F238E27FC236}">
                <a16:creationId xmlns:a16="http://schemas.microsoft.com/office/drawing/2014/main" id="{D40C55AF-7BF8-4843-9341-7424E52BB6FF}"/>
              </a:ext>
            </a:extLst>
          </p:cNvPr>
          <p:cNvSpPr>
            <a:spLocks xmlns:a="http://schemas.openxmlformats.org/drawingml/2006/main" noGrp="1"/>
          </p:cNvSpPr>
          <p:nvPr/>
        </p:nvSpPr>
        <p:spPr>
          <a:xfrm xmlns:a="http://schemas.openxmlformats.org/drawingml/2006/main">
            <a:off x="6153150" y="3857625"/>
            <a:ext cx="7810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8915AA6-999C-46A2-A365-310437346D80}"/>
              </a:ext>
            </a:extLst>
          </p:cNvPr>
          <p:cNvSpPr>
            <a:spLocks xmlns:a="http://schemas.openxmlformats.org/drawingml/2006/main" noGrp="1"/>
          </p:cNvSpPr>
          <p:nvPr/>
        </p:nvSpPr>
        <p:spPr>
          <a:xfrm xmlns:a="http://schemas.openxmlformats.org/drawingml/2006/main">
            <a:off x="6153150" y="3857625"/>
            <a:ext cx="406146" cy="1333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C4E4307-9CC5-493F-BCE6-58EE9A836B85}"/>
              </a:ext>
            </a:extLst>
          </p:cNvPr>
          <p:cNvSpPr>
            <a:spLocks xmlns:a="http://schemas.openxmlformats.org/drawingml/2006/main" noGrp="1"/>
          </p:cNvSpPr>
          <p:nvPr/>
        </p:nvSpPr>
        <p:spPr>
          <a:xfrm xmlns:a="http://schemas.openxmlformats.org/drawingml/2006/main">
            <a:off x="6915150" y="381952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1">
                <a:solidFill>
                  <a:srgbClr val="8D754D"/>
                </a:solidFill>
                <a:latin typeface="Aptos"/>
                <a:ea typeface="Aptos"/>
                <a:cs typeface="Aptos"/>
              </a:defRPr>
            </a:pPr>
            <a:r>
              <a:rPr sz="750" b="1">
                <a:solidFill>
                  <a:srgbClr val="8D754D"/>
                </a:solidFill>
                <a:latin typeface="Aptos"/>
                <a:ea typeface="Aptos"/>
                <a:cs typeface="Aptos"/>
              </a:rPr>
              <a:t>52/100</a:t>
            </a:r>
          </a:p>
        </p:txBody>
      </p:sp>
      <p:sp>
        <p:nvSpPr>
          <p:cNvPr id="30" name="">
            <a:extLst xmlns:a="http://schemas.openxmlformats.org/drawingml/2006/main">
              <a:ext uri="{FF2B5EF4-FFF2-40B4-BE49-F238E27FC236}">
                <a16:creationId xmlns:a16="http://schemas.microsoft.com/office/drawing/2014/main" id="{3C58E116-F8E7-4F8B-9A5F-7244E773AFF2}"/>
              </a:ext>
            </a:extLst>
          </p:cNvPr>
          <p:cNvSpPr>
            <a:spLocks xmlns:a="http://schemas.openxmlformats.org/drawingml/2006/main" noGrp="1"/>
          </p:cNvSpPr>
          <p:nvPr/>
        </p:nvSpPr>
        <p:spPr>
          <a:xfrm xmlns:a="http://schemas.openxmlformats.org/drawingml/2006/main">
            <a:off x="4819650" y="43243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5717A"/>
                </a:solidFill>
                <a:latin typeface="Aptos"/>
                <a:ea typeface="Aptos"/>
                <a:cs typeface="Aptos"/>
              </a:defRPr>
            </a:pPr>
            <a:r>
              <a:rPr sz="975" b="1">
                <a:solidFill>
                  <a:srgbClr val="65717A"/>
                </a:solidFill>
                <a:latin typeface="Aptos"/>
                <a:ea typeface="Aptos"/>
                <a:cs typeface="Aptos"/>
              </a:rPr>
              <a:t>confidence + ambiguity policy</a:t>
            </a:r>
          </a:p>
        </p:txBody>
      </p:sp>
      <p:sp>
        <p:nvSpPr>
          <p:cNvPr id="31" name="rule">
            <a:extLst xmlns:a="http://schemas.openxmlformats.org/drawingml/2006/main">
              <a:ext uri="{FF2B5EF4-FFF2-40B4-BE49-F238E27FC236}">
                <a16:creationId xmlns:a16="http://schemas.microsoft.com/office/drawing/2014/main" id="{8B73BD52-54F6-461A-95BB-6612C21819F1}"/>
              </a:ext>
            </a:extLst>
          </p:cNvPr>
          <p:cNvSpPr>
            <a:spLocks xmlns:a="http://schemas.openxmlformats.org/drawingml/2006/main" noGrp="1"/>
          </p:cNvSpPr>
          <p:nvPr/>
        </p:nvSpPr>
        <p:spPr>
          <a:xfrm xmlns:a="http://schemas.openxmlformats.org/drawingml/2006/main">
            <a:off x="7658100" y="3343275"/>
            <a:ext cx="9525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023660C-4A31-4444-9F0F-EA8B5CF0DE4A}"/>
              </a:ext>
            </a:extLst>
          </p:cNvPr>
          <p:cNvSpPr>
            <a:spLocks xmlns:a="http://schemas.openxmlformats.org/drawingml/2006/main" noGrp="1"/>
          </p:cNvSpPr>
          <p:nvPr/>
        </p:nvSpPr>
        <p:spPr>
          <a:xfrm xmlns:a="http://schemas.openxmlformats.org/drawingml/2006/main">
            <a:off x="8534400" y="325755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7015CB7-8545-441E-9674-02178AEAE931}"/>
              </a:ext>
            </a:extLst>
          </p:cNvPr>
          <p:cNvSpPr>
            <a:spLocks xmlns:a="http://schemas.openxmlformats.org/drawingml/2006/main" noGrp="1"/>
          </p:cNvSpPr>
          <p:nvPr/>
        </p:nvSpPr>
        <p:spPr>
          <a:xfrm xmlns:a="http://schemas.openxmlformats.org/drawingml/2006/main">
            <a:off x="7658100" y="306705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750" b="1">
                <a:solidFill>
                  <a:srgbClr val="4F7D76"/>
                </a:solidFill>
                <a:latin typeface="Aptos"/>
                <a:ea typeface="Aptos"/>
                <a:cs typeface="Aptos"/>
              </a:defRPr>
            </a:pPr>
            <a:r>
              <a:rPr sz="750" b="1">
                <a:solidFill>
                  <a:srgbClr val="4F7D76"/>
                </a:solidFill>
                <a:latin typeface="Aptos"/>
                <a:ea typeface="Aptos"/>
                <a:cs typeface="Aptos"/>
              </a:rPr>
              <a:t>evidence</a:t>
            </a:r>
          </a:p>
        </p:txBody>
      </p:sp>
      <p:sp>
        <p:nvSpPr>
          <p:cNvPr id="34" name="">
            <a:extLst xmlns:a="http://schemas.openxmlformats.org/drawingml/2006/main">
              <a:ext uri="{FF2B5EF4-FFF2-40B4-BE49-F238E27FC236}">
                <a16:creationId xmlns:a16="http://schemas.microsoft.com/office/drawing/2014/main" id="{C93A6E3F-38C6-48A2-90F8-02227893023B}"/>
              </a:ext>
            </a:extLst>
          </p:cNvPr>
          <p:cNvSpPr>
            <a:spLocks xmlns:a="http://schemas.openxmlformats.org/drawingml/2006/main" noGrp="1"/>
          </p:cNvSpPr>
          <p:nvPr/>
        </p:nvSpPr>
        <p:spPr>
          <a:xfrm xmlns:a="http://schemas.openxmlformats.org/drawingml/2006/main">
            <a:off x="8896350" y="1809750"/>
            <a:ext cx="1200150" cy="120015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35" name="">
            <a:extLst xmlns:a="http://schemas.openxmlformats.org/drawingml/2006/main">
              <a:ext uri="{FF2B5EF4-FFF2-40B4-BE49-F238E27FC236}">
                <a16:creationId xmlns:a16="http://schemas.microsoft.com/office/drawing/2014/main" id="{C7B2D740-576E-44E2-9B53-FFC7B8B78A69}"/>
              </a:ext>
            </a:extLst>
          </p:cNvPr>
          <p:cNvSpPr>
            <a:spLocks xmlns:a="http://schemas.openxmlformats.org/drawingml/2006/main" noGrp="1"/>
          </p:cNvSpPr>
          <p:nvPr/>
        </p:nvSpPr>
        <p:spPr>
          <a:xfrm xmlns:a="http://schemas.openxmlformats.org/drawingml/2006/main">
            <a:off x="8991600" y="201930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365F7D"/>
                </a:solidFill>
                <a:latin typeface="Aptos"/>
                <a:ea typeface="Aptos"/>
                <a:cs typeface="Aptos"/>
              </a:defRPr>
            </a:pPr>
            <a:r>
              <a:rPr sz="1275" b="1">
                <a:solidFill>
                  <a:srgbClr val="365F7D"/>
                </a:solidFill>
                <a:latin typeface="Aptos"/>
                <a:ea typeface="Aptos"/>
                <a:cs typeface="Aptos"/>
              </a:rPr>
              <a:t>CycloneDX</a:t>
            </a:r>
          </a:p>
        </p:txBody>
      </p:sp>
      <p:sp>
        <p:nvSpPr>
          <p:cNvPr id="36" name="">
            <a:extLst xmlns:a="http://schemas.openxmlformats.org/drawingml/2006/main">
              <a:ext uri="{FF2B5EF4-FFF2-40B4-BE49-F238E27FC236}">
                <a16:creationId xmlns:a16="http://schemas.microsoft.com/office/drawing/2014/main" id="{325D87D9-7F46-4485-9DBD-12D5346C2294}"/>
              </a:ext>
            </a:extLst>
          </p:cNvPr>
          <p:cNvSpPr>
            <a:spLocks xmlns:a="http://schemas.openxmlformats.org/drawingml/2006/main" noGrp="1"/>
          </p:cNvSpPr>
          <p:nvPr/>
        </p:nvSpPr>
        <p:spPr>
          <a:xfrm xmlns:a="http://schemas.openxmlformats.org/drawingml/2006/main">
            <a:off x="8991600" y="247650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0">
                <a:solidFill>
                  <a:srgbClr val="202A33"/>
                </a:solidFill>
                <a:latin typeface="Aptos"/>
                <a:ea typeface="Aptos"/>
                <a:cs typeface="Aptos"/>
              </a:defRPr>
            </a:pPr>
            <a:r>
              <a:rPr sz="900" b="0">
                <a:solidFill>
                  <a:srgbClr val="202A33"/>
                </a:solidFill>
                <a:latin typeface="Aptos"/>
                <a:ea typeface="Aptos"/>
                <a:cs typeface="Aptos"/>
              </a:rPr>
              <a:t>standard SBOM</a:t>
            </a:r>
          </a:p>
        </p:txBody>
      </p:sp>
      <p:sp>
        <p:nvSpPr>
          <p:cNvPr id="37" name="">
            <a:extLst xmlns:a="http://schemas.openxmlformats.org/drawingml/2006/main">
              <a:ext uri="{FF2B5EF4-FFF2-40B4-BE49-F238E27FC236}">
                <a16:creationId xmlns:a16="http://schemas.microsoft.com/office/drawing/2014/main" id="{53387A38-F937-4386-9EFF-59E3E6614887}"/>
              </a:ext>
            </a:extLst>
          </p:cNvPr>
          <p:cNvSpPr>
            <a:spLocks xmlns:a="http://schemas.openxmlformats.org/drawingml/2006/main" noGrp="1"/>
          </p:cNvSpPr>
          <p:nvPr/>
        </p:nvSpPr>
        <p:spPr>
          <a:xfrm xmlns:a="http://schemas.openxmlformats.org/drawingml/2006/main">
            <a:off x="10248900" y="1809750"/>
            <a:ext cx="1200150" cy="120015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38" name="">
            <a:extLst xmlns:a="http://schemas.openxmlformats.org/drawingml/2006/main">
              <a:ext uri="{FF2B5EF4-FFF2-40B4-BE49-F238E27FC236}">
                <a16:creationId xmlns:a16="http://schemas.microsoft.com/office/drawing/2014/main" id="{3D6DF673-3C72-4306-99C4-1646B57B83A9}"/>
              </a:ext>
            </a:extLst>
          </p:cNvPr>
          <p:cNvSpPr>
            <a:spLocks xmlns:a="http://schemas.openxmlformats.org/drawingml/2006/main" noGrp="1"/>
          </p:cNvSpPr>
          <p:nvPr/>
        </p:nvSpPr>
        <p:spPr>
          <a:xfrm xmlns:a="http://schemas.openxmlformats.org/drawingml/2006/main">
            <a:off x="10344150" y="201930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4F7D76"/>
                </a:solidFill>
                <a:latin typeface="Aptos"/>
                <a:ea typeface="Aptos"/>
                <a:cs typeface="Aptos"/>
              </a:defRPr>
            </a:pPr>
            <a:r>
              <a:rPr sz="1275" b="1">
                <a:solidFill>
                  <a:srgbClr val="4F7D76"/>
                </a:solidFill>
                <a:latin typeface="Aptos"/>
                <a:ea typeface="Aptos"/>
                <a:cs typeface="Aptos"/>
              </a:rPr>
              <a:t>Confidence</a:t>
            </a:r>
          </a:p>
        </p:txBody>
      </p:sp>
      <p:sp>
        <p:nvSpPr>
          <p:cNvPr id="39" name="">
            <a:extLst xmlns:a="http://schemas.openxmlformats.org/drawingml/2006/main">
              <a:ext uri="{FF2B5EF4-FFF2-40B4-BE49-F238E27FC236}">
                <a16:creationId xmlns:a16="http://schemas.microsoft.com/office/drawing/2014/main" id="{777396CF-615C-4860-AEDA-C75C1C1E1C90}"/>
              </a:ext>
            </a:extLst>
          </p:cNvPr>
          <p:cNvSpPr>
            <a:spLocks xmlns:a="http://schemas.openxmlformats.org/drawingml/2006/main" noGrp="1"/>
          </p:cNvSpPr>
          <p:nvPr/>
        </p:nvSpPr>
        <p:spPr>
          <a:xfrm xmlns:a="http://schemas.openxmlformats.org/drawingml/2006/main">
            <a:off x="10344150" y="247650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0">
                <a:solidFill>
                  <a:srgbClr val="202A33"/>
                </a:solidFill>
                <a:latin typeface="Aptos"/>
                <a:ea typeface="Aptos"/>
                <a:cs typeface="Aptos"/>
              </a:defRPr>
            </a:pPr>
            <a:r>
              <a:rPr sz="900" b="0">
                <a:solidFill>
                  <a:srgbClr val="202A33"/>
                </a:solidFill>
                <a:latin typeface="Aptos"/>
                <a:ea typeface="Aptos"/>
                <a:cs typeface="Aptos"/>
              </a:rPr>
              <a:t>identity + version</a:t>
            </a:r>
          </a:p>
        </p:txBody>
      </p:sp>
      <p:sp>
        <p:nvSpPr>
          <p:cNvPr id="40" name="">
            <a:extLst xmlns:a="http://schemas.openxmlformats.org/drawingml/2006/main">
              <a:ext uri="{FF2B5EF4-FFF2-40B4-BE49-F238E27FC236}">
                <a16:creationId xmlns:a16="http://schemas.microsoft.com/office/drawing/2014/main" id="{E161815D-51AB-4BA4-9EA1-B2C4DB79B0F4}"/>
              </a:ext>
            </a:extLst>
          </p:cNvPr>
          <p:cNvSpPr>
            <a:spLocks xmlns:a="http://schemas.openxmlformats.org/drawingml/2006/main" noGrp="1"/>
          </p:cNvSpPr>
          <p:nvPr/>
        </p:nvSpPr>
        <p:spPr>
          <a:xfrm xmlns:a="http://schemas.openxmlformats.org/drawingml/2006/main">
            <a:off x="8896350" y="3238500"/>
            <a:ext cx="1200150" cy="120015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41" name="">
            <a:extLst xmlns:a="http://schemas.openxmlformats.org/drawingml/2006/main">
              <a:ext uri="{FF2B5EF4-FFF2-40B4-BE49-F238E27FC236}">
                <a16:creationId xmlns:a16="http://schemas.microsoft.com/office/drawing/2014/main" id="{3B8467B2-2623-4DC4-B983-964B24BC2F6C}"/>
              </a:ext>
            </a:extLst>
          </p:cNvPr>
          <p:cNvSpPr>
            <a:spLocks xmlns:a="http://schemas.openxmlformats.org/drawingml/2006/main" noGrp="1"/>
          </p:cNvSpPr>
          <p:nvPr/>
        </p:nvSpPr>
        <p:spPr>
          <a:xfrm xmlns:a="http://schemas.openxmlformats.org/drawingml/2006/main">
            <a:off x="8991600" y="344805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8D754D"/>
                </a:solidFill>
                <a:latin typeface="Aptos"/>
                <a:ea typeface="Aptos"/>
                <a:cs typeface="Aptos"/>
              </a:defRPr>
            </a:pPr>
            <a:r>
              <a:rPr sz="1275" b="1">
                <a:solidFill>
                  <a:srgbClr val="8D754D"/>
                </a:solidFill>
                <a:latin typeface="Aptos"/>
                <a:ea typeface="Aptos"/>
                <a:cs typeface="Aptos"/>
              </a:rPr>
              <a:t>Ambiguity</a:t>
            </a:r>
          </a:p>
        </p:txBody>
      </p:sp>
      <p:sp>
        <p:nvSpPr>
          <p:cNvPr id="42" name="">
            <a:extLst xmlns:a="http://schemas.openxmlformats.org/drawingml/2006/main">
              <a:ext uri="{FF2B5EF4-FFF2-40B4-BE49-F238E27FC236}">
                <a16:creationId xmlns:a16="http://schemas.microsoft.com/office/drawing/2014/main" id="{CA0C61D7-6C68-489B-BA24-5BF7446D6D9A}"/>
              </a:ext>
            </a:extLst>
          </p:cNvPr>
          <p:cNvSpPr>
            <a:spLocks xmlns:a="http://schemas.openxmlformats.org/drawingml/2006/main" noGrp="1"/>
          </p:cNvSpPr>
          <p:nvPr/>
        </p:nvSpPr>
        <p:spPr>
          <a:xfrm xmlns:a="http://schemas.openxmlformats.org/drawingml/2006/main">
            <a:off x="8991600" y="390525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0">
                <a:solidFill>
                  <a:srgbClr val="202A33"/>
                </a:solidFill>
                <a:latin typeface="Aptos"/>
                <a:ea typeface="Aptos"/>
                <a:cs typeface="Aptos"/>
              </a:defRPr>
            </a:pPr>
            <a:r>
              <a:rPr sz="900" b="0">
                <a:solidFill>
                  <a:srgbClr val="202A33"/>
                </a:solidFill>
                <a:latin typeface="Aptos"/>
                <a:ea typeface="Aptos"/>
                <a:cs typeface="Aptos"/>
              </a:rPr>
              <a:t>near versions</a:t>
            </a:r>
          </a:p>
        </p:txBody>
      </p:sp>
      <p:sp>
        <p:nvSpPr>
          <p:cNvPr id="43" name="">
            <a:extLst xmlns:a="http://schemas.openxmlformats.org/drawingml/2006/main">
              <a:ext uri="{FF2B5EF4-FFF2-40B4-BE49-F238E27FC236}">
                <a16:creationId xmlns:a16="http://schemas.microsoft.com/office/drawing/2014/main" id="{01D1680A-73CE-4EA0-A7D2-259F1D6113A7}"/>
              </a:ext>
            </a:extLst>
          </p:cNvPr>
          <p:cNvSpPr>
            <a:spLocks xmlns:a="http://schemas.openxmlformats.org/drawingml/2006/main" noGrp="1"/>
          </p:cNvSpPr>
          <p:nvPr/>
        </p:nvSpPr>
        <p:spPr>
          <a:xfrm xmlns:a="http://schemas.openxmlformats.org/drawingml/2006/main">
            <a:off x="10248900" y="3238500"/>
            <a:ext cx="1200150" cy="12001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44" name="">
            <a:extLst xmlns:a="http://schemas.openxmlformats.org/drawingml/2006/main">
              <a:ext uri="{FF2B5EF4-FFF2-40B4-BE49-F238E27FC236}">
                <a16:creationId xmlns:a16="http://schemas.microsoft.com/office/drawing/2014/main" id="{D2D38870-F184-4657-9D18-B5AE09338E08}"/>
              </a:ext>
            </a:extLst>
          </p:cNvPr>
          <p:cNvSpPr>
            <a:spLocks xmlns:a="http://schemas.openxmlformats.org/drawingml/2006/main" noGrp="1"/>
          </p:cNvSpPr>
          <p:nvPr/>
        </p:nvSpPr>
        <p:spPr>
          <a:xfrm xmlns:a="http://schemas.openxmlformats.org/drawingml/2006/main">
            <a:off x="10344150" y="344805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A65C55"/>
                </a:solidFill>
                <a:latin typeface="Aptos"/>
                <a:ea typeface="Aptos"/>
                <a:cs typeface="Aptos"/>
              </a:defRPr>
            </a:pPr>
            <a:r>
              <a:rPr sz="1275" b="1">
                <a:solidFill>
                  <a:srgbClr val="A65C55"/>
                </a:solidFill>
                <a:latin typeface="Aptos"/>
                <a:ea typeface="Aptos"/>
                <a:cs typeface="Aptos"/>
              </a:rPr>
              <a:t>OSV</a:t>
            </a:r>
          </a:p>
        </p:txBody>
      </p:sp>
      <p:sp>
        <p:nvSpPr>
          <p:cNvPr id="45" name="">
            <a:extLst xmlns:a="http://schemas.openxmlformats.org/drawingml/2006/main">
              <a:ext uri="{FF2B5EF4-FFF2-40B4-BE49-F238E27FC236}">
                <a16:creationId xmlns:a16="http://schemas.microsoft.com/office/drawing/2014/main" id="{0970FB19-A80F-4901-B618-76F61AF34CCF}"/>
              </a:ext>
            </a:extLst>
          </p:cNvPr>
          <p:cNvSpPr>
            <a:spLocks xmlns:a="http://schemas.openxmlformats.org/drawingml/2006/main" noGrp="1"/>
          </p:cNvSpPr>
          <p:nvPr/>
        </p:nvSpPr>
        <p:spPr>
          <a:xfrm xmlns:a="http://schemas.openxmlformats.org/drawingml/2006/main">
            <a:off x="10344150" y="390525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0">
                <a:solidFill>
                  <a:srgbClr val="202A33"/>
                </a:solidFill>
                <a:latin typeface="Aptos"/>
                <a:ea typeface="Aptos"/>
                <a:cs typeface="Aptos"/>
              </a:defRPr>
            </a:pPr>
            <a:r>
              <a:rPr sz="900" b="0">
                <a:solidFill>
                  <a:srgbClr val="202A33"/>
                </a:solidFill>
                <a:latin typeface="Aptos"/>
                <a:ea typeface="Aptos"/>
                <a:cs typeface="Aptos"/>
              </a:rPr>
              <a:t>CVE evidence</a:t>
            </a:r>
          </a:p>
        </p:txBody>
      </p:sp>
      <p:sp>
        <p:nvSpPr>
          <p:cNvPr id="46" name="">
            <a:extLst xmlns:a="http://schemas.openxmlformats.org/drawingml/2006/main">
              <a:ext uri="{FF2B5EF4-FFF2-40B4-BE49-F238E27FC236}">
                <a16:creationId xmlns:a16="http://schemas.microsoft.com/office/drawing/2014/main" id="{A34A112F-17A1-494F-9EC9-5284B88C665F}"/>
              </a:ext>
            </a:extLst>
          </p:cNvPr>
          <p:cNvSpPr>
            <a:spLocks xmlns:a="http://schemas.openxmlformats.org/drawingml/2006/main" noGrp="1"/>
          </p:cNvSpPr>
          <p:nvPr/>
        </p:nvSpPr>
        <p:spPr>
          <a:xfrm xmlns:a="http://schemas.openxmlformats.org/drawingml/2006/main">
            <a:off x="1352550" y="5353050"/>
            <a:ext cx="9486900" cy="590550"/>
          </a:xfrm>
          <a:prstGeom xmlns:a="http://schemas.openxmlformats.org/drawingml/2006/main" prst="rect">
            <a:avLst/>
          </a:prstGeom>
          <a:solidFill xmlns:a="http://schemas.openxmlformats.org/drawingml/2006/main">
            <a:srgbClr val="202A33"/>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D10B2779-6083-4011-A1AC-DB84C76B0621}"/>
              </a:ext>
            </a:extLst>
          </p:cNvPr>
          <p:cNvSpPr>
            <a:spLocks xmlns:a="http://schemas.openxmlformats.org/drawingml/2006/main" noGrp="1"/>
          </p:cNvSpPr>
          <p:nvPr/>
        </p:nvSpPr>
        <p:spPr>
          <a:xfrm xmlns:a="http://schemas.openxmlformats.org/drawingml/2006/main">
            <a:off x="1657350" y="5534025"/>
            <a:ext cx="887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FFFFFF"/>
                </a:solidFill>
                <a:latin typeface="Aptos"/>
                <a:ea typeface="Aptos"/>
                <a:cs typeface="Aptos"/>
              </a:defRPr>
            </a:pPr>
            <a:r>
              <a:rPr sz="1350" b="1">
                <a:solidFill>
                  <a:srgbClr val="FFFFFF"/>
                </a:solidFill>
                <a:latin typeface="Aptos"/>
                <a:ea typeface="Aptos"/>
                <a:cs typeface="Aptos"/>
              </a:rPr>
              <a:t>Policy: strong evidence produces strong claims; weak evidence stays uncertain or report-only.</a:t>
            </a:r>
          </a:p>
        </p:txBody>
      </p:sp>
      <p:sp>
        <p:nvSpPr>
          <p:cNvPr id="48" name="">
            <a:extLst xmlns:a="http://schemas.openxmlformats.org/drawingml/2006/main">
              <a:ext uri="{FF2B5EF4-FFF2-40B4-BE49-F238E27FC236}">
                <a16:creationId xmlns:a16="http://schemas.microsoft.com/office/drawing/2014/main" id="{BBCA9832-E3FA-48C8-86C2-C16BDA55CEA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61361700"/>
      </p:ext>
    </p:extLst>
  </p:cSld>
</p:sld>
</file>

<file path=ppt/slides/slide5.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B2ED2A0-FAA8-41DB-9392-C6C51E2F0DF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365F7D"/>
                </a:solidFill>
                <a:latin typeface="Aptos"/>
                <a:ea typeface="Aptos"/>
                <a:cs typeface="Aptos"/>
              </a:defRPr>
            </a:pPr>
            <a:r>
              <a:rPr sz="900" b="1">
                <a:solidFill>
                  <a:srgbClr val="365F7D"/>
                </a:solidFill>
                <a:latin typeface="Aptos"/>
                <a:ea typeface="Aptos"/>
                <a:cs typeface="Aptos"/>
              </a:rPr>
              <a:t>ARCHITECTURE DECISIONS</a:t>
            </a:r>
          </a:p>
        </p:txBody>
      </p:sp>
      <p:sp>
        <p:nvSpPr>
          <p:cNvPr id="2" name="">
            <a:extLst xmlns:a="http://schemas.openxmlformats.org/drawingml/2006/main">
              <a:ext uri="{FF2B5EF4-FFF2-40B4-BE49-F238E27FC236}">
                <a16:creationId xmlns:a16="http://schemas.microsoft.com/office/drawing/2014/main" id="{04E04247-82F1-422D-A6ED-D3299A913FBB}"/>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Architecture choices were driven by evidence, scope, and interoperability</a:t>
            </a:r>
          </a:p>
        </p:txBody>
      </p:sp>
      <p:sp>
        <p:nvSpPr>
          <p:cNvPr id="3" name="">
            <a:extLst xmlns:a="http://schemas.openxmlformats.org/drawingml/2006/main">
              <a:ext uri="{FF2B5EF4-FFF2-40B4-BE49-F238E27FC236}">
                <a16:creationId xmlns:a16="http://schemas.microsoft.com/office/drawing/2014/main" id="{1453C89B-AE63-4D08-9E7C-0A14F1C03FCA}"/>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05</a:t>
            </a:r>
          </a:p>
        </p:txBody>
      </p:sp>
      <p:sp>
        <p:nvSpPr>
          <p:cNvPr id="4" name="">
            <a:extLst xmlns:a="http://schemas.openxmlformats.org/drawingml/2006/main">
              <a:ext uri="{FF2B5EF4-FFF2-40B4-BE49-F238E27FC236}">
                <a16:creationId xmlns:a16="http://schemas.microsoft.com/office/drawing/2014/main" id="{90523756-3DA0-4476-B4DD-B2062B28B5B4}"/>
              </a:ext>
            </a:extLst>
          </p:cNvPr>
          <p:cNvSpPr>
            <a:spLocks xmlns:a="http://schemas.openxmlformats.org/drawingml/2006/main" noGrp="1"/>
          </p:cNvSpPr>
          <p:nvPr/>
        </p:nvSpPr>
        <p:spPr>
          <a:xfrm xmlns:a="http://schemas.openxmlformats.org/drawingml/2006/main">
            <a:off x="685800" y="1409700"/>
            <a:ext cx="10820400" cy="40005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6D539E0-597C-4ED7-A9DA-B5740F952DA9}"/>
              </a:ext>
            </a:extLst>
          </p:cNvPr>
          <p:cNvSpPr>
            <a:spLocks xmlns:a="http://schemas.openxmlformats.org/drawingml/2006/main" noGrp="1"/>
          </p:cNvSpPr>
          <p:nvPr/>
        </p:nvSpPr>
        <p:spPr>
          <a:xfrm xmlns:a="http://schemas.openxmlformats.org/drawingml/2006/main">
            <a:off x="876300" y="152400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DECISION</a:t>
            </a:r>
          </a:p>
        </p:txBody>
      </p:sp>
      <p:sp>
        <p:nvSpPr>
          <p:cNvPr id="6" name="">
            <a:extLst xmlns:a="http://schemas.openxmlformats.org/drawingml/2006/main">
              <a:ext uri="{FF2B5EF4-FFF2-40B4-BE49-F238E27FC236}">
                <a16:creationId xmlns:a16="http://schemas.microsoft.com/office/drawing/2014/main" id="{7B5D801B-239E-4B56-B9B0-A7B0DD89EBE9}"/>
              </a:ext>
            </a:extLst>
          </p:cNvPr>
          <p:cNvSpPr>
            <a:spLocks xmlns:a="http://schemas.openxmlformats.org/drawingml/2006/main" noGrp="1"/>
          </p:cNvSpPr>
          <p:nvPr/>
        </p:nvSpPr>
        <p:spPr>
          <a:xfrm xmlns:a="http://schemas.openxmlformats.org/drawingml/2006/main">
            <a:off x="2686050" y="1524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CHOSEN DESIGN</a:t>
            </a:r>
          </a:p>
        </p:txBody>
      </p:sp>
      <p:sp>
        <p:nvSpPr>
          <p:cNvPr id="7" name="">
            <a:extLst xmlns:a="http://schemas.openxmlformats.org/drawingml/2006/main">
              <a:ext uri="{FF2B5EF4-FFF2-40B4-BE49-F238E27FC236}">
                <a16:creationId xmlns:a16="http://schemas.microsoft.com/office/drawing/2014/main" id="{BA376AE1-7A22-4FCA-92D3-0C2A9A50B7BE}"/>
              </a:ext>
            </a:extLst>
          </p:cNvPr>
          <p:cNvSpPr>
            <a:spLocks xmlns:a="http://schemas.openxmlformats.org/drawingml/2006/main" noGrp="1"/>
          </p:cNvSpPr>
          <p:nvPr/>
        </p:nvSpPr>
        <p:spPr>
          <a:xfrm xmlns:a="http://schemas.openxmlformats.org/drawingml/2006/main">
            <a:off x="5067300" y="15240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WHY</a:t>
            </a:r>
          </a:p>
        </p:txBody>
      </p:sp>
      <p:sp>
        <p:nvSpPr>
          <p:cNvPr id="8" name="">
            <a:extLst xmlns:a="http://schemas.openxmlformats.org/drawingml/2006/main">
              <a:ext uri="{FF2B5EF4-FFF2-40B4-BE49-F238E27FC236}">
                <a16:creationId xmlns:a16="http://schemas.microsoft.com/office/drawing/2014/main" id="{DF8DA729-441C-4068-A136-B94095B981D6}"/>
              </a:ext>
            </a:extLst>
          </p:cNvPr>
          <p:cNvSpPr>
            <a:spLocks xmlns:a="http://schemas.openxmlformats.org/drawingml/2006/main" noGrp="1"/>
          </p:cNvSpPr>
          <p:nvPr/>
        </p:nvSpPr>
        <p:spPr>
          <a:xfrm xmlns:a="http://schemas.openxmlformats.org/drawingml/2006/main">
            <a:off x="8972550" y="15240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NOT CHOSEN</a:t>
            </a:r>
          </a:p>
        </p:txBody>
      </p:sp>
      <p:sp>
        <p:nvSpPr>
          <p:cNvPr id="9" name="">
            <a:extLst xmlns:a="http://schemas.openxmlformats.org/drawingml/2006/main">
              <a:ext uri="{FF2B5EF4-FFF2-40B4-BE49-F238E27FC236}">
                <a16:creationId xmlns:a16="http://schemas.microsoft.com/office/drawing/2014/main" id="{15145C06-1DFC-4CDE-B508-6793AF11589E}"/>
              </a:ext>
            </a:extLst>
          </p:cNvPr>
          <p:cNvSpPr>
            <a:spLocks xmlns:a="http://schemas.openxmlformats.org/drawingml/2006/main" noGrp="1"/>
          </p:cNvSpPr>
          <p:nvPr/>
        </p:nvSpPr>
        <p:spPr>
          <a:xfrm xmlns:a="http://schemas.openxmlformats.org/drawingml/2006/main">
            <a:off x="685800" y="1809750"/>
            <a:ext cx="10820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0" name="">
            <a:extLst xmlns:a="http://schemas.openxmlformats.org/drawingml/2006/main">
              <a:ext uri="{FF2B5EF4-FFF2-40B4-BE49-F238E27FC236}">
                <a16:creationId xmlns:a16="http://schemas.microsoft.com/office/drawing/2014/main" id="{5CC7D6AD-16BD-4857-917B-290494006D66}"/>
              </a:ext>
            </a:extLst>
          </p:cNvPr>
          <p:cNvSpPr>
            <a:spLocks xmlns:a="http://schemas.openxmlformats.org/drawingml/2006/main" noGrp="1"/>
          </p:cNvSpPr>
          <p:nvPr/>
        </p:nvSpPr>
        <p:spPr>
          <a:xfrm xmlns:a="http://schemas.openxmlformats.org/drawingml/2006/main">
            <a:off x="876300" y="20002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65F7D"/>
                </a:solidFill>
                <a:latin typeface="Aptos"/>
                <a:ea typeface="Aptos"/>
                <a:cs typeface="Aptos"/>
              </a:defRPr>
            </a:pPr>
            <a:r>
              <a:rPr sz="1125" b="1">
                <a:solidFill>
                  <a:srgbClr val="365F7D"/>
                </a:solidFill>
                <a:latin typeface="Aptos"/>
                <a:ea typeface="Aptos"/>
                <a:cs typeface="Aptos"/>
              </a:rPr>
              <a:t>Analysis</a:t>
            </a:r>
          </a:p>
        </p:txBody>
      </p:sp>
      <p:sp>
        <p:nvSpPr>
          <p:cNvPr id="11" name="">
            <a:extLst xmlns:a="http://schemas.openxmlformats.org/drawingml/2006/main">
              <a:ext uri="{FF2B5EF4-FFF2-40B4-BE49-F238E27FC236}">
                <a16:creationId xmlns:a16="http://schemas.microsoft.com/office/drawing/2014/main" id="{DE2808A1-46A4-4535-ACC5-1626E010B99B}"/>
              </a:ext>
            </a:extLst>
          </p:cNvPr>
          <p:cNvSpPr>
            <a:spLocks xmlns:a="http://schemas.openxmlformats.org/drawingml/2006/main" noGrp="1"/>
          </p:cNvSpPr>
          <p:nvPr/>
        </p:nvSpPr>
        <p:spPr>
          <a:xfrm xmlns:a="http://schemas.openxmlformats.org/drawingml/2006/main">
            <a:off x="2686050" y="197167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Hybrid static pipeline</a:t>
            </a:r>
          </a:p>
        </p:txBody>
      </p:sp>
      <p:sp>
        <p:nvSpPr>
          <p:cNvPr id="12" name="">
            <a:extLst xmlns:a="http://schemas.openxmlformats.org/drawingml/2006/main">
              <a:ext uri="{FF2B5EF4-FFF2-40B4-BE49-F238E27FC236}">
                <a16:creationId xmlns:a16="http://schemas.microsoft.com/office/drawing/2014/main" id="{5A4EE597-102C-4F84-8E13-887F820B8D72}"/>
              </a:ext>
            </a:extLst>
          </p:cNvPr>
          <p:cNvSpPr>
            <a:spLocks xmlns:a="http://schemas.openxmlformats.org/drawingml/2006/main" noGrp="1"/>
          </p:cNvSpPr>
          <p:nvPr/>
        </p:nvSpPr>
        <p:spPr>
          <a:xfrm xmlns:a="http://schemas.openxmlformats.org/drawingml/2006/main">
            <a:off x="5067300" y="193357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202A33"/>
                </a:solidFill>
                <a:latin typeface="Aptos"/>
                <a:ea typeface="Aptos"/>
                <a:cs typeface="Aptos"/>
              </a:defRPr>
            </a:pPr>
            <a:r>
              <a:rPr sz="900" b="0">
                <a:solidFill>
                  <a:srgbClr val="202A33"/>
                </a:solidFill>
                <a:latin typeface="Aptos"/>
                <a:ea typeface="Aptos"/>
                <a:cs typeface="Aptos"/>
              </a:rPr>
              <a:t>Works from the APK alone; combines name and structural evidence; reproducible for evaluation.</a:t>
            </a:r>
          </a:p>
        </p:txBody>
      </p:sp>
      <p:sp>
        <p:nvSpPr>
          <p:cNvPr id="13" name="">
            <a:extLst xmlns:a="http://schemas.openxmlformats.org/drawingml/2006/main">
              <a:ext uri="{FF2B5EF4-FFF2-40B4-BE49-F238E27FC236}">
                <a16:creationId xmlns:a16="http://schemas.microsoft.com/office/drawing/2014/main" id="{87B9C594-0990-482F-A833-620F6F6E11C7}"/>
              </a:ext>
            </a:extLst>
          </p:cNvPr>
          <p:cNvSpPr>
            <a:spLocks xmlns:a="http://schemas.openxmlformats.org/drawingml/2006/main" noGrp="1"/>
          </p:cNvSpPr>
          <p:nvPr/>
        </p:nvSpPr>
        <p:spPr>
          <a:xfrm xmlns:a="http://schemas.openxmlformats.org/drawingml/2006/main">
            <a:off x="8972550" y="197167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A65C55"/>
                </a:solidFill>
                <a:latin typeface="Aptos"/>
                <a:ea typeface="Aptos"/>
                <a:cs typeface="Aptos"/>
              </a:defRPr>
            </a:pPr>
            <a:r>
              <a:rPr sz="900" b="0">
                <a:solidFill>
                  <a:srgbClr val="A65C55"/>
                </a:solidFill>
                <a:latin typeface="Aptos"/>
                <a:ea typeface="Aptos"/>
                <a:cs typeface="Aptos"/>
              </a:rPr>
              <a:t>Package/hash-only or dynamic-first</a:t>
            </a:r>
          </a:p>
        </p:txBody>
      </p:sp>
      <p:sp>
        <p:nvSpPr>
          <p:cNvPr id="14" name="">
            <a:extLst xmlns:a="http://schemas.openxmlformats.org/drawingml/2006/main">
              <a:ext uri="{FF2B5EF4-FFF2-40B4-BE49-F238E27FC236}">
                <a16:creationId xmlns:a16="http://schemas.microsoft.com/office/drawing/2014/main" id="{FE4AE1FD-B72C-4A10-AC5D-4726E113BF68}"/>
              </a:ext>
            </a:extLst>
          </p:cNvPr>
          <p:cNvSpPr>
            <a:spLocks xmlns:a="http://schemas.openxmlformats.org/drawingml/2006/main" noGrp="1"/>
          </p:cNvSpPr>
          <p:nvPr/>
        </p:nvSpPr>
        <p:spPr>
          <a:xfrm xmlns:a="http://schemas.openxmlformats.org/drawingml/2006/main">
            <a:off x="685800" y="2552700"/>
            <a:ext cx="10820400" cy="742950"/>
          </a:xfrm>
          <a:prstGeom xmlns:a="http://schemas.openxmlformats.org/drawingml/2006/main" prst="rect">
            <a:avLst/>
          </a:prstGeom>
          <a:solidFill xmlns:a="http://schemas.openxmlformats.org/drawingml/2006/main">
            <a:srgbClr val="F0F1EF"/>
          </a:solidFill>
          <a:ln xmlns:a="http://schemas.openxmlformats.org/drawingml/2006/main" w="9525">
            <a:solidFill>
              <a:srgbClr val="D2D6D8"/>
            </a:solidFill>
            <a:prstDash val="solid"/>
          </a:ln>
        </p:spPr>
      </p:sp>
      <p:sp>
        <p:nvSpPr>
          <p:cNvPr id="15" name="">
            <a:extLst xmlns:a="http://schemas.openxmlformats.org/drawingml/2006/main">
              <a:ext uri="{FF2B5EF4-FFF2-40B4-BE49-F238E27FC236}">
                <a16:creationId xmlns:a16="http://schemas.microsoft.com/office/drawing/2014/main" id="{850B2C99-D3A5-4ED5-BC43-7E5691F9D1EC}"/>
              </a:ext>
            </a:extLst>
          </p:cNvPr>
          <p:cNvSpPr>
            <a:spLocks xmlns:a="http://schemas.openxmlformats.org/drawingml/2006/main" noGrp="1"/>
          </p:cNvSpPr>
          <p:nvPr/>
        </p:nvSpPr>
        <p:spPr>
          <a:xfrm xmlns:a="http://schemas.openxmlformats.org/drawingml/2006/main">
            <a:off x="876300" y="27432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65F7D"/>
                </a:solidFill>
                <a:latin typeface="Aptos"/>
                <a:ea typeface="Aptos"/>
                <a:cs typeface="Aptos"/>
              </a:defRPr>
            </a:pPr>
            <a:r>
              <a:rPr sz="1125" b="1">
                <a:solidFill>
                  <a:srgbClr val="365F7D"/>
                </a:solidFill>
                <a:latin typeface="Aptos"/>
                <a:ea typeface="Aptos"/>
                <a:cs typeface="Aptos"/>
              </a:rPr>
              <a:t>Versions</a:t>
            </a:r>
          </a:p>
        </p:txBody>
      </p:sp>
      <p:sp>
        <p:nvSpPr>
          <p:cNvPr id="16" name="">
            <a:extLst xmlns:a="http://schemas.openxmlformats.org/drawingml/2006/main">
              <a:ext uri="{FF2B5EF4-FFF2-40B4-BE49-F238E27FC236}">
                <a16:creationId xmlns:a16="http://schemas.microsoft.com/office/drawing/2014/main" id="{272A3CB6-2657-461D-BCD6-8D5E6B5FF923}"/>
              </a:ext>
            </a:extLst>
          </p:cNvPr>
          <p:cNvSpPr>
            <a:spLocks xmlns:a="http://schemas.openxmlformats.org/drawingml/2006/main" noGrp="1"/>
          </p:cNvSpPr>
          <p:nvPr/>
        </p:nvSpPr>
        <p:spPr>
          <a:xfrm xmlns:a="http://schemas.openxmlformats.org/drawingml/2006/main">
            <a:off x="2686050" y="27146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Local Maven reference DB</a:t>
            </a:r>
          </a:p>
        </p:txBody>
      </p:sp>
      <p:sp>
        <p:nvSpPr>
          <p:cNvPr id="17" name="">
            <a:extLst xmlns:a="http://schemas.openxmlformats.org/drawingml/2006/main">
              <a:ext uri="{FF2B5EF4-FFF2-40B4-BE49-F238E27FC236}">
                <a16:creationId xmlns:a16="http://schemas.microsoft.com/office/drawing/2014/main" id="{B4DDE353-6F68-4EF6-BBB1-060DC9DE923A}"/>
              </a:ext>
            </a:extLst>
          </p:cNvPr>
          <p:cNvSpPr>
            <a:spLocks xmlns:a="http://schemas.openxmlformats.org/drawingml/2006/main" noGrp="1"/>
          </p:cNvSpPr>
          <p:nvPr/>
        </p:nvSpPr>
        <p:spPr>
          <a:xfrm xmlns:a="http://schemas.openxmlformats.org/drawingml/2006/main">
            <a:off x="5067300" y="267652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202A33"/>
                </a:solidFill>
                <a:latin typeface="Aptos"/>
                <a:ea typeface="Aptos"/>
                <a:cs typeface="Aptos"/>
              </a:defRPr>
            </a:pPr>
            <a:r>
              <a:rPr sz="900" b="0">
                <a:solidFill>
                  <a:srgbClr val="202A33"/>
                </a:solidFill>
                <a:latin typeface="Aptos"/>
                <a:ea typeface="Aptos"/>
                <a:cs typeface="Aptos"/>
              </a:rPr>
              <a:t>SBOM and CVE claims require coordinate + version; JAR/AAR profiles are repeatable.</a:t>
            </a:r>
          </a:p>
        </p:txBody>
      </p:sp>
      <p:sp>
        <p:nvSpPr>
          <p:cNvPr id="18" name="">
            <a:extLst xmlns:a="http://schemas.openxmlformats.org/drawingml/2006/main">
              <a:ext uri="{FF2B5EF4-FFF2-40B4-BE49-F238E27FC236}">
                <a16:creationId xmlns:a16="http://schemas.microsoft.com/office/drawing/2014/main" id="{DE162A39-5631-4BAD-B75C-547073511E4D}"/>
              </a:ext>
            </a:extLst>
          </p:cNvPr>
          <p:cNvSpPr>
            <a:spLocks xmlns:a="http://schemas.openxmlformats.org/drawingml/2006/main" noGrp="1"/>
          </p:cNvSpPr>
          <p:nvPr/>
        </p:nvSpPr>
        <p:spPr>
          <a:xfrm xmlns:a="http://schemas.openxmlformats.org/drawingml/2006/main">
            <a:off x="8972550" y="271462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A65C55"/>
                </a:solidFill>
                <a:latin typeface="Aptos"/>
                <a:ea typeface="Aptos"/>
                <a:cs typeface="Aptos"/>
              </a:defRPr>
            </a:pPr>
            <a:r>
              <a:rPr sz="900" b="0">
                <a:solidFill>
                  <a:srgbClr val="A65C55"/>
                </a:solidFill>
                <a:latin typeface="Aptos"/>
                <a:ea typeface="Aptos"/>
                <a:cs typeface="Aptos"/>
              </a:rPr>
              <a:t>Library-name-only detection</a:t>
            </a:r>
          </a:p>
        </p:txBody>
      </p:sp>
      <p:sp>
        <p:nvSpPr>
          <p:cNvPr id="19" name="">
            <a:extLst xmlns:a="http://schemas.openxmlformats.org/drawingml/2006/main">
              <a:ext uri="{FF2B5EF4-FFF2-40B4-BE49-F238E27FC236}">
                <a16:creationId xmlns:a16="http://schemas.microsoft.com/office/drawing/2014/main" id="{0EB07881-FFAD-4445-9665-F905B76E63C6}"/>
              </a:ext>
            </a:extLst>
          </p:cNvPr>
          <p:cNvSpPr>
            <a:spLocks xmlns:a="http://schemas.openxmlformats.org/drawingml/2006/main" noGrp="1"/>
          </p:cNvSpPr>
          <p:nvPr/>
        </p:nvSpPr>
        <p:spPr>
          <a:xfrm xmlns:a="http://schemas.openxmlformats.org/drawingml/2006/main">
            <a:off x="685800" y="3295650"/>
            <a:ext cx="10820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0" name="">
            <a:extLst xmlns:a="http://schemas.openxmlformats.org/drawingml/2006/main">
              <a:ext uri="{FF2B5EF4-FFF2-40B4-BE49-F238E27FC236}">
                <a16:creationId xmlns:a16="http://schemas.microsoft.com/office/drawing/2014/main" id="{8CFD4E51-E32A-48FC-87E1-A6BDA7FEA276}"/>
              </a:ext>
            </a:extLst>
          </p:cNvPr>
          <p:cNvSpPr>
            <a:spLocks xmlns:a="http://schemas.openxmlformats.org/drawingml/2006/main" noGrp="1"/>
          </p:cNvSpPr>
          <p:nvPr/>
        </p:nvSpPr>
        <p:spPr>
          <a:xfrm xmlns:a="http://schemas.openxmlformats.org/drawingml/2006/main">
            <a:off x="876300" y="34861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65F7D"/>
                </a:solidFill>
                <a:latin typeface="Aptos"/>
                <a:ea typeface="Aptos"/>
                <a:cs typeface="Aptos"/>
              </a:defRPr>
            </a:pPr>
            <a:r>
              <a:rPr sz="1125" b="1">
                <a:solidFill>
                  <a:srgbClr val="365F7D"/>
                </a:solidFill>
                <a:latin typeface="Aptos"/>
                <a:ea typeface="Aptos"/>
                <a:cs typeface="Aptos"/>
              </a:rPr>
              <a:t>SBOM</a:t>
            </a:r>
          </a:p>
        </p:txBody>
      </p:sp>
      <p:sp>
        <p:nvSpPr>
          <p:cNvPr id="21" name="">
            <a:extLst xmlns:a="http://schemas.openxmlformats.org/drawingml/2006/main">
              <a:ext uri="{FF2B5EF4-FFF2-40B4-BE49-F238E27FC236}">
                <a16:creationId xmlns:a16="http://schemas.microsoft.com/office/drawing/2014/main" id="{B2DAEA8A-6D84-43D2-B4F6-19531B935BD3}"/>
              </a:ext>
            </a:extLst>
          </p:cNvPr>
          <p:cNvSpPr>
            <a:spLocks xmlns:a="http://schemas.openxmlformats.org/drawingml/2006/main" noGrp="1"/>
          </p:cNvSpPr>
          <p:nvPr/>
        </p:nvSpPr>
        <p:spPr>
          <a:xfrm xmlns:a="http://schemas.openxmlformats.org/drawingml/2006/main">
            <a:off x="2686050" y="345757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CycloneDX + PURL</a:t>
            </a:r>
          </a:p>
        </p:txBody>
      </p:sp>
      <p:sp>
        <p:nvSpPr>
          <p:cNvPr id="22" name="">
            <a:extLst xmlns:a="http://schemas.openxmlformats.org/drawingml/2006/main">
              <a:ext uri="{FF2B5EF4-FFF2-40B4-BE49-F238E27FC236}">
                <a16:creationId xmlns:a16="http://schemas.microsoft.com/office/drawing/2014/main" id="{2142BF46-9B01-4A69-8804-048CA22591A7}"/>
              </a:ext>
            </a:extLst>
          </p:cNvPr>
          <p:cNvSpPr>
            <a:spLocks xmlns:a="http://schemas.openxmlformats.org/drawingml/2006/main" noGrp="1"/>
          </p:cNvSpPr>
          <p:nvPr/>
        </p:nvSpPr>
        <p:spPr>
          <a:xfrm xmlns:a="http://schemas.openxmlformats.org/drawingml/2006/main">
            <a:off x="5067300" y="341947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202A33"/>
                </a:solidFill>
                <a:latin typeface="Aptos"/>
                <a:ea typeface="Aptos"/>
                <a:cs typeface="Aptos"/>
              </a:defRPr>
            </a:pPr>
            <a:r>
              <a:rPr sz="900" b="0">
                <a:solidFill>
                  <a:srgbClr val="202A33"/>
                </a:solidFill>
                <a:latin typeface="Aptos"/>
                <a:ea typeface="Aptos"/>
                <a:cs typeface="Aptos"/>
              </a:rPr>
              <a:t>Standard security artifact with Maven identity, evidence properties, and scanner compatibility.</a:t>
            </a:r>
          </a:p>
        </p:txBody>
      </p:sp>
      <p:sp>
        <p:nvSpPr>
          <p:cNvPr id="23" name="">
            <a:extLst xmlns:a="http://schemas.openxmlformats.org/drawingml/2006/main">
              <a:ext uri="{FF2B5EF4-FFF2-40B4-BE49-F238E27FC236}">
                <a16:creationId xmlns:a16="http://schemas.microsoft.com/office/drawing/2014/main" id="{261400FD-185F-47B4-8F9A-E819C8728F1B}"/>
              </a:ext>
            </a:extLst>
          </p:cNvPr>
          <p:cNvSpPr>
            <a:spLocks xmlns:a="http://schemas.openxmlformats.org/drawingml/2006/main" noGrp="1"/>
          </p:cNvSpPr>
          <p:nvPr/>
        </p:nvSpPr>
        <p:spPr>
          <a:xfrm xmlns:a="http://schemas.openxmlformats.org/drawingml/2006/main">
            <a:off x="8972550" y="345757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A65C55"/>
                </a:solidFill>
                <a:latin typeface="Aptos"/>
                <a:ea typeface="Aptos"/>
                <a:cs typeface="Aptos"/>
              </a:defRPr>
            </a:pPr>
            <a:r>
              <a:rPr sz="900" b="0">
                <a:solidFill>
                  <a:srgbClr val="A65C55"/>
                </a:solidFill>
                <a:latin typeface="Aptos"/>
                <a:ea typeface="Aptos"/>
                <a:cs typeface="Aptos"/>
              </a:rPr>
              <a:t>Custom JSON as final output</a:t>
            </a:r>
          </a:p>
        </p:txBody>
      </p:sp>
      <p:sp>
        <p:nvSpPr>
          <p:cNvPr id="24" name="">
            <a:extLst xmlns:a="http://schemas.openxmlformats.org/drawingml/2006/main">
              <a:ext uri="{FF2B5EF4-FFF2-40B4-BE49-F238E27FC236}">
                <a16:creationId xmlns:a16="http://schemas.microsoft.com/office/drawing/2014/main" id="{6A6184BC-9330-4941-AB5C-18B0E9D38677}"/>
              </a:ext>
            </a:extLst>
          </p:cNvPr>
          <p:cNvSpPr>
            <a:spLocks xmlns:a="http://schemas.openxmlformats.org/drawingml/2006/main" noGrp="1"/>
          </p:cNvSpPr>
          <p:nvPr/>
        </p:nvSpPr>
        <p:spPr>
          <a:xfrm xmlns:a="http://schemas.openxmlformats.org/drawingml/2006/main">
            <a:off x="685800" y="4038600"/>
            <a:ext cx="10820400" cy="742950"/>
          </a:xfrm>
          <a:prstGeom xmlns:a="http://schemas.openxmlformats.org/drawingml/2006/main" prst="rect">
            <a:avLst/>
          </a:prstGeom>
          <a:solidFill xmlns:a="http://schemas.openxmlformats.org/drawingml/2006/main">
            <a:srgbClr val="F0F1EF"/>
          </a:solidFill>
          <a:ln xmlns:a="http://schemas.openxmlformats.org/drawingml/2006/main" w="9525">
            <a:solidFill>
              <a:srgbClr val="D2D6D8"/>
            </a:solidFill>
            <a:prstDash val="solid"/>
          </a:ln>
        </p:spPr>
      </p:sp>
      <p:sp>
        <p:nvSpPr>
          <p:cNvPr id="25" name="">
            <a:extLst xmlns:a="http://schemas.openxmlformats.org/drawingml/2006/main">
              <a:ext uri="{FF2B5EF4-FFF2-40B4-BE49-F238E27FC236}">
                <a16:creationId xmlns:a16="http://schemas.microsoft.com/office/drawing/2014/main" id="{2AD78C75-EF8E-401E-9C31-345517DCAC46}"/>
              </a:ext>
            </a:extLst>
          </p:cNvPr>
          <p:cNvSpPr>
            <a:spLocks xmlns:a="http://schemas.openxmlformats.org/drawingml/2006/main" noGrp="1"/>
          </p:cNvSpPr>
          <p:nvPr/>
        </p:nvSpPr>
        <p:spPr>
          <a:xfrm xmlns:a="http://schemas.openxmlformats.org/drawingml/2006/main">
            <a:off x="876300" y="42291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65F7D"/>
                </a:solidFill>
                <a:latin typeface="Aptos"/>
                <a:ea typeface="Aptos"/>
                <a:cs typeface="Aptos"/>
              </a:defRPr>
            </a:pPr>
            <a:r>
              <a:rPr sz="1125" b="1">
                <a:solidFill>
                  <a:srgbClr val="365F7D"/>
                </a:solidFill>
                <a:latin typeface="Aptos"/>
                <a:ea typeface="Aptos"/>
                <a:cs typeface="Aptos"/>
              </a:rPr>
              <a:t>Vulnerabilities</a:t>
            </a:r>
          </a:p>
        </p:txBody>
      </p:sp>
      <p:sp>
        <p:nvSpPr>
          <p:cNvPr id="26" name="">
            <a:extLst xmlns:a="http://schemas.openxmlformats.org/drawingml/2006/main">
              <a:ext uri="{FF2B5EF4-FFF2-40B4-BE49-F238E27FC236}">
                <a16:creationId xmlns:a16="http://schemas.microsoft.com/office/drawing/2014/main" id="{2DB4A44D-0C20-43FD-B21E-5EA035080E96}"/>
              </a:ext>
            </a:extLst>
          </p:cNvPr>
          <p:cNvSpPr>
            <a:spLocks xmlns:a="http://schemas.openxmlformats.org/drawingml/2006/main" noGrp="1"/>
          </p:cNvSpPr>
          <p:nvPr/>
        </p:nvSpPr>
        <p:spPr>
          <a:xfrm xmlns:a="http://schemas.openxmlformats.org/drawingml/2006/main">
            <a:off x="2686050" y="42005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OSV first</a:t>
            </a:r>
          </a:p>
        </p:txBody>
      </p:sp>
      <p:sp>
        <p:nvSpPr>
          <p:cNvPr id="27" name="">
            <a:extLst xmlns:a="http://schemas.openxmlformats.org/drawingml/2006/main">
              <a:ext uri="{FF2B5EF4-FFF2-40B4-BE49-F238E27FC236}">
                <a16:creationId xmlns:a16="http://schemas.microsoft.com/office/drawing/2014/main" id="{0D515E00-1FB9-493A-9839-F80246702DB0}"/>
              </a:ext>
            </a:extLst>
          </p:cNvPr>
          <p:cNvSpPr>
            <a:spLocks xmlns:a="http://schemas.openxmlformats.org/drawingml/2006/main" noGrp="1"/>
          </p:cNvSpPr>
          <p:nvPr/>
        </p:nvSpPr>
        <p:spPr>
          <a:xfrm xmlns:a="http://schemas.openxmlformats.org/drawingml/2006/main">
            <a:off x="5067300" y="416242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202A33"/>
                </a:solidFill>
                <a:latin typeface="Aptos"/>
                <a:ea typeface="Aptos"/>
                <a:cs typeface="Aptos"/>
              </a:defRPr>
            </a:pPr>
            <a:r>
              <a:rPr sz="900" b="0">
                <a:solidFill>
                  <a:srgbClr val="202A33"/>
                </a:solidFill>
                <a:latin typeface="Aptos"/>
                <a:ea typeface="Aptos"/>
                <a:cs typeface="Aptos"/>
              </a:rPr>
              <a:t>Queries Maven package/version directly and fits PURL-based component evidence.</a:t>
            </a:r>
          </a:p>
        </p:txBody>
      </p:sp>
      <p:sp>
        <p:nvSpPr>
          <p:cNvPr id="28" name="">
            <a:extLst xmlns:a="http://schemas.openxmlformats.org/drawingml/2006/main">
              <a:ext uri="{FF2B5EF4-FFF2-40B4-BE49-F238E27FC236}">
                <a16:creationId xmlns:a16="http://schemas.microsoft.com/office/drawing/2014/main" id="{201C1D5B-08D2-43B0-98B6-94C34D6FB30C}"/>
              </a:ext>
            </a:extLst>
          </p:cNvPr>
          <p:cNvSpPr>
            <a:spLocks xmlns:a="http://schemas.openxmlformats.org/drawingml/2006/main" noGrp="1"/>
          </p:cNvSpPr>
          <p:nvPr/>
        </p:nvSpPr>
        <p:spPr>
          <a:xfrm xmlns:a="http://schemas.openxmlformats.org/drawingml/2006/main">
            <a:off x="8972550" y="420052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A65C55"/>
                </a:solidFill>
                <a:latin typeface="Aptos"/>
                <a:ea typeface="Aptos"/>
                <a:cs typeface="Aptos"/>
              </a:defRPr>
            </a:pPr>
            <a:r>
              <a:rPr sz="900" b="0">
                <a:solidFill>
                  <a:srgbClr val="A65C55"/>
                </a:solidFill>
                <a:latin typeface="Aptos"/>
                <a:ea typeface="Aptos"/>
                <a:cs typeface="Aptos"/>
              </a:rPr>
              <a:t>NVD/CPE-only mapping</a:t>
            </a:r>
          </a:p>
        </p:txBody>
      </p:sp>
      <p:sp>
        <p:nvSpPr>
          <p:cNvPr id="29" name="">
            <a:extLst xmlns:a="http://schemas.openxmlformats.org/drawingml/2006/main">
              <a:ext uri="{FF2B5EF4-FFF2-40B4-BE49-F238E27FC236}">
                <a16:creationId xmlns:a16="http://schemas.microsoft.com/office/drawing/2014/main" id="{D3EC8933-2076-4645-95E9-2F06463F1CEC}"/>
              </a:ext>
            </a:extLst>
          </p:cNvPr>
          <p:cNvSpPr>
            <a:spLocks xmlns:a="http://schemas.openxmlformats.org/drawingml/2006/main" noGrp="1"/>
          </p:cNvSpPr>
          <p:nvPr/>
        </p:nvSpPr>
        <p:spPr>
          <a:xfrm xmlns:a="http://schemas.openxmlformats.org/drawingml/2006/main">
            <a:off x="685800" y="4781550"/>
            <a:ext cx="10820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30" name="">
            <a:extLst xmlns:a="http://schemas.openxmlformats.org/drawingml/2006/main">
              <a:ext uri="{FF2B5EF4-FFF2-40B4-BE49-F238E27FC236}">
                <a16:creationId xmlns:a16="http://schemas.microsoft.com/office/drawing/2014/main" id="{EE8547A0-6556-448B-9946-624DA2E9634A}"/>
              </a:ext>
            </a:extLst>
          </p:cNvPr>
          <p:cNvSpPr>
            <a:spLocks xmlns:a="http://schemas.openxmlformats.org/drawingml/2006/main" noGrp="1"/>
          </p:cNvSpPr>
          <p:nvPr/>
        </p:nvSpPr>
        <p:spPr>
          <a:xfrm xmlns:a="http://schemas.openxmlformats.org/drawingml/2006/main">
            <a:off x="876300" y="49720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65F7D"/>
                </a:solidFill>
                <a:latin typeface="Aptos"/>
                <a:ea typeface="Aptos"/>
                <a:cs typeface="Aptos"/>
              </a:defRPr>
            </a:pPr>
            <a:r>
              <a:rPr sz="1125" b="1">
                <a:solidFill>
                  <a:srgbClr val="365F7D"/>
                </a:solidFill>
                <a:latin typeface="Aptos"/>
                <a:ea typeface="Aptos"/>
                <a:cs typeface="Aptos"/>
              </a:rPr>
              <a:t>Obfuscation</a:t>
            </a:r>
          </a:p>
        </p:txBody>
      </p:sp>
      <p:sp>
        <p:nvSpPr>
          <p:cNvPr id="31" name="">
            <a:extLst xmlns:a="http://schemas.openxmlformats.org/drawingml/2006/main">
              <a:ext uri="{FF2B5EF4-FFF2-40B4-BE49-F238E27FC236}">
                <a16:creationId xmlns:a16="http://schemas.microsoft.com/office/drawing/2014/main" id="{31C6B6F9-FB1C-4CFC-A471-B083B1767092}"/>
              </a:ext>
            </a:extLst>
          </p:cNvPr>
          <p:cNvSpPr>
            <a:spLocks xmlns:a="http://schemas.openxmlformats.org/drawingml/2006/main" noGrp="1"/>
          </p:cNvSpPr>
          <p:nvPr/>
        </p:nvSpPr>
        <p:spPr>
          <a:xfrm xmlns:a="http://schemas.openxmlformats.org/drawingml/2006/main">
            <a:off x="2686050" y="494347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Confidence-affecting policy</a:t>
            </a:r>
          </a:p>
        </p:txBody>
      </p:sp>
      <p:sp>
        <p:nvSpPr>
          <p:cNvPr id="32" name="">
            <a:extLst xmlns:a="http://schemas.openxmlformats.org/drawingml/2006/main">
              <a:ext uri="{FF2B5EF4-FFF2-40B4-BE49-F238E27FC236}">
                <a16:creationId xmlns:a16="http://schemas.microsoft.com/office/drawing/2014/main" id="{9317D98C-706F-4B4B-9F85-C58CC3A530BC}"/>
              </a:ext>
            </a:extLst>
          </p:cNvPr>
          <p:cNvSpPr>
            <a:spLocks xmlns:a="http://schemas.openxmlformats.org/drawingml/2006/main" noGrp="1"/>
          </p:cNvSpPr>
          <p:nvPr/>
        </p:nvSpPr>
        <p:spPr>
          <a:xfrm xmlns:a="http://schemas.openxmlformats.org/drawingml/2006/main">
            <a:off x="5067300" y="490537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202A33"/>
                </a:solidFill>
                <a:latin typeface="Aptos"/>
                <a:ea typeface="Aptos"/>
                <a:cs typeface="Aptos"/>
              </a:defRPr>
            </a:pPr>
            <a:r>
              <a:rPr sz="900" b="0">
                <a:solidFill>
                  <a:srgbClr val="202A33"/>
                </a:solidFill>
                <a:latin typeface="Aptos"/>
                <a:ea typeface="Aptos"/>
                <a:cs typeface="Aptos"/>
              </a:rPr>
              <a:t>R8 can remove or transform evidence, so the system lowers confidence instead of claiming immunity.</a:t>
            </a:r>
          </a:p>
        </p:txBody>
      </p:sp>
      <p:sp>
        <p:nvSpPr>
          <p:cNvPr id="33" name="">
            <a:extLst xmlns:a="http://schemas.openxmlformats.org/drawingml/2006/main">
              <a:ext uri="{FF2B5EF4-FFF2-40B4-BE49-F238E27FC236}">
                <a16:creationId xmlns:a16="http://schemas.microsoft.com/office/drawing/2014/main" id="{870E3AFF-104D-4717-BB8F-FB12337C47DB}"/>
              </a:ext>
            </a:extLst>
          </p:cNvPr>
          <p:cNvSpPr>
            <a:spLocks xmlns:a="http://schemas.openxmlformats.org/drawingml/2006/main" noGrp="1"/>
          </p:cNvSpPr>
          <p:nvPr/>
        </p:nvSpPr>
        <p:spPr>
          <a:xfrm xmlns:a="http://schemas.openxmlformats.org/drawingml/2006/main">
            <a:off x="8972550" y="494347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A65C55"/>
                </a:solidFill>
                <a:latin typeface="Aptos"/>
                <a:ea typeface="Aptos"/>
                <a:cs typeface="Aptos"/>
              </a:defRPr>
            </a:pPr>
            <a:r>
              <a:rPr sz="900" b="0">
                <a:solidFill>
                  <a:srgbClr val="A65C55"/>
                </a:solidFill>
                <a:latin typeface="Aptos"/>
                <a:ea typeface="Aptos"/>
                <a:cs typeface="Aptos"/>
              </a:rPr>
              <a:t>“Obfuscation-proof” claims</a:t>
            </a:r>
          </a:p>
        </p:txBody>
      </p:sp>
      <p:sp>
        <p:nvSpPr>
          <p:cNvPr id="34" name="">
            <a:extLst xmlns:a="http://schemas.openxmlformats.org/drawingml/2006/main">
              <a:ext uri="{FF2B5EF4-FFF2-40B4-BE49-F238E27FC236}">
                <a16:creationId xmlns:a16="http://schemas.microsoft.com/office/drawing/2014/main" id="{0195386C-33DB-49CC-8B47-4D8AE183EAD8}"/>
              </a:ext>
            </a:extLst>
          </p:cNvPr>
          <p:cNvSpPr>
            <a:spLocks xmlns:a="http://schemas.openxmlformats.org/drawingml/2006/main" noGrp="1"/>
          </p:cNvSpPr>
          <p:nvPr/>
        </p:nvSpPr>
        <p:spPr>
          <a:xfrm xmlns:a="http://schemas.openxmlformats.org/drawingml/2006/main">
            <a:off x="685800" y="57340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F004922-C14E-4246-9781-A3B7460169AA}"/>
              </a:ext>
            </a:extLst>
          </p:cNvPr>
          <p:cNvSpPr>
            <a:spLocks xmlns:a="http://schemas.openxmlformats.org/drawingml/2006/main" noGrp="1"/>
          </p:cNvSpPr>
          <p:nvPr/>
        </p:nvSpPr>
        <p:spPr>
          <a:xfrm xmlns:a="http://schemas.openxmlformats.org/drawingml/2006/main">
            <a:off x="819150" y="58007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Architecture rationale: docs/architecture/DECISIONS_LOG.md  |  docs/architecture/MVP_ARCHITECTURE.md</a:t>
            </a:r>
          </a:p>
        </p:txBody>
      </p:sp>
      <p:sp>
        <p:nvSpPr>
          <p:cNvPr id="36" name="">
            <a:extLst xmlns:a="http://schemas.openxmlformats.org/drawingml/2006/main">
              <a:ext uri="{FF2B5EF4-FFF2-40B4-BE49-F238E27FC236}">
                <a16:creationId xmlns:a16="http://schemas.microsoft.com/office/drawing/2014/main" id="{79E925BB-5AA6-4E8D-9C73-F0BDBC4903CE}"/>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50270785"/>
      </p:ext>
    </p:extLst>
  </p:cSld>
</p:sld>
</file>

<file path=ppt/slides/slide6.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9165618-DA8D-4E43-A555-D66C2991BD59}"/>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365F7D"/>
                </a:solidFill>
                <a:latin typeface="Aptos"/>
                <a:ea typeface="Aptos"/>
                <a:cs typeface="Aptos"/>
              </a:defRPr>
            </a:pPr>
            <a:r>
              <a:rPr sz="900" b="1">
                <a:solidFill>
                  <a:srgbClr val="365F7D"/>
                </a:solidFill>
                <a:latin typeface="Aptos"/>
                <a:ea typeface="Aptos"/>
                <a:cs typeface="Aptos"/>
              </a:rPr>
              <a:t>SYSTEM ARCHITECTURE</a:t>
            </a:r>
          </a:p>
        </p:txBody>
      </p:sp>
      <p:sp>
        <p:nvSpPr>
          <p:cNvPr id="2" name="">
            <a:extLst xmlns:a="http://schemas.openxmlformats.org/drawingml/2006/main">
              <a:ext uri="{FF2B5EF4-FFF2-40B4-BE49-F238E27FC236}">
                <a16:creationId xmlns:a16="http://schemas.microsoft.com/office/drawing/2014/main" id="{AF94E9E0-3293-4490-8A04-07C51BDDDD69}"/>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MVP architecture: APK evidence and Maven references converge at the matcher</a:t>
            </a:r>
          </a:p>
        </p:txBody>
      </p:sp>
      <p:sp>
        <p:nvSpPr>
          <p:cNvPr id="3" name="">
            <a:extLst xmlns:a="http://schemas.openxmlformats.org/drawingml/2006/main">
              <a:ext uri="{FF2B5EF4-FFF2-40B4-BE49-F238E27FC236}">
                <a16:creationId xmlns:a16="http://schemas.microsoft.com/office/drawing/2014/main" id="{0CBF17E5-1DEF-4C96-9BAC-F785967FBBB4}"/>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06</a:t>
            </a:r>
          </a:p>
        </p:txBody>
      </p:sp>
      <p:sp>
        <p:nvSpPr>
          <p:cNvPr id="4" name="">
            <a:extLst xmlns:a="http://schemas.openxmlformats.org/drawingml/2006/main">
              <a:ext uri="{FF2B5EF4-FFF2-40B4-BE49-F238E27FC236}">
                <a16:creationId xmlns:a16="http://schemas.microsoft.com/office/drawing/2014/main" id="{CBB90D62-7E43-4E41-92A2-ED7AFCCF5B92}"/>
              </a:ext>
            </a:extLst>
          </p:cNvPr>
          <p:cNvSpPr>
            <a:spLocks xmlns:a="http://schemas.openxmlformats.org/drawingml/2006/main" noGrp="1"/>
          </p:cNvSpPr>
          <p:nvPr/>
        </p:nvSpPr>
        <p:spPr>
          <a:xfrm xmlns:a="http://schemas.openxmlformats.org/drawingml/2006/main">
            <a:off x="62865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5" name="">
            <a:extLst xmlns:a="http://schemas.openxmlformats.org/drawingml/2006/main">
              <a:ext uri="{FF2B5EF4-FFF2-40B4-BE49-F238E27FC236}">
                <a16:creationId xmlns:a16="http://schemas.microsoft.com/office/drawing/2014/main" id="{70CBDF9A-68FB-4066-94C9-FB454E46641E}"/>
              </a:ext>
            </a:extLst>
          </p:cNvPr>
          <p:cNvSpPr>
            <a:spLocks xmlns:a="http://schemas.openxmlformats.org/drawingml/2006/main" noGrp="1"/>
          </p:cNvSpPr>
          <p:nvPr/>
        </p:nvSpPr>
        <p:spPr>
          <a:xfrm xmlns:a="http://schemas.openxmlformats.org/drawingml/2006/main">
            <a:off x="76200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Aptos"/>
                <a:ea typeface="Aptos"/>
                <a:cs typeface="Aptos"/>
              </a:defRPr>
            </a:pPr>
            <a:r>
              <a:rPr sz="825" b="1">
                <a:solidFill>
                  <a:srgbClr val="365F7D"/>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CB0CD69C-F567-470C-8DD9-E1DD1EF27BF5}"/>
              </a:ext>
            </a:extLst>
          </p:cNvPr>
          <p:cNvSpPr>
            <a:spLocks xmlns:a="http://schemas.openxmlformats.org/drawingml/2006/main" noGrp="1"/>
          </p:cNvSpPr>
          <p:nvPr/>
        </p:nvSpPr>
        <p:spPr>
          <a:xfrm xmlns:a="http://schemas.openxmlformats.org/drawingml/2006/main">
            <a:off x="76200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202A33"/>
                </a:solidFill>
                <a:latin typeface="Aptos"/>
                <a:ea typeface="Aptos"/>
                <a:cs typeface="Aptos"/>
              </a:defRPr>
            </a:pPr>
            <a:r>
              <a:rPr sz="1200" b="1">
                <a:solidFill>
                  <a:srgbClr val="202A33"/>
                </a:solidFill>
                <a:latin typeface="Aptos"/>
                <a:ea typeface="Aptos"/>
                <a:cs typeface="Aptos"/>
              </a:rPr>
              <a:t>Compiled APK</a:t>
            </a:r>
          </a:p>
        </p:txBody>
      </p:sp>
      <p:sp>
        <p:nvSpPr>
          <p:cNvPr id="7" name="">
            <a:extLst xmlns:a="http://schemas.openxmlformats.org/drawingml/2006/main">
              <a:ext uri="{FF2B5EF4-FFF2-40B4-BE49-F238E27FC236}">
                <a16:creationId xmlns:a16="http://schemas.microsoft.com/office/drawing/2014/main" id="{F5CF375F-D9FD-4A1E-A30B-86FDF98DB208}"/>
              </a:ext>
            </a:extLst>
          </p:cNvPr>
          <p:cNvSpPr>
            <a:spLocks xmlns:a="http://schemas.openxmlformats.org/drawingml/2006/main" noGrp="1"/>
          </p:cNvSpPr>
          <p:nvPr/>
        </p:nvSpPr>
        <p:spPr>
          <a:xfrm xmlns:a="http://schemas.openxmlformats.org/drawingml/2006/main">
            <a:off x="76200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DEX · manifest · resources · native</a:t>
            </a:r>
          </a:p>
        </p:txBody>
      </p:sp>
      <p:sp>
        <p:nvSpPr>
          <p:cNvPr id="8" name="rule">
            <a:extLst xmlns:a="http://schemas.openxmlformats.org/drawingml/2006/main">
              <a:ext uri="{FF2B5EF4-FFF2-40B4-BE49-F238E27FC236}">
                <a16:creationId xmlns:a16="http://schemas.microsoft.com/office/drawing/2014/main" id="{9853AB2C-5F57-489E-B13D-B2BF34E3BB59}"/>
              </a:ext>
            </a:extLst>
          </p:cNvPr>
          <p:cNvSpPr>
            <a:spLocks xmlns:a="http://schemas.openxmlformats.org/drawingml/2006/main" noGrp="1"/>
          </p:cNvSpPr>
          <p:nvPr/>
        </p:nvSpPr>
        <p:spPr>
          <a:xfrm xmlns:a="http://schemas.openxmlformats.org/drawingml/2006/main">
            <a:off x="220980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38DE150-1410-4E00-9956-5BB7E627A8BD}"/>
              </a:ext>
            </a:extLst>
          </p:cNvPr>
          <p:cNvSpPr>
            <a:spLocks xmlns:a="http://schemas.openxmlformats.org/drawingml/2006/main" noGrp="1"/>
          </p:cNvSpPr>
          <p:nvPr/>
        </p:nvSpPr>
        <p:spPr>
          <a:xfrm xmlns:a="http://schemas.openxmlformats.org/drawingml/2006/main">
            <a:off x="224790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3F6C28B-638B-4E37-8C4B-BC1537D59B41}"/>
              </a:ext>
            </a:extLst>
          </p:cNvPr>
          <p:cNvSpPr>
            <a:spLocks xmlns:a="http://schemas.openxmlformats.org/drawingml/2006/main" noGrp="1"/>
          </p:cNvSpPr>
          <p:nvPr/>
        </p:nvSpPr>
        <p:spPr>
          <a:xfrm xmlns:a="http://schemas.openxmlformats.org/drawingml/2006/main">
            <a:off x="247650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1" name="">
            <a:extLst xmlns:a="http://schemas.openxmlformats.org/drawingml/2006/main">
              <a:ext uri="{FF2B5EF4-FFF2-40B4-BE49-F238E27FC236}">
                <a16:creationId xmlns:a16="http://schemas.microsoft.com/office/drawing/2014/main" id="{3222D420-DA66-4DAF-BEA8-E240F9490EF6}"/>
              </a:ext>
            </a:extLst>
          </p:cNvPr>
          <p:cNvSpPr>
            <a:spLocks xmlns:a="http://schemas.openxmlformats.org/drawingml/2006/main" noGrp="1"/>
          </p:cNvSpPr>
          <p:nvPr/>
        </p:nvSpPr>
        <p:spPr>
          <a:xfrm xmlns:a="http://schemas.openxmlformats.org/drawingml/2006/main">
            <a:off x="260985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Aptos"/>
                <a:ea typeface="Aptos"/>
                <a:cs typeface="Aptos"/>
              </a:defRPr>
            </a:pPr>
            <a:r>
              <a:rPr sz="825" b="1">
                <a:solidFill>
                  <a:srgbClr val="365F7D"/>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5EE4FA6E-9AC2-408A-93DA-DAE506EDAEB3}"/>
              </a:ext>
            </a:extLst>
          </p:cNvPr>
          <p:cNvSpPr>
            <a:spLocks xmlns:a="http://schemas.openxmlformats.org/drawingml/2006/main" noGrp="1"/>
          </p:cNvSpPr>
          <p:nvPr/>
        </p:nvSpPr>
        <p:spPr>
          <a:xfrm xmlns:a="http://schemas.openxmlformats.org/drawingml/2006/main">
            <a:off x="260985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202A33"/>
                </a:solidFill>
                <a:latin typeface="Aptos"/>
                <a:ea typeface="Aptos"/>
                <a:cs typeface="Aptos"/>
              </a:defRPr>
            </a:pPr>
            <a:r>
              <a:rPr sz="1200" b="1">
                <a:solidFill>
                  <a:srgbClr val="202A33"/>
                </a:solidFill>
                <a:latin typeface="Aptos"/>
                <a:ea typeface="Aptos"/>
                <a:cs typeface="Aptos"/>
              </a:rPr>
              <a:t>APK extraction</a:t>
            </a:r>
          </a:p>
        </p:txBody>
      </p:sp>
      <p:sp>
        <p:nvSpPr>
          <p:cNvPr id="13" name="">
            <a:extLst xmlns:a="http://schemas.openxmlformats.org/drawingml/2006/main">
              <a:ext uri="{FF2B5EF4-FFF2-40B4-BE49-F238E27FC236}">
                <a16:creationId xmlns:a16="http://schemas.microsoft.com/office/drawing/2014/main" id="{671A3256-4438-40DA-B435-73646C5046F8}"/>
              </a:ext>
            </a:extLst>
          </p:cNvPr>
          <p:cNvSpPr>
            <a:spLocks xmlns:a="http://schemas.openxmlformats.org/drawingml/2006/main" noGrp="1"/>
          </p:cNvSpPr>
          <p:nvPr/>
        </p:nvSpPr>
        <p:spPr>
          <a:xfrm xmlns:a="http://schemas.openxmlformats.org/drawingml/2006/main">
            <a:off x="260985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inventory · metadata · forensic risk</a:t>
            </a:r>
          </a:p>
        </p:txBody>
      </p:sp>
      <p:sp>
        <p:nvSpPr>
          <p:cNvPr id="14" name="rule">
            <a:extLst xmlns:a="http://schemas.openxmlformats.org/drawingml/2006/main">
              <a:ext uri="{FF2B5EF4-FFF2-40B4-BE49-F238E27FC236}">
                <a16:creationId xmlns:a16="http://schemas.microsoft.com/office/drawing/2014/main" id="{B6F6CEBA-92BE-4418-A876-E23F3E5D4834}"/>
              </a:ext>
            </a:extLst>
          </p:cNvPr>
          <p:cNvSpPr>
            <a:spLocks xmlns:a="http://schemas.openxmlformats.org/drawingml/2006/main" noGrp="1"/>
          </p:cNvSpPr>
          <p:nvPr/>
        </p:nvSpPr>
        <p:spPr>
          <a:xfrm xmlns:a="http://schemas.openxmlformats.org/drawingml/2006/main">
            <a:off x="405765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69FA1B9-123C-4A5D-B2C0-48605625D160}"/>
              </a:ext>
            </a:extLst>
          </p:cNvPr>
          <p:cNvSpPr>
            <a:spLocks xmlns:a="http://schemas.openxmlformats.org/drawingml/2006/main" noGrp="1"/>
          </p:cNvSpPr>
          <p:nvPr/>
        </p:nvSpPr>
        <p:spPr>
          <a:xfrm xmlns:a="http://schemas.openxmlformats.org/drawingml/2006/main">
            <a:off x="409575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C45EE90-7091-40AB-A37C-8EE55F5CFD91}"/>
              </a:ext>
            </a:extLst>
          </p:cNvPr>
          <p:cNvSpPr>
            <a:spLocks xmlns:a="http://schemas.openxmlformats.org/drawingml/2006/main" noGrp="1"/>
          </p:cNvSpPr>
          <p:nvPr/>
        </p:nvSpPr>
        <p:spPr>
          <a:xfrm xmlns:a="http://schemas.openxmlformats.org/drawingml/2006/main">
            <a:off x="432435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7" name="">
            <a:extLst xmlns:a="http://schemas.openxmlformats.org/drawingml/2006/main">
              <a:ext uri="{FF2B5EF4-FFF2-40B4-BE49-F238E27FC236}">
                <a16:creationId xmlns:a16="http://schemas.microsoft.com/office/drawing/2014/main" id="{5F09E3DC-3D66-49BC-9E84-B540E603347A}"/>
              </a:ext>
            </a:extLst>
          </p:cNvPr>
          <p:cNvSpPr>
            <a:spLocks xmlns:a="http://schemas.openxmlformats.org/drawingml/2006/main" noGrp="1"/>
          </p:cNvSpPr>
          <p:nvPr/>
        </p:nvSpPr>
        <p:spPr>
          <a:xfrm xmlns:a="http://schemas.openxmlformats.org/drawingml/2006/main">
            <a:off x="445770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Aptos"/>
                <a:ea typeface="Aptos"/>
                <a:cs typeface="Aptos"/>
              </a:defRPr>
            </a:pPr>
            <a:r>
              <a:rPr sz="825" b="1">
                <a:solidFill>
                  <a:srgbClr val="365F7D"/>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B70A9091-6A2A-48F7-9C6E-AADDE6DA736F}"/>
              </a:ext>
            </a:extLst>
          </p:cNvPr>
          <p:cNvSpPr>
            <a:spLocks xmlns:a="http://schemas.openxmlformats.org/drawingml/2006/main" noGrp="1"/>
          </p:cNvSpPr>
          <p:nvPr/>
        </p:nvSpPr>
        <p:spPr>
          <a:xfrm xmlns:a="http://schemas.openxmlformats.org/drawingml/2006/main">
            <a:off x="445770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202A33"/>
                </a:solidFill>
                <a:latin typeface="Aptos"/>
                <a:ea typeface="Aptos"/>
                <a:cs typeface="Aptos"/>
              </a:defRPr>
            </a:pPr>
            <a:r>
              <a:rPr sz="1200" b="1">
                <a:solidFill>
                  <a:srgbClr val="202A33"/>
                </a:solidFill>
                <a:latin typeface="Aptos"/>
                <a:ea typeface="Aptos"/>
                <a:cs typeface="Aptos"/>
              </a:rPr>
              <a:t>DEX analysis</a:t>
            </a:r>
          </a:p>
        </p:txBody>
      </p:sp>
      <p:sp>
        <p:nvSpPr>
          <p:cNvPr id="19" name="">
            <a:extLst xmlns:a="http://schemas.openxmlformats.org/drawingml/2006/main">
              <a:ext uri="{FF2B5EF4-FFF2-40B4-BE49-F238E27FC236}">
                <a16:creationId xmlns:a16="http://schemas.microsoft.com/office/drawing/2014/main" id="{F2064918-E119-463A-86C0-3C9B9543BED6}"/>
              </a:ext>
            </a:extLst>
          </p:cNvPr>
          <p:cNvSpPr>
            <a:spLocks xmlns:a="http://schemas.openxmlformats.org/drawingml/2006/main" noGrp="1"/>
          </p:cNvSpPr>
          <p:nvPr/>
        </p:nvSpPr>
        <p:spPr>
          <a:xfrm xmlns:a="http://schemas.openxmlformats.org/drawingml/2006/main">
            <a:off x="445770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packages · classes · methods · opcodes · graph</a:t>
            </a:r>
          </a:p>
        </p:txBody>
      </p:sp>
      <p:sp>
        <p:nvSpPr>
          <p:cNvPr id="20" name="rule">
            <a:extLst xmlns:a="http://schemas.openxmlformats.org/drawingml/2006/main">
              <a:ext uri="{FF2B5EF4-FFF2-40B4-BE49-F238E27FC236}">
                <a16:creationId xmlns:a16="http://schemas.microsoft.com/office/drawing/2014/main" id="{B8EE991B-4503-4F6E-A9D4-DC6CF245FB7E}"/>
              </a:ext>
            </a:extLst>
          </p:cNvPr>
          <p:cNvSpPr>
            <a:spLocks xmlns:a="http://schemas.openxmlformats.org/drawingml/2006/main" noGrp="1"/>
          </p:cNvSpPr>
          <p:nvPr/>
        </p:nvSpPr>
        <p:spPr>
          <a:xfrm xmlns:a="http://schemas.openxmlformats.org/drawingml/2006/main">
            <a:off x="590550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7A8164D-0F61-404C-8D71-2738D40AA8B0}"/>
              </a:ext>
            </a:extLst>
          </p:cNvPr>
          <p:cNvSpPr>
            <a:spLocks xmlns:a="http://schemas.openxmlformats.org/drawingml/2006/main" noGrp="1"/>
          </p:cNvSpPr>
          <p:nvPr/>
        </p:nvSpPr>
        <p:spPr>
          <a:xfrm xmlns:a="http://schemas.openxmlformats.org/drawingml/2006/main">
            <a:off x="594360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B4AA698-9355-4B71-A0F8-F2A726A26146}"/>
              </a:ext>
            </a:extLst>
          </p:cNvPr>
          <p:cNvSpPr>
            <a:spLocks xmlns:a="http://schemas.openxmlformats.org/drawingml/2006/main" noGrp="1"/>
          </p:cNvSpPr>
          <p:nvPr/>
        </p:nvSpPr>
        <p:spPr>
          <a:xfrm xmlns:a="http://schemas.openxmlformats.org/drawingml/2006/main">
            <a:off x="617220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23" name="">
            <a:extLst xmlns:a="http://schemas.openxmlformats.org/drawingml/2006/main">
              <a:ext uri="{FF2B5EF4-FFF2-40B4-BE49-F238E27FC236}">
                <a16:creationId xmlns:a16="http://schemas.microsoft.com/office/drawing/2014/main" id="{59EB7B07-42CF-42C3-BF1C-80839CF1C995}"/>
              </a:ext>
            </a:extLst>
          </p:cNvPr>
          <p:cNvSpPr>
            <a:spLocks xmlns:a="http://schemas.openxmlformats.org/drawingml/2006/main" noGrp="1"/>
          </p:cNvSpPr>
          <p:nvPr/>
        </p:nvSpPr>
        <p:spPr>
          <a:xfrm xmlns:a="http://schemas.openxmlformats.org/drawingml/2006/main">
            <a:off x="630555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Aptos"/>
                <a:ea typeface="Aptos"/>
                <a:cs typeface="Aptos"/>
              </a:defRPr>
            </a:pPr>
            <a:r>
              <a:rPr sz="825" b="1">
                <a:solidFill>
                  <a:srgbClr val="365F7D"/>
                </a:solidFill>
                <a:latin typeface="Aptos"/>
                <a:ea typeface="Aptos"/>
                <a:cs typeface="Aptos"/>
              </a:rPr>
              <a:t>4</a:t>
            </a:r>
          </a:p>
        </p:txBody>
      </p:sp>
      <p:sp>
        <p:nvSpPr>
          <p:cNvPr id="24" name="">
            <a:extLst xmlns:a="http://schemas.openxmlformats.org/drawingml/2006/main">
              <a:ext uri="{FF2B5EF4-FFF2-40B4-BE49-F238E27FC236}">
                <a16:creationId xmlns:a16="http://schemas.microsoft.com/office/drawing/2014/main" id="{EA4892EE-3593-4225-ACD9-7AA3CB777D4E}"/>
              </a:ext>
            </a:extLst>
          </p:cNvPr>
          <p:cNvSpPr>
            <a:spLocks xmlns:a="http://schemas.openxmlformats.org/drawingml/2006/main" noGrp="1"/>
          </p:cNvSpPr>
          <p:nvPr/>
        </p:nvSpPr>
        <p:spPr>
          <a:xfrm xmlns:a="http://schemas.openxmlformats.org/drawingml/2006/main">
            <a:off x="630555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202A33"/>
                </a:solidFill>
                <a:latin typeface="Aptos"/>
                <a:ea typeface="Aptos"/>
                <a:cs typeface="Aptos"/>
              </a:defRPr>
            </a:pPr>
            <a:r>
              <a:rPr sz="1200" b="1">
                <a:solidFill>
                  <a:srgbClr val="202A33"/>
                </a:solidFill>
                <a:latin typeface="Aptos"/>
                <a:ea typeface="Aptos"/>
                <a:cs typeface="Aptos"/>
              </a:rPr>
              <a:t>Hybrid matcher</a:t>
            </a:r>
          </a:p>
        </p:txBody>
      </p:sp>
      <p:sp>
        <p:nvSpPr>
          <p:cNvPr id="25" name="">
            <a:extLst xmlns:a="http://schemas.openxmlformats.org/drawingml/2006/main">
              <a:ext uri="{FF2B5EF4-FFF2-40B4-BE49-F238E27FC236}">
                <a16:creationId xmlns:a16="http://schemas.microsoft.com/office/drawing/2014/main" id="{D2AE0B64-CC3E-4FE8-B3E9-6E3F00CCAE07}"/>
              </a:ext>
            </a:extLst>
          </p:cNvPr>
          <p:cNvSpPr>
            <a:spLocks xmlns:a="http://schemas.openxmlformats.org/drawingml/2006/main" noGrp="1"/>
          </p:cNvSpPr>
          <p:nvPr/>
        </p:nvSpPr>
        <p:spPr>
          <a:xfrm xmlns:a="http://schemas.openxmlformats.org/drawingml/2006/main">
            <a:off x="630555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candidate shortlist · multi-signal scoring</a:t>
            </a:r>
          </a:p>
        </p:txBody>
      </p:sp>
      <p:sp>
        <p:nvSpPr>
          <p:cNvPr id="26" name="rule">
            <a:extLst xmlns:a="http://schemas.openxmlformats.org/drawingml/2006/main">
              <a:ext uri="{FF2B5EF4-FFF2-40B4-BE49-F238E27FC236}">
                <a16:creationId xmlns:a16="http://schemas.microsoft.com/office/drawing/2014/main" id="{AA10F4AD-D2F6-41AD-88B6-A91E32788980}"/>
              </a:ext>
            </a:extLst>
          </p:cNvPr>
          <p:cNvSpPr>
            <a:spLocks xmlns:a="http://schemas.openxmlformats.org/drawingml/2006/main" noGrp="1"/>
          </p:cNvSpPr>
          <p:nvPr/>
        </p:nvSpPr>
        <p:spPr>
          <a:xfrm xmlns:a="http://schemas.openxmlformats.org/drawingml/2006/main">
            <a:off x="775335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30764C0-759A-4C99-8B78-F21BC3BAEF66}"/>
              </a:ext>
            </a:extLst>
          </p:cNvPr>
          <p:cNvSpPr>
            <a:spLocks xmlns:a="http://schemas.openxmlformats.org/drawingml/2006/main" noGrp="1"/>
          </p:cNvSpPr>
          <p:nvPr/>
        </p:nvSpPr>
        <p:spPr>
          <a:xfrm xmlns:a="http://schemas.openxmlformats.org/drawingml/2006/main">
            <a:off x="779145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7FBB1D3-46B7-4D3E-98BC-6101C41812BC}"/>
              </a:ext>
            </a:extLst>
          </p:cNvPr>
          <p:cNvSpPr>
            <a:spLocks xmlns:a="http://schemas.openxmlformats.org/drawingml/2006/main" noGrp="1"/>
          </p:cNvSpPr>
          <p:nvPr/>
        </p:nvSpPr>
        <p:spPr>
          <a:xfrm xmlns:a="http://schemas.openxmlformats.org/drawingml/2006/main">
            <a:off x="802005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9" name="">
            <a:extLst xmlns:a="http://schemas.openxmlformats.org/drawingml/2006/main">
              <a:ext uri="{FF2B5EF4-FFF2-40B4-BE49-F238E27FC236}">
                <a16:creationId xmlns:a16="http://schemas.microsoft.com/office/drawing/2014/main" id="{AF336E09-7811-499A-A73D-1F3090229C90}"/>
              </a:ext>
            </a:extLst>
          </p:cNvPr>
          <p:cNvSpPr>
            <a:spLocks xmlns:a="http://schemas.openxmlformats.org/drawingml/2006/main" noGrp="1"/>
          </p:cNvSpPr>
          <p:nvPr/>
        </p:nvSpPr>
        <p:spPr>
          <a:xfrm xmlns:a="http://schemas.openxmlformats.org/drawingml/2006/main">
            <a:off x="815340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Aptos"/>
                <a:ea typeface="Aptos"/>
                <a:cs typeface="Aptos"/>
              </a:defRPr>
            </a:pPr>
            <a:r>
              <a:rPr sz="825" b="1">
                <a:solidFill>
                  <a:srgbClr val="365F7D"/>
                </a:solidFill>
                <a:latin typeface="Aptos"/>
                <a:ea typeface="Aptos"/>
                <a:cs typeface="Aptos"/>
              </a:rPr>
              <a:t>5</a:t>
            </a:r>
          </a:p>
        </p:txBody>
      </p:sp>
      <p:sp>
        <p:nvSpPr>
          <p:cNvPr id="30" name="">
            <a:extLst xmlns:a="http://schemas.openxmlformats.org/drawingml/2006/main">
              <a:ext uri="{FF2B5EF4-FFF2-40B4-BE49-F238E27FC236}">
                <a16:creationId xmlns:a16="http://schemas.microsoft.com/office/drawing/2014/main" id="{367C5F06-C60C-443B-8039-555E5BB0460D}"/>
              </a:ext>
            </a:extLst>
          </p:cNvPr>
          <p:cNvSpPr>
            <a:spLocks xmlns:a="http://schemas.openxmlformats.org/drawingml/2006/main" noGrp="1"/>
          </p:cNvSpPr>
          <p:nvPr/>
        </p:nvSpPr>
        <p:spPr>
          <a:xfrm xmlns:a="http://schemas.openxmlformats.org/drawingml/2006/main">
            <a:off x="815340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202A33"/>
                </a:solidFill>
                <a:latin typeface="Aptos"/>
                <a:ea typeface="Aptos"/>
                <a:cs typeface="Aptos"/>
              </a:defRPr>
            </a:pPr>
            <a:r>
              <a:rPr sz="1200" b="1">
                <a:solidFill>
                  <a:srgbClr val="202A33"/>
                </a:solidFill>
                <a:latin typeface="Aptos"/>
                <a:ea typeface="Aptos"/>
                <a:cs typeface="Aptos"/>
              </a:rPr>
              <a:t>Confidence gate</a:t>
            </a:r>
          </a:p>
        </p:txBody>
      </p:sp>
      <p:sp>
        <p:nvSpPr>
          <p:cNvPr id="31" name="">
            <a:extLst xmlns:a="http://schemas.openxmlformats.org/drawingml/2006/main">
              <a:ext uri="{FF2B5EF4-FFF2-40B4-BE49-F238E27FC236}">
                <a16:creationId xmlns:a16="http://schemas.microsoft.com/office/drawing/2014/main" id="{3A15E5F9-3768-4219-9DF3-57182CC7FB9A}"/>
              </a:ext>
            </a:extLst>
          </p:cNvPr>
          <p:cNvSpPr>
            <a:spLocks xmlns:a="http://schemas.openxmlformats.org/drawingml/2006/main" noGrp="1"/>
          </p:cNvSpPr>
          <p:nvPr/>
        </p:nvSpPr>
        <p:spPr>
          <a:xfrm xmlns:a="http://schemas.openxmlformats.org/drawingml/2006/main">
            <a:off x="815340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identity · version · ambiguity</a:t>
            </a:r>
          </a:p>
        </p:txBody>
      </p:sp>
      <p:sp>
        <p:nvSpPr>
          <p:cNvPr id="32" name="rule">
            <a:extLst xmlns:a="http://schemas.openxmlformats.org/drawingml/2006/main">
              <a:ext uri="{FF2B5EF4-FFF2-40B4-BE49-F238E27FC236}">
                <a16:creationId xmlns:a16="http://schemas.microsoft.com/office/drawing/2014/main" id="{48E73B4B-E923-45EB-B2BB-080AEC6952F6}"/>
              </a:ext>
            </a:extLst>
          </p:cNvPr>
          <p:cNvSpPr>
            <a:spLocks xmlns:a="http://schemas.openxmlformats.org/drawingml/2006/main" noGrp="1"/>
          </p:cNvSpPr>
          <p:nvPr/>
        </p:nvSpPr>
        <p:spPr>
          <a:xfrm xmlns:a="http://schemas.openxmlformats.org/drawingml/2006/main">
            <a:off x="960120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DC31DA6-9E7C-4D38-9773-D0F36FC2B13A}"/>
              </a:ext>
            </a:extLst>
          </p:cNvPr>
          <p:cNvSpPr>
            <a:spLocks xmlns:a="http://schemas.openxmlformats.org/drawingml/2006/main" noGrp="1"/>
          </p:cNvSpPr>
          <p:nvPr/>
        </p:nvSpPr>
        <p:spPr>
          <a:xfrm xmlns:a="http://schemas.openxmlformats.org/drawingml/2006/main">
            <a:off x="963930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B6877DD-CF30-49DF-9A59-74E359288328}"/>
              </a:ext>
            </a:extLst>
          </p:cNvPr>
          <p:cNvSpPr>
            <a:spLocks xmlns:a="http://schemas.openxmlformats.org/drawingml/2006/main" noGrp="1"/>
          </p:cNvSpPr>
          <p:nvPr/>
        </p:nvSpPr>
        <p:spPr>
          <a:xfrm xmlns:a="http://schemas.openxmlformats.org/drawingml/2006/main">
            <a:off x="986790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35" name="">
            <a:extLst xmlns:a="http://schemas.openxmlformats.org/drawingml/2006/main">
              <a:ext uri="{FF2B5EF4-FFF2-40B4-BE49-F238E27FC236}">
                <a16:creationId xmlns:a16="http://schemas.microsoft.com/office/drawing/2014/main" id="{6B59D3E2-ADB1-482B-BB88-D9F16C68B3AA}"/>
              </a:ext>
            </a:extLst>
          </p:cNvPr>
          <p:cNvSpPr>
            <a:spLocks xmlns:a="http://schemas.openxmlformats.org/drawingml/2006/main" noGrp="1"/>
          </p:cNvSpPr>
          <p:nvPr/>
        </p:nvSpPr>
        <p:spPr>
          <a:xfrm xmlns:a="http://schemas.openxmlformats.org/drawingml/2006/main">
            <a:off x="1000125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Aptos"/>
                <a:ea typeface="Aptos"/>
                <a:cs typeface="Aptos"/>
              </a:defRPr>
            </a:pPr>
            <a:r>
              <a:rPr sz="825" b="1">
                <a:solidFill>
                  <a:srgbClr val="365F7D"/>
                </a:solidFill>
                <a:latin typeface="Aptos"/>
                <a:ea typeface="Aptos"/>
                <a:cs typeface="Aptos"/>
              </a:rPr>
              <a:t>6</a:t>
            </a:r>
          </a:p>
        </p:txBody>
      </p:sp>
      <p:sp>
        <p:nvSpPr>
          <p:cNvPr id="36" name="">
            <a:extLst xmlns:a="http://schemas.openxmlformats.org/drawingml/2006/main">
              <a:ext uri="{FF2B5EF4-FFF2-40B4-BE49-F238E27FC236}">
                <a16:creationId xmlns:a16="http://schemas.microsoft.com/office/drawing/2014/main" id="{4F7666B4-2ABE-49AB-BE3C-623935D1E3D8}"/>
              </a:ext>
            </a:extLst>
          </p:cNvPr>
          <p:cNvSpPr>
            <a:spLocks xmlns:a="http://schemas.openxmlformats.org/drawingml/2006/main" noGrp="1"/>
          </p:cNvSpPr>
          <p:nvPr/>
        </p:nvSpPr>
        <p:spPr>
          <a:xfrm xmlns:a="http://schemas.openxmlformats.org/drawingml/2006/main">
            <a:off x="1000125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202A33"/>
                </a:solidFill>
                <a:latin typeface="Aptos"/>
                <a:ea typeface="Aptos"/>
                <a:cs typeface="Aptos"/>
              </a:defRPr>
            </a:pPr>
            <a:r>
              <a:rPr sz="1200" b="1">
                <a:solidFill>
                  <a:srgbClr val="202A33"/>
                </a:solidFill>
                <a:latin typeface="Aptos"/>
                <a:ea typeface="Aptos"/>
                <a:cs typeface="Aptos"/>
              </a:rPr>
              <a:t>Security outputs</a:t>
            </a:r>
          </a:p>
        </p:txBody>
      </p:sp>
      <p:sp>
        <p:nvSpPr>
          <p:cNvPr id="37" name="">
            <a:extLst xmlns:a="http://schemas.openxmlformats.org/drawingml/2006/main">
              <a:ext uri="{FF2B5EF4-FFF2-40B4-BE49-F238E27FC236}">
                <a16:creationId xmlns:a16="http://schemas.microsoft.com/office/drawing/2014/main" id="{709C7EC2-CD7B-4E29-92D4-A4BCF46D09DC}"/>
              </a:ext>
            </a:extLst>
          </p:cNvPr>
          <p:cNvSpPr>
            <a:spLocks xmlns:a="http://schemas.openxmlformats.org/drawingml/2006/main" noGrp="1"/>
          </p:cNvSpPr>
          <p:nvPr/>
        </p:nvSpPr>
        <p:spPr>
          <a:xfrm xmlns:a="http://schemas.openxmlformats.org/drawingml/2006/main">
            <a:off x="1000125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CycloneDX · OSV · JSON/HTML report</a:t>
            </a:r>
          </a:p>
        </p:txBody>
      </p:sp>
      <p:sp>
        <p:nvSpPr>
          <p:cNvPr id="38" name="">
            <a:extLst xmlns:a="http://schemas.openxmlformats.org/drawingml/2006/main">
              <a:ext uri="{FF2B5EF4-FFF2-40B4-BE49-F238E27FC236}">
                <a16:creationId xmlns:a16="http://schemas.microsoft.com/office/drawing/2014/main" id="{874AFB20-94CB-4BB5-A223-D8FE8086FCE5}"/>
              </a:ext>
            </a:extLst>
          </p:cNvPr>
          <p:cNvSpPr>
            <a:spLocks xmlns:a="http://schemas.openxmlformats.org/drawingml/2006/main" noGrp="1"/>
          </p:cNvSpPr>
          <p:nvPr/>
        </p:nvSpPr>
        <p:spPr>
          <a:xfrm xmlns:a="http://schemas.openxmlformats.org/drawingml/2006/main">
            <a:off x="685800" y="3371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Aptos"/>
                <a:ea typeface="Aptos"/>
                <a:cs typeface="Aptos"/>
              </a:defRPr>
            </a:pPr>
            <a:r>
              <a:rPr sz="825" b="1">
                <a:solidFill>
                  <a:srgbClr val="365F7D"/>
                </a:solidFill>
                <a:latin typeface="Aptos"/>
                <a:ea typeface="Aptos"/>
                <a:cs typeface="Aptos"/>
              </a:rPr>
              <a:t>REFERENCE PROFILE PIPELINE</a:t>
            </a:r>
          </a:p>
        </p:txBody>
      </p:sp>
      <p:sp>
        <p:nvSpPr>
          <p:cNvPr id="39" name="">
            <a:extLst xmlns:a="http://schemas.openxmlformats.org/drawingml/2006/main">
              <a:ext uri="{FF2B5EF4-FFF2-40B4-BE49-F238E27FC236}">
                <a16:creationId xmlns:a16="http://schemas.microsoft.com/office/drawing/2014/main" id="{A9527AB8-C32B-4CF3-9B2A-519976488E06}"/>
              </a:ext>
            </a:extLst>
          </p:cNvPr>
          <p:cNvSpPr>
            <a:spLocks xmlns:a="http://schemas.openxmlformats.org/drawingml/2006/main" noGrp="1"/>
          </p:cNvSpPr>
          <p:nvPr/>
        </p:nvSpPr>
        <p:spPr>
          <a:xfrm xmlns:a="http://schemas.openxmlformats.org/drawingml/2006/main">
            <a:off x="685800" y="3695700"/>
            <a:ext cx="18859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40" name="">
            <a:extLst xmlns:a="http://schemas.openxmlformats.org/drawingml/2006/main">
              <a:ext uri="{FF2B5EF4-FFF2-40B4-BE49-F238E27FC236}">
                <a16:creationId xmlns:a16="http://schemas.microsoft.com/office/drawing/2014/main" id="{29AA7FD3-A2E3-43D5-B0F6-5ADBB049532D}"/>
              </a:ext>
            </a:extLst>
          </p:cNvPr>
          <p:cNvSpPr>
            <a:spLocks xmlns:a="http://schemas.openxmlformats.org/drawingml/2006/main" noGrp="1"/>
          </p:cNvSpPr>
          <p:nvPr/>
        </p:nvSpPr>
        <p:spPr>
          <a:xfrm xmlns:a="http://schemas.openxmlformats.org/drawingml/2006/main">
            <a:off x="819150" y="38481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Maven JAR/AAR</a:t>
            </a:r>
          </a:p>
        </p:txBody>
      </p:sp>
      <p:sp>
        <p:nvSpPr>
          <p:cNvPr id="41" name="">
            <a:extLst xmlns:a="http://schemas.openxmlformats.org/drawingml/2006/main">
              <a:ext uri="{FF2B5EF4-FFF2-40B4-BE49-F238E27FC236}">
                <a16:creationId xmlns:a16="http://schemas.microsoft.com/office/drawing/2014/main" id="{04BB29F4-1F4E-4369-B5FD-1FDA3C85120F}"/>
              </a:ext>
            </a:extLst>
          </p:cNvPr>
          <p:cNvSpPr>
            <a:spLocks xmlns:a="http://schemas.openxmlformats.org/drawingml/2006/main" noGrp="1"/>
          </p:cNvSpPr>
          <p:nvPr/>
        </p:nvSpPr>
        <p:spPr>
          <a:xfrm xmlns:a="http://schemas.openxmlformats.org/drawingml/2006/main">
            <a:off x="819150" y="4133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Aptos"/>
                <a:ea typeface="Aptos"/>
                <a:cs typeface="Aptos"/>
              </a:defRPr>
            </a:pPr>
            <a:r>
              <a:rPr sz="750" b="0">
                <a:solidFill>
                  <a:srgbClr val="65717A"/>
                </a:solidFill>
                <a:latin typeface="Aptos"/>
                <a:ea typeface="Aptos"/>
                <a:cs typeface="Aptos"/>
              </a:rPr>
              <a:t>coordinate + version + POM</a:t>
            </a:r>
          </a:p>
        </p:txBody>
      </p:sp>
      <p:sp>
        <p:nvSpPr>
          <p:cNvPr id="42" name="rule">
            <a:extLst xmlns:a="http://schemas.openxmlformats.org/drawingml/2006/main">
              <a:ext uri="{FF2B5EF4-FFF2-40B4-BE49-F238E27FC236}">
                <a16:creationId xmlns:a16="http://schemas.microsoft.com/office/drawing/2014/main" id="{976900D0-5565-4E60-B2B1-E0FB8C0E1538}"/>
              </a:ext>
            </a:extLst>
          </p:cNvPr>
          <p:cNvSpPr>
            <a:spLocks xmlns:a="http://schemas.openxmlformats.org/drawingml/2006/main" noGrp="1"/>
          </p:cNvSpPr>
          <p:nvPr/>
        </p:nvSpPr>
        <p:spPr>
          <a:xfrm xmlns:a="http://schemas.openxmlformats.org/drawingml/2006/main">
            <a:off x="2571750" y="4114800"/>
            <a:ext cx="1333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C22F6B00-5F45-47E0-B497-A83228B396F5}"/>
              </a:ext>
            </a:extLst>
          </p:cNvPr>
          <p:cNvSpPr>
            <a:spLocks xmlns:a="http://schemas.openxmlformats.org/drawingml/2006/main" noGrp="1"/>
          </p:cNvSpPr>
          <p:nvPr/>
        </p:nvSpPr>
        <p:spPr>
          <a:xfrm xmlns:a="http://schemas.openxmlformats.org/drawingml/2006/main">
            <a:off x="2628900" y="402907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9347C933-5165-4D06-9046-55056751AC64}"/>
              </a:ext>
            </a:extLst>
          </p:cNvPr>
          <p:cNvSpPr>
            <a:spLocks xmlns:a="http://schemas.openxmlformats.org/drawingml/2006/main" noGrp="1"/>
          </p:cNvSpPr>
          <p:nvPr/>
        </p:nvSpPr>
        <p:spPr>
          <a:xfrm xmlns:a="http://schemas.openxmlformats.org/drawingml/2006/main">
            <a:off x="2857500" y="3695700"/>
            <a:ext cx="18859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45" name="">
            <a:extLst xmlns:a="http://schemas.openxmlformats.org/drawingml/2006/main">
              <a:ext uri="{FF2B5EF4-FFF2-40B4-BE49-F238E27FC236}">
                <a16:creationId xmlns:a16="http://schemas.microsoft.com/office/drawing/2014/main" id="{B2AD0CF3-7770-42A5-87B1-FA7A43E536F9}"/>
              </a:ext>
            </a:extLst>
          </p:cNvPr>
          <p:cNvSpPr>
            <a:spLocks xmlns:a="http://schemas.openxmlformats.org/drawingml/2006/main" noGrp="1"/>
          </p:cNvSpPr>
          <p:nvPr/>
        </p:nvSpPr>
        <p:spPr>
          <a:xfrm xmlns:a="http://schemas.openxmlformats.org/drawingml/2006/main">
            <a:off x="2990850" y="38481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D8 normalization</a:t>
            </a:r>
          </a:p>
        </p:txBody>
      </p:sp>
      <p:sp>
        <p:nvSpPr>
          <p:cNvPr id="46" name="">
            <a:extLst xmlns:a="http://schemas.openxmlformats.org/drawingml/2006/main">
              <a:ext uri="{FF2B5EF4-FFF2-40B4-BE49-F238E27FC236}">
                <a16:creationId xmlns:a16="http://schemas.microsoft.com/office/drawing/2014/main" id="{88CF5063-6B1B-4412-B1EE-67CC90E41870}"/>
              </a:ext>
            </a:extLst>
          </p:cNvPr>
          <p:cNvSpPr>
            <a:spLocks xmlns:a="http://schemas.openxmlformats.org/drawingml/2006/main" noGrp="1"/>
          </p:cNvSpPr>
          <p:nvPr/>
        </p:nvSpPr>
        <p:spPr>
          <a:xfrm xmlns:a="http://schemas.openxmlformats.org/drawingml/2006/main">
            <a:off x="2990850" y="4133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Aptos"/>
                <a:ea typeface="Aptos"/>
                <a:cs typeface="Aptos"/>
              </a:defRPr>
            </a:pPr>
            <a:r>
              <a:rPr sz="750" b="0">
                <a:solidFill>
                  <a:srgbClr val="65717A"/>
                </a:solidFill>
                <a:latin typeface="Aptos"/>
                <a:ea typeface="Aptos"/>
                <a:cs typeface="Aptos"/>
              </a:rPr>
              <a:t>JAR/AAR bytecode converted to DEX</a:t>
            </a:r>
          </a:p>
        </p:txBody>
      </p:sp>
      <p:sp>
        <p:nvSpPr>
          <p:cNvPr id="47" name="rule">
            <a:extLst xmlns:a="http://schemas.openxmlformats.org/drawingml/2006/main">
              <a:ext uri="{FF2B5EF4-FFF2-40B4-BE49-F238E27FC236}">
                <a16:creationId xmlns:a16="http://schemas.microsoft.com/office/drawing/2014/main" id="{5AFC8398-FBC4-4D28-AB02-ACCD9C963979}"/>
              </a:ext>
            </a:extLst>
          </p:cNvPr>
          <p:cNvSpPr>
            <a:spLocks xmlns:a="http://schemas.openxmlformats.org/drawingml/2006/main" noGrp="1"/>
          </p:cNvSpPr>
          <p:nvPr/>
        </p:nvSpPr>
        <p:spPr>
          <a:xfrm xmlns:a="http://schemas.openxmlformats.org/drawingml/2006/main">
            <a:off x="4743450" y="4114800"/>
            <a:ext cx="1333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E085074B-96EF-4C85-B478-4133D9CCCCAB}"/>
              </a:ext>
            </a:extLst>
          </p:cNvPr>
          <p:cNvSpPr>
            <a:spLocks xmlns:a="http://schemas.openxmlformats.org/drawingml/2006/main" noGrp="1"/>
          </p:cNvSpPr>
          <p:nvPr/>
        </p:nvSpPr>
        <p:spPr>
          <a:xfrm xmlns:a="http://schemas.openxmlformats.org/drawingml/2006/main">
            <a:off x="4800600" y="402907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32ACE2E-BE86-4FA1-8C47-14014E3CDAE1}"/>
              </a:ext>
            </a:extLst>
          </p:cNvPr>
          <p:cNvSpPr>
            <a:spLocks xmlns:a="http://schemas.openxmlformats.org/drawingml/2006/main" noGrp="1"/>
          </p:cNvSpPr>
          <p:nvPr/>
        </p:nvSpPr>
        <p:spPr>
          <a:xfrm xmlns:a="http://schemas.openxmlformats.org/drawingml/2006/main">
            <a:off x="5029200" y="3695700"/>
            <a:ext cx="18859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50" name="">
            <a:extLst xmlns:a="http://schemas.openxmlformats.org/drawingml/2006/main">
              <a:ext uri="{FF2B5EF4-FFF2-40B4-BE49-F238E27FC236}">
                <a16:creationId xmlns:a16="http://schemas.microsoft.com/office/drawing/2014/main" id="{F25B3952-1A0A-4E5F-8EB5-A95F4530339E}"/>
              </a:ext>
            </a:extLst>
          </p:cNvPr>
          <p:cNvSpPr>
            <a:spLocks xmlns:a="http://schemas.openxmlformats.org/drawingml/2006/main" noGrp="1"/>
          </p:cNvSpPr>
          <p:nvPr/>
        </p:nvSpPr>
        <p:spPr>
          <a:xfrm xmlns:a="http://schemas.openxmlformats.org/drawingml/2006/main">
            <a:off x="5162550" y="38481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Feature extraction</a:t>
            </a:r>
          </a:p>
        </p:txBody>
      </p:sp>
      <p:sp>
        <p:nvSpPr>
          <p:cNvPr id="51" name="">
            <a:extLst xmlns:a="http://schemas.openxmlformats.org/drawingml/2006/main">
              <a:ext uri="{FF2B5EF4-FFF2-40B4-BE49-F238E27FC236}">
                <a16:creationId xmlns:a16="http://schemas.microsoft.com/office/drawing/2014/main" id="{2714659E-B38E-4D88-9AB2-59673A63FFAA}"/>
              </a:ext>
            </a:extLst>
          </p:cNvPr>
          <p:cNvSpPr>
            <a:spLocks xmlns:a="http://schemas.openxmlformats.org/drawingml/2006/main" noGrp="1"/>
          </p:cNvSpPr>
          <p:nvPr/>
        </p:nvSpPr>
        <p:spPr>
          <a:xfrm xmlns:a="http://schemas.openxmlformats.org/drawingml/2006/main">
            <a:off x="5162550" y="4133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Aptos"/>
                <a:ea typeface="Aptos"/>
                <a:cs typeface="Aptos"/>
              </a:defRPr>
            </a:pPr>
            <a:r>
              <a:rPr sz="750" b="0">
                <a:solidFill>
                  <a:srgbClr val="65717A"/>
                </a:solidFill>
                <a:latin typeface="Aptos"/>
                <a:ea typeface="Aptos"/>
                <a:cs typeface="Aptos"/>
              </a:rPr>
              <a:t>same representation as APK evidence</a:t>
            </a:r>
          </a:p>
        </p:txBody>
      </p:sp>
      <p:sp>
        <p:nvSpPr>
          <p:cNvPr id="52" name="rule">
            <a:extLst xmlns:a="http://schemas.openxmlformats.org/drawingml/2006/main">
              <a:ext uri="{FF2B5EF4-FFF2-40B4-BE49-F238E27FC236}">
                <a16:creationId xmlns:a16="http://schemas.microsoft.com/office/drawing/2014/main" id="{8BDEE78F-0F1D-4968-9049-2ED9A9076BBF}"/>
              </a:ext>
            </a:extLst>
          </p:cNvPr>
          <p:cNvSpPr>
            <a:spLocks xmlns:a="http://schemas.openxmlformats.org/drawingml/2006/main" noGrp="1"/>
          </p:cNvSpPr>
          <p:nvPr/>
        </p:nvSpPr>
        <p:spPr>
          <a:xfrm xmlns:a="http://schemas.openxmlformats.org/drawingml/2006/main">
            <a:off x="6915150" y="4114800"/>
            <a:ext cx="1333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A8DE7AE4-A276-4C29-A068-7D7D738436F8}"/>
              </a:ext>
            </a:extLst>
          </p:cNvPr>
          <p:cNvSpPr>
            <a:spLocks xmlns:a="http://schemas.openxmlformats.org/drawingml/2006/main" noGrp="1"/>
          </p:cNvSpPr>
          <p:nvPr/>
        </p:nvSpPr>
        <p:spPr>
          <a:xfrm xmlns:a="http://schemas.openxmlformats.org/drawingml/2006/main">
            <a:off x="6972300" y="402907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713475B8-64B5-4904-BB82-2F1714DA9156}"/>
              </a:ext>
            </a:extLst>
          </p:cNvPr>
          <p:cNvSpPr>
            <a:spLocks xmlns:a="http://schemas.openxmlformats.org/drawingml/2006/main" noGrp="1"/>
          </p:cNvSpPr>
          <p:nvPr/>
        </p:nvSpPr>
        <p:spPr>
          <a:xfrm xmlns:a="http://schemas.openxmlformats.org/drawingml/2006/main">
            <a:off x="7200900" y="3695700"/>
            <a:ext cx="1885950" cy="81915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55" name="">
            <a:extLst xmlns:a="http://schemas.openxmlformats.org/drawingml/2006/main">
              <a:ext uri="{FF2B5EF4-FFF2-40B4-BE49-F238E27FC236}">
                <a16:creationId xmlns:a16="http://schemas.microsoft.com/office/drawing/2014/main" id="{29FED0E8-6D8E-4E3D-A70A-15A21B949724}"/>
              </a:ext>
            </a:extLst>
          </p:cNvPr>
          <p:cNvSpPr>
            <a:spLocks xmlns:a="http://schemas.openxmlformats.org/drawingml/2006/main" noGrp="1"/>
          </p:cNvSpPr>
          <p:nvPr/>
        </p:nvSpPr>
        <p:spPr>
          <a:xfrm xmlns:a="http://schemas.openxmlformats.org/drawingml/2006/main">
            <a:off x="7334250" y="38481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SQLite reference DB</a:t>
            </a:r>
          </a:p>
        </p:txBody>
      </p:sp>
      <p:sp>
        <p:nvSpPr>
          <p:cNvPr id="56" name="">
            <a:extLst xmlns:a="http://schemas.openxmlformats.org/drawingml/2006/main">
              <a:ext uri="{FF2B5EF4-FFF2-40B4-BE49-F238E27FC236}">
                <a16:creationId xmlns:a16="http://schemas.microsoft.com/office/drawing/2014/main" id="{896619F3-9466-4DF5-8DFB-DD2950FFD06E}"/>
              </a:ext>
            </a:extLst>
          </p:cNvPr>
          <p:cNvSpPr>
            <a:spLocks xmlns:a="http://schemas.openxmlformats.org/drawingml/2006/main" noGrp="1"/>
          </p:cNvSpPr>
          <p:nvPr/>
        </p:nvSpPr>
        <p:spPr>
          <a:xfrm xmlns:a="http://schemas.openxmlformats.org/drawingml/2006/main">
            <a:off x="7334250" y="4133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Aptos"/>
                <a:ea typeface="Aptos"/>
                <a:cs typeface="Aptos"/>
              </a:defRPr>
            </a:pPr>
            <a:r>
              <a:rPr sz="750" b="0">
                <a:solidFill>
                  <a:srgbClr val="65717A"/>
                </a:solidFill>
                <a:latin typeface="Aptos"/>
                <a:ea typeface="Aptos"/>
                <a:cs typeface="Aptos"/>
              </a:rPr>
              <a:t>versioned profiles + PURLs</a:t>
            </a:r>
          </a:p>
        </p:txBody>
      </p:sp>
      <p:sp>
        <p:nvSpPr>
          <p:cNvPr id="57" name="rule">
            <a:extLst xmlns:a="http://schemas.openxmlformats.org/drawingml/2006/main">
              <a:ext uri="{FF2B5EF4-FFF2-40B4-BE49-F238E27FC236}">
                <a16:creationId xmlns:a16="http://schemas.microsoft.com/office/drawing/2014/main" id="{C68A7543-C86D-4A78-8A9D-DB8E3ABE3757}"/>
              </a:ext>
            </a:extLst>
          </p:cNvPr>
          <p:cNvSpPr>
            <a:spLocks xmlns:a="http://schemas.openxmlformats.org/drawingml/2006/main" noGrp="1"/>
          </p:cNvSpPr>
          <p:nvPr/>
        </p:nvSpPr>
        <p:spPr>
          <a:xfrm xmlns:a="http://schemas.openxmlformats.org/drawingml/2006/main">
            <a:off x="6962775" y="2781300"/>
            <a:ext cx="19050" cy="4953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58" name="rule">
            <a:extLst xmlns:a="http://schemas.openxmlformats.org/drawingml/2006/main">
              <a:ext uri="{FF2B5EF4-FFF2-40B4-BE49-F238E27FC236}">
                <a16:creationId xmlns:a16="http://schemas.microsoft.com/office/drawing/2014/main" id="{BE4B2720-5809-4C06-8220-9E3B1C6D62E0}"/>
              </a:ext>
            </a:extLst>
          </p:cNvPr>
          <p:cNvSpPr>
            <a:spLocks xmlns:a="http://schemas.openxmlformats.org/drawingml/2006/main" noGrp="1"/>
          </p:cNvSpPr>
          <p:nvPr/>
        </p:nvSpPr>
        <p:spPr>
          <a:xfrm xmlns:a="http://schemas.openxmlformats.org/drawingml/2006/main">
            <a:off x="6962775" y="3276600"/>
            <a:ext cx="1209675"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59" name="rule">
            <a:extLst xmlns:a="http://schemas.openxmlformats.org/drawingml/2006/main">
              <a:ext uri="{FF2B5EF4-FFF2-40B4-BE49-F238E27FC236}">
                <a16:creationId xmlns:a16="http://schemas.microsoft.com/office/drawing/2014/main" id="{F20F901E-6647-4405-AF18-0B0695F8A400}"/>
              </a:ext>
            </a:extLst>
          </p:cNvPr>
          <p:cNvSpPr>
            <a:spLocks xmlns:a="http://schemas.openxmlformats.org/drawingml/2006/main" noGrp="1"/>
          </p:cNvSpPr>
          <p:nvPr/>
        </p:nvSpPr>
        <p:spPr>
          <a:xfrm xmlns:a="http://schemas.openxmlformats.org/drawingml/2006/main">
            <a:off x="8172450" y="3276600"/>
            <a:ext cx="19050" cy="4191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00EE9B66-5CB2-499D-9C85-8BF0D5C3FE6F}"/>
              </a:ext>
            </a:extLst>
          </p:cNvPr>
          <p:cNvSpPr>
            <a:spLocks xmlns:a="http://schemas.openxmlformats.org/drawingml/2006/main" noGrp="1"/>
          </p:cNvSpPr>
          <p:nvPr/>
        </p:nvSpPr>
        <p:spPr>
          <a:xfrm xmlns:a="http://schemas.openxmlformats.org/drawingml/2006/main">
            <a:off x="8343900" y="33147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4F7D76"/>
                </a:solidFill>
                <a:latin typeface="Aptos"/>
                <a:ea typeface="Aptos"/>
                <a:cs typeface="Aptos"/>
              </a:defRPr>
            </a:pPr>
            <a:r>
              <a:rPr sz="750" b="1">
                <a:solidFill>
                  <a:srgbClr val="4F7D76"/>
                </a:solidFill>
                <a:latin typeface="Aptos"/>
                <a:ea typeface="Aptos"/>
                <a:cs typeface="Aptos"/>
              </a:rPr>
              <a:t>candidate profiles feed the matcher</a:t>
            </a:r>
          </a:p>
        </p:txBody>
      </p:sp>
      <p:sp>
        <p:nvSpPr>
          <p:cNvPr id="61" name="">
            <a:extLst xmlns:a="http://schemas.openxmlformats.org/drawingml/2006/main">
              <a:ext uri="{FF2B5EF4-FFF2-40B4-BE49-F238E27FC236}">
                <a16:creationId xmlns:a16="http://schemas.microsoft.com/office/drawing/2014/main" id="{4308920A-FC40-4D2F-85BC-255F1CB5C3F4}"/>
              </a:ext>
            </a:extLst>
          </p:cNvPr>
          <p:cNvSpPr>
            <a:spLocks xmlns:a="http://schemas.openxmlformats.org/drawingml/2006/main" noGrp="1"/>
          </p:cNvSpPr>
          <p:nvPr/>
        </p:nvSpPr>
        <p:spPr>
          <a:xfrm xmlns:a="http://schemas.openxmlformats.org/drawingml/2006/main">
            <a:off x="685800" y="4953000"/>
            <a:ext cx="10820400" cy="7239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37809EE5-EF51-47B9-B0BD-F47C448DEC0A}"/>
              </a:ext>
            </a:extLst>
          </p:cNvPr>
          <p:cNvSpPr>
            <a:spLocks xmlns:a="http://schemas.openxmlformats.org/drawingml/2006/main" noGrp="1"/>
          </p:cNvSpPr>
          <p:nvPr/>
        </p:nvSpPr>
        <p:spPr>
          <a:xfrm xmlns:a="http://schemas.openxmlformats.org/drawingml/2006/main">
            <a:off x="876300" y="51244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WHY THIS SHAPE</a:t>
            </a:r>
          </a:p>
        </p:txBody>
      </p:sp>
      <p:sp>
        <p:nvSpPr>
          <p:cNvPr id="63" name="">
            <a:extLst xmlns:a="http://schemas.openxmlformats.org/drawingml/2006/main">
              <a:ext uri="{FF2B5EF4-FFF2-40B4-BE49-F238E27FC236}">
                <a16:creationId xmlns:a16="http://schemas.microsoft.com/office/drawing/2014/main" id="{82E252CD-9558-467B-9BF3-B093204FB08F}"/>
              </a:ext>
            </a:extLst>
          </p:cNvPr>
          <p:cNvSpPr>
            <a:spLocks xmlns:a="http://schemas.openxmlformats.org/drawingml/2006/main" noGrp="1"/>
          </p:cNvSpPr>
          <p:nvPr/>
        </p:nvSpPr>
        <p:spPr>
          <a:xfrm xmlns:a="http://schemas.openxmlformats.org/drawingml/2006/main">
            <a:off x="2571750" y="51054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FFFFFF"/>
                </a:solidFill>
                <a:latin typeface="Aptos"/>
                <a:ea typeface="Aptos"/>
                <a:cs typeface="Aptos"/>
              </a:defRPr>
            </a:pPr>
            <a:r>
              <a:rPr sz="1050" b="1">
                <a:solidFill>
                  <a:srgbClr val="FFFFFF"/>
                </a:solidFill>
                <a:latin typeface="Aptos"/>
                <a:ea typeface="Aptos"/>
                <a:cs typeface="Aptos"/>
              </a:rPr>
              <a:t>Static and reproducible</a:t>
            </a:r>
          </a:p>
        </p:txBody>
      </p:sp>
      <p:sp>
        <p:nvSpPr>
          <p:cNvPr id="64" name="">
            <a:extLst xmlns:a="http://schemas.openxmlformats.org/drawingml/2006/main">
              <a:ext uri="{FF2B5EF4-FFF2-40B4-BE49-F238E27FC236}">
                <a16:creationId xmlns:a16="http://schemas.microsoft.com/office/drawing/2014/main" id="{D176E160-1FF2-46FE-8242-AE50CB0BEA73}"/>
              </a:ext>
            </a:extLst>
          </p:cNvPr>
          <p:cNvSpPr>
            <a:spLocks xmlns:a="http://schemas.openxmlformats.org/drawingml/2006/main" noGrp="1"/>
          </p:cNvSpPr>
          <p:nvPr/>
        </p:nvSpPr>
        <p:spPr>
          <a:xfrm xmlns:a="http://schemas.openxmlformats.org/drawingml/2006/main">
            <a:off x="5048250" y="51054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FFFFFF"/>
                </a:solidFill>
                <a:latin typeface="Aptos"/>
                <a:ea typeface="Aptos"/>
                <a:cs typeface="Aptos"/>
              </a:defRPr>
            </a:pPr>
            <a:r>
              <a:rPr sz="1050" b="1">
                <a:solidFill>
                  <a:srgbClr val="FFFFFF"/>
                </a:solidFill>
                <a:latin typeface="Aptos"/>
                <a:ea typeface="Aptos"/>
                <a:cs typeface="Aptos"/>
              </a:rPr>
              <a:t>Same feature space</a:t>
            </a:r>
          </a:p>
        </p:txBody>
      </p:sp>
      <p:sp>
        <p:nvSpPr>
          <p:cNvPr id="65" name="">
            <a:extLst xmlns:a="http://schemas.openxmlformats.org/drawingml/2006/main">
              <a:ext uri="{FF2B5EF4-FFF2-40B4-BE49-F238E27FC236}">
                <a16:creationId xmlns:a16="http://schemas.microsoft.com/office/drawing/2014/main" id="{A3A2CA04-4BC5-4A4A-AED8-22F48A6B5E89}"/>
              </a:ext>
            </a:extLst>
          </p:cNvPr>
          <p:cNvSpPr>
            <a:spLocks xmlns:a="http://schemas.openxmlformats.org/drawingml/2006/main" noGrp="1"/>
          </p:cNvSpPr>
          <p:nvPr/>
        </p:nvSpPr>
        <p:spPr>
          <a:xfrm xmlns:a="http://schemas.openxmlformats.org/drawingml/2006/main">
            <a:off x="7429500" y="51054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FFFFFF"/>
                </a:solidFill>
                <a:latin typeface="Aptos"/>
                <a:ea typeface="Aptos"/>
                <a:cs typeface="Aptos"/>
              </a:defRPr>
            </a:pPr>
            <a:r>
              <a:rPr sz="1050" b="1">
                <a:solidFill>
                  <a:srgbClr val="FFFFFF"/>
                </a:solidFill>
                <a:latin typeface="Aptos"/>
                <a:ea typeface="Aptos"/>
                <a:cs typeface="Aptos"/>
              </a:rPr>
              <a:t>Confidence before CVE</a:t>
            </a:r>
          </a:p>
        </p:txBody>
      </p:sp>
      <p:sp>
        <p:nvSpPr>
          <p:cNvPr id="66" name="">
            <a:extLst xmlns:a="http://schemas.openxmlformats.org/drawingml/2006/main">
              <a:ext uri="{FF2B5EF4-FFF2-40B4-BE49-F238E27FC236}">
                <a16:creationId xmlns:a16="http://schemas.microsoft.com/office/drawing/2014/main" id="{2FD6262C-AB64-4DA4-A150-8C62E4C377A0}"/>
              </a:ext>
            </a:extLst>
          </p:cNvPr>
          <p:cNvSpPr>
            <a:spLocks xmlns:a="http://schemas.openxmlformats.org/drawingml/2006/main" noGrp="1"/>
          </p:cNvSpPr>
          <p:nvPr/>
        </p:nvSpPr>
        <p:spPr>
          <a:xfrm xmlns:a="http://schemas.openxmlformats.org/drawingml/2006/main">
            <a:off x="2571750" y="53721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C8CFD4"/>
                </a:solidFill>
                <a:latin typeface="Aptos"/>
                <a:ea typeface="Aptos"/>
                <a:cs typeface="Aptos"/>
              </a:defRPr>
            </a:pPr>
            <a:r>
              <a:rPr sz="750" b="0">
                <a:solidFill>
                  <a:srgbClr val="C8CFD4"/>
                </a:solidFill>
                <a:latin typeface="Aptos"/>
                <a:ea typeface="Aptos"/>
                <a:cs typeface="Aptos"/>
              </a:rPr>
              <a:t>Every decision can be traced to evidence and replayed.</a:t>
            </a:r>
          </a:p>
        </p:txBody>
      </p:sp>
      <p:sp>
        <p:nvSpPr>
          <p:cNvPr id="67" name="">
            <a:extLst xmlns:a="http://schemas.openxmlformats.org/drawingml/2006/main">
              <a:ext uri="{FF2B5EF4-FFF2-40B4-BE49-F238E27FC236}">
                <a16:creationId xmlns:a16="http://schemas.microsoft.com/office/drawing/2014/main" id="{A02D746D-4324-4377-9B47-A8041C581667}"/>
              </a:ext>
            </a:extLst>
          </p:cNvPr>
          <p:cNvSpPr>
            <a:spLocks xmlns:a="http://schemas.openxmlformats.org/drawingml/2006/main" noGrp="1"/>
          </p:cNvSpPr>
          <p:nvPr/>
        </p:nvSpPr>
        <p:spPr>
          <a:xfrm xmlns:a="http://schemas.openxmlformats.org/drawingml/2006/main">
            <a:off x="5048250" y="53721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C8CFD4"/>
                </a:solidFill>
                <a:latin typeface="Aptos"/>
                <a:ea typeface="Aptos"/>
                <a:cs typeface="Aptos"/>
              </a:defRPr>
            </a:pPr>
            <a:r>
              <a:rPr sz="750" b="0">
                <a:solidFill>
                  <a:srgbClr val="C8CFD4"/>
                </a:solidFill>
                <a:latin typeface="Aptos"/>
                <a:ea typeface="Aptos"/>
                <a:cs typeface="Aptos"/>
              </a:rPr>
              <a:t>APK and Maven artifacts are compared using equivalent DEX features.</a:t>
            </a:r>
          </a:p>
        </p:txBody>
      </p:sp>
      <p:sp>
        <p:nvSpPr>
          <p:cNvPr id="68" name="">
            <a:extLst xmlns:a="http://schemas.openxmlformats.org/drawingml/2006/main">
              <a:ext uri="{FF2B5EF4-FFF2-40B4-BE49-F238E27FC236}">
                <a16:creationId xmlns:a16="http://schemas.microsoft.com/office/drawing/2014/main" id="{7F9A096A-3E8A-4704-B5AD-09471B9D7CA6}"/>
              </a:ext>
            </a:extLst>
          </p:cNvPr>
          <p:cNvSpPr>
            <a:spLocks xmlns:a="http://schemas.openxmlformats.org/drawingml/2006/main" noGrp="1"/>
          </p:cNvSpPr>
          <p:nvPr/>
        </p:nvSpPr>
        <p:spPr>
          <a:xfrm xmlns:a="http://schemas.openxmlformats.org/drawingml/2006/main">
            <a:off x="7429500" y="5372100"/>
            <a:ext cx="295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C8CFD4"/>
                </a:solidFill>
                <a:latin typeface="Aptos"/>
                <a:ea typeface="Aptos"/>
                <a:cs typeface="Aptos"/>
              </a:defRPr>
            </a:pPr>
            <a:r>
              <a:rPr sz="750" b="0">
                <a:solidFill>
                  <a:srgbClr val="C8CFD4"/>
                </a:solidFill>
                <a:latin typeface="Aptos"/>
                <a:ea typeface="Aptos"/>
                <a:cs typeface="Aptos"/>
              </a:rPr>
              <a:t>Weak version evidence cannot become a confirmed vulnerability.</a:t>
            </a:r>
          </a:p>
        </p:txBody>
      </p:sp>
      <p:sp>
        <p:nvSpPr>
          <p:cNvPr id="69" name="">
            <a:extLst xmlns:a="http://schemas.openxmlformats.org/drawingml/2006/main">
              <a:ext uri="{FF2B5EF4-FFF2-40B4-BE49-F238E27FC236}">
                <a16:creationId xmlns:a16="http://schemas.microsoft.com/office/drawing/2014/main" id="{76C60417-D93C-4144-AE95-6C2B63DEEC20}"/>
              </a:ext>
            </a:extLst>
          </p:cNvPr>
          <p:cNvSpPr>
            <a:spLocks xmlns:a="http://schemas.openxmlformats.org/drawingml/2006/main" noGrp="1"/>
          </p:cNvSpPr>
          <p:nvPr/>
        </p:nvSpPr>
        <p:spPr>
          <a:xfrm xmlns:a="http://schemas.openxmlformats.org/drawingml/2006/main">
            <a:off x="685800" y="58674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9C6D7A5D-1446-42B3-92DD-54E935C972B2}"/>
              </a:ext>
            </a:extLst>
          </p:cNvPr>
          <p:cNvSpPr>
            <a:spLocks xmlns:a="http://schemas.openxmlformats.org/drawingml/2006/main" noGrp="1"/>
          </p:cNvSpPr>
          <p:nvPr/>
        </p:nvSpPr>
        <p:spPr>
          <a:xfrm xmlns:a="http://schemas.openxmlformats.org/drawingml/2006/main">
            <a:off x="819150" y="59340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map: src/apk_sbom/apk_extractor.py -&gt; dex_analyzer.py -&gt; matcher.py -&gt; sbom.py / vulnerability.py / report.py</a:t>
            </a:r>
          </a:p>
        </p:txBody>
      </p:sp>
      <p:sp>
        <p:nvSpPr>
          <p:cNvPr id="71" name="">
            <a:extLst xmlns:a="http://schemas.openxmlformats.org/drawingml/2006/main">
              <a:ext uri="{FF2B5EF4-FFF2-40B4-BE49-F238E27FC236}">
                <a16:creationId xmlns:a16="http://schemas.microsoft.com/office/drawing/2014/main" id="{741738F6-36D2-4A08-9266-7687D57C09D8}"/>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72159509"/>
      </p:ext>
    </p:extLst>
  </p:cSld>
</p:sld>
</file>

<file path=ppt/slides/slide7.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66A2731-339A-44E4-B9E7-FBD57E3255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5AC7CE3-7F04-46A7-B95D-1611CE8F12A1}"/>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47F9483-4E56-4A90-9B8D-C7DB36317553}"/>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365F7D"/>
                </a:solidFill>
                <a:latin typeface="Aptos"/>
                <a:ea typeface="Aptos"/>
                <a:cs typeface="Aptos"/>
              </a:defRPr>
            </a:pPr>
            <a:r>
              <a:rPr sz="900" b="1">
                <a:solidFill>
                  <a:srgbClr val="365F7D"/>
                </a:solidFill>
                <a:latin typeface="Aptos"/>
                <a:ea typeface="Aptos"/>
                <a:cs typeface="Aptos"/>
              </a:rPr>
              <a:t>COMPONENT 1  |  APK EXTRACTOR</a:t>
            </a:r>
          </a:p>
        </p:txBody>
      </p:sp>
      <p:sp>
        <p:nvSpPr>
          <p:cNvPr id="4" name="">
            <a:extLst xmlns:a="http://schemas.openxmlformats.org/drawingml/2006/main">
              <a:ext uri="{FF2B5EF4-FFF2-40B4-BE49-F238E27FC236}">
                <a16:creationId xmlns:a16="http://schemas.microsoft.com/office/drawing/2014/main" id="{E1799E2F-CF28-4F60-93B7-E8FCD0197D1D}"/>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APK extraction evolved from file listing into a forensic boundary detector</a:t>
            </a:r>
          </a:p>
        </p:txBody>
      </p:sp>
      <p:sp>
        <p:nvSpPr>
          <p:cNvPr id="5" name="">
            <a:extLst xmlns:a="http://schemas.openxmlformats.org/drawingml/2006/main">
              <a:ext uri="{FF2B5EF4-FFF2-40B4-BE49-F238E27FC236}">
                <a16:creationId xmlns:a16="http://schemas.microsoft.com/office/drawing/2014/main" id="{65039FB3-D70A-4E80-9871-17813E69B42D}"/>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8290A6"/>
                </a:solidFill>
                <a:latin typeface="Aptos"/>
                <a:ea typeface="Aptos"/>
                <a:cs typeface="Aptos"/>
              </a:defRPr>
            </a:pPr>
            <a:r>
              <a:rPr sz="900" b="1">
                <a:solidFill>
                  <a:srgbClr val="8290A6"/>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76F194C8-3535-4535-B969-3ED78F0E7EB5}"/>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ED1CCBE0-2047-4C36-AD6F-7D712ADC43CE}"/>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EE36D709-DA9E-4D9C-B22D-22BC7B05639D}"/>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ZIP inventory</a:t>
            </a:r>
          </a:p>
        </p:txBody>
      </p:sp>
      <p:sp>
        <p:nvSpPr>
          <p:cNvPr id="9" name="">
            <a:extLst xmlns:a="http://schemas.openxmlformats.org/drawingml/2006/main">
              <a:ext uri="{FF2B5EF4-FFF2-40B4-BE49-F238E27FC236}">
                <a16:creationId xmlns:a16="http://schemas.microsoft.com/office/drawing/2014/main" id="{0644382A-A9F3-48CD-9720-6E9EFA5A3674}"/>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AEBACC"/>
                </a:solidFill>
                <a:latin typeface="Aptos"/>
                <a:ea typeface="Aptos"/>
                <a:cs typeface="Aptos"/>
              </a:defRPr>
            </a:pPr>
            <a:r>
              <a:rPr sz="825" b="0">
                <a:solidFill>
                  <a:srgbClr val="AEBACC"/>
                </a:solidFill>
                <a:latin typeface="Aptos"/>
                <a:ea typeface="Aptos"/>
                <a:cs typeface="Aptos"/>
              </a:rPr>
              <a:t>List classes.dex and basic APK entries.</a:t>
            </a:r>
          </a:p>
        </p:txBody>
      </p:sp>
      <p:sp>
        <p:nvSpPr>
          <p:cNvPr id="10" name="rule">
            <a:extLst xmlns:a="http://schemas.openxmlformats.org/drawingml/2006/main">
              <a:ext uri="{FF2B5EF4-FFF2-40B4-BE49-F238E27FC236}">
                <a16:creationId xmlns:a16="http://schemas.microsoft.com/office/drawing/2014/main" id="{EEC4FD3E-145F-4781-9F02-A67EAACD1BF8}"/>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1C31E29-563A-4F7C-A684-BA56AAA194AA}"/>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6F3A738-09E8-47CF-92A8-0AF43228D382}"/>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9D8DED6E-91AC-4D66-8EF7-577A50B8DE81}"/>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92D1DC26-D17B-4D6E-BB24-C7548F2A122C}"/>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Metadata</a:t>
            </a:r>
          </a:p>
        </p:txBody>
      </p:sp>
      <p:sp>
        <p:nvSpPr>
          <p:cNvPr id="15" name="">
            <a:extLst xmlns:a="http://schemas.openxmlformats.org/drawingml/2006/main">
              <a:ext uri="{FF2B5EF4-FFF2-40B4-BE49-F238E27FC236}">
                <a16:creationId xmlns:a16="http://schemas.microsoft.com/office/drawing/2014/main" id="{58E9A91B-8C2B-4151-A2FC-EB76292B7D8A}"/>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AEBACC"/>
                </a:solidFill>
                <a:latin typeface="Aptos"/>
                <a:ea typeface="Aptos"/>
                <a:cs typeface="Aptos"/>
              </a:defRPr>
            </a:pPr>
            <a:r>
              <a:rPr sz="825" b="0">
                <a:solidFill>
                  <a:srgbClr val="AEBACC"/>
                </a:solidFill>
                <a:latin typeface="Aptos"/>
                <a:ea typeface="Aptos"/>
                <a:cs typeface="Aptos"/>
              </a:rPr>
              <a:t>Decode manifest, SDK levels, package and version.</a:t>
            </a:r>
          </a:p>
        </p:txBody>
      </p:sp>
      <p:sp>
        <p:nvSpPr>
          <p:cNvPr id="16" name="rule">
            <a:extLst xmlns:a="http://schemas.openxmlformats.org/drawingml/2006/main">
              <a:ext uri="{FF2B5EF4-FFF2-40B4-BE49-F238E27FC236}">
                <a16:creationId xmlns:a16="http://schemas.microsoft.com/office/drawing/2014/main" id="{87516926-CA51-49A8-A008-7E5FF106F870}"/>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D25775F-3033-482F-9D02-C81D73471328}"/>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4BA0E29-3F71-4BE5-8E3A-DF97707B9E34}"/>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F869D386-0A72-4AF5-A3FF-A7D29D6F9E30}"/>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D754D"/>
                </a:solidFill>
                <a:latin typeface="Aptos"/>
                <a:ea typeface="Aptos"/>
                <a:cs typeface="Aptos"/>
              </a:defRPr>
            </a:pPr>
            <a:r>
              <a:rPr sz="825" b="1">
                <a:solidFill>
                  <a:srgbClr val="8D754D"/>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809FAEE5-1880-4C12-A246-841810202F61}"/>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Native evidence</a:t>
            </a:r>
          </a:p>
        </p:txBody>
      </p:sp>
      <p:sp>
        <p:nvSpPr>
          <p:cNvPr id="21" name="">
            <a:extLst xmlns:a="http://schemas.openxmlformats.org/drawingml/2006/main">
              <a:ext uri="{FF2B5EF4-FFF2-40B4-BE49-F238E27FC236}">
                <a16:creationId xmlns:a16="http://schemas.microsoft.com/office/drawing/2014/main" id="{A0FA1C88-F649-4226-82A5-2AE221B4BDEB}"/>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AEBACC"/>
                </a:solidFill>
                <a:latin typeface="Aptos"/>
                <a:ea typeface="Aptos"/>
                <a:cs typeface="Aptos"/>
              </a:defRPr>
            </a:pPr>
            <a:r>
              <a:rPr sz="825" b="0">
                <a:solidFill>
                  <a:srgbClr val="AEBACC"/>
                </a:solidFill>
                <a:latin typeface="Aptos"/>
                <a:ea typeface="Aptos"/>
                <a:cs typeface="Aptos"/>
              </a:rPr>
              <a:t>Hash every .so file by ABI without inventing identity.</a:t>
            </a:r>
          </a:p>
        </p:txBody>
      </p:sp>
      <p:sp>
        <p:nvSpPr>
          <p:cNvPr id="22" name="rule">
            <a:extLst xmlns:a="http://schemas.openxmlformats.org/drawingml/2006/main">
              <a:ext uri="{FF2B5EF4-FFF2-40B4-BE49-F238E27FC236}">
                <a16:creationId xmlns:a16="http://schemas.microsoft.com/office/drawing/2014/main" id="{86008BFD-114D-4C45-9081-AC3FA839565A}"/>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EE71783-FCE3-48C7-83FB-9E2F98AEAA73}"/>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F75B1D4-A05F-42E8-94C6-90A6E65A367D}"/>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5" name="">
            <a:extLst xmlns:a="http://schemas.openxmlformats.org/drawingml/2006/main">
              <a:ext uri="{FF2B5EF4-FFF2-40B4-BE49-F238E27FC236}">
                <a16:creationId xmlns:a16="http://schemas.microsoft.com/office/drawing/2014/main" id="{3F25A7BA-9ADB-408A-9152-CFBDD8CF1116}"/>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A65C55"/>
                </a:solidFill>
                <a:latin typeface="Aptos"/>
                <a:ea typeface="Aptos"/>
                <a:cs typeface="Aptos"/>
              </a:defRPr>
            </a:pPr>
            <a:r>
              <a:rPr sz="825" b="1">
                <a:solidFill>
                  <a:srgbClr val="A65C55"/>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33C22517-72A7-4A55-B7C0-87D4676E7B85}"/>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Forensics</a:t>
            </a:r>
          </a:p>
        </p:txBody>
      </p:sp>
      <p:sp>
        <p:nvSpPr>
          <p:cNvPr id="27" name="">
            <a:extLst xmlns:a="http://schemas.openxmlformats.org/drawingml/2006/main">
              <a:ext uri="{FF2B5EF4-FFF2-40B4-BE49-F238E27FC236}">
                <a16:creationId xmlns:a16="http://schemas.microsoft.com/office/drawing/2014/main" id="{1435BF0A-62E0-4690-B5DA-03F1804A5949}"/>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AEBACC"/>
                </a:solidFill>
                <a:latin typeface="Aptos"/>
                <a:ea typeface="Aptos"/>
                <a:cs typeface="Aptos"/>
              </a:defRPr>
            </a:pPr>
            <a:r>
              <a:rPr sz="825" b="0">
                <a:solidFill>
                  <a:srgbClr val="AEBACC"/>
                </a:solidFill>
                <a:latin typeface="Aptos"/>
                <a:ea typeface="Aptos"/>
                <a:cs typeface="Aptos"/>
              </a:rPr>
              <a:t>Flag hidden DEX, opaque assets, and protector hints.</a:t>
            </a:r>
          </a:p>
        </p:txBody>
      </p:sp>
      <p:sp>
        <p:nvSpPr>
          <p:cNvPr id="28" name="">
            <a:extLst xmlns:a="http://schemas.openxmlformats.org/drawingml/2006/main">
              <a:ext uri="{FF2B5EF4-FFF2-40B4-BE49-F238E27FC236}">
                <a16:creationId xmlns:a16="http://schemas.microsoft.com/office/drawing/2014/main" id="{6FAB6CA0-3E10-4B7F-AF58-3121DCDC5D3D}"/>
              </a:ext>
            </a:extLst>
          </p:cNvPr>
          <p:cNvSpPr>
            <a:spLocks xmlns:a="http://schemas.openxmlformats.org/drawingml/2006/main" noGrp="1"/>
          </p:cNvSpPr>
          <p:nvPr/>
        </p:nvSpPr>
        <p:spPr>
          <a:xfrm xmlns:a="http://schemas.openxmlformats.org/drawingml/2006/main">
            <a:off x="685800" y="2552700"/>
            <a:ext cx="5143500" cy="2781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0724525E-89E6-4D76-A534-B20C63CB188B}"/>
              </a:ext>
            </a:extLst>
          </p:cNvPr>
          <p:cNvSpPr>
            <a:spLocks xmlns:a="http://schemas.openxmlformats.org/drawingml/2006/main" noGrp="1"/>
          </p:cNvSpPr>
          <p:nvPr/>
        </p:nvSpPr>
        <p:spPr>
          <a:xfrm xmlns:a="http://schemas.openxmlformats.org/drawingml/2006/main">
            <a:off x="914400" y="2781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365F7D"/>
                </a:solidFill>
                <a:latin typeface="Aptos"/>
                <a:ea typeface="Aptos"/>
                <a:cs typeface="Aptos"/>
              </a:defRPr>
            </a:pPr>
            <a:r>
              <a:rPr sz="900" b="1">
                <a:solidFill>
                  <a:srgbClr val="365F7D"/>
                </a:solidFill>
                <a:latin typeface="Aptos"/>
                <a:ea typeface="Aptos"/>
                <a:cs typeface="Aptos"/>
              </a:rPr>
              <a:t>CURRENT OUTPUT</a:t>
            </a:r>
          </a:p>
        </p:txBody>
      </p:sp>
      <p:sp>
        <p:nvSpPr>
          <p:cNvPr id="30" name="">
            <a:extLst xmlns:a="http://schemas.openxmlformats.org/drawingml/2006/main">
              <a:ext uri="{FF2B5EF4-FFF2-40B4-BE49-F238E27FC236}">
                <a16:creationId xmlns:a16="http://schemas.microsoft.com/office/drawing/2014/main" id="{26649A88-4801-4E40-BDE2-923180662F8F}"/>
              </a:ext>
            </a:extLst>
          </p:cNvPr>
          <p:cNvSpPr>
            <a:spLocks xmlns:a="http://schemas.openxmlformats.org/drawingml/2006/main" noGrp="1"/>
          </p:cNvSpPr>
          <p:nvPr/>
        </p:nvSpPr>
        <p:spPr>
          <a:xfrm xmlns:a="http://schemas.openxmlformats.org/drawingml/2006/main">
            <a:off x="933450" y="3238500"/>
            <a:ext cx="95250" cy="952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7668BB6-C85D-45DD-A201-0A6D78D36C3C}"/>
              </a:ext>
            </a:extLst>
          </p:cNvPr>
          <p:cNvSpPr>
            <a:spLocks xmlns:a="http://schemas.openxmlformats.org/drawingml/2006/main" noGrp="1"/>
          </p:cNvSpPr>
          <p:nvPr/>
        </p:nvSpPr>
        <p:spPr>
          <a:xfrm xmlns:a="http://schemas.openxmlformats.org/drawingml/2006/main">
            <a:off x="1162050" y="31623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C2CDDB"/>
                </a:solidFill>
                <a:latin typeface="Aptos"/>
                <a:ea typeface="Aptos"/>
                <a:cs typeface="Aptos"/>
              </a:defRPr>
            </a:pPr>
            <a:r>
              <a:rPr sz="975" b="0">
                <a:solidFill>
                  <a:srgbClr val="C2CDDB"/>
                </a:solidFill>
                <a:latin typeface="Aptos"/>
                <a:ea typeface="Aptos"/>
                <a:cs typeface="Aptos"/>
              </a:rPr>
              <a:t>APK SHA-256 and exact binary identity</a:t>
            </a:r>
          </a:p>
        </p:txBody>
      </p:sp>
      <p:sp>
        <p:nvSpPr>
          <p:cNvPr id="32" name="">
            <a:extLst xmlns:a="http://schemas.openxmlformats.org/drawingml/2006/main">
              <a:ext uri="{FF2B5EF4-FFF2-40B4-BE49-F238E27FC236}">
                <a16:creationId xmlns:a16="http://schemas.microsoft.com/office/drawing/2014/main" id="{B44BA3AE-826F-4126-9F55-8DACD213B00D}"/>
              </a:ext>
            </a:extLst>
          </p:cNvPr>
          <p:cNvSpPr>
            <a:spLocks xmlns:a="http://schemas.openxmlformats.org/drawingml/2006/main" noGrp="1"/>
          </p:cNvSpPr>
          <p:nvPr/>
        </p:nvSpPr>
        <p:spPr>
          <a:xfrm xmlns:a="http://schemas.openxmlformats.org/drawingml/2006/main">
            <a:off x="933450" y="3562350"/>
            <a:ext cx="95250" cy="952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2802061-173C-4DB5-AE4A-C9DE0CA7D5A8}"/>
              </a:ext>
            </a:extLst>
          </p:cNvPr>
          <p:cNvSpPr>
            <a:spLocks xmlns:a="http://schemas.openxmlformats.org/drawingml/2006/main" noGrp="1"/>
          </p:cNvSpPr>
          <p:nvPr/>
        </p:nvSpPr>
        <p:spPr>
          <a:xfrm xmlns:a="http://schemas.openxmlformats.org/drawingml/2006/main">
            <a:off x="1162050" y="34861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C2CDDB"/>
                </a:solidFill>
                <a:latin typeface="Aptos"/>
                <a:ea typeface="Aptos"/>
                <a:cs typeface="Aptos"/>
              </a:defRPr>
            </a:pPr>
            <a:r>
              <a:rPr sz="975" b="0">
                <a:solidFill>
                  <a:srgbClr val="C2CDDB"/>
                </a:solidFill>
                <a:latin typeface="Aptos"/>
                <a:ea typeface="Aptos"/>
                <a:cs typeface="Aptos"/>
              </a:rPr>
              <a:t>standard and nonstandard DEX paths</a:t>
            </a:r>
          </a:p>
        </p:txBody>
      </p:sp>
      <p:sp>
        <p:nvSpPr>
          <p:cNvPr id="34" name="">
            <a:extLst xmlns:a="http://schemas.openxmlformats.org/drawingml/2006/main">
              <a:ext uri="{FF2B5EF4-FFF2-40B4-BE49-F238E27FC236}">
                <a16:creationId xmlns:a16="http://schemas.microsoft.com/office/drawing/2014/main" id="{194D1E43-7F8D-44BE-B96D-57BA6F7AB415}"/>
              </a:ext>
            </a:extLst>
          </p:cNvPr>
          <p:cNvSpPr>
            <a:spLocks xmlns:a="http://schemas.openxmlformats.org/drawingml/2006/main" noGrp="1"/>
          </p:cNvSpPr>
          <p:nvPr/>
        </p:nvSpPr>
        <p:spPr>
          <a:xfrm xmlns:a="http://schemas.openxmlformats.org/drawingml/2006/main">
            <a:off x="933450" y="3886200"/>
            <a:ext cx="95250" cy="952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9D05EF90-E6DA-44DB-BC16-EAF9E3B7D092}"/>
              </a:ext>
            </a:extLst>
          </p:cNvPr>
          <p:cNvSpPr>
            <a:spLocks xmlns:a="http://schemas.openxmlformats.org/drawingml/2006/main" noGrp="1"/>
          </p:cNvSpPr>
          <p:nvPr/>
        </p:nvSpPr>
        <p:spPr>
          <a:xfrm xmlns:a="http://schemas.openxmlformats.org/drawingml/2006/main">
            <a:off x="1162050" y="38100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C2CDDB"/>
                </a:solidFill>
                <a:latin typeface="Aptos"/>
                <a:ea typeface="Aptos"/>
                <a:cs typeface="Aptos"/>
              </a:defRPr>
            </a:pPr>
            <a:r>
              <a:rPr sz="975" b="0">
                <a:solidFill>
                  <a:srgbClr val="C2CDDB"/>
                </a:solidFill>
                <a:latin typeface="Aptos"/>
                <a:ea typeface="Aptos"/>
                <a:cs typeface="Aptos"/>
              </a:rPr>
              <a:t>manifest package, version, SDK, permissions</a:t>
            </a:r>
          </a:p>
        </p:txBody>
      </p:sp>
      <p:sp>
        <p:nvSpPr>
          <p:cNvPr id="36" name="">
            <a:extLst xmlns:a="http://schemas.openxmlformats.org/drawingml/2006/main">
              <a:ext uri="{FF2B5EF4-FFF2-40B4-BE49-F238E27FC236}">
                <a16:creationId xmlns:a16="http://schemas.microsoft.com/office/drawing/2014/main" id="{77ACB479-745E-4EFE-8DC8-6A5CB29E0646}"/>
              </a:ext>
            </a:extLst>
          </p:cNvPr>
          <p:cNvSpPr>
            <a:spLocks xmlns:a="http://schemas.openxmlformats.org/drawingml/2006/main" noGrp="1"/>
          </p:cNvSpPr>
          <p:nvPr/>
        </p:nvSpPr>
        <p:spPr>
          <a:xfrm xmlns:a="http://schemas.openxmlformats.org/drawingml/2006/main">
            <a:off x="933450" y="421005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69145DEC-5E3F-4AC6-9268-76D0B371FEA7}"/>
              </a:ext>
            </a:extLst>
          </p:cNvPr>
          <p:cNvSpPr>
            <a:spLocks xmlns:a="http://schemas.openxmlformats.org/drawingml/2006/main" noGrp="1"/>
          </p:cNvSpPr>
          <p:nvPr/>
        </p:nvSpPr>
        <p:spPr>
          <a:xfrm xmlns:a="http://schemas.openxmlformats.org/drawingml/2006/main">
            <a:off x="1162050" y="41338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C2CDDB"/>
                </a:solidFill>
                <a:latin typeface="Aptos"/>
                <a:ea typeface="Aptos"/>
                <a:cs typeface="Aptos"/>
              </a:defRPr>
            </a:pPr>
            <a:r>
              <a:rPr sz="975" b="0">
                <a:solidFill>
                  <a:srgbClr val="C2CDDB"/>
                </a:solidFill>
                <a:latin typeface="Aptos"/>
                <a:ea typeface="Aptos"/>
                <a:cs typeface="Aptos"/>
              </a:rPr>
              <a:t>resources/assets counts</a:t>
            </a:r>
          </a:p>
        </p:txBody>
      </p:sp>
      <p:sp>
        <p:nvSpPr>
          <p:cNvPr id="38" name="">
            <a:extLst xmlns:a="http://schemas.openxmlformats.org/drawingml/2006/main">
              <a:ext uri="{FF2B5EF4-FFF2-40B4-BE49-F238E27FC236}">
                <a16:creationId xmlns:a16="http://schemas.microsoft.com/office/drawing/2014/main" id="{8A522A1A-ECF0-493D-9D6B-9C0760AD9F65}"/>
              </a:ext>
            </a:extLst>
          </p:cNvPr>
          <p:cNvSpPr>
            <a:spLocks xmlns:a="http://schemas.openxmlformats.org/drawingml/2006/main" noGrp="1"/>
          </p:cNvSpPr>
          <p:nvPr/>
        </p:nvSpPr>
        <p:spPr>
          <a:xfrm xmlns:a="http://schemas.openxmlformats.org/drawingml/2006/main">
            <a:off x="933450" y="453390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AB508126-4A09-4195-8861-8A9BE1162F92}"/>
              </a:ext>
            </a:extLst>
          </p:cNvPr>
          <p:cNvSpPr>
            <a:spLocks xmlns:a="http://schemas.openxmlformats.org/drawingml/2006/main" noGrp="1"/>
          </p:cNvSpPr>
          <p:nvPr/>
        </p:nvSpPr>
        <p:spPr>
          <a:xfrm xmlns:a="http://schemas.openxmlformats.org/drawingml/2006/main">
            <a:off x="1162050" y="44577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C2CDDB"/>
                </a:solidFill>
                <a:latin typeface="Aptos"/>
                <a:ea typeface="Aptos"/>
                <a:cs typeface="Aptos"/>
              </a:defRPr>
            </a:pPr>
            <a:r>
              <a:rPr sz="975" b="0">
                <a:solidFill>
                  <a:srgbClr val="C2CDDB"/>
                </a:solidFill>
                <a:latin typeface="Aptos"/>
                <a:ea typeface="Aptos"/>
                <a:cs typeface="Aptos"/>
              </a:rPr>
              <a:t>native files, ABI, size, SHA-256</a:t>
            </a:r>
          </a:p>
        </p:txBody>
      </p:sp>
      <p:sp>
        <p:nvSpPr>
          <p:cNvPr id="40" name="">
            <a:extLst xmlns:a="http://schemas.openxmlformats.org/drawingml/2006/main">
              <a:ext uri="{FF2B5EF4-FFF2-40B4-BE49-F238E27FC236}">
                <a16:creationId xmlns:a16="http://schemas.microsoft.com/office/drawing/2014/main" id="{432C5A3F-D6DE-4B95-8A8B-B6EF03D0E89B}"/>
              </a:ext>
            </a:extLst>
          </p:cNvPr>
          <p:cNvSpPr>
            <a:spLocks xmlns:a="http://schemas.openxmlformats.org/drawingml/2006/main" noGrp="1"/>
          </p:cNvSpPr>
          <p:nvPr/>
        </p:nvSpPr>
        <p:spPr>
          <a:xfrm xmlns:a="http://schemas.openxmlformats.org/drawingml/2006/main">
            <a:off x="933450" y="485775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F024999-4B22-45EC-8D6F-CF348F662404}"/>
              </a:ext>
            </a:extLst>
          </p:cNvPr>
          <p:cNvSpPr>
            <a:spLocks xmlns:a="http://schemas.openxmlformats.org/drawingml/2006/main" noGrp="1"/>
          </p:cNvSpPr>
          <p:nvPr/>
        </p:nvSpPr>
        <p:spPr>
          <a:xfrm xmlns:a="http://schemas.openxmlformats.org/drawingml/2006/main">
            <a:off x="1162050" y="47815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C2CDDB"/>
                </a:solidFill>
                <a:latin typeface="Aptos"/>
                <a:ea typeface="Aptos"/>
                <a:cs typeface="Aptos"/>
              </a:defRPr>
            </a:pPr>
            <a:r>
              <a:rPr sz="975" b="0">
                <a:solidFill>
                  <a:srgbClr val="C2CDDB"/>
                </a:solidFill>
                <a:latin typeface="Aptos"/>
                <a:ea typeface="Aptos"/>
                <a:cs typeface="Aptos"/>
              </a:rPr>
              <a:t>extraction-risk indicators</a:t>
            </a:r>
          </a:p>
        </p:txBody>
      </p:sp>
      <p:sp>
        <p:nvSpPr>
          <p:cNvPr id="42" name="">
            <a:extLst xmlns:a="http://schemas.openxmlformats.org/drawingml/2006/main">
              <a:ext uri="{FF2B5EF4-FFF2-40B4-BE49-F238E27FC236}">
                <a16:creationId xmlns:a16="http://schemas.microsoft.com/office/drawing/2014/main" id="{28B631E6-45F2-46BA-B5D1-B8512CB45493}"/>
              </a:ext>
            </a:extLst>
          </p:cNvPr>
          <p:cNvSpPr>
            <a:spLocks xmlns:a="http://schemas.openxmlformats.org/drawingml/2006/main" noGrp="1"/>
          </p:cNvSpPr>
          <p:nvPr/>
        </p:nvSpPr>
        <p:spPr>
          <a:xfrm xmlns:a="http://schemas.openxmlformats.org/drawingml/2006/main">
            <a:off x="6115050" y="2552700"/>
            <a:ext cx="5391150" cy="27813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CC773F28-8174-4A11-BDE1-EA06531E41BD}"/>
              </a:ext>
            </a:extLst>
          </p:cNvPr>
          <p:cNvSpPr>
            <a:spLocks xmlns:a="http://schemas.openxmlformats.org/drawingml/2006/main" noGrp="1"/>
          </p:cNvSpPr>
          <p:nvPr/>
        </p:nvSpPr>
        <p:spPr>
          <a:xfrm xmlns:a="http://schemas.openxmlformats.org/drawingml/2006/main">
            <a:off x="6362700" y="2781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A65C55"/>
                </a:solidFill>
                <a:latin typeface="Aptos"/>
                <a:ea typeface="Aptos"/>
                <a:cs typeface="Aptos"/>
              </a:defRPr>
            </a:pPr>
            <a:r>
              <a:rPr sz="900" b="1">
                <a:solidFill>
                  <a:srgbClr val="A65C55"/>
                </a:solidFill>
                <a:latin typeface="Aptos"/>
                <a:ea typeface="Aptos"/>
                <a:cs typeface="Aptos"/>
              </a:rPr>
              <a:t>WHY THIS CHOICE</a:t>
            </a:r>
          </a:p>
        </p:txBody>
      </p:sp>
      <p:sp>
        <p:nvSpPr>
          <p:cNvPr id="44" name="">
            <a:extLst xmlns:a="http://schemas.openxmlformats.org/drawingml/2006/main">
              <a:ext uri="{FF2B5EF4-FFF2-40B4-BE49-F238E27FC236}">
                <a16:creationId xmlns:a16="http://schemas.microsoft.com/office/drawing/2014/main" id="{7C29FE5E-6C32-4595-B1A8-723744AE2DFC}"/>
              </a:ext>
            </a:extLst>
          </p:cNvPr>
          <p:cNvSpPr>
            <a:spLocks xmlns:a="http://schemas.openxmlformats.org/drawingml/2006/main" noGrp="1"/>
          </p:cNvSpPr>
          <p:nvPr/>
        </p:nvSpPr>
        <p:spPr>
          <a:xfrm xmlns:a="http://schemas.openxmlformats.org/drawingml/2006/main">
            <a:off x="6362700" y="31432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202A33"/>
                </a:solidFill>
                <a:latin typeface="Aptos"/>
                <a:ea typeface="Aptos"/>
                <a:cs typeface="Aptos"/>
              </a:defRPr>
            </a:pPr>
            <a:r>
              <a:rPr sz="1350" b="1">
                <a:solidFill>
                  <a:srgbClr val="202A33"/>
                </a:solidFill>
                <a:latin typeface="Aptos"/>
                <a:ea typeface="Aptos"/>
                <a:cs typeface="Aptos"/>
              </a:rPr>
              <a:t>The extractor must establish what evidence is actually present before matching begins.</a:t>
            </a:r>
          </a:p>
        </p:txBody>
      </p:sp>
      <p:sp>
        <p:nvSpPr>
          <p:cNvPr id="45" name="">
            <a:extLst xmlns:a="http://schemas.openxmlformats.org/drawingml/2006/main">
              <a:ext uri="{FF2B5EF4-FFF2-40B4-BE49-F238E27FC236}">
                <a16:creationId xmlns:a16="http://schemas.microsoft.com/office/drawing/2014/main" id="{0013B0A7-D726-4E62-9084-AE7269F38E43}"/>
              </a:ext>
            </a:extLst>
          </p:cNvPr>
          <p:cNvSpPr>
            <a:spLocks xmlns:a="http://schemas.openxmlformats.org/drawingml/2006/main" noGrp="1"/>
          </p:cNvSpPr>
          <p:nvPr/>
        </p:nvSpPr>
        <p:spPr>
          <a:xfrm xmlns:a="http://schemas.openxmlformats.org/drawingml/2006/main">
            <a:off x="6362700" y="3829050"/>
            <a:ext cx="1619250" cy="2667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46" name="">
            <a:extLst xmlns:a="http://schemas.openxmlformats.org/drawingml/2006/main">
              <a:ext uri="{FF2B5EF4-FFF2-40B4-BE49-F238E27FC236}">
                <a16:creationId xmlns:a16="http://schemas.microsoft.com/office/drawing/2014/main" id="{48D12A5D-FE3E-4894-8C29-B40E15904516}"/>
              </a:ext>
            </a:extLst>
          </p:cNvPr>
          <p:cNvSpPr>
            <a:spLocks xmlns:a="http://schemas.openxmlformats.org/drawingml/2006/main" noGrp="1"/>
          </p:cNvSpPr>
          <p:nvPr/>
        </p:nvSpPr>
        <p:spPr>
          <a:xfrm xmlns:a="http://schemas.openxmlformats.org/drawingml/2006/main">
            <a:off x="6429375" y="388620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365F7D"/>
                </a:solidFill>
                <a:latin typeface="Aptos"/>
                <a:ea typeface="Aptos"/>
                <a:cs typeface="Aptos"/>
              </a:defRPr>
            </a:pPr>
            <a:r>
              <a:rPr sz="825" b="1">
                <a:solidFill>
                  <a:srgbClr val="365F7D"/>
                </a:solidFill>
                <a:latin typeface="Aptos"/>
                <a:ea typeface="Aptos"/>
                <a:cs typeface="Aptos"/>
              </a:rPr>
              <a:t>No decompiler dependency</a:t>
            </a:r>
          </a:p>
        </p:txBody>
      </p:sp>
      <p:sp>
        <p:nvSpPr>
          <p:cNvPr id="47" name="">
            <a:extLst xmlns:a="http://schemas.openxmlformats.org/drawingml/2006/main">
              <a:ext uri="{FF2B5EF4-FFF2-40B4-BE49-F238E27FC236}">
                <a16:creationId xmlns:a16="http://schemas.microsoft.com/office/drawing/2014/main" id="{9095ACAA-8E30-424D-91E2-09AB7B7EFB87}"/>
              </a:ext>
            </a:extLst>
          </p:cNvPr>
          <p:cNvSpPr>
            <a:spLocks xmlns:a="http://schemas.openxmlformats.org/drawingml/2006/main" noGrp="1"/>
          </p:cNvSpPr>
          <p:nvPr/>
        </p:nvSpPr>
        <p:spPr>
          <a:xfrm xmlns:a="http://schemas.openxmlformats.org/drawingml/2006/main">
            <a:off x="8115300" y="38290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65717A"/>
                </a:solidFill>
                <a:latin typeface="Aptos"/>
                <a:ea typeface="Aptos"/>
                <a:cs typeface="Aptos"/>
              </a:defRPr>
            </a:pPr>
            <a:r>
              <a:rPr sz="825" b="0">
                <a:solidFill>
                  <a:srgbClr val="65717A"/>
                </a:solidFill>
                <a:latin typeface="Aptos"/>
                <a:ea typeface="Aptos"/>
                <a:cs typeface="Aptos"/>
              </a:rPr>
              <a:t>Uses the APK ZIP surface and Androguard only where binary XML/DEX parsing is needed.</a:t>
            </a:r>
          </a:p>
        </p:txBody>
      </p:sp>
      <p:sp>
        <p:nvSpPr>
          <p:cNvPr id="48" name="">
            <a:extLst xmlns:a="http://schemas.openxmlformats.org/drawingml/2006/main">
              <a:ext uri="{FF2B5EF4-FFF2-40B4-BE49-F238E27FC236}">
                <a16:creationId xmlns:a16="http://schemas.microsoft.com/office/drawing/2014/main" id="{7C0D9F98-A0E6-4D43-A47C-7338CD978265}"/>
              </a:ext>
            </a:extLst>
          </p:cNvPr>
          <p:cNvSpPr>
            <a:spLocks xmlns:a="http://schemas.openxmlformats.org/drawingml/2006/main" noGrp="1"/>
          </p:cNvSpPr>
          <p:nvPr/>
        </p:nvSpPr>
        <p:spPr>
          <a:xfrm xmlns:a="http://schemas.openxmlformats.org/drawingml/2006/main">
            <a:off x="6362700" y="4305300"/>
            <a:ext cx="16192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49" name="">
            <a:extLst xmlns:a="http://schemas.openxmlformats.org/drawingml/2006/main">
              <a:ext uri="{FF2B5EF4-FFF2-40B4-BE49-F238E27FC236}">
                <a16:creationId xmlns:a16="http://schemas.microsoft.com/office/drawing/2014/main" id="{6F118B82-7E01-4E46-B11C-AD3319A2F109}"/>
              </a:ext>
            </a:extLst>
          </p:cNvPr>
          <p:cNvSpPr>
            <a:spLocks xmlns:a="http://schemas.openxmlformats.org/drawingml/2006/main" noGrp="1"/>
          </p:cNvSpPr>
          <p:nvPr/>
        </p:nvSpPr>
        <p:spPr>
          <a:xfrm xmlns:a="http://schemas.openxmlformats.org/drawingml/2006/main">
            <a:off x="6429375" y="436245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Boundary honesty</a:t>
            </a:r>
          </a:p>
        </p:txBody>
      </p:sp>
      <p:sp>
        <p:nvSpPr>
          <p:cNvPr id="50" name="">
            <a:extLst xmlns:a="http://schemas.openxmlformats.org/drawingml/2006/main">
              <a:ext uri="{FF2B5EF4-FFF2-40B4-BE49-F238E27FC236}">
                <a16:creationId xmlns:a16="http://schemas.microsoft.com/office/drawing/2014/main" id="{483E3E75-05DF-40E0-BF3A-5B2E40F5183A}"/>
              </a:ext>
            </a:extLst>
          </p:cNvPr>
          <p:cNvSpPr>
            <a:spLocks xmlns:a="http://schemas.openxmlformats.org/drawingml/2006/main" noGrp="1"/>
          </p:cNvSpPr>
          <p:nvPr/>
        </p:nvSpPr>
        <p:spPr>
          <a:xfrm xmlns:a="http://schemas.openxmlformats.org/drawingml/2006/main">
            <a:off x="8115300" y="43053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65717A"/>
                </a:solidFill>
                <a:latin typeface="Aptos"/>
                <a:ea typeface="Aptos"/>
                <a:cs typeface="Aptos"/>
              </a:defRPr>
            </a:pPr>
            <a:r>
              <a:rPr sz="825" b="0">
                <a:solidFill>
                  <a:srgbClr val="65717A"/>
                </a:solidFill>
                <a:latin typeface="Aptos"/>
                <a:ea typeface="Aptos"/>
                <a:cs typeface="Aptos"/>
              </a:rPr>
              <a:t>Native and hidden-code cases become explicit limitations instead of false Maven claims.</a:t>
            </a:r>
          </a:p>
        </p:txBody>
      </p:sp>
      <p:sp>
        <p:nvSpPr>
          <p:cNvPr id="51" name="">
            <a:extLst xmlns:a="http://schemas.openxmlformats.org/drawingml/2006/main">
              <a:ext uri="{FF2B5EF4-FFF2-40B4-BE49-F238E27FC236}">
                <a16:creationId xmlns:a16="http://schemas.microsoft.com/office/drawing/2014/main" id="{29FE1FD0-B82D-4771-A799-61786C73B054}"/>
              </a:ext>
            </a:extLst>
          </p:cNvPr>
          <p:cNvSpPr>
            <a:spLocks xmlns:a="http://schemas.openxmlformats.org/drawingml/2006/main" noGrp="1"/>
          </p:cNvSpPr>
          <p:nvPr/>
        </p:nvSpPr>
        <p:spPr>
          <a:xfrm xmlns:a="http://schemas.openxmlformats.org/drawingml/2006/main">
            <a:off x="6362700" y="4781550"/>
            <a:ext cx="1619250" cy="2667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52" name="">
            <a:extLst xmlns:a="http://schemas.openxmlformats.org/drawingml/2006/main">
              <a:ext uri="{FF2B5EF4-FFF2-40B4-BE49-F238E27FC236}">
                <a16:creationId xmlns:a16="http://schemas.microsoft.com/office/drawing/2014/main" id="{D7AAEB1D-AE4D-4DC8-972B-B69AC9703345}"/>
              </a:ext>
            </a:extLst>
          </p:cNvPr>
          <p:cNvSpPr>
            <a:spLocks xmlns:a="http://schemas.openxmlformats.org/drawingml/2006/main" noGrp="1"/>
          </p:cNvSpPr>
          <p:nvPr/>
        </p:nvSpPr>
        <p:spPr>
          <a:xfrm xmlns:a="http://schemas.openxmlformats.org/drawingml/2006/main">
            <a:off x="6429375" y="483870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365F7D"/>
                </a:solidFill>
                <a:latin typeface="Aptos"/>
                <a:ea typeface="Aptos"/>
                <a:cs typeface="Aptos"/>
              </a:defRPr>
            </a:pPr>
            <a:r>
              <a:rPr sz="825" b="1">
                <a:solidFill>
                  <a:srgbClr val="365F7D"/>
                </a:solidFill>
                <a:latin typeface="Aptos"/>
                <a:ea typeface="Aptos"/>
                <a:cs typeface="Aptos"/>
              </a:rPr>
              <a:t>Multidex first-class</a:t>
            </a:r>
          </a:p>
        </p:txBody>
      </p:sp>
      <p:sp>
        <p:nvSpPr>
          <p:cNvPr id="53" name="">
            <a:extLst xmlns:a="http://schemas.openxmlformats.org/drawingml/2006/main">
              <a:ext uri="{FF2B5EF4-FFF2-40B4-BE49-F238E27FC236}">
                <a16:creationId xmlns:a16="http://schemas.microsoft.com/office/drawing/2014/main" id="{81CC4CFD-EAC1-4147-B571-C64B9ABDA852}"/>
              </a:ext>
            </a:extLst>
          </p:cNvPr>
          <p:cNvSpPr>
            <a:spLocks xmlns:a="http://schemas.openxmlformats.org/drawingml/2006/main" noGrp="1"/>
          </p:cNvSpPr>
          <p:nvPr/>
        </p:nvSpPr>
        <p:spPr>
          <a:xfrm xmlns:a="http://schemas.openxmlformats.org/drawingml/2006/main">
            <a:off x="8115300" y="47815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65717A"/>
                </a:solidFill>
                <a:latin typeface="Aptos"/>
                <a:ea typeface="Aptos"/>
                <a:cs typeface="Aptos"/>
              </a:defRPr>
            </a:pPr>
            <a:r>
              <a:rPr sz="825" b="0">
                <a:solidFill>
                  <a:srgbClr val="65717A"/>
                </a:solidFill>
                <a:latin typeface="Aptos"/>
                <a:ea typeface="Aptos"/>
                <a:cs typeface="Aptos"/>
              </a:rPr>
              <a:t>All standard classes*.dex files are carried into later analysis.</a:t>
            </a:r>
          </a:p>
        </p:txBody>
      </p:sp>
      <p:sp>
        <p:nvSpPr>
          <p:cNvPr id="54" name="">
            <a:extLst xmlns:a="http://schemas.openxmlformats.org/drawingml/2006/main">
              <a:ext uri="{FF2B5EF4-FFF2-40B4-BE49-F238E27FC236}">
                <a16:creationId xmlns:a16="http://schemas.microsoft.com/office/drawing/2014/main" id="{5B60B9E2-2803-4F22-8F6F-4DDF35F79E8D}"/>
              </a:ext>
            </a:extLst>
          </p:cNvPr>
          <p:cNvSpPr>
            <a:spLocks xmlns:a="http://schemas.openxmlformats.org/drawingml/2006/main" noGrp="1"/>
          </p:cNvSpPr>
          <p:nvPr/>
        </p:nvSpPr>
        <p:spPr>
          <a:xfrm xmlns:a="http://schemas.openxmlformats.org/drawingml/2006/main">
            <a:off x="685800" y="55626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99D1CA7A-4F72-4ED0-A1E6-ACF0D5840CBF}"/>
              </a:ext>
            </a:extLst>
          </p:cNvPr>
          <p:cNvSpPr>
            <a:spLocks xmlns:a="http://schemas.openxmlformats.org/drawingml/2006/main" noGrp="1"/>
          </p:cNvSpPr>
          <p:nvPr/>
        </p:nvSpPr>
        <p:spPr>
          <a:xfrm xmlns:a="http://schemas.openxmlformats.org/drawingml/2006/main">
            <a:off x="819150" y="56292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Implementation: src/apk_sbom/apk_extractor.py  -&gt;  inspect_apk(), build_forensic_summary(), apk_indicators()</a:t>
            </a:r>
          </a:p>
        </p:txBody>
      </p:sp>
      <p:sp>
        <p:nvSpPr>
          <p:cNvPr id="56" name="">
            <a:extLst xmlns:a="http://schemas.openxmlformats.org/drawingml/2006/main">
              <a:ext uri="{FF2B5EF4-FFF2-40B4-BE49-F238E27FC236}">
                <a16:creationId xmlns:a16="http://schemas.microsoft.com/office/drawing/2014/main" id="{91669224-F4A1-4C16-84B6-B2CF96568A6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967564986"/>
      </p:ext>
    </p:extLst>
  </p:cSld>
</p:sld>
</file>

<file path=ppt/slides/slide8.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6CFBB91-D727-421E-8CB3-141D03D0B409}"/>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5F73"/>
                </a:solidFill>
                <a:latin typeface="Aptos"/>
                <a:ea typeface="Aptos"/>
                <a:cs typeface="Aptos"/>
              </a:defRPr>
            </a:pPr>
            <a:r>
              <a:rPr sz="900" b="1">
                <a:solidFill>
                  <a:srgbClr val="655F73"/>
                </a:solidFill>
                <a:latin typeface="Aptos"/>
                <a:ea typeface="Aptos"/>
                <a:cs typeface="Aptos"/>
              </a:rPr>
              <a:t>COMPONENT 2  |  DEX ANALYZER</a:t>
            </a:r>
          </a:p>
        </p:txBody>
      </p:sp>
      <p:sp>
        <p:nvSpPr>
          <p:cNvPr id="2" name="">
            <a:extLst xmlns:a="http://schemas.openxmlformats.org/drawingml/2006/main">
              <a:ext uri="{FF2B5EF4-FFF2-40B4-BE49-F238E27FC236}">
                <a16:creationId xmlns:a16="http://schemas.microsoft.com/office/drawing/2014/main" id="{A8A17533-B524-4AED-B759-EF34D09DA276}"/>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DEX analysis grew from coarse counts into reusable multi-scale evidence</a:t>
            </a:r>
          </a:p>
        </p:txBody>
      </p:sp>
      <p:sp>
        <p:nvSpPr>
          <p:cNvPr id="3" name="">
            <a:extLst xmlns:a="http://schemas.openxmlformats.org/drawingml/2006/main">
              <a:ext uri="{FF2B5EF4-FFF2-40B4-BE49-F238E27FC236}">
                <a16:creationId xmlns:a16="http://schemas.microsoft.com/office/drawing/2014/main" id="{4DCCF327-16AB-4905-B352-FC458DAF8AEE}"/>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11CA7271-D3F4-40EF-8C7F-8D4D76F644A1}"/>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5" name="">
            <a:extLst xmlns:a="http://schemas.openxmlformats.org/drawingml/2006/main">
              <a:ext uri="{FF2B5EF4-FFF2-40B4-BE49-F238E27FC236}">
                <a16:creationId xmlns:a16="http://schemas.microsoft.com/office/drawing/2014/main" id="{41F660A6-B540-415E-B555-03BF6B5DDCB9}"/>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2E8716D4-6A1A-45C6-AEDC-77A265A477C1}"/>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Coarse</a:t>
            </a:r>
          </a:p>
        </p:txBody>
      </p:sp>
      <p:sp>
        <p:nvSpPr>
          <p:cNvPr id="7" name="">
            <a:extLst xmlns:a="http://schemas.openxmlformats.org/drawingml/2006/main">
              <a:ext uri="{FF2B5EF4-FFF2-40B4-BE49-F238E27FC236}">
                <a16:creationId xmlns:a16="http://schemas.microsoft.com/office/drawing/2014/main" id="{FF85B655-D3AB-4AF8-9813-A18583717653}"/>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65717A"/>
                </a:solidFill>
                <a:latin typeface="Aptos"/>
                <a:ea typeface="Aptos"/>
                <a:cs typeface="Aptos"/>
              </a:defRPr>
            </a:pPr>
            <a:r>
              <a:rPr sz="825" b="0">
                <a:solidFill>
                  <a:srgbClr val="65717A"/>
                </a:solidFill>
                <a:latin typeface="Aptos"/>
                <a:ea typeface="Aptos"/>
                <a:cs typeface="Aptos"/>
              </a:rPr>
              <a:t>Packages, class counts, method counts, opcode histogram.</a:t>
            </a:r>
          </a:p>
        </p:txBody>
      </p:sp>
      <p:sp>
        <p:nvSpPr>
          <p:cNvPr id="8" name="rule">
            <a:extLst xmlns:a="http://schemas.openxmlformats.org/drawingml/2006/main">
              <a:ext uri="{FF2B5EF4-FFF2-40B4-BE49-F238E27FC236}">
                <a16:creationId xmlns:a16="http://schemas.microsoft.com/office/drawing/2014/main" id="{6DFD0105-1E66-4B32-BB8B-502390987E79}"/>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10B6D51-98E4-4409-827C-1FE1B86A7C40}"/>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1B1E5A8-128E-475F-A954-742A8CABECBA}"/>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0E7ACAB8-6A31-467F-B74B-36527710E300}"/>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5DB82D14-6780-485A-A472-45913B8AC31C}"/>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Identity</a:t>
            </a:r>
          </a:p>
        </p:txBody>
      </p:sp>
      <p:sp>
        <p:nvSpPr>
          <p:cNvPr id="13" name="">
            <a:extLst xmlns:a="http://schemas.openxmlformats.org/drawingml/2006/main">
              <a:ext uri="{FF2B5EF4-FFF2-40B4-BE49-F238E27FC236}">
                <a16:creationId xmlns:a16="http://schemas.microsoft.com/office/drawing/2014/main" id="{3E09FF88-0F60-451C-8ED3-F2C0510084B3}"/>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65717A"/>
                </a:solidFill>
                <a:latin typeface="Aptos"/>
                <a:ea typeface="Aptos"/>
                <a:cs typeface="Aptos"/>
              </a:defRPr>
            </a:pPr>
            <a:r>
              <a:rPr sz="825" b="0">
                <a:solidFill>
                  <a:srgbClr val="65717A"/>
                </a:solidFill>
                <a:latin typeface="Aptos"/>
                <a:ea typeface="Aptos"/>
                <a:cs typeface="Aptos"/>
              </a:rPr>
              <a:t>Class descriptors, methods, fields, API references.</a:t>
            </a:r>
          </a:p>
        </p:txBody>
      </p:sp>
      <p:sp>
        <p:nvSpPr>
          <p:cNvPr id="14" name="rule">
            <a:extLst xmlns:a="http://schemas.openxmlformats.org/drawingml/2006/main">
              <a:ext uri="{FF2B5EF4-FFF2-40B4-BE49-F238E27FC236}">
                <a16:creationId xmlns:a16="http://schemas.microsoft.com/office/drawing/2014/main" id="{85CEC441-C399-41A2-A63A-0A3581B9B58A}"/>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2B05504-584B-454E-9443-E3831750E169}"/>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9845ADE-B052-447B-835A-2440A8C6C1BF}"/>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17" name="">
            <a:extLst xmlns:a="http://schemas.openxmlformats.org/drawingml/2006/main">
              <a:ext uri="{FF2B5EF4-FFF2-40B4-BE49-F238E27FC236}">
                <a16:creationId xmlns:a16="http://schemas.microsoft.com/office/drawing/2014/main" id="{1C01127D-52F4-40E5-BA66-0B6DD2D57AF6}"/>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D754D"/>
                </a:solidFill>
                <a:latin typeface="Aptos"/>
                <a:ea typeface="Aptos"/>
                <a:cs typeface="Aptos"/>
              </a:defRPr>
            </a:pPr>
            <a:r>
              <a:rPr sz="825" b="1">
                <a:solidFill>
                  <a:srgbClr val="8D754D"/>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D2091769-E74E-4685-8704-A817868828A1}"/>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Structure</a:t>
            </a:r>
          </a:p>
        </p:txBody>
      </p:sp>
      <p:sp>
        <p:nvSpPr>
          <p:cNvPr id="19" name="">
            <a:extLst xmlns:a="http://schemas.openxmlformats.org/drawingml/2006/main">
              <a:ext uri="{FF2B5EF4-FFF2-40B4-BE49-F238E27FC236}">
                <a16:creationId xmlns:a16="http://schemas.microsoft.com/office/drawing/2014/main" id="{A7D536DD-E572-446A-AB96-A426A3010CBD}"/>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65717A"/>
                </a:solidFill>
                <a:latin typeface="Aptos"/>
                <a:ea typeface="Aptos"/>
                <a:cs typeface="Aptos"/>
              </a:defRPr>
            </a:pPr>
            <a:r>
              <a:rPr sz="825" b="0">
                <a:solidFill>
                  <a:srgbClr val="65717A"/>
                </a:solidFill>
                <a:latin typeface="Aptos"/>
                <a:ea typeface="Aptos"/>
                <a:cs typeface="Aptos"/>
              </a:rPr>
              <a:t>Class dependencies, graph shape, literals and context.</a:t>
            </a:r>
          </a:p>
        </p:txBody>
      </p:sp>
      <p:sp>
        <p:nvSpPr>
          <p:cNvPr id="20" name="rule">
            <a:extLst xmlns:a="http://schemas.openxmlformats.org/drawingml/2006/main">
              <a:ext uri="{FF2B5EF4-FFF2-40B4-BE49-F238E27FC236}">
                <a16:creationId xmlns:a16="http://schemas.microsoft.com/office/drawing/2014/main" id="{D0B39CF6-C719-4352-A1D9-FC2A6DB7DCF1}"/>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FA82864-439F-41BA-A809-C4EC435D22CD}"/>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D77ECB6-9635-41A0-94D4-F32C7AD77AE4}"/>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23" name="">
            <a:extLst xmlns:a="http://schemas.openxmlformats.org/drawingml/2006/main">
              <a:ext uri="{FF2B5EF4-FFF2-40B4-BE49-F238E27FC236}">
                <a16:creationId xmlns:a16="http://schemas.microsoft.com/office/drawing/2014/main" id="{27499BE7-0AD5-40FB-953D-4A516D5274CF}"/>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655F73"/>
                </a:solidFill>
                <a:latin typeface="Aptos"/>
                <a:ea typeface="Aptos"/>
                <a:cs typeface="Aptos"/>
              </a:defRPr>
            </a:pPr>
            <a:r>
              <a:rPr sz="825" b="1">
                <a:solidFill>
                  <a:srgbClr val="655F73"/>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A47D25DD-04D5-4E27-8EF1-9A33B9E1071E}"/>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R8 research</a:t>
            </a:r>
          </a:p>
        </p:txBody>
      </p:sp>
      <p:sp>
        <p:nvSpPr>
          <p:cNvPr id="25" name="">
            <a:extLst xmlns:a="http://schemas.openxmlformats.org/drawingml/2006/main">
              <a:ext uri="{FF2B5EF4-FFF2-40B4-BE49-F238E27FC236}">
                <a16:creationId xmlns:a16="http://schemas.microsoft.com/office/drawing/2014/main" id="{18B8A9E6-3A94-421D-95DB-961A0CD3D212}"/>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65717A"/>
                </a:solidFill>
                <a:latin typeface="Aptos"/>
                <a:ea typeface="Aptos"/>
                <a:cs typeface="Aptos"/>
              </a:defRPr>
            </a:pPr>
            <a:r>
              <a:rPr sz="825" b="0">
                <a:solidFill>
                  <a:srgbClr val="65717A"/>
                </a:solidFill>
                <a:latin typeface="Aptos"/>
                <a:ea typeface="Aptos"/>
                <a:cs typeface="Aptos"/>
              </a:rPr>
              <a:t>Basic-block, call-chain, neighbor, field-operation features.</a:t>
            </a:r>
          </a:p>
        </p:txBody>
      </p:sp>
      <p:sp>
        <p:nvSpPr>
          <p:cNvPr id="26" name="">
            <a:extLst xmlns:a="http://schemas.openxmlformats.org/drawingml/2006/main">
              <a:ext uri="{FF2B5EF4-FFF2-40B4-BE49-F238E27FC236}">
                <a16:creationId xmlns:a16="http://schemas.microsoft.com/office/drawing/2014/main" id="{90AE1BFD-1261-437F-A1AC-10AFEB32E5A5}"/>
              </a:ext>
            </a:extLst>
          </p:cNvPr>
          <p:cNvSpPr>
            <a:spLocks xmlns:a="http://schemas.openxmlformats.org/drawingml/2006/main" noGrp="1"/>
          </p:cNvSpPr>
          <p:nvPr/>
        </p:nvSpPr>
        <p:spPr>
          <a:xfrm xmlns:a="http://schemas.openxmlformats.org/drawingml/2006/main">
            <a:off x="685800" y="2552700"/>
            <a:ext cx="6819900" cy="28384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7" name="">
            <a:extLst xmlns:a="http://schemas.openxmlformats.org/drawingml/2006/main">
              <a:ext uri="{FF2B5EF4-FFF2-40B4-BE49-F238E27FC236}">
                <a16:creationId xmlns:a16="http://schemas.microsoft.com/office/drawing/2014/main" id="{1D933761-CDDB-4D11-A479-C2D6613100BB}"/>
              </a:ext>
            </a:extLst>
          </p:cNvPr>
          <p:cNvSpPr>
            <a:spLocks xmlns:a="http://schemas.openxmlformats.org/drawingml/2006/main" noGrp="1"/>
          </p:cNvSpPr>
          <p:nvPr/>
        </p:nvSpPr>
        <p:spPr>
          <a:xfrm xmlns:a="http://schemas.openxmlformats.org/drawingml/2006/main">
            <a:off x="914400" y="2781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5F73"/>
                </a:solidFill>
                <a:latin typeface="Aptos"/>
                <a:ea typeface="Aptos"/>
                <a:cs typeface="Aptos"/>
              </a:defRPr>
            </a:pPr>
            <a:r>
              <a:rPr sz="900" b="1">
                <a:solidFill>
                  <a:srgbClr val="655F73"/>
                </a:solidFill>
                <a:latin typeface="Aptos"/>
                <a:ea typeface="Aptos"/>
                <a:cs typeface="Aptos"/>
              </a:rPr>
              <a:t>FEATURE LAYERS</a:t>
            </a:r>
          </a:p>
        </p:txBody>
      </p:sp>
      <p:sp>
        <p:nvSpPr>
          <p:cNvPr id="28" name="">
            <a:extLst xmlns:a="http://schemas.openxmlformats.org/drawingml/2006/main">
              <a:ext uri="{FF2B5EF4-FFF2-40B4-BE49-F238E27FC236}">
                <a16:creationId xmlns:a16="http://schemas.microsoft.com/office/drawing/2014/main" id="{082E23C5-55A9-47F9-B836-2132397241F6}"/>
              </a:ext>
            </a:extLst>
          </p:cNvPr>
          <p:cNvSpPr>
            <a:spLocks xmlns:a="http://schemas.openxmlformats.org/drawingml/2006/main" noGrp="1"/>
          </p:cNvSpPr>
          <p:nvPr/>
        </p:nvSpPr>
        <p:spPr>
          <a:xfrm xmlns:a="http://schemas.openxmlformats.org/drawingml/2006/main">
            <a:off x="914400" y="3200400"/>
            <a:ext cx="6286500" cy="495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29" name="">
            <a:extLst xmlns:a="http://schemas.openxmlformats.org/drawingml/2006/main">
              <a:ext uri="{FF2B5EF4-FFF2-40B4-BE49-F238E27FC236}">
                <a16:creationId xmlns:a16="http://schemas.microsoft.com/office/drawing/2014/main" id="{B1AAE8F0-AD8D-4B31-848F-45ED2586D2E7}"/>
              </a:ext>
            </a:extLst>
          </p:cNvPr>
          <p:cNvSpPr>
            <a:spLocks xmlns:a="http://schemas.openxmlformats.org/drawingml/2006/main" noGrp="1"/>
          </p:cNvSpPr>
          <p:nvPr/>
        </p:nvSpPr>
        <p:spPr>
          <a:xfrm xmlns:a="http://schemas.openxmlformats.org/drawingml/2006/main">
            <a:off x="1066800" y="334327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Aptos"/>
                <a:ea typeface="Aptos"/>
                <a:cs typeface="Aptos"/>
              </a:defRPr>
            </a:pPr>
            <a:r>
              <a:rPr sz="825" b="1">
                <a:solidFill>
                  <a:srgbClr val="365F7D"/>
                </a:solidFill>
                <a:latin typeface="Aptos"/>
                <a:ea typeface="Aptos"/>
                <a:cs typeface="Aptos"/>
              </a:rPr>
              <a:t>CORE SCORING</a:t>
            </a:r>
          </a:p>
        </p:txBody>
      </p:sp>
      <p:sp>
        <p:nvSpPr>
          <p:cNvPr id="30" name="">
            <a:extLst xmlns:a="http://schemas.openxmlformats.org/drawingml/2006/main">
              <a:ext uri="{FF2B5EF4-FFF2-40B4-BE49-F238E27FC236}">
                <a16:creationId xmlns:a16="http://schemas.microsoft.com/office/drawing/2014/main" id="{8AB3B8B1-7AE8-436F-A13C-30AA85B29AC7}"/>
              </a:ext>
            </a:extLst>
          </p:cNvPr>
          <p:cNvSpPr>
            <a:spLocks xmlns:a="http://schemas.openxmlformats.org/drawingml/2006/main" noGrp="1"/>
          </p:cNvSpPr>
          <p:nvPr/>
        </p:nvSpPr>
        <p:spPr>
          <a:xfrm xmlns:a="http://schemas.openxmlformats.org/drawingml/2006/main">
            <a:off x="2400300" y="3314700"/>
            <a:ext cx="462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02A33"/>
                </a:solidFill>
                <a:latin typeface="Aptos"/>
                <a:ea typeface="Aptos"/>
                <a:cs typeface="Aptos"/>
              </a:defRPr>
            </a:pPr>
            <a:r>
              <a:rPr sz="975" b="1">
                <a:solidFill>
                  <a:srgbClr val="202A33"/>
                </a:solidFill>
                <a:latin typeface="Aptos"/>
                <a:ea typeface="Aptos"/>
                <a:cs typeface="Aptos"/>
              </a:rPr>
              <a:t>package  class  method  opcode  CDG  literal</a:t>
            </a:r>
          </a:p>
        </p:txBody>
      </p:sp>
      <p:sp>
        <p:nvSpPr>
          <p:cNvPr id="31" name="">
            <a:extLst xmlns:a="http://schemas.openxmlformats.org/drawingml/2006/main">
              <a:ext uri="{FF2B5EF4-FFF2-40B4-BE49-F238E27FC236}">
                <a16:creationId xmlns:a16="http://schemas.microsoft.com/office/drawing/2014/main" id="{4BEA316F-520D-45D2-AF8A-2A80E6940629}"/>
              </a:ext>
            </a:extLst>
          </p:cNvPr>
          <p:cNvSpPr>
            <a:spLocks xmlns:a="http://schemas.openxmlformats.org/drawingml/2006/main" noGrp="1"/>
          </p:cNvSpPr>
          <p:nvPr/>
        </p:nvSpPr>
        <p:spPr>
          <a:xfrm xmlns:a="http://schemas.openxmlformats.org/drawingml/2006/main">
            <a:off x="914400" y="3848100"/>
            <a:ext cx="6286500" cy="495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32" name="">
            <a:extLst xmlns:a="http://schemas.openxmlformats.org/drawingml/2006/main">
              <a:ext uri="{FF2B5EF4-FFF2-40B4-BE49-F238E27FC236}">
                <a16:creationId xmlns:a16="http://schemas.microsoft.com/office/drawing/2014/main" id="{68B4273D-B00B-462A-B0D4-0FB4CC927FA2}"/>
              </a:ext>
            </a:extLst>
          </p:cNvPr>
          <p:cNvSpPr>
            <a:spLocks xmlns:a="http://schemas.openxmlformats.org/drawingml/2006/main" noGrp="1"/>
          </p:cNvSpPr>
          <p:nvPr/>
        </p:nvSpPr>
        <p:spPr>
          <a:xfrm xmlns:a="http://schemas.openxmlformats.org/drawingml/2006/main">
            <a:off x="1066800" y="399097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D754D"/>
                </a:solidFill>
                <a:latin typeface="Aptos"/>
                <a:ea typeface="Aptos"/>
                <a:cs typeface="Aptos"/>
              </a:defRPr>
            </a:pPr>
            <a:r>
              <a:rPr sz="825" b="1">
                <a:solidFill>
                  <a:srgbClr val="8D754D"/>
                </a:solidFill>
                <a:latin typeface="Aptos"/>
                <a:ea typeface="Aptos"/>
                <a:cs typeface="Aptos"/>
              </a:rPr>
              <a:t>GUARDED</a:t>
            </a:r>
          </a:p>
        </p:txBody>
      </p:sp>
      <p:sp>
        <p:nvSpPr>
          <p:cNvPr id="33" name="">
            <a:extLst xmlns:a="http://schemas.openxmlformats.org/drawingml/2006/main">
              <a:ext uri="{FF2B5EF4-FFF2-40B4-BE49-F238E27FC236}">
                <a16:creationId xmlns:a16="http://schemas.microsoft.com/office/drawing/2014/main" id="{31AD1BD8-3FCA-4BAE-8A9B-3D4A7D306B19}"/>
              </a:ext>
            </a:extLst>
          </p:cNvPr>
          <p:cNvSpPr>
            <a:spLocks xmlns:a="http://schemas.openxmlformats.org/drawingml/2006/main" noGrp="1"/>
          </p:cNvSpPr>
          <p:nvPr/>
        </p:nvSpPr>
        <p:spPr>
          <a:xfrm xmlns:a="http://schemas.openxmlformats.org/drawingml/2006/main">
            <a:off x="2400300" y="3962400"/>
            <a:ext cx="462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02A33"/>
                </a:solidFill>
                <a:latin typeface="Aptos"/>
                <a:ea typeface="Aptos"/>
                <a:cs typeface="Aptos"/>
              </a:defRPr>
            </a:pPr>
            <a:r>
              <a:rPr sz="975" b="1">
                <a:solidFill>
                  <a:srgbClr val="202A33"/>
                </a:solidFill>
                <a:latin typeface="Aptos"/>
                <a:ea typeface="Aptos"/>
                <a:cs typeface="Aptos"/>
              </a:rPr>
              <a:t>API references  opcode tri-grams  POM coherence</a:t>
            </a:r>
          </a:p>
        </p:txBody>
      </p:sp>
      <p:sp>
        <p:nvSpPr>
          <p:cNvPr id="34" name="">
            <a:extLst xmlns:a="http://schemas.openxmlformats.org/drawingml/2006/main">
              <a:ext uri="{FF2B5EF4-FFF2-40B4-BE49-F238E27FC236}">
                <a16:creationId xmlns:a16="http://schemas.microsoft.com/office/drawing/2014/main" id="{1F127D97-6E5C-4EEB-A581-782576A56009}"/>
              </a:ext>
            </a:extLst>
          </p:cNvPr>
          <p:cNvSpPr>
            <a:spLocks xmlns:a="http://schemas.openxmlformats.org/drawingml/2006/main" noGrp="1"/>
          </p:cNvSpPr>
          <p:nvPr/>
        </p:nvSpPr>
        <p:spPr>
          <a:xfrm xmlns:a="http://schemas.openxmlformats.org/drawingml/2006/main">
            <a:off x="914400" y="4495800"/>
            <a:ext cx="6286500" cy="4953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35" name="">
            <a:extLst xmlns:a="http://schemas.openxmlformats.org/drawingml/2006/main">
              <a:ext uri="{FF2B5EF4-FFF2-40B4-BE49-F238E27FC236}">
                <a16:creationId xmlns:a16="http://schemas.microsoft.com/office/drawing/2014/main" id="{68F86153-C148-4BFE-B717-6E06AD256235}"/>
              </a:ext>
            </a:extLst>
          </p:cNvPr>
          <p:cNvSpPr>
            <a:spLocks xmlns:a="http://schemas.openxmlformats.org/drawingml/2006/main" noGrp="1"/>
          </p:cNvSpPr>
          <p:nvPr/>
        </p:nvSpPr>
        <p:spPr>
          <a:xfrm xmlns:a="http://schemas.openxmlformats.org/drawingml/2006/main">
            <a:off x="1066800" y="463867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655F73"/>
                </a:solidFill>
                <a:latin typeface="Aptos"/>
                <a:ea typeface="Aptos"/>
                <a:cs typeface="Aptos"/>
              </a:defRPr>
            </a:pPr>
            <a:r>
              <a:rPr sz="825" b="1">
                <a:solidFill>
                  <a:srgbClr val="655F73"/>
                </a:solidFill>
                <a:latin typeface="Aptos"/>
                <a:ea typeface="Aptos"/>
                <a:cs typeface="Aptos"/>
              </a:rPr>
              <a:t>INERT / REPORT</a:t>
            </a:r>
          </a:p>
        </p:txBody>
      </p:sp>
      <p:sp>
        <p:nvSpPr>
          <p:cNvPr id="36" name="">
            <a:extLst xmlns:a="http://schemas.openxmlformats.org/drawingml/2006/main">
              <a:ext uri="{FF2B5EF4-FFF2-40B4-BE49-F238E27FC236}">
                <a16:creationId xmlns:a16="http://schemas.microsoft.com/office/drawing/2014/main" id="{A52F4267-AD4A-454A-9091-8FB5B955A95F}"/>
              </a:ext>
            </a:extLst>
          </p:cNvPr>
          <p:cNvSpPr>
            <a:spLocks xmlns:a="http://schemas.openxmlformats.org/drawingml/2006/main" noGrp="1"/>
          </p:cNvSpPr>
          <p:nvPr/>
        </p:nvSpPr>
        <p:spPr>
          <a:xfrm xmlns:a="http://schemas.openxmlformats.org/drawingml/2006/main">
            <a:off x="2400300" y="4610100"/>
            <a:ext cx="462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02A33"/>
                </a:solidFill>
                <a:latin typeface="Aptos"/>
                <a:ea typeface="Aptos"/>
                <a:cs typeface="Aptos"/>
              </a:defRPr>
            </a:pPr>
            <a:r>
              <a:rPr sz="975" b="1">
                <a:solidFill>
                  <a:srgbClr val="202A33"/>
                </a:solidFill>
                <a:latin typeface="Aptos"/>
                <a:ea typeface="Aptos"/>
                <a:cs typeface="Aptos"/>
              </a:rPr>
              <a:t>basic blocks  call chains  class neighbors  field operations</a:t>
            </a:r>
          </a:p>
        </p:txBody>
      </p:sp>
      <p:sp>
        <p:nvSpPr>
          <p:cNvPr id="37" name="">
            <a:extLst xmlns:a="http://schemas.openxmlformats.org/drawingml/2006/main">
              <a:ext uri="{FF2B5EF4-FFF2-40B4-BE49-F238E27FC236}">
                <a16:creationId xmlns:a16="http://schemas.microsoft.com/office/drawing/2014/main" id="{223829D0-0D77-461B-B83F-11023ED65DC6}"/>
              </a:ext>
            </a:extLst>
          </p:cNvPr>
          <p:cNvSpPr>
            <a:spLocks xmlns:a="http://schemas.openxmlformats.org/drawingml/2006/main" noGrp="1"/>
          </p:cNvSpPr>
          <p:nvPr/>
        </p:nvSpPr>
        <p:spPr>
          <a:xfrm xmlns:a="http://schemas.openxmlformats.org/drawingml/2006/main">
            <a:off x="7791450" y="2552700"/>
            <a:ext cx="3714750" cy="283845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38" name="">
            <a:extLst xmlns:a="http://schemas.openxmlformats.org/drawingml/2006/main">
              <a:ext uri="{FF2B5EF4-FFF2-40B4-BE49-F238E27FC236}">
                <a16:creationId xmlns:a16="http://schemas.microsoft.com/office/drawing/2014/main" id="{DC23732F-305C-4943-852A-2AAB411983C1}"/>
              </a:ext>
            </a:extLst>
          </p:cNvPr>
          <p:cNvSpPr>
            <a:spLocks xmlns:a="http://schemas.openxmlformats.org/drawingml/2006/main" noGrp="1"/>
          </p:cNvSpPr>
          <p:nvPr/>
        </p:nvSpPr>
        <p:spPr>
          <a:xfrm xmlns:a="http://schemas.openxmlformats.org/drawingml/2006/main">
            <a:off x="8020050" y="27813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4F7D76"/>
                </a:solidFill>
                <a:latin typeface="Aptos"/>
                <a:ea typeface="Aptos"/>
                <a:cs typeface="Aptos"/>
              </a:defRPr>
            </a:pPr>
            <a:r>
              <a:rPr sz="900" b="1">
                <a:solidFill>
                  <a:srgbClr val="4F7D76"/>
                </a:solidFill>
                <a:latin typeface="Aptos"/>
                <a:ea typeface="Aptos"/>
                <a:cs typeface="Aptos"/>
              </a:rPr>
              <a:t>DESIGN RULE</a:t>
            </a:r>
          </a:p>
        </p:txBody>
      </p:sp>
      <p:sp>
        <p:nvSpPr>
          <p:cNvPr id="39" name="">
            <a:extLst xmlns:a="http://schemas.openxmlformats.org/drawingml/2006/main">
              <a:ext uri="{FF2B5EF4-FFF2-40B4-BE49-F238E27FC236}">
                <a16:creationId xmlns:a16="http://schemas.microsoft.com/office/drawing/2014/main" id="{87517FE3-E8BD-40F8-8D5C-C4DAEECEFE93}"/>
              </a:ext>
            </a:extLst>
          </p:cNvPr>
          <p:cNvSpPr>
            <a:spLocks xmlns:a="http://schemas.openxmlformats.org/drawingml/2006/main" noGrp="1"/>
          </p:cNvSpPr>
          <p:nvPr/>
        </p:nvSpPr>
        <p:spPr>
          <a:xfrm xmlns:a="http://schemas.openxmlformats.org/drawingml/2006/main">
            <a:off x="8020050" y="3181350"/>
            <a:ext cx="30289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Extract broadly.</a:t>
            </a:r>
          </a:p>
          <a:p xmlns:a="http://schemas.openxmlformats.org/drawingml/2006/main">
            <a:pPr algn="ctr">
              <a:buNone/>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Score narrowly.</a:t>
            </a:r>
          </a:p>
        </p:txBody>
      </p:sp>
      <p:sp>
        <p:nvSpPr>
          <p:cNvPr id="40" name="">
            <a:extLst xmlns:a="http://schemas.openxmlformats.org/drawingml/2006/main">
              <a:ext uri="{FF2B5EF4-FFF2-40B4-BE49-F238E27FC236}">
                <a16:creationId xmlns:a16="http://schemas.microsoft.com/office/drawing/2014/main" id="{4D0A8570-9886-4388-AA0A-ADED6EB274EF}"/>
              </a:ext>
            </a:extLst>
          </p:cNvPr>
          <p:cNvSpPr>
            <a:spLocks xmlns:a="http://schemas.openxmlformats.org/drawingml/2006/main" noGrp="1"/>
          </p:cNvSpPr>
          <p:nvPr/>
        </p:nvSpPr>
        <p:spPr>
          <a:xfrm xmlns:a="http://schemas.openxmlformats.org/drawingml/2006/main">
            <a:off x="8115300" y="4267200"/>
            <a:ext cx="2838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0">
                <a:solidFill>
                  <a:srgbClr val="B8C3D3"/>
                </a:solidFill>
                <a:latin typeface="Aptos"/>
                <a:ea typeface="Aptos"/>
                <a:cs typeface="Aptos"/>
              </a:defRPr>
            </a:pPr>
            <a:r>
              <a:rPr sz="1050" b="0">
                <a:solidFill>
                  <a:srgbClr val="B8C3D3"/>
                </a:solidFill>
                <a:latin typeface="Aptos"/>
                <a:ea typeface="Aptos"/>
                <a:cs typeface="Aptos"/>
              </a:rPr>
              <a:t>Promising features remain available for experiments without silently changing production decisions.</a:t>
            </a:r>
          </a:p>
        </p:txBody>
      </p:sp>
      <p:sp>
        <p:nvSpPr>
          <p:cNvPr id="41" name="">
            <a:extLst xmlns:a="http://schemas.openxmlformats.org/drawingml/2006/main">
              <a:ext uri="{FF2B5EF4-FFF2-40B4-BE49-F238E27FC236}">
                <a16:creationId xmlns:a16="http://schemas.microsoft.com/office/drawing/2014/main" id="{3D0AB016-CA50-445C-B8EA-0E85E93A745F}"/>
              </a:ext>
            </a:extLst>
          </p:cNvPr>
          <p:cNvSpPr>
            <a:spLocks xmlns:a="http://schemas.openxmlformats.org/drawingml/2006/main" noGrp="1"/>
          </p:cNvSpPr>
          <p:nvPr/>
        </p:nvSpPr>
        <p:spPr>
          <a:xfrm xmlns:a="http://schemas.openxmlformats.org/drawingml/2006/main">
            <a:off x="685800" y="56007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457952D6-3BA7-4D0D-A21B-CB961AED5C7E}"/>
              </a:ext>
            </a:extLst>
          </p:cNvPr>
          <p:cNvSpPr>
            <a:spLocks xmlns:a="http://schemas.openxmlformats.org/drawingml/2006/main" noGrp="1"/>
          </p:cNvSpPr>
          <p:nvPr/>
        </p:nvSpPr>
        <p:spPr>
          <a:xfrm xmlns:a="http://schemas.openxmlformats.org/drawingml/2006/main">
            <a:off x="819150" y="56673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src/apk_sbom/dex_analyzer.py  -&gt;  analyze_dex_bytes(), analyze_apk_dex()</a:t>
            </a:r>
          </a:p>
        </p:txBody>
      </p:sp>
      <p:sp>
        <p:nvSpPr>
          <p:cNvPr id="43" name="">
            <a:extLst xmlns:a="http://schemas.openxmlformats.org/drawingml/2006/main">
              <a:ext uri="{FF2B5EF4-FFF2-40B4-BE49-F238E27FC236}">
                <a16:creationId xmlns:a16="http://schemas.microsoft.com/office/drawing/2014/main" id="{B578073C-B5DA-4C00-891C-FD04E69CD5E0}"/>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368826187"/>
      </p:ext>
    </p:extLst>
  </p:cSld>
</p:sld>
</file>

<file path=ppt/slides/slide9.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148AC0-ECFB-4932-B7EF-56ECD79BE62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91B05E4-585E-46D1-A9E9-9B8AF606550E}"/>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12ED4A4-7BE9-48BA-BB1E-DD92CEF54199}"/>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4F7D76"/>
                </a:solidFill>
                <a:latin typeface="Aptos"/>
                <a:ea typeface="Aptos"/>
                <a:cs typeface="Aptos"/>
              </a:defRPr>
            </a:pPr>
            <a:r>
              <a:rPr sz="900" b="1">
                <a:solidFill>
                  <a:srgbClr val="4F7D76"/>
                </a:solidFill>
                <a:latin typeface="Aptos"/>
                <a:ea typeface="Aptos"/>
                <a:cs typeface="Aptos"/>
              </a:rPr>
              <a:t>COMPONENT 3  |  REFERENCE DB</a:t>
            </a:r>
          </a:p>
        </p:txBody>
      </p:sp>
      <p:sp>
        <p:nvSpPr>
          <p:cNvPr id="4" name="">
            <a:extLst xmlns:a="http://schemas.openxmlformats.org/drawingml/2006/main">
              <a:ext uri="{FF2B5EF4-FFF2-40B4-BE49-F238E27FC236}">
                <a16:creationId xmlns:a16="http://schemas.microsoft.com/office/drawing/2014/main" id="{444CF01E-199D-4B4C-A7BE-5A7E26A731EB}"/>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reference database became a reproducible Maven-to-DEX feature factory</a:t>
            </a:r>
          </a:p>
        </p:txBody>
      </p:sp>
      <p:sp>
        <p:nvSpPr>
          <p:cNvPr id="5" name="">
            <a:extLst xmlns:a="http://schemas.openxmlformats.org/drawingml/2006/main">
              <a:ext uri="{FF2B5EF4-FFF2-40B4-BE49-F238E27FC236}">
                <a16:creationId xmlns:a16="http://schemas.microsoft.com/office/drawing/2014/main" id="{1CF24D5A-A08F-47F0-BD9D-E9226C41369A}"/>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8290A6"/>
                </a:solidFill>
                <a:latin typeface="Aptos"/>
                <a:ea typeface="Aptos"/>
                <a:cs typeface="Aptos"/>
              </a:defRPr>
            </a:pPr>
            <a:r>
              <a:rPr sz="900" b="1">
                <a:solidFill>
                  <a:srgbClr val="8290A6"/>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3B53538E-B095-4A0D-A1A1-4670559DBF3C}"/>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9ADB6D87-5F71-4136-B93A-06DB3B2C683E}"/>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EE4691EB-95C0-4B5B-A23F-8EE86E45BBEA}"/>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Seed list</a:t>
            </a:r>
          </a:p>
        </p:txBody>
      </p:sp>
      <p:sp>
        <p:nvSpPr>
          <p:cNvPr id="9" name="">
            <a:extLst xmlns:a="http://schemas.openxmlformats.org/drawingml/2006/main">
              <a:ext uri="{FF2B5EF4-FFF2-40B4-BE49-F238E27FC236}">
                <a16:creationId xmlns:a16="http://schemas.microsoft.com/office/drawing/2014/main" id="{09959742-C283-4DF0-92E9-3E62E66347B9}"/>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AEBACC"/>
                </a:solidFill>
                <a:latin typeface="Aptos"/>
                <a:ea typeface="Aptos"/>
                <a:cs typeface="Aptos"/>
              </a:defRPr>
            </a:pPr>
            <a:r>
              <a:rPr sz="825" b="0">
                <a:solidFill>
                  <a:srgbClr val="AEBACC"/>
                </a:solidFill>
                <a:latin typeface="Aptos"/>
                <a:ea typeface="Aptos"/>
                <a:cs typeface="Aptos"/>
              </a:rPr>
              <a:t>Hand-selected coordinates and versions.</a:t>
            </a:r>
          </a:p>
        </p:txBody>
      </p:sp>
      <p:sp>
        <p:nvSpPr>
          <p:cNvPr id="10" name="rule">
            <a:extLst xmlns:a="http://schemas.openxmlformats.org/drawingml/2006/main">
              <a:ext uri="{FF2B5EF4-FFF2-40B4-BE49-F238E27FC236}">
                <a16:creationId xmlns:a16="http://schemas.microsoft.com/office/drawing/2014/main" id="{1B259667-0EBC-4B3F-9916-01257D6A011C}"/>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32D4BB0-5046-4BD1-B689-24DEF38C548F}"/>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15081DC-5F13-4F6C-AEFA-BBA3F7DFDCA0}"/>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734CEE84-2B3C-4E46-BB31-9C92F954B0E1}"/>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258686BD-E414-4138-8808-E2E71FB8ADB9}"/>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Maven fetch</a:t>
            </a:r>
          </a:p>
        </p:txBody>
      </p:sp>
      <p:sp>
        <p:nvSpPr>
          <p:cNvPr id="15" name="">
            <a:extLst xmlns:a="http://schemas.openxmlformats.org/drawingml/2006/main">
              <a:ext uri="{FF2B5EF4-FFF2-40B4-BE49-F238E27FC236}">
                <a16:creationId xmlns:a16="http://schemas.microsoft.com/office/drawing/2014/main" id="{7C06A515-FA95-4A14-9ACE-FE133559CC32}"/>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AEBACC"/>
                </a:solidFill>
                <a:latin typeface="Aptos"/>
                <a:ea typeface="Aptos"/>
                <a:cs typeface="Aptos"/>
              </a:defRPr>
            </a:pPr>
            <a:r>
              <a:rPr sz="825" b="0">
                <a:solidFill>
                  <a:srgbClr val="AEBACC"/>
                </a:solidFill>
                <a:latin typeface="Aptos"/>
                <a:ea typeface="Aptos"/>
                <a:cs typeface="Aptos"/>
              </a:rPr>
              <a:t>Download JAR/AAR plus POM metadata and hashes.</a:t>
            </a:r>
          </a:p>
        </p:txBody>
      </p:sp>
      <p:sp>
        <p:nvSpPr>
          <p:cNvPr id="16" name="rule">
            <a:extLst xmlns:a="http://schemas.openxmlformats.org/drawingml/2006/main">
              <a:ext uri="{FF2B5EF4-FFF2-40B4-BE49-F238E27FC236}">
                <a16:creationId xmlns:a16="http://schemas.microsoft.com/office/drawing/2014/main" id="{8C9D140A-4638-4584-8328-BA92A6E24D89}"/>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7DE73EB-EF6F-477B-B2E8-AFA2FC4AE770}"/>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49FB221-CAF9-4FAE-99D3-2B57825E2217}"/>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1DEB01AA-10AB-41B0-979B-C38FDB64FF2E}"/>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6F7C61"/>
                </a:solidFill>
                <a:latin typeface="Aptos"/>
                <a:ea typeface="Aptos"/>
                <a:cs typeface="Aptos"/>
              </a:defRPr>
            </a:pPr>
            <a:r>
              <a:rPr sz="825" b="1">
                <a:solidFill>
                  <a:srgbClr val="6F7C61"/>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E8FA75CB-6736-45B2-A0EB-B59C59A08647}"/>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DEX normalization</a:t>
            </a:r>
          </a:p>
        </p:txBody>
      </p:sp>
      <p:sp>
        <p:nvSpPr>
          <p:cNvPr id="21" name="">
            <a:extLst xmlns:a="http://schemas.openxmlformats.org/drawingml/2006/main">
              <a:ext uri="{FF2B5EF4-FFF2-40B4-BE49-F238E27FC236}">
                <a16:creationId xmlns:a16="http://schemas.microsoft.com/office/drawing/2014/main" id="{F1E71FD7-43F7-43B0-BDBD-4C448371D1FD}"/>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AEBACC"/>
                </a:solidFill>
                <a:latin typeface="Aptos"/>
                <a:ea typeface="Aptos"/>
                <a:cs typeface="Aptos"/>
              </a:defRPr>
            </a:pPr>
            <a:r>
              <a:rPr sz="825" b="0">
                <a:solidFill>
                  <a:srgbClr val="AEBACC"/>
                </a:solidFill>
                <a:latin typeface="Aptos"/>
                <a:ea typeface="Aptos"/>
                <a:cs typeface="Aptos"/>
              </a:rPr>
              <a:t>Convert JAR/classes.jar through D8 for comparable bytecode.</a:t>
            </a:r>
          </a:p>
        </p:txBody>
      </p:sp>
      <p:sp>
        <p:nvSpPr>
          <p:cNvPr id="22" name="rule">
            <a:extLst xmlns:a="http://schemas.openxmlformats.org/drawingml/2006/main">
              <a:ext uri="{FF2B5EF4-FFF2-40B4-BE49-F238E27FC236}">
                <a16:creationId xmlns:a16="http://schemas.microsoft.com/office/drawing/2014/main" id="{9EF7FB81-1B48-46F9-9C8F-92B6260F4F3E}"/>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84E7CB9-AEDB-4913-A8C3-03CE8C9FCAF5}"/>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A641A04-9D8C-4A42-A8DB-C990A5636490}"/>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5" name="">
            <a:extLst xmlns:a="http://schemas.openxmlformats.org/drawingml/2006/main">
              <a:ext uri="{FF2B5EF4-FFF2-40B4-BE49-F238E27FC236}">
                <a16:creationId xmlns:a16="http://schemas.microsoft.com/office/drawing/2014/main" id="{AAD6609B-19CD-49F8-9169-B468F6D93C4F}"/>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D754D"/>
                </a:solidFill>
                <a:latin typeface="Aptos"/>
                <a:ea typeface="Aptos"/>
                <a:cs typeface="Aptos"/>
              </a:defRPr>
            </a:pPr>
            <a:r>
              <a:rPr sz="825" b="1">
                <a:solidFill>
                  <a:srgbClr val="8D754D"/>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C53F25DA-9178-4E91-988E-532C5FD200F7}"/>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Guarded growth</a:t>
            </a:r>
          </a:p>
        </p:txBody>
      </p:sp>
      <p:sp>
        <p:nvSpPr>
          <p:cNvPr id="27" name="">
            <a:extLst xmlns:a="http://schemas.openxmlformats.org/drawingml/2006/main">
              <a:ext uri="{FF2B5EF4-FFF2-40B4-BE49-F238E27FC236}">
                <a16:creationId xmlns:a16="http://schemas.microsoft.com/office/drawing/2014/main" id="{F2CBB4D9-D0DD-4D6F-8B59-B0402977C05E}"/>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AEBACC"/>
                </a:solidFill>
                <a:latin typeface="Aptos"/>
                <a:ea typeface="Aptos"/>
                <a:cs typeface="Aptos"/>
              </a:defRPr>
            </a:pPr>
            <a:r>
              <a:rPr sz="825" b="0">
                <a:solidFill>
                  <a:srgbClr val="AEBACC"/>
                </a:solidFill>
                <a:latin typeface="Aptos"/>
                <a:ea typeface="Aptos"/>
                <a:cs typeface="Aptos"/>
              </a:rPr>
              <a:t>Store rich SQLite features; promote versions only after controls.</a:t>
            </a:r>
          </a:p>
        </p:txBody>
      </p:sp>
      <p:sp>
        <p:nvSpPr>
          <p:cNvPr id="28" name="">
            <a:extLst xmlns:a="http://schemas.openxmlformats.org/drawingml/2006/main">
              <a:ext uri="{FF2B5EF4-FFF2-40B4-BE49-F238E27FC236}">
                <a16:creationId xmlns:a16="http://schemas.microsoft.com/office/drawing/2014/main" id="{79EBC2FD-52E5-4953-9C94-9934DE048181}"/>
              </a:ext>
            </a:extLst>
          </p:cNvPr>
          <p:cNvSpPr>
            <a:spLocks xmlns:a="http://schemas.openxmlformats.org/drawingml/2006/main" noGrp="1"/>
          </p:cNvSpPr>
          <p:nvPr/>
        </p:nvSpPr>
        <p:spPr>
          <a:xfrm xmlns:a="http://schemas.openxmlformats.org/drawingml/2006/main">
            <a:off x="723900" y="2724150"/>
            <a:ext cx="2171700" cy="1562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E1445C0B-9B73-438C-8BE1-F230E046DDA4}"/>
              </a:ext>
            </a:extLst>
          </p:cNvPr>
          <p:cNvSpPr>
            <a:spLocks xmlns:a="http://schemas.openxmlformats.org/drawingml/2006/main" noGrp="1"/>
          </p:cNvSpPr>
          <p:nvPr/>
        </p:nvSpPr>
        <p:spPr>
          <a:xfrm xmlns:a="http://schemas.openxmlformats.org/drawingml/2006/main">
            <a:off x="8953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365F7D"/>
                </a:solidFill>
                <a:latin typeface="Aptos"/>
                <a:ea typeface="Aptos"/>
                <a:cs typeface="Aptos"/>
              </a:defRPr>
            </a:pPr>
            <a:r>
              <a:rPr sz="1650" b="1">
                <a:solidFill>
                  <a:srgbClr val="365F7D"/>
                </a:solidFill>
                <a:latin typeface="Aptos"/>
                <a:ea typeface="Aptos"/>
                <a:cs typeface="Aptos"/>
              </a:rPr>
              <a:t>Maven</a:t>
            </a:r>
          </a:p>
        </p:txBody>
      </p:sp>
      <p:sp>
        <p:nvSpPr>
          <p:cNvPr id="30" name="">
            <a:extLst xmlns:a="http://schemas.openxmlformats.org/drawingml/2006/main">
              <a:ext uri="{FF2B5EF4-FFF2-40B4-BE49-F238E27FC236}">
                <a16:creationId xmlns:a16="http://schemas.microsoft.com/office/drawing/2014/main" id="{E82D6589-6260-45F0-B68E-E1D45431A5AA}"/>
              </a:ext>
            </a:extLst>
          </p:cNvPr>
          <p:cNvSpPr>
            <a:spLocks xmlns:a="http://schemas.openxmlformats.org/drawingml/2006/main" noGrp="1"/>
          </p:cNvSpPr>
          <p:nvPr/>
        </p:nvSpPr>
        <p:spPr>
          <a:xfrm xmlns:a="http://schemas.openxmlformats.org/drawingml/2006/main">
            <a:off x="8953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JAR / AAR</a:t>
            </a:r>
          </a:p>
          <a:p xmlns:a="http://schemas.openxmlformats.org/drawingml/2006/main">
            <a:pPr algn="ctr">
              <a:buNone/>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POM</a:t>
            </a:r>
          </a:p>
        </p:txBody>
      </p:sp>
      <p:sp>
        <p:nvSpPr>
          <p:cNvPr id="31" name="rule">
            <a:extLst xmlns:a="http://schemas.openxmlformats.org/drawingml/2006/main">
              <a:ext uri="{FF2B5EF4-FFF2-40B4-BE49-F238E27FC236}">
                <a16:creationId xmlns:a16="http://schemas.microsoft.com/office/drawing/2014/main" id="{B486EF64-B096-4CD4-B1B7-950689930F4F}"/>
              </a:ext>
            </a:extLst>
          </p:cNvPr>
          <p:cNvSpPr>
            <a:spLocks xmlns:a="http://schemas.openxmlformats.org/drawingml/2006/main" noGrp="1"/>
          </p:cNvSpPr>
          <p:nvPr/>
        </p:nvSpPr>
        <p:spPr>
          <a:xfrm xmlns:a="http://schemas.openxmlformats.org/drawingml/2006/main">
            <a:off x="2895600" y="3438525"/>
            <a:ext cx="3048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93E0453-6465-4457-BB38-00496EDB8D82}"/>
              </a:ext>
            </a:extLst>
          </p:cNvPr>
          <p:cNvSpPr>
            <a:spLocks xmlns:a="http://schemas.openxmlformats.org/drawingml/2006/main" noGrp="1"/>
          </p:cNvSpPr>
          <p:nvPr/>
        </p:nvSpPr>
        <p:spPr>
          <a:xfrm xmlns:a="http://schemas.openxmlformats.org/drawingml/2006/main">
            <a:off x="3124200" y="33528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4AFB9EB-7491-4116-9E48-540BBA0EB474}"/>
              </a:ext>
            </a:extLst>
          </p:cNvPr>
          <p:cNvSpPr>
            <a:spLocks xmlns:a="http://schemas.openxmlformats.org/drawingml/2006/main" noGrp="1"/>
          </p:cNvSpPr>
          <p:nvPr/>
        </p:nvSpPr>
        <p:spPr>
          <a:xfrm xmlns:a="http://schemas.openxmlformats.org/drawingml/2006/main">
            <a:off x="3352800" y="2724150"/>
            <a:ext cx="2171700" cy="1562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4" name="">
            <a:extLst xmlns:a="http://schemas.openxmlformats.org/drawingml/2006/main">
              <a:ext uri="{FF2B5EF4-FFF2-40B4-BE49-F238E27FC236}">
                <a16:creationId xmlns:a16="http://schemas.microsoft.com/office/drawing/2014/main" id="{DB4A745D-123C-4536-B93D-85117794C907}"/>
              </a:ext>
            </a:extLst>
          </p:cNvPr>
          <p:cNvSpPr>
            <a:spLocks xmlns:a="http://schemas.openxmlformats.org/drawingml/2006/main" noGrp="1"/>
          </p:cNvSpPr>
          <p:nvPr/>
        </p:nvSpPr>
        <p:spPr>
          <a:xfrm xmlns:a="http://schemas.openxmlformats.org/drawingml/2006/main">
            <a:off x="35242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655F73"/>
                </a:solidFill>
                <a:latin typeface="Aptos"/>
                <a:ea typeface="Aptos"/>
                <a:cs typeface="Aptos"/>
              </a:defRPr>
            </a:pPr>
            <a:r>
              <a:rPr sz="1650" b="1">
                <a:solidFill>
                  <a:srgbClr val="655F73"/>
                </a:solidFill>
                <a:latin typeface="Aptos"/>
                <a:ea typeface="Aptos"/>
                <a:cs typeface="Aptos"/>
              </a:rPr>
              <a:t>D8</a:t>
            </a:r>
          </a:p>
        </p:txBody>
      </p:sp>
      <p:sp>
        <p:nvSpPr>
          <p:cNvPr id="35" name="">
            <a:extLst xmlns:a="http://schemas.openxmlformats.org/drawingml/2006/main">
              <a:ext uri="{FF2B5EF4-FFF2-40B4-BE49-F238E27FC236}">
                <a16:creationId xmlns:a16="http://schemas.microsoft.com/office/drawing/2014/main" id="{FC3A6238-4D29-4688-9AE3-F97413268DB0}"/>
              </a:ext>
            </a:extLst>
          </p:cNvPr>
          <p:cNvSpPr>
            <a:spLocks xmlns:a="http://schemas.openxmlformats.org/drawingml/2006/main" noGrp="1"/>
          </p:cNvSpPr>
          <p:nvPr/>
        </p:nvSpPr>
        <p:spPr>
          <a:xfrm xmlns:a="http://schemas.openxmlformats.org/drawingml/2006/main">
            <a:off x="35242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DEX</a:t>
            </a:r>
          </a:p>
          <a:p xmlns:a="http://schemas.openxmlformats.org/drawingml/2006/main">
            <a:pPr algn="ctr">
              <a:buNone/>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normalization</a:t>
            </a:r>
          </a:p>
        </p:txBody>
      </p:sp>
      <p:sp>
        <p:nvSpPr>
          <p:cNvPr id="36" name="rule">
            <a:extLst xmlns:a="http://schemas.openxmlformats.org/drawingml/2006/main">
              <a:ext uri="{FF2B5EF4-FFF2-40B4-BE49-F238E27FC236}">
                <a16:creationId xmlns:a16="http://schemas.microsoft.com/office/drawing/2014/main" id="{83B31879-2E23-4B38-8BE2-9664B3BD0A73}"/>
              </a:ext>
            </a:extLst>
          </p:cNvPr>
          <p:cNvSpPr>
            <a:spLocks xmlns:a="http://schemas.openxmlformats.org/drawingml/2006/main" noGrp="1"/>
          </p:cNvSpPr>
          <p:nvPr/>
        </p:nvSpPr>
        <p:spPr>
          <a:xfrm xmlns:a="http://schemas.openxmlformats.org/drawingml/2006/main">
            <a:off x="5524500" y="3438525"/>
            <a:ext cx="30480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6D9925D-CC2C-4C76-AEA8-8E13BAAAC303}"/>
              </a:ext>
            </a:extLst>
          </p:cNvPr>
          <p:cNvSpPr>
            <a:spLocks xmlns:a="http://schemas.openxmlformats.org/drawingml/2006/main" noGrp="1"/>
          </p:cNvSpPr>
          <p:nvPr/>
        </p:nvSpPr>
        <p:spPr>
          <a:xfrm xmlns:a="http://schemas.openxmlformats.org/drawingml/2006/main">
            <a:off x="5753100" y="3352800"/>
            <a:ext cx="228600" cy="190500"/>
          </a:xfrm>
          <a:prstGeom xmlns:a="http://schemas.openxmlformats.org/drawingml/2006/main" prst="chevron">
            <a:avLst/>
          </a:prstGeom>
          <a:solidFill xmlns:a="http://schemas.openxmlformats.org/drawingml/2006/main">
            <a:srgbClr val="655F73"/>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4C12AAF1-2BA7-4E20-990D-BAEB6232E2D1}"/>
              </a:ext>
            </a:extLst>
          </p:cNvPr>
          <p:cNvSpPr>
            <a:spLocks xmlns:a="http://schemas.openxmlformats.org/drawingml/2006/main" noGrp="1"/>
          </p:cNvSpPr>
          <p:nvPr/>
        </p:nvSpPr>
        <p:spPr>
          <a:xfrm xmlns:a="http://schemas.openxmlformats.org/drawingml/2006/main">
            <a:off x="5981700" y="2724150"/>
            <a:ext cx="2171700" cy="1562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9" name="">
            <a:extLst xmlns:a="http://schemas.openxmlformats.org/drawingml/2006/main">
              <a:ext uri="{FF2B5EF4-FFF2-40B4-BE49-F238E27FC236}">
                <a16:creationId xmlns:a16="http://schemas.microsoft.com/office/drawing/2014/main" id="{90215711-1BDF-44A1-AFB0-541FDBB6A69B}"/>
              </a:ext>
            </a:extLst>
          </p:cNvPr>
          <p:cNvSpPr>
            <a:spLocks xmlns:a="http://schemas.openxmlformats.org/drawingml/2006/main" noGrp="1"/>
          </p:cNvSpPr>
          <p:nvPr/>
        </p:nvSpPr>
        <p:spPr>
          <a:xfrm xmlns:a="http://schemas.openxmlformats.org/drawingml/2006/main">
            <a:off x="61531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4F7D76"/>
                </a:solidFill>
                <a:latin typeface="Aptos"/>
                <a:ea typeface="Aptos"/>
                <a:cs typeface="Aptos"/>
              </a:defRPr>
            </a:pPr>
            <a:r>
              <a:rPr sz="1650" b="1">
                <a:solidFill>
                  <a:srgbClr val="4F7D76"/>
                </a:solidFill>
                <a:latin typeface="Aptos"/>
                <a:ea typeface="Aptos"/>
                <a:cs typeface="Aptos"/>
              </a:rPr>
              <a:t>Features</a:t>
            </a:r>
          </a:p>
        </p:txBody>
      </p:sp>
      <p:sp>
        <p:nvSpPr>
          <p:cNvPr id="40" name="">
            <a:extLst xmlns:a="http://schemas.openxmlformats.org/drawingml/2006/main">
              <a:ext uri="{FF2B5EF4-FFF2-40B4-BE49-F238E27FC236}">
                <a16:creationId xmlns:a16="http://schemas.microsoft.com/office/drawing/2014/main" id="{E51161E3-DF95-4B67-BDB6-2072E60C3CA0}"/>
              </a:ext>
            </a:extLst>
          </p:cNvPr>
          <p:cNvSpPr>
            <a:spLocks xmlns:a="http://schemas.openxmlformats.org/drawingml/2006/main" noGrp="1"/>
          </p:cNvSpPr>
          <p:nvPr/>
        </p:nvSpPr>
        <p:spPr>
          <a:xfrm xmlns:a="http://schemas.openxmlformats.org/drawingml/2006/main">
            <a:off x="61531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classes  methods</a:t>
            </a:r>
          </a:p>
          <a:p xmlns:a="http://schemas.openxmlformats.org/drawingml/2006/main">
            <a:pPr algn="ctr">
              <a:buNone/>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opcodes  graph</a:t>
            </a:r>
          </a:p>
        </p:txBody>
      </p:sp>
      <p:sp>
        <p:nvSpPr>
          <p:cNvPr id="41" name="rule">
            <a:extLst xmlns:a="http://schemas.openxmlformats.org/drawingml/2006/main">
              <a:ext uri="{FF2B5EF4-FFF2-40B4-BE49-F238E27FC236}">
                <a16:creationId xmlns:a16="http://schemas.microsoft.com/office/drawing/2014/main" id="{0B8F7601-AB9E-4F4E-A47E-8439C6271372}"/>
              </a:ext>
            </a:extLst>
          </p:cNvPr>
          <p:cNvSpPr>
            <a:spLocks xmlns:a="http://schemas.openxmlformats.org/drawingml/2006/main" noGrp="1"/>
          </p:cNvSpPr>
          <p:nvPr/>
        </p:nvSpPr>
        <p:spPr>
          <a:xfrm xmlns:a="http://schemas.openxmlformats.org/drawingml/2006/main">
            <a:off x="8153400" y="3438525"/>
            <a:ext cx="3048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562C002-73FA-4AC5-9576-D3C652B20F5E}"/>
              </a:ext>
            </a:extLst>
          </p:cNvPr>
          <p:cNvSpPr>
            <a:spLocks xmlns:a="http://schemas.openxmlformats.org/drawingml/2006/main" noGrp="1"/>
          </p:cNvSpPr>
          <p:nvPr/>
        </p:nvSpPr>
        <p:spPr>
          <a:xfrm xmlns:a="http://schemas.openxmlformats.org/drawingml/2006/main">
            <a:off x="8382000" y="33528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D239AC5F-3F30-4101-B7A3-9D63940A3BDE}"/>
              </a:ext>
            </a:extLst>
          </p:cNvPr>
          <p:cNvSpPr>
            <a:spLocks xmlns:a="http://schemas.openxmlformats.org/drawingml/2006/main" noGrp="1"/>
          </p:cNvSpPr>
          <p:nvPr/>
        </p:nvSpPr>
        <p:spPr>
          <a:xfrm xmlns:a="http://schemas.openxmlformats.org/drawingml/2006/main">
            <a:off x="8610600" y="2724150"/>
            <a:ext cx="2171700" cy="1562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44" name="">
            <a:extLst xmlns:a="http://schemas.openxmlformats.org/drawingml/2006/main">
              <a:ext uri="{FF2B5EF4-FFF2-40B4-BE49-F238E27FC236}">
                <a16:creationId xmlns:a16="http://schemas.microsoft.com/office/drawing/2014/main" id="{8E36B182-0114-4A3E-A4F4-44AD87421E7E}"/>
              </a:ext>
            </a:extLst>
          </p:cNvPr>
          <p:cNvSpPr>
            <a:spLocks xmlns:a="http://schemas.openxmlformats.org/drawingml/2006/main" noGrp="1"/>
          </p:cNvSpPr>
          <p:nvPr/>
        </p:nvSpPr>
        <p:spPr>
          <a:xfrm xmlns:a="http://schemas.openxmlformats.org/drawingml/2006/main">
            <a:off x="87820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6F7C61"/>
                </a:solidFill>
                <a:latin typeface="Aptos"/>
                <a:ea typeface="Aptos"/>
                <a:cs typeface="Aptos"/>
              </a:defRPr>
            </a:pPr>
            <a:r>
              <a:rPr sz="1650" b="1">
                <a:solidFill>
                  <a:srgbClr val="6F7C61"/>
                </a:solidFill>
                <a:latin typeface="Aptos"/>
                <a:ea typeface="Aptos"/>
                <a:cs typeface="Aptos"/>
              </a:rPr>
              <a:t>SQLite</a:t>
            </a:r>
          </a:p>
        </p:txBody>
      </p:sp>
      <p:sp>
        <p:nvSpPr>
          <p:cNvPr id="45" name="">
            <a:extLst xmlns:a="http://schemas.openxmlformats.org/drawingml/2006/main">
              <a:ext uri="{FF2B5EF4-FFF2-40B4-BE49-F238E27FC236}">
                <a16:creationId xmlns:a16="http://schemas.microsoft.com/office/drawing/2014/main" id="{39B75460-8025-490E-9BB9-FB5A2BB10400}"/>
              </a:ext>
            </a:extLst>
          </p:cNvPr>
          <p:cNvSpPr>
            <a:spLocks xmlns:a="http://schemas.openxmlformats.org/drawingml/2006/main" noGrp="1"/>
          </p:cNvSpPr>
          <p:nvPr/>
        </p:nvSpPr>
        <p:spPr>
          <a:xfrm xmlns:a="http://schemas.openxmlformats.org/drawingml/2006/main">
            <a:off x="87820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coordinate + version</a:t>
            </a:r>
          </a:p>
          <a:p xmlns:a="http://schemas.openxmlformats.org/drawingml/2006/main">
            <a:pPr algn="ctr">
              <a:buNone/>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searchable evidence</a:t>
            </a:r>
          </a:p>
        </p:txBody>
      </p:sp>
      <p:sp>
        <p:nvSpPr>
          <p:cNvPr id="46" name="">
            <a:extLst xmlns:a="http://schemas.openxmlformats.org/drawingml/2006/main">
              <a:ext uri="{FF2B5EF4-FFF2-40B4-BE49-F238E27FC236}">
                <a16:creationId xmlns:a16="http://schemas.microsoft.com/office/drawing/2014/main" id="{228BA2CD-5A44-4E2B-8B33-630643D49FC5}"/>
              </a:ext>
            </a:extLst>
          </p:cNvPr>
          <p:cNvSpPr>
            <a:spLocks xmlns:a="http://schemas.openxmlformats.org/drawingml/2006/main" noGrp="1"/>
          </p:cNvSpPr>
          <p:nvPr/>
        </p:nvSpPr>
        <p:spPr>
          <a:xfrm xmlns:a="http://schemas.openxmlformats.org/drawingml/2006/main">
            <a:off x="723900" y="4572000"/>
            <a:ext cx="31432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47" name="">
            <a:extLst xmlns:a="http://schemas.openxmlformats.org/drawingml/2006/main">
              <a:ext uri="{FF2B5EF4-FFF2-40B4-BE49-F238E27FC236}">
                <a16:creationId xmlns:a16="http://schemas.microsoft.com/office/drawing/2014/main" id="{3EDC7498-8EC2-4D87-A394-6B960279C2AA}"/>
              </a:ext>
            </a:extLst>
          </p:cNvPr>
          <p:cNvSpPr>
            <a:spLocks xmlns:a="http://schemas.openxmlformats.org/drawingml/2006/main" noGrp="1"/>
          </p:cNvSpPr>
          <p:nvPr/>
        </p:nvSpPr>
        <p:spPr>
          <a:xfrm xmlns:a="http://schemas.openxmlformats.org/drawingml/2006/main">
            <a:off x="857250" y="4743450"/>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250" b="1">
                <a:solidFill>
                  <a:srgbClr val="4F7D76"/>
                </a:solidFill>
                <a:latin typeface="Aptos Display"/>
                <a:ea typeface="Aptos Display"/>
                <a:cs typeface="Aptos Display"/>
              </a:defRPr>
            </a:pPr>
            <a:r>
              <a:rPr sz="2250" b="1">
                <a:solidFill>
                  <a:srgbClr val="4F7D76"/>
                </a:solidFill>
                <a:latin typeface="Aptos Display"/>
                <a:ea typeface="Aptos Display"/>
                <a:cs typeface="Aptos Display"/>
              </a:rPr>
              <a:t>10,517</a:t>
            </a:r>
          </a:p>
        </p:txBody>
      </p:sp>
      <p:sp>
        <p:nvSpPr>
          <p:cNvPr id="48" name="">
            <a:extLst xmlns:a="http://schemas.openxmlformats.org/drawingml/2006/main">
              <a:ext uri="{FF2B5EF4-FFF2-40B4-BE49-F238E27FC236}">
                <a16:creationId xmlns:a16="http://schemas.microsoft.com/office/drawing/2014/main" id="{A7078426-491B-46B2-BF2A-0BD29F21C5E4}"/>
              </a:ext>
            </a:extLst>
          </p:cNvPr>
          <p:cNvSpPr>
            <a:spLocks xmlns:a="http://schemas.openxmlformats.org/drawingml/2006/main" noGrp="1"/>
          </p:cNvSpPr>
          <p:nvPr/>
        </p:nvSpPr>
        <p:spPr>
          <a:xfrm xmlns:a="http://schemas.openxmlformats.org/drawingml/2006/main">
            <a:off x="857250" y="5181600"/>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B5C0D0"/>
                </a:solidFill>
                <a:latin typeface="Aptos"/>
                <a:ea typeface="Aptos"/>
                <a:cs typeface="Aptos"/>
              </a:defRPr>
            </a:pPr>
            <a:r>
              <a:rPr sz="900" b="1">
                <a:solidFill>
                  <a:srgbClr val="B5C0D0"/>
                </a:solidFill>
                <a:latin typeface="Aptos"/>
                <a:ea typeface="Aptos"/>
                <a:cs typeface="Aptos"/>
              </a:rPr>
              <a:t>coordinate-version components in the final large v2 DB</a:t>
            </a:r>
          </a:p>
        </p:txBody>
      </p:sp>
      <p:sp>
        <p:nvSpPr>
          <p:cNvPr id="49" name="">
            <a:extLst xmlns:a="http://schemas.openxmlformats.org/drawingml/2006/main">
              <a:ext uri="{FF2B5EF4-FFF2-40B4-BE49-F238E27FC236}">
                <a16:creationId xmlns:a16="http://schemas.microsoft.com/office/drawing/2014/main" id="{085519BC-4AE0-4A97-8CD6-ED7C1ED81CFF}"/>
              </a:ext>
            </a:extLst>
          </p:cNvPr>
          <p:cNvSpPr>
            <a:spLocks xmlns:a="http://schemas.openxmlformats.org/drawingml/2006/main" noGrp="1"/>
          </p:cNvSpPr>
          <p:nvPr/>
        </p:nvSpPr>
        <p:spPr>
          <a:xfrm xmlns:a="http://schemas.openxmlformats.org/drawingml/2006/main">
            <a:off x="4095750" y="4572000"/>
            <a:ext cx="23812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50" name="">
            <a:extLst xmlns:a="http://schemas.openxmlformats.org/drawingml/2006/main">
              <a:ext uri="{FF2B5EF4-FFF2-40B4-BE49-F238E27FC236}">
                <a16:creationId xmlns:a16="http://schemas.microsoft.com/office/drawing/2014/main" id="{70623A87-CDB3-4673-8F1B-963146F6B0E0}"/>
              </a:ext>
            </a:extLst>
          </p:cNvPr>
          <p:cNvSpPr>
            <a:spLocks xmlns:a="http://schemas.openxmlformats.org/drawingml/2006/main" noGrp="1"/>
          </p:cNvSpPr>
          <p:nvPr/>
        </p:nvSpPr>
        <p:spPr>
          <a:xfrm xmlns:a="http://schemas.openxmlformats.org/drawingml/2006/main">
            <a:off x="4229100" y="474345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250" b="1">
                <a:solidFill>
                  <a:srgbClr val="655F73"/>
                </a:solidFill>
                <a:latin typeface="Aptos Display"/>
                <a:ea typeface="Aptos Display"/>
                <a:cs typeface="Aptos Display"/>
              </a:defRPr>
            </a:pPr>
            <a:r>
              <a:rPr sz="2250" b="1">
                <a:solidFill>
                  <a:srgbClr val="655F73"/>
                </a:solidFill>
                <a:latin typeface="Aptos Display"/>
                <a:ea typeface="Aptos Display"/>
                <a:cs typeface="Aptos Display"/>
              </a:rPr>
              <a:t>15.8 GB</a:t>
            </a:r>
          </a:p>
        </p:txBody>
      </p:sp>
      <p:sp>
        <p:nvSpPr>
          <p:cNvPr id="51" name="">
            <a:extLst xmlns:a="http://schemas.openxmlformats.org/drawingml/2006/main">
              <a:ext uri="{FF2B5EF4-FFF2-40B4-BE49-F238E27FC236}">
                <a16:creationId xmlns:a16="http://schemas.microsoft.com/office/drawing/2014/main" id="{1042002C-E966-4E32-AC47-180EB000FBF6}"/>
              </a:ext>
            </a:extLst>
          </p:cNvPr>
          <p:cNvSpPr>
            <a:spLocks xmlns:a="http://schemas.openxmlformats.org/drawingml/2006/main" noGrp="1"/>
          </p:cNvSpPr>
          <p:nvPr/>
        </p:nvSpPr>
        <p:spPr>
          <a:xfrm xmlns:a="http://schemas.openxmlformats.org/drawingml/2006/main">
            <a:off x="4229100" y="518160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B5C0D0"/>
                </a:solidFill>
                <a:latin typeface="Aptos"/>
                <a:ea typeface="Aptos"/>
                <a:cs typeface="Aptos"/>
              </a:defRPr>
            </a:pPr>
            <a:r>
              <a:rPr sz="900" b="1">
                <a:solidFill>
                  <a:srgbClr val="B5C0D0"/>
                </a:solidFill>
                <a:latin typeface="Aptos"/>
                <a:ea typeface="Aptos"/>
                <a:cs typeface="Aptos"/>
              </a:rPr>
              <a:t>feature database artifact</a:t>
            </a:r>
          </a:p>
        </p:txBody>
      </p:sp>
      <p:sp>
        <p:nvSpPr>
          <p:cNvPr id="52" name="">
            <a:extLst xmlns:a="http://schemas.openxmlformats.org/drawingml/2006/main">
              <a:ext uri="{FF2B5EF4-FFF2-40B4-BE49-F238E27FC236}">
                <a16:creationId xmlns:a16="http://schemas.microsoft.com/office/drawing/2014/main" id="{FC714BCB-F918-42B9-92C4-8B6DC48EE19E}"/>
              </a:ext>
            </a:extLst>
          </p:cNvPr>
          <p:cNvSpPr>
            <a:spLocks xmlns:a="http://schemas.openxmlformats.org/drawingml/2006/main" noGrp="1"/>
          </p:cNvSpPr>
          <p:nvPr/>
        </p:nvSpPr>
        <p:spPr>
          <a:xfrm xmlns:a="http://schemas.openxmlformats.org/drawingml/2006/main">
            <a:off x="6705600" y="4572000"/>
            <a:ext cx="23812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53" name="">
            <a:extLst xmlns:a="http://schemas.openxmlformats.org/drawingml/2006/main">
              <a:ext uri="{FF2B5EF4-FFF2-40B4-BE49-F238E27FC236}">
                <a16:creationId xmlns:a16="http://schemas.microsoft.com/office/drawing/2014/main" id="{3CE5CC25-95DC-485F-8CD9-6832FA3B303C}"/>
              </a:ext>
            </a:extLst>
          </p:cNvPr>
          <p:cNvSpPr>
            <a:spLocks xmlns:a="http://schemas.openxmlformats.org/drawingml/2006/main" noGrp="1"/>
          </p:cNvSpPr>
          <p:nvPr/>
        </p:nvSpPr>
        <p:spPr>
          <a:xfrm xmlns:a="http://schemas.openxmlformats.org/drawingml/2006/main">
            <a:off x="6838950" y="474345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250" b="1">
                <a:solidFill>
                  <a:srgbClr val="6F7C61"/>
                </a:solidFill>
                <a:latin typeface="Aptos Display"/>
                <a:ea typeface="Aptos Display"/>
                <a:cs typeface="Aptos Display"/>
              </a:defRPr>
            </a:pPr>
            <a:r>
              <a:rPr sz="2250" b="1">
                <a:solidFill>
                  <a:srgbClr val="6F7C61"/>
                </a:solidFill>
                <a:latin typeface="Aptos Display"/>
                <a:ea typeface="Aptos Display"/>
                <a:cs typeface="Aptos Display"/>
              </a:rPr>
              <a:t>106 / 106</a:t>
            </a:r>
          </a:p>
        </p:txBody>
      </p:sp>
      <p:sp>
        <p:nvSpPr>
          <p:cNvPr id="54" name="">
            <a:extLst xmlns:a="http://schemas.openxmlformats.org/drawingml/2006/main">
              <a:ext uri="{FF2B5EF4-FFF2-40B4-BE49-F238E27FC236}">
                <a16:creationId xmlns:a16="http://schemas.microsoft.com/office/drawing/2014/main" id="{66347D10-5DA2-41E3-ABFD-0DEDA35B4719}"/>
              </a:ext>
            </a:extLst>
          </p:cNvPr>
          <p:cNvSpPr>
            <a:spLocks xmlns:a="http://schemas.openxmlformats.org/drawingml/2006/main" noGrp="1"/>
          </p:cNvSpPr>
          <p:nvPr/>
        </p:nvSpPr>
        <p:spPr>
          <a:xfrm xmlns:a="http://schemas.openxmlformats.org/drawingml/2006/main">
            <a:off x="6838950" y="518160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B5C0D0"/>
                </a:solidFill>
                <a:latin typeface="Aptos"/>
                <a:ea typeface="Aptos"/>
                <a:cs typeface="Aptos"/>
              </a:defRPr>
            </a:pPr>
            <a:r>
              <a:rPr sz="900" b="1">
                <a:solidFill>
                  <a:srgbClr val="B5C0D0"/>
                </a:solidFill>
                <a:latin typeface="Aptos"/>
                <a:ea typeface="Aptos"/>
                <a:cs typeface="Aptos"/>
              </a:rPr>
              <a:t>source-tree cases rerun in the bounded lane</a:t>
            </a:r>
          </a:p>
        </p:txBody>
      </p:sp>
      <p:sp>
        <p:nvSpPr>
          <p:cNvPr id="55" name="">
            <a:extLst xmlns:a="http://schemas.openxmlformats.org/drawingml/2006/main">
              <a:ext uri="{FF2B5EF4-FFF2-40B4-BE49-F238E27FC236}">
                <a16:creationId xmlns:a16="http://schemas.microsoft.com/office/drawing/2014/main" id="{12B9455D-2707-40E5-BAEB-B529DBB304AF}"/>
              </a:ext>
            </a:extLst>
          </p:cNvPr>
          <p:cNvSpPr>
            <a:spLocks xmlns:a="http://schemas.openxmlformats.org/drawingml/2006/main" noGrp="1"/>
          </p:cNvSpPr>
          <p:nvPr/>
        </p:nvSpPr>
        <p:spPr>
          <a:xfrm xmlns:a="http://schemas.openxmlformats.org/drawingml/2006/main">
            <a:off x="9315450" y="4572000"/>
            <a:ext cx="21907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56" name="">
            <a:extLst xmlns:a="http://schemas.openxmlformats.org/drawingml/2006/main">
              <a:ext uri="{FF2B5EF4-FFF2-40B4-BE49-F238E27FC236}">
                <a16:creationId xmlns:a16="http://schemas.microsoft.com/office/drawing/2014/main" id="{A79E28ED-D8C1-480B-AB74-2008E76513CC}"/>
              </a:ext>
            </a:extLst>
          </p:cNvPr>
          <p:cNvSpPr>
            <a:spLocks xmlns:a="http://schemas.openxmlformats.org/drawingml/2006/main" noGrp="1"/>
          </p:cNvSpPr>
          <p:nvPr/>
        </p:nvSpPr>
        <p:spPr>
          <a:xfrm xmlns:a="http://schemas.openxmlformats.org/drawingml/2006/main">
            <a:off x="9448800" y="474345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75" b="1">
                <a:solidFill>
                  <a:srgbClr val="8D754D"/>
                </a:solidFill>
                <a:latin typeface="Aptos Display"/>
                <a:ea typeface="Aptos Display"/>
                <a:cs typeface="Aptos Display"/>
              </a:defRPr>
            </a:pPr>
            <a:r>
              <a:rPr sz="1875" b="1">
                <a:solidFill>
                  <a:srgbClr val="8D754D"/>
                </a:solidFill>
                <a:latin typeface="Aptos Display"/>
                <a:ea typeface="Aptos Display"/>
                <a:cs typeface="Aptos Display"/>
              </a:rPr>
              <a:t>Guarded</a:t>
            </a:r>
          </a:p>
        </p:txBody>
      </p:sp>
      <p:sp>
        <p:nvSpPr>
          <p:cNvPr id="57" name="">
            <a:extLst xmlns:a="http://schemas.openxmlformats.org/drawingml/2006/main">
              <a:ext uri="{FF2B5EF4-FFF2-40B4-BE49-F238E27FC236}">
                <a16:creationId xmlns:a16="http://schemas.microsoft.com/office/drawing/2014/main" id="{13BBFA1C-299A-4F92-A11F-9E9D85B13E28}"/>
              </a:ext>
            </a:extLst>
          </p:cNvPr>
          <p:cNvSpPr>
            <a:spLocks xmlns:a="http://schemas.openxmlformats.org/drawingml/2006/main" noGrp="1"/>
          </p:cNvSpPr>
          <p:nvPr/>
        </p:nvSpPr>
        <p:spPr>
          <a:xfrm xmlns:a="http://schemas.openxmlformats.org/drawingml/2006/main">
            <a:off x="9448800" y="518160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B5C0D0"/>
                </a:solidFill>
                <a:latin typeface="Aptos"/>
                <a:ea typeface="Aptos"/>
                <a:cs typeface="Aptos"/>
              </a:defRPr>
            </a:pPr>
            <a:r>
              <a:rPr sz="900" b="1">
                <a:solidFill>
                  <a:srgbClr val="B5C0D0"/>
                </a:solidFill>
                <a:latin typeface="Aptos"/>
                <a:ea typeface="Aptos"/>
                <a:cs typeface="Aptos"/>
              </a:rPr>
              <a:t>reference additions must pass current controls</a:t>
            </a:r>
          </a:p>
        </p:txBody>
      </p:sp>
      <p:sp>
        <p:nvSpPr>
          <p:cNvPr id="58" name="">
            <a:extLst xmlns:a="http://schemas.openxmlformats.org/drawingml/2006/main">
              <a:ext uri="{FF2B5EF4-FFF2-40B4-BE49-F238E27FC236}">
                <a16:creationId xmlns:a16="http://schemas.microsoft.com/office/drawing/2014/main" id="{37BA7B6F-44CA-4C78-97C5-70BA3F9545E4}"/>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F1567441-C001-4F36-AAEE-A8F49225A38B}"/>
              </a:ext>
            </a:extLst>
          </p:cNvPr>
          <p:cNvSpPr>
            <a:spLocks xmlns:a="http://schemas.openxmlformats.org/drawingml/2006/main" noGrp="1"/>
          </p:cNvSpPr>
          <p:nvPr/>
        </p:nvSpPr>
        <p:spPr>
          <a:xfrm xmlns:a="http://schemas.openxmlformats.org/drawingml/2006/main">
            <a:off x="819150" y="58959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AEBACC"/>
                </a:solidFill>
                <a:latin typeface="Cascadia Mono"/>
                <a:ea typeface="Cascadia Mono"/>
                <a:cs typeface="Cascadia Mono"/>
              </a:defRPr>
            </a:pPr>
            <a:r>
              <a:rPr sz="675" b="0">
                <a:solidFill>
                  <a:srgbClr val="AEBACC"/>
                </a:solidFill>
                <a:latin typeface="Cascadia Mono"/>
                <a:ea typeface="Cascadia Mono"/>
                <a:cs typeface="Cascadia Mono"/>
              </a:rPr>
              <a:t>Code: maven_downloader.py  -&gt;  reference_converter.py  -&gt;  reference_features.py  |  DB: data/reference_db/reference_features_demo_final_large_v2.sqlite</a:t>
            </a:r>
          </a:p>
        </p:txBody>
      </p:sp>
      <p:sp>
        <p:nvSpPr>
          <p:cNvPr id="60" name="">
            <a:extLst xmlns:a="http://schemas.openxmlformats.org/drawingml/2006/main">
              <a:ext uri="{FF2B5EF4-FFF2-40B4-BE49-F238E27FC236}">
                <a16:creationId xmlns:a16="http://schemas.microsoft.com/office/drawing/2014/main" id="{6C013DD4-3C47-4F4E-AAF3-2D7ADD799CF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49187140"/>
      </p:ext>
    </p:extLst>
  </p:cSld>
</p:sld>
</file>

<file path=ppt/slides/slide10.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EA08F41-E8B8-4422-AD4F-EAC7F8A20530}"/>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F7C61"/>
                </a:solidFill>
                <a:latin typeface="Aptos"/>
                <a:ea typeface="Aptos"/>
                <a:cs typeface="Aptos"/>
              </a:defRPr>
            </a:pPr>
            <a:r>
              <a:rPr sz="900" b="1">
                <a:solidFill>
                  <a:srgbClr val="6F7C61"/>
                </a:solidFill>
                <a:latin typeface="Aptos"/>
                <a:ea typeface="Aptos"/>
                <a:cs typeface="Aptos"/>
              </a:rPr>
              <a:t>COMPONENT 4  |  MATCHER</a:t>
            </a:r>
          </a:p>
        </p:txBody>
      </p:sp>
      <p:sp>
        <p:nvSpPr>
          <p:cNvPr id="2" name="">
            <a:extLst xmlns:a="http://schemas.openxmlformats.org/drawingml/2006/main">
              <a:ext uri="{FF2B5EF4-FFF2-40B4-BE49-F238E27FC236}">
                <a16:creationId xmlns:a16="http://schemas.microsoft.com/office/drawing/2014/main" id="{06E84E82-77AA-4D5E-BF1E-73863F2AF16D}"/>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Candidate generation and matching evolved toward guarded multi-signal decisions</a:t>
            </a:r>
          </a:p>
        </p:txBody>
      </p:sp>
      <p:sp>
        <p:nvSpPr>
          <p:cNvPr id="3" name="">
            <a:extLst xmlns:a="http://schemas.openxmlformats.org/drawingml/2006/main">
              <a:ext uri="{FF2B5EF4-FFF2-40B4-BE49-F238E27FC236}">
                <a16:creationId xmlns:a16="http://schemas.microsoft.com/office/drawing/2014/main" id="{26D2B7EF-E217-44E8-8F45-A30FE7DA707F}"/>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10</a:t>
            </a:r>
          </a:p>
        </p:txBody>
      </p:sp>
      <p:sp>
        <p:nvSpPr>
          <p:cNvPr id="4" name="">
            <a:extLst xmlns:a="http://schemas.openxmlformats.org/drawingml/2006/main">
              <a:ext uri="{FF2B5EF4-FFF2-40B4-BE49-F238E27FC236}">
                <a16:creationId xmlns:a16="http://schemas.microsoft.com/office/drawing/2014/main" id="{28F4FEBF-5387-4CB1-BE04-64377FD417F6}"/>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5" name="">
            <a:extLst xmlns:a="http://schemas.openxmlformats.org/drawingml/2006/main">
              <a:ext uri="{FF2B5EF4-FFF2-40B4-BE49-F238E27FC236}">
                <a16:creationId xmlns:a16="http://schemas.microsoft.com/office/drawing/2014/main" id="{AD66398B-D481-4F3B-B6C1-2AFF7CCE967B}"/>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7B8F7C8B-0370-423E-A440-1E1EA965A9F9}"/>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Package shortlist</a:t>
            </a:r>
          </a:p>
        </p:txBody>
      </p:sp>
      <p:sp>
        <p:nvSpPr>
          <p:cNvPr id="7" name="">
            <a:extLst xmlns:a="http://schemas.openxmlformats.org/drawingml/2006/main">
              <a:ext uri="{FF2B5EF4-FFF2-40B4-BE49-F238E27FC236}">
                <a16:creationId xmlns:a16="http://schemas.microsoft.com/office/drawing/2014/main" id="{0B4B3D50-41E9-4AE4-B7E1-D8A2259D1D34}"/>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65717A"/>
                </a:solidFill>
                <a:latin typeface="Aptos"/>
                <a:ea typeface="Aptos"/>
                <a:cs typeface="Aptos"/>
              </a:defRPr>
            </a:pPr>
            <a:r>
              <a:rPr sz="825" b="0">
                <a:solidFill>
                  <a:srgbClr val="65717A"/>
                </a:solidFill>
                <a:latin typeface="Aptos"/>
                <a:ea typeface="Aptos"/>
                <a:cs typeface="Aptos"/>
              </a:rPr>
              <a:t>Fast recall, but fragile under renaming and artifact overlap.</a:t>
            </a:r>
          </a:p>
        </p:txBody>
      </p:sp>
      <p:sp>
        <p:nvSpPr>
          <p:cNvPr id="8" name="rule">
            <a:extLst xmlns:a="http://schemas.openxmlformats.org/drawingml/2006/main">
              <a:ext uri="{FF2B5EF4-FFF2-40B4-BE49-F238E27FC236}">
                <a16:creationId xmlns:a16="http://schemas.microsoft.com/office/drawing/2014/main" id="{B5093DD8-352C-4753-A265-B4D99941F6C3}"/>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EA0E315-AFEE-4A75-91A2-EA7334D26AEE}"/>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DA58262-DFCB-47B6-931E-0A6A5AB08BF1}"/>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F2CE3173-F386-447B-8BA5-7F4892756D39}"/>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7906ADA0-26DE-49DA-B676-D2287A3A6E31}"/>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Weighted fusion</a:t>
            </a:r>
          </a:p>
        </p:txBody>
      </p:sp>
      <p:sp>
        <p:nvSpPr>
          <p:cNvPr id="13" name="">
            <a:extLst xmlns:a="http://schemas.openxmlformats.org/drawingml/2006/main">
              <a:ext uri="{FF2B5EF4-FFF2-40B4-BE49-F238E27FC236}">
                <a16:creationId xmlns:a16="http://schemas.microsoft.com/office/drawing/2014/main" id="{D56361E7-322B-4A0C-8334-A88BB2BDDD78}"/>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65717A"/>
                </a:solidFill>
                <a:latin typeface="Aptos"/>
                <a:ea typeface="Aptos"/>
                <a:cs typeface="Aptos"/>
              </a:defRPr>
            </a:pPr>
            <a:r>
              <a:rPr sz="825" b="0">
                <a:solidFill>
                  <a:srgbClr val="65717A"/>
                </a:solidFill>
                <a:latin typeface="Aptos"/>
                <a:ea typeface="Aptos"/>
                <a:cs typeface="Aptos"/>
              </a:rPr>
              <a:t>Class, method, opcode, graph, literal evidence.</a:t>
            </a:r>
          </a:p>
        </p:txBody>
      </p:sp>
      <p:sp>
        <p:nvSpPr>
          <p:cNvPr id="14" name="rule">
            <a:extLst xmlns:a="http://schemas.openxmlformats.org/drawingml/2006/main">
              <a:ext uri="{FF2B5EF4-FFF2-40B4-BE49-F238E27FC236}">
                <a16:creationId xmlns:a16="http://schemas.microsoft.com/office/drawing/2014/main" id="{43F51FDB-B6B6-43AD-995D-3E1F0FD361A6}"/>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66D35E0-1D3A-4F6A-B065-48A9549EC299}"/>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2C9998E-D7BB-4C5A-BD79-BC3265609099}"/>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17" name="">
            <a:extLst xmlns:a="http://schemas.openxmlformats.org/drawingml/2006/main">
              <a:ext uri="{FF2B5EF4-FFF2-40B4-BE49-F238E27FC236}">
                <a16:creationId xmlns:a16="http://schemas.microsoft.com/office/drawing/2014/main" id="{0F2FBD17-9E56-40B6-9080-6EC82A7114A8}"/>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D754D"/>
                </a:solidFill>
                <a:latin typeface="Aptos"/>
                <a:ea typeface="Aptos"/>
                <a:cs typeface="Aptos"/>
              </a:defRPr>
            </a:pPr>
            <a:r>
              <a:rPr sz="825" b="1">
                <a:solidFill>
                  <a:srgbClr val="8D754D"/>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B1EECFB2-2653-47E2-8C87-827E69067176}"/>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Version policy</a:t>
            </a:r>
          </a:p>
        </p:txBody>
      </p:sp>
      <p:sp>
        <p:nvSpPr>
          <p:cNvPr id="19" name="">
            <a:extLst xmlns:a="http://schemas.openxmlformats.org/drawingml/2006/main">
              <a:ext uri="{FF2B5EF4-FFF2-40B4-BE49-F238E27FC236}">
                <a16:creationId xmlns:a16="http://schemas.microsoft.com/office/drawing/2014/main" id="{427A7342-B69F-46E8-A5AF-CAFFC9777100}"/>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65717A"/>
                </a:solidFill>
                <a:latin typeface="Aptos"/>
                <a:ea typeface="Aptos"/>
                <a:cs typeface="Aptos"/>
              </a:defRPr>
            </a:pPr>
            <a:r>
              <a:rPr sz="825" b="0">
                <a:solidFill>
                  <a:srgbClr val="65717A"/>
                </a:solidFill>
                <a:latin typeface="Aptos"/>
                <a:ea typeface="Aptos"/>
                <a:cs typeface="Aptos"/>
              </a:rPr>
              <a:t>Unique evidence, artifact families, ambiguity and near ties.</a:t>
            </a:r>
          </a:p>
        </p:txBody>
      </p:sp>
      <p:sp>
        <p:nvSpPr>
          <p:cNvPr id="20" name="rule">
            <a:extLst xmlns:a="http://schemas.openxmlformats.org/drawingml/2006/main">
              <a:ext uri="{FF2B5EF4-FFF2-40B4-BE49-F238E27FC236}">
                <a16:creationId xmlns:a16="http://schemas.microsoft.com/office/drawing/2014/main" id="{3E4FFDF6-E4A7-4349-AEAB-8C89F47FA62E}"/>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589FD0E-5025-476D-A3B0-F80354C5A964}"/>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24A1702-2C3E-4305-9429-7F8D22D049F1}"/>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3" name="">
            <a:extLst xmlns:a="http://schemas.openxmlformats.org/drawingml/2006/main">
              <a:ext uri="{FF2B5EF4-FFF2-40B4-BE49-F238E27FC236}">
                <a16:creationId xmlns:a16="http://schemas.microsoft.com/office/drawing/2014/main" id="{4903CFB3-E635-4869-B33C-4C73F8F06781}"/>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A65C55"/>
                </a:solidFill>
                <a:latin typeface="Aptos"/>
                <a:ea typeface="Aptos"/>
                <a:cs typeface="Aptos"/>
              </a:defRPr>
            </a:pPr>
            <a:r>
              <a:rPr sz="825" b="1">
                <a:solidFill>
                  <a:srgbClr val="A65C55"/>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FA84B035-E59A-41DD-B421-1FDF9915F7AD}"/>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Evidence gates</a:t>
            </a:r>
          </a:p>
        </p:txBody>
      </p:sp>
      <p:sp>
        <p:nvSpPr>
          <p:cNvPr id="25" name="">
            <a:extLst xmlns:a="http://schemas.openxmlformats.org/drawingml/2006/main">
              <a:ext uri="{FF2B5EF4-FFF2-40B4-BE49-F238E27FC236}">
                <a16:creationId xmlns:a16="http://schemas.microsoft.com/office/drawing/2014/main" id="{48E4205C-5CED-4DC1-84FE-1108A8DBB4E3}"/>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65717A"/>
                </a:solidFill>
                <a:latin typeface="Aptos"/>
                <a:ea typeface="Aptos"/>
                <a:cs typeface="Aptos"/>
              </a:defRPr>
            </a:pPr>
            <a:r>
              <a:rPr sz="825" b="0">
                <a:solidFill>
                  <a:srgbClr val="65717A"/>
                </a:solidFill>
                <a:latin typeface="Aptos"/>
                <a:ea typeface="Aptos"/>
                <a:cs typeface="Aptos"/>
              </a:rPr>
              <a:t>Unsafe global signals stay disabled or report-only.</a:t>
            </a:r>
          </a:p>
        </p:txBody>
      </p:sp>
      <p:sp>
        <p:nvSpPr>
          <p:cNvPr id="26" name="">
            <a:extLst xmlns:a="http://schemas.openxmlformats.org/drawingml/2006/main">
              <a:ext uri="{FF2B5EF4-FFF2-40B4-BE49-F238E27FC236}">
                <a16:creationId xmlns:a16="http://schemas.microsoft.com/office/drawing/2014/main" id="{4300E238-65D8-4EA0-8E50-2DE6EEE19D22}"/>
              </a:ext>
            </a:extLst>
          </p:cNvPr>
          <p:cNvSpPr>
            <a:spLocks xmlns:a="http://schemas.openxmlformats.org/drawingml/2006/main" noGrp="1"/>
          </p:cNvSpPr>
          <p:nvPr/>
        </p:nvSpPr>
        <p:spPr>
          <a:xfrm xmlns:a="http://schemas.openxmlformats.org/drawingml/2006/main">
            <a:off x="685800" y="2590800"/>
            <a:ext cx="4838700" cy="272415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27" name="">
            <a:extLst xmlns:a="http://schemas.openxmlformats.org/drawingml/2006/main">
              <a:ext uri="{FF2B5EF4-FFF2-40B4-BE49-F238E27FC236}">
                <a16:creationId xmlns:a16="http://schemas.microsoft.com/office/drawing/2014/main" id="{0055F085-B6AD-4951-AE3C-55D463227FE8}"/>
              </a:ext>
            </a:extLst>
          </p:cNvPr>
          <p:cNvSpPr>
            <a:spLocks xmlns:a="http://schemas.openxmlformats.org/drawingml/2006/main" noGrp="1"/>
          </p:cNvSpPr>
          <p:nvPr/>
        </p:nvSpPr>
        <p:spPr>
          <a:xfrm xmlns:a="http://schemas.openxmlformats.org/drawingml/2006/main">
            <a:off x="914400" y="28194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F7C61"/>
                </a:solidFill>
                <a:latin typeface="Aptos"/>
                <a:ea typeface="Aptos"/>
                <a:cs typeface="Aptos"/>
              </a:defRPr>
            </a:pPr>
            <a:r>
              <a:rPr sz="900" b="1">
                <a:solidFill>
                  <a:srgbClr val="6F7C61"/>
                </a:solidFill>
                <a:latin typeface="Aptos"/>
                <a:ea typeface="Aptos"/>
                <a:cs typeface="Aptos"/>
              </a:rPr>
              <a:t>CANDIDATE FLOW</a:t>
            </a:r>
          </a:p>
        </p:txBody>
      </p:sp>
      <p:sp>
        <p:nvSpPr>
          <p:cNvPr id="28" name="">
            <a:extLst xmlns:a="http://schemas.openxmlformats.org/drawingml/2006/main">
              <a:ext uri="{FF2B5EF4-FFF2-40B4-BE49-F238E27FC236}">
                <a16:creationId xmlns:a16="http://schemas.microsoft.com/office/drawing/2014/main" id="{6F4A4472-07BC-45C1-BEA4-DEEA52F2AE82}"/>
              </a:ext>
            </a:extLst>
          </p:cNvPr>
          <p:cNvSpPr>
            <a:spLocks xmlns:a="http://schemas.openxmlformats.org/drawingml/2006/main" noGrp="1"/>
          </p:cNvSpPr>
          <p:nvPr/>
        </p:nvSpPr>
        <p:spPr>
          <a:xfrm xmlns:a="http://schemas.openxmlformats.org/drawingml/2006/main">
            <a:off x="990600" y="321945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29" name="">
            <a:extLst xmlns:a="http://schemas.openxmlformats.org/drawingml/2006/main">
              <a:ext uri="{FF2B5EF4-FFF2-40B4-BE49-F238E27FC236}">
                <a16:creationId xmlns:a16="http://schemas.microsoft.com/office/drawing/2014/main" id="{F0205AEA-F80F-4956-9C71-253EF912913E}"/>
              </a:ext>
            </a:extLst>
          </p:cNvPr>
          <p:cNvSpPr>
            <a:spLocks xmlns:a="http://schemas.openxmlformats.org/drawingml/2006/main" noGrp="1"/>
          </p:cNvSpPr>
          <p:nvPr/>
        </p:nvSpPr>
        <p:spPr>
          <a:xfrm xmlns:a="http://schemas.openxmlformats.org/drawingml/2006/main">
            <a:off x="1057275" y="327660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365F7D"/>
                </a:solidFill>
                <a:latin typeface="Aptos"/>
                <a:ea typeface="Aptos"/>
                <a:cs typeface="Aptos"/>
              </a:defRPr>
            </a:pPr>
            <a:r>
              <a:rPr sz="825" b="1">
                <a:solidFill>
                  <a:srgbClr val="365F7D"/>
                </a:solidFill>
                <a:latin typeface="Aptos"/>
                <a:ea typeface="Aptos"/>
                <a:cs typeface="Aptos"/>
              </a:rPr>
              <a:t>APK feature set</a:t>
            </a:r>
          </a:p>
        </p:txBody>
      </p:sp>
      <p:sp>
        <p:nvSpPr>
          <p:cNvPr id="30" name="rule">
            <a:extLst xmlns:a="http://schemas.openxmlformats.org/drawingml/2006/main">
              <a:ext uri="{FF2B5EF4-FFF2-40B4-BE49-F238E27FC236}">
                <a16:creationId xmlns:a16="http://schemas.microsoft.com/office/drawing/2014/main" id="{59C3CB2E-D484-48CC-A494-B527ADB987FA}"/>
              </a:ext>
            </a:extLst>
          </p:cNvPr>
          <p:cNvSpPr>
            <a:spLocks xmlns:a="http://schemas.openxmlformats.org/drawingml/2006/main" noGrp="1"/>
          </p:cNvSpPr>
          <p:nvPr/>
        </p:nvSpPr>
        <p:spPr>
          <a:xfrm xmlns:a="http://schemas.openxmlformats.org/drawingml/2006/main">
            <a:off x="3676650" y="3371850"/>
            <a:ext cx="914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ADAD610-B224-4C6F-9ADB-6483393FE397}"/>
              </a:ext>
            </a:extLst>
          </p:cNvPr>
          <p:cNvSpPr>
            <a:spLocks xmlns:a="http://schemas.openxmlformats.org/drawingml/2006/main" noGrp="1"/>
          </p:cNvSpPr>
          <p:nvPr/>
        </p:nvSpPr>
        <p:spPr>
          <a:xfrm xmlns:a="http://schemas.openxmlformats.org/drawingml/2006/main">
            <a:off x="4514850" y="328612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458E942-934D-496B-9D51-8BF0EFCCB9D2}"/>
              </a:ext>
            </a:extLst>
          </p:cNvPr>
          <p:cNvSpPr>
            <a:spLocks xmlns:a="http://schemas.openxmlformats.org/drawingml/2006/main" noGrp="1"/>
          </p:cNvSpPr>
          <p:nvPr/>
        </p:nvSpPr>
        <p:spPr>
          <a:xfrm xmlns:a="http://schemas.openxmlformats.org/drawingml/2006/main">
            <a:off x="990600" y="361950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33" name="">
            <a:extLst xmlns:a="http://schemas.openxmlformats.org/drawingml/2006/main">
              <a:ext uri="{FF2B5EF4-FFF2-40B4-BE49-F238E27FC236}">
                <a16:creationId xmlns:a16="http://schemas.microsoft.com/office/drawing/2014/main" id="{C13893B8-52D8-454B-9950-FA15C8BB230E}"/>
              </a:ext>
            </a:extLst>
          </p:cNvPr>
          <p:cNvSpPr>
            <a:spLocks xmlns:a="http://schemas.openxmlformats.org/drawingml/2006/main" noGrp="1"/>
          </p:cNvSpPr>
          <p:nvPr/>
        </p:nvSpPr>
        <p:spPr>
          <a:xfrm xmlns:a="http://schemas.openxmlformats.org/drawingml/2006/main">
            <a:off x="1057275" y="36766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365F7D"/>
                </a:solidFill>
                <a:latin typeface="Aptos"/>
                <a:ea typeface="Aptos"/>
                <a:cs typeface="Aptos"/>
              </a:defRPr>
            </a:pPr>
            <a:r>
              <a:rPr sz="825" b="1">
                <a:solidFill>
                  <a:srgbClr val="365F7D"/>
                </a:solidFill>
                <a:latin typeface="Aptos"/>
                <a:ea typeface="Aptos"/>
                <a:cs typeface="Aptos"/>
              </a:rPr>
              <a:t>reference package prefilter</a:t>
            </a:r>
          </a:p>
        </p:txBody>
      </p:sp>
      <p:sp>
        <p:nvSpPr>
          <p:cNvPr id="34" name="rule">
            <a:extLst xmlns:a="http://schemas.openxmlformats.org/drawingml/2006/main">
              <a:ext uri="{FF2B5EF4-FFF2-40B4-BE49-F238E27FC236}">
                <a16:creationId xmlns:a16="http://schemas.microsoft.com/office/drawing/2014/main" id="{148F6637-2A04-4AAB-BE2D-35B14864DBA5}"/>
              </a:ext>
            </a:extLst>
          </p:cNvPr>
          <p:cNvSpPr>
            <a:spLocks xmlns:a="http://schemas.openxmlformats.org/drawingml/2006/main" noGrp="1"/>
          </p:cNvSpPr>
          <p:nvPr/>
        </p:nvSpPr>
        <p:spPr>
          <a:xfrm xmlns:a="http://schemas.openxmlformats.org/drawingml/2006/main">
            <a:off x="3676650" y="3771900"/>
            <a:ext cx="914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F4C9A8D6-AD57-4473-A88F-FFA5DCC5B7B4}"/>
              </a:ext>
            </a:extLst>
          </p:cNvPr>
          <p:cNvSpPr>
            <a:spLocks xmlns:a="http://schemas.openxmlformats.org/drawingml/2006/main" noGrp="1"/>
          </p:cNvSpPr>
          <p:nvPr/>
        </p:nvSpPr>
        <p:spPr>
          <a:xfrm xmlns:a="http://schemas.openxmlformats.org/drawingml/2006/main">
            <a:off x="4514850" y="368617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DDBC5D0D-474D-401E-9667-17637690D144}"/>
              </a:ext>
            </a:extLst>
          </p:cNvPr>
          <p:cNvSpPr>
            <a:spLocks xmlns:a="http://schemas.openxmlformats.org/drawingml/2006/main" noGrp="1"/>
          </p:cNvSpPr>
          <p:nvPr/>
        </p:nvSpPr>
        <p:spPr>
          <a:xfrm xmlns:a="http://schemas.openxmlformats.org/drawingml/2006/main">
            <a:off x="990600" y="401955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37" name="">
            <a:extLst xmlns:a="http://schemas.openxmlformats.org/drawingml/2006/main">
              <a:ext uri="{FF2B5EF4-FFF2-40B4-BE49-F238E27FC236}">
                <a16:creationId xmlns:a16="http://schemas.microsoft.com/office/drawing/2014/main" id="{44B28A0B-67BB-45FC-B003-619B00C66E2C}"/>
              </a:ext>
            </a:extLst>
          </p:cNvPr>
          <p:cNvSpPr>
            <a:spLocks xmlns:a="http://schemas.openxmlformats.org/drawingml/2006/main" noGrp="1"/>
          </p:cNvSpPr>
          <p:nvPr/>
        </p:nvSpPr>
        <p:spPr>
          <a:xfrm xmlns:a="http://schemas.openxmlformats.org/drawingml/2006/main">
            <a:off x="1057275" y="407670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F7C61"/>
                </a:solidFill>
                <a:latin typeface="Aptos"/>
                <a:ea typeface="Aptos"/>
                <a:cs typeface="Aptos"/>
              </a:defRPr>
            </a:pPr>
            <a:r>
              <a:rPr sz="825" b="1">
                <a:solidFill>
                  <a:srgbClr val="6F7C61"/>
                </a:solidFill>
                <a:latin typeface="Aptos"/>
                <a:ea typeface="Aptos"/>
                <a:cs typeface="Aptos"/>
              </a:rPr>
              <a:t>same-coordinate versions</a:t>
            </a:r>
          </a:p>
        </p:txBody>
      </p:sp>
      <p:sp>
        <p:nvSpPr>
          <p:cNvPr id="38" name="rule">
            <a:extLst xmlns:a="http://schemas.openxmlformats.org/drawingml/2006/main">
              <a:ext uri="{FF2B5EF4-FFF2-40B4-BE49-F238E27FC236}">
                <a16:creationId xmlns:a16="http://schemas.microsoft.com/office/drawing/2014/main" id="{1B996A60-FF08-4F99-9D77-17DBE7D566A1}"/>
              </a:ext>
            </a:extLst>
          </p:cNvPr>
          <p:cNvSpPr>
            <a:spLocks xmlns:a="http://schemas.openxmlformats.org/drawingml/2006/main" noGrp="1"/>
          </p:cNvSpPr>
          <p:nvPr/>
        </p:nvSpPr>
        <p:spPr>
          <a:xfrm xmlns:a="http://schemas.openxmlformats.org/drawingml/2006/main">
            <a:off x="3676650" y="4171950"/>
            <a:ext cx="9144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144360D5-791D-4CD4-B7E0-26B73D4A3636}"/>
              </a:ext>
            </a:extLst>
          </p:cNvPr>
          <p:cNvSpPr>
            <a:spLocks xmlns:a="http://schemas.openxmlformats.org/drawingml/2006/main" noGrp="1"/>
          </p:cNvSpPr>
          <p:nvPr/>
        </p:nvSpPr>
        <p:spPr>
          <a:xfrm xmlns:a="http://schemas.openxmlformats.org/drawingml/2006/main">
            <a:off x="4514850" y="4086225"/>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14AF7E0C-E4AF-4BB8-958A-3EF6A939D8C2}"/>
              </a:ext>
            </a:extLst>
          </p:cNvPr>
          <p:cNvSpPr>
            <a:spLocks xmlns:a="http://schemas.openxmlformats.org/drawingml/2006/main" noGrp="1"/>
          </p:cNvSpPr>
          <p:nvPr/>
        </p:nvSpPr>
        <p:spPr>
          <a:xfrm xmlns:a="http://schemas.openxmlformats.org/drawingml/2006/main">
            <a:off x="990600" y="441960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41" name="">
            <a:extLst xmlns:a="http://schemas.openxmlformats.org/drawingml/2006/main">
              <a:ext uri="{FF2B5EF4-FFF2-40B4-BE49-F238E27FC236}">
                <a16:creationId xmlns:a16="http://schemas.microsoft.com/office/drawing/2014/main" id="{AA245E9D-FA9B-42A3-A6EA-CC0CB31F0052}"/>
              </a:ext>
            </a:extLst>
          </p:cNvPr>
          <p:cNvSpPr>
            <a:spLocks xmlns:a="http://schemas.openxmlformats.org/drawingml/2006/main" noGrp="1"/>
          </p:cNvSpPr>
          <p:nvPr/>
        </p:nvSpPr>
        <p:spPr>
          <a:xfrm xmlns:a="http://schemas.openxmlformats.org/drawingml/2006/main">
            <a:off x="1057275" y="44767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F7C61"/>
                </a:solidFill>
                <a:latin typeface="Aptos"/>
                <a:ea typeface="Aptos"/>
                <a:cs typeface="Aptos"/>
              </a:defRPr>
            </a:pPr>
            <a:r>
              <a:rPr sz="825" b="1">
                <a:solidFill>
                  <a:srgbClr val="6F7C61"/>
                </a:solidFill>
                <a:latin typeface="Aptos"/>
                <a:ea typeface="Aptos"/>
                <a:cs typeface="Aptos"/>
              </a:rPr>
              <a:t>artifact-family rules</a:t>
            </a:r>
          </a:p>
        </p:txBody>
      </p:sp>
      <p:sp>
        <p:nvSpPr>
          <p:cNvPr id="42" name="rule">
            <a:extLst xmlns:a="http://schemas.openxmlformats.org/drawingml/2006/main">
              <a:ext uri="{FF2B5EF4-FFF2-40B4-BE49-F238E27FC236}">
                <a16:creationId xmlns:a16="http://schemas.microsoft.com/office/drawing/2014/main" id="{372DBCE8-1109-4537-B85E-A51051D4E8D5}"/>
              </a:ext>
            </a:extLst>
          </p:cNvPr>
          <p:cNvSpPr>
            <a:spLocks xmlns:a="http://schemas.openxmlformats.org/drawingml/2006/main" noGrp="1"/>
          </p:cNvSpPr>
          <p:nvPr/>
        </p:nvSpPr>
        <p:spPr>
          <a:xfrm xmlns:a="http://schemas.openxmlformats.org/drawingml/2006/main">
            <a:off x="3676650" y="4572000"/>
            <a:ext cx="9144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5EA9D74A-7874-4DF8-92E5-8732B6EB0621}"/>
              </a:ext>
            </a:extLst>
          </p:cNvPr>
          <p:cNvSpPr>
            <a:spLocks xmlns:a="http://schemas.openxmlformats.org/drawingml/2006/main" noGrp="1"/>
          </p:cNvSpPr>
          <p:nvPr/>
        </p:nvSpPr>
        <p:spPr>
          <a:xfrm xmlns:a="http://schemas.openxmlformats.org/drawingml/2006/main">
            <a:off x="4514850" y="4486275"/>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9E21478-6BCF-4450-9435-91E8AFF0F94B}"/>
              </a:ext>
            </a:extLst>
          </p:cNvPr>
          <p:cNvSpPr>
            <a:spLocks xmlns:a="http://schemas.openxmlformats.org/drawingml/2006/main" noGrp="1"/>
          </p:cNvSpPr>
          <p:nvPr/>
        </p:nvSpPr>
        <p:spPr>
          <a:xfrm xmlns:a="http://schemas.openxmlformats.org/drawingml/2006/main">
            <a:off x="990600" y="481965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45" name="">
            <a:extLst xmlns:a="http://schemas.openxmlformats.org/drawingml/2006/main">
              <a:ext uri="{FF2B5EF4-FFF2-40B4-BE49-F238E27FC236}">
                <a16:creationId xmlns:a16="http://schemas.microsoft.com/office/drawing/2014/main" id="{94B2F106-3AD1-44B9-B4CD-016F3452E9E6}"/>
              </a:ext>
            </a:extLst>
          </p:cNvPr>
          <p:cNvSpPr>
            <a:spLocks xmlns:a="http://schemas.openxmlformats.org/drawingml/2006/main" noGrp="1"/>
          </p:cNvSpPr>
          <p:nvPr/>
        </p:nvSpPr>
        <p:spPr>
          <a:xfrm xmlns:a="http://schemas.openxmlformats.org/drawingml/2006/main">
            <a:off x="1057275" y="487680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F7C61"/>
                </a:solidFill>
                <a:latin typeface="Aptos"/>
                <a:ea typeface="Aptos"/>
                <a:cs typeface="Aptos"/>
              </a:defRPr>
            </a:pPr>
            <a:r>
              <a:rPr sz="825" b="1">
                <a:solidFill>
                  <a:srgbClr val="6F7C61"/>
                </a:solidFill>
                <a:latin typeface="Aptos"/>
                <a:ea typeface="Aptos"/>
                <a:cs typeface="Aptos"/>
              </a:rPr>
              <a:t>ranked candidates</a:t>
            </a:r>
          </a:p>
        </p:txBody>
      </p:sp>
      <p:sp>
        <p:nvSpPr>
          <p:cNvPr id="46" name="">
            <a:extLst xmlns:a="http://schemas.openxmlformats.org/drawingml/2006/main">
              <a:ext uri="{FF2B5EF4-FFF2-40B4-BE49-F238E27FC236}">
                <a16:creationId xmlns:a16="http://schemas.microsoft.com/office/drawing/2014/main" id="{B5A13E06-E4CD-418C-9996-CFC86BCD87A0}"/>
              </a:ext>
            </a:extLst>
          </p:cNvPr>
          <p:cNvSpPr>
            <a:spLocks xmlns:a="http://schemas.openxmlformats.org/drawingml/2006/main" noGrp="1"/>
          </p:cNvSpPr>
          <p:nvPr/>
        </p:nvSpPr>
        <p:spPr>
          <a:xfrm xmlns:a="http://schemas.openxmlformats.org/drawingml/2006/main">
            <a:off x="3676650" y="48577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AEBACC"/>
                </a:solidFill>
                <a:latin typeface="Aptos"/>
                <a:ea typeface="Aptos"/>
                <a:cs typeface="Aptos"/>
              </a:defRPr>
            </a:pPr>
            <a:r>
              <a:rPr sz="825" b="0">
                <a:solidFill>
                  <a:srgbClr val="AEBACC"/>
                </a:solidFill>
                <a:latin typeface="Aptos"/>
                <a:ea typeface="Aptos"/>
                <a:cs typeface="Aptos"/>
              </a:rPr>
              <a:t>shortlist before deep scoring</a:t>
            </a:r>
          </a:p>
        </p:txBody>
      </p:sp>
      <p:sp>
        <p:nvSpPr>
          <p:cNvPr id="47" name="">
            <a:extLst xmlns:a="http://schemas.openxmlformats.org/drawingml/2006/main">
              <a:ext uri="{FF2B5EF4-FFF2-40B4-BE49-F238E27FC236}">
                <a16:creationId xmlns:a16="http://schemas.microsoft.com/office/drawing/2014/main" id="{0B082422-C295-465A-85FC-6AB2B5CE5D46}"/>
              </a:ext>
            </a:extLst>
          </p:cNvPr>
          <p:cNvSpPr>
            <a:spLocks xmlns:a="http://schemas.openxmlformats.org/drawingml/2006/main" noGrp="1"/>
          </p:cNvSpPr>
          <p:nvPr/>
        </p:nvSpPr>
        <p:spPr>
          <a:xfrm xmlns:a="http://schemas.openxmlformats.org/drawingml/2006/main">
            <a:off x="5810250" y="2590800"/>
            <a:ext cx="5695950"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48" name="">
            <a:extLst xmlns:a="http://schemas.openxmlformats.org/drawingml/2006/main">
              <a:ext uri="{FF2B5EF4-FFF2-40B4-BE49-F238E27FC236}">
                <a16:creationId xmlns:a16="http://schemas.microsoft.com/office/drawing/2014/main" id="{948EE15F-5463-4AE7-9E6D-17128386543B}"/>
              </a:ext>
            </a:extLst>
          </p:cNvPr>
          <p:cNvSpPr>
            <a:spLocks xmlns:a="http://schemas.openxmlformats.org/drawingml/2006/main" noGrp="1"/>
          </p:cNvSpPr>
          <p:nvPr/>
        </p:nvSpPr>
        <p:spPr>
          <a:xfrm xmlns:a="http://schemas.openxmlformats.org/drawingml/2006/main">
            <a:off x="6057900" y="28194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365F7D"/>
                </a:solidFill>
                <a:latin typeface="Aptos"/>
                <a:ea typeface="Aptos"/>
                <a:cs typeface="Aptos"/>
              </a:defRPr>
            </a:pPr>
            <a:r>
              <a:rPr sz="900" b="1">
                <a:solidFill>
                  <a:srgbClr val="365F7D"/>
                </a:solidFill>
                <a:latin typeface="Aptos"/>
                <a:ea typeface="Aptos"/>
                <a:cs typeface="Aptos"/>
              </a:rPr>
              <a:t>CURRENT DECISION LOGIC</a:t>
            </a:r>
          </a:p>
        </p:txBody>
      </p:sp>
      <p:sp>
        <p:nvSpPr>
          <p:cNvPr id="49" name="">
            <a:extLst xmlns:a="http://schemas.openxmlformats.org/drawingml/2006/main">
              <a:ext uri="{FF2B5EF4-FFF2-40B4-BE49-F238E27FC236}">
                <a16:creationId xmlns:a16="http://schemas.microsoft.com/office/drawing/2014/main" id="{05309A9C-2BFC-4E6A-A2BF-852F6AC2D59E}"/>
              </a:ext>
            </a:extLst>
          </p:cNvPr>
          <p:cNvSpPr>
            <a:spLocks xmlns:a="http://schemas.openxmlformats.org/drawingml/2006/main" noGrp="1"/>
          </p:cNvSpPr>
          <p:nvPr/>
        </p:nvSpPr>
        <p:spPr>
          <a:xfrm xmlns:a="http://schemas.openxmlformats.org/drawingml/2006/main">
            <a:off x="6096000" y="3238500"/>
            <a:ext cx="133350" cy="1333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7174BD3E-A11F-4814-86FD-6E879DDF45CF}"/>
              </a:ext>
            </a:extLst>
          </p:cNvPr>
          <p:cNvSpPr>
            <a:spLocks xmlns:a="http://schemas.openxmlformats.org/drawingml/2006/main" noGrp="1"/>
          </p:cNvSpPr>
          <p:nvPr/>
        </p:nvSpPr>
        <p:spPr>
          <a:xfrm xmlns:a="http://schemas.openxmlformats.org/drawingml/2006/main">
            <a:off x="6362700" y="31813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365F7D"/>
                </a:solidFill>
                <a:latin typeface="Aptos"/>
                <a:ea typeface="Aptos"/>
                <a:cs typeface="Aptos"/>
              </a:defRPr>
            </a:pPr>
            <a:r>
              <a:rPr sz="975" b="1">
                <a:solidFill>
                  <a:srgbClr val="365F7D"/>
                </a:solidFill>
                <a:latin typeface="Aptos"/>
                <a:ea typeface="Aptos"/>
                <a:cs typeface="Aptos"/>
              </a:rPr>
              <a:t>Identity</a:t>
            </a:r>
          </a:p>
        </p:txBody>
      </p:sp>
      <p:sp>
        <p:nvSpPr>
          <p:cNvPr id="51" name="">
            <a:extLst xmlns:a="http://schemas.openxmlformats.org/drawingml/2006/main">
              <a:ext uri="{FF2B5EF4-FFF2-40B4-BE49-F238E27FC236}">
                <a16:creationId xmlns:a16="http://schemas.microsoft.com/office/drawing/2014/main" id="{008C0AC1-2FDE-41DF-BCA9-B0CE1B5BFE11}"/>
              </a:ext>
            </a:extLst>
          </p:cNvPr>
          <p:cNvSpPr>
            <a:spLocks xmlns:a="http://schemas.openxmlformats.org/drawingml/2006/main" noGrp="1"/>
          </p:cNvSpPr>
          <p:nvPr/>
        </p:nvSpPr>
        <p:spPr>
          <a:xfrm xmlns:a="http://schemas.openxmlformats.org/drawingml/2006/main">
            <a:off x="7334250" y="31623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202A33"/>
                </a:solidFill>
                <a:latin typeface="Aptos"/>
                <a:ea typeface="Aptos"/>
                <a:cs typeface="Aptos"/>
              </a:defRPr>
            </a:pPr>
            <a:r>
              <a:rPr sz="900" b="0">
                <a:solidFill>
                  <a:srgbClr val="202A33"/>
                </a:solidFill>
                <a:latin typeface="Aptos"/>
                <a:ea typeface="Aptos"/>
                <a:cs typeface="Aptos"/>
              </a:rPr>
              <a:t>package, class, method, opcode and graph agreement</a:t>
            </a:r>
          </a:p>
        </p:txBody>
      </p:sp>
      <p:sp>
        <p:nvSpPr>
          <p:cNvPr id="52" name="">
            <a:extLst xmlns:a="http://schemas.openxmlformats.org/drawingml/2006/main">
              <a:ext uri="{FF2B5EF4-FFF2-40B4-BE49-F238E27FC236}">
                <a16:creationId xmlns:a16="http://schemas.microsoft.com/office/drawing/2014/main" id="{21133B2F-7D82-4792-AF99-FA209360D768}"/>
              </a:ext>
            </a:extLst>
          </p:cNvPr>
          <p:cNvSpPr>
            <a:spLocks xmlns:a="http://schemas.openxmlformats.org/drawingml/2006/main" noGrp="1"/>
          </p:cNvSpPr>
          <p:nvPr/>
        </p:nvSpPr>
        <p:spPr>
          <a:xfrm xmlns:a="http://schemas.openxmlformats.org/drawingml/2006/main">
            <a:off x="6096000" y="3695700"/>
            <a:ext cx="133350" cy="1333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74CC8A50-5662-43E5-A61E-B0E71285B480}"/>
              </a:ext>
            </a:extLst>
          </p:cNvPr>
          <p:cNvSpPr>
            <a:spLocks xmlns:a="http://schemas.openxmlformats.org/drawingml/2006/main" noGrp="1"/>
          </p:cNvSpPr>
          <p:nvPr/>
        </p:nvSpPr>
        <p:spPr>
          <a:xfrm xmlns:a="http://schemas.openxmlformats.org/drawingml/2006/main">
            <a:off x="6362700" y="36385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4F7D76"/>
                </a:solidFill>
                <a:latin typeface="Aptos"/>
                <a:ea typeface="Aptos"/>
                <a:cs typeface="Aptos"/>
              </a:defRPr>
            </a:pPr>
            <a:r>
              <a:rPr sz="975" b="1">
                <a:solidFill>
                  <a:srgbClr val="4F7D76"/>
                </a:solidFill>
                <a:latin typeface="Aptos"/>
                <a:ea typeface="Aptos"/>
                <a:cs typeface="Aptos"/>
              </a:rPr>
              <a:t>Version</a:t>
            </a:r>
          </a:p>
        </p:txBody>
      </p:sp>
      <p:sp>
        <p:nvSpPr>
          <p:cNvPr id="54" name="">
            <a:extLst xmlns:a="http://schemas.openxmlformats.org/drawingml/2006/main">
              <a:ext uri="{FF2B5EF4-FFF2-40B4-BE49-F238E27FC236}">
                <a16:creationId xmlns:a16="http://schemas.microsoft.com/office/drawing/2014/main" id="{3CE2D5E3-91E2-457A-9FD8-DCAE5EF78E48}"/>
              </a:ext>
            </a:extLst>
          </p:cNvPr>
          <p:cNvSpPr>
            <a:spLocks xmlns:a="http://schemas.openxmlformats.org/drawingml/2006/main" noGrp="1"/>
          </p:cNvSpPr>
          <p:nvPr/>
        </p:nvSpPr>
        <p:spPr>
          <a:xfrm xmlns:a="http://schemas.openxmlformats.org/drawingml/2006/main">
            <a:off x="7334250" y="36195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202A33"/>
                </a:solidFill>
                <a:latin typeface="Aptos"/>
                <a:ea typeface="Aptos"/>
                <a:cs typeface="Aptos"/>
              </a:defRPr>
            </a:pPr>
            <a:r>
              <a:rPr sz="900" b="0">
                <a:solidFill>
                  <a:srgbClr val="202A33"/>
                </a:solidFill>
                <a:latin typeface="Aptos"/>
                <a:ea typeface="Aptos"/>
                <a:cs typeface="Aptos"/>
              </a:rPr>
              <a:t>score gap plus version-distinctive literals/context</a:t>
            </a:r>
          </a:p>
        </p:txBody>
      </p:sp>
      <p:sp>
        <p:nvSpPr>
          <p:cNvPr id="55" name="">
            <a:extLst xmlns:a="http://schemas.openxmlformats.org/drawingml/2006/main">
              <a:ext uri="{FF2B5EF4-FFF2-40B4-BE49-F238E27FC236}">
                <a16:creationId xmlns:a16="http://schemas.microsoft.com/office/drawing/2014/main" id="{6746D27B-4498-4C94-8850-6CD080DF6B0F}"/>
              </a:ext>
            </a:extLst>
          </p:cNvPr>
          <p:cNvSpPr>
            <a:spLocks xmlns:a="http://schemas.openxmlformats.org/drawingml/2006/main" noGrp="1"/>
          </p:cNvSpPr>
          <p:nvPr/>
        </p:nvSpPr>
        <p:spPr>
          <a:xfrm xmlns:a="http://schemas.openxmlformats.org/drawingml/2006/main">
            <a:off x="6096000" y="4152900"/>
            <a:ext cx="133350" cy="13335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D03BFFE6-A5E4-4D2F-8766-36BD9ED8185E}"/>
              </a:ext>
            </a:extLst>
          </p:cNvPr>
          <p:cNvSpPr>
            <a:spLocks xmlns:a="http://schemas.openxmlformats.org/drawingml/2006/main" noGrp="1"/>
          </p:cNvSpPr>
          <p:nvPr/>
        </p:nvSpPr>
        <p:spPr>
          <a:xfrm xmlns:a="http://schemas.openxmlformats.org/drawingml/2006/main">
            <a:off x="6362700" y="40957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55F73"/>
                </a:solidFill>
                <a:latin typeface="Aptos"/>
                <a:ea typeface="Aptos"/>
                <a:cs typeface="Aptos"/>
              </a:defRPr>
            </a:pPr>
            <a:r>
              <a:rPr sz="975" b="1">
                <a:solidFill>
                  <a:srgbClr val="655F73"/>
                </a:solidFill>
                <a:latin typeface="Aptos"/>
                <a:ea typeface="Aptos"/>
                <a:cs typeface="Aptos"/>
              </a:rPr>
              <a:t>Family</a:t>
            </a:r>
          </a:p>
        </p:txBody>
      </p:sp>
      <p:sp>
        <p:nvSpPr>
          <p:cNvPr id="57" name="">
            <a:extLst xmlns:a="http://schemas.openxmlformats.org/drawingml/2006/main">
              <a:ext uri="{FF2B5EF4-FFF2-40B4-BE49-F238E27FC236}">
                <a16:creationId xmlns:a16="http://schemas.microsoft.com/office/drawing/2014/main" id="{3B1EFBBC-EF46-4900-AC1F-D92C5EF2F01C}"/>
              </a:ext>
            </a:extLst>
          </p:cNvPr>
          <p:cNvSpPr>
            <a:spLocks xmlns:a="http://schemas.openxmlformats.org/drawingml/2006/main" noGrp="1"/>
          </p:cNvSpPr>
          <p:nvPr/>
        </p:nvSpPr>
        <p:spPr>
          <a:xfrm xmlns:a="http://schemas.openxmlformats.org/drawingml/2006/main">
            <a:off x="7334250" y="40767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202A33"/>
                </a:solidFill>
                <a:latin typeface="Aptos"/>
                <a:ea typeface="Aptos"/>
                <a:cs typeface="Aptos"/>
              </a:defRPr>
            </a:pPr>
            <a:r>
              <a:rPr sz="900" b="0">
                <a:solidFill>
                  <a:srgbClr val="202A33"/>
                </a:solidFill>
                <a:latin typeface="Aptos"/>
                <a:ea typeface="Aptos"/>
                <a:cs typeface="Aptos"/>
              </a:rPr>
              <a:t>Okio/OkHttp/Lifecycle target overlap rules</a:t>
            </a:r>
          </a:p>
        </p:txBody>
      </p:sp>
      <p:sp>
        <p:nvSpPr>
          <p:cNvPr id="58" name="">
            <a:extLst xmlns:a="http://schemas.openxmlformats.org/drawingml/2006/main">
              <a:ext uri="{FF2B5EF4-FFF2-40B4-BE49-F238E27FC236}">
                <a16:creationId xmlns:a16="http://schemas.microsoft.com/office/drawing/2014/main" id="{D6376682-C26A-4194-AEE0-45BCB6FF2F38}"/>
              </a:ext>
            </a:extLst>
          </p:cNvPr>
          <p:cNvSpPr>
            <a:spLocks xmlns:a="http://schemas.openxmlformats.org/drawingml/2006/main" noGrp="1"/>
          </p:cNvSpPr>
          <p:nvPr/>
        </p:nvSpPr>
        <p:spPr>
          <a:xfrm xmlns:a="http://schemas.openxmlformats.org/drawingml/2006/main">
            <a:off x="6096000" y="4610100"/>
            <a:ext cx="133350" cy="13335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41777E6D-E661-4056-94F1-06B5DB9B00EB}"/>
              </a:ext>
            </a:extLst>
          </p:cNvPr>
          <p:cNvSpPr>
            <a:spLocks xmlns:a="http://schemas.openxmlformats.org/drawingml/2006/main" noGrp="1"/>
          </p:cNvSpPr>
          <p:nvPr/>
        </p:nvSpPr>
        <p:spPr>
          <a:xfrm xmlns:a="http://schemas.openxmlformats.org/drawingml/2006/main">
            <a:off x="6362700" y="45529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A65C55"/>
                </a:solidFill>
                <a:latin typeface="Aptos"/>
                <a:ea typeface="Aptos"/>
                <a:cs typeface="Aptos"/>
              </a:defRPr>
            </a:pPr>
            <a:r>
              <a:rPr sz="975" b="1">
                <a:solidFill>
                  <a:srgbClr val="A65C55"/>
                </a:solidFill>
                <a:latin typeface="Aptos"/>
                <a:ea typeface="Aptos"/>
                <a:cs typeface="Aptos"/>
              </a:rPr>
              <a:t>Guardrail</a:t>
            </a:r>
          </a:p>
        </p:txBody>
      </p:sp>
      <p:sp>
        <p:nvSpPr>
          <p:cNvPr id="60" name="">
            <a:extLst xmlns:a="http://schemas.openxmlformats.org/drawingml/2006/main">
              <a:ext uri="{FF2B5EF4-FFF2-40B4-BE49-F238E27FC236}">
                <a16:creationId xmlns:a16="http://schemas.microsoft.com/office/drawing/2014/main" id="{BFA25B56-93F0-407E-846C-C2CB5401F10C}"/>
              </a:ext>
            </a:extLst>
          </p:cNvPr>
          <p:cNvSpPr>
            <a:spLocks xmlns:a="http://schemas.openxmlformats.org/drawingml/2006/main" noGrp="1"/>
          </p:cNvSpPr>
          <p:nvPr/>
        </p:nvSpPr>
        <p:spPr>
          <a:xfrm xmlns:a="http://schemas.openxmlformats.org/drawingml/2006/main">
            <a:off x="7334250" y="45339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202A33"/>
                </a:solidFill>
                <a:latin typeface="Aptos"/>
                <a:ea typeface="Aptos"/>
                <a:cs typeface="Aptos"/>
              </a:defRPr>
            </a:pPr>
            <a:r>
              <a:rPr sz="900" b="0">
                <a:solidFill>
                  <a:srgbClr val="202A33"/>
                </a:solidFill>
                <a:latin typeface="Aptos"/>
                <a:ea typeface="Aptos"/>
                <a:cs typeface="Aptos"/>
              </a:rPr>
              <a:t>API-ref and opcode tri-gram weights remain 0.0 globally</a:t>
            </a:r>
          </a:p>
        </p:txBody>
      </p:sp>
      <p:sp>
        <p:nvSpPr>
          <p:cNvPr id="61" name="">
            <a:extLst xmlns:a="http://schemas.openxmlformats.org/drawingml/2006/main">
              <a:ext uri="{FF2B5EF4-FFF2-40B4-BE49-F238E27FC236}">
                <a16:creationId xmlns:a16="http://schemas.microsoft.com/office/drawing/2014/main" id="{20AF50AB-3D29-4AE5-8DB6-6F6B3BC35C16}"/>
              </a:ext>
            </a:extLst>
          </p:cNvPr>
          <p:cNvSpPr>
            <a:spLocks xmlns:a="http://schemas.openxmlformats.org/drawingml/2006/main" noGrp="1"/>
          </p:cNvSpPr>
          <p:nvPr/>
        </p:nvSpPr>
        <p:spPr>
          <a:xfrm xmlns:a="http://schemas.openxmlformats.org/drawingml/2006/main">
            <a:off x="685800" y="5562600"/>
            <a:ext cx="10820400" cy="5524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62" name="">
            <a:extLst xmlns:a="http://schemas.openxmlformats.org/drawingml/2006/main">
              <a:ext uri="{FF2B5EF4-FFF2-40B4-BE49-F238E27FC236}">
                <a16:creationId xmlns:a16="http://schemas.microsoft.com/office/drawing/2014/main" id="{498F4E7C-572B-4700-BB85-4E6726D9A500}"/>
              </a:ext>
            </a:extLst>
          </p:cNvPr>
          <p:cNvSpPr>
            <a:spLocks xmlns:a="http://schemas.openxmlformats.org/drawingml/2006/main" noGrp="1"/>
          </p:cNvSpPr>
          <p:nvPr/>
        </p:nvSpPr>
        <p:spPr>
          <a:xfrm xmlns:a="http://schemas.openxmlformats.org/drawingml/2006/main">
            <a:off x="876300" y="5734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A65C55"/>
                </a:solidFill>
                <a:latin typeface="Aptos"/>
                <a:ea typeface="Aptos"/>
                <a:cs typeface="Aptos"/>
              </a:defRPr>
            </a:pPr>
            <a:r>
              <a:rPr sz="825" b="1">
                <a:solidFill>
                  <a:srgbClr val="A65C55"/>
                </a:solidFill>
                <a:latin typeface="Aptos"/>
                <a:ea typeface="Aptos"/>
                <a:cs typeface="Aptos"/>
              </a:rPr>
              <a:t>WHY</a:t>
            </a:r>
          </a:p>
        </p:txBody>
      </p:sp>
      <p:sp>
        <p:nvSpPr>
          <p:cNvPr id="63" name="">
            <a:extLst xmlns:a="http://schemas.openxmlformats.org/drawingml/2006/main">
              <a:ext uri="{FF2B5EF4-FFF2-40B4-BE49-F238E27FC236}">
                <a16:creationId xmlns:a16="http://schemas.microsoft.com/office/drawing/2014/main" id="{3E9B21B9-3175-4833-81ED-30F55C59D872}"/>
              </a:ext>
            </a:extLst>
          </p:cNvPr>
          <p:cNvSpPr>
            <a:spLocks xmlns:a="http://schemas.openxmlformats.org/drawingml/2006/main" noGrp="1"/>
          </p:cNvSpPr>
          <p:nvPr/>
        </p:nvSpPr>
        <p:spPr>
          <a:xfrm xmlns:a="http://schemas.openxmlformats.org/drawingml/2006/main">
            <a:off x="2343150" y="56864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One global improvement is not enough: a target fix is rejected when controlled, clean, partial, or boundary controls regress.</a:t>
            </a:r>
          </a:p>
        </p:txBody>
      </p:sp>
      <p:sp>
        <p:nvSpPr>
          <p:cNvPr id="64" name="">
            <a:extLst xmlns:a="http://schemas.openxmlformats.org/drawingml/2006/main">
              <a:ext uri="{FF2B5EF4-FFF2-40B4-BE49-F238E27FC236}">
                <a16:creationId xmlns:a16="http://schemas.microsoft.com/office/drawing/2014/main" id="{347CF83F-B8CB-45F8-81CE-9DFE00E46E1B}"/>
              </a:ext>
            </a:extLst>
          </p:cNvPr>
          <p:cNvSpPr>
            <a:spLocks xmlns:a="http://schemas.openxmlformats.org/drawingml/2006/main" noGrp="1"/>
          </p:cNvSpPr>
          <p:nvPr/>
        </p:nvSpPr>
        <p:spPr>
          <a:xfrm xmlns:a="http://schemas.openxmlformats.org/drawingml/2006/main">
            <a:off x="685800" y="61912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DACAE4EC-DB20-41A6-8C4C-3775361D3B85}"/>
              </a:ext>
            </a:extLst>
          </p:cNvPr>
          <p:cNvSpPr>
            <a:spLocks xmlns:a="http://schemas.openxmlformats.org/drawingml/2006/main" noGrp="1"/>
          </p:cNvSpPr>
          <p:nvPr/>
        </p:nvSpPr>
        <p:spPr>
          <a:xfrm xmlns:a="http://schemas.openxmlformats.org/drawingml/2006/main">
            <a:off x="819150" y="6257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src/apk_sbom/matcher.py  |  Decision evidence: docs/thesis/EXPERIMENT_DECISION_LEDGER.md</a:t>
            </a:r>
          </a:p>
        </p:txBody>
      </p:sp>
      <p:sp>
        <p:nvSpPr>
          <p:cNvPr id="66" name="">
            <a:extLst xmlns:a="http://schemas.openxmlformats.org/drawingml/2006/main">
              <a:ext uri="{FF2B5EF4-FFF2-40B4-BE49-F238E27FC236}">
                <a16:creationId xmlns:a16="http://schemas.microsoft.com/office/drawing/2014/main" id="{8C58A4B9-4A33-4BFC-8734-C6313DFB7B6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745078501"/>
      </p:ext>
    </p:extLst>
  </p:cSld>
</p:sld>
</file>

<file path=ppt/slides/slide11.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4C9BCF5-6004-46AE-9050-FEDCC0C86A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1608F81-3A84-4E1E-9A4F-43C36BDC6F98}"/>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6D445B6-633A-4C1A-8165-65F2F572CFEB}"/>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8D754D"/>
                </a:solidFill>
                <a:latin typeface="Aptos"/>
                <a:ea typeface="Aptos"/>
                <a:cs typeface="Aptos"/>
              </a:defRPr>
            </a:pPr>
            <a:r>
              <a:rPr sz="900" b="1">
                <a:solidFill>
                  <a:srgbClr val="8D754D"/>
                </a:solidFill>
                <a:latin typeface="Aptos"/>
                <a:ea typeface="Aptos"/>
                <a:cs typeface="Aptos"/>
              </a:rPr>
              <a:t>COMPONENT 5  |  VERSION DECISION</a:t>
            </a:r>
          </a:p>
        </p:txBody>
      </p:sp>
      <p:sp>
        <p:nvSpPr>
          <p:cNvPr id="4" name="">
            <a:extLst xmlns:a="http://schemas.openxmlformats.org/drawingml/2006/main">
              <a:ext uri="{FF2B5EF4-FFF2-40B4-BE49-F238E27FC236}">
                <a16:creationId xmlns:a16="http://schemas.microsoft.com/office/drawing/2014/main" id="{CDCCB6F4-22AD-4454-AB5F-DEE5C5E10A15}"/>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Confidence evolved from one score into separate claims and explicit ambiguity</a:t>
            </a:r>
          </a:p>
        </p:txBody>
      </p:sp>
      <p:sp>
        <p:nvSpPr>
          <p:cNvPr id="5" name="">
            <a:extLst xmlns:a="http://schemas.openxmlformats.org/drawingml/2006/main">
              <a:ext uri="{FF2B5EF4-FFF2-40B4-BE49-F238E27FC236}">
                <a16:creationId xmlns:a16="http://schemas.microsoft.com/office/drawing/2014/main" id="{788057F4-FDBE-4F11-BB97-E05E9918E81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8290A6"/>
                </a:solidFill>
                <a:latin typeface="Aptos"/>
                <a:ea typeface="Aptos"/>
                <a:cs typeface="Aptos"/>
              </a:defRPr>
            </a:pPr>
            <a:r>
              <a:rPr sz="900" b="1">
                <a:solidFill>
                  <a:srgbClr val="8290A6"/>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C0BEA0D6-D8F1-4F0C-B86F-4C37A769E5B0}"/>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5936286D-BB06-451E-A1DC-DC552ECBCDFE}"/>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A65C55"/>
                </a:solidFill>
                <a:latin typeface="Aptos"/>
                <a:ea typeface="Aptos"/>
                <a:cs typeface="Aptos"/>
              </a:defRPr>
            </a:pPr>
            <a:r>
              <a:rPr sz="825" b="1">
                <a:solidFill>
                  <a:srgbClr val="A65C55"/>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0423FAE9-B926-44AD-896C-08D9D97D5B13}"/>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Single score</a:t>
            </a:r>
          </a:p>
        </p:txBody>
      </p:sp>
      <p:sp>
        <p:nvSpPr>
          <p:cNvPr id="9" name="">
            <a:extLst xmlns:a="http://schemas.openxmlformats.org/drawingml/2006/main">
              <a:ext uri="{FF2B5EF4-FFF2-40B4-BE49-F238E27FC236}">
                <a16:creationId xmlns:a16="http://schemas.microsoft.com/office/drawing/2014/main" id="{EF2B026D-213B-4D70-9582-C6C3321A4704}"/>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AEBACC"/>
                </a:solidFill>
                <a:latin typeface="Aptos"/>
                <a:ea typeface="Aptos"/>
                <a:cs typeface="Aptos"/>
              </a:defRPr>
            </a:pPr>
            <a:r>
              <a:rPr sz="825" b="0">
                <a:solidFill>
                  <a:srgbClr val="AEBACC"/>
                </a:solidFill>
                <a:latin typeface="Aptos"/>
                <a:ea typeface="Aptos"/>
                <a:cs typeface="Aptos"/>
              </a:rPr>
              <a:t>Easy to display, but mixes presence and exact version.</a:t>
            </a:r>
          </a:p>
        </p:txBody>
      </p:sp>
      <p:sp>
        <p:nvSpPr>
          <p:cNvPr id="10" name="rule">
            <a:extLst xmlns:a="http://schemas.openxmlformats.org/drawingml/2006/main">
              <a:ext uri="{FF2B5EF4-FFF2-40B4-BE49-F238E27FC236}">
                <a16:creationId xmlns:a16="http://schemas.microsoft.com/office/drawing/2014/main" id="{E5B3E6A7-319F-4144-9B00-2A0006DCB7CD}"/>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989598C-E249-4E4C-923C-8AB79C76CC59}"/>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A65C5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527A98F-8E5A-4E9A-A985-2BEAAAEA90C2}"/>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856BEA29-CEA0-4F2D-AECF-E48138B1783B}"/>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Aptos"/>
                <a:ea typeface="Aptos"/>
                <a:cs typeface="Aptos"/>
              </a:defRPr>
            </a:pPr>
            <a:r>
              <a:rPr sz="825" b="1">
                <a:solidFill>
                  <a:srgbClr val="365F7D"/>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B1FE4922-75BC-45EE-AC50-A5A009740A18}"/>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Identity split</a:t>
            </a:r>
          </a:p>
        </p:txBody>
      </p:sp>
      <p:sp>
        <p:nvSpPr>
          <p:cNvPr id="15" name="">
            <a:extLst xmlns:a="http://schemas.openxmlformats.org/drawingml/2006/main">
              <a:ext uri="{FF2B5EF4-FFF2-40B4-BE49-F238E27FC236}">
                <a16:creationId xmlns:a16="http://schemas.microsoft.com/office/drawing/2014/main" id="{3CAA56C3-11A9-44DC-846A-45B8449A100B}"/>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AEBACC"/>
                </a:solidFill>
                <a:latin typeface="Aptos"/>
                <a:ea typeface="Aptos"/>
                <a:cs typeface="Aptos"/>
              </a:defRPr>
            </a:pPr>
            <a:r>
              <a:rPr sz="825" b="0">
                <a:solidFill>
                  <a:srgbClr val="AEBACC"/>
                </a:solidFill>
                <a:latin typeface="Aptos"/>
                <a:ea typeface="Aptos"/>
                <a:cs typeface="Aptos"/>
              </a:rPr>
              <a:t>First decide whether the library is present.</a:t>
            </a:r>
          </a:p>
        </p:txBody>
      </p:sp>
      <p:sp>
        <p:nvSpPr>
          <p:cNvPr id="16" name="rule">
            <a:extLst xmlns:a="http://schemas.openxmlformats.org/drawingml/2006/main">
              <a:ext uri="{FF2B5EF4-FFF2-40B4-BE49-F238E27FC236}">
                <a16:creationId xmlns:a16="http://schemas.microsoft.com/office/drawing/2014/main" id="{6C883694-0D75-40B3-BF46-5D5EF0D60660}"/>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7B44914-C477-4F8D-ABDF-0E25010B7C65}"/>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DF1066B-3EA9-4941-BCF4-5B98BFA9AB0F}"/>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5AB96D0F-2647-44A3-8022-A339F47A27A2}"/>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4F7D76"/>
                </a:solidFill>
                <a:latin typeface="Aptos"/>
                <a:ea typeface="Aptos"/>
                <a:cs typeface="Aptos"/>
              </a:defRPr>
            </a:pPr>
            <a:r>
              <a:rPr sz="825" b="1">
                <a:solidFill>
                  <a:srgbClr val="4F7D76"/>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15FDFA50-C8DC-467D-B774-D7C1EF78EDDD}"/>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Version split</a:t>
            </a:r>
          </a:p>
        </p:txBody>
      </p:sp>
      <p:sp>
        <p:nvSpPr>
          <p:cNvPr id="21" name="">
            <a:extLst xmlns:a="http://schemas.openxmlformats.org/drawingml/2006/main">
              <a:ext uri="{FF2B5EF4-FFF2-40B4-BE49-F238E27FC236}">
                <a16:creationId xmlns:a16="http://schemas.microsoft.com/office/drawing/2014/main" id="{35A8C3C9-884B-475D-8E4F-D4F2DD79510B}"/>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AEBACC"/>
                </a:solidFill>
                <a:latin typeface="Aptos"/>
                <a:ea typeface="Aptos"/>
                <a:cs typeface="Aptos"/>
              </a:defRPr>
            </a:pPr>
            <a:r>
              <a:rPr sz="825" b="0">
                <a:solidFill>
                  <a:srgbClr val="AEBACC"/>
                </a:solidFill>
                <a:latin typeface="Aptos"/>
                <a:ea typeface="Aptos"/>
                <a:cs typeface="Aptos"/>
              </a:rPr>
              <a:t>Then measure exact-version support and score gap.</a:t>
            </a:r>
          </a:p>
        </p:txBody>
      </p:sp>
      <p:sp>
        <p:nvSpPr>
          <p:cNvPr id="22" name="rule">
            <a:extLst xmlns:a="http://schemas.openxmlformats.org/drawingml/2006/main">
              <a:ext uri="{FF2B5EF4-FFF2-40B4-BE49-F238E27FC236}">
                <a16:creationId xmlns:a16="http://schemas.microsoft.com/office/drawing/2014/main" id="{B26F6A0A-068C-4967-948F-1F9B7384D875}"/>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1CC8404-D239-48C2-8FC0-378B8654387B}"/>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43CDEF8-EB0E-476D-8E3D-4C75B9E1C6D1}"/>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5" name="">
            <a:extLst xmlns:a="http://schemas.openxmlformats.org/drawingml/2006/main">
              <a:ext uri="{FF2B5EF4-FFF2-40B4-BE49-F238E27FC236}">
                <a16:creationId xmlns:a16="http://schemas.microsoft.com/office/drawing/2014/main" id="{90BB4568-6A49-482E-85B8-FB2FCAF96E6A}"/>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D754D"/>
                </a:solidFill>
                <a:latin typeface="Aptos"/>
                <a:ea typeface="Aptos"/>
                <a:cs typeface="Aptos"/>
              </a:defRPr>
            </a:pPr>
            <a:r>
              <a:rPr sz="825" b="1">
                <a:solidFill>
                  <a:srgbClr val="8D754D"/>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B8DFEBEE-8727-4041-9E80-51302711816F}"/>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Ambiguity</a:t>
            </a:r>
          </a:p>
        </p:txBody>
      </p:sp>
      <p:sp>
        <p:nvSpPr>
          <p:cNvPr id="27" name="">
            <a:extLst xmlns:a="http://schemas.openxmlformats.org/drawingml/2006/main">
              <a:ext uri="{FF2B5EF4-FFF2-40B4-BE49-F238E27FC236}">
                <a16:creationId xmlns:a16="http://schemas.microsoft.com/office/drawing/2014/main" id="{C4875AC6-CB47-4D35-8F57-22EDC44A88CD}"/>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AEBACC"/>
                </a:solidFill>
                <a:latin typeface="Aptos"/>
                <a:ea typeface="Aptos"/>
                <a:cs typeface="Aptos"/>
              </a:defRPr>
            </a:pPr>
            <a:r>
              <a:rPr sz="825" b="0">
                <a:solidFill>
                  <a:srgbClr val="AEBACC"/>
                </a:solidFill>
                <a:latin typeface="Aptos"/>
                <a:ea typeface="Aptos"/>
                <a:cs typeface="Aptos"/>
              </a:rPr>
              <a:t>Export near-tie versions and gate CVE confirmation.</a:t>
            </a:r>
          </a:p>
        </p:txBody>
      </p:sp>
      <p:sp>
        <p:nvSpPr>
          <p:cNvPr id="28" name="">
            <a:extLst xmlns:a="http://schemas.openxmlformats.org/drawingml/2006/main">
              <a:ext uri="{FF2B5EF4-FFF2-40B4-BE49-F238E27FC236}">
                <a16:creationId xmlns:a16="http://schemas.microsoft.com/office/drawing/2014/main" id="{35F727EB-D3E8-4962-BA5E-6404569DC706}"/>
              </a:ext>
            </a:extLst>
          </p:cNvPr>
          <p:cNvSpPr>
            <a:spLocks xmlns:a="http://schemas.openxmlformats.org/drawingml/2006/main" noGrp="1"/>
          </p:cNvSpPr>
          <p:nvPr/>
        </p:nvSpPr>
        <p:spPr>
          <a:xfrm xmlns:a="http://schemas.openxmlformats.org/drawingml/2006/main">
            <a:off x="723900" y="2590800"/>
            <a:ext cx="2781300" cy="26289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F89B84D0-C57B-4DEA-8A8A-30F24FBCD463}"/>
              </a:ext>
            </a:extLst>
          </p:cNvPr>
          <p:cNvSpPr>
            <a:spLocks xmlns:a="http://schemas.openxmlformats.org/drawingml/2006/main" noGrp="1"/>
          </p:cNvSpPr>
          <p:nvPr/>
        </p:nvSpPr>
        <p:spPr>
          <a:xfrm xmlns:a="http://schemas.openxmlformats.org/drawingml/2006/main">
            <a:off x="933450" y="281940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365F7D"/>
                </a:solidFill>
                <a:latin typeface="Aptos"/>
                <a:ea typeface="Aptos"/>
                <a:cs typeface="Aptos"/>
              </a:defRPr>
            </a:pPr>
            <a:r>
              <a:rPr sz="900" b="1">
                <a:solidFill>
                  <a:srgbClr val="365F7D"/>
                </a:solidFill>
                <a:latin typeface="Aptos"/>
                <a:ea typeface="Aptos"/>
                <a:cs typeface="Aptos"/>
              </a:rPr>
              <a:t>IDENTITY</a:t>
            </a:r>
          </a:p>
        </p:txBody>
      </p:sp>
      <p:sp>
        <p:nvSpPr>
          <p:cNvPr id="30" name="">
            <a:extLst xmlns:a="http://schemas.openxmlformats.org/drawingml/2006/main">
              <a:ext uri="{FF2B5EF4-FFF2-40B4-BE49-F238E27FC236}">
                <a16:creationId xmlns:a16="http://schemas.microsoft.com/office/drawing/2014/main" id="{3F7843C3-CB57-49F2-AA56-AF1C5038AB3D}"/>
              </a:ext>
            </a:extLst>
          </p:cNvPr>
          <p:cNvSpPr>
            <a:spLocks xmlns:a="http://schemas.openxmlformats.org/drawingml/2006/main" noGrp="1"/>
          </p:cNvSpPr>
          <p:nvPr/>
        </p:nvSpPr>
        <p:spPr>
          <a:xfrm xmlns:a="http://schemas.openxmlformats.org/drawingml/2006/main">
            <a:off x="933450" y="31623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present?</a:t>
            </a:r>
          </a:p>
        </p:txBody>
      </p:sp>
      <p:sp>
        <p:nvSpPr>
          <p:cNvPr id="31" name="rule">
            <a:extLst xmlns:a="http://schemas.openxmlformats.org/drawingml/2006/main">
              <a:ext uri="{FF2B5EF4-FFF2-40B4-BE49-F238E27FC236}">
                <a16:creationId xmlns:a16="http://schemas.microsoft.com/office/drawing/2014/main" id="{F8C492BC-C2F0-479D-9658-6A85F373921C}"/>
              </a:ext>
            </a:extLst>
          </p:cNvPr>
          <p:cNvSpPr>
            <a:spLocks xmlns:a="http://schemas.openxmlformats.org/drawingml/2006/main" noGrp="1"/>
          </p:cNvSpPr>
          <p:nvPr/>
        </p:nvSpPr>
        <p:spPr>
          <a:xfrm xmlns:a="http://schemas.openxmlformats.org/drawingml/2006/main">
            <a:off x="1028700" y="3867150"/>
            <a:ext cx="209550" cy="28575"/>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B7DAE02-5DA2-49CB-BEDE-E0CB02E381A0}"/>
              </a:ext>
            </a:extLst>
          </p:cNvPr>
          <p:cNvSpPr>
            <a:spLocks xmlns:a="http://schemas.openxmlformats.org/drawingml/2006/main" noGrp="1"/>
          </p:cNvSpPr>
          <p:nvPr/>
        </p:nvSpPr>
        <p:spPr>
          <a:xfrm xmlns:a="http://schemas.openxmlformats.org/drawingml/2006/main">
            <a:off x="1371600" y="3781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8C3D3"/>
                </a:solidFill>
                <a:latin typeface="Aptos"/>
                <a:ea typeface="Aptos"/>
                <a:cs typeface="Aptos"/>
              </a:defRPr>
            </a:pPr>
            <a:r>
              <a:rPr sz="975" b="0">
                <a:solidFill>
                  <a:srgbClr val="B8C3D3"/>
                </a:solidFill>
                <a:latin typeface="Aptos"/>
                <a:ea typeface="Aptos"/>
                <a:cs typeface="Aptos"/>
              </a:rPr>
              <a:t>overlap strength</a:t>
            </a:r>
          </a:p>
        </p:txBody>
      </p:sp>
      <p:sp>
        <p:nvSpPr>
          <p:cNvPr id="33" name="rule">
            <a:extLst xmlns:a="http://schemas.openxmlformats.org/drawingml/2006/main">
              <a:ext uri="{FF2B5EF4-FFF2-40B4-BE49-F238E27FC236}">
                <a16:creationId xmlns:a16="http://schemas.microsoft.com/office/drawing/2014/main" id="{721CAF4A-AC54-4322-9F5C-052679065770}"/>
              </a:ext>
            </a:extLst>
          </p:cNvPr>
          <p:cNvSpPr>
            <a:spLocks xmlns:a="http://schemas.openxmlformats.org/drawingml/2006/main" noGrp="1"/>
          </p:cNvSpPr>
          <p:nvPr/>
        </p:nvSpPr>
        <p:spPr>
          <a:xfrm xmlns:a="http://schemas.openxmlformats.org/drawingml/2006/main">
            <a:off x="1028700" y="4248150"/>
            <a:ext cx="209550" cy="28575"/>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D7978C4-5A57-41A7-BA0F-03F5D6833F91}"/>
              </a:ext>
            </a:extLst>
          </p:cNvPr>
          <p:cNvSpPr>
            <a:spLocks xmlns:a="http://schemas.openxmlformats.org/drawingml/2006/main" noGrp="1"/>
          </p:cNvSpPr>
          <p:nvPr/>
        </p:nvSpPr>
        <p:spPr>
          <a:xfrm xmlns:a="http://schemas.openxmlformats.org/drawingml/2006/main">
            <a:off x="1371600" y="4162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8C3D3"/>
                </a:solidFill>
                <a:latin typeface="Aptos"/>
                <a:ea typeface="Aptos"/>
                <a:cs typeface="Aptos"/>
              </a:defRPr>
            </a:pPr>
            <a:r>
              <a:rPr sz="975" b="0">
                <a:solidFill>
                  <a:srgbClr val="B8C3D3"/>
                </a:solidFill>
                <a:latin typeface="Aptos"/>
                <a:ea typeface="Aptos"/>
                <a:cs typeface="Aptos"/>
              </a:rPr>
              <a:t>structural agreement</a:t>
            </a:r>
          </a:p>
        </p:txBody>
      </p:sp>
      <p:sp>
        <p:nvSpPr>
          <p:cNvPr id="35" name="rule">
            <a:extLst xmlns:a="http://schemas.openxmlformats.org/drawingml/2006/main">
              <a:ext uri="{FF2B5EF4-FFF2-40B4-BE49-F238E27FC236}">
                <a16:creationId xmlns:a16="http://schemas.microsoft.com/office/drawing/2014/main" id="{2CCB0408-DEFB-425E-AE8B-02D46B023EF5}"/>
              </a:ext>
            </a:extLst>
          </p:cNvPr>
          <p:cNvSpPr>
            <a:spLocks xmlns:a="http://schemas.openxmlformats.org/drawingml/2006/main" noGrp="1"/>
          </p:cNvSpPr>
          <p:nvPr/>
        </p:nvSpPr>
        <p:spPr>
          <a:xfrm xmlns:a="http://schemas.openxmlformats.org/drawingml/2006/main">
            <a:off x="1028700" y="4629150"/>
            <a:ext cx="209550" cy="28575"/>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BB318885-A90E-486D-B77D-E21BF9B00129}"/>
              </a:ext>
            </a:extLst>
          </p:cNvPr>
          <p:cNvSpPr>
            <a:spLocks xmlns:a="http://schemas.openxmlformats.org/drawingml/2006/main" noGrp="1"/>
          </p:cNvSpPr>
          <p:nvPr/>
        </p:nvSpPr>
        <p:spPr>
          <a:xfrm xmlns:a="http://schemas.openxmlformats.org/drawingml/2006/main">
            <a:off x="1371600" y="4543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8C3D3"/>
                </a:solidFill>
                <a:latin typeface="Aptos"/>
                <a:ea typeface="Aptos"/>
                <a:cs typeface="Aptos"/>
              </a:defRPr>
            </a:pPr>
            <a:r>
              <a:rPr sz="975" b="0">
                <a:solidFill>
                  <a:srgbClr val="B8C3D3"/>
                </a:solidFill>
                <a:latin typeface="Aptos"/>
                <a:ea typeface="Aptos"/>
                <a:cs typeface="Aptos"/>
              </a:rPr>
              <a:t>family coherence</a:t>
            </a:r>
          </a:p>
        </p:txBody>
      </p:sp>
      <p:sp>
        <p:nvSpPr>
          <p:cNvPr id="37" name="">
            <a:extLst xmlns:a="http://schemas.openxmlformats.org/drawingml/2006/main">
              <a:ext uri="{FF2B5EF4-FFF2-40B4-BE49-F238E27FC236}">
                <a16:creationId xmlns:a16="http://schemas.microsoft.com/office/drawing/2014/main" id="{B395AB08-3B8C-4724-B9B0-2C13CF799C9B}"/>
              </a:ext>
            </a:extLst>
          </p:cNvPr>
          <p:cNvSpPr>
            <a:spLocks xmlns:a="http://schemas.openxmlformats.org/drawingml/2006/main" noGrp="1"/>
          </p:cNvSpPr>
          <p:nvPr/>
        </p:nvSpPr>
        <p:spPr>
          <a:xfrm xmlns:a="http://schemas.openxmlformats.org/drawingml/2006/main">
            <a:off x="3943350" y="2590800"/>
            <a:ext cx="2781300" cy="26289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8" name="">
            <a:extLst xmlns:a="http://schemas.openxmlformats.org/drawingml/2006/main">
              <a:ext uri="{FF2B5EF4-FFF2-40B4-BE49-F238E27FC236}">
                <a16:creationId xmlns:a16="http://schemas.microsoft.com/office/drawing/2014/main" id="{41484649-8AC0-4356-B362-9DAB321FCB0C}"/>
              </a:ext>
            </a:extLst>
          </p:cNvPr>
          <p:cNvSpPr>
            <a:spLocks xmlns:a="http://schemas.openxmlformats.org/drawingml/2006/main" noGrp="1"/>
          </p:cNvSpPr>
          <p:nvPr/>
        </p:nvSpPr>
        <p:spPr>
          <a:xfrm xmlns:a="http://schemas.openxmlformats.org/drawingml/2006/main">
            <a:off x="4152900" y="281940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4F7D76"/>
                </a:solidFill>
                <a:latin typeface="Aptos"/>
                <a:ea typeface="Aptos"/>
                <a:cs typeface="Aptos"/>
              </a:defRPr>
            </a:pPr>
            <a:r>
              <a:rPr sz="900" b="1">
                <a:solidFill>
                  <a:srgbClr val="4F7D76"/>
                </a:solidFill>
                <a:latin typeface="Aptos"/>
                <a:ea typeface="Aptos"/>
                <a:cs typeface="Aptos"/>
              </a:rPr>
              <a:t>VERSION</a:t>
            </a:r>
          </a:p>
        </p:txBody>
      </p:sp>
      <p:sp>
        <p:nvSpPr>
          <p:cNvPr id="39" name="">
            <a:extLst xmlns:a="http://schemas.openxmlformats.org/drawingml/2006/main">
              <a:ext uri="{FF2B5EF4-FFF2-40B4-BE49-F238E27FC236}">
                <a16:creationId xmlns:a16="http://schemas.microsoft.com/office/drawing/2014/main" id="{03C67F37-7AE4-4352-936A-05EC1BA762F5}"/>
              </a:ext>
            </a:extLst>
          </p:cNvPr>
          <p:cNvSpPr>
            <a:spLocks xmlns:a="http://schemas.openxmlformats.org/drawingml/2006/main" noGrp="1"/>
          </p:cNvSpPr>
          <p:nvPr/>
        </p:nvSpPr>
        <p:spPr>
          <a:xfrm xmlns:a="http://schemas.openxmlformats.org/drawingml/2006/main">
            <a:off x="4152900" y="31623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exact?</a:t>
            </a:r>
          </a:p>
        </p:txBody>
      </p:sp>
      <p:sp>
        <p:nvSpPr>
          <p:cNvPr id="40" name="rule">
            <a:extLst xmlns:a="http://schemas.openxmlformats.org/drawingml/2006/main">
              <a:ext uri="{FF2B5EF4-FFF2-40B4-BE49-F238E27FC236}">
                <a16:creationId xmlns:a16="http://schemas.microsoft.com/office/drawing/2014/main" id="{938BE133-DA14-42F7-B9F6-0CD9A7AB81AF}"/>
              </a:ext>
            </a:extLst>
          </p:cNvPr>
          <p:cNvSpPr>
            <a:spLocks xmlns:a="http://schemas.openxmlformats.org/drawingml/2006/main" noGrp="1"/>
          </p:cNvSpPr>
          <p:nvPr/>
        </p:nvSpPr>
        <p:spPr>
          <a:xfrm xmlns:a="http://schemas.openxmlformats.org/drawingml/2006/main">
            <a:off x="4248150" y="3867150"/>
            <a:ext cx="209550" cy="285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C8DFD3E2-41D3-4EE0-8419-F46F4DC7F581}"/>
              </a:ext>
            </a:extLst>
          </p:cNvPr>
          <p:cNvSpPr>
            <a:spLocks xmlns:a="http://schemas.openxmlformats.org/drawingml/2006/main" noGrp="1"/>
          </p:cNvSpPr>
          <p:nvPr/>
        </p:nvSpPr>
        <p:spPr>
          <a:xfrm xmlns:a="http://schemas.openxmlformats.org/drawingml/2006/main">
            <a:off x="4591050" y="3781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8C3D3"/>
                </a:solidFill>
                <a:latin typeface="Aptos"/>
                <a:ea typeface="Aptos"/>
                <a:cs typeface="Aptos"/>
              </a:defRPr>
            </a:pPr>
            <a:r>
              <a:rPr sz="975" b="0">
                <a:solidFill>
                  <a:srgbClr val="B8C3D3"/>
                </a:solidFill>
                <a:latin typeface="Aptos"/>
                <a:ea typeface="Aptos"/>
                <a:cs typeface="Aptos"/>
              </a:rPr>
              <a:t>rank and score gap</a:t>
            </a:r>
          </a:p>
        </p:txBody>
      </p:sp>
      <p:sp>
        <p:nvSpPr>
          <p:cNvPr id="42" name="rule">
            <a:extLst xmlns:a="http://schemas.openxmlformats.org/drawingml/2006/main">
              <a:ext uri="{FF2B5EF4-FFF2-40B4-BE49-F238E27FC236}">
                <a16:creationId xmlns:a16="http://schemas.microsoft.com/office/drawing/2014/main" id="{F4591E9A-B190-47D5-9D72-E4620A5FD379}"/>
              </a:ext>
            </a:extLst>
          </p:cNvPr>
          <p:cNvSpPr>
            <a:spLocks xmlns:a="http://schemas.openxmlformats.org/drawingml/2006/main" noGrp="1"/>
          </p:cNvSpPr>
          <p:nvPr/>
        </p:nvSpPr>
        <p:spPr>
          <a:xfrm xmlns:a="http://schemas.openxmlformats.org/drawingml/2006/main">
            <a:off x="4248150" y="4248150"/>
            <a:ext cx="209550" cy="285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F874DB56-B2BC-4082-87FE-D2C17B2E74A7}"/>
              </a:ext>
            </a:extLst>
          </p:cNvPr>
          <p:cNvSpPr>
            <a:spLocks xmlns:a="http://schemas.openxmlformats.org/drawingml/2006/main" noGrp="1"/>
          </p:cNvSpPr>
          <p:nvPr/>
        </p:nvSpPr>
        <p:spPr>
          <a:xfrm xmlns:a="http://schemas.openxmlformats.org/drawingml/2006/main">
            <a:off x="4591050" y="4162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8C3D3"/>
                </a:solidFill>
                <a:latin typeface="Aptos"/>
                <a:ea typeface="Aptos"/>
                <a:cs typeface="Aptos"/>
              </a:defRPr>
            </a:pPr>
            <a:r>
              <a:rPr sz="975" b="0">
                <a:solidFill>
                  <a:srgbClr val="B8C3D3"/>
                </a:solidFill>
                <a:latin typeface="Aptos"/>
                <a:ea typeface="Aptos"/>
                <a:cs typeface="Aptos"/>
              </a:rPr>
              <a:t>unique evidence</a:t>
            </a:r>
          </a:p>
        </p:txBody>
      </p:sp>
      <p:sp>
        <p:nvSpPr>
          <p:cNvPr id="44" name="rule">
            <a:extLst xmlns:a="http://schemas.openxmlformats.org/drawingml/2006/main">
              <a:ext uri="{FF2B5EF4-FFF2-40B4-BE49-F238E27FC236}">
                <a16:creationId xmlns:a16="http://schemas.microsoft.com/office/drawing/2014/main" id="{35CE1384-3055-4BC1-B371-EF18174F724E}"/>
              </a:ext>
            </a:extLst>
          </p:cNvPr>
          <p:cNvSpPr>
            <a:spLocks xmlns:a="http://schemas.openxmlformats.org/drawingml/2006/main" noGrp="1"/>
          </p:cNvSpPr>
          <p:nvPr/>
        </p:nvSpPr>
        <p:spPr>
          <a:xfrm xmlns:a="http://schemas.openxmlformats.org/drawingml/2006/main">
            <a:off x="4248150" y="4629150"/>
            <a:ext cx="209550" cy="285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A2230EAC-9981-4B00-8E01-A782B4719D92}"/>
              </a:ext>
            </a:extLst>
          </p:cNvPr>
          <p:cNvSpPr>
            <a:spLocks xmlns:a="http://schemas.openxmlformats.org/drawingml/2006/main" noGrp="1"/>
          </p:cNvSpPr>
          <p:nvPr/>
        </p:nvSpPr>
        <p:spPr>
          <a:xfrm xmlns:a="http://schemas.openxmlformats.org/drawingml/2006/main">
            <a:off x="4591050" y="4543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8C3D3"/>
                </a:solidFill>
                <a:latin typeface="Aptos"/>
                <a:ea typeface="Aptos"/>
                <a:cs typeface="Aptos"/>
              </a:defRPr>
            </a:pPr>
            <a:r>
              <a:rPr sz="975" b="0">
                <a:solidFill>
                  <a:srgbClr val="B8C3D3"/>
                </a:solidFill>
                <a:latin typeface="Aptos"/>
                <a:ea typeface="Aptos"/>
                <a:cs typeface="Aptos"/>
              </a:rPr>
              <a:t>near-version competition</a:t>
            </a:r>
          </a:p>
        </p:txBody>
      </p:sp>
      <p:sp>
        <p:nvSpPr>
          <p:cNvPr id="46" name="">
            <a:extLst xmlns:a="http://schemas.openxmlformats.org/drawingml/2006/main">
              <a:ext uri="{FF2B5EF4-FFF2-40B4-BE49-F238E27FC236}">
                <a16:creationId xmlns:a16="http://schemas.microsoft.com/office/drawing/2014/main" id="{7569FF75-A9AE-4D1F-B2AE-06AE2CE48325}"/>
              </a:ext>
            </a:extLst>
          </p:cNvPr>
          <p:cNvSpPr>
            <a:spLocks xmlns:a="http://schemas.openxmlformats.org/drawingml/2006/main" noGrp="1"/>
          </p:cNvSpPr>
          <p:nvPr/>
        </p:nvSpPr>
        <p:spPr>
          <a:xfrm xmlns:a="http://schemas.openxmlformats.org/drawingml/2006/main">
            <a:off x="7162800" y="2590800"/>
            <a:ext cx="2781300" cy="26289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47" name="">
            <a:extLst xmlns:a="http://schemas.openxmlformats.org/drawingml/2006/main">
              <a:ext uri="{FF2B5EF4-FFF2-40B4-BE49-F238E27FC236}">
                <a16:creationId xmlns:a16="http://schemas.microsoft.com/office/drawing/2014/main" id="{64881076-138D-4262-8F0F-16D55FF2898F}"/>
              </a:ext>
            </a:extLst>
          </p:cNvPr>
          <p:cNvSpPr>
            <a:spLocks xmlns:a="http://schemas.openxmlformats.org/drawingml/2006/main" noGrp="1"/>
          </p:cNvSpPr>
          <p:nvPr/>
        </p:nvSpPr>
        <p:spPr>
          <a:xfrm xmlns:a="http://schemas.openxmlformats.org/drawingml/2006/main">
            <a:off x="7372350" y="281940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8D754D"/>
                </a:solidFill>
                <a:latin typeface="Aptos"/>
                <a:ea typeface="Aptos"/>
                <a:cs typeface="Aptos"/>
              </a:defRPr>
            </a:pPr>
            <a:r>
              <a:rPr sz="900" b="1">
                <a:solidFill>
                  <a:srgbClr val="8D754D"/>
                </a:solidFill>
                <a:latin typeface="Aptos"/>
                <a:ea typeface="Aptos"/>
                <a:cs typeface="Aptos"/>
              </a:rPr>
              <a:t>AMBIGUITY</a:t>
            </a:r>
          </a:p>
        </p:txBody>
      </p:sp>
      <p:sp>
        <p:nvSpPr>
          <p:cNvPr id="48" name="">
            <a:extLst xmlns:a="http://schemas.openxmlformats.org/drawingml/2006/main">
              <a:ext uri="{FF2B5EF4-FFF2-40B4-BE49-F238E27FC236}">
                <a16:creationId xmlns:a16="http://schemas.microsoft.com/office/drawing/2014/main" id="{696B789A-6551-4D78-BA43-411C404B5FDD}"/>
              </a:ext>
            </a:extLst>
          </p:cNvPr>
          <p:cNvSpPr>
            <a:spLocks xmlns:a="http://schemas.openxmlformats.org/drawingml/2006/main" noGrp="1"/>
          </p:cNvSpPr>
          <p:nvPr/>
        </p:nvSpPr>
        <p:spPr>
          <a:xfrm xmlns:a="http://schemas.openxmlformats.org/drawingml/2006/main">
            <a:off x="7372350" y="31623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alternatives?</a:t>
            </a:r>
          </a:p>
        </p:txBody>
      </p:sp>
      <p:sp>
        <p:nvSpPr>
          <p:cNvPr id="49" name="rule">
            <a:extLst xmlns:a="http://schemas.openxmlformats.org/drawingml/2006/main">
              <a:ext uri="{FF2B5EF4-FFF2-40B4-BE49-F238E27FC236}">
                <a16:creationId xmlns:a16="http://schemas.microsoft.com/office/drawing/2014/main" id="{B541D7AD-609C-43B6-A196-A713278EFD68}"/>
              </a:ext>
            </a:extLst>
          </p:cNvPr>
          <p:cNvSpPr>
            <a:spLocks xmlns:a="http://schemas.openxmlformats.org/drawingml/2006/main" noGrp="1"/>
          </p:cNvSpPr>
          <p:nvPr/>
        </p:nvSpPr>
        <p:spPr>
          <a:xfrm xmlns:a="http://schemas.openxmlformats.org/drawingml/2006/main">
            <a:off x="7467600" y="3867150"/>
            <a:ext cx="209550" cy="285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4E6ED848-E985-4A9A-86ED-D80C0C301E69}"/>
              </a:ext>
            </a:extLst>
          </p:cNvPr>
          <p:cNvSpPr>
            <a:spLocks xmlns:a="http://schemas.openxmlformats.org/drawingml/2006/main" noGrp="1"/>
          </p:cNvSpPr>
          <p:nvPr/>
        </p:nvSpPr>
        <p:spPr>
          <a:xfrm xmlns:a="http://schemas.openxmlformats.org/drawingml/2006/main">
            <a:off x="7810500" y="3781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8C3D3"/>
                </a:solidFill>
                <a:latin typeface="Aptos"/>
                <a:ea typeface="Aptos"/>
                <a:cs typeface="Aptos"/>
              </a:defRPr>
            </a:pPr>
            <a:r>
              <a:rPr sz="975" b="0">
                <a:solidFill>
                  <a:srgbClr val="B8C3D3"/>
                </a:solidFill>
                <a:latin typeface="Aptos"/>
                <a:ea typeface="Aptos"/>
                <a:cs typeface="Aptos"/>
              </a:rPr>
              <a:t>feature-equivalent tie</a:t>
            </a:r>
          </a:p>
        </p:txBody>
      </p:sp>
      <p:sp>
        <p:nvSpPr>
          <p:cNvPr id="51" name="rule">
            <a:extLst xmlns:a="http://schemas.openxmlformats.org/drawingml/2006/main">
              <a:ext uri="{FF2B5EF4-FFF2-40B4-BE49-F238E27FC236}">
                <a16:creationId xmlns:a16="http://schemas.microsoft.com/office/drawing/2014/main" id="{C458216F-044B-4799-98B1-D6F83440638C}"/>
              </a:ext>
            </a:extLst>
          </p:cNvPr>
          <p:cNvSpPr>
            <a:spLocks xmlns:a="http://schemas.openxmlformats.org/drawingml/2006/main" noGrp="1"/>
          </p:cNvSpPr>
          <p:nvPr/>
        </p:nvSpPr>
        <p:spPr>
          <a:xfrm xmlns:a="http://schemas.openxmlformats.org/drawingml/2006/main">
            <a:off x="7467600" y="4248150"/>
            <a:ext cx="209550" cy="285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46394B91-1123-458E-9E3A-A8002E03647A}"/>
              </a:ext>
            </a:extLst>
          </p:cNvPr>
          <p:cNvSpPr>
            <a:spLocks xmlns:a="http://schemas.openxmlformats.org/drawingml/2006/main" noGrp="1"/>
          </p:cNvSpPr>
          <p:nvPr/>
        </p:nvSpPr>
        <p:spPr>
          <a:xfrm xmlns:a="http://schemas.openxmlformats.org/drawingml/2006/main">
            <a:off x="7810500" y="4162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8C3D3"/>
                </a:solidFill>
                <a:latin typeface="Aptos"/>
                <a:ea typeface="Aptos"/>
                <a:cs typeface="Aptos"/>
              </a:defRPr>
            </a:pPr>
            <a:r>
              <a:rPr sz="975" b="0">
                <a:solidFill>
                  <a:srgbClr val="B8C3D3"/>
                </a:solidFill>
                <a:latin typeface="Aptos"/>
                <a:ea typeface="Aptos"/>
                <a:cs typeface="Aptos"/>
              </a:rPr>
              <a:t>near tie &lt;= 0.006</a:t>
            </a:r>
          </a:p>
        </p:txBody>
      </p:sp>
      <p:sp>
        <p:nvSpPr>
          <p:cNvPr id="53" name="rule">
            <a:extLst xmlns:a="http://schemas.openxmlformats.org/drawingml/2006/main">
              <a:ext uri="{FF2B5EF4-FFF2-40B4-BE49-F238E27FC236}">
                <a16:creationId xmlns:a16="http://schemas.microsoft.com/office/drawing/2014/main" id="{062084C8-5F04-405F-BA4D-4FC7013DFADD}"/>
              </a:ext>
            </a:extLst>
          </p:cNvPr>
          <p:cNvSpPr>
            <a:spLocks xmlns:a="http://schemas.openxmlformats.org/drawingml/2006/main" noGrp="1"/>
          </p:cNvSpPr>
          <p:nvPr/>
        </p:nvSpPr>
        <p:spPr>
          <a:xfrm xmlns:a="http://schemas.openxmlformats.org/drawingml/2006/main">
            <a:off x="7467600" y="4629150"/>
            <a:ext cx="209550" cy="285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5D0EDC7E-98F1-4DC3-8F40-24532F018828}"/>
              </a:ext>
            </a:extLst>
          </p:cNvPr>
          <p:cNvSpPr>
            <a:spLocks xmlns:a="http://schemas.openxmlformats.org/drawingml/2006/main" noGrp="1"/>
          </p:cNvSpPr>
          <p:nvPr/>
        </p:nvSpPr>
        <p:spPr>
          <a:xfrm xmlns:a="http://schemas.openxmlformats.org/drawingml/2006/main">
            <a:off x="7810500" y="4543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8C3D3"/>
                </a:solidFill>
                <a:latin typeface="Aptos"/>
                <a:ea typeface="Aptos"/>
                <a:cs typeface="Aptos"/>
              </a:defRPr>
            </a:pPr>
            <a:r>
              <a:rPr sz="975" b="0">
                <a:solidFill>
                  <a:srgbClr val="B8C3D3"/>
                </a:solidFill>
                <a:latin typeface="Aptos"/>
                <a:ea typeface="Aptos"/>
                <a:cs typeface="Aptos"/>
              </a:rPr>
              <a:t>structured version set</a:t>
            </a:r>
          </a:p>
        </p:txBody>
      </p:sp>
      <p:sp>
        <p:nvSpPr>
          <p:cNvPr id="55" name="">
            <a:extLst xmlns:a="http://schemas.openxmlformats.org/drawingml/2006/main">
              <a:ext uri="{FF2B5EF4-FFF2-40B4-BE49-F238E27FC236}">
                <a16:creationId xmlns:a16="http://schemas.microsoft.com/office/drawing/2014/main" id="{0A0AAEDA-5A40-4155-8F84-3EAB93ED09D0}"/>
              </a:ext>
            </a:extLst>
          </p:cNvPr>
          <p:cNvSpPr>
            <a:spLocks xmlns:a="http://schemas.openxmlformats.org/drawingml/2006/main" noGrp="1"/>
          </p:cNvSpPr>
          <p:nvPr/>
        </p:nvSpPr>
        <p:spPr>
          <a:xfrm xmlns:a="http://schemas.openxmlformats.org/drawingml/2006/main">
            <a:off x="10191750" y="2590800"/>
            <a:ext cx="1314450" cy="26289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56" name="">
            <a:extLst xmlns:a="http://schemas.openxmlformats.org/drawingml/2006/main">
              <a:ext uri="{FF2B5EF4-FFF2-40B4-BE49-F238E27FC236}">
                <a16:creationId xmlns:a16="http://schemas.microsoft.com/office/drawing/2014/main" id="{283B7EB8-8B8E-4ECE-A585-ADDC7A543FFA}"/>
              </a:ext>
            </a:extLst>
          </p:cNvPr>
          <p:cNvSpPr>
            <a:spLocks xmlns:a="http://schemas.openxmlformats.org/drawingml/2006/main" noGrp="1"/>
          </p:cNvSpPr>
          <p:nvPr/>
        </p:nvSpPr>
        <p:spPr>
          <a:xfrm xmlns:a="http://schemas.openxmlformats.org/drawingml/2006/main">
            <a:off x="10401300" y="2895600"/>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A65C55"/>
                </a:solidFill>
                <a:latin typeface="Aptos"/>
                <a:ea typeface="Aptos"/>
                <a:cs typeface="Aptos"/>
              </a:defRPr>
            </a:pPr>
            <a:r>
              <a:rPr sz="1650" b="1">
                <a:solidFill>
                  <a:srgbClr val="A65C55"/>
                </a:solidFill>
                <a:latin typeface="Aptos"/>
                <a:ea typeface="Aptos"/>
                <a:cs typeface="Aptos"/>
              </a:rPr>
              <a:t>CVE</a:t>
            </a:r>
          </a:p>
        </p:txBody>
      </p:sp>
      <p:sp>
        <p:nvSpPr>
          <p:cNvPr id="57" name="">
            <a:extLst xmlns:a="http://schemas.openxmlformats.org/drawingml/2006/main">
              <a:ext uri="{FF2B5EF4-FFF2-40B4-BE49-F238E27FC236}">
                <a16:creationId xmlns:a16="http://schemas.microsoft.com/office/drawing/2014/main" id="{7F1C6153-EFFE-4F8D-8C0D-372441C7C15B}"/>
              </a:ext>
            </a:extLst>
          </p:cNvPr>
          <p:cNvSpPr>
            <a:spLocks xmlns:a="http://schemas.openxmlformats.org/drawingml/2006/main" noGrp="1"/>
          </p:cNvSpPr>
          <p:nvPr/>
        </p:nvSpPr>
        <p:spPr>
          <a:xfrm xmlns:a="http://schemas.openxmlformats.org/drawingml/2006/main">
            <a:off x="10382250" y="35433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A65C55"/>
                </a:solidFill>
                <a:latin typeface="Aptos"/>
                <a:ea typeface="Aptos"/>
                <a:cs typeface="Aptos"/>
              </a:defRPr>
            </a:pPr>
            <a:r>
              <a:rPr sz="1125" b="1">
                <a:solidFill>
                  <a:srgbClr val="A65C55"/>
                </a:solidFill>
                <a:latin typeface="Aptos"/>
                <a:ea typeface="Aptos"/>
                <a:cs typeface="Aptos"/>
              </a:rPr>
              <a:t>confirmed</a:t>
            </a:r>
          </a:p>
        </p:txBody>
      </p:sp>
      <p:sp>
        <p:nvSpPr>
          <p:cNvPr id="58" name="">
            <a:extLst xmlns:a="http://schemas.openxmlformats.org/drawingml/2006/main">
              <a:ext uri="{FF2B5EF4-FFF2-40B4-BE49-F238E27FC236}">
                <a16:creationId xmlns:a16="http://schemas.microsoft.com/office/drawing/2014/main" id="{240EB355-2568-4366-A676-F646FBC9781B}"/>
              </a:ext>
            </a:extLst>
          </p:cNvPr>
          <p:cNvSpPr>
            <a:spLocks xmlns:a="http://schemas.openxmlformats.org/drawingml/2006/main" noGrp="1"/>
          </p:cNvSpPr>
          <p:nvPr/>
        </p:nvSpPr>
        <p:spPr>
          <a:xfrm xmlns:a="http://schemas.openxmlformats.org/drawingml/2006/main">
            <a:off x="10382250" y="3981450"/>
            <a:ext cx="95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0">
                <a:solidFill>
                  <a:srgbClr val="202A33"/>
                </a:solidFill>
                <a:latin typeface="Aptos"/>
                <a:ea typeface="Aptos"/>
                <a:cs typeface="Aptos"/>
              </a:defRPr>
            </a:pPr>
            <a:r>
              <a:rPr sz="975" b="0">
                <a:solidFill>
                  <a:srgbClr val="202A33"/>
                </a:solidFill>
                <a:latin typeface="Aptos"/>
                <a:ea typeface="Aptos"/>
                <a:cs typeface="Aptos"/>
              </a:rPr>
              <a:t>only when</a:t>
            </a:r>
          </a:p>
          <a:p xmlns:a="http://schemas.openxmlformats.org/drawingml/2006/main">
            <a:pPr algn="ctr">
              <a:buNone/>
              <a:defRPr sz="975" b="0">
                <a:solidFill>
                  <a:srgbClr val="202A33"/>
                </a:solidFill>
                <a:latin typeface="Aptos"/>
                <a:ea typeface="Aptos"/>
                <a:cs typeface="Aptos"/>
              </a:defRPr>
            </a:pPr>
            <a:r>
              <a:rPr sz="975" b="0">
                <a:solidFill>
                  <a:srgbClr val="202A33"/>
                </a:solidFill>
                <a:latin typeface="Aptos"/>
                <a:ea typeface="Aptos"/>
                <a:cs typeface="Aptos"/>
              </a:rPr>
              <a:t>identity + version</a:t>
            </a:r>
          </a:p>
          <a:p xmlns:a="http://schemas.openxmlformats.org/drawingml/2006/main">
            <a:pPr algn="ctr">
              <a:buNone/>
              <a:defRPr sz="975" b="0">
                <a:solidFill>
                  <a:srgbClr val="202A33"/>
                </a:solidFill>
                <a:latin typeface="Aptos"/>
                <a:ea typeface="Aptos"/>
                <a:cs typeface="Aptos"/>
              </a:defRPr>
            </a:pPr>
            <a:r>
              <a:rPr sz="975" b="0">
                <a:solidFill>
                  <a:srgbClr val="202A33"/>
                </a:solidFill>
                <a:latin typeface="Aptos"/>
                <a:ea typeface="Aptos"/>
                <a:cs typeface="Aptos"/>
              </a:rPr>
              <a:t>are strong</a:t>
            </a:r>
          </a:p>
        </p:txBody>
      </p:sp>
      <p:sp>
        <p:nvSpPr>
          <p:cNvPr id="59" name="">
            <a:extLst xmlns:a="http://schemas.openxmlformats.org/drawingml/2006/main">
              <a:ext uri="{FF2B5EF4-FFF2-40B4-BE49-F238E27FC236}">
                <a16:creationId xmlns:a16="http://schemas.microsoft.com/office/drawing/2014/main" id="{FB5EB764-A8C3-471D-9C0F-6452ED7CF241}"/>
              </a:ext>
            </a:extLst>
          </p:cNvPr>
          <p:cNvSpPr>
            <a:spLocks xmlns:a="http://schemas.openxmlformats.org/drawingml/2006/main" noGrp="1"/>
          </p:cNvSpPr>
          <p:nvPr/>
        </p:nvSpPr>
        <p:spPr>
          <a:xfrm xmlns:a="http://schemas.openxmlformats.org/drawingml/2006/main">
            <a:off x="685800" y="5505450"/>
            <a:ext cx="10820400" cy="590550"/>
          </a:xfrm>
          <a:prstGeom xmlns:a="http://schemas.openxmlformats.org/drawingml/2006/main" prst="rect">
            <a:avLst/>
          </a:prstGeom>
          <a:solidFill xmlns:a="http://schemas.openxmlformats.org/drawingml/2006/main">
            <a:srgbClr val="22303C"/>
          </a:solidFill>
          <a:ln xmlns:a="http://schemas.openxmlformats.org/drawingml/2006/main" w="9525">
            <a:solidFill>
              <a:srgbClr val="8D754D"/>
            </a:solidFill>
            <a:prstDash val="solid"/>
          </a:ln>
        </p:spPr>
      </p:sp>
      <p:sp>
        <p:nvSpPr>
          <p:cNvPr id="60" name="">
            <a:extLst xmlns:a="http://schemas.openxmlformats.org/drawingml/2006/main">
              <a:ext uri="{FF2B5EF4-FFF2-40B4-BE49-F238E27FC236}">
                <a16:creationId xmlns:a16="http://schemas.microsoft.com/office/drawing/2014/main" id="{FD07BF03-509B-4C2F-97CC-EAB83E07A884}"/>
              </a:ext>
            </a:extLst>
          </p:cNvPr>
          <p:cNvSpPr>
            <a:spLocks xmlns:a="http://schemas.openxmlformats.org/drawingml/2006/main" noGrp="1"/>
          </p:cNvSpPr>
          <p:nvPr/>
        </p:nvSpPr>
        <p:spPr>
          <a:xfrm xmlns:a="http://schemas.openxmlformats.org/drawingml/2006/main">
            <a:off x="876300" y="56769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D754D"/>
                </a:solidFill>
                <a:latin typeface="Aptos"/>
                <a:ea typeface="Aptos"/>
                <a:cs typeface="Aptos"/>
              </a:defRPr>
            </a:pPr>
            <a:r>
              <a:rPr sz="825" b="1">
                <a:solidFill>
                  <a:srgbClr val="8D754D"/>
                </a:solidFill>
                <a:latin typeface="Aptos"/>
                <a:ea typeface="Aptos"/>
                <a:cs typeface="Aptos"/>
              </a:rPr>
              <a:t>POLICY</a:t>
            </a:r>
          </a:p>
        </p:txBody>
      </p:sp>
      <p:sp>
        <p:nvSpPr>
          <p:cNvPr id="61" name="">
            <a:extLst xmlns:a="http://schemas.openxmlformats.org/drawingml/2006/main">
              <a:ext uri="{FF2B5EF4-FFF2-40B4-BE49-F238E27FC236}">
                <a16:creationId xmlns:a16="http://schemas.microsoft.com/office/drawing/2014/main" id="{E5400EF8-4C25-4EBD-804D-791B57207D45}"/>
              </a:ext>
            </a:extLst>
          </p:cNvPr>
          <p:cNvSpPr>
            <a:spLocks xmlns:a="http://schemas.openxmlformats.org/drawingml/2006/main" noGrp="1"/>
          </p:cNvSpPr>
          <p:nvPr/>
        </p:nvSpPr>
        <p:spPr>
          <a:xfrm xmlns:a="http://schemas.openxmlformats.org/drawingml/2006/main">
            <a:off x="2343150" y="56292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A detected library can be real while its exact version remains uncertain; the output must preserve that distinction.</a:t>
            </a:r>
          </a:p>
        </p:txBody>
      </p:sp>
      <p:sp>
        <p:nvSpPr>
          <p:cNvPr id="62" name="">
            <a:extLst xmlns:a="http://schemas.openxmlformats.org/drawingml/2006/main">
              <a:ext uri="{FF2B5EF4-FFF2-40B4-BE49-F238E27FC236}">
                <a16:creationId xmlns:a16="http://schemas.microsoft.com/office/drawing/2014/main" id="{DFA5ED95-7A5B-41E2-80FE-1B7AB9267546}"/>
              </a:ext>
            </a:extLst>
          </p:cNvPr>
          <p:cNvSpPr>
            <a:spLocks xmlns:a="http://schemas.openxmlformats.org/drawingml/2006/main" noGrp="1"/>
          </p:cNvSpPr>
          <p:nvPr/>
        </p:nvSpPr>
        <p:spPr>
          <a:xfrm xmlns:a="http://schemas.openxmlformats.org/drawingml/2006/main">
            <a:off x="685800" y="619125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945169F9-2014-4D0E-8884-CA0A70C1BD46}"/>
              </a:ext>
            </a:extLst>
          </p:cNvPr>
          <p:cNvSpPr>
            <a:spLocks xmlns:a="http://schemas.openxmlformats.org/drawingml/2006/main" noGrp="1"/>
          </p:cNvSpPr>
          <p:nvPr/>
        </p:nvSpPr>
        <p:spPr>
          <a:xfrm xmlns:a="http://schemas.openxmlformats.org/drawingml/2006/main">
            <a:off x="819150" y="6257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Implementation: matcher.py  -&gt;  build_version_decisions(), classify_identity_candidate(), classify_version_candidate()</a:t>
            </a:r>
          </a:p>
        </p:txBody>
      </p:sp>
      <p:sp>
        <p:nvSpPr>
          <p:cNvPr id="64" name="">
            <a:extLst xmlns:a="http://schemas.openxmlformats.org/drawingml/2006/main">
              <a:ext uri="{FF2B5EF4-FFF2-40B4-BE49-F238E27FC236}">
                <a16:creationId xmlns:a16="http://schemas.microsoft.com/office/drawing/2014/main" id="{B05B61C2-9185-4162-B573-1FE3075CD3A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122881863"/>
      </p:ext>
    </p:extLst>
  </p:cSld>
</p:sld>
</file>

<file path=ppt/slides/slide12.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526110B-73FD-4E93-87AE-BA701C368416}"/>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365F7D"/>
                </a:solidFill>
                <a:latin typeface="Aptos"/>
                <a:ea typeface="Aptos"/>
                <a:cs typeface="Aptos"/>
              </a:defRPr>
            </a:pPr>
            <a:r>
              <a:rPr sz="900" b="1">
                <a:solidFill>
                  <a:srgbClr val="365F7D"/>
                </a:solidFill>
                <a:latin typeface="Aptos"/>
                <a:ea typeface="Aptos"/>
                <a:cs typeface="Aptos"/>
              </a:rPr>
              <a:t>COMPONENT 6  |  SBOM GENERATOR</a:t>
            </a:r>
          </a:p>
        </p:txBody>
      </p:sp>
      <p:sp>
        <p:nvSpPr>
          <p:cNvPr id="2" name="">
            <a:extLst xmlns:a="http://schemas.openxmlformats.org/drawingml/2006/main">
              <a:ext uri="{FF2B5EF4-FFF2-40B4-BE49-F238E27FC236}">
                <a16:creationId xmlns:a16="http://schemas.microsoft.com/office/drawing/2014/main" id="{4E828ADE-15B9-4D9D-BD46-093684E7EC57}"/>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SBOM output evolved from internal JSON into evidence-rich CycloneDX 1.5</a:t>
            </a:r>
          </a:p>
        </p:txBody>
      </p:sp>
      <p:sp>
        <p:nvSpPr>
          <p:cNvPr id="3" name="">
            <a:extLst xmlns:a="http://schemas.openxmlformats.org/drawingml/2006/main">
              <a:ext uri="{FF2B5EF4-FFF2-40B4-BE49-F238E27FC236}">
                <a16:creationId xmlns:a16="http://schemas.microsoft.com/office/drawing/2014/main" id="{78B992AA-BE4B-469E-B084-A0DDAE3A49BB}"/>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12</a:t>
            </a:r>
          </a:p>
        </p:txBody>
      </p:sp>
      <p:sp>
        <p:nvSpPr>
          <p:cNvPr id="4" name="">
            <a:extLst xmlns:a="http://schemas.openxmlformats.org/drawingml/2006/main">
              <a:ext uri="{FF2B5EF4-FFF2-40B4-BE49-F238E27FC236}">
                <a16:creationId xmlns:a16="http://schemas.microsoft.com/office/drawing/2014/main" id="{46D00AA5-8745-48F7-A78C-8618F1ECCA71}"/>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65717A"/>
            </a:solidFill>
            <a:prstDash val="solid"/>
          </a:ln>
        </p:spPr>
      </p:sp>
      <p:sp>
        <p:nvSpPr>
          <p:cNvPr id="5" name="">
            <a:extLst xmlns:a="http://schemas.openxmlformats.org/drawingml/2006/main">
              <a:ext uri="{FF2B5EF4-FFF2-40B4-BE49-F238E27FC236}">
                <a16:creationId xmlns:a16="http://schemas.microsoft.com/office/drawing/2014/main" id="{08E78A54-65FA-4F97-830B-81367C0C547A}"/>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65717A"/>
                </a:solidFill>
                <a:latin typeface="Aptos"/>
                <a:ea typeface="Aptos"/>
                <a:cs typeface="Aptos"/>
              </a:defRPr>
            </a:pPr>
            <a:r>
              <a:rPr sz="825" b="1">
                <a:solidFill>
                  <a:srgbClr val="65717A"/>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D5C910CD-2719-45B5-89F8-8CCF882FB6BF}"/>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Internal JSON</a:t>
            </a:r>
          </a:p>
        </p:txBody>
      </p:sp>
      <p:sp>
        <p:nvSpPr>
          <p:cNvPr id="7" name="">
            <a:extLst xmlns:a="http://schemas.openxmlformats.org/drawingml/2006/main">
              <a:ext uri="{FF2B5EF4-FFF2-40B4-BE49-F238E27FC236}">
                <a16:creationId xmlns:a16="http://schemas.microsoft.com/office/drawing/2014/main" id="{7675847E-2B84-4D30-8AEC-51FF480335FC}"/>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65717A"/>
                </a:solidFill>
                <a:latin typeface="Aptos"/>
                <a:ea typeface="Aptos"/>
                <a:cs typeface="Aptos"/>
              </a:defRPr>
            </a:pPr>
            <a:r>
              <a:rPr sz="825" b="0">
                <a:solidFill>
                  <a:srgbClr val="65717A"/>
                </a:solidFill>
                <a:latin typeface="Aptos"/>
                <a:ea typeface="Aptos"/>
                <a:cs typeface="Aptos"/>
              </a:rPr>
              <a:t>Useful for debugging, not interoperable.</a:t>
            </a:r>
          </a:p>
        </p:txBody>
      </p:sp>
      <p:sp>
        <p:nvSpPr>
          <p:cNvPr id="8" name="rule">
            <a:extLst xmlns:a="http://schemas.openxmlformats.org/drawingml/2006/main">
              <a:ext uri="{FF2B5EF4-FFF2-40B4-BE49-F238E27FC236}">
                <a16:creationId xmlns:a16="http://schemas.microsoft.com/office/drawing/2014/main" id="{D8F23E3A-C5B3-42EB-80EF-074BD9986660}"/>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65717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956BB48-E7F9-44DE-AF1F-89F00EFC09AF}"/>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65717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E889A19-584B-4D7C-8501-7B8216E17505}"/>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11" name="">
            <a:extLst xmlns:a="http://schemas.openxmlformats.org/drawingml/2006/main">
              <a:ext uri="{FF2B5EF4-FFF2-40B4-BE49-F238E27FC236}">
                <a16:creationId xmlns:a16="http://schemas.microsoft.com/office/drawing/2014/main" id="{1A2BF327-E96D-4509-8643-4642E7DDA1DD}"/>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Aptos"/>
                <a:ea typeface="Aptos"/>
                <a:cs typeface="Aptos"/>
              </a:defRPr>
            </a:pPr>
            <a:r>
              <a:rPr sz="825" b="1">
                <a:solidFill>
                  <a:srgbClr val="365F7D"/>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D21C7718-CD02-4B12-915E-039DE17EA6CF}"/>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CycloneDX</a:t>
            </a:r>
          </a:p>
        </p:txBody>
      </p:sp>
      <p:sp>
        <p:nvSpPr>
          <p:cNvPr id="13" name="">
            <a:extLst xmlns:a="http://schemas.openxmlformats.org/drawingml/2006/main">
              <a:ext uri="{FF2B5EF4-FFF2-40B4-BE49-F238E27FC236}">
                <a16:creationId xmlns:a16="http://schemas.microsoft.com/office/drawing/2014/main" id="{79C31CA7-6B75-4F19-A233-29E2CE9AFA4F}"/>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65717A"/>
                </a:solidFill>
                <a:latin typeface="Aptos"/>
                <a:ea typeface="Aptos"/>
                <a:cs typeface="Aptos"/>
              </a:defRPr>
            </a:pPr>
            <a:r>
              <a:rPr sz="825" b="0">
                <a:solidFill>
                  <a:srgbClr val="65717A"/>
                </a:solidFill>
                <a:latin typeface="Aptos"/>
                <a:ea typeface="Aptos"/>
                <a:cs typeface="Aptos"/>
              </a:rPr>
              <a:t>Standard components, hashes, dependencies and metadata.</a:t>
            </a:r>
          </a:p>
        </p:txBody>
      </p:sp>
      <p:sp>
        <p:nvSpPr>
          <p:cNvPr id="14" name="rule">
            <a:extLst xmlns:a="http://schemas.openxmlformats.org/drawingml/2006/main">
              <a:ext uri="{FF2B5EF4-FFF2-40B4-BE49-F238E27FC236}">
                <a16:creationId xmlns:a16="http://schemas.microsoft.com/office/drawing/2014/main" id="{3F5771B8-ED37-4CA3-BD8B-9387F3D04DB4}"/>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4693E67-A82E-4B73-A350-B99498206148}"/>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8C0E960-709A-4124-8FB3-B5469AE443BF}"/>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7" name="">
            <a:extLst xmlns:a="http://schemas.openxmlformats.org/drawingml/2006/main">
              <a:ext uri="{FF2B5EF4-FFF2-40B4-BE49-F238E27FC236}">
                <a16:creationId xmlns:a16="http://schemas.microsoft.com/office/drawing/2014/main" id="{443E0F8E-5FF5-48A7-95C1-FD46896E89E7}"/>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4F7D76"/>
                </a:solidFill>
                <a:latin typeface="Aptos"/>
                <a:ea typeface="Aptos"/>
                <a:cs typeface="Aptos"/>
              </a:defRPr>
            </a:pPr>
            <a:r>
              <a:rPr sz="825" b="1">
                <a:solidFill>
                  <a:srgbClr val="4F7D76"/>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61864A78-CD3C-4AC6-AB2D-54C4998CF993}"/>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PURL + evidence</a:t>
            </a:r>
          </a:p>
        </p:txBody>
      </p:sp>
      <p:sp>
        <p:nvSpPr>
          <p:cNvPr id="19" name="">
            <a:extLst xmlns:a="http://schemas.openxmlformats.org/drawingml/2006/main">
              <a:ext uri="{FF2B5EF4-FFF2-40B4-BE49-F238E27FC236}">
                <a16:creationId xmlns:a16="http://schemas.microsoft.com/office/drawing/2014/main" id="{DF1143FE-3F6A-43C5-880D-942426A48DD4}"/>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65717A"/>
                </a:solidFill>
                <a:latin typeface="Aptos"/>
                <a:ea typeface="Aptos"/>
                <a:cs typeface="Aptos"/>
              </a:defRPr>
            </a:pPr>
            <a:r>
              <a:rPr sz="825" b="0">
                <a:solidFill>
                  <a:srgbClr val="65717A"/>
                </a:solidFill>
                <a:latin typeface="Aptos"/>
                <a:ea typeface="Aptos"/>
                <a:cs typeface="Aptos"/>
              </a:rPr>
              <a:t>Maven identity, confidence properties, ambiguity.</a:t>
            </a:r>
          </a:p>
        </p:txBody>
      </p:sp>
      <p:sp>
        <p:nvSpPr>
          <p:cNvPr id="20" name="rule">
            <a:extLst xmlns:a="http://schemas.openxmlformats.org/drawingml/2006/main">
              <a:ext uri="{FF2B5EF4-FFF2-40B4-BE49-F238E27FC236}">
                <a16:creationId xmlns:a16="http://schemas.microsoft.com/office/drawing/2014/main" id="{C8F2F15E-3AED-499F-9DD8-792898EFD7A1}"/>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8C82A0C-7F80-466B-95C8-54557B5EBE3B}"/>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D16B686-1212-4ADA-BEAC-F43DEA8E15D4}"/>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23" name="">
            <a:extLst xmlns:a="http://schemas.openxmlformats.org/drawingml/2006/main">
              <a:ext uri="{FF2B5EF4-FFF2-40B4-BE49-F238E27FC236}">
                <a16:creationId xmlns:a16="http://schemas.microsoft.com/office/drawing/2014/main" id="{40437AE0-5981-4055-A0F2-A3CB1A448BDE}"/>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D754D"/>
                </a:solidFill>
                <a:latin typeface="Aptos"/>
                <a:ea typeface="Aptos"/>
                <a:cs typeface="Aptos"/>
              </a:defRPr>
            </a:pPr>
            <a:r>
              <a:rPr sz="825" b="1">
                <a:solidFill>
                  <a:srgbClr val="8D754D"/>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DA903426-3BEA-40D6-9AED-F8490DF13364}"/>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Boundary files</a:t>
            </a:r>
          </a:p>
        </p:txBody>
      </p:sp>
      <p:sp>
        <p:nvSpPr>
          <p:cNvPr id="25" name="">
            <a:extLst xmlns:a="http://schemas.openxmlformats.org/drawingml/2006/main">
              <a:ext uri="{FF2B5EF4-FFF2-40B4-BE49-F238E27FC236}">
                <a16:creationId xmlns:a16="http://schemas.microsoft.com/office/drawing/2014/main" id="{66282B0D-8CB6-44E8-B926-81EB5EF509D9}"/>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65717A"/>
                </a:solidFill>
                <a:latin typeface="Aptos"/>
                <a:ea typeface="Aptos"/>
                <a:cs typeface="Aptos"/>
              </a:defRPr>
            </a:pPr>
            <a:r>
              <a:rPr sz="825" b="0">
                <a:solidFill>
                  <a:srgbClr val="65717A"/>
                </a:solidFill>
                <a:latin typeface="Aptos"/>
                <a:ea typeface="Aptos"/>
                <a:cs typeface="Aptos"/>
              </a:rPr>
              <a:t>Native .so entries remain hash-only file components.</a:t>
            </a:r>
          </a:p>
        </p:txBody>
      </p:sp>
      <p:sp>
        <p:nvSpPr>
          <p:cNvPr id="26" name="">
            <a:extLst xmlns:a="http://schemas.openxmlformats.org/drawingml/2006/main">
              <a:ext uri="{FF2B5EF4-FFF2-40B4-BE49-F238E27FC236}">
                <a16:creationId xmlns:a16="http://schemas.microsoft.com/office/drawing/2014/main" id="{E83E19D7-6E94-4408-8D2F-7BB882A49042}"/>
              </a:ext>
            </a:extLst>
          </p:cNvPr>
          <p:cNvSpPr>
            <a:spLocks xmlns:a="http://schemas.openxmlformats.org/drawingml/2006/main" noGrp="1"/>
          </p:cNvSpPr>
          <p:nvPr/>
        </p:nvSpPr>
        <p:spPr>
          <a:xfrm xmlns:a="http://schemas.openxmlformats.org/drawingml/2006/main">
            <a:off x="685800" y="2647950"/>
            <a:ext cx="5924550" cy="27622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7" name="">
            <a:extLst xmlns:a="http://schemas.openxmlformats.org/drawingml/2006/main">
              <a:ext uri="{FF2B5EF4-FFF2-40B4-BE49-F238E27FC236}">
                <a16:creationId xmlns:a16="http://schemas.microsoft.com/office/drawing/2014/main" id="{5EF3C97E-7370-4336-8755-84FFBBE49DBF}"/>
              </a:ext>
            </a:extLst>
          </p:cNvPr>
          <p:cNvSpPr>
            <a:spLocks xmlns:a="http://schemas.openxmlformats.org/drawingml/2006/main" noGrp="1"/>
          </p:cNvSpPr>
          <p:nvPr/>
        </p:nvSpPr>
        <p:spPr>
          <a:xfrm xmlns:a="http://schemas.openxmlformats.org/drawingml/2006/main">
            <a:off x="685800" y="2647950"/>
            <a:ext cx="5924550" cy="323850"/>
          </a:xfrm>
          <a:prstGeom xmlns:a="http://schemas.openxmlformats.org/drawingml/2006/main" prst="rect">
            <a:avLst/>
          </a:prstGeom>
          <a:solidFill xmlns:a="http://schemas.openxmlformats.org/drawingml/2006/main">
            <a:srgbClr val="22303C"/>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F070724-65D6-4F07-8BCC-74CA21DA5185}"/>
              </a:ext>
            </a:extLst>
          </p:cNvPr>
          <p:cNvSpPr>
            <a:spLocks xmlns:a="http://schemas.openxmlformats.org/drawingml/2006/main" noGrp="1"/>
          </p:cNvSpPr>
          <p:nvPr/>
        </p:nvSpPr>
        <p:spPr>
          <a:xfrm xmlns:a="http://schemas.openxmlformats.org/drawingml/2006/main">
            <a:off x="819150" y="2762250"/>
            <a:ext cx="85725" cy="85725"/>
          </a:xfrm>
          <a:prstGeom xmlns:a="http://schemas.openxmlformats.org/drawingml/2006/main" prst="ellipse">
            <a:avLst/>
          </a:prstGeom>
          <a:solidFill xmlns:a="http://schemas.openxmlformats.org/drawingml/2006/main">
            <a:srgbClr val="7A858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46B5AAC-3D43-4FAB-8334-3D9A56EC9BBA}"/>
              </a:ext>
            </a:extLst>
          </p:cNvPr>
          <p:cNvSpPr>
            <a:spLocks xmlns:a="http://schemas.openxmlformats.org/drawingml/2006/main" noGrp="1"/>
          </p:cNvSpPr>
          <p:nvPr/>
        </p:nvSpPr>
        <p:spPr>
          <a:xfrm xmlns:a="http://schemas.openxmlformats.org/drawingml/2006/main">
            <a:off x="971550" y="2762250"/>
            <a:ext cx="85725" cy="85725"/>
          </a:xfrm>
          <a:prstGeom xmlns:a="http://schemas.openxmlformats.org/drawingml/2006/main" prst="ellipse">
            <a:avLst/>
          </a:prstGeom>
          <a:solidFill xmlns:a="http://schemas.openxmlformats.org/drawingml/2006/main">
            <a:srgbClr val="9BA3A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B573B97-1EF0-401B-BD5C-4E2EAEA119C1}"/>
              </a:ext>
            </a:extLst>
          </p:cNvPr>
          <p:cNvSpPr>
            <a:spLocks xmlns:a="http://schemas.openxmlformats.org/drawingml/2006/main" noGrp="1"/>
          </p:cNvSpPr>
          <p:nvPr/>
        </p:nvSpPr>
        <p:spPr>
          <a:xfrm xmlns:a="http://schemas.openxmlformats.org/drawingml/2006/main">
            <a:off x="1123950" y="2762250"/>
            <a:ext cx="85725" cy="85725"/>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CCCF427-D9F9-45F9-8D83-6F3F5B4C895C}"/>
              </a:ext>
            </a:extLst>
          </p:cNvPr>
          <p:cNvSpPr>
            <a:spLocks xmlns:a="http://schemas.openxmlformats.org/drawingml/2006/main" noGrp="1"/>
          </p:cNvSpPr>
          <p:nvPr/>
        </p:nvSpPr>
        <p:spPr>
          <a:xfrm xmlns:a="http://schemas.openxmlformats.org/drawingml/2006/main">
            <a:off x="1333500" y="2733675"/>
            <a:ext cx="5124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sbom.cdx.json</a:t>
            </a:r>
          </a:p>
        </p:txBody>
      </p:sp>
      <p:sp>
        <p:nvSpPr>
          <p:cNvPr id="32" name="">
            <a:extLst xmlns:a="http://schemas.openxmlformats.org/drawingml/2006/main">
              <a:ext uri="{FF2B5EF4-FFF2-40B4-BE49-F238E27FC236}">
                <a16:creationId xmlns:a16="http://schemas.microsoft.com/office/drawing/2014/main" id="{2D0D3F41-6BFB-40E5-8207-7C82B9FCA2D1}"/>
              </a:ext>
            </a:extLst>
          </p:cNvPr>
          <p:cNvSpPr>
            <a:spLocks xmlns:a="http://schemas.openxmlformats.org/drawingml/2006/main" noGrp="1"/>
          </p:cNvSpPr>
          <p:nvPr/>
        </p:nvSpPr>
        <p:spPr>
          <a:xfrm xmlns:a="http://schemas.openxmlformats.org/drawingml/2006/main">
            <a:off x="857250" y="3143250"/>
            <a:ext cx="57150" cy="20764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EBBC79A-65BC-4CCE-A732-B4877580F7AD}"/>
              </a:ext>
            </a:extLst>
          </p:cNvPr>
          <p:cNvSpPr>
            <a:spLocks xmlns:a="http://schemas.openxmlformats.org/drawingml/2006/main" noGrp="1"/>
          </p:cNvSpPr>
          <p:nvPr/>
        </p:nvSpPr>
        <p:spPr>
          <a:xfrm xmlns:a="http://schemas.openxmlformats.org/drawingml/2006/main">
            <a:off x="1066800" y="32956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65F7D"/>
                </a:solidFill>
                <a:latin typeface="Cascadia Mono"/>
                <a:ea typeface="Cascadia Mono"/>
                <a:cs typeface="Cascadia Mono"/>
              </a:defRPr>
            </a:pPr>
            <a:r>
              <a:rPr sz="1050" b="1">
                <a:solidFill>
                  <a:srgbClr val="365F7D"/>
                </a:solidFill>
                <a:latin typeface="Cascadia Mono"/>
                <a:ea typeface="Cascadia Mono"/>
                <a:cs typeface="Cascadia Mono"/>
              </a:rPr>
              <a:t>"type": "library"</a:t>
            </a:r>
          </a:p>
        </p:txBody>
      </p:sp>
      <p:sp>
        <p:nvSpPr>
          <p:cNvPr id="34" name="">
            <a:extLst xmlns:a="http://schemas.openxmlformats.org/drawingml/2006/main">
              <a:ext uri="{FF2B5EF4-FFF2-40B4-BE49-F238E27FC236}">
                <a16:creationId xmlns:a16="http://schemas.microsoft.com/office/drawing/2014/main" id="{D3F134AA-489A-4648-AD9B-438C1A610E4B}"/>
              </a:ext>
            </a:extLst>
          </p:cNvPr>
          <p:cNvSpPr>
            <a:spLocks xmlns:a="http://schemas.openxmlformats.org/drawingml/2006/main" noGrp="1"/>
          </p:cNvSpPr>
          <p:nvPr/>
        </p:nvSpPr>
        <p:spPr>
          <a:xfrm xmlns:a="http://schemas.openxmlformats.org/drawingml/2006/main">
            <a:off x="1066800" y="36576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4F7D76"/>
                </a:solidFill>
                <a:latin typeface="Cascadia Mono"/>
                <a:ea typeface="Cascadia Mono"/>
                <a:cs typeface="Cascadia Mono"/>
              </a:defRPr>
            </a:pPr>
            <a:r>
              <a:rPr sz="1050" b="1">
                <a:solidFill>
                  <a:srgbClr val="4F7D76"/>
                </a:solidFill>
                <a:latin typeface="Cascadia Mono"/>
                <a:ea typeface="Cascadia Mono"/>
                <a:cs typeface="Cascadia Mono"/>
              </a:rPr>
              <a:t>"purl": "pkg:maven/...@version"</a:t>
            </a:r>
          </a:p>
        </p:txBody>
      </p:sp>
      <p:sp>
        <p:nvSpPr>
          <p:cNvPr id="35" name="">
            <a:extLst xmlns:a="http://schemas.openxmlformats.org/drawingml/2006/main">
              <a:ext uri="{FF2B5EF4-FFF2-40B4-BE49-F238E27FC236}">
                <a16:creationId xmlns:a16="http://schemas.microsoft.com/office/drawing/2014/main" id="{70E5FD0E-D742-4E05-8AC2-E486E1A25B27}"/>
              </a:ext>
            </a:extLst>
          </p:cNvPr>
          <p:cNvSpPr>
            <a:spLocks xmlns:a="http://schemas.openxmlformats.org/drawingml/2006/main" noGrp="1"/>
          </p:cNvSpPr>
          <p:nvPr/>
        </p:nvSpPr>
        <p:spPr>
          <a:xfrm xmlns:a="http://schemas.openxmlformats.org/drawingml/2006/main">
            <a:off x="1066800" y="40195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202A33"/>
                </a:solidFill>
                <a:latin typeface="Cascadia Mono"/>
                <a:ea typeface="Cascadia Mono"/>
                <a:cs typeface="Cascadia Mono"/>
              </a:defRPr>
            </a:pPr>
            <a:r>
              <a:rPr sz="975" b="0">
                <a:solidFill>
                  <a:srgbClr val="202A33"/>
                </a:solidFill>
                <a:latin typeface="Cascadia Mono"/>
                <a:ea typeface="Cascadia Mono"/>
                <a:cs typeface="Cascadia Mono"/>
              </a:rPr>
              <a:t>"identity-confidence": "0.871"</a:t>
            </a:r>
          </a:p>
        </p:txBody>
      </p:sp>
      <p:sp>
        <p:nvSpPr>
          <p:cNvPr id="36" name="">
            <a:extLst xmlns:a="http://schemas.openxmlformats.org/drawingml/2006/main">
              <a:ext uri="{FF2B5EF4-FFF2-40B4-BE49-F238E27FC236}">
                <a16:creationId xmlns:a16="http://schemas.microsoft.com/office/drawing/2014/main" id="{31ED89E8-9688-4E15-B82C-178D6FF48B4E}"/>
              </a:ext>
            </a:extLst>
          </p:cNvPr>
          <p:cNvSpPr>
            <a:spLocks xmlns:a="http://schemas.openxmlformats.org/drawingml/2006/main" noGrp="1"/>
          </p:cNvSpPr>
          <p:nvPr/>
        </p:nvSpPr>
        <p:spPr>
          <a:xfrm xmlns:a="http://schemas.openxmlformats.org/drawingml/2006/main">
            <a:off x="1066800" y="43434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202A33"/>
                </a:solidFill>
                <a:latin typeface="Cascadia Mono"/>
                <a:ea typeface="Cascadia Mono"/>
                <a:cs typeface="Cascadia Mono"/>
              </a:defRPr>
            </a:pPr>
            <a:r>
              <a:rPr sz="975" b="0">
                <a:solidFill>
                  <a:srgbClr val="202A33"/>
                </a:solidFill>
                <a:latin typeface="Cascadia Mono"/>
                <a:ea typeface="Cascadia Mono"/>
                <a:cs typeface="Cascadia Mono"/>
              </a:rPr>
              <a:t>"version-confidence": "0.843"</a:t>
            </a:r>
          </a:p>
        </p:txBody>
      </p:sp>
      <p:sp>
        <p:nvSpPr>
          <p:cNvPr id="37" name="">
            <a:extLst xmlns:a="http://schemas.openxmlformats.org/drawingml/2006/main">
              <a:ext uri="{FF2B5EF4-FFF2-40B4-BE49-F238E27FC236}">
                <a16:creationId xmlns:a16="http://schemas.microsoft.com/office/drawing/2014/main" id="{83352B54-2759-436C-BB80-BCD936B1FB6F}"/>
              </a:ext>
            </a:extLst>
          </p:cNvPr>
          <p:cNvSpPr>
            <a:spLocks xmlns:a="http://schemas.openxmlformats.org/drawingml/2006/main" noGrp="1"/>
          </p:cNvSpPr>
          <p:nvPr/>
        </p:nvSpPr>
        <p:spPr>
          <a:xfrm xmlns:a="http://schemas.openxmlformats.org/drawingml/2006/main">
            <a:off x="1066800" y="46672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8D754D"/>
                </a:solidFill>
                <a:latin typeface="Cascadia Mono"/>
                <a:ea typeface="Cascadia Mono"/>
                <a:cs typeface="Cascadia Mono"/>
              </a:defRPr>
            </a:pPr>
            <a:r>
              <a:rPr sz="975" b="0">
                <a:solidFill>
                  <a:srgbClr val="8D754D"/>
                </a:solidFill>
                <a:latin typeface="Cascadia Mono"/>
                <a:ea typeface="Cascadia Mono"/>
                <a:cs typeface="Cascadia Mono"/>
              </a:rPr>
              <a:t>"ambiguous-versions": [...]</a:t>
            </a:r>
          </a:p>
        </p:txBody>
      </p:sp>
      <p:sp>
        <p:nvSpPr>
          <p:cNvPr id="38" name="">
            <a:extLst xmlns:a="http://schemas.openxmlformats.org/drawingml/2006/main">
              <a:ext uri="{FF2B5EF4-FFF2-40B4-BE49-F238E27FC236}">
                <a16:creationId xmlns:a16="http://schemas.microsoft.com/office/drawing/2014/main" id="{E2968FBD-2486-4D34-86B8-CE7136B70C12}"/>
              </a:ext>
            </a:extLst>
          </p:cNvPr>
          <p:cNvSpPr>
            <a:spLocks xmlns:a="http://schemas.openxmlformats.org/drawingml/2006/main" noGrp="1"/>
          </p:cNvSpPr>
          <p:nvPr/>
        </p:nvSpPr>
        <p:spPr>
          <a:xfrm xmlns:a="http://schemas.openxmlformats.org/drawingml/2006/main">
            <a:off x="6915150" y="2647950"/>
            <a:ext cx="4591050" cy="276225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39" name="">
            <a:extLst xmlns:a="http://schemas.openxmlformats.org/drawingml/2006/main">
              <a:ext uri="{FF2B5EF4-FFF2-40B4-BE49-F238E27FC236}">
                <a16:creationId xmlns:a16="http://schemas.microsoft.com/office/drawing/2014/main" id="{CE8DBB7D-92CC-4F9F-9CCA-3C1ECC2B574C}"/>
              </a:ext>
            </a:extLst>
          </p:cNvPr>
          <p:cNvSpPr>
            <a:spLocks xmlns:a="http://schemas.openxmlformats.org/drawingml/2006/main" noGrp="1"/>
          </p:cNvSpPr>
          <p:nvPr/>
        </p:nvSpPr>
        <p:spPr>
          <a:xfrm xmlns:a="http://schemas.openxmlformats.org/drawingml/2006/main">
            <a:off x="7162800" y="28765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365F7D"/>
                </a:solidFill>
                <a:latin typeface="Aptos"/>
                <a:ea typeface="Aptos"/>
                <a:cs typeface="Aptos"/>
              </a:defRPr>
            </a:pPr>
            <a:r>
              <a:rPr sz="900" b="1">
                <a:solidFill>
                  <a:srgbClr val="365F7D"/>
                </a:solidFill>
                <a:latin typeface="Aptos"/>
                <a:ea typeface="Aptos"/>
                <a:cs typeface="Aptos"/>
              </a:rPr>
              <a:t>WHY CYCLONEDX</a:t>
            </a:r>
          </a:p>
        </p:txBody>
      </p:sp>
      <p:sp>
        <p:nvSpPr>
          <p:cNvPr id="40" name="">
            <a:extLst xmlns:a="http://schemas.openxmlformats.org/drawingml/2006/main">
              <a:ext uri="{FF2B5EF4-FFF2-40B4-BE49-F238E27FC236}">
                <a16:creationId xmlns:a16="http://schemas.microsoft.com/office/drawing/2014/main" id="{1CFD1982-8E60-40A7-8E9F-1A524CCF864D}"/>
              </a:ext>
            </a:extLst>
          </p:cNvPr>
          <p:cNvSpPr>
            <a:spLocks xmlns:a="http://schemas.openxmlformats.org/drawingml/2006/main" noGrp="1"/>
          </p:cNvSpPr>
          <p:nvPr/>
        </p:nvSpPr>
        <p:spPr>
          <a:xfrm xmlns:a="http://schemas.openxmlformats.org/drawingml/2006/main">
            <a:off x="7181850" y="3371850"/>
            <a:ext cx="152400" cy="1524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21F48C3-4B8A-4E32-BA76-71F41793C313}"/>
              </a:ext>
            </a:extLst>
          </p:cNvPr>
          <p:cNvSpPr>
            <a:spLocks xmlns:a="http://schemas.openxmlformats.org/drawingml/2006/main" noGrp="1"/>
          </p:cNvSpPr>
          <p:nvPr/>
        </p:nvSpPr>
        <p:spPr>
          <a:xfrm xmlns:a="http://schemas.openxmlformats.org/drawingml/2006/main">
            <a:off x="7486650" y="33147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65F7D"/>
                </a:solidFill>
                <a:latin typeface="Aptos"/>
                <a:ea typeface="Aptos"/>
                <a:cs typeface="Aptos"/>
              </a:defRPr>
            </a:pPr>
            <a:r>
              <a:rPr sz="1050" b="1">
                <a:solidFill>
                  <a:srgbClr val="365F7D"/>
                </a:solidFill>
                <a:latin typeface="Aptos"/>
                <a:ea typeface="Aptos"/>
                <a:cs typeface="Aptos"/>
              </a:rPr>
              <a:t>Standard</a:t>
            </a:r>
          </a:p>
        </p:txBody>
      </p:sp>
      <p:sp>
        <p:nvSpPr>
          <p:cNvPr id="42" name="">
            <a:extLst xmlns:a="http://schemas.openxmlformats.org/drawingml/2006/main">
              <a:ext uri="{FF2B5EF4-FFF2-40B4-BE49-F238E27FC236}">
                <a16:creationId xmlns:a16="http://schemas.microsoft.com/office/drawing/2014/main" id="{A0E24E31-A238-4CC2-B062-ED6ECFCCBC5F}"/>
              </a:ext>
            </a:extLst>
          </p:cNvPr>
          <p:cNvSpPr>
            <a:spLocks xmlns:a="http://schemas.openxmlformats.org/drawingml/2006/main" noGrp="1"/>
          </p:cNvSpPr>
          <p:nvPr/>
        </p:nvSpPr>
        <p:spPr>
          <a:xfrm xmlns:a="http://schemas.openxmlformats.org/drawingml/2006/main">
            <a:off x="8572500" y="327660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9C5D4"/>
                </a:solidFill>
                <a:latin typeface="Aptos"/>
                <a:ea typeface="Aptos"/>
                <a:cs typeface="Aptos"/>
              </a:defRPr>
            </a:pPr>
            <a:r>
              <a:rPr sz="900" b="0">
                <a:solidFill>
                  <a:srgbClr val="B9C5D4"/>
                </a:solidFill>
                <a:latin typeface="Aptos"/>
                <a:ea typeface="Aptos"/>
                <a:cs typeface="Aptos"/>
              </a:rPr>
              <a:t>Can be consumed by other SBOM and security workflows.</a:t>
            </a:r>
          </a:p>
        </p:txBody>
      </p:sp>
      <p:sp>
        <p:nvSpPr>
          <p:cNvPr id="43" name="">
            <a:extLst xmlns:a="http://schemas.openxmlformats.org/drawingml/2006/main">
              <a:ext uri="{FF2B5EF4-FFF2-40B4-BE49-F238E27FC236}">
                <a16:creationId xmlns:a16="http://schemas.microsoft.com/office/drawing/2014/main" id="{FAEEE8A5-F69A-46AF-9F3A-0E71782E84AB}"/>
              </a:ext>
            </a:extLst>
          </p:cNvPr>
          <p:cNvSpPr>
            <a:spLocks xmlns:a="http://schemas.openxmlformats.org/drawingml/2006/main" noGrp="1"/>
          </p:cNvSpPr>
          <p:nvPr/>
        </p:nvSpPr>
        <p:spPr>
          <a:xfrm xmlns:a="http://schemas.openxmlformats.org/drawingml/2006/main">
            <a:off x="7181850" y="3962400"/>
            <a:ext cx="152400" cy="1524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4CAD3783-694A-40EB-BD23-076F98881B0E}"/>
              </a:ext>
            </a:extLst>
          </p:cNvPr>
          <p:cNvSpPr>
            <a:spLocks xmlns:a="http://schemas.openxmlformats.org/drawingml/2006/main" noGrp="1"/>
          </p:cNvSpPr>
          <p:nvPr/>
        </p:nvSpPr>
        <p:spPr>
          <a:xfrm xmlns:a="http://schemas.openxmlformats.org/drawingml/2006/main">
            <a:off x="7486650" y="39052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4F7D76"/>
                </a:solidFill>
                <a:latin typeface="Aptos"/>
                <a:ea typeface="Aptos"/>
                <a:cs typeface="Aptos"/>
              </a:defRPr>
            </a:pPr>
            <a:r>
              <a:rPr sz="1050" b="1">
                <a:solidFill>
                  <a:srgbClr val="4F7D76"/>
                </a:solidFill>
                <a:latin typeface="Aptos"/>
                <a:ea typeface="Aptos"/>
                <a:cs typeface="Aptos"/>
              </a:rPr>
              <a:t>Traceable</a:t>
            </a:r>
          </a:p>
        </p:txBody>
      </p:sp>
      <p:sp>
        <p:nvSpPr>
          <p:cNvPr id="45" name="">
            <a:extLst xmlns:a="http://schemas.openxmlformats.org/drawingml/2006/main">
              <a:ext uri="{FF2B5EF4-FFF2-40B4-BE49-F238E27FC236}">
                <a16:creationId xmlns:a16="http://schemas.microsoft.com/office/drawing/2014/main" id="{A87E0C00-32F5-4B00-BBFD-9E6C817304AC}"/>
              </a:ext>
            </a:extLst>
          </p:cNvPr>
          <p:cNvSpPr>
            <a:spLocks xmlns:a="http://schemas.openxmlformats.org/drawingml/2006/main" noGrp="1"/>
          </p:cNvSpPr>
          <p:nvPr/>
        </p:nvSpPr>
        <p:spPr>
          <a:xfrm xmlns:a="http://schemas.openxmlformats.org/drawingml/2006/main">
            <a:off x="8572500" y="386715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9C5D4"/>
                </a:solidFill>
                <a:latin typeface="Aptos"/>
                <a:ea typeface="Aptos"/>
                <a:cs typeface="Aptos"/>
              </a:defRPr>
            </a:pPr>
            <a:r>
              <a:rPr sz="900" b="0">
                <a:solidFill>
                  <a:srgbClr val="B9C5D4"/>
                </a:solidFill>
                <a:latin typeface="Aptos"/>
                <a:ea typeface="Aptos"/>
                <a:cs typeface="Aptos"/>
              </a:rPr>
              <a:t>Every component carries PURL, confidence, and evidence.</a:t>
            </a:r>
          </a:p>
        </p:txBody>
      </p:sp>
      <p:sp>
        <p:nvSpPr>
          <p:cNvPr id="46" name="">
            <a:extLst xmlns:a="http://schemas.openxmlformats.org/drawingml/2006/main">
              <a:ext uri="{FF2B5EF4-FFF2-40B4-BE49-F238E27FC236}">
                <a16:creationId xmlns:a16="http://schemas.microsoft.com/office/drawing/2014/main" id="{71C46632-85CB-44CE-AE92-9E57D589A0A9}"/>
              </a:ext>
            </a:extLst>
          </p:cNvPr>
          <p:cNvSpPr>
            <a:spLocks xmlns:a="http://schemas.openxmlformats.org/drawingml/2006/main" noGrp="1"/>
          </p:cNvSpPr>
          <p:nvPr/>
        </p:nvSpPr>
        <p:spPr>
          <a:xfrm xmlns:a="http://schemas.openxmlformats.org/drawingml/2006/main">
            <a:off x="7181850" y="4552950"/>
            <a:ext cx="152400" cy="1524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0840A6B3-9183-47C2-A505-7318B83E7651}"/>
              </a:ext>
            </a:extLst>
          </p:cNvPr>
          <p:cNvSpPr>
            <a:spLocks xmlns:a="http://schemas.openxmlformats.org/drawingml/2006/main" noGrp="1"/>
          </p:cNvSpPr>
          <p:nvPr/>
        </p:nvSpPr>
        <p:spPr>
          <a:xfrm xmlns:a="http://schemas.openxmlformats.org/drawingml/2006/main">
            <a:off x="7486650" y="44958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8D754D"/>
                </a:solidFill>
                <a:latin typeface="Aptos"/>
                <a:ea typeface="Aptos"/>
                <a:cs typeface="Aptos"/>
              </a:defRPr>
            </a:pPr>
            <a:r>
              <a:rPr sz="1050" b="1">
                <a:solidFill>
                  <a:srgbClr val="8D754D"/>
                </a:solidFill>
                <a:latin typeface="Aptos"/>
                <a:ea typeface="Aptos"/>
                <a:cs typeface="Aptos"/>
              </a:rPr>
              <a:t>Honest</a:t>
            </a:r>
          </a:p>
        </p:txBody>
      </p:sp>
      <p:sp>
        <p:nvSpPr>
          <p:cNvPr id="48" name="">
            <a:extLst xmlns:a="http://schemas.openxmlformats.org/drawingml/2006/main">
              <a:ext uri="{FF2B5EF4-FFF2-40B4-BE49-F238E27FC236}">
                <a16:creationId xmlns:a16="http://schemas.microsoft.com/office/drawing/2014/main" id="{2D457504-4FC9-4DD8-BB8C-21ACBDA376EC}"/>
              </a:ext>
            </a:extLst>
          </p:cNvPr>
          <p:cNvSpPr>
            <a:spLocks xmlns:a="http://schemas.openxmlformats.org/drawingml/2006/main" noGrp="1"/>
          </p:cNvSpPr>
          <p:nvPr/>
        </p:nvSpPr>
        <p:spPr>
          <a:xfrm xmlns:a="http://schemas.openxmlformats.org/drawingml/2006/main">
            <a:off x="8572500" y="445770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9C5D4"/>
                </a:solidFill>
                <a:latin typeface="Aptos"/>
                <a:ea typeface="Aptos"/>
                <a:cs typeface="Aptos"/>
              </a:defRPr>
            </a:pPr>
            <a:r>
              <a:rPr sz="900" b="0">
                <a:solidFill>
                  <a:srgbClr val="B9C5D4"/>
                </a:solidFill>
                <a:latin typeface="Aptos"/>
                <a:ea typeface="Aptos"/>
                <a:cs typeface="Aptos"/>
              </a:rPr>
              <a:t>Native files and uncertainty are represented without false package claims.</a:t>
            </a:r>
          </a:p>
        </p:txBody>
      </p:sp>
      <p:sp>
        <p:nvSpPr>
          <p:cNvPr id="49" name="">
            <a:extLst xmlns:a="http://schemas.openxmlformats.org/drawingml/2006/main">
              <a:ext uri="{FF2B5EF4-FFF2-40B4-BE49-F238E27FC236}">
                <a16:creationId xmlns:a16="http://schemas.microsoft.com/office/drawing/2014/main" id="{20EEF49B-02FD-496E-8244-CB17B37D7834}"/>
              </a:ext>
            </a:extLst>
          </p:cNvPr>
          <p:cNvSpPr>
            <a:spLocks xmlns:a="http://schemas.openxmlformats.org/drawingml/2006/main" noGrp="1"/>
          </p:cNvSpPr>
          <p:nvPr/>
        </p:nvSpPr>
        <p:spPr>
          <a:xfrm xmlns:a="http://schemas.openxmlformats.org/drawingml/2006/main">
            <a:off x="685800" y="56959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B0524E57-5FC3-4D7A-860A-EFBD2652ABAA}"/>
              </a:ext>
            </a:extLst>
          </p:cNvPr>
          <p:cNvSpPr>
            <a:spLocks xmlns:a="http://schemas.openxmlformats.org/drawingml/2006/main" noGrp="1"/>
          </p:cNvSpPr>
          <p:nvPr/>
        </p:nvSpPr>
        <p:spPr>
          <a:xfrm xmlns:a="http://schemas.openxmlformats.org/drawingml/2006/main">
            <a:off x="819150" y="57626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src/apk_sbom/sbom.py  -&gt;  build_cyclonedx_bom()  |  Spec version: CycloneDX 1.5</a:t>
            </a:r>
          </a:p>
        </p:txBody>
      </p:sp>
      <p:sp>
        <p:nvSpPr>
          <p:cNvPr id="51" name="">
            <a:extLst xmlns:a="http://schemas.openxmlformats.org/drawingml/2006/main">
              <a:ext uri="{FF2B5EF4-FFF2-40B4-BE49-F238E27FC236}">
                <a16:creationId xmlns:a16="http://schemas.microsoft.com/office/drawing/2014/main" id="{1691957D-0ED8-44AC-8F22-49904141C7DE}"/>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410647652"/>
      </p:ext>
    </p:extLst>
  </p:cSld>
</p:sld>
</file>

<file path=ppt/slides/slide13.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30483F-182C-4277-AFDE-07FCAACF24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4865755-0D46-42D1-8D77-2543932917A9}"/>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C41DB60-B231-4D11-9858-97DD73CE402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A65C55"/>
                </a:solidFill>
                <a:latin typeface="Aptos"/>
                <a:ea typeface="Aptos"/>
                <a:cs typeface="Aptos"/>
              </a:defRPr>
            </a:pPr>
            <a:r>
              <a:rPr sz="900" b="1">
                <a:solidFill>
                  <a:srgbClr val="A65C55"/>
                </a:solidFill>
                <a:latin typeface="Aptos"/>
                <a:ea typeface="Aptos"/>
                <a:cs typeface="Aptos"/>
              </a:rPr>
              <a:t>COMPONENT 7  |  CVE / OSV</a:t>
            </a:r>
          </a:p>
        </p:txBody>
      </p:sp>
      <p:sp>
        <p:nvSpPr>
          <p:cNvPr id="4" name="">
            <a:extLst xmlns:a="http://schemas.openxmlformats.org/drawingml/2006/main">
              <a:ext uri="{FF2B5EF4-FFF2-40B4-BE49-F238E27FC236}">
                <a16:creationId xmlns:a16="http://schemas.microsoft.com/office/drawing/2014/main" id="{735B6239-FE0D-48E4-A9A8-B307C110EB60}"/>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Vulnerability lookup became package-aware and confidence-aware</a:t>
            </a:r>
          </a:p>
        </p:txBody>
      </p:sp>
      <p:sp>
        <p:nvSpPr>
          <p:cNvPr id="5" name="">
            <a:extLst xmlns:a="http://schemas.openxmlformats.org/drawingml/2006/main">
              <a:ext uri="{FF2B5EF4-FFF2-40B4-BE49-F238E27FC236}">
                <a16:creationId xmlns:a16="http://schemas.microsoft.com/office/drawing/2014/main" id="{CEB83282-6DD4-44FF-AB30-DEDB08D1FD2D}"/>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8290A6"/>
                </a:solidFill>
                <a:latin typeface="Aptos"/>
                <a:ea typeface="Aptos"/>
                <a:cs typeface="Aptos"/>
              </a:defRPr>
            </a:pPr>
            <a:r>
              <a:rPr sz="900" b="1">
                <a:solidFill>
                  <a:srgbClr val="8290A6"/>
                </a:solidFill>
                <a:latin typeface="Aptos"/>
                <a:ea typeface="Aptos"/>
                <a:cs typeface="Aptos"/>
              </a:rPr>
              <a:t>13</a:t>
            </a:r>
          </a:p>
        </p:txBody>
      </p:sp>
      <p:sp>
        <p:nvSpPr>
          <p:cNvPr id="6" name="">
            <a:extLst xmlns:a="http://schemas.openxmlformats.org/drawingml/2006/main">
              <a:ext uri="{FF2B5EF4-FFF2-40B4-BE49-F238E27FC236}">
                <a16:creationId xmlns:a16="http://schemas.microsoft.com/office/drawing/2014/main" id="{A269111D-0229-4CBD-9A77-82CBCBF93C4B}"/>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3342FC0E-F6FD-4ED8-B934-964CEB75A499}"/>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65717A"/>
                </a:solidFill>
                <a:latin typeface="Aptos"/>
                <a:ea typeface="Aptos"/>
                <a:cs typeface="Aptos"/>
              </a:defRPr>
            </a:pPr>
            <a:r>
              <a:rPr sz="825" b="1">
                <a:solidFill>
                  <a:srgbClr val="65717A"/>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EDFAD58E-19A2-4AD0-BDA6-F58148F12F27}"/>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NVD idea</a:t>
            </a:r>
          </a:p>
        </p:txBody>
      </p:sp>
      <p:sp>
        <p:nvSpPr>
          <p:cNvPr id="9" name="">
            <a:extLst xmlns:a="http://schemas.openxmlformats.org/drawingml/2006/main">
              <a:ext uri="{FF2B5EF4-FFF2-40B4-BE49-F238E27FC236}">
                <a16:creationId xmlns:a16="http://schemas.microsoft.com/office/drawing/2014/main" id="{2BBC5B3D-91C2-4CAA-8425-6632FB16A12D}"/>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AEBACC"/>
                </a:solidFill>
                <a:latin typeface="Aptos"/>
                <a:ea typeface="Aptos"/>
                <a:cs typeface="Aptos"/>
              </a:defRPr>
            </a:pPr>
            <a:r>
              <a:rPr sz="825" b="0">
                <a:solidFill>
                  <a:srgbClr val="AEBACC"/>
                </a:solidFill>
                <a:latin typeface="Aptos"/>
                <a:ea typeface="Aptos"/>
                <a:cs typeface="Aptos"/>
              </a:rPr>
              <a:t>CPE mapping is awkward for Maven coordinates.</a:t>
            </a:r>
          </a:p>
        </p:txBody>
      </p:sp>
      <p:sp>
        <p:nvSpPr>
          <p:cNvPr id="10" name="rule">
            <a:extLst xmlns:a="http://schemas.openxmlformats.org/drawingml/2006/main">
              <a:ext uri="{FF2B5EF4-FFF2-40B4-BE49-F238E27FC236}">
                <a16:creationId xmlns:a16="http://schemas.microsoft.com/office/drawing/2014/main" id="{102C2116-A5F6-49C0-B5C7-9D378600F27A}"/>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65717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82E4D48-341B-4AD7-82F0-E5628BABDA4F}"/>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65717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ED6D79C-CE8E-4C40-A4F8-1D90CFDFD580}"/>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998E8A1E-C68C-4307-9326-D7843828CF69}"/>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Aptos"/>
                <a:ea typeface="Aptos"/>
                <a:cs typeface="Aptos"/>
              </a:defRPr>
            </a:pPr>
            <a:r>
              <a:rPr sz="825" b="1">
                <a:solidFill>
                  <a:srgbClr val="365F7D"/>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2CCDC9EF-046C-4242-A187-0F00D0CCC34F}"/>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OSV first</a:t>
            </a:r>
          </a:p>
        </p:txBody>
      </p:sp>
      <p:sp>
        <p:nvSpPr>
          <p:cNvPr id="15" name="">
            <a:extLst xmlns:a="http://schemas.openxmlformats.org/drawingml/2006/main">
              <a:ext uri="{FF2B5EF4-FFF2-40B4-BE49-F238E27FC236}">
                <a16:creationId xmlns:a16="http://schemas.microsoft.com/office/drawing/2014/main" id="{7D12B21D-900A-4307-A123-550D0ED6AF29}"/>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AEBACC"/>
                </a:solidFill>
                <a:latin typeface="Aptos"/>
                <a:ea typeface="Aptos"/>
                <a:cs typeface="Aptos"/>
              </a:defRPr>
            </a:pPr>
            <a:r>
              <a:rPr sz="825" b="0">
                <a:solidFill>
                  <a:srgbClr val="AEBACC"/>
                </a:solidFill>
                <a:latin typeface="Aptos"/>
                <a:ea typeface="Aptos"/>
                <a:cs typeface="Aptos"/>
              </a:rPr>
              <a:t>Batch Maven package + version queries.</a:t>
            </a:r>
          </a:p>
        </p:txBody>
      </p:sp>
      <p:sp>
        <p:nvSpPr>
          <p:cNvPr id="16" name="rule">
            <a:extLst xmlns:a="http://schemas.openxmlformats.org/drawingml/2006/main">
              <a:ext uri="{FF2B5EF4-FFF2-40B4-BE49-F238E27FC236}">
                <a16:creationId xmlns:a16="http://schemas.microsoft.com/office/drawing/2014/main" id="{7F8298EA-8C05-4AF9-BF8A-A7EB5CCE2729}"/>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146FEF8-AEF9-4E70-A124-A8825E7F09BA}"/>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3D8FA3C-C00F-476A-B7AC-FF708DF77F4B}"/>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55EF124F-E4DE-467D-8F76-F3BCBA92FD25}"/>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A65C55"/>
                </a:solidFill>
                <a:latin typeface="Aptos"/>
                <a:ea typeface="Aptos"/>
                <a:cs typeface="Aptos"/>
              </a:defRPr>
            </a:pPr>
            <a:r>
              <a:rPr sz="825" b="1">
                <a:solidFill>
                  <a:srgbClr val="A65C55"/>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5ABFEEA6-1B83-45C4-A322-A8F8A2A28DD6}"/>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Enrichment</a:t>
            </a:r>
          </a:p>
        </p:txBody>
      </p:sp>
      <p:sp>
        <p:nvSpPr>
          <p:cNvPr id="21" name="">
            <a:extLst xmlns:a="http://schemas.openxmlformats.org/drawingml/2006/main">
              <a:ext uri="{FF2B5EF4-FFF2-40B4-BE49-F238E27FC236}">
                <a16:creationId xmlns:a16="http://schemas.microsoft.com/office/drawing/2014/main" id="{8A98A61C-4A6B-48E6-8325-F8A87EF24D90}"/>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AEBACC"/>
                </a:solidFill>
                <a:latin typeface="Aptos"/>
                <a:ea typeface="Aptos"/>
                <a:cs typeface="Aptos"/>
              </a:defRPr>
            </a:pPr>
            <a:r>
              <a:rPr sz="825" b="0">
                <a:solidFill>
                  <a:srgbClr val="AEBACC"/>
                </a:solidFill>
                <a:latin typeface="Aptos"/>
                <a:ea typeface="Aptos"/>
                <a:cs typeface="Aptos"/>
              </a:rPr>
              <a:t>Deduplicate CVE/GHSA aliases and retain strongest severity.</a:t>
            </a:r>
          </a:p>
        </p:txBody>
      </p:sp>
      <p:sp>
        <p:nvSpPr>
          <p:cNvPr id="22" name="rule">
            <a:extLst xmlns:a="http://schemas.openxmlformats.org/drawingml/2006/main">
              <a:ext uri="{FF2B5EF4-FFF2-40B4-BE49-F238E27FC236}">
                <a16:creationId xmlns:a16="http://schemas.microsoft.com/office/drawing/2014/main" id="{F66865D9-B85E-4B9A-AB72-BA4E91D96B8F}"/>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D6AECDA-9284-4965-A358-B76D8845754F}"/>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A65C5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B4E20EE-8926-4484-BF16-3DA9DB8E01A2}"/>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5" name="">
            <a:extLst xmlns:a="http://schemas.openxmlformats.org/drawingml/2006/main">
              <a:ext uri="{FF2B5EF4-FFF2-40B4-BE49-F238E27FC236}">
                <a16:creationId xmlns:a16="http://schemas.microsoft.com/office/drawing/2014/main" id="{10CB7FF6-C196-4159-A3E2-5DE9B0F4BE02}"/>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D754D"/>
                </a:solidFill>
                <a:latin typeface="Aptos"/>
                <a:ea typeface="Aptos"/>
                <a:cs typeface="Aptos"/>
              </a:defRPr>
            </a:pPr>
            <a:r>
              <a:rPr sz="825" b="1">
                <a:solidFill>
                  <a:srgbClr val="8D754D"/>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9974A75D-A528-4EA5-80A4-C73C32604E0E}"/>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Claim gate</a:t>
            </a:r>
          </a:p>
        </p:txBody>
      </p:sp>
      <p:sp>
        <p:nvSpPr>
          <p:cNvPr id="27" name="">
            <a:extLst xmlns:a="http://schemas.openxmlformats.org/drawingml/2006/main">
              <a:ext uri="{FF2B5EF4-FFF2-40B4-BE49-F238E27FC236}">
                <a16:creationId xmlns:a16="http://schemas.microsoft.com/office/drawing/2014/main" id="{F919D86B-53EC-4C6D-AB13-D4FB572C9D64}"/>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AEBACC"/>
                </a:solidFill>
                <a:latin typeface="Aptos"/>
                <a:ea typeface="Aptos"/>
                <a:cs typeface="Aptos"/>
              </a:defRPr>
            </a:pPr>
            <a:r>
              <a:rPr sz="825" b="0">
                <a:solidFill>
                  <a:srgbClr val="AEBACC"/>
                </a:solidFill>
                <a:latin typeface="Aptos"/>
                <a:ea typeface="Aptos"/>
                <a:cs typeface="Aptos"/>
              </a:rPr>
              <a:t>Confirmed vs potential depends on identity/version/source proof.</a:t>
            </a:r>
          </a:p>
        </p:txBody>
      </p:sp>
      <p:sp>
        <p:nvSpPr>
          <p:cNvPr id="28" name="">
            <a:extLst xmlns:a="http://schemas.openxmlformats.org/drawingml/2006/main">
              <a:ext uri="{FF2B5EF4-FFF2-40B4-BE49-F238E27FC236}">
                <a16:creationId xmlns:a16="http://schemas.microsoft.com/office/drawing/2014/main" id="{22E39C6E-2407-4A38-821E-3050CC197149}"/>
              </a:ext>
            </a:extLst>
          </p:cNvPr>
          <p:cNvSpPr>
            <a:spLocks xmlns:a="http://schemas.openxmlformats.org/drawingml/2006/main" noGrp="1"/>
          </p:cNvSpPr>
          <p:nvPr/>
        </p:nvSpPr>
        <p:spPr>
          <a:xfrm xmlns:a="http://schemas.openxmlformats.org/drawingml/2006/main">
            <a:off x="685800" y="2762250"/>
            <a:ext cx="2343150" cy="1581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1761BD6E-4769-4B15-9DA5-B3ABE8EF7866}"/>
              </a:ext>
            </a:extLst>
          </p:cNvPr>
          <p:cNvSpPr>
            <a:spLocks xmlns:a="http://schemas.openxmlformats.org/drawingml/2006/main" noGrp="1"/>
          </p:cNvSpPr>
          <p:nvPr/>
        </p:nvSpPr>
        <p:spPr>
          <a:xfrm xmlns:a="http://schemas.openxmlformats.org/drawingml/2006/main">
            <a:off x="8572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365F7D"/>
                </a:solidFill>
                <a:latin typeface="Aptos"/>
                <a:ea typeface="Aptos"/>
                <a:cs typeface="Aptos"/>
              </a:defRPr>
            </a:pPr>
            <a:r>
              <a:rPr sz="1500" b="1">
                <a:solidFill>
                  <a:srgbClr val="365F7D"/>
                </a:solidFill>
                <a:latin typeface="Aptos"/>
                <a:ea typeface="Aptos"/>
                <a:cs typeface="Aptos"/>
              </a:rPr>
              <a:t>Maven PURL</a:t>
            </a:r>
          </a:p>
        </p:txBody>
      </p:sp>
      <p:sp>
        <p:nvSpPr>
          <p:cNvPr id="30" name="">
            <a:extLst xmlns:a="http://schemas.openxmlformats.org/drawingml/2006/main">
              <a:ext uri="{FF2B5EF4-FFF2-40B4-BE49-F238E27FC236}">
                <a16:creationId xmlns:a16="http://schemas.microsoft.com/office/drawing/2014/main" id="{142230B0-154E-4E9C-8190-F7D5A866DF76}"/>
              </a:ext>
            </a:extLst>
          </p:cNvPr>
          <p:cNvSpPr>
            <a:spLocks xmlns:a="http://schemas.openxmlformats.org/drawingml/2006/main" noGrp="1"/>
          </p:cNvSpPr>
          <p:nvPr/>
        </p:nvSpPr>
        <p:spPr>
          <a:xfrm xmlns:a="http://schemas.openxmlformats.org/drawingml/2006/main">
            <a:off x="8572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0">
                <a:solidFill>
                  <a:srgbClr val="BAC5D4"/>
                </a:solidFill>
                <a:latin typeface="Aptos"/>
                <a:ea typeface="Aptos"/>
                <a:cs typeface="Aptos"/>
              </a:defRPr>
            </a:pPr>
            <a:r>
              <a:rPr sz="900" b="0">
                <a:solidFill>
                  <a:srgbClr val="BAC5D4"/>
                </a:solidFill>
                <a:latin typeface="Aptos"/>
                <a:ea typeface="Aptos"/>
                <a:cs typeface="Aptos"/>
              </a:rPr>
              <a:t>pkg:maven/group/artifact@version</a:t>
            </a:r>
          </a:p>
        </p:txBody>
      </p:sp>
      <p:sp>
        <p:nvSpPr>
          <p:cNvPr id="31" name="rule">
            <a:extLst xmlns:a="http://schemas.openxmlformats.org/drawingml/2006/main">
              <a:ext uri="{FF2B5EF4-FFF2-40B4-BE49-F238E27FC236}">
                <a16:creationId xmlns:a16="http://schemas.microsoft.com/office/drawing/2014/main" id="{887AE64B-CF3B-4852-BD28-044A162464A8}"/>
              </a:ext>
            </a:extLst>
          </p:cNvPr>
          <p:cNvSpPr>
            <a:spLocks xmlns:a="http://schemas.openxmlformats.org/drawingml/2006/main" noGrp="1"/>
          </p:cNvSpPr>
          <p:nvPr/>
        </p:nvSpPr>
        <p:spPr>
          <a:xfrm xmlns:a="http://schemas.openxmlformats.org/drawingml/2006/main">
            <a:off x="3028950" y="3476625"/>
            <a:ext cx="2095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9726521-E44D-4A30-A0DA-0C13333D1E97}"/>
              </a:ext>
            </a:extLst>
          </p:cNvPr>
          <p:cNvSpPr>
            <a:spLocks xmlns:a="http://schemas.openxmlformats.org/drawingml/2006/main" noGrp="1"/>
          </p:cNvSpPr>
          <p:nvPr/>
        </p:nvSpPr>
        <p:spPr>
          <a:xfrm xmlns:a="http://schemas.openxmlformats.org/drawingml/2006/main">
            <a:off x="3162300" y="33909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835EBDC-7DC7-47B2-8555-08C3F09CC873}"/>
              </a:ext>
            </a:extLst>
          </p:cNvPr>
          <p:cNvSpPr>
            <a:spLocks xmlns:a="http://schemas.openxmlformats.org/drawingml/2006/main" noGrp="1"/>
          </p:cNvSpPr>
          <p:nvPr/>
        </p:nvSpPr>
        <p:spPr>
          <a:xfrm xmlns:a="http://schemas.openxmlformats.org/drawingml/2006/main">
            <a:off x="3390900" y="2762250"/>
            <a:ext cx="2343150" cy="1581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4" name="">
            <a:extLst xmlns:a="http://schemas.openxmlformats.org/drawingml/2006/main">
              <a:ext uri="{FF2B5EF4-FFF2-40B4-BE49-F238E27FC236}">
                <a16:creationId xmlns:a16="http://schemas.microsoft.com/office/drawing/2014/main" id="{384287EC-D2F3-4819-8B31-54431A17C3AA}"/>
              </a:ext>
            </a:extLst>
          </p:cNvPr>
          <p:cNvSpPr>
            <a:spLocks xmlns:a="http://schemas.openxmlformats.org/drawingml/2006/main" noGrp="1"/>
          </p:cNvSpPr>
          <p:nvPr/>
        </p:nvSpPr>
        <p:spPr>
          <a:xfrm xmlns:a="http://schemas.openxmlformats.org/drawingml/2006/main">
            <a:off x="35623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4F7D76"/>
                </a:solidFill>
                <a:latin typeface="Aptos"/>
                <a:ea typeface="Aptos"/>
                <a:cs typeface="Aptos"/>
              </a:defRPr>
            </a:pPr>
            <a:r>
              <a:rPr sz="1500" b="1">
                <a:solidFill>
                  <a:srgbClr val="4F7D76"/>
                </a:solidFill>
                <a:latin typeface="Aptos"/>
                <a:ea typeface="Aptos"/>
                <a:cs typeface="Aptos"/>
              </a:rPr>
              <a:t>OSV batch</a:t>
            </a:r>
          </a:p>
        </p:txBody>
      </p:sp>
      <p:sp>
        <p:nvSpPr>
          <p:cNvPr id="35" name="">
            <a:extLst xmlns:a="http://schemas.openxmlformats.org/drawingml/2006/main">
              <a:ext uri="{FF2B5EF4-FFF2-40B4-BE49-F238E27FC236}">
                <a16:creationId xmlns:a16="http://schemas.microsoft.com/office/drawing/2014/main" id="{3431E89C-C970-4E4D-B45B-03321C503BFA}"/>
              </a:ext>
            </a:extLst>
          </p:cNvPr>
          <p:cNvSpPr>
            <a:spLocks xmlns:a="http://schemas.openxmlformats.org/drawingml/2006/main" noGrp="1"/>
          </p:cNvSpPr>
          <p:nvPr/>
        </p:nvSpPr>
        <p:spPr>
          <a:xfrm xmlns:a="http://schemas.openxmlformats.org/drawingml/2006/main">
            <a:off x="35623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0">
                <a:solidFill>
                  <a:srgbClr val="BAC5D4"/>
                </a:solidFill>
                <a:latin typeface="Aptos"/>
                <a:ea typeface="Aptos"/>
                <a:cs typeface="Aptos"/>
              </a:defRPr>
            </a:pPr>
            <a:r>
              <a:rPr sz="900" b="0">
                <a:solidFill>
                  <a:srgbClr val="BAC5D4"/>
                </a:solidFill>
                <a:latin typeface="Aptos"/>
                <a:ea typeface="Aptos"/>
                <a:cs typeface="Aptos"/>
              </a:rPr>
              <a:t>query package + version</a:t>
            </a:r>
          </a:p>
        </p:txBody>
      </p:sp>
      <p:sp>
        <p:nvSpPr>
          <p:cNvPr id="36" name="rule">
            <a:extLst xmlns:a="http://schemas.openxmlformats.org/drawingml/2006/main">
              <a:ext uri="{FF2B5EF4-FFF2-40B4-BE49-F238E27FC236}">
                <a16:creationId xmlns:a16="http://schemas.microsoft.com/office/drawing/2014/main" id="{EF7030F1-6964-4C20-8FBD-26030FA3DF93}"/>
              </a:ext>
            </a:extLst>
          </p:cNvPr>
          <p:cNvSpPr>
            <a:spLocks xmlns:a="http://schemas.openxmlformats.org/drawingml/2006/main" noGrp="1"/>
          </p:cNvSpPr>
          <p:nvPr/>
        </p:nvSpPr>
        <p:spPr>
          <a:xfrm xmlns:a="http://schemas.openxmlformats.org/drawingml/2006/main">
            <a:off x="5734050" y="3476625"/>
            <a:ext cx="20955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ADAD6D2-ED2E-4438-9CFD-A161807D8A6D}"/>
              </a:ext>
            </a:extLst>
          </p:cNvPr>
          <p:cNvSpPr>
            <a:spLocks xmlns:a="http://schemas.openxmlformats.org/drawingml/2006/main" noGrp="1"/>
          </p:cNvSpPr>
          <p:nvPr/>
        </p:nvSpPr>
        <p:spPr>
          <a:xfrm xmlns:a="http://schemas.openxmlformats.org/drawingml/2006/main">
            <a:off x="5867400" y="33909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1DD3E77C-C810-4E2F-B41F-EF5B6BE563CD}"/>
              </a:ext>
            </a:extLst>
          </p:cNvPr>
          <p:cNvSpPr>
            <a:spLocks xmlns:a="http://schemas.openxmlformats.org/drawingml/2006/main" noGrp="1"/>
          </p:cNvSpPr>
          <p:nvPr/>
        </p:nvSpPr>
        <p:spPr>
          <a:xfrm xmlns:a="http://schemas.openxmlformats.org/drawingml/2006/main">
            <a:off x="6096000" y="2762250"/>
            <a:ext cx="2343150" cy="1581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9" name="">
            <a:extLst xmlns:a="http://schemas.openxmlformats.org/drawingml/2006/main">
              <a:ext uri="{FF2B5EF4-FFF2-40B4-BE49-F238E27FC236}">
                <a16:creationId xmlns:a16="http://schemas.microsoft.com/office/drawing/2014/main" id="{F2BA098E-BA11-48B0-8B8A-87475FFA223D}"/>
              </a:ext>
            </a:extLst>
          </p:cNvPr>
          <p:cNvSpPr>
            <a:spLocks xmlns:a="http://schemas.openxmlformats.org/drawingml/2006/main" noGrp="1"/>
          </p:cNvSpPr>
          <p:nvPr/>
        </p:nvSpPr>
        <p:spPr>
          <a:xfrm xmlns:a="http://schemas.openxmlformats.org/drawingml/2006/main">
            <a:off x="62674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655F73"/>
                </a:solidFill>
                <a:latin typeface="Aptos"/>
                <a:ea typeface="Aptos"/>
                <a:cs typeface="Aptos"/>
              </a:defRPr>
            </a:pPr>
            <a:r>
              <a:rPr sz="1500" b="1">
                <a:solidFill>
                  <a:srgbClr val="655F73"/>
                </a:solidFill>
                <a:latin typeface="Aptos"/>
                <a:ea typeface="Aptos"/>
                <a:cs typeface="Aptos"/>
              </a:rPr>
              <a:t>Normalize</a:t>
            </a:r>
          </a:p>
        </p:txBody>
      </p:sp>
      <p:sp>
        <p:nvSpPr>
          <p:cNvPr id="40" name="">
            <a:extLst xmlns:a="http://schemas.openxmlformats.org/drawingml/2006/main">
              <a:ext uri="{FF2B5EF4-FFF2-40B4-BE49-F238E27FC236}">
                <a16:creationId xmlns:a16="http://schemas.microsoft.com/office/drawing/2014/main" id="{3C1CCBF4-E36F-486C-AFD8-60973C555C35}"/>
              </a:ext>
            </a:extLst>
          </p:cNvPr>
          <p:cNvSpPr>
            <a:spLocks xmlns:a="http://schemas.openxmlformats.org/drawingml/2006/main" noGrp="1"/>
          </p:cNvSpPr>
          <p:nvPr/>
        </p:nvSpPr>
        <p:spPr>
          <a:xfrm xmlns:a="http://schemas.openxmlformats.org/drawingml/2006/main">
            <a:off x="62674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0">
                <a:solidFill>
                  <a:srgbClr val="BAC5D4"/>
                </a:solidFill>
                <a:latin typeface="Aptos"/>
                <a:ea typeface="Aptos"/>
                <a:cs typeface="Aptos"/>
              </a:defRPr>
            </a:pPr>
            <a:r>
              <a:rPr sz="900" b="0">
                <a:solidFill>
                  <a:srgbClr val="BAC5D4"/>
                </a:solidFill>
                <a:latin typeface="Aptos"/>
                <a:ea typeface="Aptos"/>
                <a:cs typeface="Aptos"/>
              </a:rPr>
              <a:t>aliases + severity + duplicates</a:t>
            </a:r>
          </a:p>
        </p:txBody>
      </p:sp>
      <p:sp>
        <p:nvSpPr>
          <p:cNvPr id="41" name="rule">
            <a:extLst xmlns:a="http://schemas.openxmlformats.org/drawingml/2006/main">
              <a:ext uri="{FF2B5EF4-FFF2-40B4-BE49-F238E27FC236}">
                <a16:creationId xmlns:a16="http://schemas.microsoft.com/office/drawing/2014/main" id="{DD84E677-D72F-46ED-84CD-2DD6FCCD54AF}"/>
              </a:ext>
            </a:extLst>
          </p:cNvPr>
          <p:cNvSpPr>
            <a:spLocks xmlns:a="http://schemas.openxmlformats.org/drawingml/2006/main" noGrp="1"/>
          </p:cNvSpPr>
          <p:nvPr/>
        </p:nvSpPr>
        <p:spPr>
          <a:xfrm xmlns:a="http://schemas.openxmlformats.org/drawingml/2006/main">
            <a:off x="8439150" y="3476625"/>
            <a:ext cx="20955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6035D3C-FC90-4A0F-8B22-42FE9C08D9E7}"/>
              </a:ext>
            </a:extLst>
          </p:cNvPr>
          <p:cNvSpPr>
            <a:spLocks xmlns:a="http://schemas.openxmlformats.org/drawingml/2006/main" noGrp="1"/>
          </p:cNvSpPr>
          <p:nvPr/>
        </p:nvSpPr>
        <p:spPr>
          <a:xfrm xmlns:a="http://schemas.openxmlformats.org/drawingml/2006/main">
            <a:off x="8572500" y="3390900"/>
            <a:ext cx="228600" cy="190500"/>
          </a:xfrm>
          <a:prstGeom xmlns:a="http://schemas.openxmlformats.org/drawingml/2006/main" prst="chevron">
            <a:avLst/>
          </a:prstGeom>
          <a:solidFill xmlns:a="http://schemas.openxmlformats.org/drawingml/2006/main">
            <a:srgbClr val="655F73"/>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708FEF7C-1BBA-4190-988F-8C13BDE369A7}"/>
              </a:ext>
            </a:extLst>
          </p:cNvPr>
          <p:cNvSpPr>
            <a:spLocks xmlns:a="http://schemas.openxmlformats.org/drawingml/2006/main" noGrp="1"/>
          </p:cNvSpPr>
          <p:nvPr/>
        </p:nvSpPr>
        <p:spPr>
          <a:xfrm xmlns:a="http://schemas.openxmlformats.org/drawingml/2006/main">
            <a:off x="8801100" y="2762250"/>
            <a:ext cx="2343150" cy="1581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44" name="">
            <a:extLst xmlns:a="http://schemas.openxmlformats.org/drawingml/2006/main">
              <a:ext uri="{FF2B5EF4-FFF2-40B4-BE49-F238E27FC236}">
                <a16:creationId xmlns:a16="http://schemas.microsoft.com/office/drawing/2014/main" id="{D8E66BFD-C98B-4CEB-94B6-5BE0B82E0633}"/>
              </a:ext>
            </a:extLst>
          </p:cNvPr>
          <p:cNvSpPr>
            <a:spLocks xmlns:a="http://schemas.openxmlformats.org/drawingml/2006/main" noGrp="1"/>
          </p:cNvSpPr>
          <p:nvPr/>
        </p:nvSpPr>
        <p:spPr>
          <a:xfrm xmlns:a="http://schemas.openxmlformats.org/drawingml/2006/main">
            <a:off x="89725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A65C55"/>
                </a:solidFill>
                <a:latin typeface="Aptos"/>
                <a:ea typeface="Aptos"/>
                <a:cs typeface="Aptos"/>
              </a:defRPr>
            </a:pPr>
            <a:r>
              <a:rPr sz="1500" b="1">
                <a:solidFill>
                  <a:srgbClr val="A65C55"/>
                </a:solidFill>
                <a:latin typeface="Aptos"/>
                <a:ea typeface="Aptos"/>
                <a:cs typeface="Aptos"/>
              </a:rPr>
              <a:t>Classify</a:t>
            </a:r>
          </a:p>
        </p:txBody>
      </p:sp>
      <p:sp>
        <p:nvSpPr>
          <p:cNvPr id="45" name="">
            <a:extLst xmlns:a="http://schemas.openxmlformats.org/drawingml/2006/main">
              <a:ext uri="{FF2B5EF4-FFF2-40B4-BE49-F238E27FC236}">
                <a16:creationId xmlns:a16="http://schemas.microsoft.com/office/drawing/2014/main" id="{B4E134FC-7844-41AF-8B63-8B1053F060C4}"/>
              </a:ext>
            </a:extLst>
          </p:cNvPr>
          <p:cNvSpPr>
            <a:spLocks xmlns:a="http://schemas.openxmlformats.org/drawingml/2006/main" noGrp="1"/>
          </p:cNvSpPr>
          <p:nvPr/>
        </p:nvSpPr>
        <p:spPr>
          <a:xfrm xmlns:a="http://schemas.openxmlformats.org/drawingml/2006/main">
            <a:off x="89725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0">
                <a:solidFill>
                  <a:srgbClr val="BAC5D4"/>
                </a:solidFill>
                <a:latin typeface="Aptos"/>
                <a:ea typeface="Aptos"/>
                <a:cs typeface="Aptos"/>
              </a:defRPr>
            </a:pPr>
            <a:r>
              <a:rPr sz="900" b="0">
                <a:solidFill>
                  <a:srgbClr val="BAC5D4"/>
                </a:solidFill>
                <a:latin typeface="Aptos"/>
                <a:ea typeface="Aptos"/>
                <a:cs typeface="Aptos"/>
              </a:rPr>
              <a:t>confirmed / potential / none</a:t>
            </a:r>
          </a:p>
        </p:txBody>
      </p:sp>
      <p:sp>
        <p:nvSpPr>
          <p:cNvPr id="46" name="">
            <a:extLst xmlns:a="http://schemas.openxmlformats.org/drawingml/2006/main">
              <a:ext uri="{FF2B5EF4-FFF2-40B4-BE49-F238E27FC236}">
                <a16:creationId xmlns:a16="http://schemas.microsoft.com/office/drawing/2014/main" id="{9C467A24-8B51-4E99-8391-56D5E45C27ED}"/>
              </a:ext>
            </a:extLst>
          </p:cNvPr>
          <p:cNvSpPr>
            <a:spLocks xmlns:a="http://schemas.openxmlformats.org/drawingml/2006/main" noGrp="1"/>
          </p:cNvSpPr>
          <p:nvPr/>
        </p:nvSpPr>
        <p:spPr>
          <a:xfrm xmlns:a="http://schemas.openxmlformats.org/drawingml/2006/main">
            <a:off x="685800" y="4648200"/>
            <a:ext cx="5238750" cy="97155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47" name="">
            <a:extLst xmlns:a="http://schemas.openxmlformats.org/drawingml/2006/main">
              <a:ext uri="{FF2B5EF4-FFF2-40B4-BE49-F238E27FC236}">
                <a16:creationId xmlns:a16="http://schemas.microsoft.com/office/drawing/2014/main" id="{B66A8CEC-06A6-4D6A-8FFC-5013BED8540A}"/>
              </a:ext>
            </a:extLst>
          </p:cNvPr>
          <p:cNvSpPr>
            <a:spLocks xmlns:a="http://schemas.openxmlformats.org/drawingml/2006/main" noGrp="1"/>
          </p:cNvSpPr>
          <p:nvPr/>
        </p:nvSpPr>
        <p:spPr>
          <a:xfrm xmlns:a="http://schemas.openxmlformats.org/drawingml/2006/main">
            <a:off x="895350" y="48958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4F7D76"/>
                </a:solidFill>
                <a:latin typeface="Aptos"/>
                <a:ea typeface="Aptos"/>
                <a:cs typeface="Aptos"/>
              </a:defRPr>
            </a:pPr>
            <a:r>
              <a:rPr sz="900" b="1">
                <a:solidFill>
                  <a:srgbClr val="4F7D76"/>
                </a:solidFill>
                <a:latin typeface="Aptos"/>
                <a:ea typeface="Aptos"/>
                <a:cs typeface="Aptos"/>
              </a:rPr>
              <a:t>CONFIRMED</a:t>
            </a:r>
          </a:p>
        </p:txBody>
      </p:sp>
      <p:sp>
        <p:nvSpPr>
          <p:cNvPr id="48" name="">
            <a:extLst xmlns:a="http://schemas.openxmlformats.org/drawingml/2006/main">
              <a:ext uri="{FF2B5EF4-FFF2-40B4-BE49-F238E27FC236}">
                <a16:creationId xmlns:a16="http://schemas.microsoft.com/office/drawing/2014/main" id="{69F939A0-9968-4687-83FE-1D78DCF4FC8B}"/>
              </a:ext>
            </a:extLst>
          </p:cNvPr>
          <p:cNvSpPr>
            <a:spLocks xmlns:a="http://schemas.openxmlformats.org/drawingml/2006/main" noGrp="1"/>
          </p:cNvSpPr>
          <p:nvPr/>
        </p:nvSpPr>
        <p:spPr>
          <a:xfrm xmlns:a="http://schemas.openxmlformats.org/drawingml/2006/main">
            <a:off x="2095500" y="4819650"/>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Strong identity + exact/high version confidence + source confirmation when available.</a:t>
            </a:r>
          </a:p>
        </p:txBody>
      </p:sp>
      <p:sp>
        <p:nvSpPr>
          <p:cNvPr id="49" name="">
            <a:extLst xmlns:a="http://schemas.openxmlformats.org/drawingml/2006/main">
              <a:ext uri="{FF2B5EF4-FFF2-40B4-BE49-F238E27FC236}">
                <a16:creationId xmlns:a16="http://schemas.microsoft.com/office/drawing/2014/main" id="{9F8E5728-5DE3-4F1F-A681-BE0E66B954B5}"/>
              </a:ext>
            </a:extLst>
          </p:cNvPr>
          <p:cNvSpPr>
            <a:spLocks xmlns:a="http://schemas.openxmlformats.org/drawingml/2006/main" noGrp="1"/>
          </p:cNvSpPr>
          <p:nvPr/>
        </p:nvSpPr>
        <p:spPr>
          <a:xfrm xmlns:a="http://schemas.openxmlformats.org/drawingml/2006/main">
            <a:off x="6229350" y="4648200"/>
            <a:ext cx="5276850" cy="97155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50" name="">
            <a:extLst xmlns:a="http://schemas.openxmlformats.org/drawingml/2006/main">
              <a:ext uri="{FF2B5EF4-FFF2-40B4-BE49-F238E27FC236}">
                <a16:creationId xmlns:a16="http://schemas.microsoft.com/office/drawing/2014/main" id="{87351558-7149-4AA3-B5A0-8B74875DEB2F}"/>
              </a:ext>
            </a:extLst>
          </p:cNvPr>
          <p:cNvSpPr>
            <a:spLocks xmlns:a="http://schemas.openxmlformats.org/drawingml/2006/main" noGrp="1"/>
          </p:cNvSpPr>
          <p:nvPr/>
        </p:nvSpPr>
        <p:spPr>
          <a:xfrm xmlns:a="http://schemas.openxmlformats.org/drawingml/2006/main">
            <a:off x="6438900" y="48958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8D754D"/>
                </a:solidFill>
                <a:latin typeface="Aptos"/>
                <a:ea typeface="Aptos"/>
                <a:cs typeface="Aptos"/>
              </a:defRPr>
            </a:pPr>
            <a:r>
              <a:rPr sz="900" b="1">
                <a:solidFill>
                  <a:srgbClr val="8D754D"/>
                </a:solidFill>
                <a:latin typeface="Aptos"/>
                <a:ea typeface="Aptos"/>
                <a:cs typeface="Aptos"/>
              </a:rPr>
              <a:t>POTENTIAL</a:t>
            </a:r>
          </a:p>
        </p:txBody>
      </p:sp>
      <p:sp>
        <p:nvSpPr>
          <p:cNvPr id="51" name="">
            <a:extLst xmlns:a="http://schemas.openxmlformats.org/drawingml/2006/main">
              <a:ext uri="{FF2B5EF4-FFF2-40B4-BE49-F238E27FC236}">
                <a16:creationId xmlns:a16="http://schemas.microsoft.com/office/drawing/2014/main" id="{A9BBE01A-85EB-4AB6-86A1-F00161D9675A}"/>
              </a:ext>
            </a:extLst>
          </p:cNvPr>
          <p:cNvSpPr>
            <a:spLocks xmlns:a="http://schemas.openxmlformats.org/drawingml/2006/main" noGrp="1"/>
          </p:cNvSpPr>
          <p:nvPr/>
        </p:nvSpPr>
        <p:spPr>
          <a:xfrm xmlns:a="http://schemas.openxmlformats.org/drawingml/2006/main">
            <a:off x="7639050" y="4819650"/>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OSV matched, but version ambiguity or source mismatch blocks a confirmed claim.</a:t>
            </a:r>
          </a:p>
        </p:txBody>
      </p:sp>
      <p:sp>
        <p:nvSpPr>
          <p:cNvPr id="52" name="">
            <a:extLst xmlns:a="http://schemas.openxmlformats.org/drawingml/2006/main">
              <a:ext uri="{FF2B5EF4-FFF2-40B4-BE49-F238E27FC236}">
                <a16:creationId xmlns:a16="http://schemas.microsoft.com/office/drawing/2014/main" id="{B041C296-28D8-42F0-BA56-967D5D4ECC78}"/>
              </a:ext>
            </a:extLst>
          </p:cNvPr>
          <p:cNvSpPr>
            <a:spLocks xmlns:a="http://schemas.openxmlformats.org/drawingml/2006/main" noGrp="1"/>
          </p:cNvSpPr>
          <p:nvPr/>
        </p:nvSpPr>
        <p:spPr>
          <a:xfrm xmlns:a="http://schemas.openxmlformats.org/drawingml/2006/main">
            <a:off x="685800" y="59055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F73B1F3E-E970-4E12-AB96-821A1280F404}"/>
              </a:ext>
            </a:extLst>
          </p:cNvPr>
          <p:cNvSpPr>
            <a:spLocks xmlns:a="http://schemas.openxmlformats.org/drawingml/2006/main" noGrp="1"/>
          </p:cNvSpPr>
          <p:nvPr/>
        </p:nvSpPr>
        <p:spPr>
          <a:xfrm xmlns:a="http://schemas.openxmlformats.org/drawingml/2006/main">
            <a:off x="819150" y="59721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AEBACC"/>
                </a:solidFill>
                <a:latin typeface="Cascadia Mono"/>
                <a:ea typeface="Cascadia Mono"/>
                <a:cs typeface="Cascadia Mono"/>
              </a:defRPr>
            </a:pPr>
            <a:r>
              <a:rPr sz="675" b="0">
                <a:solidFill>
                  <a:srgbClr val="AEBACC"/>
                </a:solidFill>
                <a:latin typeface="Cascadia Mono"/>
                <a:ea typeface="Cascadia Mono"/>
                <a:cs typeface="Cascadia Mono"/>
              </a:rPr>
              <a:t>Implementation: src/apk_sbom/vulnerability.py  -&gt;  query_osv_for_libraries(), deduplicate_vulnerabilities(), classify_vulnerability_finding()</a:t>
            </a:r>
          </a:p>
        </p:txBody>
      </p:sp>
      <p:sp>
        <p:nvSpPr>
          <p:cNvPr id="54" name="">
            <a:extLst xmlns:a="http://schemas.openxmlformats.org/drawingml/2006/main">
              <a:ext uri="{FF2B5EF4-FFF2-40B4-BE49-F238E27FC236}">
                <a16:creationId xmlns:a16="http://schemas.microsoft.com/office/drawing/2014/main" id="{3DAE7260-A3A6-4D63-8AFE-30AE1979512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535336586"/>
      </p:ext>
    </p:extLst>
  </p:cSld>
</p:sld>
</file>

<file path=ppt/slides/slide14.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AE033B2-0F8B-44CE-8408-B4C35D25BB2C}"/>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4F7D76"/>
                </a:solidFill>
                <a:latin typeface="Aptos"/>
                <a:ea typeface="Aptos"/>
                <a:cs typeface="Aptos"/>
              </a:defRPr>
            </a:pPr>
            <a:r>
              <a:rPr sz="900" b="1">
                <a:solidFill>
                  <a:srgbClr val="4F7D76"/>
                </a:solidFill>
                <a:latin typeface="Aptos"/>
                <a:ea typeface="Aptos"/>
                <a:cs typeface="Aptos"/>
              </a:rPr>
              <a:t>COMPONENT 8  |  REPORTS</a:t>
            </a:r>
          </a:p>
        </p:txBody>
      </p:sp>
      <p:sp>
        <p:nvSpPr>
          <p:cNvPr id="2" name="">
            <a:extLst xmlns:a="http://schemas.openxmlformats.org/drawingml/2006/main">
              <a:ext uri="{FF2B5EF4-FFF2-40B4-BE49-F238E27FC236}">
                <a16:creationId xmlns:a16="http://schemas.microsoft.com/office/drawing/2014/main" id="{C1129A0D-5807-4DD7-B436-DF6B7A8F1A13}"/>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Reporting evolved into the transparency layer of the system</a:t>
            </a:r>
          </a:p>
        </p:txBody>
      </p:sp>
      <p:sp>
        <p:nvSpPr>
          <p:cNvPr id="3" name="">
            <a:extLst xmlns:a="http://schemas.openxmlformats.org/drawingml/2006/main">
              <a:ext uri="{FF2B5EF4-FFF2-40B4-BE49-F238E27FC236}">
                <a16:creationId xmlns:a16="http://schemas.microsoft.com/office/drawing/2014/main" id="{89EF4EE0-7C8A-4169-88A0-0E6E973E5D20}"/>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14</a:t>
            </a:r>
          </a:p>
        </p:txBody>
      </p:sp>
      <p:sp>
        <p:nvSpPr>
          <p:cNvPr id="4" name="">
            <a:extLst xmlns:a="http://schemas.openxmlformats.org/drawingml/2006/main">
              <a:ext uri="{FF2B5EF4-FFF2-40B4-BE49-F238E27FC236}">
                <a16:creationId xmlns:a16="http://schemas.microsoft.com/office/drawing/2014/main" id="{91F6E167-7F17-4B61-AD55-0179B39179B8}"/>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5" name="">
            <a:extLst xmlns:a="http://schemas.openxmlformats.org/drawingml/2006/main">
              <a:ext uri="{FF2B5EF4-FFF2-40B4-BE49-F238E27FC236}">
                <a16:creationId xmlns:a16="http://schemas.microsoft.com/office/drawing/2014/main" id="{350E4180-E01A-4997-9F59-AAD13D27772C}"/>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143C277B-708F-40CF-A5B8-B0D7CB853D9E}"/>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Raw outputs</a:t>
            </a:r>
          </a:p>
        </p:txBody>
      </p:sp>
      <p:sp>
        <p:nvSpPr>
          <p:cNvPr id="7" name="">
            <a:extLst xmlns:a="http://schemas.openxmlformats.org/drawingml/2006/main">
              <a:ext uri="{FF2B5EF4-FFF2-40B4-BE49-F238E27FC236}">
                <a16:creationId xmlns:a16="http://schemas.microsoft.com/office/drawing/2014/main" id="{E7A556D8-3538-49C3-93E4-1BA9516686A6}"/>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65717A"/>
                </a:solidFill>
                <a:latin typeface="Aptos"/>
                <a:ea typeface="Aptos"/>
                <a:cs typeface="Aptos"/>
              </a:defRPr>
            </a:pPr>
            <a:r>
              <a:rPr sz="825" b="0">
                <a:solidFill>
                  <a:srgbClr val="65717A"/>
                </a:solidFill>
                <a:latin typeface="Aptos"/>
                <a:ea typeface="Aptos"/>
                <a:cs typeface="Aptos"/>
              </a:rPr>
              <a:t>matches.json and sbom.cdx.json.</a:t>
            </a:r>
          </a:p>
        </p:txBody>
      </p:sp>
      <p:sp>
        <p:nvSpPr>
          <p:cNvPr id="8" name="rule">
            <a:extLst xmlns:a="http://schemas.openxmlformats.org/drawingml/2006/main">
              <a:ext uri="{FF2B5EF4-FFF2-40B4-BE49-F238E27FC236}">
                <a16:creationId xmlns:a16="http://schemas.microsoft.com/office/drawing/2014/main" id="{FCB92FDD-4A82-4949-BF42-9689E4624094}"/>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F8DD89C-5694-4193-9278-3F9BC8BE4D87}"/>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7254C53-B171-474F-BB12-F6628D172E68}"/>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EE10C294-6987-4969-B57D-DB7E4B9E6851}"/>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10E635AF-62DB-480A-A8EB-C5A181CF0519}"/>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Human formats</a:t>
            </a:r>
          </a:p>
        </p:txBody>
      </p:sp>
      <p:sp>
        <p:nvSpPr>
          <p:cNvPr id="13" name="">
            <a:extLst xmlns:a="http://schemas.openxmlformats.org/drawingml/2006/main">
              <a:ext uri="{FF2B5EF4-FFF2-40B4-BE49-F238E27FC236}">
                <a16:creationId xmlns:a16="http://schemas.microsoft.com/office/drawing/2014/main" id="{248A801E-7176-4227-A44C-62629BC2EE7B}"/>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65717A"/>
                </a:solidFill>
                <a:latin typeface="Aptos"/>
                <a:ea typeface="Aptos"/>
                <a:cs typeface="Aptos"/>
              </a:defRPr>
            </a:pPr>
            <a:r>
              <a:rPr sz="825" b="0">
                <a:solidFill>
                  <a:srgbClr val="65717A"/>
                </a:solidFill>
                <a:latin typeface="Aptos"/>
                <a:ea typeface="Aptos"/>
                <a:cs typeface="Aptos"/>
              </a:rPr>
              <a:t>JSON, Markdown, and HTML from one evidence model.</a:t>
            </a:r>
          </a:p>
        </p:txBody>
      </p:sp>
      <p:sp>
        <p:nvSpPr>
          <p:cNvPr id="14" name="rule">
            <a:extLst xmlns:a="http://schemas.openxmlformats.org/drawingml/2006/main">
              <a:ext uri="{FF2B5EF4-FFF2-40B4-BE49-F238E27FC236}">
                <a16:creationId xmlns:a16="http://schemas.microsoft.com/office/drawing/2014/main" id="{8BB4DFBC-F1D4-4BF6-B177-F92774DBE833}"/>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9948987-768B-41C2-8918-BF7F1237F457}"/>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AB63FCD-AFD4-449F-8805-9C7013D02CB4}"/>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17" name="">
            <a:extLst xmlns:a="http://schemas.openxmlformats.org/drawingml/2006/main">
              <a:ext uri="{FF2B5EF4-FFF2-40B4-BE49-F238E27FC236}">
                <a16:creationId xmlns:a16="http://schemas.microsoft.com/office/drawing/2014/main" id="{D649CC71-9FEE-4E53-A93F-1A4ECAECAF1D}"/>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D754D"/>
                </a:solidFill>
                <a:latin typeface="Aptos"/>
                <a:ea typeface="Aptos"/>
                <a:cs typeface="Aptos"/>
              </a:defRPr>
            </a:pPr>
            <a:r>
              <a:rPr sz="825" b="1">
                <a:solidFill>
                  <a:srgbClr val="8D754D"/>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4FB6F87B-EBE8-4368-B48D-4DD80B71BB92}"/>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Uncertainty</a:t>
            </a:r>
          </a:p>
        </p:txBody>
      </p:sp>
      <p:sp>
        <p:nvSpPr>
          <p:cNvPr id="19" name="">
            <a:extLst xmlns:a="http://schemas.openxmlformats.org/drawingml/2006/main">
              <a:ext uri="{FF2B5EF4-FFF2-40B4-BE49-F238E27FC236}">
                <a16:creationId xmlns:a16="http://schemas.microsoft.com/office/drawing/2014/main" id="{15904A76-CC0C-4928-A92E-9BC71B44E745}"/>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65717A"/>
                </a:solidFill>
                <a:latin typeface="Aptos"/>
                <a:ea typeface="Aptos"/>
                <a:cs typeface="Aptos"/>
              </a:defRPr>
            </a:pPr>
            <a:r>
              <a:rPr sz="825" b="0">
                <a:solidFill>
                  <a:srgbClr val="65717A"/>
                </a:solidFill>
                <a:latin typeface="Aptos"/>
                <a:ea typeface="Aptos"/>
                <a:cs typeface="Aptos"/>
              </a:rPr>
              <a:t>Identity/version confidence, ambiguity, R8 and extraction risk.</a:t>
            </a:r>
          </a:p>
        </p:txBody>
      </p:sp>
      <p:sp>
        <p:nvSpPr>
          <p:cNvPr id="20" name="rule">
            <a:extLst xmlns:a="http://schemas.openxmlformats.org/drawingml/2006/main">
              <a:ext uri="{FF2B5EF4-FFF2-40B4-BE49-F238E27FC236}">
                <a16:creationId xmlns:a16="http://schemas.microsoft.com/office/drawing/2014/main" id="{4E0BBFE6-5477-4378-A8DA-A84AFF6DF2D5}"/>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07F02F8-E371-4608-AAF6-14EA125E882E}"/>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A8DBEC3-144A-4694-90D7-AD8082E6B752}"/>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23" name="">
            <a:extLst xmlns:a="http://schemas.openxmlformats.org/drawingml/2006/main">
              <a:ext uri="{FF2B5EF4-FFF2-40B4-BE49-F238E27FC236}">
                <a16:creationId xmlns:a16="http://schemas.microsoft.com/office/drawing/2014/main" id="{13222BF5-0A8B-41E8-BCBB-EAABC5B5DCAA}"/>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655F73"/>
                </a:solidFill>
                <a:latin typeface="Aptos"/>
                <a:ea typeface="Aptos"/>
                <a:cs typeface="Aptos"/>
              </a:defRPr>
            </a:pPr>
            <a:r>
              <a:rPr sz="825" b="1">
                <a:solidFill>
                  <a:srgbClr val="655F73"/>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82CEBCD8-C97D-4CEE-8F1C-8467152C8BF3}"/>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Research layers</a:t>
            </a:r>
          </a:p>
        </p:txBody>
      </p:sp>
      <p:sp>
        <p:nvSpPr>
          <p:cNvPr id="25" name="">
            <a:extLst xmlns:a="http://schemas.openxmlformats.org/drawingml/2006/main">
              <a:ext uri="{FF2B5EF4-FFF2-40B4-BE49-F238E27FC236}">
                <a16:creationId xmlns:a16="http://schemas.microsoft.com/office/drawing/2014/main" id="{41152487-ABD1-44FA-AE68-A509776A8B26}"/>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65717A"/>
                </a:solidFill>
                <a:latin typeface="Aptos"/>
                <a:ea typeface="Aptos"/>
                <a:cs typeface="Aptos"/>
              </a:defRPr>
            </a:pPr>
            <a:r>
              <a:rPr sz="825" b="0">
                <a:solidFill>
                  <a:srgbClr val="65717A"/>
                </a:solidFill>
                <a:latin typeface="Aptos"/>
                <a:ea typeface="Aptos"/>
                <a:cs typeface="Aptos"/>
              </a:rPr>
              <a:t>Source validation, Phase 5, router, and AI remain labeled report-only.</a:t>
            </a:r>
          </a:p>
        </p:txBody>
      </p:sp>
      <p:sp>
        <p:nvSpPr>
          <p:cNvPr id="26" name="">
            <a:extLst xmlns:a="http://schemas.openxmlformats.org/drawingml/2006/main">
              <a:ext uri="{FF2B5EF4-FFF2-40B4-BE49-F238E27FC236}">
                <a16:creationId xmlns:a16="http://schemas.microsoft.com/office/drawing/2014/main" id="{A87DBBA3-A210-431A-9647-A103F936C72B}"/>
              </a:ext>
            </a:extLst>
          </p:cNvPr>
          <p:cNvSpPr>
            <a:spLocks xmlns:a="http://schemas.openxmlformats.org/drawingml/2006/main" noGrp="1"/>
          </p:cNvSpPr>
          <p:nvPr/>
        </p:nvSpPr>
        <p:spPr>
          <a:xfrm xmlns:a="http://schemas.openxmlformats.org/drawingml/2006/main">
            <a:off x="685800" y="272415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27" name="">
            <a:extLst xmlns:a="http://schemas.openxmlformats.org/drawingml/2006/main">
              <a:ext uri="{FF2B5EF4-FFF2-40B4-BE49-F238E27FC236}">
                <a16:creationId xmlns:a16="http://schemas.microsoft.com/office/drawing/2014/main" id="{73E7D7C9-40D4-4F7C-9BEC-16612FD32685}"/>
              </a:ext>
            </a:extLst>
          </p:cNvPr>
          <p:cNvSpPr>
            <a:spLocks xmlns:a="http://schemas.openxmlformats.org/drawingml/2006/main" noGrp="1"/>
          </p:cNvSpPr>
          <p:nvPr/>
        </p:nvSpPr>
        <p:spPr>
          <a:xfrm xmlns:a="http://schemas.openxmlformats.org/drawingml/2006/main">
            <a:off x="857250" y="28765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65F7D"/>
                </a:solidFill>
                <a:latin typeface="Cascadia Mono"/>
                <a:ea typeface="Cascadia Mono"/>
                <a:cs typeface="Cascadia Mono"/>
              </a:defRPr>
            </a:pPr>
            <a:r>
              <a:rPr sz="1200" b="1">
                <a:solidFill>
                  <a:srgbClr val="365F7D"/>
                </a:solidFill>
                <a:latin typeface="Cascadia Mono"/>
                <a:ea typeface="Cascadia Mono"/>
                <a:cs typeface="Cascadia Mono"/>
              </a:rPr>
              <a:t>matches.json</a:t>
            </a:r>
          </a:p>
        </p:txBody>
      </p:sp>
      <p:sp>
        <p:nvSpPr>
          <p:cNvPr id="28" name="">
            <a:extLst xmlns:a="http://schemas.openxmlformats.org/drawingml/2006/main">
              <a:ext uri="{FF2B5EF4-FFF2-40B4-BE49-F238E27FC236}">
                <a16:creationId xmlns:a16="http://schemas.microsoft.com/office/drawing/2014/main" id="{CB8B629D-905B-4A68-8678-C7490E735F5A}"/>
              </a:ext>
            </a:extLst>
          </p:cNvPr>
          <p:cNvSpPr>
            <a:spLocks xmlns:a="http://schemas.openxmlformats.org/drawingml/2006/main" noGrp="1"/>
          </p:cNvSpPr>
          <p:nvPr/>
        </p:nvSpPr>
        <p:spPr>
          <a:xfrm xmlns:a="http://schemas.openxmlformats.org/drawingml/2006/main">
            <a:off x="857250" y="32004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5717A"/>
                </a:solidFill>
                <a:latin typeface="Aptos"/>
                <a:ea typeface="Aptos"/>
                <a:cs typeface="Aptos"/>
              </a:defRPr>
            </a:pPr>
            <a:r>
              <a:rPr sz="900" b="0">
                <a:solidFill>
                  <a:srgbClr val="65717A"/>
                </a:solidFill>
                <a:latin typeface="Aptos"/>
                <a:ea typeface="Aptos"/>
                <a:cs typeface="Aptos"/>
              </a:rPr>
              <a:t>ranked candidates and signal breakdown</a:t>
            </a:r>
          </a:p>
        </p:txBody>
      </p:sp>
      <p:sp>
        <p:nvSpPr>
          <p:cNvPr id="29" name="">
            <a:extLst xmlns:a="http://schemas.openxmlformats.org/drawingml/2006/main">
              <a:ext uri="{FF2B5EF4-FFF2-40B4-BE49-F238E27FC236}">
                <a16:creationId xmlns:a16="http://schemas.microsoft.com/office/drawing/2014/main" id="{25B77863-25F8-4E58-A211-F16B41F01044}"/>
              </a:ext>
            </a:extLst>
          </p:cNvPr>
          <p:cNvSpPr>
            <a:spLocks xmlns:a="http://schemas.openxmlformats.org/drawingml/2006/main" noGrp="1"/>
          </p:cNvSpPr>
          <p:nvPr/>
        </p:nvSpPr>
        <p:spPr>
          <a:xfrm xmlns:a="http://schemas.openxmlformats.org/drawingml/2006/main">
            <a:off x="4324350" y="272415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30" name="">
            <a:extLst xmlns:a="http://schemas.openxmlformats.org/drawingml/2006/main">
              <a:ext uri="{FF2B5EF4-FFF2-40B4-BE49-F238E27FC236}">
                <a16:creationId xmlns:a16="http://schemas.microsoft.com/office/drawing/2014/main" id="{659E8C27-6C24-463E-94B5-A46EA5DAE891}"/>
              </a:ext>
            </a:extLst>
          </p:cNvPr>
          <p:cNvSpPr>
            <a:spLocks xmlns:a="http://schemas.openxmlformats.org/drawingml/2006/main" noGrp="1"/>
          </p:cNvSpPr>
          <p:nvPr/>
        </p:nvSpPr>
        <p:spPr>
          <a:xfrm xmlns:a="http://schemas.openxmlformats.org/drawingml/2006/main">
            <a:off x="4495800" y="28765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4F7D76"/>
                </a:solidFill>
                <a:latin typeface="Cascadia Mono"/>
                <a:ea typeface="Cascadia Mono"/>
                <a:cs typeface="Cascadia Mono"/>
              </a:defRPr>
            </a:pPr>
            <a:r>
              <a:rPr sz="1200" b="1">
                <a:solidFill>
                  <a:srgbClr val="4F7D76"/>
                </a:solidFill>
                <a:latin typeface="Cascadia Mono"/>
                <a:ea typeface="Cascadia Mono"/>
                <a:cs typeface="Cascadia Mono"/>
              </a:rPr>
              <a:t>sbom.cdx.json</a:t>
            </a:r>
          </a:p>
        </p:txBody>
      </p:sp>
      <p:sp>
        <p:nvSpPr>
          <p:cNvPr id="31" name="">
            <a:extLst xmlns:a="http://schemas.openxmlformats.org/drawingml/2006/main">
              <a:ext uri="{FF2B5EF4-FFF2-40B4-BE49-F238E27FC236}">
                <a16:creationId xmlns:a16="http://schemas.microsoft.com/office/drawing/2014/main" id="{2AFF18A2-628E-4AA0-8862-073720611095}"/>
              </a:ext>
            </a:extLst>
          </p:cNvPr>
          <p:cNvSpPr>
            <a:spLocks xmlns:a="http://schemas.openxmlformats.org/drawingml/2006/main" noGrp="1"/>
          </p:cNvSpPr>
          <p:nvPr/>
        </p:nvSpPr>
        <p:spPr>
          <a:xfrm xmlns:a="http://schemas.openxmlformats.org/drawingml/2006/main">
            <a:off x="4495800" y="32004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5717A"/>
                </a:solidFill>
                <a:latin typeface="Aptos"/>
                <a:ea typeface="Aptos"/>
                <a:cs typeface="Aptos"/>
              </a:defRPr>
            </a:pPr>
            <a:r>
              <a:rPr sz="900" b="0">
                <a:solidFill>
                  <a:srgbClr val="65717A"/>
                </a:solidFill>
                <a:latin typeface="Aptos"/>
                <a:ea typeface="Aptos"/>
                <a:cs typeface="Aptos"/>
              </a:rPr>
              <a:t>standard component and evidence output</a:t>
            </a:r>
          </a:p>
        </p:txBody>
      </p:sp>
      <p:sp>
        <p:nvSpPr>
          <p:cNvPr id="32" name="">
            <a:extLst xmlns:a="http://schemas.openxmlformats.org/drawingml/2006/main">
              <a:ext uri="{FF2B5EF4-FFF2-40B4-BE49-F238E27FC236}">
                <a16:creationId xmlns:a16="http://schemas.microsoft.com/office/drawing/2014/main" id="{D5DF0D1F-0635-4ADA-82CE-C9EEDF7E7F77}"/>
              </a:ext>
            </a:extLst>
          </p:cNvPr>
          <p:cNvSpPr>
            <a:spLocks xmlns:a="http://schemas.openxmlformats.org/drawingml/2006/main" noGrp="1"/>
          </p:cNvSpPr>
          <p:nvPr/>
        </p:nvSpPr>
        <p:spPr>
          <a:xfrm xmlns:a="http://schemas.openxmlformats.org/drawingml/2006/main">
            <a:off x="7962900" y="272415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33" name="">
            <a:extLst xmlns:a="http://schemas.openxmlformats.org/drawingml/2006/main">
              <a:ext uri="{FF2B5EF4-FFF2-40B4-BE49-F238E27FC236}">
                <a16:creationId xmlns:a16="http://schemas.microsoft.com/office/drawing/2014/main" id="{B5C64FA2-9F66-4FC2-84B1-65E526BAC4C8}"/>
              </a:ext>
            </a:extLst>
          </p:cNvPr>
          <p:cNvSpPr>
            <a:spLocks xmlns:a="http://schemas.openxmlformats.org/drawingml/2006/main" noGrp="1"/>
          </p:cNvSpPr>
          <p:nvPr/>
        </p:nvSpPr>
        <p:spPr>
          <a:xfrm xmlns:a="http://schemas.openxmlformats.org/drawingml/2006/main">
            <a:off x="8134350" y="28765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A65C55"/>
                </a:solidFill>
                <a:latin typeface="Cascadia Mono"/>
                <a:ea typeface="Cascadia Mono"/>
                <a:cs typeface="Cascadia Mono"/>
              </a:defRPr>
            </a:pPr>
            <a:r>
              <a:rPr sz="1200" b="1">
                <a:solidFill>
                  <a:srgbClr val="A65C55"/>
                </a:solidFill>
                <a:latin typeface="Cascadia Mono"/>
                <a:ea typeface="Cascadia Mono"/>
                <a:cs typeface="Cascadia Mono"/>
              </a:rPr>
              <a:t>osv-vulnerabilities.json</a:t>
            </a:r>
          </a:p>
        </p:txBody>
      </p:sp>
      <p:sp>
        <p:nvSpPr>
          <p:cNvPr id="34" name="">
            <a:extLst xmlns:a="http://schemas.openxmlformats.org/drawingml/2006/main">
              <a:ext uri="{FF2B5EF4-FFF2-40B4-BE49-F238E27FC236}">
                <a16:creationId xmlns:a16="http://schemas.microsoft.com/office/drawing/2014/main" id="{CAB6FED4-EA3E-45D7-A859-5CF61F42F76C}"/>
              </a:ext>
            </a:extLst>
          </p:cNvPr>
          <p:cNvSpPr>
            <a:spLocks xmlns:a="http://schemas.openxmlformats.org/drawingml/2006/main" noGrp="1"/>
          </p:cNvSpPr>
          <p:nvPr/>
        </p:nvSpPr>
        <p:spPr>
          <a:xfrm xmlns:a="http://schemas.openxmlformats.org/drawingml/2006/main">
            <a:off x="8134350" y="32004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5717A"/>
                </a:solidFill>
                <a:latin typeface="Aptos"/>
                <a:ea typeface="Aptos"/>
                <a:cs typeface="Aptos"/>
              </a:defRPr>
            </a:pPr>
            <a:r>
              <a:rPr sz="900" b="0">
                <a:solidFill>
                  <a:srgbClr val="65717A"/>
                </a:solidFill>
                <a:latin typeface="Aptos"/>
                <a:ea typeface="Aptos"/>
                <a:cs typeface="Aptos"/>
              </a:rPr>
              <a:t>normalized advisory evidence</a:t>
            </a:r>
          </a:p>
        </p:txBody>
      </p:sp>
      <p:sp>
        <p:nvSpPr>
          <p:cNvPr id="35" name="">
            <a:extLst xmlns:a="http://schemas.openxmlformats.org/drawingml/2006/main">
              <a:ext uri="{FF2B5EF4-FFF2-40B4-BE49-F238E27FC236}">
                <a16:creationId xmlns:a16="http://schemas.microsoft.com/office/drawing/2014/main" id="{9E38241A-9454-46CC-B46A-62A53EA25453}"/>
              </a:ext>
            </a:extLst>
          </p:cNvPr>
          <p:cNvSpPr>
            <a:spLocks xmlns:a="http://schemas.openxmlformats.org/drawingml/2006/main" noGrp="1"/>
          </p:cNvSpPr>
          <p:nvPr/>
        </p:nvSpPr>
        <p:spPr>
          <a:xfrm xmlns:a="http://schemas.openxmlformats.org/drawingml/2006/main">
            <a:off x="685800" y="384810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36" name="">
            <a:extLst xmlns:a="http://schemas.openxmlformats.org/drawingml/2006/main">
              <a:ext uri="{FF2B5EF4-FFF2-40B4-BE49-F238E27FC236}">
                <a16:creationId xmlns:a16="http://schemas.microsoft.com/office/drawing/2014/main" id="{2AF02A14-660A-45EA-BBA9-AB97E559E6FC}"/>
              </a:ext>
            </a:extLst>
          </p:cNvPr>
          <p:cNvSpPr>
            <a:spLocks xmlns:a="http://schemas.openxmlformats.org/drawingml/2006/main" noGrp="1"/>
          </p:cNvSpPr>
          <p:nvPr/>
        </p:nvSpPr>
        <p:spPr>
          <a:xfrm xmlns:a="http://schemas.openxmlformats.org/drawingml/2006/main">
            <a:off x="857250" y="400050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655F73"/>
                </a:solidFill>
                <a:latin typeface="Cascadia Mono"/>
                <a:ea typeface="Cascadia Mono"/>
                <a:cs typeface="Cascadia Mono"/>
              </a:defRPr>
            </a:pPr>
            <a:r>
              <a:rPr sz="1200" b="1">
                <a:solidFill>
                  <a:srgbClr val="655F73"/>
                </a:solidFill>
                <a:latin typeface="Cascadia Mono"/>
                <a:ea typeface="Cascadia Mono"/>
                <a:cs typeface="Cascadia Mono"/>
              </a:rPr>
              <a:t>report.json</a:t>
            </a:r>
          </a:p>
        </p:txBody>
      </p:sp>
      <p:sp>
        <p:nvSpPr>
          <p:cNvPr id="37" name="">
            <a:extLst xmlns:a="http://schemas.openxmlformats.org/drawingml/2006/main">
              <a:ext uri="{FF2B5EF4-FFF2-40B4-BE49-F238E27FC236}">
                <a16:creationId xmlns:a16="http://schemas.microsoft.com/office/drawing/2014/main" id="{B05669D4-E0FC-4A4F-A0E7-6F357E96302B}"/>
              </a:ext>
            </a:extLst>
          </p:cNvPr>
          <p:cNvSpPr>
            <a:spLocks xmlns:a="http://schemas.openxmlformats.org/drawingml/2006/main" noGrp="1"/>
          </p:cNvSpPr>
          <p:nvPr/>
        </p:nvSpPr>
        <p:spPr>
          <a:xfrm xmlns:a="http://schemas.openxmlformats.org/drawingml/2006/main">
            <a:off x="857250" y="43243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5717A"/>
                </a:solidFill>
                <a:latin typeface="Aptos"/>
                <a:ea typeface="Aptos"/>
                <a:cs typeface="Aptos"/>
              </a:defRPr>
            </a:pPr>
            <a:r>
              <a:rPr sz="900" b="0">
                <a:solidFill>
                  <a:srgbClr val="65717A"/>
                </a:solidFill>
                <a:latin typeface="Aptos"/>
                <a:ea typeface="Aptos"/>
                <a:cs typeface="Aptos"/>
              </a:rPr>
              <a:t>complete machine-readable package</a:t>
            </a:r>
          </a:p>
        </p:txBody>
      </p:sp>
      <p:sp>
        <p:nvSpPr>
          <p:cNvPr id="38" name="">
            <a:extLst xmlns:a="http://schemas.openxmlformats.org/drawingml/2006/main">
              <a:ext uri="{FF2B5EF4-FFF2-40B4-BE49-F238E27FC236}">
                <a16:creationId xmlns:a16="http://schemas.microsoft.com/office/drawing/2014/main" id="{328174A2-A4C4-4E84-83F9-F0AB930E91BD}"/>
              </a:ext>
            </a:extLst>
          </p:cNvPr>
          <p:cNvSpPr>
            <a:spLocks xmlns:a="http://schemas.openxmlformats.org/drawingml/2006/main" noGrp="1"/>
          </p:cNvSpPr>
          <p:nvPr/>
        </p:nvSpPr>
        <p:spPr>
          <a:xfrm xmlns:a="http://schemas.openxmlformats.org/drawingml/2006/main">
            <a:off x="4324350" y="384810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39" name="">
            <a:extLst xmlns:a="http://schemas.openxmlformats.org/drawingml/2006/main">
              <a:ext uri="{FF2B5EF4-FFF2-40B4-BE49-F238E27FC236}">
                <a16:creationId xmlns:a16="http://schemas.microsoft.com/office/drawing/2014/main" id="{60EA78D2-8B49-4F07-9ADD-99BF6F319C07}"/>
              </a:ext>
            </a:extLst>
          </p:cNvPr>
          <p:cNvSpPr>
            <a:spLocks xmlns:a="http://schemas.openxmlformats.org/drawingml/2006/main" noGrp="1"/>
          </p:cNvSpPr>
          <p:nvPr/>
        </p:nvSpPr>
        <p:spPr>
          <a:xfrm xmlns:a="http://schemas.openxmlformats.org/drawingml/2006/main">
            <a:off x="4495800" y="400050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8D754D"/>
                </a:solidFill>
                <a:latin typeface="Cascadia Mono"/>
                <a:ea typeface="Cascadia Mono"/>
                <a:cs typeface="Cascadia Mono"/>
              </a:defRPr>
            </a:pPr>
            <a:r>
              <a:rPr sz="1200" b="1">
                <a:solidFill>
                  <a:srgbClr val="8D754D"/>
                </a:solidFill>
                <a:latin typeface="Cascadia Mono"/>
                <a:ea typeface="Cascadia Mono"/>
                <a:cs typeface="Cascadia Mono"/>
              </a:rPr>
              <a:t>report.md</a:t>
            </a:r>
          </a:p>
        </p:txBody>
      </p:sp>
      <p:sp>
        <p:nvSpPr>
          <p:cNvPr id="40" name="">
            <a:extLst xmlns:a="http://schemas.openxmlformats.org/drawingml/2006/main">
              <a:ext uri="{FF2B5EF4-FFF2-40B4-BE49-F238E27FC236}">
                <a16:creationId xmlns:a16="http://schemas.microsoft.com/office/drawing/2014/main" id="{5C1E294E-CA7C-445F-96D6-3B1E1AB99789}"/>
              </a:ext>
            </a:extLst>
          </p:cNvPr>
          <p:cNvSpPr>
            <a:spLocks xmlns:a="http://schemas.openxmlformats.org/drawingml/2006/main" noGrp="1"/>
          </p:cNvSpPr>
          <p:nvPr/>
        </p:nvSpPr>
        <p:spPr>
          <a:xfrm xmlns:a="http://schemas.openxmlformats.org/drawingml/2006/main">
            <a:off x="4495800" y="43243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5717A"/>
                </a:solidFill>
                <a:latin typeface="Aptos"/>
                <a:ea typeface="Aptos"/>
                <a:cs typeface="Aptos"/>
              </a:defRPr>
            </a:pPr>
            <a:r>
              <a:rPr sz="900" b="0">
                <a:solidFill>
                  <a:srgbClr val="65717A"/>
                </a:solidFill>
                <a:latin typeface="Aptos"/>
                <a:ea typeface="Aptos"/>
                <a:cs typeface="Aptos"/>
              </a:rPr>
              <a:t>thesis and review friendly</a:t>
            </a:r>
          </a:p>
        </p:txBody>
      </p:sp>
      <p:sp>
        <p:nvSpPr>
          <p:cNvPr id="41" name="">
            <a:extLst xmlns:a="http://schemas.openxmlformats.org/drawingml/2006/main">
              <a:ext uri="{FF2B5EF4-FFF2-40B4-BE49-F238E27FC236}">
                <a16:creationId xmlns:a16="http://schemas.microsoft.com/office/drawing/2014/main" id="{40DBBBA5-620D-4419-B312-6F27BB9C831E}"/>
              </a:ext>
            </a:extLst>
          </p:cNvPr>
          <p:cNvSpPr>
            <a:spLocks xmlns:a="http://schemas.openxmlformats.org/drawingml/2006/main" noGrp="1"/>
          </p:cNvSpPr>
          <p:nvPr/>
        </p:nvSpPr>
        <p:spPr>
          <a:xfrm xmlns:a="http://schemas.openxmlformats.org/drawingml/2006/main">
            <a:off x="7962900" y="384810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42" name="">
            <a:extLst xmlns:a="http://schemas.openxmlformats.org/drawingml/2006/main">
              <a:ext uri="{FF2B5EF4-FFF2-40B4-BE49-F238E27FC236}">
                <a16:creationId xmlns:a16="http://schemas.microsoft.com/office/drawing/2014/main" id="{8F1FC45D-AAD8-43A3-91C2-D567866442F1}"/>
              </a:ext>
            </a:extLst>
          </p:cNvPr>
          <p:cNvSpPr>
            <a:spLocks xmlns:a="http://schemas.openxmlformats.org/drawingml/2006/main" noGrp="1"/>
          </p:cNvSpPr>
          <p:nvPr/>
        </p:nvSpPr>
        <p:spPr>
          <a:xfrm xmlns:a="http://schemas.openxmlformats.org/drawingml/2006/main">
            <a:off x="8134350" y="400050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6F7C61"/>
                </a:solidFill>
                <a:latin typeface="Cascadia Mono"/>
                <a:ea typeface="Cascadia Mono"/>
                <a:cs typeface="Cascadia Mono"/>
              </a:defRPr>
            </a:pPr>
            <a:r>
              <a:rPr sz="1200" b="1">
                <a:solidFill>
                  <a:srgbClr val="6F7C61"/>
                </a:solidFill>
                <a:latin typeface="Cascadia Mono"/>
                <a:ea typeface="Cascadia Mono"/>
                <a:cs typeface="Cascadia Mono"/>
              </a:rPr>
              <a:t>report.html</a:t>
            </a:r>
          </a:p>
        </p:txBody>
      </p:sp>
      <p:sp>
        <p:nvSpPr>
          <p:cNvPr id="43" name="">
            <a:extLst xmlns:a="http://schemas.openxmlformats.org/drawingml/2006/main">
              <a:ext uri="{FF2B5EF4-FFF2-40B4-BE49-F238E27FC236}">
                <a16:creationId xmlns:a16="http://schemas.microsoft.com/office/drawing/2014/main" id="{0E2547F5-4A8D-4632-B954-B283F7769C48}"/>
              </a:ext>
            </a:extLst>
          </p:cNvPr>
          <p:cNvSpPr>
            <a:spLocks xmlns:a="http://schemas.openxmlformats.org/drawingml/2006/main" noGrp="1"/>
          </p:cNvSpPr>
          <p:nvPr/>
        </p:nvSpPr>
        <p:spPr>
          <a:xfrm xmlns:a="http://schemas.openxmlformats.org/drawingml/2006/main">
            <a:off x="8134350" y="43243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5717A"/>
                </a:solidFill>
                <a:latin typeface="Aptos"/>
                <a:ea typeface="Aptos"/>
                <a:cs typeface="Aptos"/>
              </a:defRPr>
            </a:pPr>
            <a:r>
              <a:rPr sz="900" b="0">
                <a:solidFill>
                  <a:srgbClr val="65717A"/>
                </a:solidFill>
                <a:latin typeface="Aptos"/>
                <a:ea typeface="Aptos"/>
                <a:cs typeface="Aptos"/>
              </a:rPr>
              <a:t>demo and analyst friendly</a:t>
            </a:r>
          </a:p>
        </p:txBody>
      </p:sp>
      <p:sp>
        <p:nvSpPr>
          <p:cNvPr id="44" name="">
            <a:extLst xmlns:a="http://schemas.openxmlformats.org/drawingml/2006/main">
              <a:ext uri="{FF2B5EF4-FFF2-40B4-BE49-F238E27FC236}">
                <a16:creationId xmlns:a16="http://schemas.microsoft.com/office/drawing/2014/main" id="{EF524141-14BF-47BA-8AAF-5FBC3001BF73}"/>
              </a:ext>
            </a:extLst>
          </p:cNvPr>
          <p:cNvSpPr>
            <a:spLocks xmlns:a="http://schemas.openxmlformats.org/drawingml/2006/main" noGrp="1"/>
          </p:cNvSpPr>
          <p:nvPr/>
        </p:nvSpPr>
        <p:spPr>
          <a:xfrm xmlns:a="http://schemas.openxmlformats.org/drawingml/2006/main">
            <a:off x="685800" y="5105400"/>
            <a:ext cx="10820400" cy="59055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45" name="">
            <a:extLst xmlns:a="http://schemas.openxmlformats.org/drawingml/2006/main">
              <a:ext uri="{FF2B5EF4-FFF2-40B4-BE49-F238E27FC236}">
                <a16:creationId xmlns:a16="http://schemas.microsoft.com/office/drawing/2014/main" id="{DEEBF8F2-4651-466F-885F-9A04ED4808D0}"/>
              </a:ext>
            </a:extLst>
          </p:cNvPr>
          <p:cNvSpPr>
            <a:spLocks xmlns:a="http://schemas.openxmlformats.org/drawingml/2006/main" noGrp="1"/>
          </p:cNvSpPr>
          <p:nvPr/>
        </p:nvSpPr>
        <p:spPr>
          <a:xfrm xmlns:a="http://schemas.openxmlformats.org/drawingml/2006/main">
            <a:off x="876300" y="5276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655F73"/>
                </a:solidFill>
                <a:latin typeface="Aptos"/>
                <a:ea typeface="Aptos"/>
                <a:cs typeface="Aptos"/>
              </a:defRPr>
            </a:pPr>
            <a:r>
              <a:rPr sz="825" b="1">
                <a:solidFill>
                  <a:srgbClr val="655F73"/>
                </a:solidFill>
                <a:latin typeface="Aptos"/>
                <a:ea typeface="Aptos"/>
                <a:cs typeface="Aptos"/>
              </a:rPr>
              <a:t>WHY</a:t>
            </a:r>
          </a:p>
        </p:txBody>
      </p:sp>
      <p:sp>
        <p:nvSpPr>
          <p:cNvPr id="46" name="">
            <a:extLst xmlns:a="http://schemas.openxmlformats.org/drawingml/2006/main">
              <a:ext uri="{FF2B5EF4-FFF2-40B4-BE49-F238E27FC236}">
                <a16:creationId xmlns:a16="http://schemas.microsoft.com/office/drawing/2014/main" id="{E10F3FC2-15CD-4E63-A9E4-BDD6180AD611}"/>
              </a:ext>
            </a:extLst>
          </p:cNvPr>
          <p:cNvSpPr>
            <a:spLocks xmlns:a="http://schemas.openxmlformats.org/drawingml/2006/main" noGrp="1"/>
          </p:cNvSpPr>
          <p:nvPr/>
        </p:nvSpPr>
        <p:spPr>
          <a:xfrm xmlns:a="http://schemas.openxmlformats.org/drawingml/2006/main">
            <a:off x="2343150" y="52292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The report is where experimental evidence can be useful without silently changing selected versions, SBOM components, or CVE labels.</a:t>
            </a:r>
          </a:p>
        </p:txBody>
      </p:sp>
      <p:sp>
        <p:nvSpPr>
          <p:cNvPr id="47" name="">
            <a:extLst xmlns:a="http://schemas.openxmlformats.org/drawingml/2006/main">
              <a:ext uri="{FF2B5EF4-FFF2-40B4-BE49-F238E27FC236}">
                <a16:creationId xmlns:a16="http://schemas.microsoft.com/office/drawing/2014/main" id="{C7CAB2F0-2B85-40B1-800C-9BFD5830A3B4}"/>
              </a:ext>
            </a:extLst>
          </p:cNvPr>
          <p:cNvSpPr>
            <a:spLocks xmlns:a="http://schemas.openxmlformats.org/drawingml/2006/main" noGrp="1"/>
          </p:cNvSpPr>
          <p:nvPr/>
        </p:nvSpPr>
        <p:spPr>
          <a:xfrm xmlns:a="http://schemas.openxmlformats.org/drawingml/2006/main">
            <a:off x="685800" y="59055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5CC9589B-CBAD-46FA-A517-97F1697D4070}"/>
              </a:ext>
            </a:extLst>
          </p:cNvPr>
          <p:cNvSpPr>
            <a:spLocks xmlns:a="http://schemas.openxmlformats.org/drawingml/2006/main" noGrp="1"/>
          </p:cNvSpPr>
          <p:nvPr/>
        </p:nvSpPr>
        <p:spPr>
          <a:xfrm xmlns:a="http://schemas.openxmlformats.org/drawingml/2006/main">
            <a:off x="819150" y="59721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src/apk_sbom/report.py  -&gt;  generate_final_report(), build_json_report(), build_markdown_report(), build_html_report()</a:t>
            </a:r>
          </a:p>
        </p:txBody>
      </p:sp>
      <p:sp>
        <p:nvSpPr>
          <p:cNvPr id="49" name="">
            <a:extLst xmlns:a="http://schemas.openxmlformats.org/drawingml/2006/main">
              <a:ext uri="{FF2B5EF4-FFF2-40B4-BE49-F238E27FC236}">
                <a16:creationId xmlns:a16="http://schemas.microsoft.com/office/drawing/2014/main" id="{1D93EAD0-EDFF-4691-B795-9D06EF4FB4EF}"/>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341298064"/>
      </p:ext>
    </p:extLst>
  </p:cSld>
</p:sld>
</file>

<file path=ppt/slides/slide15.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BD1C296-5FAB-4DBA-948E-5C17B6CE5C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AA30A5C-4221-4C82-B1ED-631E95F14D36}"/>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FE8791C-F7D2-4EFE-9B7A-C80E860155C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F7C61"/>
                </a:solidFill>
                <a:latin typeface="Aptos"/>
                <a:ea typeface="Aptos"/>
                <a:cs typeface="Aptos"/>
              </a:defRPr>
            </a:pPr>
            <a:r>
              <a:rPr sz="900" b="1">
                <a:solidFill>
                  <a:srgbClr val="6F7C61"/>
                </a:solidFill>
                <a:latin typeface="Aptos"/>
                <a:ea typeface="Aptos"/>
                <a:cs typeface="Aptos"/>
              </a:rPr>
              <a:t>DATASET DESIGN</a:t>
            </a:r>
          </a:p>
        </p:txBody>
      </p:sp>
      <p:sp>
        <p:nvSpPr>
          <p:cNvPr id="4" name="">
            <a:extLst xmlns:a="http://schemas.openxmlformats.org/drawingml/2006/main">
              <a:ext uri="{FF2B5EF4-FFF2-40B4-BE49-F238E27FC236}">
                <a16:creationId xmlns:a16="http://schemas.microsoft.com/office/drawing/2014/main" id="{4CD9A661-8645-4733-B8A4-902C939BCD79}"/>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A layered dataset is necessary because different APKs support different claims</a:t>
            </a:r>
          </a:p>
        </p:txBody>
      </p:sp>
      <p:sp>
        <p:nvSpPr>
          <p:cNvPr id="5" name="">
            <a:extLst xmlns:a="http://schemas.openxmlformats.org/drawingml/2006/main">
              <a:ext uri="{FF2B5EF4-FFF2-40B4-BE49-F238E27FC236}">
                <a16:creationId xmlns:a16="http://schemas.microsoft.com/office/drawing/2014/main" id="{42078B4C-F8A5-4D35-8DF4-051CE94866EE}"/>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8290A6"/>
                </a:solidFill>
                <a:latin typeface="Aptos"/>
                <a:ea typeface="Aptos"/>
                <a:cs typeface="Aptos"/>
              </a:defRPr>
            </a:pPr>
            <a:r>
              <a:rPr sz="900" b="1">
                <a:solidFill>
                  <a:srgbClr val="8290A6"/>
                </a:solidFill>
                <a:latin typeface="Aptos"/>
                <a:ea typeface="Aptos"/>
                <a:cs typeface="Aptos"/>
              </a:rPr>
              <a:t>15</a:t>
            </a:r>
          </a:p>
        </p:txBody>
      </p:sp>
      <p:sp>
        <p:nvSpPr>
          <p:cNvPr id="6" name="">
            <a:extLst xmlns:a="http://schemas.openxmlformats.org/drawingml/2006/main">
              <a:ext uri="{FF2B5EF4-FFF2-40B4-BE49-F238E27FC236}">
                <a16:creationId xmlns:a16="http://schemas.microsoft.com/office/drawing/2014/main" id="{351A1110-6DEF-428B-B8DD-0AA9875195FA}"/>
              </a:ext>
            </a:extLst>
          </p:cNvPr>
          <p:cNvSpPr>
            <a:spLocks xmlns:a="http://schemas.openxmlformats.org/drawingml/2006/main" noGrp="1"/>
          </p:cNvSpPr>
          <p:nvPr/>
        </p:nvSpPr>
        <p:spPr>
          <a:xfrm xmlns:a="http://schemas.openxmlformats.org/drawingml/2006/main">
            <a:off x="952500" y="1524000"/>
            <a:ext cx="10287000" cy="647700"/>
          </a:xfrm>
          <a:prstGeom xmlns:a="http://schemas.openxmlformats.org/drawingml/2006/main" prst="rect">
            <a:avLst/>
          </a:prstGeom>
          <a:solidFill xmlns:a="http://schemas.openxmlformats.org/drawingml/2006/main">
            <a:srgbClr val="22303C"/>
          </a:solidFill>
          <a:ln xmlns:a="http://schemas.openxmlformats.org/drawingml/2006/main" w="9525">
            <a:solidFill>
              <a:srgbClr val="6F7C61"/>
            </a:solidFill>
            <a:prstDash val="solid"/>
          </a:ln>
        </p:spPr>
      </p:sp>
      <p:sp>
        <p:nvSpPr>
          <p:cNvPr id="7" name="">
            <a:extLst xmlns:a="http://schemas.openxmlformats.org/drawingml/2006/main">
              <a:ext uri="{FF2B5EF4-FFF2-40B4-BE49-F238E27FC236}">
                <a16:creationId xmlns:a16="http://schemas.microsoft.com/office/drawing/2014/main" id="{81FF26E3-0838-413A-AEC7-74B5ABCF94AE}"/>
              </a:ext>
            </a:extLst>
          </p:cNvPr>
          <p:cNvSpPr>
            <a:spLocks xmlns:a="http://schemas.openxmlformats.org/drawingml/2006/main" noGrp="1"/>
          </p:cNvSpPr>
          <p:nvPr/>
        </p:nvSpPr>
        <p:spPr>
          <a:xfrm xmlns:a="http://schemas.openxmlformats.org/drawingml/2006/main">
            <a:off x="1181100" y="167640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6F7C61"/>
                </a:solidFill>
                <a:latin typeface="Aptos"/>
                <a:ea typeface="Aptos"/>
                <a:cs typeface="Aptos"/>
              </a:defRPr>
            </a:pPr>
            <a:r>
              <a:rPr sz="1275" b="1">
                <a:solidFill>
                  <a:srgbClr val="6F7C61"/>
                </a:solidFill>
                <a:latin typeface="Aptos"/>
                <a:ea typeface="Aptos"/>
                <a:cs typeface="Aptos"/>
              </a:rPr>
              <a:t>L1  CONTROLLED</a:t>
            </a:r>
          </a:p>
        </p:txBody>
      </p:sp>
      <p:sp>
        <p:nvSpPr>
          <p:cNvPr id="8" name="">
            <a:extLst xmlns:a="http://schemas.openxmlformats.org/drawingml/2006/main">
              <a:ext uri="{FF2B5EF4-FFF2-40B4-BE49-F238E27FC236}">
                <a16:creationId xmlns:a16="http://schemas.microsoft.com/office/drawing/2014/main" id="{82E697EB-9D09-481F-AD19-394C64DF51AC}"/>
              </a:ext>
            </a:extLst>
          </p:cNvPr>
          <p:cNvSpPr>
            <a:spLocks xmlns:a="http://schemas.openxmlformats.org/drawingml/2006/main" noGrp="1"/>
          </p:cNvSpPr>
          <p:nvPr/>
        </p:nvSpPr>
        <p:spPr>
          <a:xfrm xmlns:a="http://schemas.openxmlformats.org/drawingml/2006/main">
            <a:off x="3981450" y="1657350"/>
            <a:ext cx="7029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0">
                <a:solidFill>
                  <a:srgbClr val="BDC8D7"/>
                </a:solidFill>
                <a:latin typeface="Aptos"/>
                <a:ea typeface="Aptos"/>
                <a:cs typeface="Aptos"/>
              </a:defRPr>
            </a:pPr>
            <a:r>
              <a:rPr sz="975" b="0">
                <a:solidFill>
                  <a:srgbClr val="BDC8D7"/>
                </a:solidFill>
                <a:latin typeface="Aptos"/>
                <a:ea typeface="Aptos"/>
                <a:cs typeface="Aptos"/>
              </a:rPr>
              <a:t>Exact dependencies by construction  |  precision, recall, F1, version correctness</a:t>
            </a:r>
          </a:p>
        </p:txBody>
      </p:sp>
      <p:sp>
        <p:nvSpPr>
          <p:cNvPr id="9" name="">
            <a:extLst xmlns:a="http://schemas.openxmlformats.org/drawingml/2006/main">
              <a:ext uri="{FF2B5EF4-FFF2-40B4-BE49-F238E27FC236}">
                <a16:creationId xmlns:a16="http://schemas.microsoft.com/office/drawing/2014/main" id="{0B2D2C48-D355-41E0-B597-C6CB65CA0B82}"/>
              </a:ext>
            </a:extLst>
          </p:cNvPr>
          <p:cNvSpPr>
            <a:spLocks xmlns:a="http://schemas.openxmlformats.org/drawingml/2006/main" noGrp="1"/>
          </p:cNvSpPr>
          <p:nvPr/>
        </p:nvSpPr>
        <p:spPr>
          <a:xfrm xmlns:a="http://schemas.openxmlformats.org/drawingml/2006/main">
            <a:off x="1666875" y="2381250"/>
            <a:ext cx="8858250" cy="647700"/>
          </a:xfrm>
          <a:prstGeom xmlns:a="http://schemas.openxmlformats.org/drawingml/2006/main" prst="rect">
            <a:avLst/>
          </a:prstGeom>
          <a:solidFill xmlns:a="http://schemas.openxmlformats.org/drawingml/2006/main">
            <a:srgbClr val="22303C"/>
          </a:solidFill>
          <a:ln xmlns:a="http://schemas.openxmlformats.org/drawingml/2006/main" w="9525">
            <a:solidFill>
              <a:srgbClr val="4F7D76"/>
            </a:solidFill>
            <a:prstDash val="solid"/>
          </a:ln>
        </p:spPr>
      </p:sp>
      <p:sp>
        <p:nvSpPr>
          <p:cNvPr id="10" name="">
            <a:extLst xmlns:a="http://schemas.openxmlformats.org/drawingml/2006/main">
              <a:ext uri="{FF2B5EF4-FFF2-40B4-BE49-F238E27FC236}">
                <a16:creationId xmlns:a16="http://schemas.microsoft.com/office/drawing/2014/main" id="{809B2248-ED89-47C2-9C52-23C9FA5AC1B7}"/>
              </a:ext>
            </a:extLst>
          </p:cNvPr>
          <p:cNvSpPr>
            <a:spLocks xmlns:a="http://schemas.openxmlformats.org/drawingml/2006/main" noGrp="1"/>
          </p:cNvSpPr>
          <p:nvPr/>
        </p:nvSpPr>
        <p:spPr>
          <a:xfrm xmlns:a="http://schemas.openxmlformats.org/drawingml/2006/main">
            <a:off x="1895475" y="25336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4F7D76"/>
                </a:solidFill>
                <a:latin typeface="Aptos"/>
                <a:ea typeface="Aptos"/>
                <a:cs typeface="Aptos"/>
              </a:defRPr>
            </a:pPr>
            <a:r>
              <a:rPr sz="1275" b="1">
                <a:solidFill>
                  <a:srgbClr val="4F7D76"/>
                </a:solidFill>
                <a:latin typeface="Aptos"/>
                <a:ea typeface="Aptos"/>
                <a:cs typeface="Aptos"/>
              </a:rPr>
              <a:t>L2  SOURCE-VALIDATED REAL</a:t>
            </a:r>
          </a:p>
        </p:txBody>
      </p:sp>
      <p:sp>
        <p:nvSpPr>
          <p:cNvPr id="11" name="">
            <a:extLst xmlns:a="http://schemas.openxmlformats.org/drawingml/2006/main">
              <a:ext uri="{FF2B5EF4-FFF2-40B4-BE49-F238E27FC236}">
                <a16:creationId xmlns:a16="http://schemas.microsoft.com/office/drawing/2014/main" id="{BB9949BB-6A81-40FB-B225-CE68FC7439AD}"/>
              </a:ext>
            </a:extLst>
          </p:cNvPr>
          <p:cNvSpPr>
            <a:spLocks xmlns:a="http://schemas.openxmlformats.org/drawingml/2006/main" noGrp="1"/>
          </p:cNvSpPr>
          <p:nvPr/>
        </p:nvSpPr>
        <p:spPr>
          <a:xfrm xmlns:a="http://schemas.openxmlformats.org/drawingml/2006/main">
            <a:off x="4695825" y="25146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0">
                <a:solidFill>
                  <a:srgbClr val="BDC8D7"/>
                </a:solidFill>
                <a:latin typeface="Aptos"/>
                <a:ea typeface="Aptos"/>
                <a:cs typeface="Aptos"/>
              </a:defRPr>
            </a:pPr>
            <a:r>
              <a:rPr sz="975" b="0">
                <a:solidFill>
                  <a:srgbClr val="BDC8D7"/>
                </a:solidFill>
                <a:latin typeface="Aptos"/>
                <a:ea typeface="Aptos"/>
                <a:cs typeface="Aptos"/>
              </a:rPr>
              <a:t>APK + source tag + resolved dependency tree  |  emitted-version confirmation</a:t>
            </a:r>
          </a:p>
        </p:txBody>
      </p:sp>
      <p:sp>
        <p:nvSpPr>
          <p:cNvPr id="12" name="">
            <a:extLst xmlns:a="http://schemas.openxmlformats.org/drawingml/2006/main">
              <a:ext uri="{FF2B5EF4-FFF2-40B4-BE49-F238E27FC236}">
                <a16:creationId xmlns:a16="http://schemas.microsoft.com/office/drawing/2014/main" id="{87F3E76C-3682-43AF-B504-341350873DF8}"/>
              </a:ext>
            </a:extLst>
          </p:cNvPr>
          <p:cNvSpPr>
            <a:spLocks xmlns:a="http://schemas.openxmlformats.org/drawingml/2006/main" noGrp="1"/>
          </p:cNvSpPr>
          <p:nvPr/>
        </p:nvSpPr>
        <p:spPr>
          <a:xfrm xmlns:a="http://schemas.openxmlformats.org/drawingml/2006/main">
            <a:off x="2381250" y="3238500"/>
            <a:ext cx="7429500" cy="647700"/>
          </a:xfrm>
          <a:prstGeom xmlns:a="http://schemas.openxmlformats.org/drawingml/2006/main" prst="rect">
            <a:avLst/>
          </a:prstGeom>
          <a:solidFill xmlns:a="http://schemas.openxmlformats.org/drawingml/2006/main">
            <a:srgbClr val="22303C"/>
          </a:solidFill>
          <a:ln xmlns:a="http://schemas.openxmlformats.org/drawingml/2006/main" w="9525">
            <a:solidFill>
              <a:srgbClr val="365F7D"/>
            </a:solidFill>
            <a:prstDash val="solid"/>
          </a:ln>
        </p:spPr>
      </p:sp>
      <p:sp>
        <p:nvSpPr>
          <p:cNvPr id="13" name="">
            <a:extLst xmlns:a="http://schemas.openxmlformats.org/drawingml/2006/main">
              <a:ext uri="{FF2B5EF4-FFF2-40B4-BE49-F238E27FC236}">
                <a16:creationId xmlns:a16="http://schemas.microsoft.com/office/drawing/2014/main" id="{F137846F-5AD3-4DCB-B653-ECB1EDFA7DC9}"/>
              </a:ext>
            </a:extLst>
          </p:cNvPr>
          <p:cNvSpPr>
            <a:spLocks xmlns:a="http://schemas.openxmlformats.org/drawingml/2006/main" noGrp="1"/>
          </p:cNvSpPr>
          <p:nvPr/>
        </p:nvSpPr>
        <p:spPr>
          <a:xfrm xmlns:a="http://schemas.openxmlformats.org/drawingml/2006/main">
            <a:off x="2609850" y="339090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65F7D"/>
                </a:solidFill>
                <a:latin typeface="Aptos"/>
                <a:ea typeface="Aptos"/>
                <a:cs typeface="Aptos"/>
              </a:defRPr>
            </a:pPr>
            <a:r>
              <a:rPr sz="1275" b="1">
                <a:solidFill>
                  <a:srgbClr val="365F7D"/>
                </a:solidFill>
                <a:latin typeface="Aptos"/>
                <a:ea typeface="Aptos"/>
                <a:cs typeface="Aptos"/>
              </a:rPr>
              <a:t>L3 / L4  SOURCE-LINKED OR SMOKE</a:t>
            </a:r>
          </a:p>
        </p:txBody>
      </p:sp>
      <p:sp>
        <p:nvSpPr>
          <p:cNvPr id="14" name="">
            <a:extLst xmlns:a="http://schemas.openxmlformats.org/drawingml/2006/main">
              <a:ext uri="{FF2B5EF4-FFF2-40B4-BE49-F238E27FC236}">
                <a16:creationId xmlns:a16="http://schemas.microsoft.com/office/drawing/2014/main" id="{695FBC34-5EF0-4EEA-8DC6-DB3F832A78EC}"/>
              </a:ext>
            </a:extLst>
          </p:cNvPr>
          <p:cNvSpPr>
            <a:spLocks xmlns:a="http://schemas.openxmlformats.org/drawingml/2006/main" noGrp="1"/>
          </p:cNvSpPr>
          <p:nvPr/>
        </p:nvSpPr>
        <p:spPr>
          <a:xfrm xmlns:a="http://schemas.openxmlformats.org/drawingml/2006/main">
            <a:off x="5410200" y="3371850"/>
            <a:ext cx="417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0">
                <a:solidFill>
                  <a:srgbClr val="BDC8D7"/>
                </a:solidFill>
                <a:latin typeface="Aptos"/>
                <a:ea typeface="Aptos"/>
                <a:cs typeface="Aptos"/>
              </a:defRPr>
            </a:pPr>
            <a:r>
              <a:rPr sz="975" b="0">
                <a:solidFill>
                  <a:srgbClr val="BDC8D7"/>
                </a:solidFill>
                <a:latin typeface="Aptos"/>
                <a:ea typeface="Aptos"/>
                <a:cs typeface="Aptos"/>
              </a:rPr>
              <a:t>Qualitative robustness, runtime, parse success, report coverage</a:t>
            </a:r>
          </a:p>
        </p:txBody>
      </p:sp>
      <p:sp>
        <p:nvSpPr>
          <p:cNvPr id="15" name="">
            <a:extLst xmlns:a="http://schemas.openxmlformats.org/drawingml/2006/main">
              <a:ext uri="{FF2B5EF4-FFF2-40B4-BE49-F238E27FC236}">
                <a16:creationId xmlns:a16="http://schemas.microsoft.com/office/drawing/2014/main" id="{3CBC683A-83DF-44A7-A987-64E71372876A}"/>
              </a:ext>
            </a:extLst>
          </p:cNvPr>
          <p:cNvSpPr>
            <a:spLocks xmlns:a="http://schemas.openxmlformats.org/drawingml/2006/main" noGrp="1"/>
          </p:cNvSpPr>
          <p:nvPr/>
        </p:nvSpPr>
        <p:spPr>
          <a:xfrm xmlns:a="http://schemas.openxmlformats.org/drawingml/2006/main">
            <a:off x="3095625" y="4095750"/>
            <a:ext cx="6000750" cy="647700"/>
          </a:xfrm>
          <a:prstGeom xmlns:a="http://schemas.openxmlformats.org/drawingml/2006/main" prst="rect">
            <a:avLst/>
          </a:prstGeom>
          <a:solidFill xmlns:a="http://schemas.openxmlformats.org/drawingml/2006/main">
            <a:srgbClr val="22303C"/>
          </a:solidFill>
          <a:ln xmlns:a="http://schemas.openxmlformats.org/drawingml/2006/main" w="9525">
            <a:solidFill>
              <a:srgbClr val="655F73"/>
            </a:solidFill>
            <a:prstDash val="solid"/>
          </a:ln>
        </p:spPr>
      </p:sp>
      <p:sp>
        <p:nvSpPr>
          <p:cNvPr id="16" name="">
            <a:extLst xmlns:a="http://schemas.openxmlformats.org/drawingml/2006/main">
              <a:ext uri="{FF2B5EF4-FFF2-40B4-BE49-F238E27FC236}">
                <a16:creationId xmlns:a16="http://schemas.microsoft.com/office/drawing/2014/main" id="{8053CC01-9DAD-4F81-8FEB-D7B822756608}"/>
              </a:ext>
            </a:extLst>
          </p:cNvPr>
          <p:cNvSpPr>
            <a:spLocks xmlns:a="http://schemas.openxmlformats.org/drawingml/2006/main" noGrp="1"/>
          </p:cNvSpPr>
          <p:nvPr/>
        </p:nvSpPr>
        <p:spPr>
          <a:xfrm xmlns:a="http://schemas.openxmlformats.org/drawingml/2006/main">
            <a:off x="3324225" y="42481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655F73"/>
                </a:solidFill>
                <a:latin typeface="Aptos"/>
                <a:ea typeface="Aptos"/>
                <a:cs typeface="Aptos"/>
              </a:defRPr>
            </a:pPr>
            <a:r>
              <a:rPr sz="1275" b="1">
                <a:solidFill>
                  <a:srgbClr val="655F73"/>
                </a:solidFill>
                <a:latin typeface="Aptos"/>
                <a:ea typeface="Aptos"/>
                <a:cs typeface="Aptos"/>
              </a:rPr>
              <a:t>L5  LIMITATION</a:t>
            </a:r>
          </a:p>
        </p:txBody>
      </p:sp>
      <p:sp>
        <p:nvSpPr>
          <p:cNvPr id="17" name="">
            <a:extLst xmlns:a="http://schemas.openxmlformats.org/drawingml/2006/main">
              <a:ext uri="{FF2B5EF4-FFF2-40B4-BE49-F238E27FC236}">
                <a16:creationId xmlns:a16="http://schemas.microsoft.com/office/drawing/2014/main" id="{E23D5F20-90D7-4CA9-8087-0E44B1E0A228}"/>
              </a:ext>
            </a:extLst>
          </p:cNvPr>
          <p:cNvSpPr>
            <a:spLocks xmlns:a="http://schemas.openxmlformats.org/drawingml/2006/main" noGrp="1"/>
          </p:cNvSpPr>
          <p:nvPr/>
        </p:nvSpPr>
        <p:spPr>
          <a:xfrm xmlns:a="http://schemas.openxmlformats.org/drawingml/2006/main">
            <a:off x="6124575" y="4229100"/>
            <a:ext cx="2743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0">
                <a:solidFill>
                  <a:srgbClr val="BDC8D7"/>
                </a:solidFill>
                <a:latin typeface="Aptos"/>
                <a:ea typeface="Aptos"/>
                <a:cs typeface="Aptos"/>
              </a:defRPr>
            </a:pPr>
            <a:r>
              <a:rPr sz="975" b="0">
                <a:solidFill>
                  <a:srgbClr val="BDC8D7"/>
                </a:solidFill>
                <a:latin typeface="Aptos"/>
                <a:ea typeface="Aptos"/>
                <a:cs typeface="Aptos"/>
              </a:rPr>
              <a:t>Native, hidden DEX, protected or framework boundaries</a:t>
            </a:r>
          </a:p>
        </p:txBody>
      </p:sp>
      <p:sp>
        <p:nvSpPr>
          <p:cNvPr id="18" name="">
            <a:extLst xmlns:a="http://schemas.openxmlformats.org/drawingml/2006/main">
              <a:ext uri="{FF2B5EF4-FFF2-40B4-BE49-F238E27FC236}">
                <a16:creationId xmlns:a16="http://schemas.microsoft.com/office/drawing/2014/main" id="{8003573F-B5C9-4219-AC46-D4F6481224B8}"/>
              </a:ext>
            </a:extLst>
          </p:cNvPr>
          <p:cNvSpPr>
            <a:spLocks xmlns:a="http://schemas.openxmlformats.org/drawingml/2006/main" noGrp="1"/>
          </p:cNvSpPr>
          <p:nvPr/>
        </p:nvSpPr>
        <p:spPr>
          <a:xfrm xmlns:a="http://schemas.openxmlformats.org/drawingml/2006/main">
            <a:off x="685800" y="5143500"/>
            <a:ext cx="10820400" cy="59055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19" name="">
            <a:extLst xmlns:a="http://schemas.openxmlformats.org/drawingml/2006/main">
              <a:ext uri="{FF2B5EF4-FFF2-40B4-BE49-F238E27FC236}">
                <a16:creationId xmlns:a16="http://schemas.microsoft.com/office/drawing/2014/main" id="{DCF97201-0145-49CF-BDE6-AB5EDB09618A}"/>
              </a:ext>
            </a:extLst>
          </p:cNvPr>
          <p:cNvSpPr>
            <a:spLocks xmlns:a="http://schemas.openxmlformats.org/drawingml/2006/main" noGrp="1"/>
          </p:cNvSpPr>
          <p:nvPr/>
        </p:nvSpPr>
        <p:spPr>
          <a:xfrm xmlns:a="http://schemas.openxmlformats.org/drawingml/2006/main">
            <a:off x="876300" y="5314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A65C55"/>
                </a:solidFill>
                <a:latin typeface="Aptos"/>
                <a:ea typeface="Aptos"/>
                <a:cs typeface="Aptos"/>
              </a:defRPr>
            </a:pPr>
            <a:r>
              <a:rPr sz="825" b="1">
                <a:solidFill>
                  <a:srgbClr val="A65C55"/>
                </a:solidFill>
                <a:latin typeface="Aptos"/>
                <a:ea typeface="Aptos"/>
                <a:cs typeface="Aptos"/>
              </a:rPr>
              <a:t>RULE</a:t>
            </a:r>
          </a:p>
        </p:txBody>
      </p:sp>
      <p:sp>
        <p:nvSpPr>
          <p:cNvPr id="20" name="">
            <a:extLst xmlns:a="http://schemas.openxmlformats.org/drawingml/2006/main">
              <a:ext uri="{FF2B5EF4-FFF2-40B4-BE49-F238E27FC236}">
                <a16:creationId xmlns:a16="http://schemas.microsoft.com/office/drawing/2014/main" id="{6F5CFFFD-071C-4350-B293-E340BE75C34F}"/>
              </a:ext>
            </a:extLst>
          </p:cNvPr>
          <p:cNvSpPr>
            <a:spLocks xmlns:a="http://schemas.openxmlformats.org/drawingml/2006/main" noGrp="1"/>
          </p:cNvSpPr>
          <p:nvPr/>
        </p:nvSpPr>
        <p:spPr>
          <a:xfrm xmlns:a="http://schemas.openxmlformats.org/drawingml/2006/main">
            <a:off x="2343150" y="52673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Never use a smoke or limitation APK to claim precision, recall, or exact-version accuracy.</a:t>
            </a:r>
          </a:p>
        </p:txBody>
      </p:sp>
      <p:sp>
        <p:nvSpPr>
          <p:cNvPr id="21" name="">
            <a:extLst xmlns:a="http://schemas.openxmlformats.org/drawingml/2006/main">
              <a:ext uri="{FF2B5EF4-FFF2-40B4-BE49-F238E27FC236}">
                <a16:creationId xmlns:a16="http://schemas.microsoft.com/office/drawing/2014/main" id="{B34DDA6A-A084-46C9-80A8-8190052082E3}"/>
              </a:ext>
            </a:extLst>
          </p:cNvPr>
          <p:cNvSpPr>
            <a:spLocks xmlns:a="http://schemas.openxmlformats.org/drawingml/2006/main" noGrp="1"/>
          </p:cNvSpPr>
          <p:nvPr/>
        </p:nvSpPr>
        <p:spPr>
          <a:xfrm xmlns:a="http://schemas.openxmlformats.org/drawingml/2006/main">
            <a:off x="685800" y="600075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D86EF5E-56C3-4929-99EC-7D74B1ACDAFD}"/>
              </a:ext>
            </a:extLst>
          </p:cNvPr>
          <p:cNvSpPr>
            <a:spLocks xmlns:a="http://schemas.openxmlformats.org/drawingml/2006/main" noGrp="1"/>
          </p:cNvSpPr>
          <p:nvPr/>
        </p:nvSpPr>
        <p:spPr>
          <a:xfrm xmlns:a="http://schemas.openxmlformats.org/drawingml/2006/main">
            <a:off x="819150" y="60674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Design source: docs/evaluation/DATASET_DESIGN.md</a:t>
            </a:r>
          </a:p>
        </p:txBody>
      </p:sp>
      <p:sp>
        <p:nvSpPr>
          <p:cNvPr id="23" name="">
            <a:extLst xmlns:a="http://schemas.openxmlformats.org/drawingml/2006/main">
              <a:ext uri="{FF2B5EF4-FFF2-40B4-BE49-F238E27FC236}">
                <a16:creationId xmlns:a16="http://schemas.microsoft.com/office/drawing/2014/main" id="{96857562-E2A6-41FB-A2D8-BC5F9A126B28}"/>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014772440"/>
      </p:ext>
    </p:extLst>
  </p:cSld>
</p:sld>
</file>

<file path=ppt/slides/slide16.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CADE82C-64C6-42B8-BC60-DF6D12B6335E}"/>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365F7D"/>
                </a:solidFill>
                <a:latin typeface="Aptos"/>
                <a:ea typeface="Aptos"/>
                <a:cs typeface="Aptos"/>
              </a:defRPr>
            </a:pPr>
            <a:r>
              <a:rPr sz="900" b="1">
                <a:solidFill>
                  <a:srgbClr val="365F7D"/>
                </a:solidFill>
                <a:latin typeface="Aptos"/>
                <a:ea typeface="Aptos"/>
                <a:cs typeface="Aptos"/>
              </a:rPr>
              <a:t>DATASET COLLECTION</a:t>
            </a:r>
          </a:p>
        </p:txBody>
      </p:sp>
      <p:sp>
        <p:nvSpPr>
          <p:cNvPr id="2" name="">
            <a:extLst xmlns:a="http://schemas.openxmlformats.org/drawingml/2006/main">
              <a:ext uri="{FF2B5EF4-FFF2-40B4-BE49-F238E27FC236}">
                <a16:creationId xmlns:a16="http://schemas.microsoft.com/office/drawing/2014/main" id="{178D1C7E-8028-49F4-BF13-58E9177E8639}"/>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Every real APK proof bundle connects binary, source, dependency tree, and report</a:t>
            </a:r>
          </a:p>
        </p:txBody>
      </p:sp>
      <p:sp>
        <p:nvSpPr>
          <p:cNvPr id="3" name="">
            <a:extLst xmlns:a="http://schemas.openxmlformats.org/drawingml/2006/main">
              <a:ext uri="{FF2B5EF4-FFF2-40B4-BE49-F238E27FC236}">
                <a16:creationId xmlns:a16="http://schemas.microsoft.com/office/drawing/2014/main" id="{007E5A25-5543-465D-A393-98FE2AB313C2}"/>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16</a:t>
            </a:r>
          </a:p>
        </p:txBody>
      </p:sp>
      <p:sp>
        <p:nvSpPr>
          <p:cNvPr id="4" name="">
            <a:extLst xmlns:a="http://schemas.openxmlformats.org/drawingml/2006/main">
              <a:ext uri="{FF2B5EF4-FFF2-40B4-BE49-F238E27FC236}">
                <a16:creationId xmlns:a16="http://schemas.microsoft.com/office/drawing/2014/main" id="{F2C9F15D-1EC7-4E51-9D60-FE2381B8BC02}"/>
              </a:ext>
            </a:extLst>
          </p:cNvPr>
          <p:cNvSpPr>
            <a:spLocks xmlns:a="http://schemas.openxmlformats.org/drawingml/2006/main" noGrp="1"/>
          </p:cNvSpPr>
          <p:nvPr/>
        </p:nvSpPr>
        <p:spPr>
          <a:xfrm xmlns:a="http://schemas.openxmlformats.org/drawingml/2006/main">
            <a:off x="1314450" y="1581150"/>
            <a:ext cx="514350" cy="5143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903A997-66B2-4924-8683-362215FA6255}"/>
              </a:ext>
            </a:extLst>
          </p:cNvPr>
          <p:cNvSpPr>
            <a:spLocks xmlns:a="http://schemas.openxmlformats.org/drawingml/2006/main" noGrp="1"/>
          </p:cNvSpPr>
          <p:nvPr/>
        </p:nvSpPr>
        <p:spPr>
          <a:xfrm xmlns:a="http://schemas.openxmlformats.org/drawingml/2006/main">
            <a:off x="13144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1">
                <a:solidFill>
                  <a:srgbClr val="FFFFFF"/>
                </a:solidFill>
                <a:latin typeface="Aptos"/>
                <a:ea typeface="Aptos"/>
                <a:cs typeface="Aptos"/>
              </a:defRPr>
            </a:pPr>
            <a:r>
              <a:rPr sz="975" b="1">
                <a:solidFill>
                  <a:srgbClr val="FFFFFF"/>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ED04C055-A6EE-4F73-9E46-123825857AA7}"/>
              </a:ext>
            </a:extLst>
          </p:cNvPr>
          <p:cNvSpPr>
            <a:spLocks xmlns:a="http://schemas.openxmlformats.org/drawingml/2006/main" noGrp="1"/>
          </p:cNvSpPr>
          <p:nvPr/>
        </p:nvSpPr>
        <p:spPr>
          <a:xfrm xmlns:a="http://schemas.openxmlformats.org/drawingml/2006/main">
            <a:off x="5905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7" name="">
            <a:extLst xmlns:a="http://schemas.openxmlformats.org/drawingml/2006/main">
              <a:ext uri="{FF2B5EF4-FFF2-40B4-BE49-F238E27FC236}">
                <a16:creationId xmlns:a16="http://schemas.microsoft.com/office/drawing/2014/main" id="{EA095C79-0B6C-45AC-8A2E-45E975E81967}"/>
              </a:ext>
            </a:extLst>
          </p:cNvPr>
          <p:cNvSpPr>
            <a:spLocks xmlns:a="http://schemas.openxmlformats.org/drawingml/2006/main" noGrp="1"/>
          </p:cNvSpPr>
          <p:nvPr/>
        </p:nvSpPr>
        <p:spPr>
          <a:xfrm xmlns:a="http://schemas.openxmlformats.org/drawingml/2006/main">
            <a:off x="7620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365F7D"/>
                </a:solidFill>
                <a:latin typeface="Aptos"/>
                <a:ea typeface="Aptos"/>
                <a:cs typeface="Aptos"/>
              </a:defRPr>
            </a:pPr>
            <a:r>
              <a:rPr sz="1425" b="1">
                <a:solidFill>
                  <a:srgbClr val="365F7D"/>
                </a:solidFill>
                <a:latin typeface="Aptos"/>
                <a:ea typeface="Aptos"/>
                <a:cs typeface="Aptos"/>
              </a:rPr>
              <a:t>Acquire APK</a:t>
            </a:r>
          </a:p>
        </p:txBody>
      </p:sp>
      <p:sp>
        <p:nvSpPr>
          <p:cNvPr id="8" name="">
            <a:extLst xmlns:a="http://schemas.openxmlformats.org/drawingml/2006/main">
              <a:ext uri="{FF2B5EF4-FFF2-40B4-BE49-F238E27FC236}">
                <a16:creationId xmlns:a16="http://schemas.microsoft.com/office/drawing/2014/main" id="{BC1118B4-ABBB-4825-9CA5-EE6FF4A7E5DC}"/>
              </a:ext>
            </a:extLst>
          </p:cNvPr>
          <p:cNvSpPr>
            <a:spLocks xmlns:a="http://schemas.openxmlformats.org/drawingml/2006/main" noGrp="1"/>
          </p:cNvSpPr>
          <p:nvPr/>
        </p:nvSpPr>
        <p:spPr>
          <a:xfrm xmlns:a="http://schemas.openxmlformats.org/drawingml/2006/main">
            <a:off x="7620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0">
                <a:solidFill>
                  <a:srgbClr val="202A33"/>
                </a:solidFill>
                <a:latin typeface="Aptos"/>
                <a:ea typeface="Aptos"/>
                <a:cs typeface="Aptos"/>
              </a:defRPr>
            </a:pPr>
            <a:r>
              <a:rPr sz="975" b="0">
                <a:solidFill>
                  <a:srgbClr val="202A33"/>
                </a:solidFill>
                <a:latin typeface="Aptos"/>
                <a:ea typeface="Aptos"/>
                <a:cs typeface="Aptos"/>
              </a:rPr>
              <a:t>F-Droid / GitHub release</a:t>
            </a:r>
          </a:p>
          <a:p xmlns:a="http://schemas.openxmlformats.org/drawingml/2006/main">
            <a:pPr algn="ctr">
              <a:buNone/>
              <a:defRPr sz="975" b="0">
                <a:solidFill>
                  <a:srgbClr val="202A33"/>
                </a:solidFill>
                <a:latin typeface="Aptos"/>
                <a:ea typeface="Aptos"/>
                <a:cs typeface="Aptos"/>
              </a:defRPr>
            </a:pPr>
            <a:r>
              <a:rPr sz="975" b="0">
                <a:solidFill>
                  <a:srgbClr val="202A33"/>
                </a:solidFill>
                <a:latin typeface="Aptos"/>
                <a:ea typeface="Aptos"/>
                <a:cs typeface="Aptos"/>
              </a:rPr>
              <a:t>record SHA-256</a:t>
            </a:r>
          </a:p>
        </p:txBody>
      </p:sp>
      <p:sp>
        <p:nvSpPr>
          <p:cNvPr id="9" name="rule">
            <a:extLst xmlns:a="http://schemas.openxmlformats.org/drawingml/2006/main">
              <a:ext uri="{FF2B5EF4-FFF2-40B4-BE49-F238E27FC236}">
                <a16:creationId xmlns:a16="http://schemas.microsoft.com/office/drawing/2014/main" id="{22D782A4-E915-42EF-A667-894AB3802377}"/>
              </a:ext>
            </a:extLst>
          </p:cNvPr>
          <p:cNvSpPr>
            <a:spLocks xmlns:a="http://schemas.openxmlformats.org/drawingml/2006/main" noGrp="1"/>
          </p:cNvSpPr>
          <p:nvPr/>
        </p:nvSpPr>
        <p:spPr>
          <a:xfrm xmlns:a="http://schemas.openxmlformats.org/drawingml/2006/main">
            <a:off x="2552700" y="3362325"/>
            <a:ext cx="2095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48A1825-6DFD-4FE0-8761-19B123EE9CD2}"/>
              </a:ext>
            </a:extLst>
          </p:cNvPr>
          <p:cNvSpPr>
            <a:spLocks xmlns:a="http://schemas.openxmlformats.org/drawingml/2006/main" noGrp="1"/>
          </p:cNvSpPr>
          <p:nvPr/>
        </p:nvSpPr>
        <p:spPr>
          <a:xfrm xmlns:a="http://schemas.openxmlformats.org/drawingml/2006/main">
            <a:off x="2686050" y="32766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2722519-C3B9-4E06-9D8B-CF12E54C7655}"/>
              </a:ext>
            </a:extLst>
          </p:cNvPr>
          <p:cNvSpPr>
            <a:spLocks xmlns:a="http://schemas.openxmlformats.org/drawingml/2006/main" noGrp="1"/>
          </p:cNvSpPr>
          <p:nvPr/>
        </p:nvSpPr>
        <p:spPr>
          <a:xfrm xmlns:a="http://schemas.openxmlformats.org/drawingml/2006/main">
            <a:off x="3638550" y="1581150"/>
            <a:ext cx="514350" cy="5143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4E582D6-B302-4E9A-B8A4-798A820E8154}"/>
              </a:ext>
            </a:extLst>
          </p:cNvPr>
          <p:cNvSpPr>
            <a:spLocks xmlns:a="http://schemas.openxmlformats.org/drawingml/2006/main" noGrp="1"/>
          </p:cNvSpPr>
          <p:nvPr/>
        </p:nvSpPr>
        <p:spPr>
          <a:xfrm xmlns:a="http://schemas.openxmlformats.org/drawingml/2006/main">
            <a:off x="36385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1">
                <a:solidFill>
                  <a:srgbClr val="FFFFFF"/>
                </a:solidFill>
                <a:latin typeface="Aptos"/>
                <a:ea typeface="Aptos"/>
                <a:cs typeface="Aptos"/>
              </a:defRPr>
            </a:pPr>
            <a:r>
              <a:rPr sz="975"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ACF262F8-3A09-45D1-AA78-E27B99296F3F}"/>
              </a:ext>
            </a:extLst>
          </p:cNvPr>
          <p:cNvSpPr>
            <a:spLocks xmlns:a="http://schemas.openxmlformats.org/drawingml/2006/main" noGrp="1"/>
          </p:cNvSpPr>
          <p:nvPr/>
        </p:nvSpPr>
        <p:spPr>
          <a:xfrm xmlns:a="http://schemas.openxmlformats.org/drawingml/2006/main">
            <a:off x="29146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4" name="">
            <a:extLst xmlns:a="http://schemas.openxmlformats.org/drawingml/2006/main">
              <a:ext uri="{FF2B5EF4-FFF2-40B4-BE49-F238E27FC236}">
                <a16:creationId xmlns:a16="http://schemas.microsoft.com/office/drawing/2014/main" id="{9C9C5237-71A9-4937-9F9D-39FCBA31D329}"/>
              </a:ext>
            </a:extLst>
          </p:cNvPr>
          <p:cNvSpPr>
            <a:spLocks xmlns:a="http://schemas.openxmlformats.org/drawingml/2006/main" noGrp="1"/>
          </p:cNvSpPr>
          <p:nvPr/>
        </p:nvSpPr>
        <p:spPr>
          <a:xfrm xmlns:a="http://schemas.openxmlformats.org/drawingml/2006/main">
            <a:off x="30861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4F7D76"/>
                </a:solidFill>
                <a:latin typeface="Aptos"/>
                <a:ea typeface="Aptos"/>
                <a:cs typeface="Aptos"/>
              </a:defRPr>
            </a:pPr>
            <a:r>
              <a:rPr sz="1425" b="1">
                <a:solidFill>
                  <a:srgbClr val="4F7D76"/>
                </a:solidFill>
                <a:latin typeface="Aptos"/>
                <a:ea typeface="Aptos"/>
                <a:cs typeface="Aptos"/>
              </a:rPr>
              <a:t>Pin source</a:t>
            </a:r>
          </a:p>
        </p:txBody>
      </p:sp>
      <p:sp>
        <p:nvSpPr>
          <p:cNvPr id="15" name="">
            <a:extLst xmlns:a="http://schemas.openxmlformats.org/drawingml/2006/main">
              <a:ext uri="{FF2B5EF4-FFF2-40B4-BE49-F238E27FC236}">
                <a16:creationId xmlns:a16="http://schemas.microsoft.com/office/drawing/2014/main" id="{10485E5C-E33B-4BC3-B824-485E72EB592E}"/>
              </a:ext>
            </a:extLst>
          </p:cNvPr>
          <p:cNvSpPr>
            <a:spLocks xmlns:a="http://schemas.openxmlformats.org/drawingml/2006/main" noGrp="1"/>
          </p:cNvSpPr>
          <p:nvPr/>
        </p:nvSpPr>
        <p:spPr>
          <a:xfrm xmlns:a="http://schemas.openxmlformats.org/drawingml/2006/main">
            <a:off x="30861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0">
                <a:solidFill>
                  <a:srgbClr val="202A33"/>
                </a:solidFill>
                <a:latin typeface="Aptos"/>
                <a:ea typeface="Aptos"/>
                <a:cs typeface="Aptos"/>
              </a:defRPr>
            </a:pPr>
            <a:r>
              <a:rPr sz="975" b="0">
                <a:solidFill>
                  <a:srgbClr val="202A33"/>
                </a:solidFill>
                <a:latin typeface="Aptos"/>
                <a:ea typeface="Aptos"/>
                <a:cs typeface="Aptos"/>
              </a:rPr>
              <a:t>matching tag or commit</a:t>
            </a:r>
          </a:p>
          <a:p xmlns:a="http://schemas.openxmlformats.org/drawingml/2006/main">
            <a:pPr algn="ctr">
              <a:buNone/>
              <a:defRPr sz="975" b="0">
                <a:solidFill>
                  <a:srgbClr val="202A33"/>
                </a:solidFill>
                <a:latin typeface="Aptos"/>
                <a:ea typeface="Aptos"/>
                <a:cs typeface="Aptos"/>
              </a:defRPr>
            </a:pPr>
            <a:r>
              <a:rPr sz="975" b="0">
                <a:solidFill>
                  <a:srgbClr val="202A33"/>
                </a:solidFill>
                <a:latin typeface="Aptos"/>
                <a:ea typeface="Aptos"/>
                <a:cs typeface="Aptos"/>
              </a:rPr>
              <a:t>verify versionName/code</a:t>
            </a:r>
          </a:p>
        </p:txBody>
      </p:sp>
      <p:sp>
        <p:nvSpPr>
          <p:cNvPr id="16" name="rule">
            <a:extLst xmlns:a="http://schemas.openxmlformats.org/drawingml/2006/main">
              <a:ext uri="{FF2B5EF4-FFF2-40B4-BE49-F238E27FC236}">
                <a16:creationId xmlns:a16="http://schemas.microsoft.com/office/drawing/2014/main" id="{07353568-7E24-4F81-9620-AD0300F599AB}"/>
              </a:ext>
            </a:extLst>
          </p:cNvPr>
          <p:cNvSpPr>
            <a:spLocks xmlns:a="http://schemas.openxmlformats.org/drawingml/2006/main" noGrp="1"/>
          </p:cNvSpPr>
          <p:nvPr/>
        </p:nvSpPr>
        <p:spPr>
          <a:xfrm xmlns:a="http://schemas.openxmlformats.org/drawingml/2006/main">
            <a:off x="4876800" y="3362325"/>
            <a:ext cx="20955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17A2F90-6614-4D46-9FA4-4D8F299894FE}"/>
              </a:ext>
            </a:extLst>
          </p:cNvPr>
          <p:cNvSpPr>
            <a:spLocks xmlns:a="http://schemas.openxmlformats.org/drawingml/2006/main" noGrp="1"/>
          </p:cNvSpPr>
          <p:nvPr/>
        </p:nvSpPr>
        <p:spPr>
          <a:xfrm xmlns:a="http://schemas.openxmlformats.org/drawingml/2006/main">
            <a:off x="5010150" y="32766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296AAFC-5959-4E63-83AC-00062DF4F977}"/>
              </a:ext>
            </a:extLst>
          </p:cNvPr>
          <p:cNvSpPr>
            <a:spLocks xmlns:a="http://schemas.openxmlformats.org/drawingml/2006/main" noGrp="1"/>
          </p:cNvSpPr>
          <p:nvPr/>
        </p:nvSpPr>
        <p:spPr>
          <a:xfrm xmlns:a="http://schemas.openxmlformats.org/drawingml/2006/main">
            <a:off x="5962650" y="1581150"/>
            <a:ext cx="514350" cy="51435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FD4F102-064C-4F4D-8263-9F0CFDF5E240}"/>
              </a:ext>
            </a:extLst>
          </p:cNvPr>
          <p:cNvSpPr>
            <a:spLocks xmlns:a="http://schemas.openxmlformats.org/drawingml/2006/main" noGrp="1"/>
          </p:cNvSpPr>
          <p:nvPr/>
        </p:nvSpPr>
        <p:spPr>
          <a:xfrm xmlns:a="http://schemas.openxmlformats.org/drawingml/2006/main">
            <a:off x="59626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1">
                <a:solidFill>
                  <a:srgbClr val="FFFFFF"/>
                </a:solidFill>
                <a:latin typeface="Aptos"/>
                <a:ea typeface="Aptos"/>
                <a:cs typeface="Aptos"/>
              </a:defRPr>
            </a:pPr>
            <a:r>
              <a:rPr sz="975" b="1">
                <a:solidFill>
                  <a:srgbClr val="FFFFFF"/>
                </a:solidFill>
                <a:latin typeface="Aptos"/>
                <a:ea typeface="Aptos"/>
                <a:cs typeface="Aptos"/>
              </a:rPr>
              <a:t>3</a:t>
            </a:r>
          </a:p>
        </p:txBody>
      </p:sp>
      <p:sp>
        <p:nvSpPr>
          <p:cNvPr id="20" name="">
            <a:extLst xmlns:a="http://schemas.openxmlformats.org/drawingml/2006/main">
              <a:ext uri="{FF2B5EF4-FFF2-40B4-BE49-F238E27FC236}">
                <a16:creationId xmlns:a16="http://schemas.microsoft.com/office/drawing/2014/main" id="{C8912A63-2292-44FE-AF39-8933482775C5}"/>
              </a:ext>
            </a:extLst>
          </p:cNvPr>
          <p:cNvSpPr>
            <a:spLocks xmlns:a="http://schemas.openxmlformats.org/drawingml/2006/main" noGrp="1"/>
          </p:cNvSpPr>
          <p:nvPr/>
        </p:nvSpPr>
        <p:spPr>
          <a:xfrm xmlns:a="http://schemas.openxmlformats.org/drawingml/2006/main">
            <a:off x="52387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21" name="">
            <a:extLst xmlns:a="http://schemas.openxmlformats.org/drawingml/2006/main">
              <a:ext uri="{FF2B5EF4-FFF2-40B4-BE49-F238E27FC236}">
                <a16:creationId xmlns:a16="http://schemas.microsoft.com/office/drawing/2014/main" id="{3A6E57FC-74EB-4CCE-A058-10694C86322C}"/>
              </a:ext>
            </a:extLst>
          </p:cNvPr>
          <p:cNvSpPr>
            <a:spLocks xmlns:a="http://schemas.openxmlformats.org/drawingml/2006/main" noGrp="1"/>
          </p:cNvSpPr>
          <p:nvPr/>
        </p:nvSpPr>
        <p:spPr>
          <a:xfrm xmlns:a="http://schemas.openxmlformats.org/drawingml/2006/main">
            <a:off x="54102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655F73"/>
                </a:solidFill>
                <a:latin typeface="Aptos"/>
                <a:ea typeface="Aptos"/>
                <a:cs typeface="Aptos"/>
              </a:defRPr>
            </a:pPr>
            <a:r>
              <a:rPr sz="1425" b="1">
                <a:solidFill>
                  <a:srgbClr val="655F73"/>
                </a:solidFill>
                <a:latin typeface="Aptos"/>
                <a:ea typeface="Aptos"/>
                <a:cs typeface="Aptos"/>
              </a:rPr>
              <a:t>Resolve tree</a:t>
            </a:r>
          </a:p>
        </p:txBody>
      </p:sp>
      <p:sp>
        <p:nvSpPr>
          <p:cNvPr id="22" name="">
            <a:extLst xmlns:a="http://schemas.openxmlformats.org/drawingml/2006/main">
              <a:ext uri="{FF2B5EF4-FFF2-40B4-BE49-F238E27FC236}">
                <a16:creationId xmlns:a16="http://schemas.microsoft.com/office/drawing/2014/main" id="{83A486AD-314F-4F0A-8148-A750E144AD76}"/>
              </a:ext>
            </a:extLst>
          </p:cNvPr>
          <p:cNvSpPr>
            <a:spLocks xmlns:a="http://schemas.openxmlformats.org/drawingml/2006/main" noGrp="1"/>
          </p:cNvSpPr>
          <p:nvPr/>
        </p:nvSpPr>
        <p:spPr>
          <a:xfrm xmlns:a="http://schemas.openxmlformats.org/drawingml/2006/main">
            <a:off x="54102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0">
                <a:solidFill>
                  <a:srgbClr val="202A33"/>
                </a:solidFill>
                <a:latin typeface="Aptos"/>
                <a:ea typeface="Aptos"/>
                <a:cs typeface="Aptos"/>
              </a:defRPr>
            </a:pPr>
            <a:r>
              <a:rPr sz="975" b="0">
                <a:solidFill>
                  <a:srgbClr val="202A33"/>
                </a:solidFill>
                <a:latin typeface="Aptos"/>
                <a:ea typeface="Aptos"/>
                <a:cs typeface="Aptos"/>
              </a:rPr>
              <a:t>exact Gradle module +</a:t>
            </a:r>
          </a:p>
          <a:p xmlns:a="http://schemas.openxmlformats.org/drawingml/2006/main">
            <a:pPr algn="ctr">
              <a:buNone/>
              <a:defRPr sz="975" b="0">
                <a:solidFill>
                  <a:srgbClr val="202A33"/>
                </a:solidFill>
                <a:latin typeface="Aptos"/>
                <a:ea typeface="Aptos"/>
                <a:cs typeface="Aptos"/>
              </a:defRPr>
            </a:pPr>
            <a:r>
              <a:rPr sz="975" b="0">
                <a:solidFill>
                  <a:srgbClr val="202A33"/>
                </a:solidFill>
                <a:latin typeface="Aptos"/>
                <a:ea typeface="Aptos"/>
                <a:cs typeface="Aptos"/>
              </a:rPr>
              <a:t>runtime configuration</a:t>
            </a:r>
          </a:p>
        </p:txBody>
      </p:sp>
      <p:sp>
        <p:nvSpPr>
          <p:cNvPr id="23" name="rule">
            <a:extLst xmlns:a="http://schemas.openxmlformats.org/drawingml/2006/main">
              <a:ext uri="{FF2B5EF4-FFF2-40B4-BE49-F238E27FC236}">
                <a16:creationId xmlns:a16="http://schemas.microsoft.com/office/drawing/2014/main" id="{250A621C-F3A2-4C36-9D96-FB332C964F2F}"/>
              </a:ext>
            </a:extLst>
          </p:cNvPr>
          <p:cNvSpPr>
            <a:spLocks xmlns:a="http://schemas.openxmlformats.org/drawingml/2006/main" noGrp="1"/>
          </p:cNvSpPr>
          <p:nvPr/>
        </p:nvSpPr>
        <p:spPr>
          <a:xfrm xmlns:a="http://schemas.openxmlformats.org/drawingml/2006/main">
            <a:off x="7200900" y="3362325"/>
            <a:ext cx="20955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36BE99D-FA79-45FF-9FE3-999E5F842550}"/>
              </a:ext>
            </a:extLst>
          </p:cNvPr>
          <p:cNvSpPr>
            <a:spLocks xmlns:a="http://schemas.openxmlformats.org/drawingml/2006/main" noGrp="1"/>
          </p:cNvSpPr>
          <p:nvPr/>
        </p:nvSpPr>
        <p:spPr>
          <a:xfrm xmlns:a="http://schemas.openxmlformats.org/drawingml/2006/main">
            <a:off x="7334250" y="3276600"/>
            <a:ext cx="228600" cy="190500"/>
          </a:xfrm>
          <a:prstGeom xmlns:a="http://schemas.openxmlformats.org/drawingml/2006/main" prst="chevron">
            <a:avLst/>
          </a:prstGeom>
          <a:solidFill xmlns:a="http://schemas.openxmlformats.org/drawingml/2006/main">
            <a:srgbClr val="655F7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54FB46E-F9F9-4760-8231-7381C35E81EB}"/>
              </a:ext>
            </a:extLst>
          </p:cNvPr>
          <p:cNvSpPr>
            <a:spLocks xmlns:a="http://schemas.openxmlformats.org/drawingml/2006/main" noGrp="1"/>
          </p:cNvSpPr>
          <p:nvPr/>
        </p:nvSpPr>
        <p:spPr>
          <a:xfrm xmlns:a="http://schemas.openxmlformats.org/drawingml/2006/main">
            <a:off x="8286750" y="1581150"/>
            <a:ext cx="514350" cy="514350"/>
          </a:xfrm>
          <a:prstGeom xmlns:a="http://schemas.openxmlformats.org/drawingml/2006/main" prst="ellipse">
            <a:avLst/>
          </a:prstGeom>
          <a:solidFill xmlns:a="http://schemas.openxmlformats.org/drawingml/2006/main">
            <a:srgbClr val="6F7C6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B534B32-F923-4F58-881A-FAEEBA740BFE}"/>
              </a:ext>
            </a:extLst>
          </p:cNvPr>
          <p:cNvSpPr>
            <a:spLocks xmlns:a="http://schemas.openxmlformats.org/drawingml/2006/main" noGrp="1"/>
          </p:cNvSpPr>
          <p:nvPr/>
        </p:nvSpPr>
        <p:spPr>
          <a:xfrm xmlns:a="http://schemas.openxmlformats.org/drawingml/2006/main">
            <a:off x="82867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1">
                <a:solidFill>
                  <a:srgbClr val="FFFFFF"/>
                </a:solidFill>
                <a:latin typeface="Aptos"/>
                <a:ea typeface="Aptos"/>
                <a:cs typeface="Aptos"/>
              </a:defRPr>
            </a:pPr>
            <a:r>
              <a:rPr sz="975" b="1">
                <a:solidFill>
                  <a:srgbClr val="FFFFFF"/>
                </a:solidFill>
                <a:latin typeface="Aptos"/>
                <a:ea typeface="Aptos"/>
                <a:cs typeface="Aptos"/>
              </a:rPr>
              <a:t>4</a:t>
            </a:r>
          </a:p>
        </p:txBody>
      </p:sp>
      <p:sp>
        <p:nvSpPr>
          <p:cNvPr id="27" name="">
            <a:extLst xmlns:a="http://schemas.openxmlformats.org/drawingml/2006/main">
              <a:ext uri="{FF2B5EF4-FFF2-40B4-BE49-F238E27FC236}">
                <a16:creationId xmlns:a16="http://schemas.microsoft.com/office/drawing/2014/main" id="{5664B76E-DFD5-4418-A42A-560CD7FB5EAD}"/>
              </a:ext>
            </a:extLst>
          </p:cNvPr>
          <p:cNvSpPr>
            <a:spLocks xmlns:a="http://schemas.openxmlformats.org/drawingml/2006/main" noGrp="1"/>
          </p:cNvSpPr>
          <p:nvPr/>
        </p:nvSpPr>
        <p:spPr>
          <a:xfrm xmlns:a="http://schemas.openxmlformats.org/drawingml/2006/main">
            <a:off x="75628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28" name="">
            <a:extLst xmlns:a="http://schemas.openxmlformats.org/drawingml/2006/main">
              <a:ext uri="{FF2B5EF4-FFF2-40B4-BE49-F238E27FC236}">
                <a16:creationId xmlns:a16="http://schemas.microsoft.com/office/drawing/2014/main" id="{1DD00AFF-C722-4D7D-ADBF-3B238D15B22A}"/>
              </a:ext>
            </a:extLst>
          </p:cNvPr>
          <p:cNvSpPr>
            <a:spLocks xmlns:a="http://schemas.openxmlformats.org/drawingml/2006/main" noGrp="1"/>
          </p:cNvSpPr>
          <p:nvPr/>
        </p:nvSpPr>
        <p:spPr>
          <a:xfrm xmlns:a="http://schemas.openxmlformats.org/drawingml/2006/main">
            <a:off x="77343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6F7C61"/>
                </a:solidFill>
                <a:latin typeface="Aptos"/>
                <a:ea typeface="Aptos"/>
                <a:cs typeface="Aptos"/>
              </a:defRPr>
            </a:pPr>
            <a:r>
              <a:rPr sz="1425" b="1">
                <a:solidFill>
                  <a:srgbClr val="6F7C61"/>
                </a:solidFill>
                <a:latin typeface="Aptos"/>
                <a:ea typeface="Aptos"/>
                <a:cs typeface="Aptos"/>
              </a:rPr>
              <a:t>Run MVP</a:t>
            </a:r>
          </a:p>
        </p:txBody>
      </p:sp>
      <p:sp>
        <p:nvSpPr>
          <p:cNvPr id="29" name="">
            <a:extLst xmlns:a="http://schemas.openxmlformats.org/drawingml/2006/main">
              <a:ext uri="{FF2B5EF4-FFF2-40B4-BE49-F238E27FC236}">
                <a16:creationId xmlns:a16="http://schemas.microsoft.com/office/drawing/2014/main" id="{A02140F6-8372-4E27-8EEF-490534D6FD33}"/>
              </a:ext>
            </a:extLst>
          </p:cNvPr>
          <p:cNvSpPr>
            <a:spLocks xmlns:a="http://schemas.openxmlformats.org/drawingml/2006/main" noGrp="1"/>
          </p:cNvSpPr>
          <p:nvPr/>
        </p:nvSpPr>
        <p:spPr>
          <a:xfrm xmlns:a="http://schemas.openxmlformats.org/drawingml/2006/main">
            <a:off x="77343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0">
                <a:solidFill>
                  <a:srgbClr val="202A33"/>
                </a:solidFill>
                <a:latin typeface="Aptos"/>
                <a:ea typeface="Aptos"/>
                <a:cs typeface="Aptos"/>
              </a:defRPr>
            </a:pPr>
            <a:r>
              <a:rPr sz="975" b="0">
                <a:solidFill>
                  <a:srgbClr val="202A33"/>
                </a:solidFill>
                <a:latin typeface="Aptos"/>
                <a:ea typeface="Aptos"/>
                <a:cs typeface="Aptos"/>
              </a:rPr>
              <a:t>report + CycloneDX +</a:t>
            </a:r>
          </a:p>
          <a:p xmlns:a="http://schemas.openxmlformats.org/drawingml/2006/main">
            <a:pPr algn="ctr">
              <a:buNone/>
              <a:defRPr sz="975" b="0">
                <a:solidFill>
                  <a:srgbClr val="202A33"/>
                </a:solidFill>
                <a:latin typeface="Aptos"/>
                <a:ea typeface="Aptos"/>
                <a:cs typeface="Aptos"/>
              </a:defRPr>
            </a:pPr>
            <a:r>
              <a:rPr sz="975" b="0">
                <a:solidFill>
                  <a:srgbClr val="202A33"/>
                </a:solidFill>
                <a:latin typeface="Aptos"/>
                <a:ea typeface="Aptos"/>
                <a:cs typeface="Aptos"/>
              </a:rPr>
              <a:t>OSV artifacts</a:t>
            </a:r>
          </a:p>
        </p:txBody>
      </p:sp>
      <p:sp>
        <p:nvSpPr>
          <p:cNvPr id="30" name="rule">
            <a:extLst xmlns:a="http://schemas.openxmlformats.org/drawingml/2006/main">
              <a:ext uri="{FF2B5EF4-FFF2-40B4-BE49-F238E27FC236}">
                <a16:creationId xmlns:a16="http://schemas.microsoft.com/office/drawing/2014/main" id="{24BD9384-F3B2-4084-83E2-58DDFCD07823}"/>
              </a:ext>
            </a:extLst>
          </p:cNvPr>
          <p:cNvSpPr>
            <a:spLocks xmlns:a="http://schemas.openxmlformats.org/drawingml/2006/main" noGrp="1"/>
          </p:cNvSpPr>
          <p:nvPr/>
        </p:nvSpPr>
        <p:spPr>
          <a:xfrm xmlns:a="http://schemas.openxmlformats.org/drawingml/2006/main">
            <a:off x="9525000" y="3362325"/>
            <a:ext cx="20955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2F94043-DE68-41B1-8AC7-512FB851C629}"/>
              </a:ext>
            </a:extLst>
          </p:cNvPr>
          <p:cNvSpPr>
            <a:spLocks xmlns:a="http://schemas.openxmlformats.org/drawingml/2006/main" noGrp="1"/>
          </p:cNvSpPr>
          <p:nvPr/>
        </p:nvSpPr>
        <p:spPr>
          <a:xfrm xmlns:a="http://schemas.openxmlformats.org/drawingml/2006/main">
            <a:off x="9658350" y="3276600"/>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1BD7E8A-58E5-45F9-9CB4-5F6E33597BA7}"/>
              </a:ext>
            </a:extLst>
          </p:cNvPr>
          <p:cNvSpPr>
            <a:spLocks xmlns:a="http://schemas.openxmlformats.org/drawingml/2006/main" noGrp="1"/>
          </p:cNvSpPr>
          <p:nvPr/>
        </p:nvSpPr>
        <p:spPr>
          <a:xfrm xmlns:a="http://schemas.openxmlformats.org/drawingml/2006/main">
            <a:off x="10610850" y="1581150"/>
            <a:ext cx="514350" cy="5143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B902B7E-F145-4436-AFB7-AFDD6151962C}"/>
              </a:ext>
            </a:extLst>
          </p:cNvPr>
          <p:cNvSpPr>
            <a:spLocks xmlns:a="http://schemas.openxmlformats.org/drawingml/2006/main" noGrp="1"/>
          </p:cNvSpPr>
          <p:nvPr/>
        </p:nvSpPr>
        <p:spPr>
          <a:xfrm xmlns:a="http://schemas.openxmlformats.org/drawingml/2006/main">
            <a:off x="106108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1">
                <a:solidFill>
                  <a:srgbClr val="FFFFFF"/>
                </a:solidFill>
                <a:latin typeface="Aptos"/>
                <a:ea typeface="Aptos"/>
                <a:cs typeface="Aptos"/>
              </a:defRPr>
            </a:pPr>
            <a:r>
              <a:rPr sz="975" b="1">
                <a:solidFill>
                  <a:srgbClr val="FFFFFF"/>
                </a:solidFill>
                <a:latin typeface="Aptos"/>
                <a:ea typeface="Aptos"/>
                <a:cs typeface="Aptos"/>
              </a:rPr>
              <a:t>5</a:t>
            </a:r>
          </a:p>
        </p:txBody>
      </p:sp>
      <p:sp>
        <p:nvSpPr>
          <p:cNvPr id="34" name="">
            <a:extLst xmlns:a="http://schemas.openxmlformats.org/drawingml/2006/main">
              <a:ext uri="{FF2B5EF4-FFF2-40B4-BE49-F238E27FC236}">
                <a16:creationId xmlns:a16="http://schemas.microsoft.com/office/drawing/2014/main" id="{B807E00E-8A4D-40E1-8EA2-3AEEBC5ED7DC}"/>
              </a:ext>
            </a:extLst>
          </p:cNvPr>
          <p:cNvSpPr>
            <a:spLocks xmlns:a="http://schemas.openxmlformats.org/drawingml/2006/main" noGrp="1"/>
          </p:cNvSpPr>
          <p:nvPr/>
        </p:nvSpPr>
        <p:spPr>
          <a:xfrm xmlns:a="http://schemas.openxmlformats.org/drawingml/2006/main">
            <a:off x="98869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35" name="">
            <a:extLst xmlns:a="http://schemas.openxmlformats.org/drawingml/2006/main">
              <a:ext uri="{FF2B5EF4-FFF2-40B4-BE49-F238E27FC236}">
                <a16:creationId xmlns:a16="http://schemas.microsoft.com/office/drawing/2014/main" id="{8DEF874D-37C6-4B30-BAC5-BFCEE6DFBD62}"/>
              </a:ext>
            </a:extLst>
          </p:cNvPr>
          <p:cNvSpPr>
            <a:spLocks xmlns:a="http://schemas.openxmlformats.org/drawingml/2006/main" noGrp="1"/>
          </p:cNvSpPr>
          <p:nvPr/>
        </p:nvSpPr>
        <p:spPr>
          <a:xfrm xmlns:a="http://schemas.openxmlformats.org/drawingml/2006/main">
            <a:off x="100584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8D754D"/>
                </a:solidFill>
                <a:latin typeface="Aptos"/>
                <a:ea typeface="Aptos"/>
                <a:cs typeface="Aptos"/>
              </a:defRPr>
            </a:pPr>
            <a:r>
              <a:rPr sz="1425" b="1">
                <a:solidFill>
                  <a:srgbClr val="8D754D"/>
                </a:solidFill>
                <a:latin typeface="Aptos"/>
                <a:ea typeface="Aptos"/>
                <a:cs typeface="Aptos"/>
              </a:rPr>
              <a:t>Validate</a:t>
            </a:r>
          </a:p>
        </p:txBody>
      </p:sp>
      <p:sp>
        <p:nvSpPr>
          <p:cNvPr id="36" name="">
            <a:extLst xmlns:a="http://schemas.openxmlformats.org/drawingml/2006/main">
              <a:ext uri="{FF2B5EF4-FFF2-40B4-BE49-F238E27FC236}">
                <a16:creationId xmlns:a16="http://schemas.microsoft.com/office/drawing/2014/main" id="{3D91F9A9-B4FC-462E-A857-ECEDDD476C46}"/>
              </a:ext>
            </a:extLst>
          </p:cNvPr>
          <p:cNvSpPr>
            <a:spLocks xmlns:a="http://schemas.openxmlformats.org/drawingml/2006/main" noGrp="1"/>
          </p:cNvSpPr>
          <p:nvPr/>
        </p:nvSpPr>
        <p:spPr>
          <a:xfrm xmlns:a="http://schemas.openxmlformats.org/drawingml/2006/main">
            <a:off x="100584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0">
                <a:solidFill>
                  <a:srgbClr val="202A33"/>
                </a:solidFill>
                <a:latin typeface="Aptos"/>
                <a:ea typeface="Aptos"/>
                <a:cs typeface="Aptos"/>
              </a:defRPr>
            </a:pPr>
            <a:r>
              <a:rPr sz="975" b="0">
                <a:solidFill>
                  <a:srgbClr val="202A33"/>
                </a:solidFill>
                <a:latin typeface="Aptos"/>
                <a:ea typeface="Aptos"/>
                <a:cs typeface="Aptos"/>
              </a:rPr>
              <a:t>coordinate/version comparison</a:t>
            </a:r>
          </a:p>
          <a:p xmlns:a="http://schemas.openxmlformats.org/drawingml/2006/main">
            <a:pPr algn="ctr">
              <a:buNone/>
              <a:defRPr sz="975" b="0">
                <a:solidFill>
                  <a:srgbClr val="202A33"/>
                </a:solidFill>
                <a:latin typeface="Aptos"/>
                <a:ea typeface="Aptos"/>
                <a:cs typeface="Aptos"/>
              </a:defRPr>
            </a:pPr>
            <a:r>
              <a:rPr sz="975" b="0">
                <a:solidFill>
                  <a:srgbClr val="202A33"/>
                </a:solidFill>
                <a:latin typeface="Aptos"/>
                <a:ea typeface="Aptos"/>
                <a:cs typeface="Aptos"/>
              </a:rPr>
              <a:t>classify clean or partial</a:t>
            </a:r>
          </a:p>
        </p:txBody>
      </p:sp>
      <p:sp>
        <p:nvSpPr>
          <p:cNvPr id="37" name="">
            <a:extLst xmlns:a="http://schemas.openxmlformats.org/drawingml/2006/main">
              <a:ext uri="{FF2B5EF4-FFF2-40B4-BE49-F238E27FC236}">
                <a16:creationId xmlns:a16="http://schemas.microsoft.com/office/drawing/2014/main" id="{BF112707-0CF4-4AA6-BC29-3CB1CB297E19}"/>
              </a:ext>
            </a:extLst>
          </p:cNvPr>
          <p:cNvSpPr>
            <a:spLocks xmlns:a="http://schemas.openxmlformats.org/drawingml/2006/main" noGrp="1"/>
          </p:cNvSpPr>
          <p:nvPr/>
        </p:nvSpPr>
        <p:spPr>
          <a:xfrm xmlns:a="http://schemas.openxmlformats.org/drawingml/2006/main">
            <a:off x="685800" y="4762500"/>
            <a:ext cx="10820400" cy="59055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38" name="">
            <a:extLst xmlns:a="http://schemas.openxmlformats.org/drawingml/2006/main">
              <a:ext uri="{FF2B5EF4-FFF2-40B4-BE49-F238E27FC236}">
                <a16:creationId xmlns:a16="http://schemas.microsoft.com/office/drawing/2014/main" id="{716425F7-2E7D-47D8-A0BB-92B1C8AF6959}"/>
              </a:ext>
            </a:extLst>
          </p:cNvPr>
          <p:cNvSpPr>
            <a:spLocks xmlns:a="http://schemas.openxmlformats.org/drawingml/2006/main" noGrp="1"/>
          </p:cNvSpPr>
          <p:nvPr/>
        </p:nvSpPr>
        <p:spPr>
          <a:xfrm xmlns:a="http://schemas.openxmlformats.org/drawingml/2006/main">
            <a:off x="876300" y="4933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D754D"/>
                </a:solidFill>
                <a:latin typeface="Aptos"/>
                <a:ea typeface="Aptos"/>
                <a:cs typeface="Aptos"/>
              </a:defRPr>
            </a:pPr>
            <a:r>
              <a:rPr sz="825" b="1">
                <a:solidFill>
                  <a:srgbClr val="8D754D"/>
                </a:solidFill>
                <a:latin typeface="Aptos"/>
                <a:ea typeface="Aptos"/>
                <a:cs typeface="Aptos"/>
              </a:rPr>
              <a:t>RESCUE LESSON</a:t>
            </a:r>
          </a:p>
        </p:txBody>
      </p:sp>
      <p:sp>
        <p:nvSpPr>
          <p:cNvPr id="39" name="">
            <a:extLst xmlns:a="http://schemas.openxmlformats.org/drawingml/2006/main">
              <a:ext uri="{FF2B5EF4-FFF2-40B4-BE49-F238E27FC236}">
                <a16:creationId xmlns:a16="http://schemas.microsoft.com/office/drawing/2014/main" id="{B4B23A45-E364-48AD-AF17-EC61EB7911A0}"/>
              </a:ext>
            </a:extLst>
          </p:cNvPr>
          <p:cNvSpPr>
            <a:spLocks xmlns:a="http://schemas.openxmlformats.org/drawingml/2006/main" noGrp="1"/>
          </p:cNvSpPr>
          <p:nvPr/>
        </p:nvSpPr>
        <p:spPr>
          <a:xfrm xmlns:a="http://schemas.openxmlformats.org/drawingml/2006/main">
            <a:off x="2343150" y="48863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Old Android projects often require validation-only copies, exact module/flavor probing, and legacy Gradle/JDK lanes.</a:t>
            </a:r>
          </a:p>
        </p:txBody>
      </p:sp>
      <p:sp>
        <p:nvSpPr>
          <p:cNvPr id="40" name="">
            <a:extLst xmlns:a="http://schemas.openxmlformats.org/drawingml/2006/main">
              <a:ext uri="{FF2B5EF4-FFF2-40B4-BE49-F238E27FC236}">
                <a16:creationId xmlns:a16="http://schemas.microsoft.com/office/drawing/2014/main" id="{9580B5CB-5433-4C4B-8ECA-BAE3E0C551E7}"/>
              </a:ext>
            </a:extLst>
          </p:cNvPr>
          <p:cNvSpPr>
            <a:spLocks xmlns:a="http://schemas.openxmlformats.org/drawingml/2006/main" noGrp="1"/>
          </p:cNvSpPr>
          <p:nvPr/>
        </p:nvSpPr>
        <p:spPr>
          <a:xfrm xmlns:a="http://schemas.openxmlformats.org/drawingml/2006/main">
            <a:off x="685800" y="56388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8BF0A10-E0E4-4EC6-999E-DEE36CD0DBC0}"/>
              </a:ext>
            </a:extLst>
          </p:cNvPr>
          <p:cNvSpPr>
            <a:spLocks xmlns:a="http://schemas.openxmlformats.org/drawingml/2006/main" noGrp="1"/>
          </p:cNvSpPr>
          <p:nvPr/>
        </p:nvSpPr>
        <p:spPr>
          <a:xfrm xmlns:a="http://schemas.openxmlformats.org/drawingml/2006/main">
            <a:off x="819150" y="57054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Workflow: scripts/advance_real_apk_batch_proofs.py  |  Rescue profiles: configs/real_apk_blocker_rescue_profiles.json</a:t>
            </a:r>
          </a:p>
        </p:txBody>
      </p:sp>
      <p:sp>
        <p:nvSpPr>
          <p:cNvPr id="42" name="">
            <a:extLst xmlns:a="http://schemas.openxmlformats.org/drawingml/2006/main">
              <a:ext uri="{FF2B5EF4-FFF2-40B4-BE49-F238E27FC236}">
                <a16:creationId xmlns:a16="http://schemas.microsoft.com/office/drawing/2014/main" id="{D8AC2EA1-67B9-4ED6-A475-6B80FA262C31}"/>
              </a:ext>
            </a:extLst>
          </p:cNvPr>
          <p:cNvSpPr>
            <a:spLocks xmlns:a="http://schemas.openxmlformats.org/drawingml/2006/main" noGrp="1"/>
          </p:cNvSpPr>
          <p:nvPr/>
        </p:nvSpPr>
        <p:spPr>
          <a:xfrm xmlns:a="http://schemas.openxmlformats.org/drawingml/2006/main">
            <a:off x="685800" y="60388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629D2C57-DC3A-48F7-A98E-11D59219F93B}"/>
              </a:ext>
            </a:extLst>
          </p:cNvPr>
          <p:cNvSpPr>
            <a:spLocks xmlns:a="http://schemas.openxmlformats.org/drawingml/2006/main" noGrp="1"/>
          </p:cNvSpPr>
          <p:nvPr/>
        </p:nvSpPr>
        <p:spPr>
          <a:xfrm xmlns:a="http://schemas.openxmlformats.org/drawingml/2006/main">
            <a:off x="819150" y="61055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Proof outputs: data/results/source-validation/  |  Classification: data/results/evaluation/apk-type-evaluation.json</a:t>
            </a:r>
          </a:p>
        </p:txBody>
      </p:sp>
      <p:sp>
        <p:nvSpPr>
          <p:cNvPr id="44" name="">
            <a:extLst xmlns:a="http://schemas.openxmlformats.org/drawingml/2006/main">
              <a:ext uri="{FF2B5EF4-FFF2-40B4-BE49-F238E27FC236}">
                <a16:creationId xmlns:a16="http://schemas.microsoft.com/office/drawing/2014/main" id="{CFE18041-DB80-4B9D-9191-F74372216110}"/>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412860971"/>
      </p:ext>
    </p:extLst>
  </p:cSld>
</p:sld>
</file>

<file path=ppt/slides/slide17.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287FC6-6BCF-4872-B715-D0D7D52C2F55}"/>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F7C61"/>
                </a:solidFill>
                <a:latin typeface="Aptos"/>
                <a:ea typeface="Aptos"/>
                <a:cs typeface="Aptos"/>
              </a:defRPr>
            </a:pPr>
            <a:r>
              <a:rPr sz="900" b="1">
                <a:solidFill>
                  <a:srgbClr val="6F7C61"/>
                </a:solidFill>
                <a:latin typeface="Aptos"/>
                <a:ea typeface="Aptos"/>
                <a:cs typeface="Aptos"/>
              </a:rPr>
              <a:t>APK CLASSIFICATION</a:t>
            </a:r>
          </a:p>
        </p:txBody>
      </p:sp>
      <p:sp>
        <p:nvSpPr>
          <p:cNvPr id="2" name="">
            <a:extLst xmlns:a="http://schemas.openxmlformats.org/drawingml/2006/main">
              <a:ext uri="{FF2B5EF4-FFF2-40B4-BE49-F238E27FC236}">
                <a16:creationId xmlns:a16="http://schemas.microsoft.com/office/drawing/2014/main" id="{A2B57A06-60DC-41E5-9B8D-F2FCBED9519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Evaluation keeps hard APK families visible instead of collapsing them into one score</a:t>
            </a:r>
          </a:p>
        </p:txBody>
      </p:sp>
      <p:sp>
        <p:nvSpPr>
          <p:cNvPr id="3" name="">
            <a:extLst xmlns:a="http://schemas.openxmlformats.org/drawingml/2006/main">
              <a:ext uri="{FF2B5EF4-FFF2-40B4-BE49-F238E27FC236}">
                <a16:creationId xmlns:a16="http://schemas.microsoft.com/office/drawing/2014/main" id="{046B88B2-2F0D-4F52-AFE6-2BFACC8BCC5A}"/>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17</a:t>
            </a:r>
          </a:p>
        </p:txBody>
      </p:sp>
      <p:sp>
        <p:nvSpPr>
          <p:cNvPr id="4" name="">
            <a:extLst xmlns:a="http://schemas.openxmlformats.org/drawingml/2006/main">
              <a:ext uri="{FF2B5EF4-FFF2-40B4-BE49-F238E27FC236}">
                <a16:creationId xmlns:a16="http://schemas.microsoft.com/office/drawing/2014/main" id="{FB493426-6A7C-49C1-9772-A1433C0FB563}"/>
              </a:ext>
            </a:extLst>
          </p:cNvPr>
          <p:cNvSpPr>
            <a:spLocks xmlns:a="http://schemas.openxmlformats.org/drawingml/2006/main" noGrp="1"/>
          </p:cNvSpPr>
          <p:nvPr/>
        </p:nvSpPr>
        <p:spPr>
          <a:xfrm xmlns:a="http://schemas.openxmlformats.org/drawingml/2006/main">
            <a:off x="704850" y="15430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5" name="">
            <a:extLst xmlns:a="http://schemas.openxmlformats.org/drawingml/2006/main">
              <a:ext uri="{FF2B5EF4-FFF2-40B4-BE49-F238E27FC236}">
                <a16:creationId xmlns:a16="http://schemas.microsoft.com/office/drawing/2014/main" id="{820E50D1-F65F-4CA1-ADF5-E52DF5FA3CE0}"/>
              </a:ext>
            </a:extLst>
          </p:cNvPr>
          <p:cNvSpPr>
            <a:spLocks xmlns:a="http://schemas.openxmlformats.org/drawingml/2006/main" noGrp="1"/>
          </p:cNvSpPr>
          <p:nvPr/>
        </p:nvSpPr>
        <p:spPr>
          <a:xfrm xmlns:a="http://schemas.openxmlformats.org/drawingml/2006/main">
            <a:off x="704850" y="1543050"/>
            <a:ext cx="114300" cy="6286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6A3965B-0287-44DA-84F1-2F9724A362D6}"/>
              </a:ext>
            </a:extLst>
          </p:cNvPr>
          <p:cNvSpPr>
            <a:spLocks xmlns:a="http://schemas.openxmlformats.org/drawingml/2006/main" noGrp="1"/>
          </p:cNvSpPr>
          <p:nvPr/>
        </p:nvSpPr>
        <p:spPr>
          <a:xfrm xmlns:a="http://schemas.openxmlformats.org/drawingml/2006/main">
            <a:off x="1066800" y="17145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202A33"/>
                </a:solidFill>
                <a:latin typeface="Aptos"/>
                <a:ea typeface="Aptos"/>
                <a:cs typeface="Aptos"/>
              </a:defRPr>
            </a:pPr>
            <a:r>
              <a:rPr sz="1425" b="1">
                <a:solidFill>
                  <a:srgbClr val="202A33"/>
                </a:solidFill>
                <a:latin typeface="Aptos"/>
                <a:ea typeface="Aptos"/>
                <a:cs typeface="Aptos"/>
              </a:rPr>
              <a:t>Controlled</a:t>
            </a:r>
          </a:p>
        </p:txBody>
      </p:sp>
      <p:sp>
        <p:nvSpPr>
          <p:cNvPr id="7" name="">
            <a:extLst xmlns:a="http://schemas.openxmlformats.org/drawingml/2006/main">
              <a:ext uri="{FF2B5EF4-FFF2-40B4-BE49-F238E27FC236}">
                <a16:creationId xmlns:a16="http://schemas.microsoft.com/office/drawing/2014/main" id="{7DB342CD-0E25-4E57-9988-78DF081E7B9D}"/>
              </a:ext>
            </a:extLst>
          </p:cNvPr>
          <p:cNvSpPr>
            <a:spLocks xmlns:a="http://schemas.openxmlformats.org/drawingml/2006/main" noGrp="1"/>
          </p:cNvSpPr>
          <p:nvPr/>
        </p:nvSpPr>
        <p:spPr>
          <a:xfrm xmlns:a="http://schemas.openxmlformats.org/drawingml/2006/main">
            <a:off x="3467100" y="17145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6F7C61"/>
                </a:solidFill>
                <a:latin typeface="Aptos"/>
                <a:ea typeface="Aptos"/>
                <a:cs typeface="Aptos"/>
              </a:defRPr>
            </a:pPr>
            <a:r>
              <a:rPr sz="1275" b="1">
                <a:solidFill>
                  <a:srgbClr val="6F7C61"/>
                </a:solidFill>
                <a:latin typeface="Aptos"/>
                <a:ea typeface="Aptos"/>
                <a:cs typeface="Aptos"/>
              </a:rPr>
              <a:t>72 APKs</a:t>
            </a:r>
          </a:p>
        </p:txBody>
      </p:sp>
      <p:sp>
        <p:nvSpPr>
          <p:cNvPr id="8" name="">
            <a:extLst xmlns:a="http://schemas.openxmlformats.org/drawingml/2006/main">
              <a:ext uri="{FF2B5EF4-FFF2-40B4-BE49-F238E27FC236}">
                <a16:creationId xmlns:a16="http://schemas.microsoft.com/office/drawing/2014/main" id="{96D6BA74-60F3-4C7B-A09D-B966C69726AD}"/>
              </a:ext>
            </a:extLst>
          </p:cNvPr>
          <p:cNvSpPr>
            <a:spLocks xmlns:a="http://schemas.openxmlformats.org/drawingml/2006/main" noGrp="1"/>
          </p:cNvSpPr>
          <p:nvPr/>
        </p:nvSpPr>
        <p:spPr>
          <a:xfrm xmlns:a="http://schemas.openxmlformats.org/drawingml/2006/main">
            <a:off x="5257800" y="17145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84 expected versions</a:t>
            </a:r>
          </a:p>
        </p:txBody>
      </p:sp>
      <p:sp>
        <p:nvSpPr>
          <p:cNvPr id="9" name="">
            <a:extLst xmlns:a="http://schemas.openxmlformats.org/drawingml/2006/main">
              <a:ext uri="{FF2B5EF4-FFF2-40B4-BE49-F238E27FC236}">
                <a16:creationId xmlns:a16="http://schemas.microsoft.com/office/drawing/2014/main" id="{9461DDE3-3A8F-410E-86C8-4551D00B62AC}"/>
              </a:ext>
            </a:extLst>
          </p:cNvPr>
          <p:cNvSpPr>
            <a:spLocks xmlns:a="http://schemas.openxmlformats.org/drawingml/2006/main" noGrp="1"/>
          </p:cNvSpPr>
          <p:nvPr/>
        </p:nvSpPr>
        <p:spPr>
          <a:xfrm xmlns:a="http://schemas.openxmlformats.org/drawingml/2006/main">
            <a:off x="8420100" y="17145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6F7C61"/>
            </a:solidFill>
            <a:prstDash val="solid"/>
          </a:ln>
        </p:spPr>
      </p:sp>
      <p:sp>
        <p:nvSpPr>
          <p:cNvPr id="10" name="">
            <a:extLst xmlns:a="http://schemas.openxmlformats.org/drawingml/2006/main">
              <a:ext uri="{FF2B5EF4-FFF2-40B4-BE49-F238E27FC236}">
                <a16:creationId xmlns:a16="http://schemas.microsoft.com/office/drawing/2014/main" id="{3357CEF2-0E39-4DC1-9D30-21FB5CC3ED6D}"/>
              </a:ext>
            </a:extLst>
          </p:cNvPr>
          <p:cNvSpPr>
            <a:spLocks xmlns:a="http://schemas.openxmlformats.org/drawingml/2006/main" noGrp="1"/>
          </p:cNvSpPr>
          <p:nvPr/>
        </p:nvSpPr>
        <p:spPr>
          <a:xfrm xmlns:a="http://schemas.openxmlformats.org/drawingml/2006/main">
            <a:off x="8486775" y="17716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F7C61"/>
                </a:solidFill>
                <a:latin typeface="Aptos"/>
                <a:ea typeface="Aptos"/>
                <a:cs typeface="Aptos"/>
              </a:defRPr>
            </a:pPr>
            <a:r>
              <a:rPr sz="825" b="1">
                <a:solidFill>
                  <a:srgbClr val="6F7C61"/>
                </a:solidFill>
                <a:latin typeface="Aptos"/>
                <a:ea typeface="Aptos"/>
                <a:cs typeface="Aptos"/>
              </a:rPr>
              <a:t>known ground truth</a:t>
            </a:r>
          </a:p>
        </p:txBody>
      </p:sp>
      <p:sp>
        <p:nvSpPr>
          <p:cNvPr id="11" name="">
            <a:extLst xmlns:a="http://schemas.openxmlformats.org/drawingml/2006/main">
              <a:ext uri="{FF2B5EF4-FFF2-40B4-BE49-F238E27FC236}">
                <a16:creationId xmlns:a16="http://schemas.microsoft.com/office/drawing/2014/main" id="{F1B965E4-F9E2-4F62-AB13-A0E4B57EB3AD}"/>
              </a:ext>
            </a:extLst>
          </p:cNvPr>
          <p:cNvSpPr>
            <a:spLocks xmlns:a="http://schemas.openxmlformats.org/drawingml/2006/main" noGrp="1"/>
          </p:cNvSpPr>
          <p:nvPr/>
        </p:nvSpPr>
        <p:spPr>
          <a:xfrm xmlns:a="http://schemas.openxmlformats.org/drawingml/2006/main">
            <a:off x="704850" y="23431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2" name="">
            <a:extLst xmlns:a="http://schemas.openxmlformats.org/drawingml/2006/main">
              <a:ext uri="{FF2B5EF4-FFF2-40B4-BE49-F238E27FC236}">
                <a16:creationId xmlns:a16="http://schemas.microsoft.com/office/drawing/2014/main" id="{9A5D44A7-1F24-4AC8-BB12-DDDC62145D20}"/>
              </a:ext>
            </a:extLst>
          </p:cNvPr>
          <p:cNvSpPr>
            <a:spLocks xmlns:a="http://schemas.openxmlformats.org/drawingml/2006/main" noGrp="1"/>
          </p:cNvSpPr>
          <p:nvPr/>
        </p:nvSpPr>
        <p:spPr>
          <a:xfrm xmlns:a="http://schemas.openxmlformats.org/drawingml/2006/main">
            <a:off x="704850" y="2343150"/>
            <a:ext cx="114300" cy="6286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60B4093-E84B-402B-BD0C-3FF3A0123409}"/>
              </a:ext>
            </a:extLst>
          </p:cNvPr>
          <p:cNvSpPr>
            <a:spLocks xmlns:a="http://schemas.openxmlformats.org/drawingml/2006/main" noGrp="1"/>
          </p:cNvSpPr>
          <p:nvPr/>
        </p:nvSpPr>
        <p:spPr>
          <a:xfrm xmlns:a="http://schemas.openxmlformats.org/drawingml/2006/main">
            <a:off x="1066800" y="2514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202A33"/>
                </a:solidFill>
                <a:latin typeface="Aptos"/>
                <a:ea typeface="Aptos"/>
                <a:cs typeface="Aptos"/>
              </a:defRPr>
            </a:pPr>
            <a:r>
              <a:rPr sz="1425" b="1">
                <a:solidFill>
                  <a:srgbClr val="202A33"/>
                </a:solidFill>
                <a:latin typeface="Aptos"/>
                <a:ea typeface="Aptos"/>
                <a:cs typeface="Aptos"/>
              </a:rPr>
              <a:t>Clean real</a:t>
            </a:r>
          </a:p>
        </p:txBody>
      </p:sp>
      <p:sp>
        <p:nvSpPr>
          <p:cNvPr id="14" name="">
            <a:extLst xmlns:a="http://schemas.openxmlformats.org/drawingml/2006/main">
              <a:ext uri="{FF2B5EF4-FFF2-40B4-BE49-F238E27FC236}">
                <a16:creationId xmlns:a16="http://schemas.microsoft.com/office/drawing/2014/main" id="{E971C2DA-8493-4AB1-A4CC-AF9F6045E2A1}"/>
              </a:ext>
            </a:extLst>
          </p:cNvPr>
          <p:cNvSpPr>
            <a:spLocks xmlns:a="http://schemas.openxmlformats.org/drawingml/2006/main" noGrp="1"/>
          </p:cNvSpPr>
          <p:nvPr/>
        </p:nvSpPr>
        <p:spPr>
          <a:xfrm xmlns:a="http://schemas.openxmlformats.org/drawingml/2006/main">
            <a:off x="3467100" y="25146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4F7D76"/>
                </a:solidFill>
                <a:latin typeface="Aptos"/>
                <a:ea typeface="Aptos"/>
                <a:cs typeface="Aptos"/>
              </a:defRPr>
            </a:pPr>
            <a:r>
              <a:rPr sz="1275" b="1">
                <a:solidFill>
                  <a:srgbClr val="4F7D76"/>
                </a:solidFill>
                <a:latin typeface="Aptos"/>
                <a:ea typeface="Aptos"/>
                <a:cs typeface="Aptos"/>
              </a:rPr>
              <a:t>5 APKs</a:t>
            </a:r>
          </a:p>
        </p:txBody>
      </p:sp>
      <p:sp>
        <p:nvSpPr>
          <p:cNvPr id="15" name="">
            <a:extLst xmlns:a="http://schemas.openxmlformats.org/drawingml/2006/main">
              <a:ext uri="{FF2B5EF4-FFF2-40B4-BE49-F238E27FC236}">
                <a16:creationId xmlns:a16="http://schemas.microsoft.com/office/drawing/2014/main" id="{FBE64DEF-023E-4764-A60B-6CF5D9F8891B}"/>
              </a:ext>
            </a:extLst>
          </p:cNvPr>
          <p:cNvSpPr>
            <a:spLocks xmlns:a="http://schemas.openxmlformats.org/drawingml/2006/main" noGrp="1"/>
          </p:cNvSpPr>
          <p:nvPr/>
        </p:nvSpPr>
        <p:spPr>
          <a:xfrm xmlns:a="http://schemas.openxmlformats.org/drawingml/2006/main">
            <a:off x="5257800" y="2514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47 emitted versions</a:t>
            </a:r>
          </a:p>
        </p:txBody>
      </p:sp>
      <p:sp>
        <p:nvSpPr>
          <p:cNvPr id="16" name="">
            <a:extLst xmlns:a="http://schemas.openxmlformats.org/drawingml/2006/main">
              <a:ext uri="{FF2B5EF4-FFF2-40B4-BE49-F238E27FC236}">
                <a16:creationId xmlns:a16="http://schemas.microsoft.com/office/drawing/2014/main" id="{5FA7B4D0-57C6-4375-B640-AF5CF7E0BFC2}"/>
              </a:ext>
            </a:extLst>
          </p:cNvPr>
          <p:cNvSpPr>
            <a:spLocks xmlns:a="http://schemas.openxmlformats.org/drawingml/2006/main" noGrp="1"/>
          </p:cNvSpPr>
          <p:nvPr/>
        </p:nvSpPr>
        <p:spPr>
          <a:xfrm xmlns:a="http://schemas.openxmlformats.org/drawingml/2006/main">
            <a:off x="8420100" y="25146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4F7D76"/>
            </a:solidFill>
            <a:prstDash val="solid"/>
          </a:ln>
        </p:spPr>
      </p:sp>
      <p:sp>
        <p:nvSpPr>
          <p:cNvPr id="17" name="">
            <a:extLst xmlns:a="http://schemas.openxmlformats.org/drawingml/2006/main">
              <a:ext uri="{FF2B5EF4-FFF2-40B4-BE49-F238E27FC236}">
                <a16:creationId xmlns:a16="http://schemas.microsoft.com/office/drawing/2014/main" id="{235164D3-E00F-4AC4-8742-3AEAB2B11A0B}"/>
              </a:ext>
            </a:extLst>
          </p:cNvPr>
          <p:cNvSpPr>
            <a:spLocks xmlns:a="http://schemas.openxmlformats.org/drawingml/2006/main" noGrp="1"/>
          </p:cNvSpPr>
          <p:nvPr/>
        </p:nvSpPr>
        <p:spPr>
          <a:xfrm xmlns:a="http://schemas.openxmlformats.org/drawingml/2006/main">
            <a:off x="8486775" y="25717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4F7D76"/>
                </a:solidFill>
                <a:latin typeface="Aptos"/>
                <a:ea typeface="Aptos"/>
                <a:cs typeface="Aptos"/>
              </a:defRPr>
            </a:pPr>
            <a:r>
              <a:rPr sz="825" b="1">
                <a:solidFill>
                  <a:srgbClr val="4F7D76"/>
                </a:solidFill>
                <a:latin typeface="Aptos"/>
                <a:ea typeface="Aptos"/>
                <a:cs typeface="Aptos"/>
              </a:rPr>
              <a:t>strong source proof</a:t>
            </a:r>
          </a:p>
        </p:txBody>
      </p:sp>
      <p:sp>
        <p:nvSpPr>
          <p:cNvPr id="18" name="">
            <a:extLst xmlns:a="http://schemas.openxmlformats.org/drawingml/2006/main">
              <a:ext uri="{FF2B5EF4-FFF2-40B4-BE49-F238E27FC236}">
                <a16:creationId xmlns:a16="http://schemas.microsoft.com/office/drawing/2014/main" id="{66BAE636-9BAC-4066-AC14-E78064F53153}"/>
              </a:ext>
            </a:extLst>
          </p:cNvPr>
          <p:cNvSpPr>
            <a:spLocks xmlns:a="http://schemas.openxmlformats.org/drawingml/2006/main" noGrp="1"/>
          </p:cNvSpPr>
          <p:nvPr/>
        </p:nvSpPr>
        <p:spPr>
          <a:xfrm xmlns:a="http://schemas.openxmlformats.org/drawingml/2006/main">
            <a:off x="704850" y="31432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9" name="">
            <a:extLst xmlns:a="http://schemas.openxmlformats.org/drawingml/2006/main">
              <a:ext uri="{FF2B5EF4-FFF2-40B4-BE49-F238E27FC236}">
                <a16:creationId xmlns:a16="http://schemas.microsoft.com/office/drawing/2014/main" id="{C9745EFB-38C3-4317-94DE-60A3CFB5E8E6}"/>
              </a:ext>
            </a:extLst>
          </p:cNvPr>
          <p:cNvSpPr>
            <a:spLocks xmlns:a="http://schemas.openxmlformats.org/drawingml/2006/main" noGrp="1"/>
          </p:cNvSpPr>
          <p:nvPr/>
        </p:nvSpPr>
        <p:spPr>
          <a:xfrm xmlns:a="http://schemas.openxmlformats.org/drawingml/2006/main">
            <a:off x="704850" y="3143250"/>
            <a:ext cx="114300" cy="6286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79F2D70-6FE3-4C91-933A-223A8DD82802}"/>
              </a:ext>
            </a:extLst>
          </p:cNvPr>
          <p:cNvSpPr>
            <a:spLocks xmlns:a="http://schemas.openxmlformats.org/drawingml/2006/main" noGrp="1"/>
          </p:cNvSpPr>
          <p:nvPr/>
        </p:nvSpPr>
        <p:spPr>
          <a:xfrm xmlns:a="http://schemas.openxmlformats.org/drawingml/2006/main">
            <a:off x="1066800" y="3314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202A33"/>
                </a:solidFill>
                <a:latin typeface="Aptos"/>
                <a:ea typeface="Aptos"/>
                <a:cs typeface="Aptos"/>
              </a:defRPr>
            </a:pPr>
            <a:r>
              <a:rPr sz="1425" b="1">
                <a:solidFill>
                  <a:srgbClr val="202A33"/>
                </a:solidFill>
                <a:latin typeface="Aptos"/>
                <a:ea typeface="Aptos"/>
                <a:cs typeface="Aptos"/>
              </a:rPr>
              <a:t>Partial real</a:t>
            </a:r>
          </a:p>
        </p:txBody>
      </p:sp>
      <p:sp>
        <p:nvSpPr>
          <p:cNvPr id="21" name="">
            <a:extLst xmlns:a="http://schemas.openxmlformats.org/drawingml/2006/main">
              <a:ext uri="{FF2B5EF4-FFF2-40B4-BE49-F238E27FC236}">
                <a16:creationId xmlns:a16="http://schemas.microsoft.com/office/drawing/2014/main" id="{8D2CCC21-1FA5-4577-984E-E26B5BD1E67B}"/>
              </a:ext>
            </a:extLst>
          </p:cNvPr>
          <p:cNvSpPr>
            <a:spLocks xmlns:a="http://schemas.openxmlformats.org/drawingml/2006/main" noGrp="1"/>
          </p:cNvSpPr>
          <p:nvPr/>
        </p:nvSpPr>
        <p:spPr>
          <a:xfrm xmlns:a="http://schemas.openxmlformats.org/drawingml/2006/main">
            <a:off x="3467100" y="33147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8D754D"/>
                </a:solidFill>
                <a:latin typeface="Aptos"/>
                <a:ea typeface="Aptos"/>
                <a:cs typeface="Aptos"/>
              </a:defRPr>
            </a:pPr>
            <a:r>
              <a:rPr sz="1275" b="1">
                <a:solidFill>
                  <a:srgbClr val="8D754D"/>
                </a:solidFill>
                <a:latin typeface="Aptos"/>
                <a:ea typeface="Aptos"/>
                <a:cs typeface="Aptos"/>
              </a:rPr>
              <a:t>97 APKs</a:t>
            </a:r>
          </a:p>
        </p:txBody>
      </p:sp>
      <p:sp>
        <p:nvSpPr>
          <p:cNvPr id="22" name="">
            <a:extLst xmlns:a="http://schemas.openxmlformats.org/drawingml/2006/main">
              <a:ext uri="{FF2B5EF4-FFF2-40B4-BE49-F238E27FC236}">
                <a16:creationId xmlns:a16="http://schemas.microsoft.com/office/drawing/2014/main" id="{5F8E2707-2C0A-4B36-BAFB-63F8C7CECDF3}"/>
              </a:ext>
            </a:extLst>
          </p:cNvPr>
          <p:cNvSpPr>
            <a:spLocks xmlns:a="http://schemas.openxmlformats.org/drawingml/2006/main" noGrp="1"/>
          </p:cNvSpPr>
          <p:nvPr/>
        </p:nvSpPr>
        <p:spPr>
          <a:xfrm xmlns:a="http://schemas.openxmlformats.org/drawingml/2006/main">
            <a:off x="5257800" y="3314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1790 emitted versions</a:t>
            </a:r>
          </a:p>
        </p:txBody>
      </p:sp>
      <p:sp>
        <p:nvSpPr>
          <p:cNvPr id="23" name="">
            <a:extLst xmlns:a="http://schemas.openxmlformats.org/drawingml/2006/main">
              <a:ext uri="{FF2B5EF4-FFF2-40B4-BE49-F238E27FC236}">
                <a16:creationId xmlns:a16="http://schemas.microsoft.com/office/drawing/2014/main" id="{77852468-3586-496F-BE7B-6FDF0BFE881A}"/>
              </a:ext>
            </a:extLst>
          </p:cNvPr>
          <p:cNvSpPr>
            <a:spLocks xmlns:a="http://schemas.openxmlformats.org/drawingml/2006/main" noGrp="1"/>
          </p:cNvSpPr>
          <p:nvPr/>
        </p:nvSpPr>
        <p:spPr>
          <a:xfrm xmlns:a="http://schemas.openxmlformats.org/drawingml/2006/main">
            <a:off x="8420100" y="33147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8D754D"/>
            </a:solidFill>
            <a:prstDash val="solid"/>
          </a:ln>
        </p:spPr>
      </p:sp>
      <p:sp>
        <p:nvSpPr>
          <p:cNvPr id="24" name="">
            <a:extLst xmlns:a="http://schemas.openxmlformats.org/drawingml/2006/main">
              <a:ext uri="{FF2B5EF4-FFF2-40B4-BE49-F238E27FC236}">
                <a16:creationId xmlns:a16="http://schemas.microsoft.com/office/drawing/2014/main" id="{0578BDDF-4DA4-452F-99E0-D93D22AED0B5}"/>
              </a:ext>
            </a:extLst>
          </p:cNvPr>
          <p:cNvSpPr>
            <a:spLocks xmlns:a="http://schemas.openxmlformats.org/drawingml/2006/main" noGrp="1"/>
          </p:cNvSpPr>
          <p:nvPr/>
        </p:nvSpPr>
        <p:spPr>
          <a:xfrm xmlns:a="http://schemas.openxmlformats.org/drawingml/2006/main">
            <a:off x="8486775" y="33718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8D754D"/>
                </a:solidFill>
                <a:latin typeface="Aptos"/>
                <a:ea typeface="Aptos"/>
                <a:cs typeface="Aptos"/>
              </a:defRPr>
            </a:pPr>
            <a:r>
              <a:rPr sz="825" b="1">
                <a:solidFill>
                  <a:srgbClr val="8D754D"/>
                </a:solidFill>
                <a:latin typeface="Aptos"/>
                <a:ea typeface="Aptos"/>
                <a:cs typeface="Aptos"/>
              </a:rPr>
              <a:t>realistic hard cases</a:t>
            </a:r>
          </a:p>
        </p:txBody>
      </p:sp>
      <p:sp>
        <p:nvSpPr>
          <p:cNvPr id="25" name="">
            <a:extLst xmlns:a="http://schemas.openxmlformats.org/drawingml/2006/main">
              <a:ext uri="{FF2B5EF4-FFF2-40B4-BE49-F238E27FC236}">
                <a16:creationId xmlns:a16="http://schemas.microsoft.com/office/drawing/2014/main" id="{7EEFD98C-988D-4079-811B-33BF7FF004CC}"/>
              </a:ext>
            </a:extLst>
          </p:cNvPr>
          <p:cNvSpPr>
            <a:spLocks xmlns:a="http://schemas.openxmlformats.org/drawingml/2006/main" noGrp="1"/>
          </p:cNvSpPr>
          <p:nvPr/>
        </p:nvSpPr>
        <p:spPr>
          <a:xfrm xmlns:a="http://schemas.openxmlformats.org/drawingml/2006/main">
            <a:off x="704850" y="39433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6" name="">
            <a:extLst xmlns:a="http://schemas.openxmlformats.org/drawingml/2006/main">
              <a:ext uri="{FF2B5EF4-FFF2-40B4-BE49-F238E27FC236}">
                <a16:creationId xmlns:a16="http://schemas.microsoft.com/office/drawing/2014/main" id="{F5B15F2E-8F56-4166-92E5-5C80D35EB6F5}"/>
              </a:ext>
            </a:extLst>
          </p:cNvPr>
          <p:cNvSpPr>
            <a:spLocks xmlns:a="http://schemas.openxmlformats.org/drawingml/2006/main" noGrp="1"/>
          </p:cNvSpPr>
          <p:nvPr/>
        </p:nvSpPr>
        <p:spPr>
          <a:xfrm xmlns:a="http://schemas.openxmlformats.org/drawingml/2006/main">
            <a:off x="704850" y="3943350"/>
            <a:ext cx="114300" cy="6286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644322F-6C1C-4D0E-B26A-36F450A750C0}"/>
              </a:ext>
            </a:extLst>
          </p:cNvPr>
          <p:cNvSpPr>
            <a:spLocks xmlns:a="http://schemas.openxmlformats.org/drawingml/2006/main" noGrp="1"/>
          </p:cNvSpPr>
          <p:nvPr/>
        </p:nvSpPr>
        <p:spPr>
          <a:xfrm xmlns:a="http://schemas.openxmlformats.org/drawingml/2006/main">
            <a:off x="1066800" y="4114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202A33"/>
                </a:solidFill>
                <a:latin typeface="Aptos"/>
                <a:ea typeface="Aptos"/>
                <a:cs typeface="Aptos"/>
              </a:defRPr>
            </a:pPr>
            <a:r>
              <a:rPr sz="1425" b="1">
                <a:solidFill>
                  <a:srgbClr val="202A33"/>
                </a:solidFill>
                <a:latin typeface="Aptos"/>
                <a:ea typeface="Aptos"/>
                <a:cs typeface="Aptos"/>
              </a:rPr>
              <a:t>Blocked</a:t>
            </a:r>
          </a:p>
        </p:txBody>
      </p:sp>
      <p:sp>
        <p:nvSpPr>
          <p:cNvPr id="28" name="">
            <a:extLst xmlns:a="http://schemas.openxmlformats.org/drawingml/2006/main">
              <a:ext uri="{FF2B5EF4-FFF2-40B4-BE49-F238E27FC236}">
                <a16:creationId xmlns:a16="http://schemas.microsoft.com/office/drawing/2014/main" id="{1E690E41-9AE7-4E60-8B2C-9D7D10BC464C}"/>
              </a:ext>
            </a:extLst>
          </p:cNvPr>
          <p:cNvSpPr>
            <a:spLocks xmlns:a="http://schemas.openxmlformats.org/drawingml/2006/main" noGrp="1"/>
          </p:cNvSpPr>
          <p:nvPr/>
        </p:nvSpPr>
        <p:spPr>
          <a:xfrm xmlns:a="http://schemas.openxmlformats.org/drawingml/2006/main">
            <a:off x="3467100" y="41148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65F7D"/>
                </a:solidFill>
                <a:latin typeface="Aptos"/>
                <a:ea typeface="Aptos"/>
                <a:cs typeface="Aptos"/>
              </a:defRPr>
            </a:pPr>
            <a:r>
              <a:rPr sz="1275" b="1">
                <a:solidFill>
                  <a:srgbClr val="365F7D"/>
                </a:solidFill>
                <a:latin typeface="Aptos"/>
                <a:ea typeface="Aptos"/>
                <a:cs typeface="Aptos"/>
              </a:rPr>
              <a:t>0 APKs</a:t>
            </a:r>
          </a:p>
        </p:txBody>
      </p:sp>
      <p:sp>
        <p:nvSpPr>
          <p:cNvPr id="29" name="">
            <a:extLst xmlns:a="http://schemas.openxmlformats.org/drawingml/2006/main">
              <a:ext uri="{FF2B5EF4-FFF2-40B4-BE49-F238E27FC236}">
                <a16:creationId xmlns:a16="http://schemas.microsoft.com/office/drawing/2014/main" id="{187AA207-31FB-4065-B5C7-4917B3288E10}"/>
              </a:ext>
            </a:extLst>
          </p:cNvPr>
          <p:cNvSpPr>
            <a:spLocks xmlns:a="http://schemas.openxmlformats.org/drawingml/2006/main" noGrp="1"/>
          </p:cNvSpPr>
          <p:nvPr/>
        </p:nvSpPr>
        <p:spPr>
          <a:xfrm xmlns:a="http://schemas.openxmlformats.org/drawingml/2006/main">
            <a:off x="5257800" y="4114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none remaining</a:t>
            </a:r>
          </a:p>
        </p:txBody>
      </p:sp>
      <p:sp>
        <p:nvSpPr>
          <p:cNvPr id="30" name="">
            <a:extLst xmlns:a="http://schemas.openxmlformats.org/drawingml/2006/main">
              <a:ext uri="{FF2B5EF4-FFF2-40B4-BE49-F238E27FC236}">
                <a16:creationId xmlns:a16="http://schemas.microsoft.com/office/drawing/2014/main" id="{881317E9-A36D-456E-8DE4-309264B066EE}"/>
              </a:ext>
            </a:extLst>
          </p:cNvPr>
          <p:cNvSpPr>
            <a:spLocks xmlns:a="http://schemas.openxmlformats.org/drawingml/2006/main" noGrp="1"/>
          </p:cNvSpPr>
          <p:nvPr/>
        </p:nvSpPr>
        <p:spPr>
          <a:xfrm xmlns:a="http://schemas.openxmlformats.org/drawingml/2006/main">
            <a:off x="8420100" y="41148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365F7D"/>
            </a:solidFill>
            <a:prstDash val="solid"/>
          </a:ln>
        </p:spPr>
      </p:sp>
      <p:sp>
        <p:nvSpPr>
          <p:cNvPr id="31" name="">
            <a:extLst xmlns:a="http://schemas.openxmlformats.org/drawingml/2006/main">
              <a:ext uri="{FF2B5EF4-FFF2-40B4-BE49-F238E27FC236}">
                <a16:creationId xmlns:a16="http://schemas.microsoft.com/office/drawing/2014/main" id="{C1790ECA-DA35-4A18-9AE2-67F111DC080A}"/>
              </a:ext>
            </a:extLst>
          </p:cNvPr>
          <p:cNvSpPr>
            <a:spLocks xmlns:a="http://schemas.openxmlformats.org/drawingml/2006/main" noGrp="1"/>
          </p:cNvSpPr>
          <p:nvPr/>
        </p:nvSpPr>
        <p:spPr>
          <a:xfrm xmlns:a="http://schemas.openxmlformats.org/drawingml/2006/main">
            <a:off x="8486775" y="41719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365F7D"/>
                </a:solidFill>
                <a:latin typeface="Aptos"/>
                <a:ea typeface="Aptos"/>
                <a:cs typeface="Aptos"/>
              </a:defRPr>
            </a:pPr>
            <a:r>
              <a:rPr sz="825" b="1">
                <a:solidFill>
                  <a:srgbClr val="365F7D"/>
                </a:solidFill>
                <a:latin typeface="Aptos"/>
                <a:ea typeface="Aptos"/>
                <a:cs typeface="Aptos"/>
              </a:rPr>
              <a:t>proof gates completed</a:t>
            </a:r>
          </a:p>
        </p:txBody>
      </p:sp>
      <p:sp>
        <p:nvSpPr>
          <p:cNvPr id="32" name="">
            <a:extLst xmlns:a="http://schemas.openxmlformats.org/drawingml/2006/main">
              <a:ext uri="{FF2B5EF4-FFF2-40B4-BE49-F238E27FC236}">
                <a16:creationId xmlns:a16="http://schemas.microsoft.com/office/drawing/2014/main" id="{F7053274-C807-4365-88B4-732196249073}"/>
              </a:ext>
            </a:extLst>
          </p:cNvPr>
          <p:cNvSpPr>
            <a:spLocks xmlns:a="http://schemas.openxmlformats.org/drawingml/2006/main" noGrp="1"/>
          </p:cNvSpPr>
          <p:nvPr/>
        </p:nvSpPr>
        <p:spPr>
          <a:xfrm xmlns:a="http://schemas.openxmlformats.org/drawingml/2006/main">
            <a:off x="704850" y="47434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33" name="">
            <a:extLst xmlns:a="http://schemas.openxmlformats.org/drawingml/2006/main">
              <a:ext uri="{FF2B5EF4-FFF2-40B4-BE49-F238E27FC236}">
                <a16:creationId xmlns:a16="http://schemas.microsoft.com/office/drawing/2014/main" id="{05AE197D-AB7C-4844-9DF8-E4CE880DFC47}"/>
              </a:ext>
            </a:extLst>
          </p:cNvPr>
          <p:cNvSpPr>
            <a:spLocks xmlns:a="http://schemas.openxmlformats.org/drawingml/2006/main" noGrp="1"/>
          </p:cNvSpPr>
          <p:nvPr/>
        </p:nvSpPr>
        <p:spPr>
          <a:xfrm xmlns:a="http://schemas.openxmlformats.org/drawingml/2006/main">
            <a:off x="704850" y="4743450"/>
            <a:ext cx="114300" cy="6286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16E4D02-1E12-4122-A208-47303E913B49}"/>
              </a:ext>
            </a:extLst>
          </p:cNvPr>
          <p:cNvSpPr>
            <a:spLocks xmlns:a="http://schemas.openxmlformats.org/drawingml/2006/main" noGrp="1"/>
          </p:cNvSpPr>
          <p:nvPr/>
        </p:nvSpPr>
        <p:spPr>
          <a:xfrm xmlns:a="http://schemas.openxmlformats.org/drawingml/2006/main">
            <a:off x="1066800" y="4914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202A33"/>
                </a:solidFill>
                <a:latin typeface="Aptos"/>
                <a:ea typeface="Aptos"/>
                <a:cs typeface="Aptos"/>
              </a:defRPr>
            </a:pPr>
            <a:r>
              <a:rPr sz="1425" b="1">
                <a:solidFill>
                  <a:srgbClr val="202A33"/>
                </a:solidFill>
                <a:latin typeface="Aptos"/>
                <a:ea typeface="Aptos"/>
                <a:cs typeface="Aptos"/>
              </a:rPr>
              <a:t>Limitations</a:t>
            </a:r>
          </a:p>
        </p:txBody>
      </p:sp>
      <p:sp>
        <p:nvSpPr>
          <p:cNvPr id="35" name="">
            <a:extLst xmlns:a="http://schemas.openxmlformats.org/drawingml/2006/main">
              <a:ext uri="{FF2B5EF4-FFF2-40B4-BE49-F238E27FC236}">
                <a16:creationId xmlns:a16="http://schemas.microsoft.com/office/drawing/2014/main" id="{EECC2C0F-5FBD-46F7-914A-B44CB1557D38}"/>
              </a:ext>
            </a:extLst>
          </p:cNvPr>
          <p:cNvSpPr>
            <a:spLocks xmlns:a="http://schemas.openxmlformats.org/drawingml/2006/main" noGrp="1"/>
          </p:cNvSpPr>
          <p:nvPr/>
        </p:nvSpPr>
        <p:spPr>
          <a:xfrm xmlns:a="http://schemas.openxmlformats.org/drawingml/2006/main">
            <a:off x="3467100" y="49149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655F73"/>
                </a:solidFill>
                <a:latin typeface="Aptos"/>
                <a:ea typeface="Aptos"/>
                <a:cs typeface="Aptos"/>
              </a:defRPr>
            </a:pPr>
            <a:r>
              <a:rPr sz="1275" b="1">
                <a:solidFill>
                  <a:srgbClr val="655F73"/>
                </a:solidFill>
                <a:latin typeface="Aptos"/>
                <a:ea typeface="Aptos"/>
                <a:cs typeface="Aptos"/>
              </a:rPr>
              <a:t>4 cases</a:t>
            </a:r>
          </a:p>
        </p:txBody>
      </p:sp>
      <p:sp>
        <p:nvSpPr>
          <p:cNvPr id="36" name="">
            <a:extLst xmlns:a="http://schemas.openxmlformats.org/drawingml/2006/main">
              <a:ext uri="{FF2B5EF4-FFF2-40B4-BE49-F238E27FC236}">
                <a16:creationId xmlns:a16="http://schemas.microsoft.com/office/drawing/2014/main" id="{0829F6C9-A9B1-4AB6-B98B-48866C9C1D5A}"/>
              </a:ext>
            </a:extLst>
          </p:cNvPr>
          <p:cNvSpPr>
            <a:spLocks xmlns:a="http://schemas.openxmlformats.org/drawingml/2006/main" noGrp="1"/>
          </p:cNvSpPr>
          <p:nvPr/>
        </p:nvSpPr>
        <p:spPr>
          <a:xfrm xmlns:a="http://schemas.openxmlformats.org/drawingml/2006/main">
            <a:off x="5257800" y="4914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outside exact metric</a:t>
            </a:r>
          </a:p>
        </p:txBody>
      </p:sp>
      <p:sp>
        <p:nvSpPr>
          <p:cNvPr id="37" name="">
            <a:extLst xmlns:a="http://schemas.openxmlformats.org/drawingml/2006/main">
              <a:ext uri="{FF2B5EF4-FFF2-40B4-BE49-F238E27FC236}">
                <a16:creationId xmlns:a16="http://schemas.microsoft.com/office/drawing/2014/main" id="{BDD34EC2-D376-499A-B703-50FE90584C1B}"/>
              </a:ext>
            </a:extLst>
          </p:cNvPr>
          <p:cNvSpPr>
            <a:spLocks xmlns:a="http://schemas.openxmlformats.org/drawingml/2006/main" noGrp="1"/>
          </p:cNvSpPr>
          <p:nvPr/>
        </p:nvSpPr>
        <p:spPr>
          <a:xfrm xmlns:a="http://schemas.openxmlformats.org/drawingml/2006/main">
            <a:off x="8420100" y="49149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655F73"/>
            </a:solidFill>
            <a:prstDash val="solid"/>
          </a:ln>
        </p:spPr>
      </p:sp>
      <p:sp>
        <p:nvSpPr>
          <p:cNvPr id="38" name="">
            <a:extLst xmlns:a="http://schemas.openxmlformats.org/drawingml/2006/main">
              <a:ext uri="{FF2B5EF4-FFF2-40B4-BE49-F238E27FC236}">
                <a16:creationId xmlns:a16="http://schemas.microsoft.com/office/drawing/2014/main" id="{986F614C-BD0D-4855-902D-210BC09AF280}"/>
              </a:ext>
            </a:extLst>
          </p:cNvPr>
          <p:cNvSpPr>
            <a:spLocks xmlns:a="http://schemas.openxmlformats.org/drawingml/2006/main" noGrp="1"/>
          </p:cNvSpPr>
          <p:nvPr/>
        </p:nvSpPr>
        <p:spPr>
          <a:xfrm xmlns:a="http://schemas.openxmlformats.org/drawingml/2006/main">
            <a:off x="8486775" y="49720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55F73"/>
                </a:solidFill>
                <a:latin typeface="Aptos"/>
                <a:ea typeface="Aptos"/>
                <a:cs typeface="Aptos"/>
              </a:defRPr>
            </a:pPr>
            <a:r>
              <a:rPr sz="825" b="1">
                <a:solidFill>
                  <a:srgbClr val="655F73"/>
                </a:solidFill>
                <a:latin typeface="Aptos"/>
                <a:ea typeface="Aptos"/>
                <a:cs typeface="Aptos"/>
              </a:rPr>
              <a:t>native / hidden / protected</a:t>
            </a:r>
          </a:p>
        </p:txBody>
      </p:sp>
      <p:sp>
        <p:nvSpPr>
          <p:cNvPr id="39" name="">
            <a:extLst xmlns:a="http://schemas.openxmlformats.org/drawingml/2006/main">
              <a:ext uri="{FF2B5EF4-FFF2-40B4-BE49-F238E27FC236}">
                <a16:creationId xmlns:a16="http://schemas.microsoft.com/office/drawing/2014/main" id="{68AE117F-114B-4EC5-BE59-BA823B4BEE8F}"/>
              </a:ext>
            </a:extLst>
          </p:cNvPr>
          <p:cNvSpPr>
            <a:spLocks xmlns:a="http://schemas.openxmlformats.org/drawingml/2006/main" noGrp="1"/>
          </p:cNvSpPr>
          <p:nvPr/>
        </p:nvSpPr>
        <p:spPr>
          <a:xfrm xmlns:a="http://schemas.openxmlformats.org/drawingml/2006/main">
            <a:off x="1676400" y="5734050"/>
            <a:ext cx="8839200" cy="400050"/>
          </a:xfrm>
          <a:prstGeom xmlns:a="http://schemas.openxmlformats.org/drawingml/2006/main" prst="rect">
            <a:avLst/>
          </a:prstGeom>
          <a:solidFill xmlns:a="http://schemas.openxmlformats.org/drawingml/2006/main">
            <a:srgbClr val="202A33"/>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8ADE698-3D5E-40B8-81E9-6F8AFAA62B36}"/>
              </a:ext>
            </a:extLst>
          </p:cNvPr>
          <p:cNvSpPr>
            <a:spLocks xmlns:a="http://schemas.openxmlformats.org/drawingml/2006/main" noGrp="1"/>
          </p:cNvSpPr>
          <p:nvPr/>
        </p:nvSpPr>
        <p:spPr>
          <a:xfrm xmlns:a="http://schemas.openxmlformats.org/drawingml/2006/main">
            <a:off x="1885950" y="5829300"/>
            <a:ext cx="842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Scientific rule: preserve the denominator, classify exclusions, and expose every remaining gap.</a:t>
            </a:r>
          </a:p>
        </p:txBody>
      </p:sp>
      <p:sp>
        <p:nvSpPr>
          <p:cNvPr id="41" name="">
            <a:extLst xmlns:a="http://schemas.openxmlformats.org/drawingml/2006/main">
              <a:ext uri="{FF2B5EF4-FFF2-40B4-BE49-F238E27FC236}">
                <a16:creationId xmlns:a16="http://schemas.microsoft.com/office/drawing/2014/main" id="{495BE62A-882D-4F49-9F31-6C4288B22DC4}"/>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470200373"/>
      </p:ext>
    </p:extLst>
  </p:cSld>
</p:sld>
</file>

<file path=ppt/slides/slide18.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A9E57F-BB79-4DBE-8382-AA1B8139018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768B095-87B1-4906-9EC8-28143376DFF6}"/>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7A3EDE4-7EC3-40D1-BCA5-71A5EF70D2B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4F7D76"/>
                </a:solidFill>
                <a:latin typeface="Aptos"/>
                <a:ea typeface="Aptos"/>
                <a:cs typeface="Aptos"/>
              </a:defRPr>
            </a:pPr>
            <a:r>
              <a:rPr sz="900" b="1">
                <a:solidFill>
                  <a:srgbClr val="4F7D76"/>
                </a:solidFill>
                <a:latin typeface="Aptos"/>
                <a:ea typeface="Aptos"/>
                <a:cs typeface="Aptos"/>
              </a:rPr>
              <a:t>DATASET COMPOSITION</a:t>
            </a:r>
          </a:p>
        </p:txBody>
      </p:sp>
      <p:sp>
        <p:nvSpPr>
          <p:cNvPr id="4" name="">
            <a:extLst xmlns:a="http://schemas.openxmlformats.org/drawingml/2006/main">
              <a:ext uri="{FF2B5EF4-FFF2-40B4-BE49-F238E27FC236}">
                <a16:creationId xmlns:a16="http://schemas.microsoft.com/office/drawing/2014/main" id="{55F05242-0FB6-40C0-993E-624A037207D1}"/>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current thesis set combines exact controls, real proof, and explicit boundaries</a:t>
            </a:r>
          </a:p>
        </p:txBody>
      </p:sp>
      <p:sp>
        <p:nvSpPr>
          <p:cNvPr id="5" name="">
            <a:extLst xmlns:a="http://schemas.openxmlformats.org/drawingml/2006/main">
              <a:ext uri="{FF2B5EF4-FFF2-40B4-BE49-F238E27FC236}">
                <a16:creationId xmlns:a16="http://schemas.microsoft.com/office/drawing/2014/main" id="{02C885FD-2249-4473-AD97-BF14DFD0FEB0}"/>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8290A6"/>
                </a:solidFill>
                <a:latin typeface="Aptos"/>
                <a:ea typeface="Aptos"/>
                <a:cs typeface="Aptos"/>
              </a:defRPr>
            </a:pPr>
            <a:r>
              <a:rPr sz="900" b="1">
                <a:solidFill>
                  <a:srgbClr val="8290A6"/>
                </a:solidFill>
                <a:latin typeface="Aptos"/>
                <a:ea typeface="Aptos"/>
                <a:cs typeface="Aptos"/>
              </a:rPr>
              <a:t>18</a:t>
            </a:r>
          </a:p>
        </p:txBody>
      </p:sp>
      <p:sp>
        <p:nvSpPr>
          <p:cNvPr id="6" name="">
            <a:extLst xmlns:a="http://schemas.openxmlformats.org/drawingml/2006/main">
              <a:ext uri="{FF2B5EF4-FFF2-40B4-BE49-F238E27FC236}">
                <a16:creationId xmlns:a16="http://schemas.microsoft.com/office/drawing/2014/main" id="{517B20D5-452F-4E46-A39D-360F085F559B}"/>
              </a:ext>
            </a:extLst>
          </p:cNvPr>
          <p:cNvSpPr>
            <a:spLocks xmlns:a="http://schemas.openxmlformats.org/drawingml/2006/main" noGrp="1"/>
          </p:cNvSpPr>
          <p:nvPr/>
        </p:nvSpPr>
        <p:spPr>
          <a:xfrm xmlns:a="http://schemas.openxmlformats.org/drawingml/2006/main">
            <a:off x="685800" y="1581150"/>
            <a:ext cx="238125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35303464-7C66-4A30-BF4A-F7CDD9152CBA}"/>
              </a:ext>
            </a:extLst>
          </p:cNvPr>
          <p:cNvSpPr>
            <a:spLocks xmlns:a="http://schemas.openxmlformats.org/drawingml/2006/main" noGrp="1"/>
          </p:cNvSpPr>
          <p:nvPr/>
        </p:nvSpPr>
        <p:spPr>
          <a:xfrm xmlns:a="http://schemas.openxmlformats.org/drawingml/2006/main">
            <a:off x="8191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150" b="1">
                <a:solidFill>
                  <a:srgbClr val="6F7C61"/>
                </a:solidFill>
                <a:latin typeface="Aptos Display"/>
                <a:ea typeface="Aptos Display"/>
                <a:cs typeface="Aptos Display"/>
              </a:defRPr>
            </a:pPr>
            <a:r>
              <a:rPr sz="3150" b="1">
                <a:solidFill>
                  <a:srgbClr val="6F7C61"/>
                </a:solidFill>
                <a:latin typeface="Aptos Display"/>
                <a:ea typeface="Aptos Display"/>
                <a:cs typeface="Aptos Display"/>
              </a:rPr>
              <a:t>72</a:t>
            </a:r>
          </a:p>
        </p:txBody>
      </p:sp>
      <p:sp>
        <p:nvSpPr>
          <p:cNvPr id="8" name="">
            <a:extLst xmlns:a="http://schemas.openxmlformats.org/drawingml/2006/main">
              <a:ext uri="{FF2B5EF4-FFF2-40B4-BE49-F238E27FC236}">
                <a16:creationId xmlns:a16="http://schemas.microsoft.com/office/drawing/2014/main" id="{544940A4-CCA4-47F6-848C-EE6C88728C46}"/>
              </a:ext>
            </a:extLst>
          </p:cNvPr>
          <p:cNvSpPr>
            <a:spLocks xmlns:a="http://schemas.openxmlformats.org/drawingml/2006/main" noGrp="1"/>
          </p:cNvSpPr>
          <p:nvPr/>
        </p:nvSpPr>
        <p:spPr>
          <a:xfrm xmlns:a="http://schemas.openxmlformats.org/drawingml/2006/main">
            <a:off x="8191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B5C0D0"/>
                </a:solidFill>
                <a:latin typeface="Aptos"/>
                <a:ea typeface="Aptos"/>
                <a:cs typeface="Aptos"/>
              </a:defRPr>
            </a:pPr>
            <a:r>
              <a:rPr sz="900" b="1">
                <a:solidFill>
                  <a:srgbClr val="B5C0D0"/>
                </a:solidFill>
                <a:latin typeface="Aptos"/>
                <a:ea typeface="Aptos"/>
                <a:cs typeface="Aptos"/>
              </a:rPr>
              <a:t>controlled fixtures</a:t>
            </a:r>
          </a:p>
        </p:txBody>
      </p:sp>
      <p:sp>
        <p:nvSpPr>
          <p:cNvPr id="9" name="">
            <a:extLst xmlns:a="http://schemas.openxmlformats.org/drawingml/2006/main">
              <a:ext uri="{FF2B5EF4-FFF2-40B4-BE49-F238E27FC236}">
                <a16:creationId xmlns:a16="http://schemas.microsoft.com/office/drawing/2014/main" id="{8C10A337-AB65-45A9-AC44-020858259A50}"/>
              </a:ext>
            </a:extLst>
          </p:cNvPr>
          <p:cNvSpPr>
            <a:spLocks xmlns:a="http://schemas.openxmlformats.org/drawingml/2006/main" noGrp="1"/>
          </p:cNvSpPr>
          <p:nvPr/>
        </p:nvSpPr>
        <p:spPr>
          <a:xfrm xmlns:a="http://schemas.openxmlformats.org/drawingml/2006/main">
            <a:off x="3314700" y="1581150"/>
            <a:ext cx="238125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0" name="">
            <a:extLst xmlns:a="http://schemas.openxmlformats.org/drawingml/2006/main">
              <a:ext uri="{FF2B5EF4-FFF2-40B4-BE49-F238E27FC236}">
                <a16:creationId xmlns:a16="http://schemas.microsoft.com/office/drawing/2014/main" id="{8D8E96D0-8B64-4B0C-93BB-852E0F75FCCE}"/>
              </a:ext>
            </a:extLst>
          </p:cNvPr>
          <p:cNvSpPr>
            <a:spLocks xmlns:a="http://schemas.openxmlformats.org/drawingml/2006/main" noGrp="1"/>
          </p:cNvSpPr>
          <p:nvPr/>
        </p:nvSpPr>
        <p:spPr>
          <a:xfrm xmlns:a="http://schemas.openxmlformats.org/drawingml/2006/main">
            <a:off x="34480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150" b="1">
                <a:solidFill>
                  <a:srgbClr val="4F7D76"/>
                </a:solidFill>
                <a:latin typeface="Aptos Display"/>
                <a:ea typeface="Aptos Display"/>
                <a:cs typeface="Aptos Display"/>
              </a:defRPr>
            </a:pPr>
            <a:r>
              <a:rPr sz="3150" b="1">
                <a:solidFill>
                  <a:srgbClr val="4F7D76"/>
                </a:solidFill>
                <a:latin typeface="Aptos Display"/>
                <a:ea typeface="Aptos Display"/>
                <a:cs typeface="Aptos Display"/>
              </a:rPr>
              <a:t>102</a:t>
            </a:r>
          </a:p>
        </p:txBody>
      </p:sp>
      <p:sp>
        <p:nvSpPr>
          <p:cNvPr id="11" name="">
            <a:extLst xmlns:a="http://schemas.openxmlformats.org/drawingml/2006/main">
              <a:ext uri="{FF2B5EF4-FFF2-40B4-BE49-F238E27FC236}">
                <a16:creationId xmlns:a16="http://schemas.microsoft.com/office/drawing/2014/main" id="{45D14723-AF74-438D-8BC2-4DCA7AD6FD30}"/>
              </a:ext>
            </a:extLst>
          </p:cNvPr>
          <p:cNvSpPr>
            <a:spLocks xmlns:a="http://schemas.openxmlformats.org/drawingml/2006/main" noGrp="1"/>
          </p:cNvSpPr>
          <p:nvPr/>
        </p:nvSpPr>
        <p:spPr>
          <a:xfrm xmlns:a="http://schemas.openxmlformats.org/drawingml/2006/main">
            <a:off x="34480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B5C0D0"/>
                </a:solidFill>
                <a:latin typeface="Aptos"/>
                <a:ea typeface="Aptos"/>
                <a:cs typeface="Aptos"/>
              </a:defRPr>
            </a:pPr>
            <a:r>
              <a:rPr sz="900" b="1">
                <a:solidFill>
                  <a:srgbClr val="B5C0D0"/>
                </a:solidFill>
                <a:latin typeface="Aptos"/>
                <a:ea typeface="Aptos"/>
                <a:cs typeface="Aptos"/>
              </a:rPr>
              <a:t>source-validated real APKs</a:t>
            </a:r>
          </a:p>
        </p:txBody>
      </p:sp>
      <p:sp>
        <p:nvSpPr>
          <p:cNvPr id="12" name="">
            <a:extLst xmlns:a="http://schemas.openxmlformats.org/drawingml/2006/main">
              <a:ext uri="{FF2B5EF4-FFF2-40B4-BE49-F238E27FC236}">
                <a16:creationId xmlns:a16="http://schemas.microsoft.com/office/drawing/2014/main" id="{71212C62-9823-4158-A078-B6BF00B0FBEB}"/>
              </a:ext>
            </a:extLst>
          </p:cNvPr>
          <p:cNvSpPr>
            <a:spLocks xmlns:a="http://schemas.openxmlformats.org/drawingml/2006/main" noGrp="1"/>
          </p:cNvSpPr>
          <p:nvPr/>
        </p:nvSpPr>
        <p:spPr>
          <a:xfrm xmlns:a="http://schemas.openxmlformats.org/drawingml/2006/main">
            <a:off x="5943600" y="1581150"/>
            <a:ext cx="238125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1318FBEC-D295-496F-99A2-C06B0A5E5F3B}"/>
              </a:ext>
            </a:extLst>
          </p:cNvPr>
          <p:cNvSpPr>
            <a:spLocks xmlns:a="http://schemas.openxmlformats.org/drawingml/2006/main" noGrp="1"/>
          </p:cNvSpPr>
          <p:nvPr/>
        </p:nvSpPr>
        <p:spPr>
          <a:xfrm xmlns:a="http://schemas.openxmlformats.org/drawingml/2006/main">
            <a:off x="60769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850" b="1">
                <a:solidFill>
                  <a:srgbClr val="8D754D"/>
                </a:solidFill>
                <a:latin typeface="Aptos Display"/>
                <a:ea typeface="Aptos Display"/>
                <a:cs typeface="Aptos Display"/>
              </a:defRPr>
            </a:pPr>
            <a:r>
              <a:rPr sz="2850" b="1">
                <a:solidFill>
                  <a:srgbClr val="8D754D"/>
                </a:solidFill>
                <a:latin typeface="Aptos Display"/>
                <a:ea typeface="Aptos Display"/>
                <a:cs typeface="Aptos Display"/>
              </a:rPr>
              <a:t>5 / 97</a:t>
            </a:r>
          </a:p>
        </p:txBody>
      </p:sp>
      <p:sp>
        <p:nvSpPr>
          <p:cNvPr id="14" name="">
            <a:extLst xmlns:a="http://schemas.openxmlformats.org/drawingml/2006/main">
              <a:ext uri="{FF2B5EF4-FFF2-40B4-BE49-F238E27FC236}">
                <a16:creationId xmlns:a16="http://schemas.microsoft.com/office/drawing/2014/main" id="{31D44040-92DA-4A3A-B2B8-67E35EA7FECA}"/>
              </a:ext>
            </a:extLst>
          </p:cNvPr>
          <p:cNvSpPr>
            <a:spLocks xmlns:a="http://schemas.openxmlformats.org/drawingml/2006/main" noGrp="1"/>
          </p:cNvSpPr>
          <p:nvPr/>
        </p:nvSpPr>
        <p:spPr>
          <a:xfrm xmlns:a="http://schemas.openxmlformats.org/drawingml/2006/main">
            <a:off x="60769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B5C0D0"/>
                </a:solidFill>
                <a:latin typeface="Aptos"/>
                <a:ea typeface="Aptos"/>
                <a:cs typeface="Aptos"/>
              </a:defRPr>
            </a:pPr>
            <a:r>
              <a:rPr sz="900" b="1">
                <a:solidFill>
                  <a:srgbClr val="B5C0D0"/>
                </a:solidFill>
                <a:latin typeface="Aptos"/>
                <a:ea typeface="Aptos"/>
                <a:cs typeface="Aptos"/>
              </a:rPr>
              <a:t>clean / partial real APKs</a:t>
            </a:r>
          </a:p>
        </p:txBody>
      </p:sp>
      <p:sp>
        <p:nvSpPr>
          <p:cNvPr id="15" name="">
            <a:extLst xmlns:a="http://schemas.openxmlformats.org/drawingml/2006/main">
              <a:ext uri="{FF2B5EF4-FFF2-40B4-BE49-F238E27FC236}">
                <a16:creationId xmlns:a16="http://schemas.microsoft.com/office/drawing/2014/main" id="{0C7C75BA-DDF6-4EB0-AC28-25885295AAB5}"/>
              </a:ext>
            </a:extLst>
          </p:cNvPr>
          <p:cNvSpPr>
            <a:spLocks xmlns:a="http://schemas.openxmlformats.org/drawingml/2006/main" noGrp="1"/>
          </p:cNvSpPr>
          <p:nvPr/>
        </p:nvSpPr>
        <p:spPr>
          <a:xfrm xmlns:a="http://schemas.openxmlformats.org/drawingml/2006/main">
            <a:off x="8572500" y="1581150"/>
            <a:ext cx="238125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6" name="">
            <a:extLst xmlns:a="http://schemas.openxmlformats.org/drawingml/2006/main">
              <a:ext uri="{FF2B5EF4-FFF2-40B4-BE49-F238E27FC236}">
                <a16:creationId xmlns:a16="http://schemas.microsoft.com/office/drawing/2014/main" id="{E1A99063-CADE-41C1-9185-CD7F6194AC68}"/>
              </a:ext>
            </a:extLst>
          </p:cNvPr>
          <p:cNvSpPr>
            <a:spLocks xmlns:a="http://schemas.openxmlformats.org/drawingml/2006/main" noGrp="1"/>
          </p:cNvSpPr>
          <p:nvPr/>
        </p:nvSpPr>
        <p:spPr>
          <a:xfrm xmlns:a="http://schemas.openxmlformats.org/drawingml/2006/main">
            <a:off x="87058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150" b="1">
                <a:solidFill>
                  <a:srgbClr val="655F73"/>
                </a:solidFill>
                <a:latin typeface="Aptos Display"/>
                <a:ea typeface="Aptos Display"/>
                <a:cs typeface="Aptos Display"/>
              </a:defRPr>
            </a:pPr>
            <a:r>
              <a:rPr sz="3150" b="1">
                <a:solidFill>
                  <a:srgbClr val="655F73"/>
                </a:solidFill>
                <a:latin typeface="Aptos Display"/>
                <a:ea typeface="Aptos Display"/>
                <a:cs typeface="Aptos Display"/>
              </a:rPr>
              <a:t>4</a:t>
            </a:r>
          </a:p>
        </p:txBody>
      </p:sp>
      <p:sp>
        <p:nvSpPr>
          <p:cNvPr id="17" name="">
            <a:extLst xmlns:a="http://schemas.openxmlformats.org/drawingml/2006/main">
              <a:ext uri="{FF2B5EF4-FFF2-40B4-BE49-F238E27FC236}">
                <a16:creationId xmlns:a16="http://schemas.microsoft.com/office/drawing/2014/main" id="{E3124875-64D7-4312-9133-94077EA7DE2C}"/>
              </a:ext>
            </a:extLst>
          </p:cNvPr>
          <p:cNvSpPr>
            <a:spLocks xmlns:a="http://schemas.openxmlformats.org/drawingml/2006/main" noGrp="1"/>
          </p:cNvSpPr>
          <p:nvPr/>
        </p:nvSpPr>
        <p:spPr>
          <a:xfrm xmlns:a="http://schemas.openxmlformats.org/drawingml/2006/main">
            <a:off x="87058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B5C0D0"/>
                </a:solidFill>
                <a:latin typeface="Aptos"/>
                <a:ea typeface="Aptos"/>
                <a:cs typeface="Aptos"/>
              </a:defRPr>
            </a:pPr>
            <a:r>
              <a:rPr sz="900" b="1">
                <a:solidFill>
                  <a:srgbClr val="B5C0D0"/>
                </a:solidFill>
                <a:latin typeface="Aptos"/>
                <a:ea typeface="Aptos"/>
                <a:cs typeface="Aptos"/>
              </a:rPr>
              <a:t>limitation or boundary cases</a:t>
            </a:r>
          </a:p>
        </p:txBody>
      </p:sp>
      <p:sp>
        <p:nvSpPr>
          <p:cNvPr id="18" name="">
            <a:extLst xmlns:a="http://schemas.openxmlformats.org/drawingml/2006/main">
              <a:ext uri="{FF2B5EF4-FFF2-40B4-BE49-F238E27FC236}">
                <a16:creationId xmlns:a16="http://schemas.microsoft.com/office/drawing/2014/main" id="{42138B64-8AE9-4B03-B0CD-1440BE904940}"/>
              </a:ext>
            </a:extLst>
          </p:cNvPr>
          <p:cNvSpPr>
            <a:spLocks xmlns:a="http://schemas.openxmlformats.org/drawingml/2006/main" noGrp="1"/>
          </p:cNvSpPr>
          <p:nvPr/>
        </p:nvSpPr>
        <p:spPr>
          <a:xfrm xmlns:a="http://schemas.openxmlformats.org/drawingml/2006/main">
            <a:off x="685800" y="3162300"/>
            <a:ext cx="10267950" cy="20955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DC48FBFC-A12F-412B-A1B1-16D3E4377DC0}"/>
              </a:ext>
            </a:extLst>
          </p:cNvPr>
          <p:cNvSpPr>
            <a:spLocks xmlns:a="http://schemas.openxmlformats.org/drawingml/2006/main" noGrp="1"/>
          </p:cNvSpPr>
          <p:nvPr/>
        </p:nvSpPr>
        <p:spPr>
          <a:xfrm xmlns:a="http://schemas.openxmlformats.org/drawingml/2006/main">
            <a:off x="914400" y="3390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4F7D76"/>
                </a:solidFill>
                <a:latin typeface="Aptos"/>
                <a:ea typeface="Aptos"/>
                <a:cs typeface="Aptos"/>
              </a:defRPr>
            </a:pPr>
            <a:r>
              <a:rPr sz="900" b="1">
                <a:solidFill>
                  <a:srgbClr val="4F7D76"/>
                </a:solidFill>
                <a:latin typeface="Aptos"/>
                <a:ea typeface="Aptos"/>
                <a:cs typeface="Aptos"/>
              </a:rPr>
              <a:t>COVERAGE DIMENSIONS</a:t>
            </a:r>
          </a:p>
        </p:txBody>
      </p:sp>
      <p:sp>
        <p:nvSpPr>
          <p:cNvPr id="20" name="">
            <a:extLst xmlns:a="http://schemas.openxmlformats.org/drawingml/2006/main">
              <a:ext uri="{FF2B5EF4-FFF2-40B4-BE49-F238E27FC236}">
                <a16:creationId xmlns:a16="http://schemas.microsoft.com/office/drawing/2014/main" id="{F95B42AA-7515-4F5D-8C2A-3A28CF66775C}"/>
              </a:ext>
            </a:extLst>
          </p:cNvPr>
          <p:cNvSpPr>
            <a:spLocks xmlns:a="http://schemas.openxmlformats.org/drawingml/2006/main" noGrp="1"/>
          </p:cNvSpPr>
          <p:nvPr/>
        </p:nvSpPr>
        <p:spPr>
          <a:xfrm xmlns:a="http://schemas.openxmlformats.org/drawingml/2006/main">
            <a:off x="952500" y="38290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365F7D"/>
                </a:solidFill>
                <a:latin typeface="Aptos"/>
                <a:ea typeface="Aptos"/>
                <a:cs typeface="Aptos"/>
              </a:defRPr>
            </a:pPr>
            <a:r>
              <a:rPr sz="975" b="1">
                <a:solidFill>
                  <a:srgbClr val="365F7D"/>
                </a:solidFill>
                <a:latin typeface="Aptos"/>
                <a:ea typeface="Aptos"/>
                <a:cs typeface="Aptos"/>
              </a:rPr>
              <a:t>Build</a:t>
            </a:r>
          </a:p>
        </p:txBody>
      </p:sp>
      <p:sp>
        <p:nvSpPr>
          <p:cNvPr id="21" name="rule">
            <a:extLst xmlns:a="http://schemas.openxmlformats.org/drawingml/2006/main">
              <a:ext uri="{FF2B5EF4-FFF2-40B4-BE49-F238E27FC236}">
                <a16:creationId xmlns:a16="http://schemas.microsoft.com/office/drawing/2014/main" id="{CDD69AB1-3FA4-4B7E-A152-4A2E39A098A4}"/>
              </a:ext>
            </a:extLst>
          </p:cNvPr>
          <p:cNvSpPr>
            <a:spLocks xmlns:a="http://schemas.openxmlformats.org/drawingml/2006/main" noGrp="1"/>
          </p:cNvSpPr>
          <p:nvPr/>
        </p:nvSpPr>
        <p:spPr>
          <a:xfrm xmlns:a="http://schemas.openxmlformats.org/drawingml/2006/main">
            <a:off x="2171700" y="3924300"/>
            <a:ext cx="381000" cy="28575"/>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1CE753C-AB8E-4B98-A82C-0F3D14D435D2}"/>
              </a:ext>
            </a:extLst>
          </p:cNvPr>
          <p:cNvSpPr>
            <a:spLocks xmlns:a="http://schemas.openxmlformats.org/drawingml/2006/main" noGrp="1"/>
          </p:cNvSpPr>
          <p:nvPr/>
        </p:nvSpPr>
        <p:spPr>
          <a:xfrm xmlns:a="http://schemas.openxmlformats.org/drawingml/2006/main">
            <a:off x="2724150" y="37909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C0CAD8"/>
                </a:solidFill>
                <a:latin typeface="Aptos"/>
                <a:ea typeface="Aptos"/>
                <a:cs typeface="Aptos"/>
              </a:defRPr>
            </a:pPr>
            <a:r>
              <a:rPr sz="1050" b="0">
                <a:solidFill>
                  <a:srgbClr val="C0CAD8"/>
                </a:solidFill>
                <a:latin typeface="Aptos"/>
                <a:ea typeface="Aptos"/>
                <a:cs typeface="Aptos"/>
              </a:rPr>
              <a:t>clear  rename  shrink  optimize  repackage  inline stress</a:t>
            </a:r>
          </a:p>
        </p:txBody>
      </p:sp>
      <p:sp>
        <p:nvSpPr>
          <p:cNvPr id="23" name="">
            <a:extLst xmlns:a="http://schemas.openxmlformats.org/drawingml/2006/main">
              <a:ext uri="{FF2B5EF4-FFF2-40B4-BE49-F238E27FC236}">
                <a16:creationId xmlns:a16="http://schemas.microsoft.com/office/drawing/2014/main" id="{9E0B40EF-6A90-42B7-B08B-22A9E1B1FA13}"/>
              </a:ext>
            </a:extLst>
          </p:cNvPr>
          <p:cNvSpPr>
            <a:spLocks xmlns:a="http://schemas.openxmlformats.org/drawingml/2006/main" noGrp="1"/>
          </p:cNvSpPr>
          <p:nvPr/>
        </p:nvSpPr>
        <p:spPr>
          <a:xfrm xmlns:a="http://schemas.openxmlformats.org/drawingml/2006/main">
            <a:off x="952500" y="419100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4F7D76"/>
                </a:solidFill>
                <a:latin typeface="Aptos"/>
                <a:ea typeface="Aptos"/>
                <a:cs typeface="Aptos"/>
              </a:defRPr>
            </a:pPr>
            <a:r>
              <a:rPr sz="975" b="1">
                <a:solidFill>
                  <a:srgbClr val="4F7D76"/>
                </a:solidFill>
                <a:latin typeface="Aptos"/>
                <a:ea typeface="Aptos"/>
                <a:cs typeface="Aptos"/>
              </a:rPr>
              <a:t>Packaging</a:t>
            </a:r>
          </a:p>
        </p:txBody>
      </p:sp>
      <p:sp>
        <p:nvSpPr>
          <p:cNvPr id="24" name="rule">
            <a:extLst xmlns:a="http://schemas.openxmlformats.org/drawingml/2006/main">
              <a:ext uri="{FF2B5EF4-FFF2-40B4-BE49-F238E27FC236}">
                <a16:creationId xmlns:a16="http://schemas.microsoft.com/office/drawing/2014/main" id="{CFA9BB9A-6710-406C-B3DB-27886A9A8204}"/>
              </a:ext>
            </a:extLst>
          </p:cNvPr>
          <p:cNvSpPr>
            <a:spLocks xmlns:a="http://schemas.openxmlformats.org/drawingml/2006/main" noGrp="1"/>
          </p:cNvSpPr>
          <p:nvPr/>
        </p:nvSpPr>
        <p:spPr>
          <a:xfrm xmlns:a="http://schemas.openxmlformats.org/drawingml/2006/main">
            <a:off x="2171700" y="4286250"/>
            <a:ext cx="381000" cy="285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EDBC9BC-FC59-43C8-B78D-F2D8DE0EEA50}"/>
              </a:ext>
            </a:extLst>
          </p:cNvPr>
          <p:cNvSpPr>
            <a:spLocks xmlns:a="http://schemas.openxmlformats.org/drawingml/2006/main" noGrp="1"/>
          </p:cNvSpPr>
          <p:nvPr/>
        </p:nvSpPr>
        <p:spPr>
          <a:xfrm xmlns:a="http://schemas.openxmlformats.org/drawingml/2006/main">
            <a:off x="2724150" y="41529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C0CAD8"/>
                </a:solidFill>
                <a:latin typeface="Aptos"/>
                <a:ea typeface="Aptos"/>
                <a:cs typeface="Aptos"/>
              </a:defRPr>
            </a:pPr>
            <a:r>
              <a:rPr sz="1050" b="0">
                <a:solidFill>
                  <a:srgbClr val="C0CAD8"/>
                </a:solidFill>
                <a:latin typeface="Aptos"/>
                <a:ea typeface="Aptos"/>
                <a:cs typeface="Aptos"/>
              </a:rPr>
              <a:t>single DEX  multidex  multi-library  native-heavy</a:t>
            </a:r>
          </a:p>
        </p:txBody>
      </p:sp>
      <p:sp>
        <p:nvSpPr>
          <p:cNvPr id="26" name="">
            <a:extLst xmlns:a="http://schemas.openxmlformats.org/drawingml/2006/main">
              <a:ext uri="{FF2B5EF4-FFF2-40B4-BE49-F238E27FC236}">
                <a16:creationId xmlns:a16="http://schemas.microsoft.com/office/drawing/2014/main" id="{280F805D-1756-4C1E-A34F-C0C91819CF0B}"/>
              </a:ext>
            </a:extLst>
          </p:cNvPr>
          <p:cNvSpPr>
            <a:spLocks xmlns:a="http://schemas.openxmlformats.org/drawingml/2006/main" noGrp="1"/>
          </p:cNvSpPr>
          <p:nvPr/>
        </p:nvSpPr>
        <p:spPr>
          <a:xfrm xmlns:a="http://schemas.openxmlformats.org/drawingml/2006/main">
            <a:off x="952500" y="45529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8D754D"/>
                </a:solidFill>
                <a:latin typeface="Aptos"/>
                <a:ea typeface="Aptos"/>
                <a:cs typeface="Aptos"/>
              </a:defRPr>
            </a:pPr>
            <a:r>
              <a:rPr sz="975" b="1">
                <a:solidFill>
                  <a:srgbClr val="8D754D"/>
                </a:solidFill>
                <a:latin typeface="Aptos"/>
                <a:ea typeface="Aptos"/>
                <a:cs typeface="Aptos"/>
              </a:rPr>
              <a:t>Ecosystem</a:t>
            </a:r>
          </a:p>
        </p:txBody>
      </p:sp>
      <p:sp>
        <p:nvSpPr>
          <p:cNvPr id="27" name="rule">
            <a:extLst xmlns:a="http://schemas.openxmlformats.org/drawingml/2006/main">
              <a:ext uri="{FF2B5EF4-FFF2-40B4-BE49-F238E27FC236}">
                <a16:creationId xmlns:a16="http://schemas.microsoft.com/office/drawing/2014/main" id="{C0A6A512-AF30-4800-BB27-D2F3BE200504}"/>
              </a:ext>
            </a:extLst>
          </p:cNvPr>
          <p:cNvSpPr>
            <a:spLocks xmlns:a="http://schemas.openxmlformats.org/drawingml/2006/main" noGrp="1"/>
          </p:cNvSpPr>
          <p:nvPr/>
        </p:nvSpPr>
        <p:spPr>
          <a:xfrm xmlns:a="http://schemas.openxmlformats.org/drawingml/2006/main">
            <a:off x="2171700" y="4648200"/>
            <a:ext cx="381000" cy="285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876D9E2-CAB1-458C-9A13-7C409F742FFA}"/>
              </a:ext>
            </a:extLst>
          </p:cNvPr>
          <p:cNvSpPr>
            <a:spLocks xmlns:a="http://schemas.openxmlformats.org/drawingml/2006/main" noGrp="1"/>
          </p:cNvSpPr>
          <p:nvPr/>
        </p:nvSpPr>
        <p:spPr>
          <a:xfrm xmlns:a="http://schemas.openxmlformats.org/drawingml/2006/main">
            <a:off x="2724150" y="45148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C0CAD8"/>
                </a:solidFill>
                <a:latin typeface="Aptos"/>
                <a:ea typeface="Aptos"/>
                <a:cs typeface="Aptos"/>
              </a:defRPr>
            </a:pPr>
            <a:r>
              <a:rPr sz="1050" b="0">
                <a:solidFill>
                  <a:srgbClr val="C0CAD8"/>
                </a:solidFill>
                <a:latin typeface="Aptos"/>
                <a:ea typeface="Aptos"/>
                <a:cs typeface="Aptos"/>
              </a:rPr>
              <a:t>AndroidX  Kotlin  Compose  networking  security  legacy</a:t>
            </a:r>
          </a:p>
        </p:txBody>
      </p:sp>
      <p:sp>
        <p:nvSpPr>
          <p:cNvPr id="29" name="">
            <a:extLst xmlns:a="http://schemas.openxmlformats.org/drawingml/2006/main">
              <a:ext uri="{FF2B5EF4-FFF2-40B4-BE49-F238E27FC236}">
                <a16:creationId xmlns:a16="http://schemas.microsoft.com/office/drawing/2014/main" id="{73DE5F6D-DA5C-4734-8C4A-76102C13FC90}"/>
              </a:ext>
            </a:extLst>
          </p:cNvPr>
          <p:cNvSpPr>
            <a:spLocks xmlns:a="http://schemas.openxmlformats.org/drawingml/2006/main" noGrp="1"/>
          </p:cNvSpPr>
          <p:nvPr/>
        </p:nvSpPr>
        <p:spPr>
          <a:xfrm xmlns:a="http://schemas.openxmlformats.org/drawingml/2006/main">
            <a:off x="952500" y="491490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55F73"/>
                </a:solidFill>
                <a:latin typeface="Aptos"/>
                <a:ea typeface="Aptos"/>
                <a:cs typeface="Aptos"/>
              </a:defRPr>
            </a:pPr>
            <a:r>
              <a:rPr sz="975" b="1">
                <a:solidFill>
                  <a:srgbClr val="655F73"/>
                </a:solidFill>
                <a:latin typeface="Aptos"/>
                <a:ea typeface="Aptos"/>
                <a:cs typeface="Aptos"/>
              </a:rPr>
              <a:t>Boundaries</a:t>
            </a:r>
          </a:p>
        </p:txBody>
      </p:sp>
      <p:sp>
        <p:nvSpPr>
          <p:cNvPr id="30" name="rule">
            <a:extLst xmlns:a="http://schemas.openxmlformats.org/drawingml/2006/main">
              <a:ext uri="{FF2B5EF4-FFF2-40B4-BE49-F238E27FC236}">
                <a16:creationId xmlns:a16="http://schemas.microsoft.com/office/drawing/2014/main" id="{22ECF34D-3CC8-4665-9E76-F9D67C96744E}"/>
              </a:ext>
            </a:extLst>
          </p:cNvPr>
          <p:cNvSpPr>
            <a:spLocks xmlns:a="http://schemas.openxmlformats.org/drawingml/2006/main" noGrp="1"/>
          </p:cNvSpPr>
          <p:nvPr/>
        </p:nvSpPr>
        <p:spPr>
          <a:xfrm xmlns:a="http://schemas.openxmlformats.org/drawingml/2006/main">
            <a:off x="2171700" y="5010150"/>
            <a:ext cx="381000" cy="28575"/>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0F6FB5A-3B7E-4967-894A-6BCF082420F3}"/>
              </a:ext>
            </a:extLst>
          </p:cNvPr>
          <p:cNvSpPr>
            <a:spLocks xmlns:a="http://schemas.openxmlformats.org/drawingml/2006/main" noGrp="1"/>
          </p:cNvSpPr>
          <p:nvPr/>
        </p:nvSpPr>
        <p:spPr>
          <a:xfrm xmlns:a="http://schemas.openxmlformats.org/drawingml/2006/main">
            <a:off x="2724150" y="487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C0CAD8"/>
                </a:solidFill>
                <a:latin typeface="Aptos"/>
                <a:ea typeface="Aptos"/>
                <a:cs typeface="Aptos"/>
              </a:defRPr>
            </a:pPr>
            <a:r>
              <a:rPr sz="1050" b="0">
                <a:solidFill>
                  <a:srgbClr val="C0CAD8"/>
                </a:solidFill>
                <a:latin typeface="Aptos"/>
                <a:ea typeface="Aptos"/>
                <a:cs typeface="Aptos"/>
              </a:rPr>
              <a:t>native .so  hidden DEX  protected/obfuscated samples</a:t>
            </a:r>
          </a:p>
        </p:txBody>
      </p:sp>
      <p:sp>
        <p:nvSpPr>
          <p:cNvPr id="32" name="">
            <a:extLst xmlns:a="http://schemas.openxmlformats.org/drawingml/2006/main">
              <a:ext uri="{FF2B5EF4-FFF2-40B4-BE49-F238E27FC236}">
                <a16:creationId xmlns:a16="http://schemas.microsoft.com/office/drawing/2014/main" id="{7DBC26E6-F8AC-4ED0-872D-1741754331BA}"/>
              </a:ext>
            </a:extLst>
          </p:cNvPr>
          <p:cNvSpPr>
            <a:spLocks xmlns:a="http://schemas.openxmlformats.org/drawingml/2006/main" noGrp="1"/>
          </p:cNvSpPr>
          <p:nvPr/>
        </p:nvSpPr>
        <p:spPr>
          <a:xfrm xmlns:a="http://schemas.openxmlformats.org/drawingml/2006/main">
            <a:off x="685800" y="569595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B297445-5AEE-498B-ABB6-CEBD2FDE6468}"/>
              </a:ext>
            </a:extLst>
          </p:cNvPr>
          <p:cNvSpPr>
            <a:spLocks xmlns:a="http://schemas.openxmlformats.org/drawingml/2006/main" noGrp="1"/>
          </p:cNvSpPr>
          <p:nvPr/>
        </p:nvSpPr>
        <p:spPr>
          <a:xfrm xmlns:a="http://schemas.openxmlformats.org/drawingml/2006/main">
            <a:off x="819150" y="57626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Canonical truth: data/results/evaluation/thesis-evaluation-tables.json  |  docs/evaluation/THESIS_EVALUATION_TABLES.md</a:t>
            </a:r>
          </a:p>
        </p:txBody>
      </p:sp>
      <p:sp>
        <p:nvSpPr>
          <p:cNvPr id="34" name="">
            <a:extLst xmlns:a="http://schemas.openxmlformats.org/drawingml/2006/main">
              <a:ext uri="{FF2B5EF4-FFF2-40B4-BE49-F238E27FC236}">
                <a16:creationId xmlns:a16="http://schemas.microsoft.com/office/drawing/2014/main" id="{436DCCAE-2BD7-4C8D-95B8-EA6E60C8B5A8}"/>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848533242"/>
      </p:ext>
    </p:extLst>
  </p:cSld>
</p:sld>
</file>

<file path=ppt/slides/slide19.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7945350-373F-4D40-8025-7AC9349082E9}"/>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A65C55"/>
                </a:solidFill>
                <a:latin typeface="Aptos"/>
                <a:ea typeface="Aptos"/>
                <a:cs typeface="Aptos"/>
              </a:defRPr>
            </a:pPr>
            <a:r>
              <a:rPr sz="900" b="1">
                <a:solidFill>
                  <a:srgbClr val="A65C55"/>
                </a:solidFill>
                <a:latin typeface="Aptos"/>
                <a:ea typeface="Aptos"/>
                <a:cs typeface="Aptos"/>
              </a:rPr>
              <a:t>EVALUATION METHODOLOGY</a:t>
            </a:r>
          </a:p>
        </p:txBody>
      </p:sp>
      <p:sp>
        <p:nvSpPr>
          <p:cNvPr id="2" name="">
            <a:extLst xmlns:a="http://schemas.openxmlformats.org/drawingml/2006/main">
              <a:ext uri="{FF2B5EF4-FFF2-40B4-BE49-F238E27FC236}">
                <a16:creationId xmlns:a16="http://schemas.microsoft.com/office/drawing/2014/main" id="{5CED2AB0-6670-4516-AAB6-8F61AE19BD33}"/>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methodology measures only what each ground-truth layer can support</a:t>
            </a:r>
          </a:p>
        </p:txBody>
      </p:sp>
      <p:sp>
        <p:nvSpPr>
          <p:cNvPr id="3" name="">
            <a:extLst xmlns:a="http://schemas.openxmlformats.org/drawingml/2006/main">
              <a:ext uri="{FF2B5EF4-FFF2-40B4-BE49-F238E27FC236}">
                <a16:creationId xmlns:a16="http://schemas.microsoft.com/office/drawing/2014/main" id="{78471EE9-BB6C-4E55-8B45-1EB2568C0E7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19</a:t>
            </a:r>
          </a:p>
        </p:txBody>
      </p:sp>
      <p:sp>
        <p:nvSpPr>
          <p:cNvPr id="4" name="">
            <a:extLst xmlns:a="http://schemas.openxmlformats.org/drawingml/2006/main">
              <a:ext uri="{FF2B5EF4-FFF2-40B4-BE49-F238E27FC236}">
                <a16:creationId xmlns:a16="http://schemas.microsoft.com/office/drawing/2014/main" id="{A9E50B64-3B6F-4104-8931-42A5065BA92A}"/>
              </a:ext>
            </a:extLst>
          </p:cNvPr>
          <p:cNvSpPr>
            <a:spLocks xmlns:a="http://schemas.openxmlformats.org/drawingml/2006/main" noGrp="1"/>
          </p:cNvSpPr>
          <p:nvPr/>
        </p:nvSpPr>
        <p:spPr>
          <a:xfrm xmlns:a="http://schemas.openxmlformats.org/drawingml/2006/main">
            <a:off x="685800" y="1524000"/>
            <a:ext cx="108204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5" name="">
            <a:extLst xmlns:a="http://schemas.openxmlformats.org/drawingml/2006/main">
              <a:ext uri="{FF2B5EF4-FFF2-40B4-BE49-F238E27FC236}">
                <a16:creationId xmlns:a16="http://schemas.microsoft.com/office/drawing/2014/main" id="{7EAB8769-AF12-4A71-B85A-7CFBCEEC7047}"/>
              </a:ext>
            </a:extLst>
          </p:cNvPr>
          <p:cNvSpPr>
            <a:spLocks xmlns:a="http://schemas.openxmlformats.org/drawingml/2006/main" noGrp="1"/>
          </p:cNvSpPr>
          <p:nvPr/>
        </p:nvSpPr>
        <p:spPr>
          <a:xfrm xmlns:a="http://schemas.openxmlformats.org/drawingml/2006/main">
            <a:off x="895350" y="16954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6F7C61"/>
                </a:solidFill>
                <a:latin typeface="Aptos"/>
                <a:ea typeface="Aptos"/>
                <a:cs typeface="Aptos"/>
              </a:defRPr>
            </a:pPr>
            <a:r>
              <a:rPr sz="1425" b="1">
                <a:solidFill>
                  <a:srgbClr val="6F7C61"/>
                </a:solidFill>
                <a:latin typeface="Aptos"/>
                <a:ea typeface="Aptos"/>
                <a:cs typeface="Aptos"/>
              </a:rPr>
              <a:t>Controlled</a:t>
            </a:r>
          </a:p>
        </p:txBody>
      </p:sp>
      <p:sp>
        <p:nvSpPr>
          <p:cNvPr id="6" name="">
            <a:extLst xmlns:a="http://schemas.openxmlformats.org/drawingml/2006/main">
              <a:ext uri="{FF2B5EF4-FFF2-40B4-BE49-F238E27FC236}">
                <a16:creationId xmlns:a16="http://schemas.microsoft.com/office/drawing/2014/main" id="{5182B6E0-81EC-4789-9CF1-D1907E261A56}"/>
              </a:ext>
            </a:extLst>
          </p:cNvPr>
          <p:cNvSpPr>
            <a:spLocks xmlns:a="http://schemas.openxmlformats.org/drawingml/2006/main" noGrp="1"/>
          </p:cNvSpPr>
          <p:nvPr/>
        </p:nvSpPr>
        <p:spPr>
          <a:xfrm xmlns:a="http://schemas.openxmlformats.org/drawingml/2006/main">
            <a:off x="2609850" y="16764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02A33"/>
                </a:solidFill>
                <a:latin typeface="Aptos"/>
                <a:ea typeface="Aptos"/>
                <a:cs typeface="Aptos"/>
              </a:defRPr>
            </a:pPr>
            <a:r>
              <a:rPr sz="975" b="1">
                <a:solidFill>
                  <a:srgbClr val="202A33"/>
                </a:solidFill>
                <a:latin typeface="Aptos"/>
                <a:ea typeface="Aptos"/>
                <a:cs typeface="Aptos"/>
              </a:rPr>
              <a:t>Expected coordinate + version</a:t>
            </a:r>
          </a:p>
        </p:txBody>
      </p:sp>
      <p:sp>
        <p:nvSpPr>
          <p:cNvPr id="7" name="">
            <a:extLst xmlns:a="http://schemas.openxmlformats.org/drawingml/2006/main">
              <a:ext uri="{FF2B5EF4-FFF2-40B4-BE49-F238E27FC236}">
                <a16:creationId xmlns:a16="http://schemas.microsoft.com/office/drawing/2014/main" id="{A5519011-7525-4E4B-9F06-659E695066DF}"/>
              </a:ext>
            </a:extLst>
          </p:cNvPr>
          <p:cNvSpPr>
            <a:spLocks xmlns:a="http://schemas.openxmlformats.org/drawingml/2006/main" noGrp="1"/>
          </p:cNvSpPr>
          <p:nvPr/>
        </p:nvSpPr>
        <p:spPr>
          <a:xfrm xmlns:a="http://schemas.openxmlformats.org/drawingml/2006/main">
            <a:off x="5410200" y="16764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65717A"/>
                </a:solidFill>
                <a:latin typeface="Aptos"/>
                <a:ea typeface="Aptos"/>
                <a:cs typeface="Aptos"/>
              </a:defRPr>
            </a:pPr>
            <a:r>
              <a:rPr sz="975" b="0">
                <a:solidFill>
                  <a:srgbClr val="65717A"/>
                </a:solidFill>
                <a:latin typeface="Aptos"/>
                <a:ea typeface="Aptos"/>
                <a:cs typeface="Aptos"/>
              </a:rPr>
              <a:t>TP / FP / FN / version mismatch</a:t>
            </a:r>
          </a:p>
        </p:txBody>
      </p:sp>
      <p:sp>
        <p:nvSpPr>
          <p:cNvPr id="8" name="">
            <a:extLst xmlns:a="http://schemas.openxmlformats.org/drawingml/2006/main">
              <a:ext uri="{FF2B5EF4-FFF2-40B4-BE49-F238E27FC236}">
                <a16:creationId xmlns:a16="http://schemas.microsoft.com/office/drawing/2014/main" id="{1E117A50-6024-4C8F-8F73-D80E79A8A003}"/>
              </a:ext>
            </a:extLst>
          </p:cNvPr>
          <p:cNvSpPr>
            <a:spLocks xmlns:a="http://schemas.openxmlformats.org/drawingml/2006/main" noGrp="1"/>
          </p:cNvSpPr>
          <p:nvPr/>
        </p:nvSpPr>
        <p:spPr>
          <a:xfrm xmlns:a="http://schemas.openxmlformats.org/drawingml/2006/main">
            <a:off x="8515350" y="1771650"/>
            <a:ext cx="26860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6F7C61"/>
            </a:solidFill>
            <a:prstDash val="solid"/>
          </a:ln>
        </p:spPr>
      </p:sp>
      <p:sp>
        <p:nvSpPr>
          <p:cNvPr id="9" name="">
            <a:extLst xmlns:a="http://schemas.openxmlformats.org/drawingml/2006/main">
              <a:ext uri="{FF2B5EF4-FFF2-40B4-BE49-F238E27FC236}">
                <a16:creationId xmlns:a16="http://schemas.microsoft.com/office/drawing/2014/main" id="{CC7198BD-26C4-4D0A-B6F0-7558269516D5}"/>
              </a:ext>
            </a:extLst>
          </p:cNvPr>
          <p:cNvSpPr>
            <a:spLocks xmlns:a="http://schemas.openxmlformats.org/drawingml/2006/main" noGrp="1"/>
          </p:cNvSpPr>
          <p:nvPr/>
        </p:nvSpPr>
        <p:spPr>
          <a:xfrm xmlns:a="http://schemas.openxmlformats.org/drawingml/2006/main">
            <a:off x="8582025" y="1828800"/>
            <a:ext cx="2552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F7C61"/>
                </a:solidFill>
                <a:latin typeface="Aptos"/>
                <a:ea typeface="Aptos"/>
                <a:cs typeface="Aptos"/>
              </a:defRPr>
            </a:pPr>
            <a:r>
              <a:rPr sz="825" b="1">
                <a:solidFill>
                  <a:srgbClr val="6F7C61"/>
                </a:solidFill>
                <a:latin typeface="Aptos"/>
                <a:ea typeface="Aptos"/>
                <a:cs typeface="Aptos"/>
              </a:rPr>
              <a:t>Precision, recall, F1, exact version</a:t>
            </a:r>
          </a:p>
        </p:txBody>
      </p:sp>
      <p:sp>
        <p:nvSpPr>
          <p:cNvPr id="10" name="">
            <a:extLst xmlns:a="http://schemas.openxmlformats.org/drawingml/2006/main">
              <a:ext uri="{FF2B5EF4-FFF2-40B4-BE49-F238E27FC236}">
                <a16:creationId xmlns:a16="http://schemas.microsoft.com/office/drawing/2014/main" id="{E3EF4FA4-BDDC-42CD-87E5-CF341AF61047}"/>
              </a:ext>
            </a:extLst>
          </p:cNvPr>
          <p:cNvSpPr>
            <a:spLocks xmlns:a="http://schemas.openxmlformats.org/drawingml/2006/main" noGrp="1"/>
          </p:cNvSpPr>
          <p:nvPr/>
        </p:nvSpPr>
        <p:spPr>
          <a:xfrm xmlns:a="http://schemas.openxmlformats.org/drawingml/2006/main">
            <a:off x="685800" y="2762250"/>
            <a:ext cx="108204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B8FD1B79-2F3F-4A57-8BC4-7BDAB45A4FDC}"/>
              </a:ext>
            </a:extLst>
          </p:cNvPr>
          <p:cNvSpPr>
            <a:spLocks xmlns:a="http://schemas.openxmlformats.org/drawingml/2006/main" noGrp="1"/>
          </p:cNvSpPr>
          <p:nvPr/>
        </p:nvSpPr>
        <p:spPr>
          <a:xfrm xmlns:a="http://schemas.openxmlformats.org/drawingml/2006/main">
            <a:off x="895350" y="29337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4F7D76"/>
                </a:solidFill>
                <a:latin typeface="Aptos"/>
                <a:ea typeface="Aptos"/>
                <a:cs typeface="Aptos"/>
              </a:defRPr>
            </a:pPr>
            <a:r>
              <a:rPr sz="1425" b="1">
                <a:solidFill>
                  <a:srgbClr val="4F7D76"/>
                </a:solidFill>
                <a:latin typeface="Aptos"/>
                <a:ea typeface="Aptos"/>
                <a:cs typeface="Aptos"/>
              </a:rPr>
              <a:t>Source-validated</a:t>
            </a:r>
          </a:p>
        </p:txBody>
      </p:sp>
      <p:sp>
        <p:nvSpPr>
          <p:cNvPr id="12" name="">
            <a:extLst xmlns:a="http://schemas.openxmlformats.org/drawingml/2006/main">
              <a:ext uri="{FF2B5EF4-FFF2-40B4-BE49-F238E27FC236}">
                <a16:creationId xmlns:a16="http://schemas.microsoft.com/office/drawing/2014/main" id="{EC23EDFF-E8A9-4FDC-A3DD-EE9751B6A8F4}"/>
              </a:ext>
            </a:extLst>
          </p:cNvPr>
          <p:cNvSpPr>
            <a:spLocks xmlns:a="http://schemas.openxmlformats.org/drawingml/2006/main" noGrp="1"/>
          </p:cNvSpPr>
          <p:nvPr/>
        </p:nvSpPr>
        <p:spPr>
          <a:xfrm xmlns:a="http://schemas.openxmlformats.org/drawingml/2006/main">
            <a:off x="2609850" y="29146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02A33"/>
                </a:solidFill>
                <a:latin typeface="Aptos"/>
                <a:ea typeface="Aptos"/>
                <a:cs typeface="Aptos"/>
              </a:defRPr>
            </a:pPr>
            <a:r>
              <a:rPr sz="975" b="1">
                <a:solidFill>
                  <a:srgbClr val="202A33"/>
                </a:solidFill>
                <a:latin typeface="Aptos"/>
                <a:ea typeface="Aptos"/>
                <a:cs typeface="Aptos"/>
              </a:rPr>
              <a:t>Resolved runtime dependency tree</a:t>
            </a:r>
          </a:p>
        </p:txBody>
      </p:sp>
      <p:sp>
        <p:nvSpPr>
          <p:cNvPr id="13" name="">
            <a:extLst xmlns:a="http://schemas.openxmlformats.org/drawingml/2006/main">
              <a:ext uri="{FF2B5EF4-FFF2-40B4-BE49-F238E27FC236}">
                <a16:creationId xmlns:a16="http://schemas.microsoft.com/office/drawing/2014/main" id="{E5D2AEC4-DE5A-4E47-A002-531D040182F4}"/>
              </a:ext>
            </a:extLst>
          </p:cNvPr>
          <p:cNvSpPr>
            <a:spLocks xmlns:a="http://schemas.openxmlformats.org/drawingml/2006/main" noGrp="1"/>
          </p:cNvSpPr>
          <p:nvPr/>
        </p:nvSpPr>
        <p:spPr>
          <a:xfrm xmlns:a="http://schemas.openxmlformats.org/drawingml/2006/main">
            <a:off x="5410200" y="29146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65717A"/>
                </a:solidFill>
                <a:latin typeface="Aptos"/>
                <a:ea typeface="Aptos"/>
                <a:cs typeface="Aptos"/>
              </a:defRPr>
            </a:pPr>
            <a:r>
              <a:rPr sz="975" b="0">
                <a:solidFill>
                  <a:srgbClr val="65717A"/>
                </a:solidFill>
                <a:latin typeface="Aptos"/>
                <a:ea typeface="Aptos"/>
                <a:cs typeface="Aptos"/>
              </a:rPr>
              <a:t>Confirmed / mismatch / missing or nuance</a:t>
            </a:r>
          </a:p>
        </p:txBody>
      </p:sp>
      <p:sp>
        <p:nvSpPr>
          <p:cNvPr id="14" name="">
            <a:extLst xmlns:a="http://schemas.openxmlformats.org/drawingml/2006/main">
              <a:ext uri="{FF2B5EF4-FFF2-40B4-BE49-F238E27FC236}">
                <a16:creationId xmlns:a16="http://schemas.microsoft.com/office/drawing/2014/main" id="{57F0003C-F541-4559-AAB9-E0745530B8A4}"/>
              </a:ext>
            </a:extLst>
          </p:cNvPr>
          <p:cNvSpPr>
            <a:spLocks xmlns:a="http://schemas.openxmlformats.org/drawingml/2006/main" noGrp="1"/>
          </p:cNvSpPr>
          <p:nvPr/>
        </p:nvSpPr>
        <p:spPr>
          <a:xfrm xmlns:a="http://schemas.openxmlformats.org/drawingml/2006/main">
            <a:off x="8515350" y="3009900"/>
            <a:ext cx="26860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4F7D76"/>
            </a:solidFill>
            <a:prstDash val="solid"/>
          </a:ln>
        </p:spPr>
      </p:sp>
      <p:sp>
        <p:nvSpPr>
          <p:cNvPr id="15" name="">
            <a:extLst xmlns:a="http://schemas.openxmlformats.org/drawingml/2006/main">
              <a:ext uri="{FF2B5EF4-FFF2-40B4-BE49-F238E27FC236}">
                <a16:creationId xmlns:a16="http://schemas.microsoft.com/office/drawing/2014/main" id="{BAA80790-08EC-4D49-854B-E40F62B07ED5}"/>
              </a:ext>
            </a:extLst>
          </p:cNvPr>
          <p:cNvSpPr>
            <a:spLocks xmlns:a="http://schemas.openxmlformats.org/drawingml/2006/main" noGrp="1"/>
          </p:cNvSpPr>
          <p:nvPr/>
        </p:nvSpPr>
        <p:spPr>
          <a:xfrm xmlns:a="http://schemas.openxmlformats.org/drawingml/2006/main">
            <a:off x="8582025" y="3067050"/>
            <a:ext cx="2552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4F7D76"/>
                </a:solidFill>
                <a:latin typeface="Aptos"/>
                <a:ea typeface="Aptos"/>
                <a:cs typeface="Aptos"/>
              </a:defRPr>
            </a:pPr>
            <a:r>
              <a:rPr sz="825" b="1">
                <a:solidFill>
                  <a:srgbClr val="4F7D76"/>
                </a:solidFill>
                <a:latin typeface="Aptos"/>
                <a:ea typeface="Aptos"/>
                <a:cs typeface="Aptos"/>
              </a:rPr>
              <a:t>Emitted Maven version confirmation</a:t>
            </a:r>
          </a:p>
        </p:txBody>
      </p:sp>
      <p:sp>
        <p:nvSpPr>
          <p:cNvPr id="16" name="">
            <a:extLst xmlns:a="http://schemas.openxmlformats.org/drawingml/2006/main">
              <a:ext uri="{FF2B5EF4-FFF2-40B4-BE49-F238E27FC236}">
                <a16:creationId xmlns:a16="http://schemas.microsoft.com/office/drawing/2014/main" id="{9D8ACD3A-79CF-4F0C-9F85-946400E40D72}"/>
              </a:ext>
            </a:extLst>
          </p:cNvPr>
          <p:cNvSpPr>
            <a:spLocks xmlns:a="http://schemas.openxmlformats.org/drawingml/2006/main" noGrp="1"/>
          </p:cNvSpPr>
          <p:nvPr/>
        </p:nvSpPr>
        <p:spPr>
          <a:xfrm xmlns:a="http://schemas.openxmlformats.org/drawingml/2006/main">
            <a:off x="685800" y="4000500"/>
            <a:ext cx="108204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17" name="">
            <a:extLst xmlns:a="http://schemas.openxmlformats.org/drawingml/2006/main">
              <a:ext uri="{FF2B5EF4-FFF2-40B4-BE49-F238E27FC236}">
                <a16:creationId xmlns:a16="http://schemas.microsoft.com/office/drawing/2014/main" id="{A2EC1679-C91E-450F-A96B-F4B4C5E14714}"/>
              </a:ext>
            </a:extLst>
          </p:cNvPr>
          <p:cNvSpPr>
            <a:spLocks xmlns:a="http://schemas.openxmlformats.org/drawingml/2006/main" noGrp="1"/>
          </p:cNvSpPr>
          <p:nvPr/>
        </p:nvSpPr>
        <p:spPr>
          <a:xfrm xmlns:a="http://schemas.openxmlformats.org/drawingml/2006/main">
            <a:off x="895350" y="41719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655F73"/>
                </a:solidFill>
                <a:latin typeface="Aptos"/>
                <a:ea typeface="Aptos"/>
                <a:cs typeface="Aptos"/>
              </a:defRPr>
            </a:pPr>
            <a:r>
              <a:rPr sz="1425" b="1">
                <a:solidFill>
                  <a:srgbClr val="655F73"/>
                </a:solidFill>
                <a:latin typeface="Aptos"/>
                <a:ea typeface="Aptos"/>
                <a:cs typeface="Aptos"/>
              </a:rPr>
              <a:t>Smoke / limitation</a:t>
            </a:r>
          </a:p>
        </p:txBody>
      </p:sp>
      <p:sp>
        <p:nvSpPr>
          <p:cNvPr id="18" name="">
            <a:extLst xmlns:a="http://schemas.openxmlformats.org/drawingml/2006/main">
              <a:ext uri="{FF2B5EF4-FFF2-40B4-BE49-F238E27FC236}">
                <a16:creationId xmlns:a16="http://schemas.microsoft.com/office/drawing/2014/main" id="{F2331D81-821B-4AE4-93D1-9D4D78A16493}"/>
              </a:ext>
            </a:extLst>
          </p:cNvPr>
          <p:cNvSpPr>
            <a:spLocks xmlns:a="http://schemas.openxmlformats.org/drawingml/2006/main" noGrp="1"/>
          </p:cNvSpPr>
          <p:nvPr/>
        </p:nvSpPr>
        <p:spPr>
          <a:xfrm xmlns:a="http://schemas.openxmlformats.org/drawingml/2006/main">
            <a:off x="2609850" y="41529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02A33"/>
                </a:solidFill>
                <a:latin typeface="Aptos"/>
                <a:ea typeface="Aptos"/>
                <a:cs typeface="Aptos"/>
              </a:defRPr>
            </a:pPr>
            <a:r>
              <a:rPr sz="975" b="1">
                <a:solidFill>
                  <a:srgbClr val="202A33"/>
                </a:solidFill>
                <a:latin typeface="Aptos"/>
                <a:ea typeface="Aptos"/>
                <a:cs typeface="Aptos"/>
              </a:rPr>
              <a:t>No complete dependency truth</a:t>
            </a:r>
          </a:p>
        </p:txBody>
      </p:sp>
      <p:sp>
        <p:nvSpPr>
          <p:cNvPr id="19" name="">
            <a:extLst xmlns:a="http://schemas.openxmlformats.org/drawingml/2006/main">
              <a:ext uri="{FF2B5EF4-FFF2-40B4-BE49-F238E27FC236}">
                <a16:creationId xmlns:a16="http://schemas.microsoft.com/office/drawing/2014/main" id="{3E9D73F3-1299-4210-B172-26A47E80985E}"/>
              </a:ext>
            </a:extLst>
          </p:cNvPr>
          <p:cNvSpPr>
            <a:spLocks xmlns:a="http://schemas.openxmlformats.org/drawingml/2006/main" noGrp="1"/>
          </p:cNvSpPr>
          <p:nvPr/>
        </p:nvSpPr>
        <p:spPr>
          <a:xfrm xmlns:a="http://schemas.openxmlformats.org/drawingml/2006/main">
            <a:off x="5410200" y="41529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65717A"/>
                </a:solidFill>
                <a:latin typeface="Aptos"/>
                <a:ea typeface="Aptos"/>
                <a:cs typeface="Aptos"/>
              </a:defRPr>
            </a:pPr>
            <a:r>
              <a:rPr sz="975" b="0">
                <a:solidFill>
                  <a:srgbClr val="65717A"/>
                </a:solidFill>
                <a:latin typeface="Aptos"/>
                <a:ea typeface="Aptos"/>
                <a:cs typeface="Aptos"/>
              </a:rPr>
              <a:t>Parse success, runtime, warnings, outputs</a:t>
            </a:r>
          </a:p>
        </p:txBody>
      </p:sp>
      <p:sp>
        <p:nvSpPr>
          <p:cNvPr id="20" name="">
            <a:extLst xmlns:a="http://schemas.openxmlformats.org/drawingml/2006/main">
              <a:ext uri="{FF2B5EF4-FFF2-40B4-BE49-F238E27FC236}">
                <a16:creationId xmlns:a16="http://schemas.microsoft.com/office/drawing/2014/main" id="{DAAAC3AF-2C3D-4A4B-A903-15FD34B6C621}"/>
              </a:ext>
            </a:extLst>
          </p:cNvPr>
          <p:cNvSpPr>
            <a:spLocks xmlns:a="http://schemas.openxmlformats.org/drawingml/2006/main" noGrp="1"/>
          </p:cNvSpPr>
          <p:nvPr/>
        </p:nvSpPr>
        <p:spPr>
          <a:xfrm xmlns:a="http://schemas.openxmlformats.org/drawingml/2006/main">
            <a:off x="8515350" y="4248150"/>
            <a:ext cx="26860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655F73"/>
            </a:solidFill>
            <a:prstDash val="solid"/>
          </a:ln>
        </p:spPr>
      </p:sp>
      <p:sp>
        <p:nvSpPr>
          <p:cNvPr id="21" name="">
            <a:extLst xmlns:a="http://schemas.openxmlformats.org/drawingml/2006/main">
              <a:ext uri="{FF2B5EF4-FFF2-40B4-BE49-F238E27FC236}">
                <a16:creationId xmlns:a16="http://schemas.microsoft.com/office/drawing/2014/main" id="{9810AC5C-7A70-457B-9F6E-515F6783C8DF}"/>
              </a:ext>
            </a:extLst>
          </p:cNvPr>
          <p:cNvSpPr>
            <a:spLocks xmlns:a="http://schemas.openxmlformats.org/drawingml/2006/main" noGrp="1"/>
          </p:cNvSpPr>
          <p:nvPr/>
        </p:nvSpPr>
        <p:spPr>
          <a:xfrm xmlns:a="http://schemas.openxmlformats.org/drawingml/2006/main">
            <a:off x="8582025" y="4305300"/>
            <a:ext cx="2552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55F73"/>
                </a:solidFill>
                <a:latin typeface="Aptos"/>
                <a:ea typeface="Aptos"/>
                <a:cs typeface="Aptos"/>
              </a:defRPr>
            </a:pPr>
            <a:r>
              <a:rPr sz="825" b="1">
                <a:solidFill>
                  <a:srgbClr val="655F73"/>
                </a:solidFill>
                <a:latin typeface="Aptos"/>
                <a:ea typeface="Aptos"/>
                <a:cs typeface="Aptos"/>
              </a:rPr>
              <a:t>Qualitative behavior only</a:t>
            </a:r>
          </a:p>
        </p:txBody>
      </p:sp>
      <p:sp>
        <p:nvSpPr>
          <p:cNvPr id="22" name="">
            <a:extLst xmlns:a="http://schemas.openxmlformats.org/drawingml/2006/main">
              <a:ext uri="{FF2B5EF4-FFF2-40B4-BE49-F238E27FC236}">
                <a16:creationId xmlns:a16="http://schemas.microsoft.com/office/drawing/2014/main" id="{5540D063-67AD-4074-B546-A68322D28831}"/>
              </a:ext>
            </a:extLst>
          </p:cNvPr>
          <p:cNvSpPr>
            <a:spLocks xmlns:a="http://schemas.openxmlformats.org/drawingml/2006/main" noGrp="1"/>
          </p:cNvSpPr>
          <p:nvPr/>
        </p:nvSpPr>
        <p:spPr>
          <a:xfrm xmlns:a="http://schemas.openxmlformats.org/drawingml/2006/main">
            <a:off x="685800" y="5391150"/>
            <a:ext cx="10820400" cy="5905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3" name="">
            <a:extLst xmlns:a="http://schemas.openxmlformats.org/drawingml/2006/main">
              <a:ext uri="{FF2B5EF4-FFF2-40B4-BE49-F238E27FC236}">
                <a16:creationId xmlns:a16="http://schemas.microsoft.com/office/drawing/2014/main" id="{17378DE6-B967-495D-A99C-A165991CB159}"/>
              </a:ext>
            </a:extLst>
          </p:cNvPr>
          <p:cNvSpPr>
            <a:spLocks xmlns:a="http://schemas.openxmlformats.org/drawingml/2006/main" noGrp="1"/>
          </p:cNvSpPr>
          <p:nvPr/>
        </p:nvSpPr>
        <p:spPr>
          <a:xfrm xmlns:a="http://schemas.openxmlformats.org/drawingml/2006/main">
            <a:off x="876300" y="55626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A65C55"/>
                </a:solidFill>
                <a:latin typeface="Aptos"/>
                <a:ea typeface="Aptos"/>
                <a:cs typeface="Aptos"/>
              </a:defRPr>
            </a:pPr>
            <a:r>
              <a:rPr sz="825" b="1">
                <a:solidFill>
                  <a:srgbClr val="A65C55"/>
                </a:solidFill>
                <a:latin typeface="Aptos"/>
                <a:ea typeface="Aptos"/>
                <a:cs typeface="Aptos"/>
              </a:rPr>
              <a:t>REQUIRED PHRASE</a:t>
            </a:r>
          </a:p>
        </p:txBody>
      </p:sp>
      <p:sp>
        <p:nvSpPr>
          <p:cNvPr id="24" name="">
            <a:extLst xmlns:a="http://schemas.openxmlformats.org/drawingml/2006/main">
              <a:ext uri="{FF2B5EF4-FFF2-40B4-BE49-F238E27FC236}">
                <a16:creationId xmlns:a16="http://schemas.microsoft.com/office/drawing/2014/main" id="{C26534D1-C8FF-4FA1-96CE-CC86B85434E0}"/>
              </a:ext>
            </a:extLst>
          </p:cNvPr>
          <p:cNvSpPr>
            <a:spLocks xmlns:a="http://schemas.openxmlformats.org/drawingml/2006/main" noGrp="1"/>
          </p:cNvSpPr>
          <p:nvPr/>
        </p:nvSpPr>
        <p:spPr>
          <a:xfrm xmlns:a="http://schemas.openxmlformats.org/drawingml/2006/main">
            <a:off x="2343150" y="55149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The real-APK metric is emitted Maven version confirmation rate, not full dependency recall.</a:t>
            </a:r>
          </a:p>
        </p:txBody>
      </p:sp>
      <p:sp>
        <p:nvSpPr>
          <p:cNvPr id="25" name="">
            <a:extLst xmlns:a="http://schemas.openxmlformats.org/drawingml/2006/main">
              <a:ext uri="{FF2B5EF4-FFF2-40B4-BE49-F238E27FC236}">
                <a16:creationId xmlns:a16="http://schemas.microsoft.com/office/drawing/2014/main" id="{57F97A48-8E32-46A5-A6D4-77B3A6DB62B0}"/>
              </a:ext>
            </a:extLst>
          </p:cNvPr>
          <p:cNvSpPr>
            <a:spLocks xmlns:a="http://schemas.openxmlformats.org/drawingml/2006/main" noGrp="1"/>
          </p:cNvSpPr>
          <p:nvPr/>
        </p:nvSpPr>
        <p:spPr>
          <a:xfrm xmlns:a="http://schemas.openxmlformats.org/drawingml/2006/main">
            <a:off x="685800" y="61531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AED0A1C-0677-409D-BD27-3BB7B577DC8B}"/>
              </a:ext>
            </a:extLst>
          </p:cNvPr>
          <p:cNvSpPr>
            <a:spLocks xmlns:a="http://schemas.openxmlformats.org/drawingml/2006/main" noGrp="1"/>
          </p:cNvSpPr>
          <p:nvPr/>
        </p:nvSpPr>
        <p:spPr>
          <a:xfrm xmlns:a="http://schemas.openxmlformats.org/drawingml/2006/main">
            <a:off x="819150" y="62198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Generation: scripts/build_apk_type_evaluation.py  -&gt;  scripts/build_thesis_evaluation_tables.py</a:t>
            </a:r>
          </a:p>
        </p:txBody>
      </p:sp>
      <p:sp>
        <p:nvSpPr>
          <p:cNvPr id="27" name="">
            <a:extLst xmlns:a="http://schemas.openxmlformats.org/drawingml/2006/main">
              <a:ext uri="{FF2B5EF4-FFF2-40B4-BE49-F238E27FC236}">
                <a16:creationId xmlns:a16="http://schemas.microsoft.com/office/drawing/2014/main" id="{FA7D216B-8942-4160-905B-58E85A82C12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35098326"/>
      </p:ext>
    </p:extLst>
  </p:cSld>
</p:sld>
</file>

<file path=ppt/slides/slide20.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6BDBB69-7CF2-4E2D-86D5-DB1DD47448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D1B049E-A052-4996-8D4E-A510E0137EB1}"/>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D11082D-A892-412C-8596-135FA6D6CCF1}"/>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4F7D76"/>
                </a:solidFill>
                <a:latin typeface="Aptos"/>
                <a:ea typeface="Aptos"/>
                <a:cs typeface="Aptos"/>
              </a:defRPr>
            </a:pPr>
            <a:r>
              <a:rPr sz="900" b="1">
                <a:solidFill>
                  <a:srgbClr val="4F7D76"/>
                </a:solidFill>
                <a:latin typeface="Aptos"/>
                <a:ea typeface="Aptos"/>
                <a:cs typeface="Aptos"/>
              </a:rPr>
              <a:t>RESULTS</a:t>
            </a:r>
          </a:p>
        </p:txBody>
      </p:sp>
      <p:sp>
        <p:nvSpPr>
          <p:cNvPr id="4" name="">
            <a:extLst xmlns:a="http://schemas.openxmlformats.org/drawingml/2006/main">
              <a:ext uri="{FF2B5EF4-FFF2-40B4-BE49-F238E27FC236}">
                <a16:creationId xmlns:a16="http://schemas.microsoft.com/office/drawing/2014/main" id="{31563381-E533-486D-8441-9F94406870C7}"/>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normal real-APK result and the v2 upper-bound answer different questions</a:t>
            </a:r>
          </a:p>
        </p:txBody>
      </p:sp>
      <p:sp>
        <p:nvSpPr>
          <p:cNvPr id="5" name="">
            <a:extLst xmlns:a="http://schemas.openxmlformats.org/drawingml/2006/main">
              <a:ext uri="{FF2B5EF4-FFF2-40B4-BE49-F238E27FC236}">
                <a16:creationId xmlns:a16="http://schemas.microsoft.com/office/drawing/2014/main" id="{E46BB511-7D48-4B91-9640-BE810DF490DD}"/>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8290A6"/>
                </a:solidFill>
                <a:latin typeface="Aptos"/>
                <a:ea typeface="Aptos"/>
                <a:cs typeface="Aptos"/>
              </a:defRPr>
            </a:pPr>
            <a:r>
              <a:rPr sz="900" b="1">
                <a:solidFill>
                  <a:srgbClr val="8290A6"/>
                </a:solidFill>
                <a:latin typeface="Aptos"/>
                <a:ea typeface="Aptos"/>
                <a:cs typeface="Aptos"/>
              </a:rPr>
              <a:t>20</a:t>
            </a:r>
          </a:p>
        </p:txBody>
      </p:sp>
      <p:sp>
        <p:nvSpPr>
          <p:cNvPr id="6" name="">
            <a:extLst xmlns:a="http://schemas.openxmlformats.org/drawingml/2006/main">
              <a:ext uri="{FF2B5EF4-FFF2-40B4-BE49-F238E27FC236}">
                <a16:creationId xmlns:a16="http://schemas.microsoft.com/office/drawing/2014/main" id="{06354D69-A9DA-4727-8406-A51192FFDEB6}"/>
              </a:ext>
            </a:extLst>
          </p:cNvPr>
          <p:cNvSpPr>
            <a:spLocks xmlns:a="http://schemas.openxmlformats.org/drawingml/2006/main" noGrp="1"/>
          </p:cNvSpPr>
          <p:nvPr/>
        </p:nvSpPr>
        <p:spPr>
          <a:xfrm xmlns:a="http://schemas.openxmlformats.org/drawingml/2006/main">
            <a:off x="685800" y="1543050"/>
            <a:ext cx="6324600" cy="4095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24CD1D2A-B982-4DDA-AD2B-0DAB33595646}"/>
              </a:ext>
            </a:extLst>
          </p:cNvPr>
          <p:cNvSpPr>
            <a:spLocks xmlns:a="http://schemas.openxmlformats.org/drawingml/2006/main" noGrp="1"/>
          </p:cNvSpPr>
          <p:nvPr/>
        </p:nvSpPr>
        <p:spPr>
          <a:xfrm xmlns:a="http://schemas.openxmlformats.org/drawingml/2006/main">
            <a:off x="914400" y="1790700"/>
            <a:ext cx="2647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4F7D76"/>
            </a:solidFill>
            <a:prstDash val="solid"/>
          </a:ln>
        </p:spPr>
      </p:sp>
      <p:sp>
        <p:nvSpPr>
          <p:cNvPr id="8" name="">
            <a:extLst xmlns:a="http://schemas.openxmlformats.org/drawingml/2006/main">
              <a:ext uri="{FF2B5EF4-FFF2-40B4-BE49-F238E27FC236}">
                <a16:creationId xmlns:a16="http://schemas.microsoft.com/office/drawing/2014/main" id="{0827DFFB-1179-436A-AF54-50F3C4E11707}"/>
              </a:ext>
            </a:extLst>
          </p:cNvPr>
          <p:cNvSpPr>
            <a:spLocks xmlns:a="http://schemas.openxmlformats.org/drawingml/2006/main" noGrp="1"/>
          </p:cNvSpPr>
          <p:nvPr/>
        </p:nvSpPr>
        <p:spPr>
          <a:xfrm xmlns:a="http://schemas.openxmlformats.org/drawingml/2006/main">
            <a:off x="981075" y="1847850"/>
            <a:ext cx="2514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4F7D76"/>
                </a:solidFill>
                <a:latin typeface="Aptos"/>
                <a:ea typeface="Aptos"/>
                <a:cs typeface="Aptos"/>
              </a:defRPr>
            </a:pPr>
            <a:r>
              <a:rPr sz="825" b="1">
                <a:solidFill>
                  <a:srgbClr val="4F7D76"/>
                </a:solidFill>
                <a:latin typeface="Aptos"/>
                <a:ea typeface="Aptos"/>
                <a:cs typeface="Aptos"/>
              </a:rPr>
              <a:t>NORMAL APK / SOURCE-VALIDATED METRIC</a:t>
            </a:r>
          </a:p>
        </p:txBody>
      </p:sp>
      <p:sp>
        <p:nvSpPr>
          <p:cNvPr id="9" name="">
            <a:extLst xmlns:a="http://schemas.openxmlformats.org/drawingml/2006/main">
              <a:ext uri="{FF2B5EF4-FFF2-40B4-BE49-F238E27FC236}">
                <a16:creationId xmlns:a16="http://schemas.microsoft.com/office/drawing/2014/main" id="{97291AFB-A3BD-4B76-9F55-64C1FC645F4D}"/>
              </a:ext>
            </a:extLst>
          </p:cNvPr>
          <p:cNvSpPr>
            <a:spLocks xmlns:a="http://schemas.openxmlformats.org/drawingml/2006/main" noGrp="1"/>
          </p:cNvSpPr>
          <p:nvPr/>
        </p:nvSpPr>
        <p:spPr>
          <a:xfrm xmlns:a="http://schemas.openxmlformats.org/drawingml/2006/main">
            <a:off x="914400" y="23241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750" b="1">
                <a:solidFill>
                  <a:srgbClr val="4F7D76"/>
                </a:solidFill>
                <a:latin typeface="Aptos Display"/>
                <a:ea typeface="Aptos Display"/>
                <a:cs typeface="Aptos Display"/>
              </a:defRPr>
            </a:pPr>
            <a:r>
              <a:rPr sz="3750" b="1">
                <a:solidFill>
                  <a:srgbClr val="4F7D76"/>
                </a:solidFill>
                <a:latin typeface="Aptos Display"/>
                <a:ea typeface="Aptos Display"/>
                <a:cs typeface="Aptos Display"/>
              </a:rPr>
              <a:t>50.5%</a:t>
            </a:r>
          </a:p>
        </p:txBody>
      </p:sp>
      <p:sp>
        <p:nvSpPr>
          <p:cNvPr id="10" name="">
            <a:extLst xmlns:a="http://schemas.openxmlformats.org/drawingml/2006/main">
              <a:ext uri="{FF2B5EF4-FFF2-40B4-BE49-F238E27FC236}">
                <a16:creationId xmlns:a16="http://schemas.microsoft.com/office/drawing/2014/main" id="{5A0905CB-DBE8-4400-8416-0C82404CA531}"/>
              </a:ext>
            </a:extLst>
          </p:cNvPr>
          <p:cNvSpPr>
            <a:spLocks xmlns:a="http://schemas.openxmlformats.org/drawingml/2006/main" noGrp="1"/>
          </p:cNvSpPr>
          <p:nvPr/>
        </p:nvSpPr>
        <p:spPr>
          <a:xfrm xmlns:a="http://schemas.openxmlformats.org/drawingml/2006/main">
            <a:off x="914400" y="29908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927 of 1837 emitted Maven versions confirmed</a:t>
            </a:r>
          </a:p>
        </p:txBody>
      </p:sp>
      <p:sp>
        <p:nvSpPr>
          <p:cNvPr id="11" name="">
            <a:extLst xmlns:a="http://schemas.openxmlformats.org/drawingml/2006/main">
              <a:ext uri="{FF2B5EF4-FFF2-40B4-BE49-F238E27FC236}">
                <a16:creationId xmlns:a16="http://schemas.microsoft.com/office/drawing/2014/main" id="{657A53A5-07F1-4CC2-982D-9AD95C2E0362}"/>
              </a:ext>
            </a:extLst>
          </p:cNvPr>
          <p:cNvSpPr>
            <a:spLocks xmlns:a="http://schemas.openxmlformats.org/drawingml/2006/main" noGrp="1"/>
          </p:cNvSpPr>
          <p:nvPr/>
        </p:nvSpPr>
        <p:spPr>
          <a:xfrm xmlns:a="http://schemas.openxmlformats.org/drawingml/2006/main">
            <a:off x="914400" y="36385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Controlled</a:t>
            </a:r>
          </a:p>
        </p:txBody>
      </p:sp>
      <p:sp>
        <p:nvSpPr>
          <p:cNvPr id="12" name="">
            <a:extLst xmlns:a="http://schemas.openxmlformats.org/drawingml/2006/main">
              <a:ext uri="{FF2B5EF4-FFF2-40B4-BE49-F238E27FC236}">
                <a16:creationId xmlns:a16="http://schemas.microsoft.com/office/drawing/2014/main" id="{5CD28015-835D-4A29-BC9C-EAAE944A26A2}"/>
              </a:ext>
            </a:extLst>
          </p:cNvPr>
          <p:cNvSpPr>
            <a:spLocks xmlns:a="http://schemas.openxmlformats.org/drawingml/2006/main" noGrp="1"/>
          </p:cNvSpPr>
          <p:nvPr/>
        </p:nvSpPr>
        <p:spPr>
          <a:xfrm xmlns:a="http://schemas.openxmlformats.org/drawingml/2006/main">
            <a:off x="3438525" y="3657600"/>
            <a:ext cx="1866900" cy="142875"/>
          </a:xfrm>
          <a:prstGeom xmlns:a="http://schemas.openxmlformats.org/drawingml/2006/main" prst="rect">
            <a:avLst/>
          </a:prstGeom>
          <a:solidFill xmlns:a="http://schemas.openxmlformats.org/drawingml/2006/main">
            <a:srgbClr val="24314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AB03DD2-D72E-4C95-8258-8EB51F6DEB42}"/>
              </a:ext>
            </a:extLst>
          </p:cNvPr>
          <p:cNvSpPr>
            <a:spLocks xmlns:a="http://schemas.openxmlformats.org/drawingml/2006/main" noGrp="1"/>
          </p:cNvSpPr>
          <p:nvPr/>
        </p:nvSpPr>
        <p:spPr>
          <a:xfrm xmlns:a="http://schemas.openxmlformats.org/drawingml/2006/main">
            <a:off x="3438525" y="3657600"/>
            <a:ext cx="1866900" cy="142875"/>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2858E6F-FE54-4F92-8313-59359A43BC9B}"/>
              </a:ext>
            </a:extLst>
          </p:cNvPr>
          <p:cNvSpPr>
            <a:spLocks xmlns:a="http://schemas.openxmlformats.org/drawingml/2006/main" noGrp="1"/>
          </p:cNvSpPr>
          <p:nvPr/>
        </p:nvSpPr>
        <p:spPr>
          <a:xfrm xmlns:a="http://schemas.openxmlformats.org/drawingml/2006/main">
            <a:off x="5448300" y="36195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F7C61"/>
                </a:solidFill>
                <a:latin typeface="Aptos"/>
                <a:ea typeface="Aptos"/>
                <a:cs typeface="Aptos"/>
              </a:defRPr>
            </a:pPr>
            <a:r>
              <a:rPr sz="975" b="1">
                <a:solidFill>
                  <a:srgbClr val="6F7C61"/>
                </a:solidFill>
                <a:latin typeface="Aptos"/>
                <a:ea typeface="Aptos"/>
                <a:cs typeface="Aptos"/>
              </a:rPr>
              <a:t>84/84</a:t>
            </a:r>
          </a:p>
        </p:txBody>
      </p:sp>
      <p:sp>
        <p:nvSpPr>
          <p:cNvPr id="15" name="">
            <a:extLst xmlns:a="http://schemas.openxmlformats.org/drawingml/2006/main">
              <a:ext uri="{FF2B5EF4-FFF2-40B4-BE49-F238E27FC236}">
                <a16:creationId xmlns:a16="http://schemas.microsoft.com/office/drawing/2014/main" id="{5F627C53-3526-44E5-837E-55C07377E49F}"/>
              </a:ext>
            </a:extLst>
          </p:cNvPr>
          <p:cNvSpPr>
            <a:spLocks xmlns:a="http://schemas.openxmlformats.org/drawingml/2006/main" noGrp="1"/>
          </p:cNvSpPr>
          <p:nvPr/>
        </p:nvSpPr>
        <p:spPr>
          <a:xfrm xmlns:a="http://schemas.openxmlformats.org/drawingml/2006/main">
            <a:off x="914400" y="40767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Clean real</a:t>
            </a:r>
          </a:p>
        </p:txBody>
      </p:sp>
      <p:sp>
        <p:nvSpPr>
          <p:cNvPr id="16" name="">
            <a:extLst xmlns:a="http://schemas.openxmlformats.org/drawingml/2006/main">
              <a:ext uri="{FF2B5EF4-FFF2-40B4-BE49-F238E27FC236}">
                <a16:creationId xmlns:a16="http://schemas.microsoft.com/office/drawing/2014/main" id="{AA0A35D2-65ED-4C57-B6B5-E67DEB474D78}"/>
              </a:ext>
            </a:extLst>
          </p:cNvPr>
          <p:cNvSpPr>
            <a:spLocks xmlns:a="http://schemas.openxmlformats.org/drawingml/2006/main" noGrp="1"/>
          </p:cNvSpPr>
          <p:nvPr/>
        </p:nvSpPr>
        <p:spPr>
          <a:xfrm xmlns:a="http://schemas.openxmlformats.org/drawingml/2006/main">
            <a:off x="3438525" y="4095750"/>
            <a:ext cx="1866900" cy="142875"/>
          </a:xfrm>
          <a:prstGeom xmlns:a="http://schemas.openxmlformats.org/drawingml/2006/main" prst="rect">
            <a:avLst/>
          </a:prstGeom>
          <a:solidFill xmlns:a="http://schemas.openxmlformats.org/drawingml/2006/main">
            <a:srgbClr val="24314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DB7C53D-552B-4B7B-A84F-CB77B9E94568}"/>
              </a:ext>
            </a:extLst>
          </p:cNvPr>
          <p:cNvSpPr>
            <a:spLocks xmlns:a="http://schemas.openxmlformats.org/drawingml/2006/main" noGrp="1"/>
          </p:cNvSpPr>
          <p:nvPr/>
        </p:nvSpPr>
        <p:spPr>
          <a:xfrm xmlns:a="http://schemas.openxmlformats.org/drawingml/2006/main">
            <a:off x="3438525" y="4095750"/>
            <a:ext cx="1866900" cy="1428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57853CF-31EE-4096-A6A9-9C61873677CE}"/>
              </a:ext>
            </a:extLst>
          </p:cNvPr>
          <p:cNvSpPr>
            <a:spLocks xmlns:a="http://schemas.openxmlformats.org/drawingml/2006/main" noGrp="1"/>
          </p:cNvSpPr>
          <p:nvPr/>
        </p:nvSpPr>
        <p:spPr>
          <a:xfrm xmlns:a="http://schemas.openxmlformats.org/drawingml/2006/main">
            <a:off x="5448300" y="40576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4F7D76"/>
                </a:solidFill>
                <a:latin typeface="Aptos"/>
                <a:ea typeface="Aptos"/>
                <a:cs typeface="Aptos"/>
              </a:defRPr>
            </a:pPr>
            <a:r>
              <a:rPr sz="975" b="1">
                <a:solidFill>
                  <a:srgbClr val="4F7D76"/>
                </a:solidFill>
                <a:latin typeface="Aptos"/>
                <a:ea typeface="Aptos"/>
                <a:cs typeface="Aptos"/>
              </a:rPr>
              <a:t>47/47</a:t>
            </a:r>
          </a:p>
        </p:txBody>
      </p:sp>
      <p:sp>
        <p:nvSpPr>
          <p:cNvPr id="19" name="">
            <a:extLst xmlns:a="http://schemas.openxmlformats.org/drawingml/2006/main">
              <a:ext uri="{FF2B5EF4-FFF2-40B4-BE49-F238E27FC236}">
                <a16:creationId xmlns:a16="http://schemas.microsoft.com/office/drawing/2014/main" id="{4BCCF490-BCC1-4F6E-991F-57C9BBC1DF0A}"/>
              </a:ext>
            </a:extLst>
          </p:cNvPr>
          <p:cNvSpPr>
            <a:spLocks xmlns:a="http://schemas.openxmlformats.org/drawingml/2006/main" noGrp="1"/>
          </p:cNvSpPr>
          <p:nvPr/>
        </p:nvSpPr>
        <p:spPr>
          <a:xfrm xmlns:a="http://schemas.openxmlformats.org/drawingml/2006/main">
            <a:off x="914400" y="45148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Partial real</a:t>
            </a:r>
          </a:p>
        </p:txBody>
      </p:sp>
      <p:sp>
        <p:nvSpPr>
          <p:cNvPr id="20" name="">
            <a:extLst xmlns:a="http://schemas.openxmlformats.org/drawingml/2006/main">
              <a:ext uri="{FF2B5EF4-FFF2-40B4-BE49-F238E27FC236}">
                <a16:creationId xmlns:a16="http://schemas.microsoft.com/office/drawing/2014/main" id="{D891A65F-2737-4615-8DAC-69D0AF306952}"/>
              </a:ext>
            </a:extLst>
          </p:cNvPr>
          <p:cNvSpPr>
            <a:spLocks xmlns:a="http://schemas.openxmlformats.org/drawingml/2006/main" noGrp="1"/>
          </p:cNvSpPr>
          <p:nvPr/>
        </p:nvSpPr>
        <p:spPr>
          <a:xfrm xmlns:a="http://schemas.openxmlformats.org/drawingml/2006/main">
            <a:off x="3438525" y="4533900"/>
            <a:ext cx="1866900" cy="142875"/>
          </a:xfrm>
          <a:prstGeom xmlns:a="http://schemas.openxmlformats.org/drawingml/2006/main" prst="rect">
            <a:avLst/>
          </a:prstGeom>
          <a:solidFill xmlns:a="http://schemas.openxmlformats.org/drawingml/2006/main">
            <a:srgbClr val="24314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F8590EB-5247-4EF3-9FFB-6F2287F4F5AB}"/>
              </a:ext>
            </a:extLst>
          </p:cNvPr>
          <p:cNvSpPr>
            <a:spLocks xmlns:a="http://schemas.openxmlformats.org/drawingml/2006/main" noGrp="1"/>
          </p:cNvSpPr>
          <p:nvPr/>
        </p:nvSpPr>
        <p:spPr>
          <a:xfrm xmlns:a="http://schemas.openxmlformats.org/drawingml/2006/main">
            <a:off x="3438525" y="4533900"/>
            <a:ext cx="917806" cy="1428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1C925CC-076D-4FA6-A78D-AC353AD1188B}"/>
              </a:ext>
            </a:extLst>
          </p:cNvPr>
          <p:cNvSpPr>
            <a:spLocks xmlns:a="http://schemas.openxmlformats.org/drawingml/2006/main" noGrp="1"/>
          </p:cNvSpPr>
          <p:nvPr/>
        </p:nvSpPr>
        <p:spPr>
          <a:xfrm xmlns:a="http://schemas.openxmlformats.org/drawingml/2006/main">
            <a:off x="5448300" y="44958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8D754D"/>
                </a:solidFill>
                <a:latin typeface="Aptos"/>
                <a:ea typeface="Aptos"/>
                <a:cs typeface="Aptos"/>
              </a:defRPr>
            </a:pPr>
            <a:r>
              <a:rPr sz="975" b="1">
                <a:solidFill>
                  <a:srgbClr val="8D754D"/>
                </a:solidFill>
                <a:latin typeface="Aptos"/>
                <a:ea typeface="Aptos"/>
                <a:cs typeface="Aptos"/>
              </a:rPr>
              <a:t>880/1790</a:t>
            </a:r>
          </a:p>
        </p:txBody>
      </p:sp>
      <p:sp>
        <p:nvSpPr>
          <p:cNvPr id="23" name="">
            <a:extLst xmlns:a="http://schemas.openxmlformats.org/drawingml/2006/main">
              <a:ext uri="{FF2B5EF4-FFF2-40B4-BE49-F238E27FC236}">
                <a16:creationId xmlns:a16="http://schemas.microsoft.com/office/drawing/2014/main" id="{4DB0770F-3CE3-476B-87FA-7908FEF97190}"/>
              </a:ext>
            </a:extLst>
          </p:cNvPr>
          <p:cNvSpPr>
            <a:spLocks xmlns:a="http://schemas.openxmlformats.org/drawingml/2006/main" noGrp="1"/>
          </p:cNvSpPr>
          <p:nvPr/>
        </p:nvSpPr>
        <p:spPr>
          <a:xfrm xmlns:a="http://schemas.openxmlformats.org/drawingml/2006/main">
            <a:off x="914400" y="51054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AEBACC"/>
                </a:solidFill>
                <a:latin typeface="Aptos"/>
                <a:ea typeface="Aptos"/>
                <a:cs typeface="Aptos"/>
              </a:defRPr>
            </a:pPr>
            <a:r>
              <a:rPr sz="975" b="0">
                <a:solidFill>
                  <a:srgbClr val="AEBACC"/>
                </a:solidFill>
                <a:latin typeface="Aptos"/>
                <a:ea typeface="Aptos"/>
                <a:cs typeface="Aptos"/>
              </a:rPr>
              <a:t>Measures correctness of what the APK-only tool emitted.</a:t>
            </a:r>
          </a:p>
        </p:txBody>
      </p:sp>
      <p:sp>
        <p:nvSpPr>
          <p:cNvPr id="24" name="">
            <a:extLst xmlns:a="http://schemas.openxmlformats.org/drawingml/2006/main">
              <a:ext uri="{FF2B5EF4-FFF2-40B4-BE49-F238E27FC236}">
                <a16:creationId xmlns:a16="http://schemas.microsoft.com/office/drawing/2014/main" id="{23935417-1E90-4762-8AC3-73F3074C0589}"/>
              </a:ext>
            </a:extLst>
          </p:cNvPr>
          <p:cNvSpPr>
            <a:spLocks xmlns:a="http://schemas.openxmlformats.org/drawingml/2006/main" noGrp="1"/>
          </p:cNvSpPr>
          <p:nvPr/>
        </p:nvSpPr>
        <p:spPr>
          <a:xfrm xmlns:a="http://schemas.openxmlformats.org/drawingml/2006/main">
            <a:off x="7334250" y="1543050"/>
            <a:ext cx="417195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C738AF2D-DE37-49FA-A47D-DDFC82DF0209}"/>
              </a:ext>
            </a:extLst>
          </p:cNvPr>
          <p:cNvSpPr>
            <a:spLocks xmlns:a="http://schemas.openxmlformats.org/drawingml/2006/main" noGrp="1"/>
          </p:cNvSpPr>
          <p:nvPr/>
        </p:nvSpPr>
        <p:spPr>
          <a:xfrm xmlns:a="http://schemas.openxmlformats.org/drawingml/2006/main">
            <a:off x="7600950" y="1790700"/>
            <a:ext cx="1885950" cy="2667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26" name="">
            <a:extLst xmlns:a="http://schemas.openxmlformats.org/drawingml/2006/main">
              <a:ext uri="{FF2B5EF4-FFF2-40B4-BE49-F238E27FC236}">
                <a16:creationId xmlns:a16="http://schemas.microsoft.com/office/drawing/2014/main" id="{F4FBE409-A660-4E17-AA60-3182B89A0273}"/>
              </a:ext>
            </a:extLst>
          </p:cNvPr>
          <p:cNvSpPr>
            <a:spLocks xmlns:a="http://schemas.openxmlformats.org/drawingml/2006/main" noGrp="1"/>
          </p:cNvSpPr>
          <p:nvPr/>
        </p:nvSpPr>
        <p:spPr>
          <a:xfrm xmlns:a="http://schemas.openxmlformats.org/drawingml/2006/main">
            <a:off x="7667625" y="184785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8D754D"/>
                </a:solidFill>
                <a:latin typeface="Aptos"/>
                <a:ea typeface="Aptos"/>
                <a:cs typeface="Aptos"/>
              </a:defRPr>
            </a:pPr>
            <a:r>
              <a:rPr sz="825" b="1">
                <a:solidFill>
                  <a:srgbClr val="8D754D"/>
                </a:solidFill>
                <a:latin typeface="Aptos"/>
                <a:ea typeface="Aptos"/>
                <a:cs typeface="Aptos"/>
              </a:rPr>
              <a:t>SOURCE-KNOWN V2 LANE</a:t>
            </a:r>
          </a:p>
        </p:txBody>
      </p:sp>
      <p:sp>
        <p:nvSpPr>
          <p:cNvPr id="27" name="">
            <a:extLst xmlns:a="http://schemas.openxmlformats.org/drawingml/2006/main">
              <a:ext uri="{FF2B5EF4-FFF2-40B4-BE49-F238E27FC236}">
                <a16:creationId xmlns:a16="http://schemas.microsoft.com/office/drawing/2014/main" id="{58A1EBB3-AF38-46C6-80D3-9C94FCC38EDF}"/>
              </a:ext>
            </a:extLst>
          </p:cNvPr>
          <p:cNvSpPr>
            <a:spLocks xmlns:a="http://schemas.openxmlformats.org/drawingml/2006/main" noGrp="1"/>
          </p:cNvSpPr>
          <p:nvPr/>
        </p:nvSpPr>
        <p:spPr>
          <a:xfrm xmlns:a="http://schemas.openxmlformats.org/drawingml/2006/main">
            <a:off x="7600950" y="2362200"/>
            <a:ext cx="342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75" b="1">
                <a:solidFill>
                  <a:srgbClr val="8D754D"/>
                </a:solidFill>
                <a:latin typeface="Aptos Display"/>
                <a:ea typeface="Aptos Display"/>
                <a:cs typeface="Aptos Display"/>
              </a:defRPr>
            </a:pPr>
            <a:r>
              <a:rPr sz="3375" b="1">
                <a:solidFill>
                  <a:srgbClr val="8D754D"/>
                </a:solidFill>
                <a:latin typeface="Aptos Display"/>
                <a:ea typeface="Aptos Display"/>
                <a:cs typeface="Aptos Display"/>
              </a:rPr>
              <a:t>6772 / 6772</a:t>
            </a:r>
          </a:p>
        </p:txBody>
      </p:sp>
      <p:sp>
        <p:nvSpPr>
          <p:cNvPr id="28" name="">
            <a:extLst xmlns:a="http://schemas.openxmlformats.org/drawingml/2006/main">
              <a:ext uri="{FF2B5EF4-FFF2-40B4-BE49-F238E27FC236}">
                <a16:creationId xmlns:a16="http://schemas.microsoft.com/office/drawing/2014/main" id="{D66CC4A7-76FE-4BCB-BAFE-FD6878C4B9DD}"/>
              </a:ext>
            </a:extLst>
          </p:cNvPr>
          <p:cNvSpPr>
            <a:spLocks xmlns:a="http://schemas.openxmlformats.org/drawingml/2006/main" noGrp="1"/>
          </p:cNvSpPr>
          <p:nvPr/>
        </p:nvSpPr>
        <p:spPr>
          <a:xfrm xmlns:a="http://schemas.openxmlformats.org/drawingml/2006/main">
            <a:off x="7600950" y="3009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202A33"/>
                </a:solidFill>
                <a:latin typeface="Aptos"/>
                <a:ea typeface="Aptos"/>
                <a:cs typeface="Aptos"/>
              </a:defRPr>
            </a:pPr>
            <a:r>
              <a:rPr sz="1425" b="1">
                <a:solidFill>
                  <a:srgbClr val="202A33"/>
                </a:solidFill>
                <a:latin typeface="Aptos"/>
                <a:ea typeface="Aptos"/>
                <a:cs typeface="Aptos"/>
              </a:rPr>
              <a:t>exact emitted rows</a:t>
            </a:r>
          </a:p>
        </p:txBody>
      </p:sp>
      <p:sp>
        <p:nvSpPr>
          <p:cNvPr id="29" name="rule">
            <a:extLst xmlns:a="http://schemas.openxmlformats.org/drawingml/2006/main">
              <a:ext uri="{FF2B5EF4-FFF2-40B4-BE49-F238E27FC236}">
                <a16:creationId xmlns:a16="http://schemas.microsoft.com/office/drawing/2014/main" id="{8078E626-8F6F-4CF5-B6F3-A13BA241B3A0}"/>
              </a:ext>
            </a:extLst>
          </p:cNvPr>
          <p:cNvSpPr>
            <a:spLocks xmlns:a="http://schemas.openxmlformats.org/drawingml/2006/main" noGrp="1"/>
          </p:cNvSpPr>
          <p:nvPr/>
        </p:nvSpPr>
        <p:spPr>
          <a:xfrm xmlns:a="http://schemas.openxmlformats.org/drawingml/2006/main">
            <a:off x="7600950" y="3562350"/>
            <a:ext cx="29527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F2ECF0F-BE6D-4B76-9120-CAC718469E87}"/>
              </a:ext>
            </a:extLst>
          </p:cNvPr>
          <p:cNvSpPr>
            <a:spLocks xmlns:a="http://schemas.openxmlformats.org/drawingml/2006/main" noGrp="1"/>
          </p:cNvSpPr>
          <p:nvPr/>
        </p:nvSpPr>
        <p:spPr>
          <a:xfrm xmlns:a="http://schemas.openxmlformats.org/drawingml/2006/main">
            <a:off x="7600950" y="36576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65717A"/>
                </a:solidFill>
                <a:latin typeface="Aptos"/>
                <a:ea typeface="Aptos"/>
                <a:cs typeface="Aptos"/>
              </a:defRPr>
            </a:pPr>
            <a:r>
              <a:rPr sz="975" b="0">
                <a:solidFill>
                  <a:srgbClr val="65717A"/>
                </a:solidFill>
                <a:latin typeface="Aptos"/>
                <a:ea typeface="Aptos"/>
                <a:cs typeface="Aptos"/>
              </a:rPr>
              <a:t>Cases</a:t>
            </a:r>
          </a:p>
        </p:txBody>
      </p:sp>
      <p:sp>
        <p:nvSpPr>
          <p:cNvPr id="31" name="">
            <a:extLst xmlns:a="http://schemas.openxmlformats.org/drawingml/2006/main">
              <a:ext uri="{FF2B5EF4-FFF2-40B4-BE49-F238E27FC236}">
                <a16:creationId xmlns:a16="http://schemas.microsoft.com/office/drawing/2014/main" id="{A1607C46-8BC3-479A-8E36-D9D3B0E5A9CB}"/>
              </a:ext>
            </a:extLst>
          </p:cNvPr>
          <p:cNvSpPr>
            <a:spLocks xmlns:a="http://schemas.openxmlformats.org/drawingml/2006/main" noGrp="1"/>
          </p:cNvSpPr>
          <p:nvPr/>
        </p:nvSpPr>
        <p:spPr>
          <a:xfrm xmlns:a="http://schemas.openxmlformats.org/drawingml/2006/main">
            <a:off x="9620250" y="363855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1">
                <a:solidFill>
                  <a:srgbClr val="202A33"/>
                </a:solidFill>
                <a:latin typeface="Aptos"/>
                <a:ea typeface="Aptos"/>
                <a:cs typeface="Aptos"/>
              </a:defRPr>
            </a:pPr>
            <a:r>
              <a:rPr sz="1125" b="1">
                <a:solidFill>
                  <a:srgbClr val="202A33"/>
                </a:solidFill>
                <a:latin typeface="Aptos"/>
                <a:ea typeface="Aptos"/>
                <a:cs typeface="Aptos"/>
              </a:rPr>
              <a:t>106</a:t>
            </a:r>
          </a:p>
        </p:txBody>
      </p:sp>
      <p:sp>
        <p:nvSpPr>
          <p:cNvPr id="32" name="rule">
            <a:extLst xmlns:a="http://schemas.openxmlformats.org/drawingml/2006/main">
              <a:ext uri="{FF2B5EF4-FFF2-40B4-BE49-F238E27FC236}">
                <a16:creationId xmlns:a16="http://schemas.microsoft.com/office/drawing/2014/main" id="{24DCCDBA-9A6F-470E-BB21-762A6A11404D}"/>
              </a:ext>
            </a:extLst>
          </p:cNvPr>
          <p:cNvSpPr>
            <a:spLocks xmlns:a="http://schemas.openxmlformats.org/drawingml/2006/main" noGrp="1"/>
          </p:cNvSpPr>
          <p:nvPr/>
        </p:nvSpPr>
        <p:spPr>
          <a:xfrm xmlns:a="http://schemas.openxmlformats.org/drawingml/2006/main">
            <a:off x="7600950" y="3962400"/>
            <a:ext cx="29527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6DF28F0-9A84-4147-BC50-73D8657128BA}"/>
              </a:ext>
            </a:extLst>
          </p:cNvPr>
          <p:cNvSpPr>
            <a:spLocks xmlns:a="http://schemas.openxmlformats.org/drawingml/2006/main" noGrp="1"/>
          </p:cNvSpPr>
          <p:nvPr/>
        </p:nvSpPr>
        <p:spPr>
          <a:xfrm xmlns:a="http://schemas.openxmlformats.org/drawingml/2006/main">
            <a:off x="7600950" y="4057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65717A"/>
                </a:solidFill>
                <a:latin typeface="Aptos"/>
                <a:ea typeface="Aptos"/>
                <a:cs typeface="Aptos"/>
              </a:defRPr>
            </a:pPr>
            <a:r>
              <a:rPr sz="975" b="0">
                <a:solidFill>
                  <a:srgbClr val="65717A"/>
                </a:solidFill>
                <a:latin typeface="Aptos"/>
                <a:ea typeface="Aptos"/>
                <a:cs typeface="Aptos"/>
              </a:rPr>
              <a:t>Wrong emitted</a:t>
            </a:r>
          </a:p>
        </p:txBody>
      </p:sp>
      <p:sp>
        <p:nvSpPr>
          <p:cNvPr id="34" name="">
            <a:extLst xmlns:a="http://schemas.openxmlformats.org/drawingml/2006/main">
              <a:ext uri="{FF2B5EF4-FFF2-40B4-BE49-F238E27FC236}">
                <a16:creationId xmlns:a16="http://schemas.microsoft.com/office/drawing/2014/main" id="{066F2EFB-A167-4268-BF3B-D9C37D62C9A2}"/>
              </a:ext>
            </a:extLst>
          </p:cNvPr>
          <p:cNvSpPr>
            <a:spLocks xmlns:a="http://schemas.openxmlformats.org/drawingml/2006/main" noGrp="1"/>
          </p:cNvSpPr>
          <p:nvPr/>
        </p:nvSpPr>
        <p:spPr>
          <a:xfrm xmlns:a="http://schemas.openxmlformats.org/drawingml/2006/main">
            <a:off x="9620250" y="40386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1">
                <a:solidFill>
                  <a:srgbClr val="202A33"/>
                </a:solidFill>
                <a:latin typeface="Aptos"/>
                <a:ea typeface="Aptos"/>
                <a:cs typeface="Aptos"/>
              </a:defRPr>
            </a:pPr>
            <a:r>
              <a:rPr sz="1125" b="1">
                <a:solidFill>
                  <a:srgbClr val="202A33"/>
                </a:solidFill>
                <a:latin typeface="Aptos"/>
                <a:ea typeface="Aptos"/>
                <a:cs typeface="Aptos"/>
              </a:rPr>
              <a:t>0</a:t>
            </a:r>
          </a:p>
        </p:txBody>
      </p:sp>
      <p:sp>
        <p:nvSpPr>
          <p:cNvPr id="35" name="rule">
            <a:extLst xmlns:a="http://schemas.openxmlformats.org/drawingml/2006/main">
              <a:ext uri="{FF2B5EF4-FFF2-40B4-BE49-F238E27FC236}">
                <a16:creationId xmlns:a16="http://schemas.microsoft.com/office/drawing/2014/main" id="{EEDF4222-584B-4FEB-B568-EFAEF9127C94}"/>
              </a:ext>
            </a:extLst>
          </p:cNvPr>
          <p:cNvSpPr>
            <a:spLocks xmlns:a="http://schemas.openxmlformats.org/drawingml/2006/main" noGrp="1"/>
          </p:cNvSpPr>
          <p:nvPr/>
        </p:nvSpPr>
        <p:spPr>
          <a:xfrm xmlns:a="http://schemas.openxmlformats.org/drawingml/2006/main">
            <a:off x="7600950" y="4362450"/>
            <a:ext cx="29527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F819D02-0412-45EB-983F-3463E4F7BC09}"/>
              </a:ext>
            </a:extLst>
          </p:cNvPr>
          <p:cNvSpPr>
            <a:spLocks xmlns:a="http://schemas.openxmlformats.org/drawingml/2006/main" noGrp="1"/>
          </p:cNvSpPr>
          <p:nvPr/>
        </p:nvSpPr>
        <p:spPr>
          <a:xfrm xmlns:a="http://schemas.openxmlformats.org/drawingml/2006/main">
            <a:off x="7600950" y="44577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65717A"/>
                </a:solidFill>
                <a:latin typeface="Aptos"/>
                <a:ea typeface="Aptos"/>
                <a:cs typeface="Aptos"/>
              </a:defRPr>
            </a:pPr>
            <a:r>
              <a:rPr sz="975" b="0">
                <a:solidFill>
                  <a:srgbClr val="65717A"/>
                </a:solidFill>
                <a:latin typeface="Aptos"/>
                <a:ea typeface="Aptos"/>
                <a:cs typeface="Aptos"/>
              </a:rPr>
              <a:t>Missing emitted</a:t>
            </a:r>
          </a:p>
        </p:txBody>
      </p:sp>
      <p:sp>
        <p:nvSpPr>
          <p:cNvPr id="37" name="">
            <a:extLst xmlns:a="http://schemas.openxmlformats.org/drawingml/2006/main">
              <a:ext uri="{FF2B5EF4-FFF2-40B4-BE49-F238E27FC236}">
                <a16:creationId xmlns:a16="http://schemas.microsoft.com/office/drawing/2014/main" id="{A071DA21-533A-4D13-A933-BFC990EE1BC2}"/>
              </a:ext>
            </a:extLst>
          </p:cNvPr>
          <p:cNvSpPr>
            <a:spLocks xmlns:a="http://schemas.openxmlformats.org/drawingml/2006/main" noGrp="1"/>
          </p:cNvSpPr>
          <p:nvPr/>
        </p:nvSpPr>
        <p:spPr>
          <a:xfrm xmlns:a="http://schemas.openxmlformats.org/drawingml/2006/main">
            <a:off x="9620250" y="443865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1">
                <a:solidFill>
                  <a:srgbClr val="202A33"/>
                </a:solidFill>
                <a:latin typeface="Aptos"/>
                <a:ea typeface="Aptos"/>
                <a:cs typeface="Aptos"/>
              </a:defRPr>
            </a:pPr>
            <a:r>
              <a:rPr sz="1125" b="1">
                <a:solidFill>
                  <a:srgbClr val="202A33"/>
                </a:solidFill>
                <a:latin typeface="Aptos"/>
                <a:ea typeface="Aptos"/>
                <a:cs typeface="Aptos"/>
              </a:rPr>
              <a:t>0</a:t>
            </a:r>
          </a:p>
        </p:txBody>
      </p:sp>
      <p:sp>
        <p:nvSpPr>
          <p:cNvPr id="38" name="rule">
            <a:extLst xmlns:a="http://schemas.openxmlformats.org/drawingml/2006/main">
              <a:ext uri="{FF2B5EF4-FFF2-40B4-BE49-F238E27FC236}">
                <a16:creationId xmlns:a16="http://schemas.microsoft.com/office/drawing/2014/main" id="{28C4DF70-EA56-43BD-99D3-BCE8AD57C001}"/>
              </a:ext>
            </a:extLst>
          </p:cNvPr>
          <p:cNvSpPr>
            <a:spLocks xmlns:a="http://schemas.openxmlformats.org/drawingml/2006/main" noGrp="1"/>
          </p:cNvSpPr>
          <p:nvPr/>
        </p:nvSpPr>
        <p:spPr>
          <a:xfrm xmlns:a="http://schemas.openxmlformats.org/drawingml/2006/main">
            <a:off x="7600950" y="4762500"/>
            <a:ext cx="29527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5066EC4-ECCB-418C-B89A-C6D123A8C268}"/>
              </a:ext>
            </a:extLst>
          </p:cNvPr>
          <p:cNvSpPr>
            <a:spLocks xmlns:a="http://schemas.openxmlformats.org/drawingml/2006/main" noGrp="1"/>
          </p:cNvSpPr>
          <p:nvPr/>
        </p:nvSpPr>
        <p:spPr>
          <a:xfrm xmlns:a="http://schemas.openxmlformats.org/drawingml/2006/main">
            <a:off x="7600950" y="48577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65717A"/>
                </a:solidFill>
                <a:latin typeface="Aptos"/>
                <a:ea typeface="Aptos"/>
                <a:cs typeface="Aptos"/>
              </a:defRPr>
            </a:pPr>
            <a:r>
              <a:rPr sz="975" b="0">
                <a:solidFill>
                  <a:srgbClr val="65717A"/>
                </a:solidFill>
                <a:latin typeface="Aptos"/>
                <a:ea typeface="Aptos"/>
                <a:cs typeface="Aptos"/>
              </a:rPr>
              <a:t>Source gaps</a:t>
            </a:r>
          </a:p>
        </p:txBody>
      </p:sp>
      <p:sp>
        <p:nvSpPr>
          <p:cNvPr id="40" name="">
            <a:extLst xmlns:a="http://schemas.openxmlformats.org/drawingml/2006/main">
              <a:ext uri="{FF2B5EF4-FFF2-40B4-BE49-F238E27FC236}">
                <a16:creationId xmlns:a16="http://schemas.microsoft.com/office/drawing/2014/main" id="{711DA402-67AF-43AD-899D-747A448D69CC}"/>
              </a:ext>
            </a:extLst>
          </p:cNvPr>
          <p:cNvSpPr>
            <a:spLocks xmlns:a="http://schemas.openxmlformats.org/drawingml/2006/main" noGrp="1"/>
          </p:cNvSpPr>
          <p:nvPr/>
        </p:nvSpPr>
        <p:spPr>
          <a:xfrm xmlns:a="http://schemas.openxmlformats.org/drawingml/2006/main">
            <a:off x="9620250" y="48387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1">
                <a:solidFill>
                  <a:srgbClr val="A65C55"/>
                </a:solidFill>
                <a:latin typeface="Aptos"/>
                <a:ea typeface="Aptos"/>
                <a:cs typeface="Aptos"/>
              </a:defRPr>
            </a:pPr>
            <a:r>
              <a:rPr sz="1125" b="1">
                <a:solidFill>
                  <a:srgbClr val="A65C55"/>
                </a:solidFill>
                <a:latin typeface="Aptos"/>
                <a:ea typeface="Aptos"/>
                <a:cs typeface="Aptos"/>
              </a:rPr>
              <a:t>5238</a:t>
            </a:r>
          </a:p>
        </p:txBody>
      </p:sp>
      <p:sp>
        <p:nvSpPr>
          <p:cNvPr id="41" name="">
            <a:extLst xmlns:a="http://schemas.openxmlformats.org/drawingml/2006/main">
              <a:ext uri="{FF2B5EF4-FFF2-40B4-BE49-F238E27FC236}">
                <a16:creationId xmlns:a16="http://schemas.microsoft.com/office/drawing/2014/main" id="{9F8EC5CF-D6E8-45FA-894B-A0E47B5833A1}"/>
              </a:ext>
            </a:extLst>
          </p:cNvPr>
          <p:cNvSpPr>
            <a:spLocks xmlns:a="http://schemas.openxmlformats.org/drawingml/2006/main" noGrp="1"/>
          </p:cNvSpPr>
          <p:nvPr/>
        </p:nvSpPr>
        <p:spPr>
          <a:xfrm xmlns:a="http://schemas.openxmlformats.org/drawingml/2006/main">
            <a:off x="1352550" y="5905500"/>
            <a:ext cx="9486900" cy="3619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1BFA9A86-0F16-4CD7-93AC-C8AA88A6597A}"/>
              </a:ext>
            </a:extLst>
          </p:cNvPr>
          <p:cNvSpPr>
            <a:spLocks xmlns:a="http://schemas.openxmlformats.org/drawingml/2006/main" noGrp="1"/>
          </p:cNvSpPr>
          <p:nvPr/>
        </p:nvSpPr>
        <p:spPr>
          <a:xfrm xmlns:a="http://schemas.openxmlformats.org/drawingml/2006/main">
            <a:off x="1562100" y="5981700"/>
            <a:ext cx="906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Do not combine these lanes: v2 proves bounded recognition, not unconstrained APK-only accuracy.</a:t>
            </a:r>
          </a:p>
        </p:txBody>
      </p:sp>
      <p:sp>
        <p:nvSpPr>
          <p:cNvPr id="43" name="">
            <a:extLst xmlns:a="http://schemas.openxmlformats.org/drawingml/2006/main">
              <a:ext uri="{FF2B5EF4-FFF2-40B4-BE49-F238E27FC236}">
                <a16:creationId xmlns:a16="http://schemas.microsoft.com/office/drawing/2014/main" id="{4EBFF3CD-F2D5-4791-B9B4-A879F5357DAE}"/>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694078507"/>
      </p:ext>
    </p:extLst>
  </p:cSld>
</p:sld>
</file>

<file path=ppt/slides/slide21.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44AE606-F799-4F57-A5DB-B47AB3FBB89C}"/>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8D754D"/>
                </a:solidFill>
                <a:latin typeface="Aptos"/>
                <a:ea typeface="Aptos"/>
                <a:cs typeface="Aptos"/>
              </a:defRPr>
            </a:pPr>
            <a:r>
              <a:rPr sz="900" b="1">
                <a:solidFill>
                  <a:srgbClr val="8D754D"/>
                </a:solidFill>
                <a:latin typeface="Aptos"/>
                <a:ea typeface="Aptos"/>
                <a:cs typeface="Aptos"/>
              </a:rPr>
              <a:t>UPPER-BOUND EXPERIMENT</a:t>
            </a:r>
          </a:p>
        </p:txBody>
      </p:sp>
      <p:sp>
        <p:nvSpPr>
          <p:cNvPr id="2" name="">
            <a:extLst xmlns:a="http://schemas.openxmlformats.org/drawingml/2006/main">
              <a:ext uri="{FF2B5EF4-FFF2-40B4-BE49-F238E27FC236}">
                <a16:creationId xmlns:a16="http://schemas.microsoft.com/office/drawing/2014/main" id="{1ACD6BCB-1C26-473F-A25B-42DA75857ECD}"/>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source-known v2 lane isolates recognition from candidate-selection difficulty</a:t>
            </a:r>
          </a:p>
        </p:txBody>
      </p:sp>
      <p:sp>
        <p:nvSpPr>
          <p:cNvPr id="3" name="">
            <a:extLst xmlns:a="http://schemas.openxmlformats.org/drawingml/2006/main">
              <a:ext uri="{FF2B5EF4-FFF2-40B4-BE49-F238E27FC236}">
                <a16:creationId xmlns:a16="http://schemas.microsoft.com/office/drawing/2014/main" id="{E2579F13-7F31-49B4-BF7B-56511058A9D9}"/>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21</a:t>
            </a:r>
          </a:p>
        </p:txBody>
      </p:sp>
      <p:sp>
        <p:nvSpPr>
          <p:cNvPr id="4" name="">
            <a:extLst xmlns:a="http://schemas.openxmlformats.org/drawingml/2006/main">
              <a:ext uri="{FF2B5EF4-FFF2-40B4-BE49-F238E27FC236}">
                <a16:creationId xmlns:a16="http://schemas.microsoft.com/office/drawing/2014/main" id="{A049CF53-88BA-4327-98E2-86B748C37796}"/>
              </a:ext>
            </a:extLst>
          </p:cNvPr>
          <p:cNvSpPr>
            <a:spLocks xmlns:a="http://schemas.openxmlformats.org/drawingml/2006/main" noGrp="1"/>
          </p:cNvSpPr>
          <p:nvPr/>
        </p:nvSpPr>
        <p:spPr>
          <a:xfrm xmlns:a="http://schemas.openxmlformats.org/drawingml/2006/main">
            <a:off x="685800" y="1466850"/>
            <a:ext cx="5067300" cy="38100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5" name="">
            <a:extLst xmlns:a="http://schemas.openxmlformats.org/drawingml/2006/main">
              <a:ext uri="{FF2B5EF4-FFF2-40B4-BE49-F238E27FC236}">
                <a16:creationId xmlns:a16="http://schemas.microsoft.com/office/drawing/2014/main" id="{5D2682C3-3CFF-4777-884A-1D686DECF230}"/>
              </a:ext>
            </a:extLst>
          </p:cNvPr>
          <p:cNvSpPr>
            <a:spLocks xmlns:a="http://schemas.openxmlformats.org/drawingml/2006/main" noGrp="1"/>
          </p:cNvSpPr>
          <p:nvPr/>
        </p:nvSpPr>
        <p:spPr>
          <a:xfrm xmlns:a="http://schemas.openxmlformats.org/drawingml/2006/main">
            <a:off x="933450" y="17335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8D754D"/>
                </a:solidFill>
                <a:latin typeface="Aptos"/>
                <a:ea typeface="Aptos"/>
                <a:cs typeface="Aptos"/>
              </a:defRPr>
            </a:pPr>
            <a:r>
              <a:rPr sz="900" b="1">
                <a:solidFill>
                  <a:srgbClr val="8D754D"/>
                </a:solidFill>
                <a:latin typeface="Aptos"/>
                <a:ea typeface="Aptos"/>
                <a:cs typeface="Aptos"/>
              </a:rPr>
              <a:t>WHAT IS CONSTRAINED</a:t>
            </a:r>
          </a:p>
        </p:txBody>
      </p:sp>
      <p:sp>
        <p:nvSpPr>
          <p:cNvPr id="6" name="">
            <a:extLst xmlns:a="http://schemas.openxmlformats.org/drawingml/2006/main">
              <a:ext uri="{FF2B5EF4-FFF2-40B4-BE49-F238E27FC236}">
                <a16:creationId xmlns:a16="http://schemas.microsoft.com/office/drawing/2014/main" id="{73BB6079-837F-4C32-8332-11545E22854A}"/>
              </a:ext>
            </a:extLst>
          </p:cNvPr>
          <p:cNvSpPr>
            <a:spLocks xmlns:a="http://schemas.openxmlformats.org/drawingml/2006/main" noGrp="1"/>
          </p:cNvSpPr>
          <p:nvPr/>
        </p:nvSpPr>
        <p:spPr>
          <a:xfrm xmlns:a="http://schemas.openxmlformats.org/drawingml/2006/main">
            <a:off x="933450" y="2190750"/>
            <a:ext cx="4324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FFFFFF"/>
                </a:solidFill>
                <a:latin typeface="Aptos"/>
                <a:ea typeface="Aptos"/>
                <a:cs typeface="Aptos"/>
              </a:defRPr>
            </a:pPr>
            <a:r>
              <a:rPr sz="1650" b="1">
                <a:solidFill>
                  <a:srgbClr val="FFFFFF"/>
                </a:solidFill>
                <a:latin typeface="Aptos"/>
                <a:ea typeface="Aptos"/>
                <a:cs typeface="Aptos"/>
              </a:rPr>
              <a:t>Each APK is matched only against coordinate-version rows observed in its resolved source tree.</a:t>
            </a:r>
          </a:p>
        </p:txBody>
      </p:sp>
      <p:sp>
        <p:nvSpPr>
          <p:cNvPr id="7" name="">
            <a:extLst xmlns:a="http://schemas.openxmlformats.org/drawingml/2006/main">
              <a:ext uri="{FF2B5EF4-FFF2-40B4-BE49-F238E27FC236}">
                <a16:creationId xmlns:a16="http://schemas.microsoft.com/office/drawing/2014/main" id="{7E6D9199-B4D5-40F5-B217-B80F015C1669}"/>
              </a:ext>
            </a:extLst>
          </p:cNvPr>
          <p:cNvSpPr>
            <a:spLocks xmlns:a="http://schemas.openxmlformats.org/drawingml/2006/main" noGrp="1"/>
          </p:cNvSpPr>
          <p:nvPr/>
        </p:nvSpPr>
        <p:spPr>
          <a:xfrm xmlns:a="http://schemas.openxmlformats.org/drawingml/2006/main">
            <a:off x="971550" y="3371850"/>
            <a:ext cx="133350" cy="1333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B9DA350-CDF5-4EEE-B8A0-0FDA8D53D00D}"/>
              </a:ext>
            </a:extLst>
          </p:cNvPr>
          <p:cNvSpPr>
            <a:spLocks xmlns:a="http://schemas.openxmlformats.org/drawingml/2006/main" noGrp="1"/>
          </p:cNvSpPr>
          <p:nvPr/>
        </p:nvSpPr>
        <p:spPr>
          <a:xfrm xmlns:a="http://schemas.openxmlformats.org/drawingml/2006/main">
            <a:off x="1257300" y="3295650"/>
            <a:ext cx="3943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CC7D5"/>
                </a:solidFill>
                <a:latin typeface="Aptos"/>
                <a:ea typeface="Aptos"/>
                <a:cs typeface="Aptos"/>
              </a:defRPr>
            </a:pPr>
            <a:r>
              <a:rPr sz="975" b="0">
                <a:solidFill>
                  <a:srgbClr val="BCC7D5"/>
                </a:solidFill>
                <a:latin typeface="Aptos"/>
                <a:ea typeface="Aptos"/>
                <a:cs typeface="Aptos"/>
              </a:rPr>
              <a:t>removes global version-selection noise</a:t>
            </a:r>
          </a:p>
        </p:txBody>
      </p:sp>
      <p:sp>
        <p:nvSpPr>
          <p:cNvPr id="9" name="">
            <a:extLst xmlns:a="http://schemas.openxmlformats.org/drawingml/2006/main">
              <a:ext uri="{FF2B5EF4-FFF2-40B4-BE49-F238E27FC236}">
                <a16:creationId xmlns:a16="http://schemas.microsoft.com/office/drawing/2014/main" id="{95FFABDE-0843-417F-B9DE-B23FD9FC4194}"/>
              </a:ext>
            </a:extLst>
          </p:cNvPr>
          <p:cNvSpPr>
            <a:spLocks xmlns:a="http://schemas.openxmlformats.org/drawingml/2006/main" noGrp="1"/>
          </p:cNvSpPr>
          <p:nvPr/>
        </p:nvSpPr>
        <p:spPr>
          <a:xfrm xmlns:a="http://schemas.openxmlformats.org/drawingml/2006/main">
            <a:off x="971550" y="3886200"/>
            <a:ext cx="133350" cy="1333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2107C9-420B-4EE8-A78F-2A9593B69FE4}"/>
              </a:ext>
            </a:extLst>
          </p:cNvPr>
          <p:cNvSpPr>
            <a:spLocks xmlns:a="http://schemas.openxmlformats.org/drawingml/2006/main" noGrp="1"/>
          </p:cNvSpPr>
          <p:nvPr/>
        </p:nvSpPr>
        <p:spPr>
          <a:xfrm xmlns:a="http://schemas.openxmlformats.org/drawingml/2006/main">
            <a:off x="1257300" y="3810000"/>
            <a:ext cx="3943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CC7D5"/>
                </a:solidFill>
                <a:latin typeface="Aptos"/>
                <a:ea typeface="Aptos"/>
                <a:cs typeface="Aptos"/>
              </a:defRPr>
            </a:pPr>
            <a:r>
              <a:rPr sz="975" b="0">
                <a:solidFill>
                  <a:srgbClr val="BCC7D5"/>
                </a:solidFill>
                <a:latin typeface="Aptos"/>
                <a:ea typeface="Aptos"/>
                <a:cs typeface="Aptos"/>
              </a:rPr>
              <a:t>tests bytecode recognition in the correct slice</a:t>
            </a:r>
          </a:p>
        </p:txBody>
      </p:sp>
      <p:sp>
        <p:nvSpPr>
          <p:cNvPr id="11" name="">
            <a:extLst xmlns:a="http://schemas.openxmlformats.org/drawingml/2006/main">
              <a:ext uri="{FF2B5EF4-FFF2-40B4-BE49-F238E27FC236}">
                <a16:creationId xmlns:a16="http://schemas.microsoft.com/office/drawing/2014/main" id="{93273019-D434-464A-BA6A-2396FCB2C257}"/>
              </a:ext>
            </a:extLst>
          </p:cNvPr>
          <p:cNvSpPr>
            <a:spLocks xmlns:a="http://schemas.openxmlformats.org/drawingml/2006/main" noGrp="1"/>
          </p:cNvSpPr>
          <p:nvPr/>
        </p:nvSpPr>
        <p:spPr>
          <a:xfrm xmlns:a="http://schemas.openxmlformats.org/drawingml/2006/main">
            <a:off x="971550" y="4400550"/>
            <a:ext cx="133350" cy="13335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80F6558-D39F-4F17-96AB-E32E11B5EDA7}"/>
              </a:ext>
            </a:extLst>
          </p:cNvPr>
          <p:cNvSpPr>
            <a:spLocks xmlns:a="http://schemas.openxmlformats.org/drawingml/2006/main" noGrp="1"/>
          </p:cNvSpPr>
          <p:nvPr/>
        </p:nvSpPr>
        <p:spPr>
          <a:xfrm xmlns:a="http://schemas.openxmlformats.org/drawingml/2006/main">
            <a:off x="1257300" y="4324350"/>
            <a:ext cx="3943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CC7D5"/>
                </a:solidFill>
                <a:latin typeface="Aptos"/>
                <a:ea typeface="Aptos"/>
                <a:cs typeface="Aptos"/>
              </a:defRPr>
            </a:pPr>
            <a:r>
              <a:rPr sz="975" b="0">
                <a:solidFill>
                  <a:srgbClr val="BCC7D5"/>
                </a:solidFill>
                <a:latin typeface="Aptos"/>
                <a:ea typeface="Aptos"/>
                <a:cs typeface="Aptos"/>
              </a:rPr>
              <a:t>keeps non-emitted source rows as a separate denominator</a:t>
            </a:r>
          </a:p>
        </p:txBody>
      </p:sp>
      <p:sp>
        <p:nvSpPr>
          <p:cNvPr id="13" name="">
            <a:extLst xmlns:a="http://schemas.openxmlformats.org/drawingml/2006/main">
              <a:ext uri="{FF2B5EF4-FFF2-40B4-BE49-F238E27FC236}">
                <a16:creationId xmlns:a16="http://schemas.microsoft.com/office/drawing/2014/main" id="{EFA5287E-4B45-4274-A45F-AC5F8F7ECFFA}"/>
              </a:ext>
            </a:extLst>
          </p:cNvPr>
          <p:cNvSpPr>
            <a:spLocks xmlns:a="http://schemas.openxmlformats.org/drawingml/2006/main" noGrp="1"/>
          </p:cNvSpPr>
          <p:nvPr/>
        </p:nvSpPr>
        <p:spPr>
          <a:xfrm xmlns:a="http://schemas.openxmlformats.org/drawingml/2006/main">
            <a:off x="6076950" y="1466850"/>
            <a:ext cx="24193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4" name="">
            <a:extLst xmlns:a="http://schemas.openxmlformats.org/drawingml/2006/main">
              <a:ext uri="{FF2B5EF4-FFF2-40B4-BE49-F238E27FC236}">
                <a16:creationId xmlns:a16="http://schemas.microsoft.com/office/drawing/2014/main" id="{EA620653-DED6-4C62-8A45-2712951303DD}"/>
              </a:ext>
            </a:extLst>
          </p:cNvPr>
          <p:cNvSpPr>
            <a:spLocks xmlns:a="http://schemas.openxmlformats.org/drawingml/2006/main" noGrp="1"/>
          </p:cNvSpPr>
          <p:nvPr/>
        </p:nvSpPr>
        <p:spPr>
          <a:xfrm xmlns:a="http://schemas.openxmlformats.org/drawingml/2006/main">
            <a:off x="6210300" y="1638300"/>
            <a:ext cx="2152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700" b="1">
                <a:solidFill>
                  <a:srgbClr val="4F7D76"/>
                </a:solidFill>
                <a:latin typeface="Aptos Display"/>
                <a:ea typeface="Aptos Display"/>
                <a:cs typeface="Aptos Display"/>
              </a:defRPr>
            </a:pPr>
            <a:r>
              <a:rPr sz="2700" b="1">
                <a:solidFill>
                  <a:srgbClr val="4F7D76"/>
                </a:solidFill>
                <a:latin typeface="Aptos Display"/>
                <a:ea typeface="Aptos Display"/>
                <a:cs typeface="Aptos Display"/>
              </a:rPr>
              <a:t>106 / 106</a:t>
            </a:r>
          </a:p>
        </p:txBody>
      </p:sp>
      <p:sp>
        <p:nvSpPr>
          <p:cNvPr id="15" name="">
            <a:extLst xmlns:a="http://schemas.openxmlformats.org/drawingml/2006/main">
              <a:ext uri="{FF2B5EF4-FFF2-40B4-BE49-F238E27FC236}">
                <a16:creationId xmlns:a16="http://schemas.microsoft.com/office/drawing/2014/main" id="{A33E586B-B41A-414A-BC64-4BAFF3FE739E}"/>
              </a:ext>
            </a:extLst>
          </p:cNvPr>
          <p:cNvSpPr>
            <a:spLocks xmlns:a="http://schemas.openxmlformats.org/drawingml/2006/main" noGrp="1"/>
          </p:cNvSpPr>
          <p:nvPr/>
        </p:nvSpPr>
        <p:spPr>
          <a:xfrm xmlns:a="http://schemas.openxmlformats.org/drawingml/2006/main">
            <a:off x="6210300" y="2076450"/>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65717A"/>
                </a:solidFill>
                <a:latin typeface="Aptos"/>
                <a:ea typeface="Aptos"/>
                <a:cs typeface="Aptos"/>
              </a:defRPr>
            </a:pPr>
            <a:r>
              <a:rPr sz="900" b="1">
                <a:solidFill>
                  <a:srgbClr val="65717A"/>
                </a:solidFill>
                <a:latin typeface="Aptos"/>
                <a:ea typeface="Aptos"/>
                <a:cs typeface="Aptos"/>
              </a:rPr>
              <a:t>source-tree cases completed</a:t>
            </a:r>
          </a:p>
        </p:txBody>
      </p:sp>
      <p:sp>
        <p:nvSpPr>
          <p:cNvPr id="16" name="">
            <a:extLst xmlns:a="http://schemas.openxmlformats.org/drawingml/2006/main">
              <a:ext uri="{FF2B5EF4-FFF2-40B4-BE49-F238E27FC236}">
                <a16:creationId xmlns:a16="http://schemas.microsoft.com/office/drawing/2014/main" id="{829D3900-D42C-4A1B-81CD-92B4625217AD}"/>
              </a:ext>
            </a:extLst>
          </p:cNvPr>
          <p:cNvSpPr>
            <a:spLocks xmlns:a="http://schemas.openxmlformats.org/drawingml/2006/main" noGrp="1"/>
          </p:cNvSpPr>
          <p:nvPr/>
        </p:nvSpPr>
        <p:spPr>
          <a:xfrm xmlns:a="http://schemas.openxmlformats.org/drawingml/2006/main">
            <a:off x="8743950" y="1466850"/>
            <a:ext cx="2762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17" name="">
            <a:extLst xmlns:a="http://schemas.openxmlformats.org/drawingml/2006/main">
              <a:ext uri="{FF2B5EF4-FFF2-40B4-BE49-F238E27FC236}">
                <a16:creationId xmlns:a16="http://schemas.microsoft.com/office/drawing/2014/main" id="{FAD323B0-C9E4-42ED-85F3-3651442EE196}"/>
              </a:ext>
            </a:extLst>
          </p:cNvPr>
          <p:cNvSpPr>
            <a:spLocks xmlns:a="http://schemas.openxmlformats.org/drawingml/2006/main" noGrp="1"/>
          </p:cNvSpPr>
          <p:nvPr/>
        </p:nvSpPr>
        <p:spPr>
          <a:xfrm xmlns:a="http://schemas.openxmlformats.org/drawingml/2006/main">
            <a:off x="8877300" y="1638300"/>
            <a:ext cx="2495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6F7C61"/>
                </a:solidFill>
                <a:latin typeface="Aptos Display"/>
                <a:ea typeface="Aptos Display"/>
                <a:cs typeface="Aptos Display"/>
              </a:defRPr>
            </a:pPr>
            <a:r>
              <a:rPr sz="2550" b="1">
                <a:solidFill>
                  <a:srgbClr val="6F7C61"/>
                </a:solidFill>
                <a:latin typeface="Aptos Display"/>
                <a:ea typeface="Aptos Display"/>
                <a:cs typeface="Aptos Display"/>
              </a:rPr>
              <a:t>6772 / 6772</a:t>
            </a:r>
          </a:p>
        </p:txBody>
      </p:sp>
      <p:sp>
        <p:nvSpPr>
          <p:cNvPr id="18" name="">
            <a:extLst xmlns:a="http://schemas.openxmlformats.org/drawingml/2006/main">
              <a:ext uri="{FF2B5EF4-FFF2-40B4-BE49-F238E27FC236}">
                <a16:creationId xmlns:a16="http://schemas.microsoft.com/office/drawing/2014/main" id="{14CACF92-DEC1-4FD3-8620-0819B00E8D4E}"/>
              </a:ext>
            </a:extLst>
          </p:cNvPr>
          <p:cNvSpPr>
            <a:spLocks xmlns:a="http://schemas.openxmlformats.org/drawingml/2006/main" noGrp="1"/>
          </p:cNvSpPr>
          <p:nvPr/>
        </p:nvSpPr>
        <p:spPr>
          <a:xfrm xmlns:a="http://schemas.openxmlformats.org/drawingml/2006/main">
            <a:off x="8877300" y="207645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65717A"/>
                </a:solidFill>
                <a:latin typeface="Aptos"/>
                <a:ea typeface="Aptos"/>
                <a:cs typeface="Aptos"/>
              </a:defRPr>
            </a:pPr>
            <a:r>
              <a:rPr sz="900" b="1">
                <a:solidFill>
                  <a:srgbClr val="65717A"/>
                </a:solidFill>
                <a:latin typeface="Aptos"/>
                <a:ea typeface="Aptos"/>
                <a:cs typeface="Aptos"/>
              </a:rPr>
              <a:t>emitted rows exact</a:t>
            </a:r>
          </a:p>
        </p:txBody>
      </p:sp>
      <p:sp>
        <p:nvSpPr>
          <p:cNvPr id="19" name="">
            <a:extLst xmlns:a="http://schemas.openxmlformats.org/drawingml/2006/main">
              <a:ext uri="{FF2B5EF4-FFF2-40B4-BE49-F238E27FC236}">
                <a16:creationId xmlns:a16="http://schemas.microsoft.com/office/drawing/2014/main" id="{AF260D35-8F8B-4C13-949E-E3F39CAF42CB}"/>
              </a:ext>
            </a:extLst>
          </p:cNvPr>
          <p:cNvSpPr>
            <a:spLocks xmlns:a="http://schemas.openxmlformats.org/drawingml/2006/main" noGrp="1"/>
          </p:cNvSpPr>
          <p:nvPr/>
        </p:nvSpPr>
        <p:spPr>
          <a:xfrm xmlns:a="http://schemas.openxmlformats.org/drawingml/2006/main">
            <a:off x="6076950" y="2895600"/>
            <a:ext cx="24193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20" name="">
            <a:extLst xmlns:a="http://schemas.openxmlformats.org/drawingml/2006/main">
              <a:ext uri="{FF2B5EF4-FFF2-40B4-BE49-F238E27FC236}">
                <a16:creationId xmlns:a16="http://schemas.microsoft.com/office/drawing/2014/main" id="{D1D57CD7-3341-4767-8CB4-986A3C165F20}"/>
              </a:ext>
            </a:extLst>
          </p:cNvPr>
          <p:cNvSpPr>
            <a:spLocks xmlns:a="http://schemas.openxmlformats.org/drawingml/2006/main" noGrp="1"/>
          </p:cNvSpPr>
          <p:nvPr/>
        </p:nvSpPr>
        <p:spPr>
          <a:xfrm xmlns:a="http://schemas.openxmlformats.org/drawingml/2006/main">
            <a:off x="6210300" y="3067050"/>
            <a:ext cx="2152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000" b="1">
                <a:solidFill>
                  <a:srgbClr val="365F7D"/>
                </a:solidFill>
                <a:latin typeface="Aptos Display"/>
                <a:ea typeface="Aptos Display"/>
                <a:cs typeface="Aptos Display"/>
              </a:defRPr>
            </a:pPr>
            <a:r>
              <a:rPr sz="3000" b="1">
                <a:solidFill>
                  <a:srgbClr val="365F7D"/>
                </a:solidFill>
                <a:latin typeface="Aptos Display"/>
                <a:ea typeface="Aptos Display"/>
                <a:cs typeface="Aptos Display"/>
              </a:rPr>
              <a:t>0</a:t>
            </a:r>
          </a:p>
        </p:txBody>
      </p:sp>
      <p:sp>
        <p:nvSpPr>
          <p:cNvPr id="21" name="">
            <a:extLst xmlns:a="http://schemas.openxmlformats.org/drawingml/2006/main">
              <a:ext uri="{FF2B5EF4-FFF2-40B4-BE49-F238E27FC236}">
                <a16:creationId xmlns:a16="http://schemas.microsoft.com/office/drawing/2014/main" id="{246F9052-8748-4026-B776-6CABEB421D73}"/>
              </a:ext>
            </a:extLst>
          </p:cNvPr>
          <p:cNvSpPr>
            <a:spLocks xmlns:a="http://schemas.openxmlformats.org/drawingml/2006/main" noGrp="1"/>
          </p:cNvSpPr>
          <p:nvPr/>
        </p:nvSpPr>
        <p:spPr>
          <a:xfrm xmlns:a="http://schemas.openxmlformats.org/drawingml/2006/main">
            <a:off x="6210300" y="3505200"/>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65717A"/>
                </a:solidFill>
                <a:latin typeface="Aptos"/>
                <a:ea typeface="Aptos"/>
                <a:cs typeface="Aptos"/>
              </a:defRPr>
            </a:pPr>
            <a:r>
              <a:rPr sz="900" b="1">
                <a:solidFill>
                  <a:srgbClr val="65717A"/>
                </a:solidFill>
                <a:latin typeface="Aptos"/>
                <a:ea typeface="Aptos"/>
                <a:cs typeface="Aptos"/>
              </a:rPr>
              <a:t>wrong-version emitted rows</a:t>
            </a:r>
          </a:p>
        </p:txBody>
      </p:sp>
      <p:sp>
        <p:nvSpPr>
          <p:cNvPr id="22" name="">
            <a:extLst xmlns:a="http://schemas.openxmlformats.org/drawingml/2006/main">
              <a:ext uri="{FF2B5EF4-FFF2-40B4-BE49-F238E27FC236}">
                <a16:creationId xmlns:a16="http://schemas.microsoft.com/office/drawing/2014/main" id="{F1575F4C-41B9-4A77-A42D-97C2E0649463}"/>
              </a:ext>
            </a:extLst>
          </p:cNvPr>
          <p:cNvSpPr>
            <a:spLocks xmlns:a="http://schemas.openxmlformats.org/drawingml/2006/main" noGrp="1"/>
          </p:cNvSpPr>
          <p:nvPr/>
        </p:nvSpPr>
        <p:spPr>
          <a:xfrm xmlns:a="http://schemas.openxmlformats.org/drawingml/2006/main">
            <a:off x="8743950" y="2895600"/>
            <a:ext cx="2762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3" name="">
            <a:extLst xmlns:a="http://schemas.openxmlformats.org/drawingml/2006/main">
              <a:ext uri="{FF2B5EF4-FFF2-40B4-BE49-F238E27FC236}">
                <a16:creationId xmlns:a16="http://schemas.microsoft.com/office/drawing/2014/main" id="{CA90F4B8-700B-4613-B6D1-8F2B3BCBD74C}"/>
              </a:ext>
            </a:extLst>
          </p:cNvPr>
          <p:cNvSpPr>
            <a:spLocks xmlns:a="http://schemas.openxmlformats.org/drawingml/2006/main" noGrp="1"/>
          </p:cNvSpPr>
          <p:nvPr/>
        </p:nvSpPr>
        <p:spPr>
          <a:xfrm xmlns:a="http://schemas.openxmlformats.org/drawingml/2006/main">
            <a:off x="8877300" y="3067050"/>
            <a:ext cx="2495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850" b="1">
                <a:solidFill>
                  <a:srgbClr val="A65C55"/>
                </a:solidFill>
                <a:latin typeface="Aptos Display"/>
                <a:ea typeface="Aptos Display"/>
                <a:cs typeface="Aptos Display"/>
              </a:defRPr>
            </a:pPr>
            <a:r>
              <a:rPr sz="2850" b="1">
                <a:solidFill>
                  <a:srgbClr val="A65C55"/>
                </a:solidFill>
                <a:latin typeface="Aptos Display"/>
                <a:ea typeface="Aptos Display"/>
                <a:cs typeface="Aptos Display"/>
              </a:rPr>
              <a:t>5238</a:t>
            </a:r>
          </a:p>
        </p:txBody>
      </p:sp>
      <p:sp>
        <p:nvSpPr>
          <p:cNvPr id="24" name="">
            <a:extLst xmlns:a="http://schemas.openxmlformats.org/drawingml/2006/main">
              <a:ext uri="{FF2B5EF4-FFF2-40B4-BE49-F238E27FC236}">
                <a16:creationId xmlns:a16="http://schemas.microsoft.com/office/drawing/2014/main" id="{33AA3FE8-793A-460E-893D-B81F72377D5C}"/>
              </a:ext>
            </a:extLst>
          </p:cNvPr>
          <p:cNvSpPr>
            <a:spLocks xmlns:a="http://schemas.openxmlformats.org/drawingml/2006/main" noGrp="1"/>
          </p:cNvSpPr>
          <p:nvPr/>
        </p:nvSpPr>
        <p:spPr>
          <a:xfrm xmlns:a="http://schemas.openxmlformats.org/drawingml/2006/main">
            <a:off x="8877300" y="350520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65717A"/>
                </a:solidFill>
                <a:latin typeface="Aptos"/>
                <a:ea typeface="Aptos"/>
                <a:cs typeface="Aptos"/>
              </a:defRPr>
            </a:pPr>
            <a:r>
              <a:rPr sz="900" b="1">
                <a:solidFill>
                  <a:srgbClr val="65717A"/>
                </a:solidFill>
                <a:latin typeface="Aptos"/>
                <a:ea typeface="Aptos"/>
                <a:cs typeface="Aptos"/>
              </a:rPr>
              <a:t>source-gap rows remain</a:t>
            </a:r>
          </a:p>
        </p:txBody>
      </p:sp>
      <p:sp>
        <p:nvSpPr>
          <p:cNvPr id="25" name="">
            <a:extLst xmlns:a="http://schemas.openxmlformats.org/drawingml/2006/main">
              <a:ext uri="{FF2B5EF4-FFF2-40B4-BE49-F238E27FC236}">
                <a16:creationId xmlns:a16="http://schemas.microsoft.com/office/drawing/2014/main" id="{D1E12E02-3FF1-49D6-91A6-47DD94931FB3}"/>
              </a:ext>
            </a:extLst>
          </p:cNvPr>
          <p:cNvSpPr>
            <a:spLocks xmlns:a="http://schemas.openxmlformats.org/drawingml/2006/main" noGrp="1"/>
          </p:cNvSpPr>
          <p:nvPr/>
        </p:nvSpPr>
        <p:spPr>
          <a:xfrm xmlns:a="http://schemas.openxmlformats.org/drawingml/2006/main">
            <a:off x="685800" y="4476750"/>
            <a:ext cx="10820400" cy="7239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6" name="">
            <a:extLst xmlns:a="http://schemas.openxmlformats.org/drawingml/2006/main">
              <a:ext uri="{FF2B5EF4-FFF2-40B4-BE49-F238E27FC236}">
                <a16:creationId xmlns:a16="http://schemas.microsoft.com/office/drawing/2014/main" id="{57D5BB96-7C10-4846-A452-ACAC37591972}"/>
              </a:ext>
            </a:extLst>
          </p:cNvPr>
          <p:cNvSpPr>
            <a:spLocks xmlns:a="http://schemas.openxmlformats.org/drawingml/2006/main" noGrp="1"/>
          </p:cNvSpPr>
          <p:nvPr/>
        </p:nvSpPr>
        <p:spPr>
          <a:xfrm xmlns:a="http://schemas.openxmlformats.org/drawingml/2006/main">
            <a:off x="876300" y="46482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A65C55"/>
                </a:solidFill>
                <a:latin typeface="Aptos"/>
                <a:ea typeface="Aptos"/>
                <a:cs typeface="Aptos"/>
              </a:defRPr>
            </a:pPr>
            <a:r>
              <a:rPr sz="825" b="1">
                <a:solidFill>
                  <a:srgbClr val="A65C55"/>
                </a:solidFill>
                <a:latin typeface="Aptos"/>
                <a:ea typeface="Aptos"/>
                <a:cs typeface="Aptos"/>
              </a:rPr>
              <a:t>INTERPRETATION</a:t>
            </a:r>
          </a:p>
        </p:txBody>
      </p:sp>
      <p:sp>
        <p:nvSpPr>
          <p:cNvPr id="27" name="">
            <a:extLst xmlns:a="http://schemas.openxmlformats.org/drawingml/2006/main">
              <a:ext uri="{FF2B5EF4-FFF2-40B4-BE49-F238E27FC236}">
                <a16:creationId xmlns:a16="http://schemas.microsoft.com/office/drawing/2014/main" id="{4BE5B168-A142-49C1-B612-7D5270EAB6DD}"/>
              </a:ext>
            </a:extLst>
          </p:cNvPr>
          <p:cNvSpPr>
            <a:spLocks xmlns:a="http://schemas.openxmlformats.org/drawingml/2006/main" noGrp="1"/>
          </p:cNvSpPr>
          <p:nvPr/>
        </p:nvSpPr>
        <p:spPr>
          <a:xfrm xmlns:a="http://schemas.openxmlformats.org/drawingml/2006/main">
            <a:off x="2343150" y="46005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This proves bounded recognition when the correct source versions are available; it does not prove unconstrained APK-only accuracy.</a:t>
            </a:r>
          </a:p>
        </p:txBody>
      </p:sp>
      <p:sp>
        <p:nvSpPr>
          <p:cNvPr id="28" name="">
            <a:extLst xmlns:a="http://schemas.openxmlformats.org/drawingml/2006/main">
              <a:ext uri="{FF2B5EF4-FFF2-40B4-BE49-F238E27FC236}">
                <a16:creationId xmlns:a16="http://schemas.microsoft.com/office/drawing/2014/main" id="{3D8C3772-8F66-48ED-B97D-742EB1DB1881}"/>
              </a:ext>
            </a:extLst>
          </p:cNvPr>
          <p:cNvSpPr>
            <a:spLocks xmlns:a="http://schemas.openxmlformats.org/drawingml/2006/main" noGrp="1"/>
          </p:cNvSpPr>
          <p:nvPr/>
        </p:nvSpPr>
        <p:spPr>
          <a:xfrm xmlns:a="http://schemas.openxmlformats.org/drawingml/2006/main">
            <a:off x="685800" y="55245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8664690-FA62-4D7A-9CE6-11F23D0FB8A8}"/>
              </a:ext>
            </a:extLst>
          </p:cNvPr>
          <p:cNvSpPr>
            <a:spLocks xmlns:a="http://schemas.openxmlformats.org/drawingml/2006/main" noGrp="1"/>
          </p:cNvSpPr>
          <p:nvPr/>
        </p:nvSpPr>
        <p:spPr>
          <a:xfrm xmlns:a="http://schemas.openxmlformats.org/drawingml/2006/main">
            <a:off x="819150" y="55911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65717A"/>
                </a:solidFill>
                <a:latin typeface="Cascadia Mono"/>
                <a:ea typeface="Cascadia Mono"/>
                <a:cs typeface="Cascadia Mono"/>
              </a:defRPr>
            </a:pPr>
            <a:r>
              <a:rPr sz="675" b="0">
                <a:solidFill>
                  <a:srgbClr val="65717A"/>
                </a:solidFill>
                <a:latin typeface="Cascadia Mono"/>
                <a:ea typeface="Cascadia Mono"/>
                <a:cs typeface="Cascadia Mono"/>
              </a:rPr>
              <a:t>Evidence: docs/evaluation/DEMO_FINAL_V2_PACKAGE.md  |  data/results/evaluation/real-apk-demo-final-large-v2-source-version-dashboard.json</a:t>
            </a:r>
          </a:p>
        </p:txBody>
      </p:sp>
      <p:sp>
        <p:nvSpPr>
          <p:cNvPr id="30" name="">
            <a:extLst xmlns:a="http://schemas.openxmlformats.org/drawingml/2006/main">
              <a:ext uri="{FF2B5EF4-FFF2-40B4-BE49-F238E27FC236}">
                <a16:creationId xmlns:a16="http://schemas.microsoft.com/office/drawing/2014/main" id="{D00846D1-9448-4213-8D43-543A1AFDB8A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91552324"/>
      </p:ext>
    </p:extLst>
  </p:cSld>
</p:sld>
</file>

<file path=ppt/slides/slide22.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B00709-13BF-4858-9674-C9BE65366B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B066EC0-D80D-427D-8DD2-7521DDE5B46D}"/>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8F5CF2C-6D6B-4066-ABCE-67BCD349BC58}"/>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A65C55"/>
                </a:solidFill>
                <a:latin typeface="Aptos"/>
                <a:ea typeface="Aptos"/>
                <a:cs typeface="Aptos"/>
              </a:defRPr>
            </a:pPr>
            <a:r>
              <a:rPr sz="900" b="1">
                <a:solidFill>
                  <a:srgbClr val="A65C55"/>
                </a:solidFill>
                <a:latin typeface="Aptos"/>
                <a:ea typeface="Aptos"/>
                <a:cs typeface="Aptos"/>
              </a:rPr>
              <a:t>CVE RESULTS</a:t>
            </a:r>
          </a:p>
        </p:txBody>
      </p:sp>
      <p:sp>
        <p:nvSpPr>
          <p:cNvPr id="4" name="">
            <a:extLst xmlns:a="http://schemas.openxmlformats.org/drawingml/2006/main">
              <a:ext uri="{FF2B5EF4-FFF2-40B4-BE49-F238E27FC236}">
                <a16:creationId xmlns:a16="http://schemas.microsoft.com/office/drawing/2014/main" id="{794BEF13-ECB5-4F36-B1A8-4CE1B770D39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Generated report screenshots prove both the clean and vulnerable demo lanes</a:t>
            </a:r>
          </a:p>
        </p:txBody>
      </p:sp>
      <p:sp>
        <p:nvSpPr>
          <p:cNvPr id="5" name="">
            <a:extLst xmlns:a="http://schemas.openxmlformats.org/drawingml/2006/main">
              <a:ext uri="{FF2B5EF4-FFF2-40B4-BE49-F238E27FC236}">
                <a16:creationId xmlns:a16="http://schemas.microsoft.com/office/drawing/2014/main" id="{1BE5E248-C2C1-4056-81F6-FBC25C0D83C5}"/>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8290A6"/>
                </a:solidFill>
                <a:latin typeface="Aptos"/>
                <a:ea typeface="Aptos"/>
                <a:cs typeface="Aptos"/>
              </a:defRPr>
            </a:pPr>
            <a:r>
              <a:rPr sz="900" b="1">
                <a:solidFill>
                  <a:srgbClr val="8290A6"/>
                </a:solidFill>
                <a:latin typeface="Aptos"/>
                <a:ea typeface="Aptos"/>
                <a:cs typeface="Aptos"/>
              </a:rPr>
              <a:t>22</a:t>
            </a:r>
          </a:p>
        </p:txBody>
      </p:sp>
      <p:sp>
        <p:nvSpPr>
          <p:cNvPr id="6" name="">
            <a:extLst xmlns:a="http://schemas.openxmlformats.org/drawingml/2006/main">
              <a:ext uri="{FF2B5EF4-FFF2-40B4-BE49-F238E27FC236}">
                <a16:creationId xmlns:a16="http://schemas.microsoft.com/office/drawing/2014/main" id="{296E5D58-B8DE-460C-BA6F-47E0F18EEBF8}"/>
              </a:ext>
            </a:extLst>
          </p:cNvPr>
          <p:cNvSpPr>
            <a:spLocks xmlns:a="http://schemas.openxmlformats.org/drawingml/2006/main" noGrp="1"/>
          </p:cNvSpPr>
          <p:nvPr/>
        </p:nvSpPr>
        <p:spPr>
          <a:xfrm xmlns:a="http://schemas.openxmlformats.org/drawingml/2006/main">
            <a:off x="685800" y="12954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4F7D76"/>
                </a:solidFill>
                <a:latin typeface="Aptos"/>
                <a:ea typeface="Aptos"/>
                <a:cs typeface="Aptos"/>
              </a:defRPr>
            </a:pPr>
            <a:r>
              <a:rPr sz="900" b="1">
                <a:solidFill>
                  <a:srgbClr val="4F7D76"/>
                </a:solidFill>
                <a:latin typeface="Aptos"/>
                <a:ea typeface="Aptos"/>
                <a:cs typeface="Aptos"/>
              </a:rPr>
              <a:t>CLEAN REAL APK</a:t>
            </a:r>
          </a:p>
        </p:txBody>
      </p:sp>
      <p:sp>
        <p:nvSpPr>
          <p:cNvPr id="7" name="">
            <a:extLst xmlns:a="http://schemas.openxmlformats.org/drawingml/2006/main">
              <a:ext uri="{FF2B5EF4-FFF2-40B4-BE49-F238E27FC236}">
                <a16:creationId xmlns:a16="http://schemas.microsoft.com/office/drawing/2014/main" id="{689EA220-EEBD-4B96-AEDB-50CFB62FCD57}"/>
              </a:ext>
            </a:extLst>
          </p:cNvPr>
          <p:cNvSpPr>
            <a:spLocks xmlns:a="http://schemas.openxmlformats.org/drawingml/2006/main" noGrp="1"/>
          </p:cNvSpPr>
          <p:nvPr/>
        </p:nvSpPr>
        <p:spPr>
          <a:xfrm xmlns:a="http://schemas.openxmlformats.org/drawingml/2006/main">
            <a:off x="6381750" y="12954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A65C55"/>
                </a:solidFill>
                <a:latin typeface="Aptos"/>
                <a:ea typeface="Aptos"/>
                <a:cs typeface="Aptos"/>
              </a:defRPr>
            </a:pPr>
            <a:r>
              <a:rPr sz="900" b="1">
                <a:solidFill>
                  <a:srgbClr val="A65C55"/>
                </a:solidFill>
                <a:latin typeface="Aptos"/>
                <a:ea typeface="Aptos"/>
                <a:cs typeface="Aptos"/>
              </a:rPr>
              <a:t>CONTROLLED POSITIVE CVE</a:t>
            </a:r>
          </a:p>
        </p:txBody>
      </p:sp>
      <p:sp>
        <p:nvSpPr>
          <p:cNvPr id="8" name="">
            <a:extLst xmlns:a="http://schemas.openxmlformats.org/drawingml/2006/main">
              <a:ext uri="{FF2B5EF4-FFF2-40B4-BE49-F238E27FC236}">
                <a16:creationId xmlns:a16="http://schemas.microsoft.com/office/drawing/2014/main" id="{BC02C62D-DA9C-419A-9EBB-0C85817CE7E5}"/>
              </a:ext>
            </a:extLst>
          </p:cNvPr>
          <p:cNvSpPr>
            <a:spLocks xmlns:a="http://schemas.openxmlformats.org/drawingml/2006/main" noGrp="1"/>
          </p:cNvSpPr>
          <p:nvPr/>
        </p:nvSpPr>
        <p:spPr>
          <a:xfrm xmlns:a="http://schemas.openxmlformats.org/drawingml/2006/main">
            <a:off x="685800" y="1581150"/>
            <a:ext cx="5143500" cy="318135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362c6c541e774c07"/>
          <a:stretch xmlns:a="http://schemas.openxmlformats.org/drawingml/2006/main"/>
        </p:blipFill>
        <p:spPr>
          <a:xfrm xmlns:a="http://schemas.openxmlformats.org/drawingml/2006/main">
            <a:off x="1076706" y="1657350"/>
            <a:ext cx="4361688" cy="30289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4C6F5EC-844D-44C6-BCDC-CAAC7046CB3F}"/>
              </a:ext>
            </a:extLst>
          </p:cNvPr>
          <p:cNvSpPr>
            <a:spLocks xmlns:a="http://schemas.openxmlformats.org/drawingml/2006/main" noGrp="1"/>
          </p:cNvSpPr>
          <p:nvPr/>
        </p:nvSpPr>
        <p:spPr>
          <a:xfrm xmlns:a="http://schemas.openxmlformats.org/drawingml/2006/main">
            <a:off x="6381750" y="1581150"/>
            <a:ext cx="5124450" cy="318135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36979d4a59b6411c"/>
          <a:stretch xmlns:a="http://schemas.openxmlformats.org/drawingml/2006/main"/>
        </p:blipFill>
        <p:spPr>
          <a:xfrm xmlns:a="http://schemas.openxmlformats.org/drawingml/2006/main">
            <a:off x="6763131" y="1657350"/>
            <a:ext cx="4361688" cy="30289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0354ACA-37DB-4155-8954-DBF17145F74C}"/>
              </a:ext>
            </a:extLst>
          </p:cNvPr>
          <p:cNvSpPr>
            <a:spLocks xmlns:a="http://schemas.openxmlformats.org/drawingml/2006/main" noGrp="1"/>
          </p:cNvSpPr>
          <p:nvPr/>
        </p:nvSpPr>
        <p:spPr>
          <a:xfrm xmlns:a="http://schemas.openxmlformats.org/drawingml/2006/main">
            <a:off x="895350" y="4953000"/>
            <a:ext cx="4705350" cy="266700"/>
          </a:xfrm>
          <a:prstGeom xmlns:a="http://schemas.openxmlformats.org/drawingml/2006/main" prst="rect">
            <a:avLst/>
          </a:prstGeom>
          <a:solidFill xmlns:a="http://schemas.openxmlformats.org/drawingml/2006/main">
            <a:srgbClr val="22303C"/>
          </a:solidFill>
          <a:ln xmlns:a="http://schemas.openxmlformats.org/drawingml/2006/main" w="9525">
            <a:solidFill>
              <a:srgbClr val="4F7D76"/>
            </a:solidFill>
            <a:prstDash val="solid"/>
          </a:ln>
        </p:spPr>
      </p:sp>
      <p:sp>
        <p:nvSpPr>
          <p:cNvPr id="13" name="">
            <a:extLst xmlns:a="http://schemas.openxmlformats.org/drawingml/2006/main">
              <a:ext uri="{FF2B5EF4-FFF2-40B4-BE49-F238E27FC236}">
                <a16:creationId xmlns:a16="http://schemas.microsoft.com/office/drawing/2014/main" id="{548F6D52-C029-49E2-8EEE-8E740E1E8C28}"/>
              </a:ext>
            </a:extLst>
          </p:cNvPr>
          <p:cNvSpPr>
            <a:spLocks xmlns:a="http://schemas.openxmlformats.org/drawingml/2006/main" noGrp="1"/>
          </p:cNvSpPr>
          <p:nvPr/>
        </p:nvSpPr>
        <p:spPr>
          <a:xfrm xmlns:a="http://schemas.openxmlformats.org/drawingml/2006/main">
            <a:off x="962025" y="5010150"/>
            <a:ext cx="4572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4F7D76"/>
                </a:solidFill>
                <a:latin typeface="Aptos"/>
                <a:ea typeface="Aptos"/>
                <a:cs typeface="Aptos"/>
              </a:defRPr>
            </a:pPr>
            <a:r>
              <a:rPr sz="825" b="1">
                <a:solidFill>
                  <a:srgbClr val="4F7D76"/>
                </a:solidFill>
                <a:latin typeface="Aptos"/>
                <a:ea typeface="Aptos"/>
                <a:cs typeface="Aptos"/>
              </a:rPr>
              <a:t>23 Maven components  |  OSV 0</a:t>
            </a:r>
          </a:p>
        </p:txBody>
      </p:sp>
      <p:sp>
        <p:nvSpPr>
          <p:cNvPr id="14" name="">
            <a:extLst xmlns:a="http://schemas.openxmlformats.org/drawingml/2006/main">
              <a:ext uri="{FF2B5EF4-FFF2-40B4-BE49-F238E27FC236}">
                <a16:creationId xmlns:a16="http://schemas.microsoft.com/office/drawing/2014/main" id="{8B50C9D9-FF5C-435D-825C-29C85C34EAC6}"/>
              </a:ext>
            </a:extLst>
          </p:cNvPr>
          <p:cNvSpPr>
            <a:spLocks xmlns:a="http://schemas.openxmlformats.org/drawingml/2006/main" noGrp="1"/>
          </p:cNvSpPr>
          <p:nvPr/>
        </p:nvSpPr>
        <p:spPr>
          <a:xfrm xmlns:a="http://schemas.openxmlformats.org/drawingml/2006/main">
            <a:off x="6591300" y="4953000"/>
            <a:ext cx="4686300" cy="26670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15" name="">
            <a:extLst xmlns:a="http://schemas.openxmlformats.org/drawingml/2006/main">
              <a:ext uri="{FF2B5EF4-FFF2-40B4-BE49-F238E27FC236}">
                <a16:creationId xmlns:a16="http://schemas.microsoft.com/office/drawing/2014/main" id="{E4C7D32F-BDE5-4E98-9E16-60A4ED85C741}"/>
              </a:ext>
            </a:extLst>
          </p:cNvPr>
          <p:cNvSpPr>
            <a:spLocks xmlns:a="http://schemas.openxmlformats.org/drawingml/2006/main" noGrp="1"/>
          </p:cNvSpPr>
          <p:nvPr/>
        </p:nvSpPr>
        <p:spPr>
          <a:xfrm xmlns:a="http://schemas.openxmlformats.org/drawingml/2006/main">
            <a:off x="6657975" y="5010150"/>
            <a:ext cx="4552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Jackson Databind 2.9.10.8  |  3 HIGH</a:t>
            </a:r>
          </a:p>
        </p:txBody>
      </p:sp>
      <p:sp>
        <p:nvSpPr>
          <p:cNvPr id="16" name="">
            <a:extLst xmlns:a="http://schemas.openxmlformats.org/drawingml/2006/main">
              <a:ext uri="{FF2B5EF4-FFF2-40B4-BE49-F238E27FC236}">
                <a16:creationId xmlns:a16="http://schemas.microsoft.com/office/drawing/2014/main" id="{CDD758D2-BD26-4775-B45D-A1766290F2E0}"/>
              </a:ext>
            </a:extLst>
          </p:cNvPr>
          <p:cNvSpPr>
            <a:spLocks xmlns:a="http://schemas.openxmlformats.org/drawingml/2006/main" noGrp="1"/>
          </p:cNvSpPr>
          <p:nvPr/>
        </p:nvSpPr>
        <p:spPr>
          <a:xfrm xmlns:a="http://schemas.openxmlformats.org/drawingml/2006/main">
            <a:off x="6572250" y="5391150"/>
            <a:ext cx="1466850" cy="26670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17" name="">
            <a:extLst xmlns:a="http://schemas.openxmlformats.org/drawingml/2006/main">
              <a:ext uri="{FF2B5EF4-FFF2-40B4-BE49-F238E27FC236}">
                <a16:creationId xmlns:a16="http://schemas.microsoft.com/office/drawing/2014/main" id="{B58579BA-7835-41C9-9DA3-AD4977A297F5}"/>
              </a:ext>
            </a:extLst>
          </p:cNvPr>
          <p:cNvSpPr>
            <a:spLocks xmlns:a="http://schemas.openxmlformats.org/drawingml/2006/main" noGrp="1"/>
          </p:cNvSpPr>
          <p:nvPr/>
        </p:nvSpPr>
        <p:spPr>
          <a:xfrm xmlns:a="http://schemas.openxmlformats.org/drawingml/2006/main">
            <a:off x="6638925" y="54483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CVE-2020-36518</a:t>
            </a:r>
          </a:p>
        </p:txBody>
      </p:sp>
      <p:sp>
        <p:nvSpPr>
          <p:cNvPr id="18" name="">
            <a:extLst xmlns:a="http://schemas.openxmlformats.org/drawingml/2006/main">
              <a:ext uri="{FF2B5EF4-FFF2-40B4-BE49-F238E27FC236}">
                <a16:creationId xmlns:a16="http://schemas.microsoft.com/office/drawing/2014/main" id="{A6DFCB04-AAB4-424A-AB70-F66110C80B6C}"/>
              </a:ext>
            </a:extLst>
          </p:cNvPr>
          <p:cNvSpPr>
            <a:spLocks xmlns:a="http://schemas.openxmlformats.org/drawingml/2006/main" noGrp="1"/>
          </p:cNvSpPr>
          <p:nvPr/>
        </p:nvSpPr>
        <p:spPr>
          <a:xfrm xmlns:a="http://schemas.openxmlformats.org/drawingml/2006/main">
            <a:off x="8153400" y="5391150"/>
            <a:ext cx="1466850" cy="26670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19" name="">
            <a:extLst xmlns:a="http://schemas.openxmlformats.org/drawingml/2006/main">
              <a:ext uri="{FF2B5EF4-FFF2-40B4-BE49-F238E27FC236}">
                <a16:creationId xmlns:a16="http://schemas.microsoft.com/office/drawing/2014/main" id="{61EDF7F2-9204-4985-8378-6EA0E8993D91}"/>
              </a:ext>
            </a:extLst>
          </p:cNvPr>
          <p:cNvSpPr>
            <a:spLocks xmlns:a="http://schemas.openxmlformats.org/drawingml/2006/main" noGrp="1"/>
          </p:cNvSpPr>
          <p:nvPr/>
        </p:nvSpPr>
        <p:spPr>
          <a:xfrm xmlns:a="http://schemas.openxmlformats.org/drawingml/2006/main">
            <a:off x="8220075" y="54483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CVE-2022-42003</a:t>
            </a:r>
          </a:p>
        </p:txBody>
      </p:sp>
      <p:sp>
        <p:nvSpPr>
          <p:cNvPr id="20" name="">
            <a:extLst xmlns:a="http://schemas.openxmlformats.org/drawingml/2006/main">
              <a:ext uri="{FF2B5EF4-FFF2-40B4-BE49-F238E27FC236}">
                <a16:creationId xmlns:a16="http://schemas.microsoft.com/office/drawing/2014/main" id="{596A1929-F887-4F4D-A99D-EA0959B97181}"/>
              </a:ext>
            </a:extLst>
          </p:cNvPr>
          <p:cNvSpPr>
            <a:spLocks xmlns:a="http://schemas.openxmlformats.org/drawingml/2006/main" noGrp="1"/>
          </p:cNvSpPr>
          <p:nvPr/>
        </p:nvSpPr>
        <p:spPr>
          <a:xfrm xmlns:a="http://schemas.openxmlformats.org/drawingml/2006/main">
            <a:off x="9734550" y="5391150"/>
            <a:ext cx="1466850" cy="26670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21" name="">
            <a:extLst xmlns:a="http://schemas.openxmlformats.org/drawingml/2006/main">
              <a:ext uri="{FF2B5EF4-FFF2-40B4-BE49-F238E27FC236}">
                <a16:creationId xmlns:a16="http://schemas.microsoft.com/office/drawing/2014/main" id="{AD9756F9-20B0-425B-8B31-8A5172913AE5}"/>
              </a:ext>
            </a:extLst>
          </p:cNvPr>
          <p:cNvSpPr>
            <a:spLocks xmlns:a="http://schemas.openxmlformats.org/drawingml/2006/main" noGrp="1"/>
          </p:cNvSpPr>
          <p:nvPr/>
        </p:nvSpPr>
        <p:spPr>
          <a:xfrm xmlns:a="http://schemas.openxmlformats.org/drawingml/2006/main">
            <a:off x="9801225" y="54483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CVE-2022-42004</a:t>
            </a:r>
          </a:p>
        </p:txBody>
      </p:sp>
      <p:sp>
        <p:nvSpPr>
          <p:cNvPr id="22" name="">
            <a:extLst xmlns:a="http://schemas.openxmlformats.org/drawingml/2006/main">
              <a:ext uri="{FF2B5EF4-FFF2-40B4-BE49-F238E27FC236}">
                <a16:creationId xmlns:a16="http://schemas.microsoft.com/office/drawing/2014/main" id="{1824AA8B-7CF1-4260-9D37-0D3FD824B0A7}"/>
              </a:ext>
            </a:extLst>
          </p:cNvPr>
          <p:cNvSpPr>
            <a:spLocks xmlns:a="http://schemas.openxmlformats.org/drawingml/2006/main" noGrp="1"/>
          </p:cNvSpPr>
          <p:nvPr/>
        </p:nvSpPr>
        <p:spPr>
          <a:xfrm xmlns:a="http://schemas.openxmlformats.org/drawingml/2006/main">
            <a:off x="876300" y="5943600"/>
            <a:ext cx="1043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1">
                <a:solidFill>
                  <a:srgbClr val="FFFFFF"/>
                </a:solidFill>
                <a:latin typeface="Cascadia Mono"/>
                <a:ea typeface="Cascadia Mono"/>
                <a:cs typeface="Cascadia Mono"/>
              </a:defRPr>
            </a:pPr>
            <a:r>
              <a:rPr sz="975" b="1">
                <a:solidFill>
                  <a:srgbClr val="FFFFFF"/>
                </a:solidFill>
                <a:latin typeface="Cascadia Mono"/>
                <a:ea typeface="Cascadia Mono"/>
                <a:cs typeface="Cascadia Mono"/>
              </a:rPr>
              <a:t>Artifacts: report.html + sbom.cdx.json + osv-vulnerabilities.json + source-validation.json</a:t>
            </a:r>
          </a:p>
        </p:txBody>
      </p:sp>
      <p:sp>
        <p:nvSpPr>
          <p:cNvPr id="23" name="">
            <a:extLst xmlns:a="http://schemas.openxmlformats.org/drawingml/2006/main">
              <a:ext uri="{FF2B5EF4-FFF2-40B4-BE49-F238E27FC236}">
                <a16:creationId xmlns:a16="http://schemas.microsoft.com/office/drawing/2014/main" id="{B2C2CB0F-1046-492F-9A41-1518B62C15B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43970178"/>
      </p:ext>
    </p:extLst>
  </p:cSld>
</p:sld>
</file>

<file path=ppt/slides/slide23.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2729E62-F60B-4FC5-8F28-3301066059D2}"/>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8D754D"/>
                </a:solidFill>
                <a:latin typeface="Aptos"/>
                <a:ea typeface="Aptos"/>
                <a:cs typeface="Aptos"/>
              </a:defRPr>
            </a:pPr>
            <a:r>
              <a:rPr sz="900" b="1">
                <a:solidFill>
                  <a:srgbClr val="8D754D"/>
                </a:solidFill>
                <a:latin typeface="Aptos"/>
                <a:ea typeface="Aptos"/>
                <a:cs typeface="Aptos"/>
              </a:rPr>
              <a:t>CONCRETE DEMO INTERPRETATION</a:t>
            </a:r>
          </a:p>
        </p:txBody>
      </p:sp>
      <p:sp>
        <p:nvSpPr>
          <p:cNvPr id="2" name="">
            <a:extLst xmlns:a="http://schemas.openxmlformats.org/drawingml/2006/main">
              <a:ext uri="{FF2B5EF4-FFF2-40B4-BE49-F238E27FC236}">
                <a16:creationId xmlns:a16="http://schemas.microsoft.com/office/drawing/2014/main" id="{96712C9B-200A-4184-ABC3-D0435C885FE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One run separates correct versions from scoring, recall, and reference-DB gaps</a:t>
            </a:r>
          </a:p>
        </p:txBody>
      </p:sp>
      <p:sp>
        <p:nvSpPr>
          <p:cNvPr id="3" name="">
            <a:extLst xmlns:a="http://schemas.openxmlformats.org/drawingml/2006/main">
              <a:ext uri="{FF2B5EF4-FFF2-40B4-BE49-F238E27FC236}">
                <a16:creationId xmlns:a16="http://schemas.microsoft.com/office/drawing/2014/main" id="{7BFBDE18-6D18-4C50-A082-AB919223F63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23</a:t>
            </a:r>
          </a:p>
        </p:txBody>
      </p:sp>
      <p:sp>
        <p:nvSpPr>
          <p:cNvPr id="4" name="">
            <a:extLst xmlns:a="http://schemas.openxmlformats.org/drawingml/2006/main">
              <a:ext uri="{FF2B5EF4-FFF2-40B4-BE49-F238E27FC236}">
                <a16:creationId xmlns:a16="http://schemas.microsoft.com/office/drawing/2014/main" id="{FEA5A938-D5F3-4F78-AD69-CC7B2D6CD233}"/>
              </a:ext>
            </a:extLst>
          </p:cNvPr>
          <p:cNvSpPr>
            <a:spLocks xmlns:a="http://schemas.openxmlformats.org/drawingml/2006/main" noGrp="1"/>
          </p:cNvSpPr>
          <p:nvPr/>
        </p:nvSpPr>
        <p:spPr>
          <a:xfrm xmlns:a="http://schemas.openxmlformats.org/drawingml/2006/main">
            <a:off x="552450" y="1466850"/>
            <a:ext cx="260985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5" name="">
            <a:extLst xmlns:a="http://schemas.openxmlformats.org/drawingml/2006/main">
              <a:ext uri="{FF2B5EF4-FFF2-40B4-BE49-F238E27FC236}">
                <a16:creationId xmlns:a16="http://schemas.microsoft.com/office/drawing/2014/main" id="{111EB65C-6CD2-43E8-BB96-DC2EB6D90657}"/>
              </a:ext>
            </a:extLst>
          </p:cNvPr>
          <p:cNvSpPr>
            <a:spLocks xmlns:a="http://schemas.openxmlformats.org/drawingml/2006/main" noGrp="1"/>
          </p:cNvSpPr>
          <p:nvPr/>
        </p:nvSpPr>
        <p:spPr>
          <a:xfrm xmlns:a="http://schemas.openxmlformats.org/drawingml/2006/main">
            <a:off x="552450" y="1466850"/>
            <a:ext cx="2609850" cy="6477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0031DCE-A80D-4041-82D0-3C788A4AAF23}"/>
              </a:ext>
            </a:extLst>
          </p:cNvPr>
          <p:cNvSpPr>
            <a:spLocks xmlns:a="http://schemas.openxmlformats.org/drawingml/2006/main" noGrp="1"/>
          </p:cNvSpPr>
          <p:nvPr/>
        </p:nvSpPr>
        <p:spPr>
          <a:xfrm xmlns:a="http://schemas.openxmlformats.org/drawingml/2006/main">
            <a:off x="723900" y="16573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FFFFFF"/>
                </a:solidFill>
                <a:latin typeface="Aptos"/>
                <a:ea typeface="Aptos"/>
                <a:cs typeface="Aptos"/>
              </a:defRPr>
            </a:pPr>
            <a:r>
              <a:rPr sz="1350" b="1">
                <a:solidFill>
                  <a:srgbClr val="FFFFFF"/>
                </a:solidFill>
                <a:latin typeface="Aptos"/>
                <a:ea typeface="Aptos"/>
                <a:cs typeface="Aptos"/>
              </a:rPr>
              <a:t>CORRECT</a:t>
            </a:r>
          </a:p>
        </p:txBody>
      </p:sp>
      <p:sp>
        <p:nvSpPr>
          <p:cNvPr id="7" name="">
            <a:extLst xmlns:a="http://schemas.openxmlformats.org/drawingml/2006/main">
              <a:ext uri="{FF2B5EF4-FFF2-40B4-BE49-F238E27FC236}">
                <a16:creationId xmlns:a16="http://schemas.microsoft.com/office/drawing/2014/main" id="{DA9DE584-6CF9-4804-B11F-3E5B9424FAE2}"/>
              </a:ext>
            </a:extLst>
          </p:cNvPr>
          <p:cNvSpPr>
            <a:spLocks xmlns:a="http://schemas.openxmlformats.org/drawingml/2006/main" noGrp="1"/>
          </p:cNvSpPr>
          <p:nvPr/>
        </p:nvSpPr>
        <p:spPr>
          <a:xfrm xmlns:a="http://schemas.openxmlformats.org/drawingml/2006/main">
            <a:off x="723900" y="22860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4F7D76"/>
                </a:solidFill>
                <a:latin typeface="Aptos"/>
                <a:ea typeface="Aptos"/>
                <a:cs typeface="Aptos"/>
              </a:defRPr>
            </a:pPr>
            <a:r>
              <a:rPr sz="900" b="1">
                <a:solidFill>
                  <a:srgbClr val="4F7D76"/>
                </a:solidFill>
                <a:latin typeface="Aptos"/>
                <a:ea typeface="Aptos"/>
                <a:cs typeface="Aptos"/>
              </a:rPr>
              <a:t>emitted + source-confirmed</a:t>
            </a:r>
          </a:p>
        </p:txBody>
      </p:sp>
      <p:sp>
        <p:nvSpPr>
          <p:cNvPr id="8" name="">
            <a:extLst xmlns:a="http://schemas.openxmlformats.org/drawingml/2006/main">
              <a:ext uri="{FF2B5EF4-FFF2-40B4-BE49-F238E27FC236}">
                <a16:creationId xmlns:a16="http://schemas.microsoft.com/office/drawing/2014/main" id="{93410080-7A4A-4E71-866D-2F24566783ED}"/>
              </a:ext>
            </a:extLst>
          </p:cNvPr>
          <p:cNvSpPr>
            <a:spLocks xmlns:a="http://schemas.openxmlformats.org/drawingml/2006/main" noGrp="1"/>
          </p:cNvSpPr>
          <p:nvPr/>
        </p:nvSpPr>
        <p:spPr>
          <a:xfrm xmlns:a="http://schemas.openxmlformats.org/drawingml/2006/main">
            <a:off x="723900" y="2819400"/>
            <a:ext cx="22669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9" name="">
            <a:extLst xmlns:a="http://schemas.openxmlformats.org/drawingml/2006/main">
              <a:ext uri="{FF2B5EF4-FFF2-40B4-BE49-F238E27FC236}">
                <a16:creationId xmlns:a16="http://schemas.microsoft.com/office/drawing/2014/main" id="{B3F205D7-64A9-4D63-852C-C0B1C3771522}"/>
              </a:ext>
            </a:extLst>
          </p:cNvPr>
          <p:cNvSpPr>
            <a:spLocks xmlns:a="http://schemas.openxmlformats.org/drawingml/2006/main" noGrp="1"/>
          </p:cNvSpPr>
          <p:nvPr/>
        </p:nvSpPr>
        <p:spPr>
          <a:xfrm xmlns:a="http://schemas.openxmlformats.org/drawingml/2006/main">
            <a:off x="790575" y="28765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4F7D76"/>
                </a:solidFill>
                <a:latin typeface="Aptos"/>
                <a:ea typeface="Aptos"/>
                <a:cs typeface="Aptos"/>
              </a:defRPr>
            </a:pPr>
            <a:r>
              <a:rPr sz="825" b="1">
                <a:solidFill>
                  <a:srgbClr val="4F7D76"/>
                </a:solidFill>
                <a:latin typeface="Aptos"/>
                <a:ea typeface="Aptos"/>
                <a:cs typeface="Aptos"/>
              </a:rPr>
              <a:t>okhttp  4.12.0</a:t>
            </a:r>
          </a:p>
        </p:txBody>
      </p:sp>
      <p:sp>
        <p:nvSpPr>
          <p:cNvPr id="10" name="">
            <a:extLst xmlns:a="http://schemas.openxmlformats.org/drawingml/2006/main">
              <a:ext uri="{FF2B5EF4-FFF2-40B4-BE49-F238E27FC236}">
                <a16:creationId xmlns:a16="http://schemas.microsoft.com/office/drawing/2014/main" id="{8B4C5EF5-580A-4E3E-8085-BAFAB2E2677E}"/>
              </a:ext>
            </a:extLst>
          </p:cNvPr>
          <p:cNvSpPr>
            <a:spLocks xmlns:a="http://schemas.openxmlformats.org/drawingml/2006/main" noGrp="1"/>
          </p:cNvSpPr>
          <p:nvPr/>
        </p:nvSpPr>
        <p:spPr>
          <a:xfrm xmlns:a="http://schemas.openxmlformats.org/drawingml/2006/main">
            <a:off x="723900" y="3314700"/>
            <a:ext cx="2266950" cy="2667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BA7A163C-DDC9-406B-940E-DDB3A556506D}"/>
              </a:ext>
            </a:extLst>
          </p:cNvPr>
          <p:cNvSpPr>
            <a:spLocks xmlns:a="http://schemas.openxmlformats.org/drawingml/2006/main" noGrp="1"/>
          </p:cNvSpPr>
          <p:nvPr/>
        </p:nvSpPr>
        <p:spPr>
          <a:xfrm xmlns:a="http://schemas.openxmlformats.org/drawingml/2006/main">
            <a:off x="790575" y="33718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4F7D76"/>
                </a:solidFill>
                <a:latin typeface="Aptos"/>
                <a:ea typeface="Aptos"/>
                <a:cs typeface="Aptos"/>
              </a:defRPr>
            </a:pPr>
            <a:r>
              <a:rPr sz="825" b="1">
                <a:solidFill>
                  <a:srgbClr val="4F7D76"/>
                </a:solidFill>
                <a:latin typeface="Aptos"/>
                <a:ea typeface="Aptos"/>
                <a:cs typeface="Aptos"/>
              </a:rPr>
              <a:t>coroutines-android  1.7.3</a:t>
            </a:r>
          </a:p>
        </p:txBody>
      </p:sp>
      <p:sp>
        <p:nvSpPr>
          <p:cNvPr id="12" name="">
            <a:extLst xmlns:a="http://schemas.openxmlformats.org/drawingml/2006/main">
              <a:ext uri="{FF2B5EF4-FFF2-40B4-BE49-F238E27FC236}">
                <a16:creationId xmlns:a16="http://schemas.microsoft.com/office/drawing/2014/main" id="{C01C552F-44F5-44D6-BC23-4FABEF8261E1}"/>
              </a:ext>
            </a:extLst>
          </p:cNvPr>
          <p:cNvSpPr>
            <a:spLocks xmlns:a="http://schemas.openxmlformats.org/drawingml/2006/main" noGrp="1"/>
          </p:cNvSpPr>
          <p:nvPr/>
        </p:nvSpPr>
        <p:spPr>
          <a:xfrm xmlns:a="http://schemas.openxmlformats.org/drawingml/2006/main">
            <a:off x="723900" y="3810000"/>
            <a:ext cx="2266950" cy="2667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3" name="">
            <a:extLst xmlns:a="http://schemas.openxmlformats.org/drawingml/2006/main">
              <a:ext uri="{FF2B5EF4-FFF2-40B4-BE49-F238E27FC236}">
                <a16:creationId xmlns:a16="http://schemas.microsoft.com/office/drawing/2014/main" id="{F658058E-F149-4208-B870-08B3B3F4F270}"/>
              </a:ext>
            </a:extLst>
          </p:cNvPr>
          <p:cNvSpPr>
            <a:spLocks xmlns:a="http://schemas.openxmlformats.org/drawingml/2006/main" noGrp="1"/>
          </p:cNvSpPr>
          <p:nvPr/>
        </p:nvSpPr>
        <p:spPr>
          <a:xfrm xmlns:a="http://schemas.openxmlformats.org/drawingml/2006/main">
            <a:off x="790575" y="38671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4F7D76"/>
                </a:solidFill>
                <a:latin typeface="Aptos"/>
                <a:ea typeface="Aptos"/>
                <a:cs typeface="Aptos"/>
              </a:defRPr>
            </a:pPr>
            <a:r>
              <a:rPr sz="825" b="1">
                <a:solidFill>
                  <a:srgbClr val="4F7D76"/>
                </a:solidFill>
                <a:latin typeface="Aptos"/>
                <a:ea typeface="Aptos"/>
                <a:cs typeface="Aptos"/>
              </a:rPr>
              <a:t>activity  1.10.1</a:t>
            </a:r>
          </a:p>
        </p:txBody>
      </p:sp>
      <p:sp>
        <p:nvSpPr>
          <p:cNvPr id="14" name="rule">
            <a:extLst xmlns:a="http://schemas.openxmlformats.org/drawingml/2006/main">
              <a:ext uri="{FF2B5EF4-FFF2-40B4-BE49-F238E27FC236}">
                <a16:creationId xmlns:a16="http://schemas.microsoft.com/office/drawing/2014/main" id="{B3360CB5-99C3-4C4B-A382-D5DACE100EA1}"/>
              </a:ext>
            </a:extLst>
          </p:cNvPr>
          <p:cNvSpPr>
            <a:spLocks xmlns:a="http://schemas.openxmlformats.org/drawingml/2006/main" noGrp="1"/>
          </p:cNvSpPr>
          <p:nvPr/>
        </p:nvSpPr>
        <p:spPr>
          <a:xfrm xmlns:a="http://schemas.openxmlformats.org/drawingml/2006/main">
            <a:off x="742950" y="4419600"/>
            <a:ext cx="22288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AD00AD6-7FC7-49DC-BABD-B4388EA57D72}"/>
              </a:ext>
            </a:extLst>
          </p:cNvPr>
          <p:cNvSpPr>
            <a:spLocks xmlns:a="http://schemas.openxmlformats.org/drawingml/2006/main" noGrp="1"/>
          </p:cNvSpPr>
          <p:nvPr/>
        </p:nvSpPr>
        <p:spPr>
          <a:xfrm xmlns:a="http://schemas.openxmlformats.org/drawingml/2006/main">
            <a:off x="762000" y="4629150"/>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202A33"/>
                </a:solidFill>
                <a:latin typeface="Aptos"/>
                <a:ea typeface="Aptos"/>
                <a:cs typeface="Aptos"/>
              </a:defRPr>
            </a:pPr>
            <a:r>
              <a:rPr sz="825" b="1">
                <a:solidFill>
                  <a:srgbClr val="202A33"/>
                </a:solidFill>
                <a:latin typeface="Aptos"/>
                <a:ea typeface="Aptos"/>
                <a:cs typeface="Aptos"/>
              </a:rPr>
              <a:t>The selected Maven version matches the source dependency tree.</a:t>
            </a:r>
          </a:p>
        </p:txBody>
      </p:sp>
      <p:sp>
        <p:nvSpPr>
          <p:cNvPr id="16" name="">
            <a:extLst xmlns:a="http://schemas.openxmlformats.org/drawingml/2006/main">
              <a:ext uri="{FF2B5EF4-FFF2-40B4-BE49-F238E27FC236}">
                <a16:creationId xmlns:a16="http://schemas.microsoft.com/office/drawing/2014/main" id="{6B81E445-DD92-475C-BD6A-84BBADC163FF}"/>
              </a:ext>
            </a:extLst>
          </p:cNvPr>
          <p:cNvSpPr>
            <a:spLocks xmlns:a="http://schemas.openxmlformats.org/drawingml/2006/main" noGrp="1"/>
          </p:cNvSpPr>
          <p:nvPr/>
        </p:nvSpPr>
        <p:spPr>
          <a:xfrm xmlns:a="http://schemas.openxmlformats.org/drawingml/2006/main">
            <a:off x="3390900" y="1466850"/>
            <a:ext cx="260985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17" name="">
            <a:extLst xmlns:a="http://schemas.openxmlformats.org/drawingml/2006/main">
              <a:ext uri="{FF2B5EF4-FFF2-40B4-BE49-F238E27FC236}">
                <a16:creationId xmlns:a16="http://schemas.microsoft.com/office/drawing/2014/main" id="{733592ED-A48E-4991-B758-DDB84ADB397D}"/>
              </a:ext>
            </a:extLst>
          </p:cNvPr>
          <p:cNvSpPr>
            <a:spLocks xmlns:a="http://schemas.openxmlformats.org/drawingml/2006/main" noGrp="1"/>
          </p:cNvSpPr>
          <p:nvPr/>
        </p:nvSpPr>
        <p:spPr>
          <a:xfrm xmlns:a="http://schemas.openxmlformats.org/drawingml/2006/main">
            <a:off x="3390900" y="1466850"/>
            <a:ext cx="2609850" cy="6477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6718707-2AFA-4517-9053-21326B03E832}"/>
              </a:ext>
            </a:extLst>
          </p:cNvPr>
          <p:cNvSpPr>
            <a:spLocks xmlns:a="http://schemas.openxmlformats.org/drawingml/2006/main" noGrp="1"/>
          </p:cNvSpPr>
          <p:nvPr/>
        </p:nvSpPr>
        <p:spPr>
          <a:xfrm xmlns:a="http://schemas.openxmlformats.org/drawingml/2006/main">
            <a:off x="3562350" y="16573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FFFFFF"/>
                </a:solidFill>
                <a:latin typeface="Aptos"/>
                <a:ea typeface="Aptos"/>
                <a:cs typeface="Aptos"/>
              </a:defRPr>
            </a:pPr>
            <a:r>
              <a:rPr sz="1350" b="1">
                <a:solidFill>
                  <a:srgbClr val="FFFFFF"/>
                </a:solidFill>
                <a:latin typeface="Aptos"/>
                <a:ea typeface="Aptos"/>
                <a:cs typeface="Aptos"/>
              </a:rPr>
              <a:t>SCORING MISS</a:t>
            </a:r>
          </a:p>
        </p:txBody>
      </p:sp>
      <p:sp>
        <p:nvSpPr>
          <p:cNvPr id="19" name="">
            <a:extLst xmlns:a="http://schemas.openxmlformats.org/drawingml/2006/main">
              <a:ext uri="{FF2B5EF4-FFF2-40B4-BE49-F238E27FC236}">
                <a16:creationId xmlns:a16="http://schemas.microsoft.com/office/drawing/2014/main" id="{B81B42F2-B95C-4E8D-AF6C-D9C8188A08BC}"/>
              </a:ext>
            </a:extLst>
          </p:cNvPr>
          <p:cNvSpPr>
            <a:spLocks xmlns:a="http://schemas.openxmlformats.org/drawingml/2006/main" noGrp="1"/>
          </p:cNvSpPr>
          <p:nvPr/>
        </p:nvSpPr>
        <p:spPr>
          <a:xfrm xmlns:a="http://schemas.openxmlformats.org/drawingml/2006/main">
            <a:off x="3562350" y="22860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A65C55"/>
                </a:solidFill>
                <a:latin typeface="Aptos"/>
                <a:ea typeface="Aptos"/>
                <a:cs typeface="Aptos"/>
              </a:defRPr>
            </a:pPr>
            <a:r>
              <a:rPr sz="900" b="1">
                <a:solidFill>
                  <a:srgbClr val="A65C55"/>
                </a:solidFill>
                <a:latin typeface="Aptos"/>
                <a:ea typeface="Aptos"/>
                <a:cs typeface="Aptos"/>
              </a:rPr>
              <a:t>candidate version mismatch</a:t>
            </a:r>
          </a:p>
        </p:txBody>
      </p:sp>
      <p:sp>
        <p:nvSpPr>
          <p:cNvPr id="20" name="">
            <a:extLst xmlns:a="http://schemas.openxmlformats.org/drawingml/2006/main">
              <a:ext uri="{FF2B5EF4-FFF2-40B4-BE49-F238E27FC236}">
                <a16:creationId xmlns:a16="http://schemas.microsoft.com/office/drawing/2014/main" id="{589E7C7D-58DE-4B22-86DC-B861CCC2EF44}"/>
              </a:ext>
            </a:extLst>
          </p:cNvPr>
          <p:cNvSpPr>
            <a:spLocks xmlns:a="http://schemas.openxmlformats.org/drawingml/2006/main" noGrp="1"/>
          </p:cNvSpPr>
          <p:nvPr/>
        </p:nvSpPr>
        <p:spPr>
          <a:xfrm xmlns:a="http://schemas.openxmlformats.org/drawingml/2006/main">
            <a:off x="3562350" y="2819400"/>
            <a:ext cx="22669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1" name="">
            <a:extLst xmlns:a="http://schemas.openxmlformats.org/drawingml/2006/main">
              <a:ext uri="{FF2B5EF4-FFF2-40B4-BE49-F238E27FC236}">
                <a16:creationId xmlns:a16="http://schemas.microsoft.com/office/drawing/2014/main" id="{A366DCAA-8A79-401C-AD68-8366239C5332}"/>
              </a:ext>
            </a:extLst>
          </p:cNvPr>
          <p:cNvSpPr>
            <a:spLocks xmlns:a="http://schemas.openxmlformats.org/drawingml/2006/main" noGrp="1"/>
          </p:cNvSpPr>
          <p:nvPr/>
        </p:nvSpPr>
        <p:spPr>
          <a:xfrm xmlns:a="http://schemas.openxmlformats.org/drawingml/2006/main">
            <a:off x="3629025" y="28765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okio selected  2.8.0</a:t>
            </a:r>
          </a:p>
        </p:txBody>
      </p:sp>
      <p:sp>
        <p:nvSpPr>
          <p:cNvPr id="22" name="">
            <a:extLst xmlns:a="http://schemas.openxmlformats.org/drawingml/2006/main">
              <a:ext uri="{FF2B5EF4-FFF2-40B4-BE49-F238E27FC236}">
                <a16:creationId xmlns:a16="http://schemas.microsoft.com/office/drawing/2014/main" id="{008DCF12-89BF-40EF-ABA6-E8356B7757C1}"/>
              </a:ext>
            </a:extLst>
          </p:cNvPr>
          <p:cNvSpPr>
            <a:spLocks xmlns:a="http://schemas.openxmlformats.org/drawingml/2006/main" noGrp="1"/>
          </p:cNvSpPr>
          <p:nvPr/>
        </p:nvSpPr>
        <p:spPr>
          <a:xfrm xmlns:a="http://schemas.openxmlformats.org/drawingml/2006/main">
            <a:off x="3562350" y="3314700"/>
            <a:ext cx="2266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3" name="">
            <a:extLst xmlns:a="http://schemas.openxmlformats.org/drawingml/2006/main">
              <a:ext uri="{FF2B5EF4-FFF2-40B4-BE49-F238E27FC236}">
                <a16:creationId xmlns:a16="http://schemas.microsoft.com/office/drawing/2014/main" id="{8152D992-08BF-41BF-B719-1AB16EA4CD66}"/>
              </a:ext>
            </a:extLst>
          </p:cNvPr>
          <p:cNvSpPr>
            <a:spLocks xmlns:a="http://schemas.openxmlformats.org/drawingml/2006/main" noGrp="1"/>
          </p:cNvSpPr>
          <p:nvPr/>
        </p:nvSpPr>
        <p:spPr>
          <a:xfrm xmlns:a="http://schemas.openxmlformats.org/drawingml/2006/main">
            <a:off x="3629025" y="33718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source version  3.7.0</a:t>
            </a:r>
          </a:p>
        </p:txBody>
      </p:sp>
      <p:sp>
        <p:nvSpPr>
          <p:cNvPr id="24" name="">
            <a:extLst xmlns:a="http://schemas.openxmlformats.org/drawingml/2006/main">
              <a:ext uri="{FF2B5EF4-FFF2-40B4-BE49-F238E27FC236}">
                <a16:creationId xmlns:a16="http://schemas.microsoft.com/office/drawing/2014/main" id="{38655F77-7CFA-40CF-AC0E-08D608EEEFF2}"/>
              </a:ext>
            </a:extLst>
          </p:cNvPr>
          <p:cNvSpPr>
            <a:spLocks xmlns:a="http://schemas.openxmlformats.org/drawingml/2006/main" noGrp="1"/>
          </p:cNvSpPr>
          <p:nvPr/>
        </p:nvSpPr>
        <p:spPr>
          <a:xfrm xmlns:a="http://schemas.openxmlformats.org/drawingml/2006/main">
            <a:off x="3562350" y="3810000"/>
            <a:ext cx="2266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5" name="">
            <a:extLst xmlns:a="http://schemas.openxmlformats.org/drawingml/2006/main">
              <a:ext uri="{FF2B5EF4-FFF2-40B4-BE49-F238E27FC236}">
                <a16:creationId xmlns:a16="http://schemas.microsoft.com/office/drawing/2014/main" id="{6C81ED5F-C9A6-4AEC-949A-D234C2F2D334}"/>
              </a:ext>
            </a:extLst>
          </p:cNvPr>
          <p:cNvSpPr>
            <a:spLocks xmlns:a="http://schemas.openxmlformats.org/drawingml/2006/main" noGrp="1"/>
          </p:cNvSpPr>
          <p:nvPr/>
        </p:nvSpPr>
        <p:spPr>
          <a:xfrm xmlns:a="http://schemas.openxmlformats.org/drawingml/2006/main">
            <a:off x="3629025" y="38671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status  version-mismatch</a:t>
            </a:r>
          </a:p>
        </p:txBody>
      </p:sp>
      <p:sp>
        <p:nvSpPr>
          <p:cNvPr id="26" name="rule">
            <a:extLst xmlns:a="http://schemas.openxmlformats.org/drawingml/2006/main">
              <a:ext uri="{FF2B5EF4-FFF2-40B4-BE49-F238E27FC236}">
                <a16:creationId xmlns:a16="http://schemas.microsoft.com/office/drawing/2014/main" id="{9958616E-D782-44E1-B5E8-B8DCA0817ED4}"/>
              </a:ext>
            </a:extLst>
          </p:cNvPr>
          <p:cNvSpPr>
            <a:spLocks xmlns:a="http://schemas.openxmlformats.org/drawingml/2006/main" noGrp="1"/>
          </p:cNvSpPr>
          <p:nvPr/>
        </p:nvSpPr>
        <p:spPr>
          <a:xfrm xmlns:a="http://schemas.openxmlformats.org/drawingml/2006/main">
            <a:off x="3581400" y="4419600"/>
            <a:ext cx="22288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0E36A21-BBB5-42DE-A83B-C9943CB100B0}"/>
              </a:ext>
            </a:extLst>
          </p:cNvPr>
          <p:cNvSpPr>
            <a:spLocks xmlns:a="http://schemas.openxmlformats.org/drawingml/2006/main" noGrp="1"/>
          </p:cNvSpPr>
          <p:nvPr/>
        </p:nvSpPr>
        <p:spPr>
          <a:xfrm xmlns:a="http://schemas.openxmlformats.org/drawingml/2006/main">
            <a:off x="3600450" y="4629150"/>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202A33"/>
                </a:solidFill>
                <a:latin typeface="Aptos"/>
                <a:ea typeface="Aptos"/>
                <a:cs typeface="Aptos"/>
              </a:defRPr>
            </a:pPr>
            <a:r>
              <a:rPr sz="825" b="1">
                <a:solidFill>
                  <a:srgbClr val="202A33"/>
                </a:solidFill>
                <a:latin typeface="Aptos"/>
                <a:ea typeface="Aptos"/>
                <a:cs typeface="Aptos"/>
              </a:rPr>
              <a:t>Kept outside the confirmed SBOM instead of becoming a false exact claim.</a:t>
            </a:r>
          </a:p>
        </p:txBody>
      </p:sp>
      <p:sp>
        <p:nvSpPr>
          <p:cNvPr id="28" name="">
            <a:extLst xmlns:a="http://schemas.openxmlformats.org/drawingml/2006/main">
              <a:ext uri="{FF2B5EF4-FFF2-40B4-BE49-F238E27FC236}">
                <a16:creationId xmlns:a16="http://schemas.microsoft.com/office/drawing/2014/main" id="{E63C95E5-96F3-42F4-AC5C-7954167BBA33}"/>
              </a:ext>
            </a:extLst>
          </p:cNvPr>
          <p:cNvSpPr>
            <a:spLocks xmlns:a="http://schemas.openxmlformats.org/drawingml/2006/main" noGrp="1"/>
          </p:cNvSpPr>
          <p:nvPr/>
        </p:nvSpPr>
        <p:spPr>
          <a:xfrm xmlns:a="http://schemas.openxmlformats.org/drawingml/2006/main">
            <a:off x="6229350" y="1466850"/>
            <a:ext cx="260985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29" name="">
            <a:extLst xmlns:a="http://schemas.openxmlformats.org/drawingml/2006/main">
              <a:ext uri="{FF2B5EF4-FFF2-40B4-BE49-F238E27FC236}">
                <a16:creationId xmlns:a16="http://schemas.microsoft.com/office/drawing/2014/main" id="{68B91A5A-DE01-4827-8A53-0E50BA1329A1}"/>
              </a:ext>
            </a:extLst>
          </p:cNvPr>
          <p:cNvSpPr>
            <a:spLocks xmlns:a="http://schemas.openxmlformats.org/drawingml/2006/main" noGrp="1"/>
          </p:cNvSpPr>
          <p:nvPr/>
        </p:nvSpPr>
        <p:spPr>
          <a:xfrm xmlns:a="http://schemas.openxmlformats.org/drawingml/2006/main">
            <a:off x="6229350" y="1466850"/>
            <a:ext cx="2609850" cy="6477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E9DA508-F888-4DF6-9EB5-24DC8DDF04F2}"/>
              </a:ext>
            </a:extLst>
          </p:cNvPr>
          <p:cNvSpPr>
            <a:spLocks xmlns:a="http://schemas.openxmlformats.org/drawingml/2006/main" noGrp="1"/>
          </p:cNvSpPr>
          <p:nvPr/>
        </p:nvSpPr>
        <p:spPr>
          <a:xfrm xmlns:a="http://schemas.openxmlformats.org/drawingml/2006/main">
            <a:off x="6400800" y="16573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FFFFFF"/>
                </a:solidFill>
                <a:latin typeface="Aptos"/>
                <a:ea typeface="Aptos"/>
                <a:cs typeface="Aptos"/>
              </a:defRPr>
            </a:pPr>
            <a:r>
              <a:rPr sz="1350" b="1">
                <a:solidFill>
                  <a:srgbClr val="FFFFFF"/>
                </a:solidFill>
                <a:latin typeface="Aptos"/>
                <a:ea typeface="Aptos"/>
                <a:cs typeface="Aptos"/>
              </a:rPr>
              <a:t>MATCHER RECALL</a:t>
            </a:r>
          </a:p>
        </p:txBody>
      </p:sp>
      <p:sp>
        <p:nvSpPr>
          <p:cNvPr id="31" name="">
            <a:extLst xmlns:a="http://schemas.openxmlformats.org/drawingml/2006/main">
              <a:ext uri="{FF2B5EF4-FFF2-40B4-BE49-F238E27FC236}">
                <a16:creationId xmlns:a16="http://schemas.microsoft.com/office/drawing/2014/main" id="{F74C3CF1-D26F-4C99-BE19-2D15DC118757}"/>
              </a:ext>
            </a:extLst>
          </p:cNvPr>
          <p:cNvSpPr>
            <a:spLocks xmlns:a="http://schemas.openxmlformats.org/drawingml/2006/main" noGrp="1"/>
          </p:cNvSpPr>
          <p:nvPr/>
        </p:nvSpPr>
        <p:spPr>
          <a:xfrm xmlns:a="http://schemas.openxmlformats.org/drawingml/2006/main">
            <a:off x="6400800" y="22860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655F73"/>
                </a:solidFill>
                <a:latin typeface="Aptos"/>
                <a:ea typeface="Aptos"/>
                <a:cs typeface="Aptos"/>
              </a:defRPr>
            </a:pPr>
            <a:r>
              <a:rPr sz="900" b="1">
                <a:solidFill>
                  <a:srgbClr val="655F73"/>
                </a:solidFill>
                <a:latin typeface="Aptos"/>
                <a:ea typeface="Aptos"/>
                <a:cs typeface="Aptos"/>
              </a:rPr>
              <a:t>reference exists, not emitted</a:t>
            </a:r>
          </a:p>
        </p:txBody>
      </p:sp>
      <p:sp>
        <p:nvSpPr>
          <p:cNvPr id="32" name="">
            <a:extLst xmlns:a="http://schemas.openxmlformats.org/drawingml/2006/main">
              <a:ext uri="{FF2B5EF4-FFF2-40B4-BE49-F238E27FC236}">
                <a16:creationId xmlns:a16="http://schemas.microsoft.com/office/drawing/2014/main" id="{38C52852-B6B6-4695-94E4-EC0CCC67B937}"/>
              </a:ext>
            </a:extLst>
          </p:cNvPr>
          <p:cNvSpPr>
            <a:spLocks xmlns:a="http://schemas.openxmlformats.org/drawingml/2006/main" noGrp="1"/>
          </p:cNvSpPr>
          <p:nvPr/>
        </p:nvSpPr>
        <p:spPr>
          <a:xfrm xmlns:a="http://schemas.openxmlformats.org/drawingml/2006/main">
            <a:off x="6400800" y="2819400"/>
            <a:ext cx="22669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33" name="">
            <a:extLst xmlns:a="http://schemas.openxmlformats.org/drawingml/2006/main">
              <a:ext uri="{FF2B5EF4-FFF2-40B4-BE49-F238E27FC236}">
                <a16:creationId xmlns:a16="http://schemas.microsoft.com/office/drawing/2014/main" id="{EB33DA62-22F5-49D3-9DF5-2D3E7D9612D2}"/>
              </a:ext>
            </a:extLst>
          </p:cNvPr>
          <p:cNvSpPr>
            <a:spLocks xmlns:a="http://schemas.openxmlformats.org/drawingml/2006/main" noGrp="1"/>
          </p:cNvSpPr>
          <p:nvPr/>
        </p:nvSpPr>
        <p:spPr>
          <a:xfrm xmlns:a="http://schemas.openxmlformats.org/drawingml/2006/main">
            <a:off x="6467475" y="28765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55F73"/>
                </a:solidFill>
                <a:latin typeface="Aptos"/>
                <a:ea typeface="Aptos"/>
                <a:cs typeface="Aptos"/>
              </a:defRPr>
            </a:pPr>
            <a:r>
              <a:rPr sz="825" b="1">
                <a:solidFill>
                  <a:srgbClr val="655F73"/>
                </a:solidFill>
                <a:latin typeface="Aptos"/>
                <a:ea typeface="Aptos"/>
                <a:cs typeface="Aptos"/>
              </a:rPr>
              <a:t>activity-compose</a:t>
            </a:r>
          </a:p>
        </p:txBody>
      </p:sp>
      <p:sp>
        <p:nvSpPr>
          <p:cNvPr id="34" name="">
            <a:extLst xmlns:a="http://schemas.openxmlformats.org/drawingml/2006/main">
              <a:ext uri="{FF2B5EF4-FFF2-40B4-BE49-F238E27FC236}">
                <a16:creationId xmlns:a16="http://schemas.microsoft.com/office/drawing/2014/main" id="{D664028E-C9E7-4ABD-8E8E-9F6496E964C6}"/>
              </a:ext>
            </a:extLst>
          </p:cNvPr>
          <p:cNvSpPr>
            <a:spLocks xmlns:a="http://schemas.openxmlformats.org/drawingml/2006/main" noGrp="1"/>
          </p:cNvSpPr>
          <p:nvPr/>
        </p:nvSpPr>
        <p:spPr>
          <a:xfrm xmlns:a="http://schemas.openxmlformats.org/drawingml/2006/main">
            <a:off x="6400800" y="3314700"/>
            <a:ext cx="2266950" cy="2667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35" name="">
            <a:extLst xmlns:a="http://schemas.openxmlformats.org/drawingml/2006/main">
              <a:ext uri="{FF2B5EF4-FFF2-40B4-BE49-F238E27FC236}">
                <a16:creationId xmlns:a16="http://schemas.microsoft.com/office/drawing/2014/main" id="{B0D8B5DE-4D80-42C3-8231-4B690AA0C055}"/>
              </a:ext>
            </a:extLst>
          </p:cNvPr>
          <p:cNvSpPr>
            <a:spLocks xmlns:a="http://schemas.openxmlformats.org/drawingml/2006/main" noGrp="1"/>
          </p:cNvSpPr>
          <p:nvPr/>
        </p:nvSpPr>
        <p:spPr>
          <a:xfrm xmlns:a="http://schemas.openxmlformats.org/drawingml/2006/main">
            <a:off x="6467475" y="33718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55F73"/>
                </a:solidFill>
                <a:latin typeface="Aptos"/>
                <a:ea typeface="Aptos"/>
                <a:cs typeface="Aptos"/>
              </a:defRPr>
            </a:pPr>
            <a:r>
              <a:rPr sz="825" b="1">
                <a:solidFill>
                  <a:srgbClr val="655F73"/>
                </a:solidFill>
                <a:latin typeface="Aptos"/>
                <a:ea typeface="Aptos"/>
                <a:cs typeface="Aptos"/>
              </a:rPr>
              <a:t>source  1.10.1</a:t>
            </a:r>
          </a:p>
        </p:txBody>
      </p:sp>
      <p:sp>
        <p:nvSpPr>
          <p:cNvPr id="36" name="">
            <a:extLst xmlns:a="http://schemas.openxmlformats.org/drawingml/2006/main">
              <a:ext uri="{FF2B5EF4-FFF2-40B4-BE49-F238E27FC236}">
                <a16:creationId xmlns:a16="http://schemas.microsoft.com/office/drawing/2014/main" id="{BCCF2AC1-A793-4856-9FE3-A9DC5C5CE522}"/>
              </a:ext>
            </a:extLst>
          </p:cNvPr>
          <p:cNvSpPr>
            <a:spLocks xmlns:a="http://schemas.openxmlformats.org/drawingml/2006/main" noGrp="1"/>
          </p:cNvSpPr>
          <p:nvPr/>
        </p:nvSpPr>
        <p:spPr>
          <a:xfrm xmlns:a="http://schemas.openxmlformats.org/drawingml/2006/main">
            <a:off x="6400800" y="3810000"/>
            <a:ext cx="2266950" cy="2667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37" name="">
            <a:extLst xmlns:a="http://schemas.openxmlformats.org/drawingml/2006/main">
              <a:ext uri="{FF2B5EF4-FFF2-40B4-BE49-F238E27FC236}">
                <a16:creationId xmlns:a16="http://schemas.microsoft.com/office/drawing/2014/main" id="{9945CC8B-3983-4EC1-AE04-A424A987ACDD}"/>
              </a:ext>
            </a:extLst>
          </p:cNvPr>
          <p:cNvSpPr>
            <a:spLocks xmlns:a="http://schemas.openxmlformats.org/drawingml/2006/main" noGrp="1"/>
          </p:cNvSpPr>
          <p:nvPr/>
        </p:nvSpPr>
        <p:spPr>
          <a:xfrm xmlns:a="http://schemas.openxmlformats.org/drawingml/2006/main">
            <a:off x="6467475" y="38671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55F73"/>
                </a:solidFill>
                <a:latin typeface="Aptos"/>
                <a:ea typeface="Aptos"/>
                <a:cs typeface="Aptos"/>
              </a:defRPr>
            </a:pPr>
            <a:r>
              <a:rPr sz="825" b="1">
                <a:solidFill>
                  <a:srgbClr val="655F73"/>
                </a:solidFill>
                <a:latin typeface="Aptos"/>
                <a:ea typeface="Aptos"/>
                <a:cs typeface="Aptos"/>
              </a:rPr>
              <a:t>exact version is in DB</a:t>
            </a:r>
          </a:p>
        </p:txBody>
      </p:sp>
      <p:sp>
        <p:nvSpPr>
          <p:cNvPr id="38" name="rule">
            <a:extLst xmlns:a="http://schemas.openxmlformats.org/drawingml/2006/main">
              <a:ext uri="{FF2B5EF4-FFF2-40B4-BE49-F238E27FC236}">
                <a16:creationId xmlns:a16="http://schemas.microsoft.com/office/drawing/2014/main" id="{34FE4022-879E-43BE-B947-BFFDAFCBBED0}"/>
              </a:ext>
            </a:extLst>
          </p:cNvPr>
          <p:cNvSpPr>
            <a:spLocks xmlns:a="http://schemas.openxmlformats.org/drawingml/2006/main" noGrp="1"/>
          </p:cNvSpPr>
          <p:nvPr/>
        </p:nvSpPr>
        <p:spPr>
          <a:xfrm xmlns:a="http://schemas.openxmlformats.org/drawingml/2006/main">
            <a:off x="6419850" y="4419600"/>
            <a:ext cx="22288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F22DE159-85DF-49F3-B528-D0805FC09906}"/>
              </a:ext>
            </a:extLst>
          </p:cNvPr>
          <p:cNvSpPr>
            <a:spLocks xmlns:a="http://schemas.openxmlformats.org/drawingml/2006/main" noGrp="1"/>
          </p:cNvSpPr>
          <p:nvPr/>
        </p:nvSpPr>
        <p:spPr>
          <a:xfrm xmlns:a="http://schemas.openxmlformats.org/drawingml/2006/main">
            <a:off x="6438900" y="4629150"/>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202A33"/>
                </a:solidFill>
                <a:latin typeface="Aptos"/>
                <a:ea typeface="Aptos"/>
                <a:cs typeface="Aptos"/>
              </a:defRPr>
            </a:pPr>
            <a:r>
              <a:rPr sz="825" b="1">
                <a:solidFill>
                  <a:srgbClr val="202A33"/>
                </a:solidFill>
                <a:latin typeface="Aptos"/>
                <a:ea typeface="Aptos"/>
                <a:cs typeface="Aptos"/>
              </a:rPr>
              <a:t>The next action is threshold or feature-recall work, not DB growth.</a:t>
            </a:r>
          </a:p>
        </p:txBody>
      </p:sp>
      <p:sp>
        <p:nvSpPr>
          <p:cNvPr id="40" name="">
            <a:extLst xmlns:a="http://schemas.openxmlformats.org/drawingml/2006/main">
              <a:ext uri="{FF2B5EF4-FFF2-40B4-BE49-F238E27FC236}">
                <a16:creationId xmlns:a16="http://schemas.microsoft.com/office/drawing/2014/main" id="{0208D764-3077-4AD6-9842-69C309CB26FD}"/>
              </a:ext>
            </a:extLst>
          </p:cNvPr>
          <p:cNvSpPr>
            <a:spLocks xmlns:a="http://schemas.openxmlformats.org/drawingml/2006/main" noGrp="1"/>
          </p:cNvSpPr>
          <p:nvPr/>
        </p:nvSpPr>
        <p:spPr>
          <a:xfrm xmlns:a="http://schemas.openxmlformats.org/drawingml/2006/main">
            <a:off x="9067800" y="1466850"/>
            <a:ext cx="260985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41" name="">
            <a:extLst xmlns:a="http://schemas.openxmlformats.org/drawingml/2006/main">
              <a:ext uri="{FF2B5EF4-FFF2-40B4-BE49-F238E27FC236}">
                <a16:creationId xmlns:a16="http://schemas.microsoft.com/office/drawing/2014/main" id="{B5FDF1A4-E15C-42CA-92C0-00AA68E3D61E}"/>
              </a:ext>
            </a:extLst>
          </p:cNvPr>
          <p:cNvSpPr>
            <a:spLocks xmlns:a="http://schemas.openxmlformats.org/drawingml/2006/main" noGrp="1"/>
          </p:cNvSpPr>
          <p:nvPr/>
        </p:nvSpPr>
        <p:spPr>
          <a:xfrm xmlns:a="http://schemas.openxmlformats.org/drawingml/2006/main">
            <a:off x="9067800" y="1466850"/>
            <a:ext cx="2609850" cy="6477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8BBFC0D-B0E6-4858-8B09-62A6B6BA5B17}"/>
              </a:ext>
            </a:extLst>
          </p:cNvPr>
          <p:cNvSpPr>
            <a:spLocks xmlns:a="http://schemas.openxmlformats.org/drawingml/2006/main" noGrp="1"/>
          </p:cNvSpPr>
          <p:nvPr/>
        </p:nvSpPr>
        <p:spPr>
          <a:xfrm xmlns:a="http://schemas.openxmlformats.org/drawingml/2006/main">
            <a:off x="9239250" y="16573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FFFFFF"/>
                </a:solidFill>
                <a:latin typeface="Aptos"/>
                <a:ea typeface="Aptos"/>
                <a:cs typeface="Aptos"/>
              </a:defRPr>
            </a:pPr>
            <a:r>
              <a:rPr sz="1350" b="1">
                <a:solidFill>
                  <a:srgbClr val="FFFFFF"/>
                </a:solidFill>
                <a:latin typeface="Aptos"/>
                <a:ea typeface="Aptos"/>
                <a:cs typeface="Aptos"/>
              </a:rPr>
              <a:t>REFERENCE GAP</a:t>
            </a:r>
          </a:p>
        </p:txBody>
      </p:sp>
      <p:sp>
        <p:nvSpPr>
          <p:cNvPr id="43" name="">
            <a:extLst xmlns:a="http://schemas.openxmlformats.org/drawingml/2006/main">
              <a:ext uri="{FF2B5EF4-FFF2-40B4-BE49-F238E27FC236}">
                <a16:creationId xmlns:a16="http://schemas.microsoft.com/office/drawing/2014/main" id="{3AFEF2EE-2161-431B-A97F-565D96F62213}"/>
              </a:ext>
            </a:extLst>
          </p:cNvPr>
          <p:cNvSpPr>
            <a:spLocks xmlns:a="http://schemas.openxmlformats.org/drawingml/2006/main" noGrp="1"/>
          </p:cNvSpPr>
          <p:nvPr/>
        </p:nvSpPr>
        <p:spPr>
          <a:xfrm xmlns:a="http://schemas.openxmlformats.org/drawingml/2006/main">
            <a:off x="9239250" y="22860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8D754D"/>
                </a:solidFill>
                <a:latin typeface="Aptos"/>
                <a:ea typeface="Aptos"/>
                <a:cs typeface="Aptos"/>
              </a:defRPr>
            </a:pPr>
            <a:r>
              <a:rPr sz="900" b="1">
                <a:solidFill>
                  <a:srgbClr val="8D754D"/>
                </a:solidFill>
                <a:latin typeface="Aptos"/>
                <a:ea typeface="Aptos"/>
                <a:cs typeface="Aptos"/>
              </a:rPr>
              <a:t>exact version absent from DB</a:t>
            </a:r>
          </a:p>
        </p:txBody>
      </p:sp>
      <p:sp>
        <p:nvSpPr>
          <p:cNvPr id="44" name="">
            <a:extLst xmlns:a="http://schemas.openxmlformats.org/drawingml/2006/main">
              <a:ext uri="{FF2B5EF4-FFF2-40B4-BE49-F238E27FC236}">
                <a16:creationId xmlns:a16="http://schemas.microsoft.com/office/drawing/2014/main" id="{3E15F5CF-C32F-4FB0-B2D4-908462E73F07}"/>
              </a:ext>
            </a:extLst>
          </p:cNvPr>
          <p:cNvSpPr>
            <a:spLocks xmlns:a="http://schemas.openxmlformats.org/drawingml/2006/main" noGrp="1"/>
          </p:cNvSpPr>
          <p:nvPr/>
        </p:nvSpPr>
        <p:spPr>
          <a:xfrm xmlns:a="http://schemas.openxmlformats.org/drawingml/2006/main">
            <a:off x="9239250" y="2819400"/>
            <a:ext cx="22669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45" name="">
            <a:extLst xmlns:a="http://schemas.openxmlformats.org/drawingml/2006/main">
              <a:ext uri="{FF2B5EF4-FFF2-40B4-BE49-F238E27FC236}">
                <a16:creationId xmlns:a16="http://schemas.microsoft.com/office/drawing/2014/main" id="{271C6C89-AC68-4564-812E-0AF02D678449}"/>
              </a:ext>
            </a:extLst>
          </p:cNvPr>
          <p:cNvSpPr>
            <a:spLocks xmlns:a="http://schemas.openxmlformats.org/drawingml/2006/main" noGrp="1"/>
          </p:cNvSpPr>
          <p:nvPr/>
        </p:nvSpPr>
        <p:spPr>
          <a:xfrm xmlns:a="http://schemas.openxmlformats.org/drawingml/2006/main">
            <a:off x="9305925" y="28765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8D754D"/>
                </a:solidFill>
                <a:latin typeface="Aptos"/>
                <a:ea typeface="Aptos"/>
                <a:cs typeface="Aptos"/>
              </a:defRPr>
            </a:pPr>
            <a:r>
              <a:rPr sz="825" b="1">
                <a:solidFill>
                  <a:srgbClr val="8D754D"/>
                </a:solidFill>
                <a:latin typeface="Aptos"/>
                <a:ea typeface="Aptos"/>
                <a:cs typeface="Aptos"/>
              </a:rPr>
              <a:t>collection-ktx</a:t>
            </a:r>
          </a:p>
        </p:txBody>
      </p:sp>
      <p:sp>
        <p:nvSpPr>
          <p:cNvPr id="46" name="">
            <a:extLst xmlns:a="http://schemas.openxmlformats.org/drawingml/2006/main">
              <a:ext uri="{FF2B5EF4-FFF2-40B4-BE49-F238E27FC236}">
                <a16:creationId xmlns:a16="http://schemas.microsoft.com/office/drawing/2014/main" id="{B53AE638-6190-4A4B-B2EA-CF4F6C50B206}"/>
              </a:ext>
            </a:extLst>
          </p:cNvPr>
          <p:cNvSpPr>
            <a:spLocks xmlns:a="http://schemas.openxmlformats.org/drawingml/2006/main" noGrp="1"/>
          </p:cNvSpPr>
          <p:nvPr/>
        </p:nvSpPr>
        <p:spPr>
          <a:xfrm xmlns:a="http://schemas.openxmlformats.org/drawingml/2006/main">
            <a:off x="9239250" y="3314700"/>
            <a:ext cx="2266950" cy="2667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47" name="">
            <a:extLst xmlns:a="http://schemas.openxmlformats.org/drawingml/2006/main">
              <a:ext uri="{FF2B5EF4-FFF2-40B4-BE49-F238E27FC236}">
                <a16:creationId xmlns:a16="http://schemas.microsoft.com/office/drawing/2014/main" id="{CC3E4D2E-9705-4CFC-A185-FB6841BC58CE}"/>
              </a:ext>
            </a:extLst>
          </p:cNvPr>
          <p:cNvSpPr>
            <a:spLocks xmlns:a="http://schemas.openxmlformats.org/drawingml/2006/main" noGrp="1"/>
          </p:cNvSpPr>
          <p:nvPr/>
        </p:nvSpPr>
        <p:spPr>
          <a:xfrm xmlns:a="http://schemas.openxmlformats.org/drawingml/2006/main">
            <a:off x="9305925" y="33718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8D754D"/>
                </a:solidFill>
                <a:latin typeface="Aptos"/>
                <a:ea typeface="Aptos"/>
                <a:cs typeface="Aptos"/>
              </a:defRPr>
            </a:pPr>
            <a:r>
              <a:rPr sz="825" b="1">
                <a:solidFill>
                  <a:srgbClr val="8D754D"/>
                </a:solidFill>
                <a:latin typeface="Aptos"/>
                <a:ea typeface="Aptos"/>
                <a:cs typeface="Aptos"/>
              </a:rPr>
              <a:t>source  1.4.4</a:t>
            </a:r>
          </a:p>
        </p:txBody>
      </p:sp>
      <p:sp>
        <p:nvSpPr>
          <p:cNvPr id="48" name="">
            <a:extLst xmlns:a="http://schemas.openxmlformats.org/drawingml/2006/main">
              <a:ext uri="{FF2B5EF4-FFF2-40B4-BE49-F238E27FC236}">
                <a16:creationId xmlns:a16="http://schemas.microsoft.com/office/drawing/2014/main" id="{F22A0C02-1485-4776-AE41-254DC99E4394}"/>
              </a:ext>
            </a:extLst>
          </p:cNvPr>
          <p:cNvSpPr>
            <a:spLocks xmlns:a="http://schemas.openxmlformats.org/drawingml/2006/main" noGrp="1"/>
          </p:cNvSpPr>
          <p:nvPr/>
        </p:nvSpPr>
        <p:spPr>
          <a:xfrm xmlns:a="http://schemas.openxmlformats.org/drawingml/2006/main">
            <a:off x="9239250" y="3810000"/>
            <a:ext cx="2266950" cy="2667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49" name="">
            <a:extLst xmlns:a="http://schemas.openxmlformats.org/drawingml/2006/main">
              <a:ext uri="{FF2B5EF4-FFF2-40B4-BE49-F238E27FC236}">
                <a16:creationId xmlns:a16="http://schemas.microsoft.com/office/drawing/2014/main" id="{4C80341D-4BDD-4879-BD55-0415500544F7}"/>
              </a:ext>
            </a:extLst>
          </p:cNvPr>
          <p:cNvSpPr>
            <a:spLocks xmlns:a="http://schemas.openxmlformats.org/drawingml/2006/main" noGrp="1"/>
          </p:cNvSpPr>
          <p:nvPr/>
        </p:nvSpPr>
        <p:spPr>
          <a:xfrm xmlns:a="http://schemas.openxmlformats.org/drawingml/2006/main">
            <a:off x="9305925" y="38671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8D754D"/>
                </a:solidFill>
                <a:latin typeface="Aptos"/>
                <a:ea typeface="Aptos"/>
                <a:cs typeface="Aptos"/>
              </a:defRPr>
            </a:pPr>
            <a:r>
              <a:rPr sz="825" b="1">
                <a:solidFill>
                  <a:srgbClr val="8D754D"/>
                </a:solidFill>
                <a:latin typeface="Aptos"/>
                <a:ea typeface="Aptos"/>
                <a:cs typeface="Aptos"/>
              </a:rPr>
              <a:t>missing-reference-candidate</a:t>
            </a:r>
          </a:p>
        </p:txBody>
      </p:sp>
      <p:sp>
        <p:nvSpPr>
          <p:cNvPr id="50" name="rule">
            <a:extLst xmlns:a="http://schemas.openxmlformats.org/drawingml/2006/main">
              <a:ext uri="{FF2B5EF4-FFF2-40B4-BE49-F238E27FC236}">
                <a16:creationId xmlns:a16="http://schemas.microsoft.com/office/drawing/2014/main" id="{6B2BA385-68DC-4522-98FC-F339C960921F}"/>
              </a:ext>
            </a:extLst>
          </p:cNvPr>
          <p:cNvSpPr>
            <a:spLocks xmlns:a="http://schemas.openxmlformats.org/drawingml/2006/main" noGrp="1"/>
          </p:cNvSpPr>
          <p:nvPr/>
        </p:nvSpPr>
        <p:spPr>
          <a:xfrm xmlns:a="http://schemas.openxmlformats.org/drawingml/2006/main">
            <a:off x="9258300" y="4419600"/>
            <a:ext cx="22288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0FFA4324-F6CF-4391-A290-98CE27BA9807}"/>
              </a:ext>
            </a:extLst>
          </p:cNvPr>
          <p:cNvSpPr>
            <a:spLocks xmlns:a="http://schemas.openxmlformats.org/drawingml/2006/main" noGrp="1"/>
          </p:cNvSpPr>
          <p:nvPr/>
        </p:nvSpPr>
        <p:spPr>
          <a:xfrm xmlns:a="http://schemas.openxmlformats.org/drawingml/2006/main">
            <a:off x="9277350" y="4629150"/>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202A33"/>
                </a:solidFill>
                <a:latin typeface="Aptos"/>
                <a:ea typeface="Aptos"/>
                <a:cs typeface="Aptos"/>
              </a:defRPr>
            </a:pPr>
            <a:r>
              <a:rPr sz="825" b="1">
                <a:solidFill>
                  <a:srgbClr val="202A33"/>
                </a:solidFill>
                <a:latin typeface="Aptos"/>
                <a:ea typeface="Aptos"/>
                <a:cs typeface="Aptos"/>
              </a:rPr>
              <a:t>The coordinate/version must be added or safely aliased before matching can succeed.</a:t>
            </a:r>
          </a:p>
        </p:txBody>
      </p:sp>
      <p:sp>
        <p:nvSpPr>
          <p:cNvPr id="52" name="">
            <a:extLst xmlns:a="http://schemas.openxmlformats.org/drawingml/2006/main">
              <a:ext uri="{FF2B5EF4-FFF2-40B4-BE49-F238E27FC236}">
                <a16:creationId xmlns:a16="http://schemas.microsoft.com/office/drawing/2014/main" id="{01615BCA-2185-4665-BC67-B1D4877430F6}"/>
              </a:ext>
            </a:extLst>
          </p:cNvPr>
          <p:cNvSpPr>
            <a:spLocks xmlns:a="http://schemas.openxmlformats.org/drawingml/2006/main" noGrp="1"/>
          </p:cNvSpPr>
          <p:nvPr/>
        </p:nvSpPr>
        <p:spPr>
          <a:xfrm xmlns:a="http://schemas.openxmlformats.org/drawingml/2006/main">
            <a:off x="952500" y="57912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202A33"/>
                </a:solidFill>
                <a:latin typeface="Aptos"/>
                <a:ea typeface="Aptos"/>
                <a:cs typeface="Aptos"/>
              </a:defRPr>
            </a:pPr>
            <a:r>
              <a:rPr sz="1200" b="1">
                <a:solidFill>
                  <a:srgbClr val="202A33"/>
                </a:solidFill>
                <a:latin typeface="Aptos"/>
                <a:ea typeface="Aptos"/>
                <a:cs typeface="Aptos"/>
              </a:rPr>
              <a:t>Transparency totals: 442 missing-reference rows  |  2,281 matcher-recall rows  |  5,238 source-gap rows</a:t>
            </a:r>
          </a:p>
        </p:txBody>
      </p:sp>
      <p:sp>
        <p:nvSpPr>
          <p:cNvPr id="53" name="">
            <a:extLst xmlns:a="http://schemas.openxmlformats.org/drawingml/2006/main">
              <a:ext uri="{FF2B5EF4-FFF2-40B4-BE49-F238E27FC236}">
                <a16:creationId xmlns:a16="http://schemas.microsoft.com/office/drawing/2014/main" id="{5566B303-5875-42E9-AFC4-49AC3C334CA9}"/>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37422541"/>
      </p:ext>
    </p:extLst>
  </p:cSld>
</p:sld>
</file>

<file path=ppt/slides/slide24.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493B0A6-0932-4ECF-9760-7C03633B55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AE74F78-8047-42DC-BD46-7BF66358ED98}"/>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EC81BF1-BE30-474D-B6D9-9BC6E6A252C0}"/>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A65C55"/>
                </a:solidFill>
                <a:latin typeface="Aptos"/>
                <a:ea typeface="Aptos"/>
                <a:cs typeface="Aptos"/>
              </a:defRPr>
            </a:pPr>
            <a:r>
              <a:rPr sz="900" b="1">
                <a:solidFill>
                  <a:srgbClr val="A65C55"/>
                </a:solidFill>
                <a:latin typeface="Aptos"/>
                <a:ea typeface="Aptos"/>
                <a:cs typeface="Aptos"/>
              </a:rPr>
              <a:t>FAILED EXPERIMENTS</a:t>
            </a:r>
          </a:p>
        </p:txBody>
      </p:sp>
      <p:sp>
        <p:nvSpPr>
          <p:cNvPr id="4" name="">
            <a:extLst xmlns:a="http://schemas.openxmlformats.org/drawingml/2006/main">
              <a:ext uri="{FF2B5EF4-FFF2-40B4-BE49-F238E27FC236}">
                <a16:creationId xmlns:a16="http://schemas.microsoft.com/office/drawing/2014/main" id="{45E990EA-D746-487C-A320-BEB4F8BC5BD5}"/>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Negative experiments protected the production tool from attractive regressions</a:t>
            </a:r>
          </a:p>
        </p:txBody>
      </p:sp>
      <p:sp>
        <p:nvSpPr>
          <p:cNvPr id="5" name="">
            <a:extLst xmlns:a="http://schemas.openxmlformats.org/drawingml/2006/main">
              <a:ext uri="{FF2B5EF4-FFF2-40B4-BE49-F238E27FC236}">
                <a16:creationId xmlns:a16="http://schemas.microsoft.com/office/drawing/2014/main" id="{867CA9AF-DEF0-4886-B915-B80A70F58FC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8290A6"/>
                </a:solidFill>
                <a:latin typeface="Aptos"/>
                <a:ea typeface="Aptos"/>
                <a:cs typeface="Aptos"/>
              </a:defRPr>
            </a:pPr>
            <a:r>
              <a:rPr sz="900" b="1">
                <a:solidFill>
                  <a:srgbClr val="8290A6"/>
                </a:solidFill>
                <a:latin typeface="Aptos"/>
                <a:ea typeface="Aptos"/>
                <a:cs typeface="Aptos"/>
              </a:rPr>
              <a:t>24</a:t>
            </a:r>
          </a:p>
        </p:txBody>
      </p:sp>
      <p:sp>
        <p:nvSpPr>
          <p:cNvPr id="6" name="">
            <a:extLst xmlns:a="http://schemas.openxmlformats.org/drawingml/2006/main">
              <a:ext uri="{FF2B5EF4-FFF2-40B4-BE49-F238E27FC236}">
                <a16:creationId xmlns:a16="http://schemas.microsoft.com/office/drawing/2014/main" id="{23173228-664C-4FE5-AC7A-280E5A40E90C}"/>
              </a:ext>
            </a:extLst>
          </p:cNvPr>
          <p:cNvSpPr>
            <a:spLocks xmlns:a="http://schemas.openxmlformats.org/drawingml/2006/main" noGrp="1"/>
          </p:cNvSpPr>
          <p:nvPr/>
        </p:nvSpPr>
        <p:spPr>
          <a:xfrm xmlns:a="http://schemas.openxmlformats.org/drawingml/2006/main">
            <a:off x="685800" y="137160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8C5CA6E8-D8CE-483A-A78E-BFE6E2347945}"/>
              </a:ext>
            </a:extLst>
          </p:cNvPr>
          <p:cNvSpPr>
            <a:spLocks xmlns:a="http://schemas.openxmlformats.org/drawingml/2006/main" noGrp="1"/>
          </p:cNvSpPr>
          <p:nvPr/>
        </p:nvSpPr>
        <p:spPr>
          <a:xfrm xmlns:a="http://schemas.openxmlformats.org/drawingml/2006/main">
            <a:off x="876300" y="15049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API-reference weight</a:t>
            </a:r>
          </a:p>
        </p:txBody>
      </p:sp>
      <p:sp>
        <p:nvSpPr>
          <p:cNvPr id="8" name="">
            <a:extLst xmlns:a="http://schemas.openxmlformats.org/drawingml/2006/main">
              <a:ext uri="{FF2B5EF4-FFF2-40B4-BE49-F238E27FC236}">
                <a16:creationId xmlns:a16="http://schemas.microsoft.com/office/drawing/2014/main" id="{407C8AF5-1373-4077-83ED-7F4050D68F52}"/>
              </a:ext>
            </a:extLst>
          </p:cNvPr>
          <p:cNvSpPr>
            <a:spLocks xmlns:a="http://schemas.openxmlformats.org/drawingml/2006/main" noGrp="1"/>
          </p:cNvSpPr>
          <p:nvPr/>
        </p:nvSpPr>
        <p:spPr>
          <a:xfrm xmlns:a="http://schemas.openxmlformats.org/drawingml/2006/main">
            <a:off x="3714750" y="1476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9C4D3"/>
                </a:solidFill>
                <a:latin typeface="Aptos"/>
                <a:ea typeface="Aptos"/>
                <a:cs typeface="Aptos"/>
              </a:defRPr>
            </a:pPr>
            <a:r>
              <a:rPr sz="900" b="0">
                <a:solidFill>
                  <a:srgbClr val="B9C4D3"/>
                </a:solidFill>
                <a:latin typeface="Aptos"/>
                <a:ea typeface="Aptos"/>
                <a:cs typeface="Aptos"/>
              </a:rPr>
              <a:t>No metric change</a:t>
            </a:r>
          </a:p>
        </p:txBody>
      </p:sp>
      <p:sp>
        <p:nvSpPr>
          <p:cNvPr id="9" name="">
            <a:extLst xmlns:a="http://schemas.openxmlformats.org/drawingml/2006/main">
              <a:ext uri="{FF2B5EF4-FFF2-40B4-BE49-F238E27FC236}">
                <a16:creationId xmlns:a16="http://schemas.microsoft.com/office/drawing/2014/main" id="{96B54706-D38C-4B3E-8A3F-B5180A5C0D45}"/>
              </a:ext>
            </a:extLst>
          </p:cNvPr>
          <p:cNvSpPr>
            <a:spLocks xmlns:a="http://schemas.openxmlformats.org/drawingml/2006/main" noGrp="1"/>
          </p:cNvSpPr>
          <p:nvPr/>
        </p:nvSpPr>
        <p:spPr>
          <a:xfrm xmlns:a="http://schemas.openxmlformats.org/drawingml/2006/main">
            <a:off x="8953500" y="147637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717A"/>
            </a:solidFill>
            <a:prstDash val="solid"/>
          </a:ln>
        </p:spPr>
      </p:sp>
      <p:sp>
        <p:nvSpPr>
          <p:cNvPr id="10" name="">
            <a:extLst xmlns:a="http://schemas.openxmlformats.org/drawingml/2006/main">
              <a:ext uri="{FF2B5EF4-FFF2-40B4-BE49-F238E27FC236}">
                <a16:creationId xmlns:a16="http://schemas.microsoft.com/office/drawing/2014/main" id="{08B674D7-E771-499D-B5AD-2E5B09A9FAB9}"/>
              </a:ext>
            </a:extLst>
          </p:cNvPr>
          <p:cNvSpPr>
            <a:spLocks xmlns:a="http://schemas.openxmlformats.org/drawingml/2006/main" noGrp="1"/>
          </p:cNvSpPr>
          <p:nvPr/>
        </p:nvSpPr>
        <p:spPr>
          <a:xfrm xmlns:a="http://schemas.openxmlformats.org/drawingml/2006/main">
            <a:off x="9020175" y="15335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5717A"/>
                </a:solidFill>
                <a:latin typeface="Aptos"/>
                <a:ea typeface="Aptos"/>
                <a:cs typeface="Aptos"/>
              </a:defRPr>
            </a:pPr>
            <a:r>
              <a:rPr sz="825" b="1">
                <a:solidFill>
                  <a:srgbClr val="65717A"/>
                </a:solidFill>
                <a:latin typeface="Aptos"/>
                <a:ea typeface="Aptos"/>
                <a:cs typeface="Aptos"/>
              </a:rPr>
              <a:t>Keep disabled</a:t>
            </a:r>
          </a:p>
        </p:txBody>
      </p:sp>
      <p:sp>
        <p:nvSpPr>
          <p:cNvPr id="11" name="">
            <a:extLst xmlns:a="http://schemas.openxmlformats.org/drawingml/2006/main">
              <a:ext uri="{FF2B5EF4-FFF2-40B4-BE49-F238E27FC236}">
                <a16:creationId xmlns:a16="http://schemas.microsoft.com/office/drawing/2014/main" id="{5F2B6832-8F82-4932-94E1-7E58E816799E}"/>
              </a:ext>
            </a:extLst>
          </p:cNvPr>
          <p:cNvSpPr>
            <a:spLocks xmlns:a="http://schemas.openxmlformats.org/drawingml/2006/main" noGrp="1"/>
          </p:cNvSpPr>
          <p:nvPr/>
        </p:nvSpPr>
        <p:spPr>
          <a:xfrm xmlns:a="http://schemas.openxmlformats.org/drawingml/2006/main">
            <a:off x="685800" y="200025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2" name="">
            <a:extLst xmlns:a="http://schemas.openxmlformats.org/drawingml/2006/main">
              <a:ext uri="{FF2B5EF4-FFF2-40B4-BE49-F238E27FC236}">
                <a16:creationId xmlns:a16="http://schemas.microsoft.com/office/drawing/2014/main" id="{EF9CEA9B-7026-4B11-8CD7-52EB877AEFFC}"/>
              </a:ext>
            </a:extLst>
          </p:cNvPr>
          <p:cNvSpPr>
            <a:spLocks xmlns:a="http://schemas.openxmlformats.org/drawingml/2006/main" noGrp="1"/>
          </p:cNvSpPr>
          <p:nvPr/>
        </p:nvSpPr>
        <p:spPr>
          <a:xfrm xmlns:a="http://schemas.openxmlformats.org/drawingml/2006/main">
            <a:off x="876300" y="21336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Opcode tri-grams</a:t>
            </a:r>
          </a:p>
        </p:txBody>
      </p:sp>
      <p:sp>
        <p:nvSpPr>
          <p:cNvPr id="13" name="">
            <a:extLst xmlns:a="http://schemas.openxmlformats.org/drawingml/2006/main">
              <a:ext uri="{FF2B5EF4-FFF2-40B4-BE49-F238E27FC236}">
                <a16:creationId xmlns:a16="http://schemas.microsoft.com/office/drawing/2014/main" id="{181F51D2-6F90-4190-ABCE-161ABFA43F8D}"/>
              </a:ext>
            </a:extLst>
          </p:cNvPr>
          <p:cNvSpPr>
            <a:spLocks xmlns:a="http://schemas.openxmlformats.org/drawingml/2006/main" noGrp="1"/>
          </p:cNvSpPr>
          <p:nvPr/>
        </p:nvSpPr>
        <p:spPr>
          <a:xfrm xmlns:a="http://schemas.openxmlformats.org/drawingml/2006/main">
            <a:off x="3714750" y="21050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9C4D3"/>
                </a:solidFill>
                <a:latin typeface="Aptos"/>
                <a:ea typeface="Aptos"/>
                <a:cs typeface="Aptos"/>
              </a:defRPr>
            </a:pPr>
            <a:r>
              <a:rPr sz="900" b="0">
                <a:solidFill>
                  <a:srgbClr val="B9C4D3"/>
                </a:solidFill>
                <a:latin typeface="Aptos"/>
                <a:ea typeface="Aptos"/>
                <a:cs typeface="Aptos"/>
              </a:rPr>
              <a:t>Regressed OpenTracks + Conversations</a:t>
            </a:r>
          </a:p>
        </p:txBody>
      </p:sp>
      <p:sp>
        <p:nvSpPr>
          <p:cNvPr id="14" name="">
            <a:extLst xmlns:a="http://schemas.openxmlformats.org/drawingml/2006/main">
              <a:ext uri="{FF2B5EF4-FFF2-40B4-BE49-F238E27FC236}">
                <a16:creationId xmlns:a16="http://schemas.microsoft.com/office/drawing/2014/main" id="{469CE51C-36EA-47B2-9638-6BA9DC530FC2}"/>
              </a:ext>
            </a:extLst>
          </p:cNvPr>
          <p:cNvSpPr>
            <a:spLocks xmlns:a="http://schemas.openxmlformats.org/drawingml/2006/main" noGrp="1"/>
          </p:cNvSpPr>
          <p:nvPr/>
        </p:nvSpPr>
        <p:spPr>
          <a:xfrm xmlns:a="http://schemas.openxmlformats.org/drawingml/2006/main">
            <a:off x="8953500" y="210502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15" name="">
            <a:extLst xmlns:a="http://schemas.openxmlformats.org/drawingml/2006/main">
              <a:ext uri="{FF2B5EF4-FFF2-40B4-BE49-F238E27FC236}">
                <a16:creationId xmlns:a16="http://schemas.microsoft.com/office/drawing/2014/main" id="{3B30EF93-97CC-45F5-B1BE-1DACE0171B3B}"/>
              </a:ext>
            </a:extLst>
          </p:cNvPr>
          <p:cNvSpPr>
            <a:spLocks xmlns:a="http://schemas.openxmlformats.org/drawingml/2006/main" noGrp="1"/>
          </p:cNvSpPr>
          <p:nvPr/>
        </p:nvSpPr>
        <p:spPr>
          <a:xfrm xmlns:a="http://schemas.openxmlformats.org/drawingml/2006/main">
            <a:off x="9020175" y="216217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Keep disabled</a:t>
            </a:r>
          </a:p>
        </p:txBody>
      </p:sp>
      <p:sp>
        <p:nvSpPr>
          <p:cNvPr id="16" name="">
            <a:extLst xmlns:a="http://schemas.openxmlformats.org/drawingml/2006/main">
              <a:ext uri="{FF2B5EF4-FFF2-40B4-BE49-F238E27FC236}">
                <a16:creationId xmlns:a16="http://schemas.microsoft.com/office/drawing/2014/main" id="{2409BF15-57F4-40D4-AE34-42B95D1FC070}"/>
              </a:ext>
            </a:extLst>
          </p:cNvPr>
          <p:cNvSpPr>
            <a:spLocks xmlns:a="http://schemas.openxmlformats.org/drawingml/2006/main" noGrp="1"/>
          </p:cNvSpPr>
          <p:nvPr/>
        </p:nvSpPr>
        <p:spPr>
          <a:xfrm xmlns:a="http://schemas.openxmlformats.org/drawingml/2006/main">
            <a:off x="685800" y="262890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7" name="">
            <a:extLst xmlns:a="http://schemas.openxmlformats.org/drawingml/2006/main">
              <a:ext uri="{FF2B5EF4-FFF2-40B4-BE49-F238E27FC236}">
                <a16:creationId xmlns:a16="http://schemas.microsoft.com/office/drawing/2014/main" id="{18F24BEC-6DFE-4657-88AB-ECDC598AA29B}"/>
              </a:ext>
            </a:extLst>
          </p:cNvPr>
          <p:cNvSpPr>
            <a:spLocks xmlns:a="http://schemas.openxmlformats.org/drawingml/2006/main" noGrp="1"/>
          </p:cNvSpPr>
          <p:nvPr/>
        </p:nvSpPr>
        <p:spPr>
          <a:xfrm xmlns:a="http://schemas.openxmlformats.org/drawingml/2006/main">
            <a:off x="876300" y="27622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Global multi-scale blend</a:t>
            </a:r>
          </a:p>
        </p:txBody>
      </p:sp>
      <p:sp>
        <p:nvSpPr>
          <p:cNvPr id="18" name="">
            <a:extLst xmlns:a="http://schemas.openxmlformats.org/drawingml/2006/main">
              <a:ext uri="{FF2B5EF4-FFF2-40B4-BE49-F238E27FC236}">
                <a16:creationId xmlns:a16="http://schemas.microsoft.com/office/drawing/2014/main" id="{1B6C9B74-A2BA-4714-BC3D-CC0E908187B6}"/>
              </a:ext>
            </a:extLst>
          </p:cNvPr>
          <p:cNvSpPr>
            <a:spLocks xmlns:a="http://schemas.openxmlformats.org/drawingml/2006/main" noGrp="1"/>
          </p:cNvSpPr>
          <p:nvPr/>
        </p:nvSpPr>
        <p:spPr>
          <a:xfrm xmlns:a="http://schemas.openxmlformats.org/drawingml/2006/main">
            <a:off x="3714750" y="27336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9C4D3"/>
                </a:solidFill>
                <a:latin typeface="Aptos"/>
                <a:ea typeface="Aptos"/>
                <a:cs typeface="Aptos"/>
              </a:defRPr>
            </a:pPr>
            <a:r>
              <a:rPr sz="900" b="0">
                <a:solidFill>
                  <a:srgbClr val="B9C4D3"/>
                </a:solidFill>
                <a:latin typeface="Aptos"/>
                <a:ea typeface="Aptos"/>
                <a:cs typeface="Aptos"/>
              </a:rPr>
              <a:t>10 target gains; 6 controlled + 121 real blockers</a:t>
            </a:r>
          </a:p>
        </p:txBody>
      </p:sp>
      <p:sp>
        <p:nvSpPr>
          <p:cNvPr id="19" name="">
            <a:extLst xmlns:a="http://schemas.openxmlformats.org/drawingml/2006/main">
              <a:ext uri="{FF2B5EF4-FFF2-40B4-BE49-F238E27FC236}">
                <a16:creationId xmlns:a16="http://schemas.microsoft.com/office/drawing/2014/main" id="{444D653C-FC42-47E2-9CAB-42DF5C2D80AE}"/>
              </a:ext>
            </a:extLst>
          </p:cNvPr>
          <p:cNvSpPr>
            <a:spLocks xmlns:a="http://schemas.openxmlformats.org/drawingml/2006/main" noGrp="1"/>
          </p:cNvSpPr>
          <p:nvPr/>
        </p:nvSpPr>
        <p:spPr>
          <a:xfrm xmlns:a="http://schemas.openxmlformats.org/drawingml/2006/main">
            <a:off x="8953500" y="273367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20" name="">
            <a:extLst xmlns:a="http://schemas.openxmlformats.org/drawingml/2006/main">
              <a:ext uri="{FF2B5EF4-FFF2-40B4-BE49-F238E27FC236}">
                <a16:creationId xmlns:a16="http://schemas.microsoft.com/office/drawing/2014/main" id="{C37BF94D-ED49-4B16-88FB-2FD9530E0A47}"/>
              </a:ext>
            </a:extLst>
          </p:cNvPr>
          <p:cNvSpPr>
            <a:spLocks xmlns:a="http://schemas.openxmlformats.org/drawingml/2006/main" noGrp="1"/>
          </p:cNvSpPr>
          <p:nvPr/>
        </p:nvSpPr>
        <p:spPr>
          <a:xfrm xmlns:a="http://schemas.openxmlformats.org/drawingml/2006/main">
            <a:off x="9020175" y="27908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Reject globally</a:t>
            </a:r>
          </a:p>
        </p:txBody>
      </p:sp>
      <p:sp>
        <p:nvSpPr>
          <p:cNvPr id="21" name="">
            <a:extLst xmlns:a="http://schemas.openxmlformats.org/drawingml/2006/main">
              <a:ext uri="{FF2B5EF4-FFF2-40B4-BE49-F238E27FC236}">
                <a16:creationId xmlns:a16="http://schemas.microsoft.com/office/drawing/2014/main" id="{9F1E3329-8C14-4658-A487-607C6BC8D0C9}"/>
              </a:ext>
            </a:extLst>
          </p:cNvPr>
          <p:cNvSpPr>
            <a:spLocks xmlns:a="http://schemas.openxmlformats.org/drawingml/2006/main" noGrp="1"/>
          </p:cNvSpPr>
          <p:nvPr/>
        </p:nvSpPr>
        <p:spPr>
          <a:xfrm xmlns:a="http://schemas.openxmlformats.org/drawingml/2006/main">
            <a:off x="685800" y="325755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2" name="">
            <a:extLst xmlns:a="http://schemas.openxmlformats.org/drawingml/2006/main">
              <a:ext uri="{FF2B5EF4-FFF2-40B4-BE49-F238E27FC236}">
                <a16:creationId xmlns:a16="http://schemas.microsoft.com/office/drawing/2014/main" id="{F7296F89-69B1-4B99-846E-861C2443EA22}"/>
              </a:ext>
            </a:extLst>
          </p:cNvPr>
          <p:cNvSpPr>
            <a:spLocks xmlns:a="http://schemas.openxmlformats.org/drawingml/2006/main" noGrp="1"/>
          </p:cNvSpPr>
          <p:nvPr/>
        </p:nvSpPr>
        <p:spPr>
          <a:xfrm xmlns:a="http://schemas.openxmlformats.org/drawingml/2006/main">
            <a:off x="876300" y="33909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Coroutines 1.6.4 reference</a:t>
            </a:r>
          </a:p>
        </p:txBody>
      </p:sp>
      <p:sp>
        <p:nvSpPr>
          <p:cNvPr id="23" name="">
            <a:extLst xmlns:a="http://schemas.openxmlformats.org/drawingml/2006/main">
              <a:ext uri="{FF2B5EF4-FFF2-40B4-BE49-F238E27FC236}">
                <a16:creationId xmlns:a16="http://schemas.microsoft.com/office/drawing/2014/main" id="{9F595174-9514-4D1C-9849-FA6301915EF8}"/>
              </a:ext>
            </a:extLst>
          </p:cNvPr>
          <p:cNvSpPr>
            <a:spLocks xmlns:a="http://schemas.openxmlformats.org/drawingml/2006/main" noGrp="1"/>
          </p:cNvSpPr>
          <p:nvPr/>
        </p:nvSpPr>
        <p:spPr>
          <a:xfrm xmlns:a="http://schemas.openxmlformats.org/drawingml/2006/main">
            <a:off x="3714750" y="33623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9C4D3"/>
                </a:solidFill>
                <a:latin typeface="Aptos"/>
                <a:ea typeface="Aptos"/>
                <a:cs typeface="Aptos"/>
              </a:defRPr>
            </a:pPr>
            <a:r>
              <a:rPr sz="900" b="0">
                <a:solidFill>
                  <a:srgbClr val="B9C4D3"/>
                </a:solidFill>
                <a:latin typeface="Aptos"/>
                <a:ea typeface="Aptos"/>
                <a:cs typeface="Aptos"/>
              </a:rPr>
              <a:t>20/20 targets fixed; 3 controls regressed</a:t>
            </a:r>
          </a:p>
        </p:txBody>
      </p:sp>
      <p:sp>
        <p:nvSpPr>
          <p:cNvPr id="24" name="">
            <a:extLst xmlns:a="http://schemas.openxmlformats.org/drawingml/2006/main">
              <a:ext uri="{FF2B5EF4-FFF2-40B4-BE49-F238E27FC236}">
                <a16:creationId xmlns:a16="http://schemas.microsoft.com/office/drawing/2014/main" id="{E27B80F4-8D82-4C7A-A800-B0801C273DE0}"/>
              </a:ext>
            </a:extLst>
          </p:cNvPr>
          <p:cNvSpPr>
            <a:spLocks xmlns:a="http://schemas.openxmlformats.org/drawingml/2006/main" noGrp="1"/>
          </p:cNvSpPr>
          <p:nvPr/>
        </p:nvSpPr>
        <p:spPr>
          <a:xfrm xmlns:a="http://schemas.openxmlformats.org/drawingml/2006/main">
            <a:off x="8953500" y="336232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8D754D"/>
            </a:solidFill>
            <a:prstDash val="solid"/>
          </a:ln>
        </p:spPr>
      </p:sp>
      <p:sp>
        <p:nvSpPr>
          <p:cNvPr id="25" name="">
            <a:extLst xmlns:a="http://schemas.openxmlformats.org/drawingml/2006/main">
              <a:ext uri="{FF2B5EF4-FFF2-40B4-BE49-F238E27FC236}">
                <a16:creationId xmlns:a16="http://schemas.microsoft.com/office/drawing/2014/main" id="{5099CABE-814B-43B3-837D-83C2B35BF8BE}"/>
              </a:ext>
            </a:extLst>
          </p:cNvPr>
          <p:cNvSpPr>
            <a:spLocks xmlns:a="http://schemas.openxmlformats.org/drawingml/2006/main" noGrp="1"/>
          </p:cNvSpPr>
          <p:nvPr/>
        </p:nvSpPr>
        <p:spPr>
          <a:xfrm xmlns:a="http://schemas.openxmlformats.org/drawingml/2006/main">
            <a:off x="9020175" y="341947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8D754D"/>
                </a:solidFill>
                <a:latin typeface="Aptos"/>
                <a:ea typeface="Aptos"/>
                <a:cs typeface="Aptos"/>
              </a:defRPr>
            </a:pPr>
            <a:r>
              <a:rPr sz="825" b="1">
                <a:solidFill>
                  <a:srgbClr val="8D754D"/>
                </a:solidFill>
                <a:latin typeface="Aptos"/>
                <a:ea typeface="Aptos"/>
                <a:cs typeface="Aptos"/>
              </a:rPr>
              <a:t>Experiment only</a:t>
            </a:r>
          </a:p>
        </p:txBody>
      </p:sp>
      <p:sp>
        <p:nvSpPr>
          <p:cNvPr id="26" name="">
            <a:extLst xmlns:a="http://schemas.openxmlformats.org/drawingml/2006/main">
              <a:ext uri="{FF2B5EF4-FFF2-40B4-BE49-F238E27FC236}">
                <a16:creationId xmlns:a16="http://schemas.microsoft.com/office/drawing/2014/main" id="{F3CEE499-DB45-4F1A-9A72-8DF1F9A700B6}"/>
              </a:ext>
            </a:extLst>
          </p:cNvPr>
          <p:cNvSpPr>
            <a:spLocks xmlns:a="http://schemas.openxmlformats.org/drawingml/2006/main" noGrp="1"/>
          </p:cNvSpPr>
          <p:nvPr/>
        </p:nvSpPr>
        <p:spPr>
          <a:xfrm xmlns:a="http://schemas.openxmlformats.org/drawingml/2006/main">
            <a:off x="685800" y="388620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7" name="">
            <a:extLst xmlns:a="http://schemas.openxmlformats.org/drawingml/2006/main">
              <a:ext uri="{FF2B5EF4-FFF2-40B4-BE49-F238E27FC236}">
                <a16:creationId xmlns:a16="http://schemas.microsoft.com/office/drawing/2014/main" id="{77138459-BEEF-4FD0-A2BC-CCA1B91E1ED3}"/>
              </a:ext>
            </a:extLst>
          </p:cNvPr>
          <p:cNvSpPr>
            <a:spLocks xmlns:a="http://schemas.openxmlformats.org/drawingml/2006/main" noGrp="1"/>
          </p:cNvSpPr>
          <p:nvPr/>
        </p:nvSpPr>
        <p:spPr>
          <a:xfrm xmlns:a="http://schemas.openxmlformats.org/drawingml/2006/main">
            <a:off x="876300" y="40195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APK-only reranker</a:t>
            </a:r>
          </a:p>
        </p:txBody>
      </p:sp>
      <p:sp>
        <p:nvSpPr>
          <p:cNvPr id="28" name="">
            <a:extLst xmlns:a="http://schemas.openxmlformats.org/drawingml/2006/main">
              <a:ext uri="{FF2B5EF4-FFF2-40B4-BE49-F238E27FC236}">
                <a16:creationId xmlns:a16="http://schemas.microsoft.com/office/drawing/2014/main" id="{4CF164E5-EC99-45C4-9971-2FF28DC2F6D7}"/>
              </a:ext>
            </a:extLst>
          </p:cNvPr>
          <p:cNvSpPr>
            <a:spLocks xmlns:a="http://schemas.openxmlformats.org/drawingml/2006/main" noGrp="1"/>
          </p:cNvSpPr>
          <p:nvPr/>
        </p:nvSpPr>
        <p:spPr>
          <a:xfrm xmlns:a="http://schemas.openxmlformats.org/drawingml/2006/main">
            <a:off x="3714750" y="39909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9C4D3"/>
                </a:solidFill>
                <a:latin typeface="Aptos"/>
                <a:ea typeface="Aptos"/>
                <a:cs typeface="Aptos"/>
              </a:defRPr>
            </a:pPr>
            <a:r>
              <a:rPr sz="900" b="0">
                <a:solidFill>
                  <a:srgbClr val="B9C4D3"/>
                </a:solidFill>
                <a:latin typeface="Aptos"/>
                <a:ea typeface="Aptos"/>
                <a:cs typeface="Aptos"/>
              </a:rPr>
              <a:t>0 safe fixes across 582 wrong-version rows</a:t>
            </a:r>
          </a:p>
        </p:txBody>
      </p:sp>
      <p:sp>
        <p:nvSpPr>
          <p:cNvPr id="29" name="">
            <a:extLst xmlns:a="http://schemas.openxmlformats.org/drawingml/2006/main">
              <a:ext uri="{FF2B5EF4-FFF2-40B4-BE49-F238E27FC236}">
                <a16:creationId xmlns:a16="http://schemas.microsoft.com/office/drawing/2014/main" id="{2AEBB5E9-7F86-4EFC-AAB3-5456F2161D80}"/>
              </a:ext>
            </a:extLst>
          </p:cNvPr>
          <p:cNvSpPr>
            <a:spLocks xmlns:a="http://schemas.openxmlformats.org/drawingml/2006/main" noGrp="1"/>
          </p:cNvSpPr>
          <p:nvPr/>
        </p:nvSpPr>
        <p:spPr>
          <a:xfrm xmlns:a="http://schemas.openxmlformats.org/drawingml/2006/main">
            <a:off x="8953500" y="399097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30" name="">
            <a:extLst xmlns:a="http://schemas.openxmlformats.org/drawingml/2006/main">
              <a:ext uri="{FF2B5EF4-FFF2-40B4-BE49-F238E27FC236}">
                <a16:creationId xmlns:a16="http://schemas.microsoft.com/office/drawing/2014/main" id="{5A6A8D2E-F612-47EB-9156-58B09DC4A8E8}"/>
              </a:ext>
            </a:extLst>
          </p:cNvPr>
          <p:cNvSpPr>
            <a:spLocks xmlns:a="http://schemas.openxmlformats.org/drawingml/2006/main" noGrp="1"/>
          </p:cNvSpPr>
          <p:nvPr/>
        </p:nvSpPr>
        <p:spPr>
          <a:xfrm xmlns:a="http://schemas.openxmlformats.org/drawingml/2006/main">
            <a:off x="9020175" y="40481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Reject</a:t>
            </a:r>
          </a:p>
        </p:txBody>
      </p:sp>
      <p:sp>
        <p:nvSpPr>
          <p:cNvPr id="31" name="">
            <a:extLst xmlns:a="http://schemas.openxmlformats.org/drawingml/2006/main">
              <a:ext uri="{FF2B5EF4-FFF2-40B4-BE49-F238E27FC236}">
                <a16:creationId xmlns:a16="http://schemas.microsoft.com/office/drawing/2014/main" id="{4AC202CE-931A-4188-B0D8-DD39C3D613C1}"/>
              </a:ext>
            </a:extLst>
          </p:cNvPr>
          <p:cNvSpPr>
            <a:spLocks xmlns:a="http://schemas.openxmlformats.org/drawingml/2006/main" noGrp="1"/>
          </p:cNvSpPr>
          <p:nvPr/>
        </p:nvSpPr>
        <p:spPr>
          <a:xfrm xmlns:a="http://schemas.openxmlformats.org/drawingml/2006/main">
            <a:off x="685800" y="451485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2" name="">
            <a:extLst xmlns:a="http://schemas.openxmlformats.org/drawingml/2006/main">
              <a:ext uri="{FF2B5EF4-FFF2-40B4-BE49-F238E27FC236}">
                <a16:creationId xmlns:a16="http://schemas.microsoft.com/office/drawing/2014/main" id="{2DF80562-5AD4-4654-BBA5-867405717FD5}"/>
              </a:ext>
            </a:extLst>
          </p:cNvPr>
          <p:cNvSpPr>
            <a:spLocks xmlns:a="http://schemas.openxmlformats.org/drawingml/2006/main" noGrp="1"/>
          </p:cNvSpPr>
          <p:nvPr/>
        </p:nvSpPr>
        <p:spPr>
          <a:xfrm xmlns:a="http://schemas.openxmlformats.org/drawingml/2006/main">
            <a:off x="876300" y="46482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Candidate expansion</a:t>
            </a:r>
          </a:p>
        </p:txBody>
      </p:sp>
      <p:sp>
        <p:nvSpPr>
          <p:cNvPr id="33" name="">
            <a:extLst xmlns:a="http://schemas.openxmlformats.org/drawingml/2006/main">
              <a:ext uri="{FF2B5EF4-FFF2-40B4-BE49-F238E27FC236}">
                <a16:creationId xmlns:a16="http://schemas.microsoft.com/office/drawing/2014/main" id="{5F173C6D-E38B-444E-8D9A-FE247614658F}"/>
              </a:ext>
            </a:extLst>
          </p:cNvPr>
          <p:cNvSpPr>
            <a:spLocks xmlns:a="http://schemas.openxmlformats.org/drawingml/2006/main" noGrp="1"/>
          </p:cNvSpPr>
          <p:nvPr/>
        </p:nvSpPr>
        <p:spPr>
          <a:xfrm xmlns:a="http://schemas.openxmlformats.org/drawingml/2006/main">
            <a:off x="3714750" y="46196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9C4D3"/>
                </a:solidFill>
                <a:latin typeface="Aptos"/>
                <a:ea typeface="Aptos"/>
                <a:cs typeface="Aptos"/>
              </a:defRPr>
            </a:pPr>
            <a:r>
              <a:rPr sz="900" b="0">
                <a:solidFill>
                  <a:srgbClr val="B9C4D3"/>
                </a:solidFill>
                <a:latin typeface="Aptos"/>
                <a:ea typeface="Aptos"/>
                <a:cs typeface="Aptos"/>
              </a:rPr>
              <a:t>134 refs selected wrong old Activity version</a:t>
            </a:r>
          </a:p>
        </p:txBody>
      </p:sp>
      <p:sp>
        <p:nvSpPr>
          <p:cNvPr id="34" name="">
            <a:extLst xmlns:a="http://schemas.openxmlformats.org/drawingml/2006/main">
              <a:ext uri="{FF2B5EF4-FFF2-40B4-BE49-F238E27FC236}">
                <a16:creationId xmlns:a16="http://schemas.microsoft.com/office/drawing/2014/main" id="{C78F13B6-8D8F-4870-A5E7-6E1BD3674D78}"/>
              </a:ext>
            </a:extLst>
          </p:cNvPr>
          <p:cNvSpPr>
            <a:spLocks xmlns:a="http://schemas.openxmlformats.org/drawingml/2006/main" noGrp="1"/>
          </p:cNvSpPr>
          <p:nvPr/>
        </p:nvSpPr>
        <p:spPr>
          <a:xfrm xmlns:a="http://schemas.openxmlformats.org/drawingml/2006/main">
            <a:off x="8953500" y="461962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35" name="">
            <a:extLst xmlns:a="http://schemas.openxmlformats.org/drawingml/2006/main">
              <a:ext uri="{FF2B5EF4-FFF2-40B4-BE49-F238E27FC236}">
                <a16:creationId xmlns:a16="http://schemas.microsoft.com/office/drawing/2014/main" id="{8C0A105A-B5F1-4871-9970-63649BB66339}"/>
              </a:ext>
            </a:extLst>
          </p:cNvPr>
          <p:cNvSpPr>
            <a:spLocks xmlns:a="http://schemas.openxmlformats.org/drawingml/2006/main" noGrp="1"/>
          </p:cNvSpPr>
          <p:nvPr/>
        </p:nvSpPr>
        <p:spPr>
          <a:xfrm xmlns:a="http://schemas.openxmlformats.org/drawingml/2006/main">
            <a:off x="9020175" y="467677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Do not promote</a:t>
            </a:r>
          </a:p>
        </p:txBody>
      </p:sp>
      <p:sp>
        <p:nvSpPr>
          <p:cNvPr id="36" name="">
            <a:extLst xmlns:a="http://schemas.openxmlformats.org/drawingml/2006/main">
              <a:ext uri="{FF2B5EF4-FFF2-40B4-BE49-F238E27FC236}">
                <a16:creationId xmlns:a16="http://schemas.microsoft.com/office/drawing/2014/main" id="{E4D9C6A6-9771-45B0-8359-1AD12A1AAB1C}"/>
              </a:ext>
            </a:extLst>
          </p:cNvPr>
          <p:cNvSpPr>
            <a:spLocks xmlns:a="http://schemas.openxmlformats.org/drawingml/2006/main" noGrp="1"/>
          </p:cNvSpPr>
          <p:nvPr/>
        </p:nvSpPr>
        <p:spPr>
          <a:xfrm xmlns:a="http://schemas.openxmlformats.org/drawingml/2006/main">
            <a:off x="685800" y="514350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7" name="">
            <a:extLst xmlns:a="http://schemas.openxmlformats.org/drawingml/2006/main">
              <a:ext uri="{FF2B5EF4-FFF2-40B4-BE49-F238E27FC236}">
                <a16:creationId xmlns:a16="http://schemas.microsoft.com/office/drawing/2014/main" id="{4BCA758E-647B-460D-BAE3-CF9F60EB31F2}"/>
              </a:ext>
            </a:extLst>
          </p:cNvPr>
          <p:cNvSpPr>
            <a:spLocks xmlns:a="http://schemas.openxmlformats.org/drawingml/2006/main" noGrp="1"/>
          </p:cNvSpPr>
          <p:nvPr/>
        </p:nvSpPr>
        <p:spPr>
          <a:xfrm xmlns:a="http://schemas.openxmlformats.org/drawingml/2006/main">
            <a:off x="876300" y="52768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Raw opcode Transformer</a:t>
            </a:r>
          </a:p>
        </p:txBody>
      </p:sp>
      <p:sp>
        <p:nvSpPr>
          <p:cNvPr id="38" name="">
            <a:extLst xmlns:a="http://schemas.openxmlformats.org/drawingml/2006/main">
              <a:ext uri="{FF2B5EF4-FFF2-40B4-BE49-F238E27FC236}">
                <a16:creationId xmlns:a16="http://schemas.microsoft.com/office/drawing/2014/main" id="{ADDEDCB7-69F2-4776-93D4-CC2B7306760C}"/>
              </a:ext>
            </a:extLst>
          </p:cNvPr>
          <p:cNvSpPr>
            <a:spLocks xmlns:a="http://schemas.openxmlformats.org/drawingml/2006/main" noGrp="1"/>
          </p:cNvSpPr>
          <p:nvPr/>
        </p:nvSpPr>
        <p:spPr>
          <a:xfrm xmlns:a="http://schemas.openxmlformats.org/drawingml/2006/main">
            <a:off x="3714750" y="52482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9C4D3"/>
                </a:solidFill>
                <a:latin typeface="Aptos"/>
                <a:ea typeface="Aptos"/>
                <a:cs typeface="Aptos"/>
              </a:defRPr>
            </a:pPr>
            <a:r>
              <a:rPr sz="900" b="0">
                <a:solidFill>
                  <a:srgbClr val="B9C4D3"/>
                </a:solidFill>
                <a:latin typeface="Aptos"/>
                <a:ea typeface="Aptos"/>
                <a:cs typeface="Aptos"/>
              </a:rPr>
              <a:t>0.110 macro-F1 &lt; 0.128 baseline</a:t>
            </a:r>
          </a:p>
        </p:txBody>
      </p:sp>
      <p:sp>
        <p:nvSpPr>
          <p:cNvPr id="39" name="">
            <a:extLst xmlns:a="http://schemas.openxmlformats.org/drawingml/2006/main">
              <a:ext uri="{FF2B5EF4-FFF2-40B4-BE49-F238E27FC236}">
                <a16:creationId xmlns:a16="http://schemas.microsoft.com/office/drawing/2014/main" id="{AD46EE8C-B046-4B17-933C-8D4E6F9B796B}"/>
              </a:ext>
            </a:extLst>
          </p:cNvPr>
          <p:cNvSpPr>
            <a:spLocks xmlns:a="http://schemas.openxmlformats.org/drawingml/2006/main" noGrp="1"/>
          </p:cNvSpPr>
          <p:nvPr/>
        </p:nvSpPr>
        <p:spPr>
          <a:xfrm xmlns:a="http://schemas.openxmlformats.org/drawingml/2006/main">
            <a:off x="8953500" y="524827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5F73"/>
            </a:solidFill>
            <a:prstDash val="solid"/>
          </a:ln>
        </p:spPr>
      </p:sp>
      <p:sp>
        <p:nvSpPr>
          <p:cNvPr id="40" name="">
            <a:extLst xmlns:a="http://schemas.openxmlformats.org/drawingml/2006/main">
              <a:ext uri="{FF2B5EF4-FFF2-40B4-BE49-F238E27FC236}">
                <a16:creationId xmlns:a16="http://schemas.microsoft.com/office/drawing/2014/main" id="{37B497AC-9B7C-47E2-B83C-C20F9B599732}"/>
              </a:ext>
            </a:extLst>
          </p:cNvPr>
          <p:cNvSpPr>
            <a:spLocks xmlns:a="http://schemas.openxmlformats.org/drawingml/2006/main" noGrp="1"/>
          </p:cNvSpPr>
          <p:nvPr/>
        </p:nvSpPr>
        <p:spPr>
          <a:xfrm xmlns:a="http://schemas.openxmlformats.org/drawingml/2006/main">
            <a:off x="9020175" y="53054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55F73"/>
                </a:solidFill>
                <a:latin typeface="Aptos"/>
                <a:ea typeface="Aptos"/>
                <a:cs typeface="Aptos"/>
              </a:defRPr>
            </a:pPr>
            <a:r>
              <a:rPr sz="825" b="1">
                <a:solidFill>
                  <a:srgbClr val="655F73"/>
                </a:solidFill>
                <a:latin typeface="Aptos"/>
                <a:ea typeface="Aptos"/>
                <a:cs typeface="Aptos"/>
              </a:rPr>
              <a:t>Research only</a:t>
            </a:r>
          </a:p>
        </p:txBody>
      </p:sp>
      <p:sp>
        <p:nvSpPr>
          <p:cNvPr id="41" name="">
            <a:extLst xmlns:a="http://schemas.openxmlformats.org/drawingml/2006/main">
              <a:ext uri="{FF2B5EF4-FFF2-40B4-BE49-F238E27FC236}">
                <a16:creationId xmlns:a16="http://schemas.microsoft.com/office/drawing/2014/main" id="{FF04EB68-FD55-4376-BB3B-A381B5BC4A07}"/>
              </a:ext>
            </a:extLst>
          </p:cNvPr>
          <p:cNvSpPr>
            <a:spLocks xmlns:a="http://schemas.openxmlformats.org/drawingml/2006/main" noGrp="1"/>
          </p:cNvSpPr>
          <p:nvPr/>
        </p:nvSpPr>
        <p:spPr>
          <a:xfrm xmlns:a="http://schemas.openxmlformats.org/drawingml/2006/main">
            <a:off x="685800" y="5905500"/>
            <a:ext cx="10820400" cy="43815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42" name="">
            <a:extLst xmlns:a="http://schemas.openxmlformats.org/drawingml/2006/main">
              <a:ext uri="{FF2B5EF4-FFF2-40B4-BE49-F238E27FC236}">
                <a16:creationId xmlns:a16="http://schemas.microsoft.com/office/drawing/2014/main" id="{63724687-FEA7-43AE-BFFB-2969CD8357AB}"/>
              </a:ext>
            </a:extLst>
          </p:cNvPr>
          <p:cNvSpPr>
            <a:spLocks xmlns:a="http://schemas.openxmlformats.org/drawingml/2006/main" noGrp="1"/>
          </p:cNvSpPr>
          <p:nvPr/>
        </p:nvSpPr>
        <p:spPr>
          <a:xfrm xmlns:a="http://schemas.openxmlformats.org/drawingml/2006/main">
            <a:off x="876300" y="6076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A65C55"/>
                </a:solidFill>
                <a:latin typeface="Aptos"/>
                <a:ea typeface="Aptos"/>
                <a:cs typeface="Aptos"/>
              </a:defRPr>
            </a:pPr>
            <a:r>
              <a:rPr sz="825" b="1">
                <a:solidFill>
                  <a:srgbClr val="A65C55"/>
                </a:solidFill>
                <a:latin typeface="Aptos"/>
                <a:ea typeface="Aptos"/>
                <a:cs typeface="Aptos"/>
              </a:rPr>
              <a:t>LESSON</a:t>
            </a:r>
          </a:p>
        </p:txBody>
      </p:sp>
      <p:sp>
        <p:nvSpPr>
          <p:cNvPr id="43" name="">
            <a:extLst xmlns:a="http://schemas.openxmlformats.org/drawingml/2006/main">
              <a:ext uri="{FF2B5EF4-FFF2-40B4-BE49-F238E27FC236}">
                <a16:creationId xmlns:a16="http://schemas.microsoft.com/office/drawing/2014/main" id="{88B2572B-C53A-4459-861E-7D42781E45A3}"/>
              </a:ext>
            </a:extLst>
          </p:cNvPr>
          <p:cNvSpPr>
            <a:spLocks xmlns:a="http://schemas.openxmlformats.org/drawingml/2006/main" noGrp="1"/>
          </p:cNvSpPr>
          <p:nvPr/>
        </p:nvSpPr>
        <p:spPr>
          <a:xfrm xmlns:a="http://schemas.openxmlformats.org/drawingml/2006/main">
            <a:off x="2343150" y="60293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FFFFFF"/>
                </a:solidFill>
                <a:latin typeface="Aptos"/>
                <a:ea typeface="Aptos"/>
                <a:cs typeface="Aptos"/>
              </a:defRPr>
            </a:pPr>
            <a:r>
              <a:rPr sz="1050" b="1">
                <a:solidFill>
                  <a:srgbClr val="FFFFFF"/>
                </a:solidFill>
                <a:latin typeface="Aptos"/>
                <a:ea typeface="Aptos"/>
                <a:cs typeface="Aptos"/>
              </a:rPr>
              <a:t>Promotion requires target improvement and a clean current-control matrix; novelty alone is not enough.</a:t>
            </a:r>
          </a:p>
        </p:txBody>
      </p:sp>
      <p:sp>
        <p:nvSpPr>
          <p:cNvPr id="44" name="">
            <a:extLst xmlns:a="http://schemas.openxmlformats.org/drawingml/2006/main">
              <a:ext uri="{FF2B5EF4-FFF2-40B4-BE49-F238E27FC236}">
                <a16:creationId xmlns:a16="http://schemas.microsoft.com/office/drawing/2014/main" id="{428E8779-EB80-496D-82AA-4923DE45E81A}"/>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435643244"/>
      </p:ext>
    </p:extLst>
  </p:cSld>
</p:sld>
</file>

<file path=ppt/slides/slide25.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017CAFA-0D51-4D16-9A9A-E79E3FDB141B}"/>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5F73"/>
                </a:solidFill>
                <a:latin typeface="Aptos"/>
                <a:ea typeface="Aptos"/>
                <a:cs typeface="Aptos"/>
              </a:defRPr>
            </a:pPr>
            <a:r>
              <a:rPr sz="900" b="1">
                <a:solidFill>
                  <a:srgbClr val="655F73"/>
                </a:solidFill>
                <a:latin typeface="Aptos"/>
                <a:ea typeface="Aptos"/>
                <a:cs typeface="Aptos"/>
              </a:rPr>
              <a:t>AI PROBLEM FORMULATION</a:t>
            </a:r>
          </a:p>
        </p:txBody>
      </p:sp>
      <p:sp>
        <p:nvSpPr>
          <p:cNvPr id="2" name="">
            <a:extLst xmlns:a="http://schemas.openxmlformats.org/drawingml/2006/main">
              <a:ext uri="{FF2B5EF4-FFF2-40B4-BE49-F238E27FC236}">
                <a16:creationId xmlns:a16="http://schemas.microsoft.com/office/drawing/2014/main" id="{CF934DCE-5D3C-491F-B367-51919C18460B}"/>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AI predicts evidence roles and risk states, not final Maven versions</a:t>
            </a:r>
          </a:p>
        </p:txBody>
      </p:sp>
      <p:sp>
        <p:nvSpPr>
          <p:cNvPr id="3" name="">
            <a:extLst xmlns:a="http://schemas.openxmlformats.org/drawingml/2006/main">
              <a:ext uri="{FF2B5EF4-FFF2-40B4-BE49-F238E27FC236}">
                <a16:creationId xmlns:a16="http://schemas.microsoft.com/office/drawing/2014/main" id="{CF35C881-DB75-42F3-8A2F-C051F7FEE35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25</a:t>
            </a:r>
          </a:p>
        </p:txBody>
      </p:sp>
      <p:sp>
        <p:nvSpPr>
          <p:cNvPr id="4" name="">
            <a:extLst xmlns:a="http://schemas.openxmlformats.org/drawingml/2006/main">
              <a:ext uri="{FF2B5EF4-FFF2-40B4-BE49-F238E27FC236}">
                <a16:creationId xmlns:a16="http://schemas.microsoft.com/office/drawing/2014/main" id="{ACD2E8D7-E784-4C59-876F-8A9BBF3ED3B9}"/>
              </a:ext>
            </a:extLst>
          </p:cNvPr>
          <p:cNvSpPr>
            <a:spLocks xmlns:a="http://schemas.openxmlformats.org/drawingml/2006/main" noGrp="1"/>
          </p:cNvSpPr>
          <p:nvPr/>
        </p:nvSpPr>
        <p:spPr>
          <a:xfrm xmlns:a="http://schemas.openxmlformats.org/drawingml/2006/main">
            <a:off x="685800" y="1466850"/>
            <a:ext cx="4953000" cy="38481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5" name="">
            <a:extLst xmlns:a="http://schemas.openxmlformats.org/drawingml/2006/main">
              <a:ext uri="{FF2B5EF4-FFF2-40B4-BE49-F238E27FC236}">
                <a16:creationId xmlns:a16="http://schemas.microsoft.com/office/drawing/2014/main" id="{28C18D3C-0F25-4BBB-AFE1-D5CFCBF0768F}"/>
              </a:ext>
            </a:extLst>
          </p:cNvPr>
          <p:cNvSpPr>
            <a:spLocks xmlns:a="http://schemas.openxmlformats.org/drawingml/2006/main" noGrp="1"/>
          </p:cNvSpPr>
          <p:nvPr/>
        </p:nvSpPr>
        <p:spPr>
          <a:xfrm xmlns:a="http://schemas.openxmlformats.org/drawingml/2006/main">
            <a:off x="933450" y="16954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5F73"/>
                </a:solidFill>
                <a:latin typeface="Aptos"/>
                <a:ea typeface="Aptos"/>
                <a:cs typeface="Aptos"/>
              </a:defRPr>
            </a:pPr>
            <a:r>
              <a:rPr sz="900" b="1">
                <a:solidFill>
                  <a:srgbClr val="655F73"/>
                </a:solidFill>
                <a:latin typeface="Aptos"/>
                <a:ea typeface="Aptos"/>
                <a:cs typeface="Aptos"/>
              </a:rPr>
              <a:t>TRAINING UNIT</a:t>
            </a:r>
          </a:p>
        </p:txBody>
      </p:sp>
      <p:sp>
        <p:nvSpPr>
          <p:cNvPr id="6" name="">
            <a:extLst xmlns:a="http://schemas.openxmlformats.org/drawingml/2006/main">
              <a:ext uri="{FF2B5EF4-FFF2-40B4-BE49-F238E27FC236}">
                <a16:creationId xmlns:a16="http://schemas.microsoft.com/office/drawing/2014/main" id="{F8CB73EB-8262-4A54-ABB8-352372CE9D93}"/>
              </a:ext>
            </a:extLst>
          </p:cNvPr>
          <p:cNvSpPr>
            <a:spLocks xmlns:a="http://schemas.openxmlformats.org/drawingml/2006/main" noGrp="1"/>
          </p:cNvSpPr>
          <p:nvPr/>
        </p:nvSpPr>
        <p:spPr>
          <a:xfrm xmlns:a="http://schemas.openxmlformats.org/drawingml/2006/main">
            <a:off x="933450" y="207645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202A33"/>
                </a:solidFill>
                <a:latin typeface="Aptos"/>
                <a:ea typeface="Aptos"/>
                <a:cs typeface="Aptos"/>
              </a:defRPr>
            </a:pPr>
            <a:r>
              <a:rPr sz="1800" b="1">
                <a:solidFill>
                  <a:srgbClr val="202A33"/>
                </a:solidFill>
                <a:latin typeface="Aptos"/>
                <a:ea typeface="Aptos"/>
                <a:cs typeface="Aptos"/>
              </a:rPr>
              <a:t>One matcher / transparency evidence row</a:t>
            </a:r>
          </a:p>
        </p:txBody>
      </p:sp>
      <p:sp>
        <p:nvSpPr>
          <p:cNvPr id="7" name="">
            <a:extLst xmlns:a="http://schemas.openxmlformats.org/drawingml/2006/main">
              <a:ext uri="{FF2B5EF4-FFF2-40B4-BE49-F238E27FC236}">
                <a16:creationId xmlns:a16="http://schemas.microsoft.com/office/drawing/2014/main" id="{5C5C3832-E7F7-4A08-A4CD-9EA93E8E2F70}"/>
              </a:ext>
            </a:extLst>
          </p:cNvPr>
          <p:cNvSpPr>
            <a:spLocks xmlns:a="http://schemas.openxmlformats.org/drawingml/2006/main" noGrp="1"/>
          </p:cNvSpPr>
          <p:nvPr/>
        </p:nvSpPr>
        <p:spPr>
          <a:xfrm xmlns:a="http://schemas.openxmlformats.org/drawingml/2006/main">
            <a:off x="952500" y="28194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717A"/>
                </a:solidFill>
                <a:latin typeface="Aptos"/>
                <a:ea typeface="Aptos"/>
                <a:cs typeface="Aptos"/>
              </a:defRPr>
            </a:pPr>
            <a:r>
              <a:rPr sz="900" b="1">
                <a:solidFill>
                  <a:srgbClr val="65717A"/>
                </a:solidFill>
                <a:latin typeface="Aptos"/>
                <a:ea typeface="Aptos"/>
                <a:cs typeface="Aptos"/>
              </a:rPr>
              <a:t>Rows</a:t>
            </a:r>
          </a:p>
        </p:txBody>
      </p:sp>
      <p:sp>
        <p:nvSpPr>
          <p:cNvPr id="8" name="">
            <a:extLst xmlns:a="http://schemas.openxmlformats.org/drawingml/2006/main">
              <a:ext uri="{FF2B5EF4-FFF2-40B4-BE49-F238E27FC236}">
                <a16:creationId xmlns:a16="http://schemas.microsoft.com/office/drawing/2014/main" id="{CB036B8C-AA00-421D-AEEE-3150DA88CD21}"/>
              </a:ext>
            </a:extLst>
          </p:cNvPr>
          <p:cNvSpPr>
            <a:spLocks xmlns:a="http://schemas.openxmlformats.org/drawingml/2006/main" noGrp="1"/>
          </p:cNvSpPr>
          <p:nvPr/>
        </p:nvSpPr>
        <p:spPr>
          <a:xfrm xmlns:a="http://schemas.openxmlformats.org/drawingml/2006/main">
            <a:off x="2133600" y="27813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20,523 training eligible</a:t>
            </a:r>
          </a:p>
        </p:txBody>
      </p:sp>
      <p:sp>
        <p:nvSpPr>
          <p:cNvPr id="9" name="">
            <a:extLst xmlns:a="http://schemas.openxmlformats.org/drawingml/2006/main">
              <a:ext uri="{FF2B5EF4-FFF2-40B4-BE49-F238E27FC236}">
                <a16:creationId xmlns:a16="http://schemas.microsoft.com/office/drawing/2014/main" id="{4D07F145-A156-4646-B328-1BB89F345FF1}"/>
              </a:ext>
            </a:extLst>
          </p:cNvPr>
          <p:cNvSpPr>
            <a:spLocks xmlns:a="http://schemas.openxmlformats.org/drawingml/2006/main" noGrp="1"/>
          </p:cNvSpPr>
          <p:nvPr/>
        </p:nvSpPr>
        <p:spPr>
          <a:xfrm xmlns:a="http://schemas.openxmlformats.org/drawingml/2006/main">
            <a:off x="952500" y="32385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717A"/>
                </a:solidFill>
                <a:latin typeface="Aptos"/>
                <a:ea typeface="Aptos"/>
                <a:cs typeface="Aptos"/>
              </a:defRPr>
            </a:pPr>
            <a:r>
              <a:rPr sz="900" b="1">
                <a:solidFill>
                  <a:srgbClr val="65717A"/>
                </a:solidFill>
                <a:latin typeface="Aptos"/>
                <a:ea typeface="Aptos"/>
                <a:cs typeface="Aptos"/>
              </a:rPr>
              <a:t>Cases</a:t>
            </a:r>
          </a:p>
        </p:txBody>
      </p:sp>
      <p:sp>
        <p:nvSpPr>
          <p:cNvPr id="10" name="">
            <a:extLst xmlns:a="http://schemas.openxmlformats.org/drawingml/2006/main">
              <a:ext uri="{FF2B5EF4-FFF2-40B4-BE49-F238E27FC236}">
                <a16:creationId xmlns:a16="http://schemas.microsoft.com/office/drawing/2014/main" id="{F19DF296-906F-44AD-924A-D36E566CE9FB}"/>
              </a:ext>
            </a:extLst>
          </p:cNvPr>
          <p:cNvSpPr>
            <a:spLocks xmlns:a="http://schemas.openxmlformats.org/drawingml/2006/main" noGrp="1"/>
          </p:cNvSpPr>
          <p:nvPr/>
        </p:nvSpPr>
        <p:spPr>
          <a:xfrm xmlns:a="http://schemas.openxmlformats.org/drawingml/2006/main">
            <a:off x="2133600" y="32004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149 grouped case IDs</a:t>
            </a:r>
          </a:p>
        </p:txBody>
      </p:sp>
      <p:sp>
        <p:nvSpPr>
          <p:cNvPr id="11" name="">
            <a:extLst xmlns:a="http://schemas.openxmlformats.org/drawingml/2006/main">
              <a:ext uri="{FF2B5EF4-FFF2-40B4-BE49-F238E27FC236}">
                <a16:creationId xmlns:a16="http://schemas.microsoft.com/office/drawing/2014/main" id="{86DC1671-1490-46EE-9788-7D61C5430E0E}"/>
              </a:ext>
            </a:extLst>
          </p:cNvPr>
          <p:cNvSpPr>
            <a:spLocks xmlns:a="http://schemas.openxmlformats.org/drawingml/2006/main" noGrp="1"/>
          </p:cNvSpPr>
          <p:nvPr/>
        </p:nvSpPr>
        <p:spPr>
          <a:xfrm xmlns:a="http://schemas.openxmlformats.org/drawingml/2006/main">
            <a:off x="952500" y="36576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717A"/>
                </a:solidFill>
                <a:latin typeface="Aptos"/>
                <a:ea typeface="Aptos"/>
                <a:cs typeface="Aptos"/>
              </a:defRPr>
            </a:pPr>
            <a:r>
              <a:rPr sz="900" b="1">
                <a:solidFill>
                  <a:srgbClr val="65717A"/>
                </a:solidFill>
                <a:latin typeface="Aptos"/>
                <a:ea typeface="Aptos"/>
                <a:cs typeface="Aptos"/>
              </a:rPr>
              <a:t>Coordinates</a:t>
            </a:r>
          </a:p>
        </p:txBody>
      </p:sp>
      <p:sp>
        <p:nvSpPr>
          <p:cNvPr id="12" name="">
            <a:extLst xmlns:a="http://schemas.openxmlformats.org/drawingml/2006/main">
              <a:ext uri="{FF2B5EF4-FFF2-40B4-BE49-F238E27FC236}">
                <a16:creationId xmlns:a16="http://schemas.microsoft.com/office/drawing/2014/main" id="{3000AC7C-616B-4487-A9A0-30EFD9826CF4}"/>
              </a:ext>
            </a:extLst>
          </p:cNvPr>
          <p:cNvSpPr>
            <a:spLocks xmlns:a="http://schemas.openxmlformats.org/drawingml/2006/main" noGrp="1"/>
          </p:cNvSpPr>
          <p:nvPr/>
        </p:nvSpPr>
        <p:spPr>
          <a:xfrm xmlns:a="http://schemas.openxmlformats.org/drawingml/2006/main">
            <a:off x="2133600" y="36195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1,370 Maven coordinates</a:t>
            </a:r>
          </a:p>
        </p:txBody>
      </p:sp>
      <p:sp>
        <p:nvSpPr>
          <p:cNvPr id="13" name="">
            <a:extLst xmlns:a="http://schemas.openxmlformats.org/drawingml/2006/main">
              <a:ext uri="{FF2B5EF4-FFF2-40B4-BE49-F238E27FC236}">
                <a16:creationId xmlns:a16="http://schemas.microsoft.com/office/drawing/2014/main" id="{3DB2ACAD-C963-4506-874D-3CFE7244DFE9}"/>
              </a:ext>
            </a:extLst>
          </p:cNvPr>
          <p:cNvSpPr>
            <a:spLocks xmlns:a="http://schemas.openxmlformats.org/drawingml/2006/main" noGrp="1"/>
          </p:cNvSpPr>
          <p:nvPr/>
        </p:nvSpPr>
        <p:spPr>
          <a:xfrm xmlns:a="http://schemas.openxmlformats.org/drawingml/2006/main">
            <a:off x="952500" y="40767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717A"/>
                </a:solidFill>
                <a:latin typeface="Aptos"/>
                <a:ea typeface="Aptos"/>
                <a:cs typeface="Aptos"/>
              </a:defRPr>
            </a:pPr>
            <a:r>
              <a:rPr sz="900" b="1">
                <a:solidFill>
                  <a:srgbClr val="65717A"/>
                </a:solidFill>
                <a:latin typeface="Aptos"/>
                <a:ea typeface="Aptos"/>
                <a:cs typeface="Aptos"/>
              </a:rPr>
              <a:t>Split</a:t>
            </a:r>
          </a:p>
        </p:txBody>
      </p:sp>
      <p:sp>
        <p:nvSpPr>
          <p:cNvPr id="14" name="">
            <a:extLst xmlns:a="http://schemas.openxmlformats.org/drawingml/2006/main">
              <a:ext uri="{FF2B5EF4-FFF2-40B4-BE49-F238E27FC236}">
                <a16:creationId xmlns:a16="http://schemas.microsoft.com/office/drawing/2014/main" id="{EC4D6733-BB30-4032-B485-3B25483C1683}"/>
              </a:ext>
            </a:extLst>
          </p:cNvPr>
          <p:cNvSpPr>
            <a:spLocks xmlns:a="http://schemas.openxmlformats.org/drawingml/2006/main" noGrp="1"/>
          </p:cNvSpPr>
          <p:nvPr/>
        </p:nvSpPr>
        <p:spPr>
          <a:xfrm xmlns:a="http://schemas.openxmlformats.org/drawingml/2006/main">
            <a:off x="2133600" y="40386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104 train / 15 validation / 30 test cases</a:t>
            </a:r>
          </a:p>
        </p:txBody>
      </p:sp>
      <p:sp>
        <p:nvSpPr>
          <p:cNvPr id="15" name="">
            <a:extLst xmlns:a="http://schemas.openxmlformats.org/drawingml/2006/main">
              <a:ext uri="{FF2B5EF4-FFF2-40B4-BE49-F238E27FC236}">
                <a16:creationId xmlns:a16="http://schemas.microsoft.com/office/drawing/2014/main" id="{BCBC58C5-0279-4BD0-A794-55DC1447FBFB}"/>
              </a:ext>
            </a:extLst>
          </p:cNvPr>
          <p:cNvSpPr>
            <a:spLocks xmlns:a="http://schemas.openxmlformats.org/drawingml/2006/main" noGrp="1"/>
          </p:cNvSpPr>
          <p:nvPr/>
        </p:nvSpPr>
        <p:spPr>
          <a:xfrm xmlns:a="http://schemas.openxmlformats.org/drawingml/2006/main">
            <a:off x="952500" y="44958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717A"/>
                </a:solidFill>
                <a:latin typeface="Aptos"/>
                <a:ea typeface="Aptos"/>
                <a:cs typeface="Aptos"/>
              </a:defRPr>
            </a:pPr>
            <a:r>
              <a:rPr sz="900" b="1">
                <a:solidFill>
                  <a:srgbClr val="65717A"/>
                </a:solidFill>
                <a:latin typeface="Aptos"/>
                <a:ea typeface="Aptos"/>
                <a:cs typeface="Aptos"/>
              </a:rPr>
              <a:t>Features</a:t>
            </a:r>
          </a:p>
        </p:txBody>
      </p:sp>
      <p:sp>
        <p:nvSpPr>
          <p:cNvPr id="16" name="">
            <a:extLst xmlns:a="http://schemas.openxmlformats.org/drawingml/2006/main">
              <a:ext uri="{FF2B5EF4-FFF2-40B4-BE49-F238E27FC236}">
                <a16:creationId xmlns:a16="http://schemas.microsoft.com/office/drawing/2014/main" id="{F24734A7-A238-4389-88C8-4D55A991DDF4}"/>
              </a:ext>
            </a:extLst>
          </p:cNvPr>
          <p:cNvSpPr>
            <a:spLocks xmlns:a="http://schemas.openxmlformats.org/drawingml/2006/main" noGrp="1"/>
          </p:cNvSpPr>
          <p:nvPr/>
        </p:nvSpPr>
        <p:spPr>
          <a:xfrm xmlns:a="http://schemas.openxmlformats.org/drawingml/2006/main">
            <a:off x="2133600" y="44577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scores, overlap counts, context flags</a:t>
            </a:r>
          </a:p>
        </p:txBody>
      </p:sp>
      <p:sp>
        <p:nvSpPr>
          <p:cNvPr id="17" name="">
            <a:extLst xmlns:a="http://schemas.openxmlformats.org/drawingml/2006/main">
              <a:ext uri="{FF2B5EF4-FFF2-40B4-BE49-F238E27FC236}">
                <a16:creationId xmlns:a16="http://schemas.microsoft.com/office/drawing/2014/main" id="{497C86E6-3BAC-4571-A4C1-5083518C0FD8}"/>
              </a:ext>
            </a:extLst>
          </p:cNvPr>
          <p:cNvSpPr>
            <a:spLocks xmlns:a="http://schemas.openxmlformats.org/drawingml/2006/main" noGrp="1"/>
          </p:cNvSpPr>
          <p:nvPr/>
        </p:nvSpPr>
        <p:spPr>
          <a:xfrm xmlns:a="http://schemas.openxmlformats.org/drawingml/2006/main">
            <a:off x="5943600" y="1466850"/>
            <a:ext cx="5562600" cy="38481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18" name="">
            <a:extLst xmlns:a="http://schemas.openxmlformats.org/drawingml/2006/main">
              <a:ext uri="{FF2B5EF4-FFF2-40B4-BE49-F238E27FC236}">
                <a16:creationId xmlns:a16="http://schemas.microsoft.com/office/drawing/2014/main" id="{239EA5BB-8BC8-4F8C-A08D-2CA09A08510F}"/>
              </a:ext>
            </a:extLst>
          </p:cNvPr>
          <p:cNvSpPr>
            <a:spLocks xmlns:a="http://schemas.openxmlformats.org/drawingml/2006/main" noGrp="1"/>
          </p:cNvSpPr>
          <p:nvPr/>
        </p:nvSpPr>
        <p:spPr>
          <a:xfrm xmlns:a="http://schemas.openxmlformats.org/drawingml/2006/main">
            <a:off x="6191250" y="16954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4F7D76"/>
                </a:solidFill>
                <a:latin typeface="Aptos"/>
                <a:ea typeface="Aptos"/>
                <a:cs typeface="Aptos"/>
              </a:defRPr>
            </a:pPr>
            <a:r>
              <a:rPr sz="900" b="1">
                <a:solidFill>
                  <a:srgbClr val="4F7D76"/>
                </a:solidFill>
                <a:latin typeface="Aptos"/>
                <a:ea typeface="Aptos"/>
                <a:cs typeface="Aptos"/>
              </a:rPr>
              <a:t>SIX LABELS</a:t>
            </a:r>
          </a:p>
        </p:txBody>
      </p:sp>
      <p:sp>
        <p:nvSpPr>
          <p:cNvPr id="19" name="">
            <a:extLst xmlns:a="http://schemas.openxmlformats.org/drawingml/2006/main">
              <a:ext uri="{FF2B5EF4-FFF2-40B4-BE49-F238E27FC236}">
                <a16:creationId xmlns:a16="http://schemas.microsoft.com/office/drawing/2014/main" id="{BA41E78B-F39F-4C8B-8A7E-ED600B7A2939}"/>
              </a:ext>
            </a:extLst>
          </p:cNvPr>
          <p:cNvSpPr>
            <a:spLocks xmlns:a="http://schemas.openxmlformats.org/drawingml/2006/main" noGrp="1"/>
          </p:cNvSpPr>
          <p:nvPr/>
        </p:nvSpPr>
        <p:spPr>
          <a:xfrm xmlns:a="http://schemas.openxmlformats.org/drawingml/2006/main">
            <a:off x="6191250" y="215265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20" name="">
            <a:extLst xmlns:a="http://schemas.openxmlformats.org/drawingml/2006/main">
              <a:ext uri="{FF2B5EF4-FFF2-40B4-BE49-F238E27FC236}">
                <a16:creationId xmlns:a16="http://schemas.microsoft.com/office/drawing/2014/main" id="{8AC785E8-1DCD-4E60-809B-DEA0C9A18C28}"/>
              </a:ext>
            </a:extLst>
          </p:cNvPr>
          <p:cNvSpPr>
            <a:spLocks xmlns:a="http://schemas.openxmlformats.org/drawingml/2006/main" noGrp="1"/>
          </p:cNvSpPr>
          <p:nvPr/>
        </p:nvSpPr>
        <p:spPr>
          <a:xfrm xmlns:a="http://schemas.openxmlformats.org/drawingml/2006/main">
            <a:off x="6257925" y="22098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F7C61"/>
                </a:solidFill>
                <a:latin typeface="Aptos"/>
                <a:ea typeface="Aptos"/>
                <a:cs typeface="Aptos"/>
              </a:defRPr>
            </a:pPr>
            <a:r>
              <a:rPr sz="825" b="1">
                <a:solidFill>
                  <a:srgbClr val="6F7C61"/>
                </a:solidFill>
                <a:latin typeface="Aptos"/>
                <a:ea typeface="Aptos"/>
                <a:cs typeface="Aptos"/>
              </a:rPr>
              <a:t>confirmed_exact</a:t>
            </a:r>
          </a:p>
        </p:txBody>
      </p:sp>
      <p:sp>
        <p:nvSpPr>
          <p:cNvPr id="21" name="">
            <a:extLst xmlns:a="http://schemas.openxmlformats.org/drawingml/2006/main">
              <a:ext uri="{FF2B5EF4-FFF2-40B4-BE49-F238E27FC236}">
                <a16:creationId xmlns:a16="http://schemas.microsoft.com/office/drawing/2014/main" id="{E9A89E0C-0370-4139-8508-E0AB4321E0EC}"/>
              </a:ext>
            </a:extLst>
          </p:cNvPr>
          <p:cNvSpPr>
            <a:spLocks xmlns:a="http://schemas.openxmlformats.org/drawingml/2006/main" noGrp="1"/>
          </p:cNvSpPr>
          <p:nvPr/>
        </p:nvSpPr>
        <p:spPr>
          <a:xfrm xmlns:a="http://schemas.openxmlformats.org/drawingml/2006/main">
            <a:off x="8724900" y="215265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4F7D76"/>
            </a:solidFill>
            <a:prstDash val="solid"/>
          </a:ln>
        </p:spPr>
      </p:sp>
      <p:sp>
        <p:nvSpPr>
          <p:cNvPr id="22" name="">
            <a:extLst xmlns:a="http://schemas.openxmlformats.org/drawingml/2006/main">
              <a:ext uri="{FF2B5EF4-FFF2-40B4-BE49-F238E27FC236}">
                <a16:creationId xmlns:a16="http://schemas.microsoft.com/office/drawing/2014/main" id="{6C0E7BEA-8381-43DF-BC24-744122F4A368}"/>
              </a:ext>
            </a:extLst>
          </p:cNvPr>
          <p:cNvSpPr>
            <a:spLocks xmlns:a="http://schemas.openxmlformats.org/drawingml/2006/main" noGrp="1"/>
          </p:cNvSpPr>
          <p:nvPr/>
        </p:nvSpPr>
        <p:spPr>
          <a:xfrm xmlns:a="http://schemas.openxmlformats.org/drawingml/2006/main">
            <a:off x="8791575" y="22098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4F7D76"/>
                </a:solidFill>
                <a:latin typeface="Aptos"/>
                <a:ea typeface="Aptos"/>
                <a:cs typeface="Aptos"/>
              </a:defRPr>
            </a:pPr>
            <a:r>
              <a:rPr sz="825" b="1">
                <a:solidFill>
                  <a:srgbClr val="4F7D76"/>
                </a:solidFill>
                <a:latin typeface="Aptos"/>
                <a:ea typeface="Aptos"/>
                <a:cs typeface="Aptos"/>
              </a:rPr>
              <a:t>suggest_report_only</a:t>
            </a:r>
          </a:p>
        </p:txBody>
      </p:sp>
      <p:sp>
        <p:nvSpPr>
          <p:cNvPr id="23" name="">
            <a:extLst xmlns:a="http://schemas.openxmlformats.org/drawingml/2006/main">
              <a:ext uri="{FF2B5EF4-FFF2-40B4-BE49-F238E27FC236}">
                <a16:creationId xmlns:a16="http://schemas.microsoft.com/office/drawing/2014/main" id="{3656EAA1-C717-4BD7-A386-C5D084ECDC32}"/>
              </a:ext>
            </a:extLst>
          </p:cNvPr>
          <p:cNvSpPr>
            <a:spLocks xmlns:a="http://schemas.openxmlformats.org/drawingml/2006/main" noGrp="1"/>
          </p:cNvSpPr>
          <p:nvPr/>
        </p:nvSpPr>
        <p:spPr>
          <a:xfrm xmlns:a="http://schemas.openxmlformats.org/drawingml/2006/main">
            <a:off x="6191250" y="289560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8D754D"/>
            </a:solidFill>
            <a:prstDash val="solid"/>
          </a:ln>
        </p:spPr>
      </p:sp>
      <p:sp>
        <p:nvSpPr>
          <p:cNvPr id="24" name="">
            <a:extLst xmlns:a="http://schemas.openxmlformats.org/drawingml/2006/main">
              <a:ext uri="{FF2B5EF4-FFF2-40B4-BE49-F238E27FC236}">
                <a16:creationId xmlns:a16="http://schemas.microsoft.com/office/drawing/2014/main" id="{141EC51F-2F68-4C00-A2DB-F0ABDFD46370}"/>
              </a:ext>
            </a:extLst>
          </p:cNvPr>
          <p:cNvSpPr>
            <a:spLocks xmlns:a="http://schemas.openxmlformats.org/drawingml/2006/main" noGrp="1"/>
          </p:cNvSpPr>
          <p:nvPr/>
        </p:nvSpPr>
        <p:spPr>
          <a:xfrm xmlns:a="http://schemas.openxmlformats.org/drawingml/2006/main">
            <a:off x="6257925" y="29527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8D754D"/>
                </a:solidFill>
                <a:latin typeface="Aptos"/>
                <a:ea typeface="Aptos"/>
                <a:cs typeface="Aptos"/>
              </a:defRPr>
            </a:pPr>
            <a:r>
              <a:rPr sz="825" b="1">
                <a:solidFill>
                  <a:srgbClr val="8D754D"/>
                </a:solidFill>
                <a:latin typeface="Aptos"/>
                <a:ea typeface="Aptos"/>
                <a:cs typeface="Aptos"/>
              </a:rPr>
              <a:t>suppress_uncertain</a:t>
            </a:r>
          </a:p>
        </p:txBody>
      </p:sp>
      <p:sp>
        <p:nvSpPr>
          <p:cNvPr id="25" name="">
            <a:extLst xmlns:a="http://schemas.openxmlformats.org/drawingml/2006/main">
              <a:ext uri="{FF2B5EF4-FFF2-40B4-BE49-F238E27FC236}">
                <a16:creationId xmlns:a16="http://schemas.microsoft.com/office/drawing/2014/main" id="{95A7B4B4-139C-45AC-8327-04B8D0DB8A36}"/>
              </a:ext>
            </a:extLst>
          </p:cNvPr>
          <p:cNvSpPr>
            <a:spLocks xmlns:a="http://schemas.openxmlformats.org/drawingml/2006/main" noGrp="1"/>
          </p:cNvSpPr>
          <p:nvPr/>
        </p:nvSpPr>
        <p:spPr>
          <a:xfrm xmlns:a="http://schemas.openxmlformats.org/drawingml/2006/main">
            <a:off x="8724900" y="289560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26" name="">
            <a:extLst xmlns:a="http://schemas.openxmlformats.org/drawingml/2006/main">
              <a:ext uri="{FF2B5EF4-FFF2-40B4-BE49-F238E27FC236}">
                <a16:creationId xmlns:a16="http://schemas.microsoft.com/office/drawing/2014/main" id="{06492109-5061-438A-BFC2-3072E1E6DB0F}"/>
              </a:ext>
            </a:extLst>
          </p:cNvPr>
          <p:cNvSpPr>
            <a:spLocks xmlns:a="http://schemas.openxmlformats.org/drawingml/2006/main" noGrp="1"/>
          </p:cNvSpPr>
          <p:nvPr/>
        </p:nvSpPr>
        <p:spPr>
          <a:xfrm xmlns:a="http://schemas.openxmlformats.org/drawingml/2006/main">
            <a:off x="8791575" y="29527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365F7D"/>
                </a:solidFill>
                <a:latin typeface="Aptos"/>
                <a:ea typeface="Aptos"/>
                <a:cs typeface="Aptos"/>
              </a:defRPr>
            </a:pPr>
            <a:r>
              <a:rPr sz="825" b="1">
                <a:solidFill>
                  <a:srgbClr val="365F7D"/>
                </a:solidFill>
                <a:latin typeface="Aptos"/>
                <a:ea typeface="Aptos"/>
                <a:cs typeface="Aptos"/>
              </a:rPr>
              <a:t>risk_only</a:t>
            </a:r>
          </a:p>
        </p:txBody>
      </p:sp>
      <p:sp>
        <p:nvSpPr>
          <p:cNvPr id="27" name="">
            <a:extLst xmlns:a="http://schemas.openxmlformats.org/drawingml/2006/main">
              <a:ext uri="{FF2B5EF4-FFF2-40B4-BE49-F238E27FC236}">
                <a16:creationId xmlns:a16="http://schemas.microsoft.com/office/drawing/2014/main" id="{EBC45BBE-4BE1-42BE-B926-247C3D6FB513}"/>
              </a:ext>
            </a:extLst>
          </p:cNvPr>
          <p:cNvSpPr>
            <a:spLocks xmlns:a="http://schemas.openxmlformats.org/drawingml/2006/main" noGrp="1"/>
          </p:cNvSpPr>
          <p:nvPr/>
        </p:nvSpPr>
        <p:spPr>
          <a:xfrm xmlns:a="http://schemas.openxmlformats.org/drawingml/2006/main">
            <a:off x="6191250" y="363855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28" name="">
            <a:extLst xmlns:a="http://schemas.openxmlformats.org/drawingml/2006/main">
              <a:ext uri="{FF2B5EF4-FFF2-40B4-BE49-F238E27FC236}">
                <a16:creationId xmlns:a16="http://schemas.microsoft.com/office/drawing/2014/main" id="{2ADE85AE-A2A0-421A-A850-8A5FDE5723A3}"/>
              </a:ext>
            </a:extLst>
          </p:cNvPr>
          <p:cNvSpPr>
            <a:spLocks xmlns:a="http://schemas.openxmlformats.org/drawingml/2006/main" noGrp="1"/>
          </p:cNvSpPr>
          <p:nvPr/>
        </p:nvSpPr>
        <p:spPr>
          <a:xfrm xmlns:a="http://schemas.openxmlformats.org/drawingml/2006/main">
            <a:off x="6257925" y="36957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mismatch_or_extra</a:t>
            </a:r>
          </a:p>
        </p:txBody>
      </p:sp>
      <p:sp>
        <p:nvSpPr>
          <p:cNvPr id="29" name="">
            <a:extLst xmlns:a="http://schemas.openxmlformats.org/drawingml/2006/main">
              <a:ext uri="{FF2B5EF4-FFF2-40B4-BE49-F238E27FC236}">
                <a16:creationId xmlns:a16="http://schemas.microsoft.com/office/drawing/2014/main" id="{6F2AA970-585B-4402-AB2A-146C25081369}"/>
              </a:ext>
            </a:extLst>
          </p:cNvPr>
          <p:cNvSpPr>
            <a:spLocks xmlns:a="http://schemas.openxmlformats.org/drawingml/2006/main" noGrp="1"/>
          </p:cNvSpPr>
          <p:nvPr/>
        </p:nvSpPr>
        <p:spPr>
          <a:xfrm xmlns:a="http://schemas.openxmlformats.org/drawingml/2006/main">
            <a:off x="8724900" y="363855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5F73"/>
            </a:solidFill>
            <a:prstDash val="solid"/>
          </a:ln>
        </p:spPr>
      </p:sp>
      <p:sp>
        <p:nvSpPr>
          <p:cNvPr id="30" name="">
            <a:extLst xmlns:a="http://schemas.openxmlformats.org/drawingml/2006/main">
              <a:ext uri="{FF2B5EF4-FFF2-40B4-BE49-F238E27FC236}">
                <a16:creationId xmlns:a16="http://schemas.microsoft.com/office/drawing/2014/main" id="{478FE675-719A-426A-A7F3-FE08F34D3486}"/>
              </a:ext>
            </a:extLst>
          </p:cNvPr>
          <p:cNvSpPr>
            <a:spLocks xmlns:a="http://schemas.openxmlformats.org/drawingml/2006/main" noGrp="1"/>
          </p:cNvSpPr>
          <p:nvPr/>
        </p:nvSpPr>
        <p:spPr>
          <a:xfrm xmlns:a="http://schemas.openxmlformats.org/drawingml/2006/main">
            <a:off x="8791575" y="36957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55F73"/>
                </a:solidFill>
                <a:latin typeface="Aptos"/>
                <a:ea typeface="Aptos"/>
                <a:cs typeface="Aptos"/>
              </a:defRPr>
            </a:pPr>
            <a:r>
              <a:rPr sz="825" b="1">
                <a:solidFill>
                  <a:srgbClr val="655F73"/>
                </a:solidFill>
                <a:latin typeface="Aptos"/>
                <a:ea typeface="Aptos"/>
                <a:cs typeface="Aptos"/>
              </a:rPr>
              <a:t>boundary_do_not_suggest</a:t>
            </a:r>
          </a:p>
        </p:txBody>
      </p:sp>
      <p:sp>
        <p:nvSpPr>
          <p:cNvPr id="31" name="">
            <a:extLst xmlns:a="http://schemas.openxmlformats.org/drawingml/2006/main">
              <a:ext uri="{FF2B5EF4-FFF2-40B4-BE49-F238E27FC236}">
                <a16:creationId xmlns:a16="http://schemas.microsoft.com/office/drawing/2014/main" id="{8B6BB5F1-CCC1-47FB-9BEB-09814F0ECF02}"/>
              </a:ext>
            </a:extLst>
          </p:cNvPr>
          <p:cNvSpPr>
            <a:spLocks xmlns:a="http://schemas.openxmlformats.org/drawingml/2006/main" noGrp="1"/>
          </p:cNvSpPr>
          <p:nvPr/>
        </p:nvSpPr>
        <p:spPr>
          <a:xfrm xmlns:a="http://schemas.openxmlformats.org/drawingml/2006/main">
            <a:off x="6305550" y="453390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Grouped splitting by APK case reduces row-level leakage.</a:t>
            </a:r>
          </a:p>
        </p:txBody>
      </p:sp>
      <p:sp>
        <p:nvSpPr>
          <p:cNvPr id="32" name="">
            <a:extLst xmlns:a="http://schemas.openxmlformats.org/drawingml/2006/main">
              <a:ext uri="{FF2B5EF4-FFF2-40B4-BE49-F238E27FC236}">
                <a16:creationId xmlns:a16="http://schemas.microsoft.com/office/drawing/2014/main" id="{8F7936B0-16FA-4BBF-A4DE-326AA3CF1CB0}"/>
              </a:ext>
            </a:extLst>
          </p:cNvPr>
          <p:cNvSpPr>
            <a:spLocks xmlns:a="http://schemas.openxmlformats.org/drawingml/2006/main" noGrp="1"/>
          </p:cNvSpPr>
          <p:nvPr/>
        </p:nvSpPr>
        <p:spPr>
          <a:xfrm xmlns:a="http://schemas.openxmlformats.org/drawingml/2006/main">
            <a:off x="685800" y="5600700"/>
            <a:ext cx="10820400" cy="5905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33" name="">
            <a:extLst xmlns:a="http://schemas.openxmlformats.org/drawingml/2006/main">
              <a:ext uri="{FF2B5EF4-FFF2-40B4-BE49-F238E27FC236}">
                <a16:creationId xmlns:a16="http://schemas.microsoft.com/office/drawing/2014/main" id="{0FD55683-2F6C-4241-9F06-BC63DD43D0CF}"/>
              </a:ext>
            </a:extLst>
          </p:cNvPr>
          <p:cNvSpPr>
            <a:spLocks xmlns:a="http://schemas.openxmlformats.org/drawingml/2006/main" noGrp="1"/>
          </p:cNvSpPr>
          <p:nvPr/>
        </p:nvSpPr>
        <p:spPr>
          <a:xfrm xmlns:a="http://schemas.openxmlformats.org/drawingml/2006/main">
            <a:off x="876300" y="57721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A65C55"/>
                </a:solidFill>
                <a:latin typeface="Aptos"/>
                <a:ea typeface="Aptos"/>
                <a:cs typeface="Aptos"/>
              </a:defRPr>
            </a:pPr>
            <a:r>
              <a:rPr sz="825" b="1">
                <a:solidFill>
                  <a:srgbClr val="A65C55"/>
                </a:solidFill>
                <a:latin typeface="Aptos"/>
                <a:ea typeface="Aptos"/>
                <a:cs typeface="Aptos"/>
              </a:rPr>
              <a:t>AUTHORITY</a:t>
            </a:r>
          </a:p>
        </p:txBody>
      </p:sp>
      <p:sp>
        <p:nvSpPr>
          <p:cNvPr id="34" name="">
            <a:extLst xmlns:a="http://schemas.openxmlformats.org/drawingml/2006/main">
              <a:ext uri="{FF2B5EF4-FFF2-40B4-BE49-F238E27FC236}">
                <a16:creationId xmlns:a16="http://schemas.microsoft.com/office/drawing/2014/main" id="{C6FA22BF-377C-4C9E-B250-6AB0B26C896D}"/>
              </a:ext>
            </a:extLst>
          </p:cNvPr>
          <p:cNvSpPr>
            <a:spLocks xmlns:a="http://schemas.openxmlformats.org/drawingml/2006/main" noGrp="1"/>
          </p:cNvSpPr>
          <p:nvPr/>
        </p:nvSpPr>
        <p:spPr>
          <a:xfrm xmlns:a="http://schemas.openxmlformats.org/drawingml/2006/main">
            <a:off x="2343150" y="57245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The task is report-only identity/risk triage. Selected versions, SBOM components, and CVE labels remain deterministic.</a:t>
            </a:r>
          </a:p>
        </p:txBody>
      </p:sp>
      <p:sp>
        <p:nvSpPr>
          <p:cNvPr id="35" name="">
            <a:extLst xmlns:a="http://schemas.openxmlformats.org/drawingml/2006/main">
              <a:ext uri="{FF2B5EF4-FFF2-40B4-BE49-F238E27FC236}">
                <a16:creationId xmlns:a16="http://schemas.microsoft.com/office/drawing/2014/main" id="{AA838F55-F69E-4EB3-885E-66FB968D5605}"/>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801868776"/>
      </p:ext>
    </p:extLst>
  </p:cSld>
</p:sld>
</file>

<file path=ppt/slides/slide26.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01116F-DEF3-4FF1-BEFA-CEB7C3C5A2E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A8A4DA1-9AE7-4394-87EF-C157ABACE080}"/>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A5A80AA-B14D-4D7F-BDD5-35B8F9526EC1}"/>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365F7D"/>
                </a:solidFill>
                <a:latin typeface="Aptos"/>
                <a:ea typeface="Aptos"/>
                <a:cs typeface="Aptos"/>
              </a:defRPr>
            </a:pPr>
            <a:r>
              <a:rPr sz="900" b="1">
                <a:solidFill>
                  <a:srgbClr val="365F7D"/>
                </a:solidFill>
                <a:latin typeface="Aptos"/>
                <a:ea typeface="Aptos"/>
                <a:cs typeface="Aptos"/>
              </a:rPr>
              <a:t>CLASSICAL ML</a:t>
            </a:r>
          </a:p>
        </p:txBody>
      </p:sp>
      <p:sp>
        <p:nvSpPr>
          <p:cNvPr id="4" name="">
            <a:extLst xmlns:a="http://schemas.openxmlformats.org/drawingml/2006/main">
              <a:ext uri="{FF2B5EF4-FFF2-40B4-BE49-F238E27FC236}">
                <a16:creationId xmlns:a16="http://schemas.microsoft.com/office/drawing/2014/main" id="{AE7D0E4D-A5BB-48EF-A00C-A1A696AA9877}"/>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RandomForest was selected for explainable, structured, report-only assistance</a:t>
            </a:r>
          </a:p>
        </p:txBody>
      </p:sp>
      <p:sp>
        <p:nvSpPr>
          <p:cNvPr id="5" name="">
            <a:extLst xmlns:a="http://schemas.openxmlformats.org/drawingml/2006/main">
              <a:ext uri="{FF2B5EF4-FFF2-40B4-BE49-F238E27FC236}">
                <a16:creationId xmlns:a16="http://schemas.microsoft.com/office/drawing/2014/main" id="{66239A48-7B90-4434-8498-D6622BD87319}"/>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8290A6"/>
                </a:solidFill>
                <a:latin typeface="Aptos"/>
                <a:ea typeface="Aptos"/>
                <a:cs typeface="Aptos"/>
              </a:defRPr>
            </a:pPr>
            <a:r>
              <a:rPr sz="900" b="1">
                <a:solidFill>
                  <a:srgbClr val="8290A6"/>
                </a:solidFill>
                <a:latin typeface="Aptos"/>
                <a:ea typeface="Aptos"/>
                <a:cs typeface="Aptos"/>
              </a:rPr>
              <a:t>26</a:t>
            </a:r>
          </a:p>
        </p:txBody>
      </p:sp>
      <p:sp>
        <p:nvSpPr>
          <p:cNvPr id="6" name="">
            <a:extLst xmlns:a="http://schemas.openxmlformats.org/drawingml/2006/main">
              <a:ext uri="{FF2B5EF4-FFF2-40B4-BE49-F238E27FC236}">
                <a16:creationId xmlns:a16="http://schemas.microsoft.com/office/drawing/2014/main" id="{552F0C67-1E4A-4438-B2E9-8F4A5A32F34A}"/>
              </a:ext>
            </a:extLst>
          </p:cNvPr>
          <p:cNvSpPr>
            <a:spLocks xmlns:a="http://schemas.openxmlformats.org/drawingml/2006/main" noGrp="1"/>
          </p:cNvSpPr>
          <p:nvPr/>
        </p:nvSpPr>
        <p:spPr>
          <a:xfrm xmlns:a="http://schemas.openxmlformats.org/drawingml/2006/main">
            <a:off x="685800" y="1466850"/>
            <a:ext cx="2190750" cy="11620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FAA48141-C1CE-49E1-9888-6E7CD8EACD7B}"/>
              </a:ext>
            </a:extLst>
          </p:cNvPr>
          <p:cNvSpPr>
            <a:spLocks xmlns:a="http://schemas.openxmlformats.org/drawingml/2006/main" noGrp="1"/>
          </p:cNvSpPr>
          <p:nvPr/>
        </p:nvSpPr>
        <p:spPr>
          <a:xfrm xmlns:a="http://schemas.openxmlformats.org/drawingml/2006/main">
            <a:off x="819150" y="163830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000" b="1">
                <a:solidFill>
                  <a:srgbClr val="365F7D"/>
                </a:solidFill>
                <a:latin typeface="Aptos Display"/>
                <a:ea typeface="Aptos Display"/>
                <a:cs typeface="Aptos Display"/>
              </a:defRPr>
            </a:pPr>
            <a:r>
              <a:rPr sz="3000" b="1">
                <a:solidFill>
                  <a:srgbClr val="365F7D"/>
                </a:solidFill>
                <a:latin typeface="Aptos Display"/>
                <a:ea typeface="Aptos Display"/>
                <a:cs typeface="Aptos Display"/>
              </a:rPr>
              <a:t>0.708</a:t>
            </a:r>
          </a:p>
        </p:txBody>
      </p:sp>
      <p:sp>
        <p:nvSpPr>
          <p:cNvPr id="8" name="">
            <a:extLst xmlns:a="http://schemas.openxmlformats.org/drawingml/2006/main">
              <a:ext uri="{FF2B5EF4-FFF2-40B4-BE49-F238E27FC236}">
                <a16:creationId xmlns:a16="http://schemas.microsoft.com/office/drawing/2014/main" id="{513DE52A-1404-4E1F-B4D1-2A05DD5C7EF9}"/>
              </a:ext>
            </a:extLst>
          </p:cNvPr>
          <p:cNvSpPr>
            <a:spLocks xmlns:a="http://schemas.openxmlformats.org/drawingml/2006/main" noGrp="1"/>
          </p:cNvSpPr>
          <p:nvPr/>
        </p:nvSpPr>
        <p:spPr>
          <a:xfrm xmlns:a="http://schemas.openxmlformats.org/drawingml/2006/main">
            <a:off x="819150" y="207645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B5C0D0"/>
                </a:solidFill>
                <a:latin typeface="Aptos"/>
                <a:ea typeface="Aptos"/>
                <a:cs typeface="Aptos"/>
              </a:defRPr>
            </a:pPr>
            <a:r>
              <a:rPr sz="900" b="1">
                <a:solidFill>
                  <a:srgbClr val="B5C0D0"/>
                </a:solidFill>
                <a:latin typeface="Aptos"/>
                <a:ea typeface="Aptos"/>
                <a:cs typeface="Aptos"/>
              </a:rPr>
              <a:t>test macro-F1</a:t>
            </a:r>
          </a:p>
        </p:txBody>
      </p:sp>
      <p:sp>
        <p:nvSpPr>
          <p:cNvPr id="9" name="">
            <a:extLst xmlns:a="http://schemas.openxmlformats.org/drawingml/2006/main">
              <a:ext uri="{FF2B5EF4-FFF2-40B4-BE49-F238E27FC236}">
                <a16:creationId xmlns:a16="http://schemas.microsoft.com/office/drawing/2014/main" id="{C36CBD70-36A5-48B8-BFA0-3CAB8C5C7D0A}"/>
              </a:ext>
            </a:extLst>
          </p:cNvPr>
          <p:cNvSpPr>
            <a:spLocks xmlns:a="http://schemas.openxmlformats.org/drawingml/2006/main" noGrp="1"/>
          </p:cNvSpPr>
          <p:nvPr/>
        </p:nvSpPr>
        <p:spPr>
          <a:xfrm xmlns:a="http://schemas.openxmlformats.org/drawingml/2006/main">
            <a:off x="3105150" y="1466850"/>
            <a:ext cx="2190750" cy="11620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0" name="">
            <a:extLst xmlns:a="http://schemas.openxmlformats.org/drawingml/2006/main">
              <a:ext uri="{FF2B5EF4-FFF2-40B4-BE49-F238E27FC236}">
                <a16:creationId xmlns:a16="http://schemas.microsoft.com/office/drawing/2014/main" id="{3DBD09A8-94FD-45CE-B2B0-AC71D2A6CD17}"/>
              </a:ext>
            </a:extLst>
          </p:cNvPr>
          <p:cNvSpPr>
            <a:spLocks xmlns:a="http://schemas.openxmlformats.org/drawingml/2006/main" noGrp="1"/>
          </p:cNvSpPr>
          <p:nvPr/>
        </p:nvSpPr>
        <p:spPr>
          <a:xfrm xmlns:a="http://schemas.openxmlformats.org/drawingml/2006/main">
            <a:off x="3238500" y="163830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000" b="1">
                <a:solidFill>
                  <a:srgbClr val="4F7D76"/>
                </a:solidFill>
                <a:latin typeface="Aptos Display"/>
                <a:ea typeface="Aptos Display"/>
                <a:cs typeface="Aptos Display"/>
              </a:defRPr>
            </a:pPr>
            <a:r>
              <a:rPr sz="3000" b="1">
                <a:solidFill>
                  <a:srgbClr val="4F7D76"/>
                </a:solidFill>
                <a:latin typeface="Aptos Display"/>
                <a:ea typeface="Aptos Display"/>
                <a:cs typeface="Aptos Display"/>
              </a:rPr>
              <a:t>0.690</a:t>
            </a:r>
          </a:p>
        </p:txBody>
      </p:sp>
      <p:sp>
        <p:nvSpPr>
          <p:cNvPr id="11" name="">
            <a:extLst xmlns:a="http://schemas.openxmlformats.org/drawingml/2006/main">
              <a:ext uri="{FF2B5EF4-FFF2-40B4-BE49-F238E27FC236}">
                <a16:creationId xmlns:a16="http://schemas.microsoft.com/office/drawing/2014/main" id="{77A38748-FB42-4305-8841-EFBC4BEA2E0A}"/>
              </a:ext>
            </a:extLst>
          </p:cNvPr>
          <p:cNvSpPr>
            <a:spLocks xmlns:a="http://schemas.openxmlformats.org/drawingml/2006/main" noGrp="1"/>
          </p:cNvSpPr>
          <p:nvPr/>
        </p:nvSpPr>
        <p:spPr>
          <a:xfrm xmlns:a="http://schemas.openxmlformats.org/drawingml/2006/main">
            <a:off x="3238500" y="207645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B5C0D0"/>
                </a:solidFill>
                <a:latin typeface="Aptos"/>
                <a:ea typeface="Aptos"/>
                <a:cs typeface="Aptos"/>
              </a:defRPr>
            </a:pPr>
            <a:r>
              <a:rPr sz="900" b="1">
                <a:solidFill>
                  <a:srgbClr val="B5C0D0"/>
                </a:solidFill>
                <a:latin typeface="Aptos"/>
                <a:ea typeface="Aptos"/>
                <a:cs typeface="Aptos"/>
              </a:rPr>
              <a:t>test accuracy</a:t>
            </a:r>
          </a:p>
        </p:txBody>
      </p:sp>
      <p:sp>
        <p:nvSpPr>
          <p:cNvPr id="12" name="">
            <a:extLst xmlns:a="http://schemas.openxmlformats.org/drawingml/2006/main">
              <a:ext uri="{FF2B5EF4-FFF2-40B4-BE49-F238E27FC236}">
                <a16:creationId xmlns:a16="http://schemas.microsoft.com/office/drawing/2014/main" id="{453946D6-31AC-44FF-BE69-39B05570654A}"/>
              </a:ext>
            </a:extLst>
          </p:cNvPr>
          <p:cNvSpPr>
            <a:spLocks xmlns:a="http://schemas.openxmlformats.org/drawingml/2006/main" noGrp="1"/>
          </p:cNvSpPr>
          <p:nvPr/>
        </p:nvSpPr>
        <p:spPr>
          <a:xfrm xmlns:a="http://schemas.openxmlformats.org/drawingml/2006/main">
            <a:off x="5524500" y="1466850"/>
            <a:ext cx="2476500" cy="11620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013F9F4C-581D-4A2B-82BC-5DF462C123C8}"/>
              </a:ext>
            </a:extLst>
          </p:cNvPr>
          <p:cNvSpPr>
            <a:spLocks xmlns:a="http://schemas.openxmlformats.org/drawingml/2006/main" noGrp="1"/>
          </p:cNvSpPr>
          <p:nvPr/>
        </p:nvSpPr>
        <p:spPr>
          <a:xfrm xmlns:a="http://schemas.openxmlformats.org/drawingml/2006/main">
            <a:off x="5657850" y="1638300"/>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000" b="1">
                <a:solidFill>
                  <a:srgbClr val="8D754D"/>
                </a:solidFill>
                <a:latin typeface="Aptos Display"/>
                <a:ea typeface="Aptos Display"/>
                <a:cs typeface="Aptos Display"/>
              </a:defRPr>
            </a:pPr>
            <a:r>
              <a:rPr sz="3000" b="1">
                <a:solidFill>
                  <a:srgbClr val="8D754D"/>
                </a:solidFill>
                <a:latin typeface="Aptos Display"/>
                <a:ea typeface="Aptos Display"/>
                <a:cs typeface="Aptos Display"/>
              </a:rPr>
              <a:t>0.383</a:t>
            </a:r>
          </a:p>
        </p:txBody>
      </p:sp>
      <p:sp>
        <p:nvSpPr>
          <p:cNvPr id="14" name="">
            <a:extLst xmlns:a="http://schemas.openxmlformats.org/drawingml/2006/main">
              <a:ext uri="{FF2B5EF4-FFF2-40B4-BE49-F238E27FC236}">
                <a16:creationId xmlns:a16="http://schemas.microsoft.com/office/drawing/2014/main" id="{93A7E0DE-96A9-4C79-A28A-D23A5A777C4F}"/>
              </a:ext>
            </a:extLst>
          </p:cNvPr>
          <p:cNvSpPr>
            <a:spLocks xmlns:a="http://schemas.openxmlformats.org/drawingml/2006/main" noGrp="1"/>
          </p:cNvSpPr>
          <p:nvPr/>
        </p:nvSpPr>
        <p:spPr>
          <a:xfrm xmlns:a="http://schemas.openxmlformats.org/drawingml/2006/main">
            <a:off x="5657850" y="2076450"/>
            <a:ext cx="2209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B5C0D0"/>
                </a:solidFill>
                <a:latin typeface="Aptos"/>
                <a:ea typeface="Aptos"/>
                <a:cs typeface="Aptos"/>
              </a:defRPr>
            </a:pPr>
            <a:r>
              <a:rPr sz="900" b="1">
                <a:solidFill>
                  <a:srgbClr val="B5C0D0"/>
                </a:solidFill>
                <a:latin typeface="Aptos"/>
                <a:ea typeface="Aptos"/>
                <a:cs typeface="Aptos"/>
              </a:rPr>
              <a:t>majority baseline accuracy</a:t>
            </a:r>
          </a:p>
        </p:txBody>
      </p:sp>
      <p:sp>
        <p:nvSpPr>
          <p:cNvPr id="15" name="">
            <a:extLst xmlns:a="http://schemas.openxmlformats.org/drawingml/2006/main">
              <a:ext uri="{FF2B5EF4-FFF2-40B4-BE49-F238E27FC236}">
                <a16:creationId xmlns:a16="http://schemas.microsoft.com/office/drawing/2014/main" id="{44901E81-A0C9-45D8-BEBD-350B00D24754}"/>
              </a:ext>
            </a:extLst>
          </p:cNvPr>
          <p:cNvSpPr>
            <a:spLocks xmlns:a="http://schemas.openxmlformats.org/drawingml/2006/main" noGrp="1"/>
          </p:cNvSpPr>
          <p:nvPr/>
        </p:nvSpPr>
        <p:spPr>
          <a:xfrm xmlns:a="http://schemas.openxmlformats.org/drawingml/2006/main">
            <a:off x="8229600" y="1466850"/>
            <a:ext cx="2724150" cy="11620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6" name="">
            <a:extLst xmlns:a="http://schemas.openxmlformats.org/drawingml/2006/main">
              <a:ext uri="{FF2B5EF4-FFF2-40B4-BE49-F238E27FC236}">
                <a16:creationId xmlns:a16="http://schemas.microsoft.com/office/drawing/2014/main" id="{86BFFD74-5445-4786-A0F6-0BFC7E0F9F42}"/>
              </a:ext>
            </a:extLst>
          </p:cNvPr>
          <p:cNvSpPr>
            <a:spLocks xmlns:a="http://schemas.openxmlformats.org/drawingml/2006/main" noGrp="1"/>
          </p:cNvSpPr>
          <p:nvPr/>
        </p:nvSpPr>
        <p:spPr>
          <a:xfrm xmlns:a="http://schemas.openxmlformats.org/drawingml/2006/main">
            <a:off x="8362950" y="1638300"/>
            <a:ext cx="2457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655F73"/>
                </a:solidFill>
                <a:latin typeface="Aptos Display"/>
                <a:ea typeface="Aptos Display"/>
                <a:cs typeface="Aptos Display"/>
              </a:defRPr>
            </a:pPr>
            <a:r>
              <a:rPr sz="2550" b="1">
                <a:solidFill>
                  <a:srgbClr val="655F73"/>
                </a:solidFill>
                <a:latin typeface="Aptos Display"/>
                <a:ea typeface="Aptos Display"/>
                <a:cs typeface="Aptos Display"/>
              </a:rPr>
              <a:t>13,736</a:t>
            </a:r>
          </a:p>
        </p:txBody>
      </p:sp>
      <p:sp>
        <p:nvSpPr>
          <p:cNvPr id="17" name="">
            <a:extLst xmlns:a="http://schemas.openxmlformats.org/drawingml/2006/main">
              <a:ext uri="{FF2B5EF4-FFF2-40B4-BE49-F238E27FC236}">
                <a16:creationId xmlns:a16="http://schemas.microsoft.com/office/drawing/2014/main" id="{E8CB6827-7BAF-48AB-88CF-497A7B0B8670}"/>
              </a:ext>
            </a:extLst>
          </p:cNvPr>
          <p:cNvSpPr>
            <a:spLocks xmlns:a="http://schemas.openxmlformats.org/drawingml/2006/main" noGrp="1"/>
          </p:cNvSpPr>
          <p:nvPr/>
        </p:nvSpPr>
        <p:spPr>
          <a:xfrm xmlns:a="http://schemas.openxmlformats.org/drawingml/2006/main">
            <a:off x="8362950" y="207645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B5C0D0"/>
                </a:solidFill>
                <a:latin typeface="Aptos"/>
                <a:ea typeface="Aptos"/>
                <a:cs typeface="Aptos"/>
              </a:defRPr>
            </a:pPr>
            <a:r>
              <a:rPr sz="900" b="1">
                <a:solidFill>
                  <a:srgbClr val="B5C0D0"/>
                </a:solidFill>
                <a:latin typeface="Aptos"/>
                <a:ea typeface="Aptos"/>
                <a:cs typeface="Aptos"/>
              </a:rPr>
              <a:t>report-only suggestions</a:t>
            </a:r>
          </a:p>
        </p:txBody>
      </p:sp>
      <p:sp>
        <p:nvSpPr>
          <p:cNvPr id="18" name="">
            <a:extLst xmlns:a="http://schemas.openxmlformats.org/drawingml/2006/main">
              <a:ext uri="{FF2B5EF4-FFF2-40B4-BE49-F238E27FC236}">
                <a16:creationId xmlns:a16="http://schemas.microsoft.com/office/drawing/2014/main" id="{133F1BC3-A16D-4E16-994E-F2F14947A344}"/>
              </a:ext>
            </a:extLst>
          </p:cNvPr>
          <p:cNvSpPr>
            <a:spLocks xmlns:a="http://schemas.openxmlformats.org/drawingml/2006/main" noGrp="1"/>
          </p:cNvSpPr>
          <p:nvPr/>
        </p:nvSpPr>
        <p:spPr>
          <a:xfrm xmlns:a="http://schemas.openxmlformats.org/drawingml/2006/main">
            <a:off x="685800" y="2952750"/>
            <a:ext cx="5067300" cy="2571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2BBE04AD-81B7-46FD-8B4A-98EC8BB8B1A1}"/>
              </a:ext>
            </a:extLst>
          </p:cNvPr>
          <p:cNvSpPr>
            <a:spLocks xmlns:a="http://schemas.openxmlformats.org/drawingml/2006/main" noGrp="1"/>
          </p:cNvSpPr>
          <p:nvPr/>
        </p:nvSpPr>
        <p:spPr>
          <a:xfrm xmlns:a="http://schemas.openxmlformats.org/drawingml/2006/main">
            <a:off x="914400" y="3181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365F7D"/>
                </a:solidFill>
                <a:latin typeface="Aptos"/>
                <a:ea typeface="Aptos"/>
                <a:cs typeface="Aptos"/>
              </a:defRPr>
            </a:pPr>
            <a:r>
              <a:rPr sz="900" b="1">
                <a:solidFill>
                  <a:srgbClr val="365F7D"/>
                </a:solidFill>
                <a:latin typeface="Aptos"/>
                <a:ea typeface="Aptos"/>
                <a:cs typeface="Aptos"/>
              </a:rPr>
              <a:t>WHY RANDOM FOREST</a:t>
            </a:r>
          </a:p>
        </p:txBody>
      </p:sp>
      <p:sp>
        <p:nvSpPr>
          <p:cNvPr id="20" name="">
            <a:extLst xmlns:a="http://schemas.openxmlformats.org/drawingml/2006/main">
              <a:ext uri="{FF2B5EF4-FFF2-40B4-BE49-F238E27FC236}">
                <a16:creationId xmlns:a16="http://schemas.microsoft.com/office/drawing/2014/main" id="{ACC50204-CD5F-4BAD-866C-662828A0CAFA}"/>
              </a:ext>
            </a:extLst>
          </p:cNvPr>
          <p:cNvSpPr>
            <a:spLocks xmlns:a="http://schemas.openxmlformats.org/drawingml/2006/main" noGrp="1"/>
          </p:cNvSpPr>
          <p:nvPr/>
        </p:nvSpPr>
        <p:spPr>
          <a:xfrm xmlns:a="http://schemas.openxmlformats.org/drawingml/2006/main">
            <a:off x="952500" y="36004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FEB0E8D-AB16-4ABD-B2ED-1AA6E23890C2}"/>
              </a:ext>
            </a:extLst>
          </p:cNvPr>
          <p:cNvSpPr>
            <a:spLocks xmlns:a="http://schemas.openxmlformats.org/drawingml/2006/main" noGrp="1"/>
          </p:cNvSpPr>
          <p:nvPr/>
        </p:nvSpPr>
        <p:spPr>
          <a:xfrm xmlns:a="http://schemas.openxmlformats.org/drawingml/2006/main">
            <a:off x="1200150" y="35242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CC7D5"/>
                </a:solidFill>
                <a:latin typeface="Aptos"/>
                <a:ea typeface="Aptos"/>
                <a:cs typeface="Aptos"/>
              </a:defRPr>
            </a:pPr>
            <a:r>
              <a:rPr sz="975" b="0">
                <a:solidFill>
                  <a:srgbClr val="BCC7D5"/>
                </a:solidFill>
                <a:latin typeface="Aptos"/>
                <a:ea typeface="Aptos"/>
                <a:cs typeface="Aptos"/>
              </a:rPr>
              <a:t>fits the structured numeric evidence already produced</a:t>
            </a:r>
          </a:p>
        </p:txBody>
      </p:sp>
      <p:sp>
        <p:nvSpPr>
          <p:cNvPr id="22" name="">
            <a:extLst xmlns:a="http://schemas.openxmlformats.org/drawingml/2006/main">
              <a:ext uri="{FF2B5EF4-FFF2-40B4-BE49-F238E27FC236}">
                <a16:creationId xmlns:a16="http://schemas.microsoft.com/office/drawing/2014/main" id="{141978F8-52D6-4203-8D9B-896960FB4E1D}"/>
              </a:ext>
            </a:extLst>
          </p:cNvPr>
          <p:cNvSpPr>
            <a:spLocks xmlns:a="http://schemas.openxmlformats.org/drawingml/2006/main" noGrp="1"/>
          </p:cNvSpPr>
          <p:nvPr/>
        </p:nvSpPr>
        <p:spPr>
          <a:xfrm xmlns:a="http://schemas.openxmlformats.org/drawingml/2006/main">
            <a:off x="952500" y="40195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0033AF8-6ECB-4607-936C-5E54E147F82F}"/>
              </a:ext>
            </a:extLst>
          </p:cNvPr>
          <p:cNvSpPr>
            <a:spLocks xmlns:a="http://schemas.openxmlformats.org/drawingml/2006/main" noGrp="1"/>
          </p:cNvSpPr>
          <p:nvPr/>
        </p:nvSpPr>
        <p:spPr>
          <a:xfrm xmlns:a="http://schemas.openxmlformats.org/drawingml/2006/main">
            <a:off x="1200150" y="39433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CC7D5"/>
                </a:solidFill>
                <a:latin typeface="Aptos"/>
                <a:ea typeface="Aptos"/>
                <a:cs typeface="Aptos"/>
              </a:defRPr>
            </a:pPr>
            <a:r>
              <a:rPr sz="975" b="0">
                <a:solidFill>
                  <a:srgbClr val="BCC7D5"/>
                </a:solidFill>
                <a:latin typeface="Aptos"/>
                <a:ea typeface="Aptos"/>
                <a:cs typeface="Aptos"/>
              </a:rPr>
              <a:t>class weighting handles imbalanced labels</a:t>
            </a:r>
          </a:p>
        </p:txBody>
      </p:sp>
      <p:sp>
        <p:nvSpPr>
          <p:cNvPr id="24" name="">
            <a:extLst xmlns:a="http://schemas.openxmlformats.org/drawingml/2006/main">
              <a:ext uri="{FF2B5EF4-FFF2-40B4-BE49-F238E27FC236}">
                <a16:creationId xmlns:a16="http://schemas.microsoft.com/office/drawing/2014/main" id="{6E5FE8A4-8E3C-4D75-A2BF-1515A4F46F24}"/>
              </a:ext>
            </a:extLst>
          </p:cNvPr>
          <p:cNvSpPr>
            <a:spLocks xmlns:a="http://schemas.openxmlformats.org/drawingml/2006/main" noGrp="1"/>
          </p:cNvSpPr>
          <p:nvPr/>
        </p:nvSpPr>
        <p:spPr>
          <a:xfrm xmlns:a="http://schemas.openxmlformats.org/drawingml/2006/main">
            <a:off x="952500" y="44386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75DB893-7717-4E4F-A46A-DD35C5FBF8CA}"/>
              </a:ext>
            </a:extLst>
          </p:cNvPr>
          <p:cNvSpPr>
            <a:spLocks xmlns:a="http://schemas.openxmlformats.org/drawingml/2006/main" noGrp="1"/>
          </p:cNvSpPr>
          <p:nvPr/>
        </p:nvSpPr>
        <p:spPr>
          <a:xfrm xmlns:a="http://schemas.openxmlformats.org/drawingml/2006/main">
            <a:off x="1200150" y="43624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CC7D5"/>
                </a:solidFill>
                <a:latin typeface="Aptos"/>
                <a:ea typeface="Aptos"/>
                <a:cs typeface="Aptos"/>
              </a:defRPr>
            </a:pPr>
            <a:r>
              <a:rPr sz="975" b="0">
                <a:solidFill>
                  <a:srgbClr val="BCC7D5"/>
                </a:solidFill>
                <a:latin typeface="Aptos"/>
                <a:ea typeface="Aptos"/>
                <a:cs typeface="Aptos"/>
              </a:rPr>
              <a:t>feature importance supports defense explanations</a:t>
            </a:r>
          </a:p>
        </p:txBody>
      </p:sp>
      <p:sp>
        <p:nvSpPr>
          <p:cNvPr id="26" name="">
            <a:extLst xmlns:a="http://schemas.openxmlformats.org/drawingml/2006/main">
              <a:ext uri="{FF2B5EF4-FFF2-40B4-BE49-F238E27FC236}">
                <a16:creationId xmlns:a16="http://schemas.microsoft.com/office/drawing/2014/main" id="{40AACC16-E5B3-42CA-833C-A50D30ED5BAE}"/>
              </a:ext>
            </a:extLst>
          </p:cNvPr>
          <p:cNvSpPr>
            <a:spLocks xmlns:a="http://schemas.openxmlformats.org/drawingml/2006/main" noGrp="1"/>
          </p:cNvSpPr>
          <p:nvPr/>
        </p:nvSpPr>
        <p:spPr>
          <a:xfrm xmlns:a="http://schemas.openxmlformats.org/drawingml/2006/main">
            <a:off x="952500" y="48577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43904E4-9B4B-46BF-B014-EC1CDD9AAB8D}"/>
              </a:ext>
            </a:extLst>
          </p:cNvPr>
          <p:cNvSpPr>
            <a:spLocks xmlns:a="http://schemas.openxmlformats.org/drawingml/2006/main" noGrp="1"/>
          </p:cNvSpPr>
          <p:nvPr/>
        </p:nvSpPr>
        <p:spPr>
          <a:xfrm xmlns:a="http://schemas.openxmlformats.org/drawingml/2006/main">
            <a:off x="1200150" y="47815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BCC7D5"/>
                </a:solidFill>
                <a:latin typeface="Aptos"/>
                <a:ea typeface="Aptos"/>
                <a:cs typeface="Aptos"/>
              </a:defRPr>
            </a:pPr>
            <a:r>
              <a:rPr sz="975" b="0">
                <a:solidFill>
                  <a:srgbClr val="BCC7D5"/>
                </a:solidFill>
                <a:latin typeface="Aptos"/>
                <a:ea typeface="Aptos"/>
                <a:cs typeface="Aptos"/>
              </a:rPr>
              <a:t>fast local training and deterministic grouped split</a:t>
            </a:r>
          </a:p>
        </p:txBody>
      </p:sp>
      <p:sp>
        <p:nvSpPr>
          <p:cNvPr id="28" name="">
            <a:extLst xmlns:a="http://schemas.openxmlformats.org/drawingml/2006/main">
              <a:ext uri="{FF2B5EF4-FFF2-40B4-BE49-F238E27FC236}">
                <a16:creationId xmlns:a16="http://schemas.microsoft.com/office/drawing/2014/main" id="{EC6DDB93-68C9-4E78-8056-2289712A4741}"/>
              </a:ext>
            </a:extLst>
          </p:cNvPr>
          <p:cNvSpPr>
            <a:spLocks xmlns:a="http://schemas.openxmlformats.org/drawingml/2006/main" noGrp="1"/>
          </p:cNvSpPr>
          <p:nvPr/>
        </p:nvSpPr>
        <p:spPr>
          <a:xfrm xmlns:a="http://schemas.openxmlformats.org/drawingml/2006/main">
            <a:off x="6057900" y="2952750"/>
            <a:ext cx="48958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F663AB4E-DAC7-4D08-89A3-09538C78E0D6}"/>
              </a:ext>
            </a:extLst>
          </p:cNvPr>
          <p:cNvSpPr>
            <a:spLocks xmlns:a="http://schemas.openxmlformats.org/drawingml/2006/main" noGrp="1"/>
          </p:cNvSpPr>
          <p:nvPr/>
        </p:nvSpPr>
        <p:spPr>
          <a:xfrm xmlns:a="http://schemas.openxmlformats.org/drawingml/2006/main">
            <a:off x="6286500" y="31813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5F73"/>
                </a:solidFill>
                <a:latin typeface="Aptos"/>
                <a:ea typeface="Aptos"/>
                <a:cs typeface="Aptos"/>
              </a:defRPr>
            </a:pPr>
            <a:r>
              <a:rPr sz="900" b="1">
                <a:solidFill>
                  <a:srgbClr val="655F73"/>
                </a:solidFill>
                <a:latin typeface="Aptos"/>
                <a:ea typeface="Aptos"/>
                <a:cs typeface="Aptos"/>
              </a:rPr>
              <a:t>TOP FEATURES</a:t>
            </a:r>
          </a:p>
        </p:txBody>
      </p:sp>
      <p:sp>
        <p:nvSpPr>
          <p:cNvPr id="30" name="">
            <a:extLst xmlns:a="http://schemas.openxmlformats.org/drawingml/2006/main">
              <a:ext uri="{FF2B5EF4-FFF2-40B4-BE49-F238E27FC236}">
                <a16:creationId xmlns:a16="http://schemas.microsoft.com/office/drawing/2014/main" id="{EE0BA370-15F3-4724-85C1-B3026294C87E}"/>
              </a:ext>
            </a:extLst>
          </p:cNvPr>
          <p:cNvSpPr>
            <a:spLocks xmlns:a="http://schemas.openxmlformats.org/drawingml/2006/main" noGrp="1"/>
          </p:cNvSpPr>
          <p:nvPr/>
        </p:nvSpPr>
        <p:spPr>
          <a:xfrm xmlns:a="http://schemas.openxmlformats.org/drawingml/2006/main">
            <a:off x="6286500" y="35814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identity confidence</a:t>
            </a:r>
          </a:p>
        </p:txBody>
      </p:sp>
      <p:sp>
        <p:nvSpPr>
          <p:cNvPr id="31" name="">
            <a:extLst xmlns:a="http://schemas.openxmlformats.org/drawingml/2006/main">
              <a:ext uri="{FF2B5EF4-FFF2-40B4-BE49-F238E27FC236}">
                <a16:creationId xmlns:a16="http://schemas.microsoft.com/office/drawing/2014/main" id="{A0F48B3E-5D54-44B4-A673-C302EF737C7C}"/>
              </a:ext>
            </a:extLst>
          </p:cNvPr>
          <p:cNvSpPr>
            <a:spLocks xmlns:a="http://schemas.openxmlformats.org/drawingml/2006/main" noGrp="1"/>
          </p:cNvSpPr>
          <p:nvPr/>
        </p:nvSpPr>
        <p:spPr>
          <a:xfrm xmlns:a="http://schemas.openxmlformats.org/drawingml/2006/main">
            <a:off x="8058150" y="361950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BF6B2EB-D808-4012-BC3C-A09DF105D960}"/>
              </a:ext>
            </a:extLst>
          </p:cNvPr>
          <p:cNvSpPr>
            <a:spLocks xmlns:a="http://schemas.openxmlformats.org/drawingml/2006/main" noGrp="1"/>
          </p:cNvSpPr>
          <p:nvPr/>
        </p:nvSpPr>
        <p:spPr>
          <a:xfrm xmlns:a="http://schemas.openxmlformats.org/drawingml/2006/main">
            <a:off x="8058150" y="3619500"/>
            <a:ext cx="1936242" cy="1333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EBD8009-96B4-4D7A-9531-BAE1AFBDBECE}"/>
              </a:ext>
            </a:extLst>
          </p:cNvPr>
          <p:cNvSpPr>
            <a:spLocks xmlns:a="http://schemas.openxmlformats.org/drawingml/2006/main" noGrp="1"/>
          </p:cNvSpPr>
          <p:nvPr/>
        </p:nvSpPr>
        <p:spPr>
          <a:xfrm xmlns:a="http://schemas.openxmlformats.org/drawingml/2006/main">
            <a:off x="10229850" y="35623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365F7D"/>
                </a:solidFill>
                <a:latin typeface="Aptos"/>
                <a:ea typeface="Aptos"/>
                <a:cs typeface="Aptos"/>
              </a:defRPr>
            </a:pPr>
            <a:r>
              <a:rPr sz="825" b="1">
                <a:solidFill>
                  <a:srgbClr val="365F7D"/>
                </a:solidFill>
                <a:latin typeface="Aptos"/>
                <a:ea typeface="Aptos"/>
                <a:cs typeface="Aptos"/>
              </a:rPr>
              <a:t>0.231</a:t>
            </a:r>
          </a:p>
        </p:txBody>
      </p:sp>
      <p:sp>
        <p:nvSpPr>
          <p:cNvPr id="34" name="">
            <a:extLst xmlns:a="http://schemas.openxmlformats.org/drawingml/2006/main">
              <a:ext uri="{FF2B5EF4-FFF2-40B4-BE49-F238E27FC236}">
                <a16:creationId xmlns:a16="http://schemas.microsoft.com/office/drawing/2014/main" id="{0B22E17F-52B6-4E2A-AF62-E57F35DCD8C3}"/>
              </a:ext>
            </a:extLst>
          </p:cNvPr>
          <p:cNvSpPr>
            <a:spLocks xmlns:a="http://schemas.openxmlformats.org/drawingml/2006/main" noGrp="1"/>
          </p:cNvSpPr>
          <p:nvPr/>
        </p:nvSpPr>
        <p:spPr>
          <a:xfrm xmlns:a="http://schemas.openxmlformats.org/drawingml/2006/main">
            <a:off x="6286500" y="3943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boundary flag</a:t>
            </a:r>
          </a:p>
        </p:txBody>
      </p:sp>
      <p:sp>
        <p:nvSpPr>
          <p:cNvPr id="35" name="">
            <a:extLst xmlns:a="http://schemas.openxmlformats.org/drawingml/2006/main">
              <a:ext uri="{FF2B5EF4-FFF2-40B4-BE49-F238E27FC236}">
                <a16:creationId xmlns:a16="http://schemas.microsoft.com/office/drawing/2014/main" id="{B7FE0EAE-55B4-437B-81BC-AEE62A4E167F}"/>
              </a:ext>
            </a:extLst>
          </p:cNvPr>
          <p:cNvSpPr>
            <a:spLocks xmlns:a="http://schemas.openxmlformats.org/drawingml/2006/main" noGrp="1"/>
          </p:cNvSpPr>
          <p:nvPr/>
        </p:nvSpPr>
        <p:spPr>
          <a:xfrm xmlns:a="http://schemas.openxmlformats.org/drawingml/2006/main">
            <a:off x="8058150" y="398145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300CF4F9-0B50-42A8-8599-A08A8017D452}"/>
              </a:ext>
            </a:extLst>
          </p:cNvPr>
          <p:cNvSpPr>
            <a:spLocks xmlns:a="http://schemas.openxmlformats.org/drawingml/2006/main" noGrp="1"/>
          </p:cNvSpPr>
          <p:nvPr/>
        </p:nvSpPr>
        <p:spPr>
          <a:xfrm xmlns:a="http://schemas.openxmlformats.org/drawingml/2006/main">
            <a:off x="8058150" y="3981450"/>
            <a:ext cx="1818894" cy="1333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6A9925F-3D5A-45D4-B8A9-6604601D8D71}"/>
              </a:ext>
            </a:extLst>
          </p:cNvPr>
          <p:cNvSpPr>
            <a:spLocks xmlns:a="http://schemas.openxmlformats.org/drawingml/2006/main" noGrp="1"/>
          </p:cNvSpPr>
          <p:nvPr/>
        </p:nvSpPr>
        <p:spPr>
          <a:xfrm xmlns:a="http://schemas.openxmlformats.org/drawingml/2006/main">
            <a:off x="10229850" y="39243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A65C55"/>
                </a:solidFill>
                <a:latin typeface="Aptos"/>
                <a:ea typeface="Aptos"/>
                <a:cs typeface="Aptos"/>
              </a:defRPr>
            </a:pPr>
            <a:r>
              <a:rPr sz="825" b="1">
                <a:solidFill>
                  <a:srgbClr val="A65C55"/>
                </a:solidFill>
                <a:latin typeface="Aptos"/>
                <a:ea typeface="Aptos"/>
                <a:cs typeface="Aptos"/>
              </a:rPr>
              <a:t>0.217</a:t>
            </a:r>
          </a:p>
        </p:txBody>
      </p:sp>
      <p:sp>
        <p:nvSpPr>
          <p:cNvPr id="38" name="">
            <a:extLst xmlns:a="http://schemas.openxmlformats.org/drawingml/2006/main">
              <a:ext uri="{FF2B5EF4-FFF2-40B4-BE49-F238E27FC236}">
                <a16:creationId xmlns:a16="http://schemas.microsoft.com/office/drawing/2014/main" id="{70A13023-9C0F-4EA7-B5EC-D7EB9A083781}"/>
              </a:ext>
            </a:extLst>
          </p:cNvPr>
          <p:cNvSpPr>
            <a:spLocks xmlns:a="http://schemas.openxmlformats.org/drawingml/2006/main" noGrp="1"/>
          </p:cNvSpPr>
          <p:nvPr/>
        </p:nvSpPr>
        <p:spPr>
          <a:xfrm xmlns:a="http://schemas.openxmlformats.org/drawingml/2006/main">
            <a:off x="6286500" y="4305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best score</a:t>
            </a:r>
          </a:p>
        </p:txBody>
      </p:sp>
      <p:sp>
        <p:nvSpPr>
          <p:cNvPr id="39" name="">
            <a:extLst xmlns:a="http://schemas.openxmlformats.org/drawingml/2006/main">
              <a:ext uri="{FF2B5EF4-FFF2-40B4-BE49-F238E27FC236}">
                <a16:creationId xmlns:a16="http://schemas.microsoft.com/office/drawing/2014/main" id="{02964FC2-E7EF-48D2-B866-EEABC9493188}"/>
              </a:ext>
            </a:extLst>
          </p:cNvPr>
          <p:cNvSpPr>
            <a:spLocks xmlns:a="http://schemas.openxmlformats.org/drawingml/2006/main" noGrp="1"/>
          </p:cNvSpPr>
          <p:nvPr/>
        </p:nvSpPr>
        <p:spPr>
          <a:xfrm xmlns:a="http://schemas.openxmlformats.org/drawingml/2006/main">
            <a:off x="8058150" y="434340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DA1B76A-7909-4595-B1EB-101162FD1195}"/>
              </a:ext>
            </a:extLst>
          </p:cNvPr>
          <p:cNvSpPr>
            <a:spLocks xmlns:a="http://schemas.openxmlformats.org/drawingml/2006/main" noGrp="1"/>
          </p:cNvSpPr>
          <p:nvPr/>
        </p:nvSpPr>
        <p:spPr>
          <a:xfrm xmlns:a="http://schemas.openxmlformats.org/drawingml/2006/main">
            <a:off x="8058150" y="4343400"/>
            <a:ext cx="1726692" cy="1333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52A6086-4D11-4937-A372-8974AA4F0A03}"/>
              </a:ext>
            </a:extLst>
          </p:cNvPr>
          <p:cNvSpPr>
            <a:spLocks xmlns:a="http://schemas.openxmlformats.org/drawingml/2006/main" noGrp="1"/>
          </p:cNvSpPr>
          <p:nvPr/>
        </p:nvSpPr>
        <p:spPr>
          <a:xfrm xmlns:a="http://schemas.openxmlformats.org/drawingml/2006/main">
            <a:off x="10229850" y="42862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4F7D76"/>
                </a:solidFill>
                <a:latin typeface="Aptos"/>
                <a:ea typeface="Aptos"/>
                <a:cs typeface="Aptos"/>
              </a:defRPr>
            </a:pPr>
            <a:r>
              <a:rPr sz="825" b="1">
                <a:solidFill>
                  <a:srgbClr val="4F7D76"/>
                </a:solidFill>
                <a:latin typeface="Aptos"/>
                <a:ea typeface="Aptos"/>
                <a:cs typeface="Aptos"/>
              </a:rPr>
              <a:t>0.206</a:t>
            </a:r>
          </a:p>
        </p:txBody>
      </p:sp>
      <p:sp>
        <p:nvSpPr>
          <p:cNvPr id="42" name="">
            <a:extLst xmlns:a="http://schemas.openxmlformats.org/drawingml/2006/main">
              <a:ext uri="{FF2B5EF4-FFF2-40B4-BE49-F238E27FC236}">
                <a16:creationId xmlns:a16="http://schemas.microsoft.com/office/drawing/2014/main" id="{1417E24F-6385-42FD-9131-69FF11DCD643}"/>
              </a:ext>
            </a:extLst>
          </p:cNvPr>
          <p:cNvSpPr>
            <a:spLocks xmlns:a="http://schemas.openxmlformats.org/drawingml/2006/main" noGrp="1"/>
          </p:cNvSpPr>
          <p:nvPr/>
        </p:nvSpPr>
        <p:spPr>
          <a:xfrm xmlns:a="http://schemas.openxmlformats.org/drawingml/2006/main">
            <a:off x="6286500" y="4667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source rank</a:t>
            </a:r>
          </a:p>
        </p:txBody>
      </p:sp>
      <p:sp>
        <p:nvSpPr>
          <p:cNvPr id="43" name="">
            <a:extLst xmlns:a="http://schemas.openxmlformats.org/drawingml/2006/main">
              <a:ext uri="{FF2B5EF4-FFF2-40B4-BE49-F238E27FC236}">
                <a16:creationId xmlns:a16="http://schemas.microsoft.com/office/drawing/2014/main" id="{35D3DA05-62DB-4013-99A4-85279C61BB1F}"/>
              </a:ext>
            </a:extLst>
          </p:cNvPr>
          <p:cNvSpPr>
            <a:spLocks xmlns:a="http://schemas.openxmlformats.org/drawingml/2006/main" noGrp="1"/>
          </p:cNvSpPr>
          <p:nvPr/>
        </p:nvSpPr>
        <p:spPr>
          <a:xfrm xmlns:a="http://schemas.openxmlformats.org/drawingml/2006/main">
            <a:off x="8058150" y="470535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276B4EBC-92BA-4312-A25E-FA1C3DDA0ABB}"/>
              </a:ext>
            </a:extLst>
          </p:cNvPr>
          <p:cNvSpPr>
            <a:spLocks xmlns:a="http://schemas.openxmlformats.org/drawingml/2006/main" noGrp="1"/>
          </p:cNvSpPr>
          <p:nvPr/>
        </p:nvSpPr>
        <p:spPr>
          <a:xfrm xmlns:a="http://schemas.openxmlformats.org/drawingml/2006/main">
            <a:off x="8058150" y="4705350"/>
            <a:ext cx="720852" cy="1333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F3D785C7-45BC-418D-A686-FD868D3AABC6}"/>
              </a:ext>
            </a:extLst>
          </p:cNvPr>
          <p:cNvSpPr>
            <a:spLocks xmlns:a="http://schemas.openxmlformats.org/drawingml/2006/main" noGrp="1"/>
          </p:cNvSpPr>
          <p:nvPr/>
        </p:nvSpPr>
        <p:spPr>
          <a:xfrm xmlns:a="http://schemas.openxmlformats.org/drawingml/2006/main">
            <a:off x="10229850" y="46482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8D754D"/>
                </a:solidFill>
                <a:latin typeface="Aptos"/>
                <a:ea typeface="Aptos"/>
                <a:cs typeface="Aptos"/>
              </a:defRPr>
            </a:pPr>
            <a:r>
              <a:rPr sz="825" b="1">
                <a:solidFill>
                  <a:srgbClr val="8D754D"/>
                </a:solidFill>
                <a:latin typeface="Aptos"/>
                <a:ea typeface="Aptos"/>
                <a:cs typeface="Aptos"/>
              </a:rPr>
              <a:t>0.086</a:t>
            </a:r>
          </a:p>
        </p:txBody>
      </p:sp>
      <p:sp>
        <p:nvSpPr>
          <p:cNvPr id="46" name="">
            <a:extLst xmlns:a="http://schemas.openxmlformats.org/drawingml/2006/main">
              <a:ext uri="{FF2B5EF4-FFF2-40B4-BE49-F238E27FC236}">
                <a16:creationId xmlns:a16="http://schemas.microsoft.com/office/drawing/2014/main" id="{984BED98-767E-4093-BEC4-81C6F45C5B1C}"/>
              </a:ext>
            </a:extLst>
          </p:cNvPr>
          <p:cNvSpPr>
            <a:spLocks xmlns:a="http://schemas.openxmlformats.org/drawingml/2006/main" noGrp="1"/>
          </p:cNvSpPr>
          <p:nvPr/>
        </p:nvSpPr>
        <p:spPr>
          <a:xfrm xmlns:a="http://schemas.openxmlformats.org/drawingml/2006/main">
            <a:off x="6286500" y="50292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dependency score</a:t>
            </a:r>
          </a:p>
        </p:txBody>
      </p:sp>
      <p:sp>
        <p:nvSpPr>
          <p:cNvPr id="47" name="">
            <a:extLst xmlns:a="http://schemas.openxmlformats.org/drawingml/2006/main">
              <a:ext uri="{FF2B5EF4-FFF2-40B4-BE49-F238E27FC236}">
                <a16:creationId xmlns:a16="http://schemas.microsoft.com/office/drawing/2014/main" id="{F6AB42F9-DEC0-40E5-BB04-94408C3405FB}"/>
              </a:ext>
            </a:extLst>
          </p:cNvPr>
          <p:cNvSpPr>
            <a:spLocks xmlns:a="http://schemas.openxmlformats.org/drawingml/2006/main" noGrp="1"/>
          </p:cNvSpPr>
          <p:nvPr/>
        </p:nvSpPr>
        <p:spPr>
          <a:xfrm xmlns:a="http://schemas.openxmlformats.org/drawingml/2006/main">
            <a:off x="8058150" y="506730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FBA9E191-966C-4C6D-A44A-E9F5C9C263F0}"/>
              </a:ext>
            </a:extLst>
          </p:cNvPr>
          <p:cNvSpPr>
            <a:spLocks xmlns:a="http://schemas.openxmlformats.org/drawingml/2006/main" noGrp="1"/>
          </p:cNvSpPr>
          <p:nvPr/>
        </p:nvSpPr>
        <p:spPr>
          <a:xfrm xmlns:a="http://schemas.openxmlformats.org/drawingml/2006/main">
            <a:off x="8058150" y="5067300"/>
            <a:ext cx="569976" cy="1333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B52BF3A8-B35B-4E18-A268-51026FAB6094}"/>
              </a:ext>
            </a:extLst>
          </p:cNvPr>
          <p:cNvSpPr>
            <a:spLocks xmlns:a="http://schemas.openxmlformats.org/drawingml/2006/main" noGrp="1"/>
          </p:cNvSpPr>
          <p:nvPr/>
        </p:nvSpPr>
        <p:spPr>
          <a:xfrm xmlns:a="http://schemas.openxmlformats.org/drawingml/2006/main">
            <a:off x="10229850" y="50101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55F73"/>
                </a:solidFill>
                <a:latin typeface="Aptos"/>
                <a:ea typeface="Aptos"/>
                <a:cs typeface="Aptos"/>
              </a:defRPr>
            </a:pPr>
            <a:r>
              <a:rPr sz="825" b="1">
                <a:solidFill>
                  <a:srgbClr val="655F73"/>
                </a:solidFill>
                <a:latin typeface="Aptos"/>
                <a:ea typeface="Aptos"/>
                <a:cs typeface="Aptos"/>
              </a:rPr>
              <a:t>0.068</a:t>
            </a:r>
          </a:p>
        </p:txBody>
      </p:sp>
      <p:sp>
        <p:nvSpPr>
          <p:cNvPr id="50" name="">
            <a:extLst xmlns:a="http://schemas.openxmlformats.org/drawingml/2006/main">
              <a:ext uri="{FF2B5EF4-FFF2-40B4-BE49-F238E27FC236}">
                <a16:creationId xmlns:a16="http://schemas.microsoft.com/office/drawing/2014/main" id="{A8A89961-1EF0-48C4-B67B-CEECA20D9729}"/>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9FED4E81-C519-437D-9947-BF8C8A3D8372}"/>
              </a:ext>
            </a:extLst>
          </p:cNvPr>
          <p:cNvSpPr>
            <a:spLocks xmlns:a="http://schemas.openxmlformats.org/drawingml/2006/main" noGrp="1"/>
          </p:cNvSpPr>
          <p:nvPr/>
        </p:nvSpPr>
        <p:spPr>
          <a:xfrm xmlns:a="http://schemas.openxmlformats.org/drawingml/2006/main">
            <a:off x="819150" y="58959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Implementation: src/apk_sbom/ai_r8_assistant.py  |  Metrics: data/results/experiments/ai-r8-assistant/metrics.json</a:t>
            </a:r>
          </a:p>
        </p:txBody>
      </p:sp>
      <p:sp>
        <p:nvSpPr>
          <p:cNvPr id="52" name="">
            <a:extLst xmlns:a="http://schemas.openxmlformats.org/drawingml/2006/main">
              <a:ext uri="{FF2B5EF4-FFF2-40B4-BE49-F238E27FC236}">
                <a16:creationId xmlns:a16="http://schemas.microsoft.com/office/drawing/2014/main" id="{796F729B-C77F-4B70-A1DD-F087C6C203D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512985920"/>
      </p:ext>
    </p:extLst>
  </p:cSld>
</p:sld>
</file>

<file path=ppt/slides/slide27.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BEED1D1-B4CA-4D8C-A296-2BED6F2EF6B9}"/>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5F73"/>
                </a:solidFill>
                <a:latin typeface="Aptos"/>
                <a:ea typeface="Aptos"/>
                <a:cs typeface="Aptos"/>
              </a:defRPr>
            </a:pPr>
            <a:r>
              <a:rPr sz="900" b="1">
                <a:solidFill>
                  <a:srgbClr val="655F73"/>
                </a:solidFill>
                <a:latin typeface="Aptos"/>
                <a:ea typeface="Aptos"/>
                <a:cs typeface="Aptos"/>
              </a:rPr>
              <a:t>DEEP LEARNING</a:t>
            </a:r>
          </a:p>
        </p:txBody>
      </p:sp>
      <p:sp>
        <p:nvSpPr>
          <p:cNvPr id="2" name="">
            <a:extLst xmlns:a="http://schemas.openxmlformats.org/drawingml/2006/main">
              <a:ext uri="{FF2B5EF4-FFF2-40B4-BE49-F238E27FC236}">
                <a16:creationId xmlns:a16="http://schemas.microsoft.com/office/drawing/2014/main" id="{29721F82-F5BF-4974-A13C-BEF6C10B7B5A}"/>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DL lane separates a strong structured-token result from a weak raw-opcode result</a:t>
            </a:r>
          </a:p>
        </p:txBody>
      </p:sp>
      <p:sp>
        <p:nvSpPr>
          <p:cNvPr id="3" name="">
            <a:extLst xmlns:a="http://schemas.openxmlformats.org/drawingml/2006/main">
              <a:ext uri="{FF2B5EF4-FFF2-40B4-BE49-F238E27FC236}">
                <a16:creationId xmlns:a16="http://schemas.microsoft.com/office/drawing/2014/main" id="{ABFB2D8B-D64A-4D70-83EF-BAB194F54B2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27</a:t>
            </a:r>
          </a:p>
        </p:txBody>
      </p:sp>
      <p:sp>
        <p:nvSpPr>
          <p:cNvPr id="4" name="">
            <a:extLst xmlns:a="http://schemas.openxmlformats.org/drawingml/2006/main">
              <a:ext uri="{FF2B5EF4-FFF2-40B4-BE49-F238E27FC236}">
                <a16:creationId xmlns:a16="http://schemas.microsoft.com/office/drawing/2014/main" id="{8E17F8AB-08C6-4045-8FB0-CBA143D99963}"/>
              </a:ext>
            </a:extLst>
          </p:cNvPr>
          <p:cNvSpPr>
            <a:spLocks xmlns:a="http://schemas.openxmlformats.org/drawingml/2006/main" noGrp="1"/>
          </p:cNvSpPr>
          <p:nvPr/>
        </p:nvSpPr>
        <p:spPr>
          <a:xfrm xmlns:a="http://schemas.openxmlformats.org/drawingml/2006/main">
            <a:off x="685800" y="1466850"/>
            <a:ext cx="5143500" cy="39624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5" name="">
            <a:extLst xmlns:a="http://schemas.openxmlformats.org/drawingml/2006/main">
              <a:ext uri="{FF2B5EF4-FFF2-40B4-BE49-F238E27FC236}">
                <a16:creationId xmlns:a16="http://schemas.microsoft.com/office/drawing/2014/main" id="{5609AEDB-B6C3-49A0-ACA2-A14FB087EE40}"/>
              </a:ext>
            </a:extLst>
          </p:cNvPr>
          <p:cNvSpPr>
            <a:spLocks xmlns:a="http://schemas.openxmlformats.org/drawingml/2006/main" noGrp="1"/>
          </p:cNvSpPr>
          <p:nvPr/>
        </p:nvSpPr>
        <p:spPr>
          <a:xfrm xmlns:a="http://schemas.openxmlformats.org/drawingml/2006/main">
            <a:off x="914400" y="17145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5F73"/>
                </a:solidFill>
                <a:latin typeface="Aptos"/>
                <a:ea typeface="Aptos"/>
                <a:cs typeface="Aptos"/>
              </a:defRPr>
            </a:pPr>
            <a:r>
              <a:rPr sz="900" b="1">
                <a:solidFill>
                  <a:srgbClr val="655F73"/>
                </a:solidFill>
                <a:latin typeface="Aptos"/>
                <a:ea typeface="Aptos"/>
                <a:cs typeface="Aptos"/>
              </a:rPr>
              <a:t>MVP-SAFE STRUCTURED TOKENS</a:t>
            </a:r>
          </a:p>
        </p:txBody>
      </p:sp>
      <p:sp>
        <p:nvSpPr>
          <p:cNvPr id="6" name="">
            <a:extLst xmlns:a="http://schemas.openxmlformats.org/drawingml/2006/main">
              <a:ext uri="{FF2B5EF4-FFF2-40B4-BE49-F238E27FC236}">
                <a16:creationId xmlns:a16="http://schemas.microsoft.com/office/drawing/2014/main" id="{892A2B22-76E9-4384-842A-687893E5F786}"/>
              </a:ext>
            </a:extLst>
          </p:cNvPr>
          <p:cNvSpPr>
            <a:spLocks xmlns:a="http://schemas.openxmlformats.org/drawingml/2006/main" noGrp="1"/>
          </p:cNvSpPr>
          <p:nvPr/>
        </p:nvSpPr>
        <p:spPr>
          <a:xfrm xmlns:a="http://schemas.openxmlformats.org/drawingml/2006/main">
            <a:off x="914400" y="21145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a:solidFill>
                  <a:srgbClr val="655F73"/>
                </a:solidFill>
                <a:latin typeface="Aptos Display"/>
                <a:ea typeface="Aptos Display"/>
                <a:cs typeface="Aptos Display"/>
              </a:defRPr>
            </a:pPr>
            <a:r>
              <a:rPr sz="3450" b="1">
                <a:solidFill>
                  <a:srgbClr val="655F73"/>
                </a:solidFill>
                <a:latin typeface="Aptos Display"/>
                <a:ea typeface="Aptos Display"/>
                <a:cs typeface="Aptos Display"/>
              </a:rPr>
              <a:t>0.882</a:t>
            </a:r>
          </a:p>
        </p:txBody>
      </p:sp>
      <p:sp>
        <p:nvSpPr>
          <p:cNvPr id="7" name="">
            <a:extLst xmlns:a="http://schemas.openxmlformats.org/drawingml/2006/main">
              <a:ext uri="{FF2B5EF4-FFF2-40B4-BE49-F238E27FC236}">
                <a16:creationId xmlns:a16="http://schemas.microsoft.com/office/drawing/2014/main" id="{5201E06A-EEE0-46B5-8456-160E79EFD568}"/>
              </a:ext>
            </a:extLst>
          </p:cNvPr>
          <p:cNvSpPr>
            <a:spLocks xmlns:a="http://schemas.openxmlformats.org/drawingml/2006/main" noGrp="1"/>
          </p:cNvSpPr>
          <p:nvPr/>
        </p:nvSpPr>
        <p:spPr>
          <a:xfrm xmlns:a="http://schemas.openxmlformats.org/drawingml/2006/main">
            <a:off x="914400" y="27241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202A33"/>
                </a:solidFill>
                <a:latin typeface="Aptos"/>
                <a:ea typeface="Aptos"/>
                <a:cs typeface="Aptos"/>
              </a:defRPr>
            </a:pPr>
            <a:r>
              <a:rPr sz="1200" b="1">
                <a:solidFill>
                  <a:srgbClr val="202A33"/>
                </a:solidFill>
                <a:latin typeface="Aptos"/>
                <a:ea typeface="Aptos"/>
                <a:cs typeface="Aptos"/>
              </a:rPr>
              <a:t>test macro-F1  |  0.907 accuracy</a:t>
            </a:r>
          </a:p>
        </p:txBody>
      </p:sp>
      <p:sp>
        <p:nvSpPr>
          <p:cNvPr id="8" name="">
            <a:extLst xmlns:a="http://schemas.openxmlformats.org/drawingml/2006/main">
              <a:ext uri="{FF2B5EF4-FFF2-40B4-BE49-F238E27FC236}">
                <a16:creationId xmlns:a16="http://schemas.microsoft.com/office/drawing/2014/main" id="{8ED91713-0720-408B-BF1F-063B64A0E285}"/>
              </a:ext>
            </a:extLst>
          </p:cNvPr>
          <p:cNvSpPr>
            <a:spLocks xmlns:a="http://schemas.openxmlformats.org/drawingml/2006/main" noGrp="1"/>
          </p:cNvSpPr>
          <p:nvPr/>
        </p:nvSpPr>
        <p:spPr>
          <a:xfrm xmlns:a="http://schemas.openxmlformats.org/drawingml/2006/main">
            <a:off x="952500" y="32766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64EADBB-7336-4C46-A894-45466CFC4CC3}"/>
              </a:ext>
            </a:extLst>
          </p:cNvPr>
          <p:cNvSpPr>
            <a:spLocks xmlns:a="http://schemas.openxmlformats.org/drawingml/2006/main" noGrp="1"/>
          </p:cNvSpPr>
          <p:nvPr/>
        </p:nvSpPr>
        <p:spPr>
          <a:xfrm xmlns:a="http://schemas.openxmlformats.org/drawingml/2006/main">
            <a:off x="1200150" y="32004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5717A"/>
                </a:solidFill>
                <a:latin typeface="Aptos"/>
                <a:ea typeface="Aptos"/>
                <a:cs typeface="Aptos"/>
              </a:defRPr>
            </a:pPr>
            <a:r>
              <a:rPr sz="900" b="0">
                <a:solidFill>
                  <a:srgbClr val="65717A"/>
                </a:solidFill>
                <a:latin typeface="Aptos"/>
                <a:ea typeface="Aptos"/>
                <a:cs typeface="Aptos"/>
              </a:rPr>
              <a:t>20,523 rows; 1,704-token vocabulary</a:t>
            </a:r>
          </a:p>
        </p:txBody>
      </p:sp>
      <p:sp>
        <p:nvSpPr>
          <p:cNvPr id="10" name="">
            <a:extLst xmlns:a="http://schemas.openxmlformats.org/drawingml/2006/main">
              <a:ext uri="{FF2B5EF4-FFF2-40B4-BE49-F238E27FC236}">
                <a16:creationId xmlns:a16="http://schemas.microsoft.com/office/drawing/2014/main" id="{3A9DEE8F-13D0-4A17-8BDA-DFA49D3BAE39}"/>
              </a:ext>
            </a:extLst>
          </p:cNvPr>
          <p:cNvSpPr>
            <a:spLocks xmlns:a="http://schemas.openxmlformats.org/drawingml/2006/main" noGrp="1"/>
          </p:cNvSpPr>
          <p:nvPr/>
        </p:nvSpPr>
        <p:spPr>
          <a:xfrm xmlns:a="http://schemas.openxmlformats.org/drawingml/2006/main">
            <a:off x="952500" y="37338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6FED4A8-7311-4A6D-BCD8-541B17D4E0E6}"/>
              </a:ext>
            </a:extLst>
          </p:cNvPr>
          <p:cNvSpPr>
            <a:spLocks xmlns:a="http://schemas.openxmlformats.org/drawingml/2006/main" noGrp="1"/>
          </p:cNvSpPr>
          <p:nvPr/>
        </p:nvSpPr>
        <p:spPr>
          <a:xfrm xmlns:a="http://schemas.openxmlformats.org/drawingml/2006/main">
            <a:off x="1200150" y="36576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5717A"/>
                </a:solidFill>
                <a:latin typeface="Aptos"/>
                <a:ea typeface="Aptos"/>
                <a:cs typeface="Aptos"/>
              </a:defRPr>
            </a:pPr>
            <a:r>
              <a:rPr sz="900" b="0">
                <a:solidFill>
                  <a:srgbClr val="65717A"/>
                </a:solidFill>
                <a:latin typeface="Aptos"/>
                <a:ea typeface="Aptos"/>
                <a:cs typeface="Aptos"/>
              </a:rPr>
              <a:t>1-layer TransformerEncoder, d_model 64, 4 heads</a:t>
            </a:r>
          </a:p>
        </p:txBody>
      </p:sp>
      <p:sp>
        <p:nvSpPr>
          <p:cNvPr id="12" name="">
            <a:extLst xmlns:a="http://schemas.openxmlformats.org/drawingml/2006/main">
              <a:ext uri="{FF2B5EF4-FFF2-40B4-BE49-F238E27FC236}">
                <a16:creationId xmlns:a16="http://schemas.microsoft.com/office/drawing/2014/main" id="{18CA0AE6-534E-407B-869E-E4131A7A0D28}"/>
              </a:ext>
            </a:extLst>
          </p:cNvPr>
          <p:cNvSpPr>
            <a:spLocks xmlns:a="http://schemas.openxmlformats.org/drawingml/2006/main" noGrp="1"/>
          </p:cNvSpPr>
          <p:nvPr/>
        </p:nvSpPr>
        <p:spPr>
          <a:xfrm xmlns:a="http://schemas.openxmlformats.org/drawingml/2006/main">
            <a:off x="952500" y="41910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2CA2E65-38F0-4CFA-B420-17E2C1949E7E}"/>
              </a:ext>
            </a:extLst>
          </p:cNvPr>
          <p:cNvSpPr>
            <a:spLocks xmlns:a="http://schemas.openxmlformats.org/drawingml/2006/main" noGrp="1"/>
          </p:cNvSpPr>
          <p:nvPr/>
        </p:nvSpPr>
        <p:spPr>
          <a:xfrm xmlns:a="http://schemas.openxmlformats.org/drawingml/2006/main">
            <a:off x="1200150" y="41148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5717A"/>
                </a:solidFill>
                <a:latin typeface="Aptos"/>
                <a:ea typeface="Aptos"/>
                <a:cs typeface="Aptos"/>
              </a:defRPr>
            </a:pPr>
            <a:r>
              <a:rPr sz="900" b="0">
                <a:solidFill>
                  <a:srgbClr val="65717A"/>
                </a:solidFill>
                <a:latin typeface="Aptos"/>
                <a:ea typeface="Aptos"/>
                <a:cs typeface="Aptos"/>
              </a:rPr>
              <a:t>removes source version, raw coordinate, source rank, and diagnostic shortcuts</a:t>
            </a:r>
          </a:p>
        </p:txBody>
      </p:sp>
      <p:sp>
        <p:nvSpPr>
          <p:cNvPr id="14" name="">
            <a:extLst xmlns:a="http://schemas.openxmlformats.org/drawingml/2006/main">
              <a:ext uri="{FF2B5EF4-FFF2-40B4-BE49-F238E27FC236}">
                <a16:creationId xmlns:a16="http://schemas.microsoft.com/office/drawing/2014/main" id="{FEADFAEA-8775-4FA0-ABC3-75DDA2F2F522}"/>
              </a:ext>
            </a:extLst>
          </p:cNvPr>
          <p:cNvSpPr>
            <a:spLocks xmlns:a="http://schemas.openxmlformats.org/drawingml/2006/main" noGrp="1"/>
          </p:cNvSpPr>
          <p:nvPr/>
        </p:nvSpPr>
        <p:spPr>
          <a:xfrm xmlns:a="http://schemas.openxmlformats.org/drawingml/2006/main">
            <a:off x="952500" y="46482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8CC91E8-943A-4096-AEA2-FFB20D7D81C0}"/>
              </a:ext>
            </a:extLst>
          </p:cNvPr>
          <p:cNvSpPr>
            <a:spLocks xmlns:a="http://schemas.openxmlformats.org/drawingml/2006/main" noGrp="1"/>
          </p:cNvSpPr>
          <p:nvPr/>
        </p:nvSpPr>
        <p:spPr>
          <a:xfrm xmlns:a="http://schemas.openxmlformats.org/drawingml/2006/main">
            <a:off x="1200150" y="45720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5717A"/>
                </a:solidFill>
                <a:latin typeface="Aptos"/>
                <a:ea typeface="Aptos"/>
                <a:cs typeface="Aptos"/>
              </a:defRPr>
            </a:pPr>
            <a:r>
              <a:rPr sz="900" b="0">
                <a:solidFill>
                  <a:srgbClr val="65717A"/>
                </a:solidFill>
                <a:latin typeface="Aptos"/>
                <a:ea typeface="Aptos"/>
                <a:cs typeface="Aptos"/>
              </a:rPr>
              <a:t>candidate for report-only risk triage</a:t>
            </a:r>
          </a:p>
        </p:txBody>
      </p:sp>
      <p:sp>
        <p:nvSpPr>
          <p:cNvPr id="16" name="">
            <a:extLst xmlns:a="http://schemas.openxmlformats.org/drawingml/2006/main">
              <a:ext uri="{FF2B5EF4-FFF2-40B4-BE49-F238E27FC236}">
                <a16:creationId xmlns:a16="http://schemas.microsoft.com/office/drawing/2014/main" id="{2B5F9E48-8BFC-4F10-B89A-968AA81AEF67}"/>
              </a:ext>
            </a:extLst>
          </p:cNvPr>
          <p:cNvSpPr>
            <a:spLocks xmlns:a="http://schemas.openxmlformats.org/drawingml/2006/main" noGrp="1"/>
          </p:cNvSpPr>
          <p:nvPr/>
        </p:nvSpPr>
        <p:spPr>
          <a:xfrm xmlns:a="http://schemas.openxmlformats.org/drawingml/2006/main">
            <a:off x="6115050" y="1466850"/>
            <a:ext cx="5391150" cy="39624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17" name="">
            <a:extLst xmlns:a="http://schemas.openxmlformats.org/drawingml/2006/main">
              <a:ext uri="{FF2B5EF4-FFF2-40B4-BE49-F238E27FC236}">
                <a16:creationId xmlns:a16="http://schemas.microsoft.com/office/drawing/2014/main" id="{88F062CB-3A40-4DE6-9622-8C138B091242}"/>
              </a:ext>
            </a:extLst>
          </p:cNvPr>
          <p:cNvSpPr>
            <a:spLocks xmlns:a="http://schemas.openxmlformats.org/drawingml/2006/main" noGrp="1"/>
          </p:cNvSpPr>
          <p:nvPr/>
        </p:nvSpPr>
        <p:spPr>
          <a:xfrm xmlns:a="http://schemas.openxmlformats.org/drawingml/2006/main">
            <a:off x="6362700" y="17145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A65C55"/>
                </a:solidFill>
                <a:latin typeface="Aptos"/>
                <a:ea typeface="Aptos"/>
                <a:cs typeface="Aptos"/>
              </a:defRPr>
            </a:pPr>
            <a:r>
              <a:rPr sz="900" b="1">
                <a:solidFill>
                  <a:srgbClr val="A65C55"/>
                </a:solidFill>
                <a:latin typeface="Aptos"/>
                <a:ea typeface="Aptos"/>
                <a:cs typeface="Aptos"/>
              </a:rPr>
              <a:t>RAW DEX OPCODE TOKENS</a:t>
            </a:r>
          </a:p>
        </p:txBody>
      </p:sp>
      <p:sp>
        <p:nvSpPr>
          <p:cNvPr id="18" name="">
            <a:extLst xmlns:a="http://schemas.openxmlformats.org/drawingml/2006/main">
              <a:ext uri="{FF2B5EF4-FFF2-40B4-BE49-F238E27FC236}">
                <a16:creationId xmlns:a16="http://schemas.microsoft.com/office/drawing/2014/main" id="{5A854D29-7847-482C-AC53-0445E054723E}"/>
              </a:ext>
            </a:extLst>
          </p:cNvPr>
          <p:cNvSpPr>
            <a:spLocks xmlns:a="http://schemas.openxmlformats.org/drawingml/2006/main" noGrp="1"/>
          </p:cNvSpPr>
          <p:nvPr/>
        </p:nvSpPr>
        <p:spPr>
          <a:xfrm xmlns:a="http://schemas.openxmlformats.org/drawingml/2006/main">
            <a:off x="6362700" y="21145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a:solidFill>
                  <a:srgbClr val="A65C55"/>
                </a:solidFill>
                <a:latin typeface="Aptos Display"/>
                <a:ea typeface="Aptos Display"/>
                <a:cs typeface="Aptos Display"/>
              </a:defRPr>
            </a:pPr>
            <a:r>
              <a:rPr sz="3450" b="1">
                <a:solidFill>
                  <a:srgbClr val="A65C55"/>
                </a:solidFill>
                <a:latin typeface="Aptos Display"/>
                <a:ea typeface="Aptos Display"/>
                <a:cs typeface="Aptos Display"/>
              </a:rPr>
              <a:t>0.110</a:t>
            </a:r>
          </a:p>
        </p:txBody>
      </p:sp>
      <p:sp>
        <p:nvSpPr>
          <p:cNvPr id="19" name="">
            <a:extLst xmlns:a="http://schemas.openxmlformats.org/drawingml/2006/main">
              <a:ext uri="{FF2B5EF4-FFF2-40B4-BE49-F238E27FC236}">
                <a16:creationId xmlns:a16="http://schemas.microsoft.com/office/drawing/2014/main" id="{DE5BA383-FA62-48D5-918D-66F57220766B}"/>
              </a:ext>
            </a:extLst>
          </p:cNvPr>
          <p:cNvSpPr>
            <a:spLocks xmlns:a="http://schemas.openxmlformats.org/drawingml/2006/main" noGrp="1"/>
          </p:cNvSpPr>
          <p:nvPr/>
        </p:nvSpPr>
        <p:spPr>
          <a:xfrm xmlns:a="http://schemas.openxmlformats.org/drawingml/2006/main">
            <a:off x="6362700" y="27241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FFFFF"/>
                </a:solidFill>
                <a:latin typeface="Aptos"/>
                <a:ea typeface="Aptos"/>
                <a:cs typeface="Aptos"/>
              </a:defRPr>
            </a:pPr>
            <a:r>
              <a:rPr sz="1200" b="1">
                <a:solidFill>
                  <a:srgbClr val="FFFFFF"/>
                </a:solidFill>
                <a:latin typeface="Aptos"/>
                <a:ea typeface="Aptos"/>
                <a:cs typeface="Aptos"/>
              </a:rPr>
              <a:t>below 0.128 opcode-count baseline</a:t>
            </a:r>
          </a:p>
        </p:txBody>
      </p:sp>
      <p:sp>
        <p:nvSpPr>
          <p:cNvPr id="20" name="">
            <a:extLst xmlns:a="http://schemas.openxmlformats.org/drawingml/2006/main">
              <a:ext uri="{FF2B5EF4-FFF2-40B4-BE49-F238E27FC236}">
                <a16:creationId xmlns:a16="http://schemas.microsoft.com/office/drawing/2014/main" id="{668E1056-A6CC-4622-AB1A-C0750FEC5EBA}"/>
              </a:ext>
            </a:extLst>
          </p:cNvPr>
          <p:cNvSpPr>
            <a:spLocks xmlns:a="http://schemas.openxmlformats.org/drawingml/2006/main" noGrp="1"/>
          </p:cNvSpPr>
          <p:nvPr/>
        </p:nvSpPr>
        <p:spPr>
          <a:xfrm xmlns:a="http://schemas.openxmlformats.org/drawingml/2006/main">
            <a:off x="6400800" y="327660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A20BA3B-6F60-45A1-83AA-13600EFF2FA4}"/>
              </a:ext>
            </a:extLst>
          </p:cNvPr>
          <p:cNvSpPr>
            <a:spLocks xmlns:a="http://schemas.openxmlformats.org/drawingml/2006/main" noGrp="1"/>
          </p:cNvSpPr>
          <p:nvPr/>
        </p:nvSpPr>
        <p:spPr>
          <a:xfrm xmlns:a="http://schemas.openxmlformats.org/drawingml/2006/main">
            <a:off x="6648450" y="32004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DC8D6"/>
                </a:solidFill>
                <a:latin typeface="Aptos"/>
                <a:ea typeface="Aptos"/>
                <a:cs typeface="Aptos"/>
              </a:defRPr>
            </a:pPr>
            <a:r>
              <a:rPr sz="900" b="0">
                <a:solidFill>
                  <a:srgbClr val="BDC8D6"/>
                </a:solidFill>
                <a:latin typeface="Aptos"/>
                <a:ea typeface="Aptos"/>
                <a:cs typeface="Aptos"/>
              </a:rPr>
              <a:t>1,680 method sequences from 14 APKs</a:t>
            </a:r>
          </a:p>
        </p:txBody>
      </p:sp>
      <p:sp>
        <p:nvSpPr>
          <p:cNvPr id="22" name="">
            <a:extLst xmlns:a="http://schemas.openxmlformats.org/drawingml/2006/main">
              <a:ext uri="{FF2B5EF4-FFF2-40B4-BE49-F238E27FC236}">
                <a16:creationId xmlns:a16="http://schemas.microsoft.com/office/drawing/2014/main" id="{8A28C445-D516-43B4-93AE-B79D46FBF529}"/>
              </a:ext>
            </a:extLst>
          </p:cNvPr>
          <p:cNvSpPr>
            <a:spLocks xmlns:a="http://schemas.openxmlformats.org/drawingml/2006/main" noGrp="1"/>
          </p:cNvSpPr>
          <p:nvPr/>
        </p:nvSpPr>
        <p:spPr>
          <a:xfrm xmlns:a="http://schemas.openxmlformats.org/drawingml/2006/main">
            <a:off x="6400800" y="373380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F871536-5D61-4355-89AA-1091C0B343F6}"/>
              </a:ext>
            </a:extLst>
          </p:cNvPr>
          <p:cNvSpPr>
            <a:spLocks xmlns:a="http://schemas.openxmlformats.org/drawingml/2006/main" noGrp="1"/>
          </p:cNvSpPr>
          <p:nvPr/>
        </p:nvSpPr>
        <p:spPr>
          <a:xfrm xmlns:a="http://schemas.openxmlformats.org/drawingml/2006/main">
            <a:off x="6648450" y="36576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DC8D6"/>
                </a:solidFill>
                <a:latin typeface="Aptos"/>
                <a:ea typeface="Aptos"/>
                <a:cs typeface="Aptos"/>
              </a:defRPr>
            </a:pPr>
            <a:r>
              <a:rPr sz="900" b="0">
                <a:solidFill>
                  <a:srgbClr val="BDC8D6"/>
                </a:solidFill>
                <a:latin typeface="Aptos"/>
                <a:ea typeface="Aptos"/>
                <a:cs typeface="Aptos"/>
              </a:rPr>
              <a:t>case-heldout split across seven profile labels</a:t>
            </a:r>
          </a:p>
        </p:txBody>
      </p:sp>
      <p:sp>
        <p:nvSpPr>
          <p:cNvPr id="24" name="">
            <a:extLst xmlns:a="http://schemas.openxmlformats.org/drawingml/2006/main">
              <a:ext uri="{FF2B5EF4-FFF2-40B4-BE49-F238E27FC236}">
                <a16:creationId xmlns:a16="http://schemas.microsoft.com/office/drawing/2014/main" id="{51FDC1F1-B8B7-425D-AAC5-DA164D48FEC7}"/>
              </a:ext>
            </a:extLst>
          </p:cNvPr>
          <p:cNvSpPr>
            <a:spLocks xmlns:a="http://schemas.openxmlformats.org/drawingml/2006/main" noGrp="1"/>
          </p:cNvSpPr>
          <p:nvPr/>
        </p:nvSpPr>
        <p:spPr>
          <a:xfrm xmlns:a="http://schemas.openxmlformats.org/drawingml/2006/main">
            <a:off x="6400800" y="419100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B0A92B0-9F6D-4002-AC7D-7F9EEB78EA30}"/>
              </a:ext>
            </a:extLst>
          </p:cNvPr>
          <p:cNvSpPr>
            <a:spLocks xmlns:a="http://schemas.openxmlformats.org/drawingml/2006/main" noGrp="1"/>
          </p:cNvSpPr>
          <p:nvPr/>
        </p:nvSpPr>
        <p:spPr>
          <a:xfrm xmlns:a="http://schemas.openxmlformats.org/drawingml/2006/main">
            <a:off x="6648450" y="41148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DC8D6"/>
                </a:solidFill>
                <a:latin typeface="Aptos"/>
                <a:ea typeface="Aptos"/>
                <a:cs typeface="Aptos"/>
              </a:defRPr>
            </a:pPr>
            <a:r>
              <a:rPr sz="900" b="0">
                <a:solidFill>
                  <a:srgbClr val="BDC8D6"/>
                </a:solidFill>
                <a:latin typeface="Aptos"/>
                <a:ea typeface="Aptos"/>
                <a:cs typeface="Aptos"/>
              </a:rPr>
              <a:t>raw sequence alone does not generalize</a:t>
            </a:r>
          </a:p>
        </p:txBody>
      </p:sp>
      <p:sp>
        <p:nvSpPr>
          <p:cNvPr id="26" name="">
            <a:extLst xmlns:a="http://schemas.openxmlformats.org/drawingml/2006/main">
              <a:ext uri="{FF2B5EF4-FFF2-40B4-BE49-F238E27FC236}">
                <a16:creationId xmlns:a16="http://schemas.microsoft.com/office/drawing/2014/main" id="{ADE6BE33-6F08-49E1-A059-9D420CA4F5B6}"/>
              </a:ext>
            </a:extLst>
          </p:cNvPr>
          <p:cNvSpPr>
            <a:spLocks xmlns:a="http://schemas.openxmlformats.org/drawingml/2006/main" noGrp="1"/>
          </p:cNvSpPr>
          <p:nvPr/>
        </p:nvSpPr>
        <p:spPr>
          <a:xfrm xmlns:a="http://schemas.openxmlformats.org/drawingml/2006/main">
            <a:off x="6400800" y="464820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582D79C-181D-46D2-A67C-3EC7D6E318E6}"/>
              </a:ext>
            </a:extLst>
          </p:cNvPr>
          <p:cNvSpPr>
            <a:spLocks xmlns:a="http://schemas.openxmlformats.org/drawingml/2006/main" noGrp="1"/>
          </p:cNvSpPr>
          <p:nvPr/>
        </p:nvSpPr>
        <p:spPr>
          <a:xfrm xmlns:a="http://schemas.openxmlformats.org/drawingml/2006/main">
            <a:off x="6648450" y="45720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DC8D6"/>
                </a:solidFill>
                <a:latin typeface="Aptos"/>
                <a:ea typeface="Aptos"/>
                <a:cs typeface="Aptos"/>
              </a:defRPr>
            </a:pPr>
            <a:r>
              <a:rPr sz="900" b="0">
                <a:solidFill>
                  <a:srgbClr val="BDC8D6"/>
                </a:solidFill>
                <a:latin typeface="Aptos"/>
                <a:ea typeface="Aptos"/>
                <a:cs typeface="Aptos"/>
              </a:rPr>
              <a:t>needs more APKs, context, and APK-level aggregation</a:t>
            </a:r>
          </a:p>
        </p:txBody>
      </p:sp>
      <p:sp>
        <p:nvSpPr>
          <p:cNvPr id="28" name="">
            <a:extLst xmlns:a="http://schemas.openxmlformats.org/drawingml/2006/main">
              <a:ext uri="{FF2B5EF4-FFF2-40B4-BE49-F238E27FC236}">
                <a16:creationId xmlns:a16="http://schemas.microsoft.com/office/drawing/2014/main" id="{55957332-94EC-42AC-90D0-40024303A34A}"/>
              </a:ext>
            </a:extLst>
          </p:cNvPr>
          <p:cNvSpPr>
            <a:spLocks xmlns:a="http://schemas.openxmlformats.org/drawingml/2006/main" noGrp="1"/>
          </p:cNvSpPr>
          <p:nvPr/>
        </p:nvSpPr>
        <p:spPr>
          <a:xfrm xmlns:a="http://schemas.openxmlformats.org/drawingml/2006/main">
            <a:off x="685800" y="5676900"/>
            <a:ext cx="10820400" cy="5905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9" name="">
            <a:extLst xmlns:a="http://schemas.openxmlformats.org/drawingml/2006/main">
              <a:ext uri="{FF2B5EF4-FFF2-40B4-BE49-F238E27FC236}">
                <a16:creationId xmlns:a16="http://schemas.microsoft.com/office/drawing/2014/main" id="{CB5E1FDB-4B42-4EC8-BBBE-35DF1C5BC71B}"/>
              </a:ext>
            </a:extLst>
          </p:cNvPr>
          <p:cNvSpPr>
            <a:spLocks xmlns:a="http://schemas.openxmlformats.org/drawingml/2006/main" noGrp="1"/>
          </p:cNvSpPr>
          <p:nvPr/>
        </p:nvSpPr>
        <p:spPr>
          <a:xfrm xmlns:a="http://schemas.openxmlformats.org/drawingml/2006/main">
            <a:off x="876300" y="58483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A65C55"/>
                </a:solidFill>
                <a:latin typeface="Aptos"/>
                <a:ea typeface="Aptos"/>
                <a:cs typeface="Aptos"/>
              </a:defRPr>
            </a:pPr>
            <a:r>
              <a:rPr sz="825" b="1">
                <a:solidFill>
                  <a:srgbClr val="A65C55"/>
                </a:solidFill>
                <a:latin typeface="Aptos"/>
                <a:ea typeface="Aptos"/>
                <a:cs typeface="Aptos"/>
              </a:rPr>
              <a:t>DECISION</a:t>
            </a:r>
          </a:p>
        </p:txBody>
      </p:sp>
      <p:sp>
        <p:nvSpPr>
          <p:cNvPr id="30" name="">
            <a:extLst xmlns:a="http://schemas.openxmlformats.org/drawingml/2006/main">
              <a:ext uri="{FF2B5EF4-FFF2-40B4-BE49-F238E27FC236}">
                <a16:creationId xmlns:a16="http://schemas.microsoft.com/office/drawing/2014/main" id="{E4B00B26-20CF-4620-914C-2C4643D7AA56}"/>
              </a:ext>
            </a:extLst>
          </p:cNvPr>
          <p:cNvSpPr>
            <a:spLocks xmlns:a="http://schemas.openxmlformats.org/drawingml/2006/main" noGrp="1"/>
          </p:cNvSpPr>
          <p:nvPr/>
        </p:nvSpPr>
        <p:spPr>
          <a:xfrm xmlns:a="http://schemas.openxmlformats.org/drawingml/2006/main">
            <a:off x="2343150" y="58007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Keep the structured model as report-only evidence; keep the raw-opcode model as an honest negative result.</a:t>
            </a:r>
          </a:p>
        </p:txBody>
      </p:sp>
      <p:sp>
        <p:nvSpPr>
          <p:cNvPr id="31" name="">
            <a:extLst xmlns:a="http://schemas.openxmlformats.org/drawingml/2006/main">
              <a:ext uri="{FF2B5EF4-FFF2-40B4-BE49-F238E27FC236}">
                <a16:creationId xmlns:a16="http://schemas.microsoft.com/office/drawing/2014/main" id="{3BCB6882-953C-4A7A-9B28-B58F2A143886}"/>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941146011"/>
      </p:ext>
    </p:extLst>
  </p:cSld>
</p:sld>
</file>

<file path=ppt/slides/slide28.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5174049-31BB-43F8-B38A-91AAF3C7C676}"/>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5F73"/>
                </a:solidFill>
                <a:latin typeface="Aptos"/>
                <a:ea typeface="Aptos"/>
                <a:cs typeface="Aptos"/>
              </a:defRPr>
            </a:pPr>
            <a:r>
              <a:rPr sz="900" b="1">
                <a:solidFill>
                  <a:srgbClr val="655F73"/>
                </a:solidFill>
                <a:latin typeface="Aptos"/>
                <a:ea typeface="Aptos"/>
                <a:cs typeface="Aptos"/>
              </a:rPr>
              <a:t>AI INTEGRATION GATE</a:t>
            </a:r>
          </a:p>
        </p:txBody>
      </p:sp>
      <p:sp>
        <p:nvSpPr>
          <p:cNvPr id="2" name="">
            <a:extLst xmlns:a="http://schemas.openxmlformats.org/drawingml/2006/main">
              <a:ext uri="{FF2B5EF4-FFF2-40B4-BE49-F238E27FC236}">
                <a16:creationId xmlns:a16="http://schemas.microsoft.com/office/drawing/2014/main" id="{669EE4F0-A375-43F6-94BE-FCE44D5CC694}"/>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AI assists hard R8 triage, while the deterministic matcher keeps authority</a:t>
            </a:r>
          </a:p>
        </p:txBody>
      </p:sp>
      <p:sp>
        <p:nvSpPr>
          <p:cNvPr id="3" name="">
            <a:extLst xmlns:a="http://schemas.openxmlformats.org/drawingml/2006/main">
              <a:ext uri="{FF2B5EF4-FFF2-40B4-BE49-F238E27FC236}">
                <a16:creationId xmlns:a16="http://schemas.microsoft.com/office/drawing/2014/main" id="{C7D99B2C-AFFA-4568-886F-E63FA894E7E4}"/>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28</a:t>
            </a:r>
          </a:p>
        </p:txBody>
      </p:sp>
      <p:sp>
        <p:nvSpPr>
          <p:cNvPr id="4" name="">
            <a:extLst xmlns:a="http://schemas.openxmlformats.org/drawingml/2006/main">
              <a:ext uri="{FF2B5EF4-FFF2-40B4-BE49-F238E27FC236}">
                <a16:creationId xmlns:a16="http://schemas.microsoft.com/office/drawing/2014/main" id="{775E466C-459F-42BE-8631-6579E854D94B}"/>
              </a:ext>
            </a:extLst>
          </p:cNvPr>
          <p:cNvSpPr>
            <a:spLocks xmlns:a="http://schemas.openxmlformats.org/drawingml/2006/main" noGrp="1"/>
          </p:cNvSpPr>
          <p:nvPr/>
        </p:nvSpPr>
        <p:spPr>
          <a:xfrm xmlns:a="http://schemas.openxmlformats.org/drawingml/2006/main">
            <a:off x="742950" y="16859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202A33"/>
                </a:solidFill>
                <a:latin typeface="Aptos"/>
                <a:ea typeface="Aptos"/>
                <a:cs typeface="Aptos"/>
              </a:defRPr>
            </a:pPr>
            <a:r>
              <a:rPr sz="1200" b="1">
                <a:solidFill>
                  <a:srgbClr val="202A33"/>
                </a:solidFill>
                <a:latin typeface="Aptos"/>
                <a:ea typeface="Aptos"/>
                <a:cs typeface="Aptos"/>
              </a:rPr>
              <a:t>RandomForest</a:t>
            </a:r>
          </a:p>
        </p:txBody>
      </p:sp>
      <p:sp>
        <p:nvSpPr>
          <p:cNvPr id="5" name="">
            <a:extLst xmlns:a="http://schemas.openxmlformats.org/drawingml/2006/main">
              <a:ext uri="{FF2B5EF4-FFF2-40B4-BE49-F238E27FC236}">
                <a16:creationId xmlns:a16="http://schemas.microsoft.com/office/drawing/2014/main" id="{7ED21E12-879E-44E1-B32B-F5CC6AA65263}"/>
              </a:ext>
            </a:extLst>
          </p:cNvPr>
          <p:cNvSpPr>
            <a:spLocks xmlns:a="http://schemas.openxmlformats.org/drawingml/2006/main" noGrp="1"/>
          </p:cNvSpPr>
          <p:nvPr/>
        </p:nvSpPr>
        <p:spPr>
          <a:xfrm xmlns:a="http://schemas.openxmlformats.org/drawingml/2006/main">
            <a:off x="3143250" y="17049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AAE0578-C38E-4A95-8DB6-4B932BE2D804}"/>
              </a:ext>
            </a:extLst>
          </p:cNvPr>
          <p:cNvSpPr>
            <a:spLocks xmlns:a="http://schemas.openxmlformats.org/drawingml/2006/main" noGrp="1"/>
          </p:cNvSpPr>
          <p:nvPr/>
        </p:nvSpPr>
        <p:spPr>
          <a:xfrm xmlns:a="http://schemas.openxmlformats.org/drawingml/2006/main">
            <a:off x="3143250" y="1704975"/>
            <a:ext cx="2967228" cy="1905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AD62973-4939-4C4C-8192-79E4469187F9}"/>
              </a:ext>
            </a:extLst>
          </p:cNvPr>
          <p:cNvSpPr>
            <a:spLocks xmlns:a="http://schemas.openxmlformats.org/drawingml/2006/main" noGrp="1"/>
          </p:cNvSpPr>
          <p:nvPr/>
        </p:nvSpPr>
        <p:spPr>
          <a:xfrm xmlns:a="http://schemas.openxmlformats.org/drawingml/2006/main">
            <a:off x="7505700" y="16478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65F7D"/>
                </a:solidFill>
                <a:latin typeface="Aptos"/>
                <a:ea typeface="Aptos"/>
                <a:cs typeface="Aptos"/>
              </a:defRPr>
            </a:pPr>
            <a:r>
              <a:rPr sz="1350" b="1">
                <a:solidFill>
                  <a:srgbClr val="365F7D"/>
                </a:solidFill>
                <a:latin typeface="Aptos"/>
                <a:ea typeface="Aptos"/>
                <a:cs typeface="Aptos"/>
              </a:rPr>
              <a:t>0.708</a:t>
            </a:r>
          </a:p>
        </p:txBody>
      </p:sp>
      <p:sp>
        <p:nvSpPr>
          <p:cNvPr id="8" name="">
            <a:extLst xmlns:a="http://schemas.openxmlformats.org/drawingml/2006/main">
              <a:ext uri="{FF2B5EF4-FFF2-40B4-BE49-F238E27FC236}">
                <a16:creationId xmlns:a16="http://schemas.microsoft.com/office/drawing/2014/main" id="{79887844-9823-4E64-B8AC-7DA5549A2325}"/>
              </a:ext>
            </a:extLst>
          </p:cNvPr>
          <p:cNvSpPr>
            <a:spLocks xmlns:a="http://schemas.openxmlformats.org/drawingml/2006/main" noGrp="1"/>
          </p:cNvSpPr>
          <p:nvPr/>
        </p:nvSpPr>
        <p:spPr>
          <a:xfrm xmlns:a="http://schemas.openxmlformats.org/drawingml/2006/main">
            <a:off x="8572500" y="1657350"/>
            <a:ext cx="2476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9" name="">
            <a:extLst xmlns:a="http://schemas.openxmlformats.org/drawingml/2006/main">
              <a:ext uri="{FF2B5EF4-FFF2-40B4-BE49-F238E27FC236}">
                <a16:creationId xmlns:a16="http://schemas.microsoft.com/office/drawing/2014/main" id="{80AE3FAC-811A-4EDA-BC3F-7B65FA146025}"/>
              </a:ext>
            </a:extLst>
          </p:cNvPr>
          <p:cNvSpPr>
            <a:spLocks xmlns:a="http://schemas.openxmlformats.org/drawingml/2006/main" noGrp="1"/>
          </p:cNvSpPr>
          <p:nvPr/>
        </p:nvSpPr>
        <p:spPr>
          <a:xfrm xmlns:a="http://schemas.openxmlformats.org/drawingml/2006/main">
            <a:off x="8639175" y="17145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365F7D"/>
                </a:solidFill>
                <a:latin typeface="Aptos"/>
                <a:ea typeface="Aptos"/>
                <a:cs typeface="Aptos"/>
              </a:defRPr>
            </a:pPr>
            <a:r>
              <a:rPr sz="825" b="1">
                <a:solidFill>
                  <a:srgbClr val="365F7D"/>
                </a:solidFill>
                <a:latin typeface="Aptos"/>
                <a:ea typeface="Aptos"/>
                <a:cs typeface="Aptos"/>
              </a:rPr>
              <a:t>integrated report-only</a:t>
            </a:r>
          </a:p>
        </p:txBody>
      </p:sp>
      <p:sp>
        <p:nvSpPr>
          <p:cNvPr id="10" name="">
            <a:extLst xmlns:a="http://schemas.openxmlformats.org/drawingml/2006/main">
              <a:ext uri="{FF2B5EF4-FFF2-40B4-BE49-F238E27FC236}">
                <a16:creationId xmlns:a16="http://schemas.microsoft.com/office/drawing/2014/main" id="{8962E87E-90B8-4E4B-BEB3-3A24765EF491}"/>
              </a:ext>
            </a:extLst>
          </p:cNvPr>
          <p:cNvSpPr>
            <a:spLocks xmlns:a="http://schemas.openxmlformats.org/drawingml/2006/main" noGrp="1"/>
          </p:cNvSpPr>
          <p:nvPr/>
        </p:nvSpPr>
        <p:spPr>
          <a:xfrm xmlns:a="http://schemas.openxmlformats.org/drawingml/2006/main">
            <a:off x="742950" y="24860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202A33"/>
                </a:solidFill>
                <a:latin typeface="Aptos"/>
                <a:ea typeface="Aptos"/>
                <a:cs typeface="Aptos"/>
              </a:defRPr>
            </a:pPr>
            <a:r>
              <a:rPr sz="1200" b="1">
                <a:solidFill>
                  <a:srgbClr val="202A33"/>
                </a:solidFill>
                <a:latin typeface="Aptos"/>
                <a:ea typeface="Aptos"/>
                <a:cs typeface="Aptos"/>
              </a:rPr>
              <a:t>MVP-safe Transformer</a:t>
            </a:r>
          </a:p>
        </p:txBody>
      </p:sp>
      <p:sp>
        <p:nvSpPr>
          <p:cNvPr id="11" name="">
            <a:extLst xmlns:a="http://schemas.openxmlformats.org/drawingml/2006/main">
              <a:ext uri="{FF2B5EF4-FFF2-40B4-BE49-F238E27FC236}">
                <a16:creationId xmlns:a16="http://schemas.microsoft.com/office/drawing/2014/main" id="{13DC7D13-0531-4CBD-BAFB-DC0E49ED9040}"/>
              </a:ext>
            </a:extLst>
          </p:cNvPr>
          <p:cNvSpPr>
            <a:spLocks xmlns:a="http://schemas.openxmlformats.org/drawingml/2006/main" noGrp="1"/>
          </p:cNvSpPr>
          <p:nvPr/>
        </p:nvSpPr>
        <p:spPr>
          <a:xfrm xmlns:a="http://schemas.openxmlformats.org/drawingml/2006/main">
            <a:off x="3143250" y="25050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2C50CE0-5C3F-4EB9-9699-6AF194C0CB16}"/>
              </a:ext>
            </a:extLst>
          </p:cNvPr>
          <p:cNvSpPr>
            <a:spLocks xmlns:a="http://schemas.openxmlformats.org/drawingml/2006/main" noGrp="1"/>
          </p:cNvSpPr>
          <p:nvPr/>
        </p:nvSpPr>
        <p:spPr>
          <a:xfrm xmlns:a="http://schemas.openxmlformats.org/drawingml/2006/main">
            <a:off x="3143250" y="2505075"/>
            <a:ext cx="3696462" cy="1905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5EA1613-BF7A-4352-82CD-E506AFCFDAE8}"/>
              </a:ext>
            </a:extLst>
          </p:cNvPr>
          <p:cNvSpPr>
            <a:spLocks xmlns:a="http://schemas.openxmlformats.org/drawingml/2006/main" noGrp="1"/>
          </p:cNvSpPr>
          <p:nvPr/>
        </p:nvSpPr>
        <p:spPr>
          <a:xfrm xmlns:a="http://schemas.openxmlformats.org/drawingml/2006/main">
            <a:off x="7505700" y="24479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4F7D76"/>
                </a:solidFill>
                <a:latin typeface="Aptos"/>
                <a:ea typeface="Aptos"/>
                <a:cs typeface="Aptos"/>
              </a:defRPr>
            </a:pPr>
            <a:r>
              <a:rPr sz="1350" b="1">
                <a:solidFill>
                  <a:srgbClr val="4F7D76"/>
                </a:solidFill>
                <a:latin typeface="Aptos"/>
                <a:ea typeface="Aptos"/>
                <a:cs typeface="Aptos"/>
              </a:rPr>
              <a:t>0.882</a:t>
            </a:r>
          </a:p>
        </p:txBody>
      </p:sp>
      <p:sp>
        <p:nvSpPr>
          <p:cNvPr id="14" name="">
            <a:extLst xmlns:a="http://schemas.openxmlformats.org/drawingml/2006/main">
              <a:ext uri="{FF2B5EF4-FFF2-40B4-BE49-F238E27FC236}">
                <a16:creationId xmlns:a16="http://schemas.microsoft.com/office/drawing/2014/main" id="{E532FD7B-0BA8-41F0-9CB3-33608924CCFC}"/>
              </a:ext>
            </a:extLst>
          </p:cNvPr>
          <p:cNvSpPr>
            <a:spLocks xmlns:a="http://schemas.openxmlformats.org/drawingml/2006/main" noGrp="1"/>
          </p:cNvSpPr>
          <p:nvPr/>
        </p:nvSpPr>
        <p:spPr>
          <a:xfrm xmlns:a="http://schemas.openxmlformats.org/drawingml/2006/main">
            <a:off x="8572500" y="2457450"/>
            <a:ext cx="2476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5" name="">
            <a:extLst xmlns:a="http://schemas.openxmlformats.org/drawingml/2006/main">
              <a:ext uri="{FF2B5EF4-FFF2-40B4-BE49-F238E27FC236}">
                <a16:creationId xmlns:a16="http://schemas.microsoft.com/office/drawing/2014/main" id="{27AE48CC-E603-4A0E-A9D3-2F4A5D267299}"/>
              </a:ext>
            </a:extLst>
          </p:cNvPr>
          <p:cNvSpPr>
            <a:spLocks xmlns:a="http://schemas.openxmlformats.org/drawingml/2006/main" noGrp="1"/>
          </p:cNvSpPr>
          <p:nvPr/>
        </p:nvSpPr>
        <p:spPr>
          <a:xfrm xmlns:a="http://schemas.openxmlformats.org/drawingml/2006/main">
            <a:off x="8639175" y="25146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4F7D76"/>
                </a:solidFill>
                <a:latin typeface="Aptos"/>
                <a:ea typeface="Aptos"/>
                <a:cs typeface="Aptos"/>
              </a:defRPr>
            </a:pPr>
            <a:r>
              <a:rPr sz="825" b="1">
                <a:solidFill>
                  <a:srgbClr val="4F7D76"/>
                </a:solidFill>
                <a:latin typeface="Aptos"/>
                <a:ea typeface="Aptos"/>
                <a:cs typeface="Aptos"/>
              </a:rPr>
              <a:t>risk-triage candidate</a:t>
            </a:r>
          </a:p>
        </p:txBody>
      </p:sp>
      <p:sp>
        <p:nvSpPr>
          <p:cNvPr id="16" name="">
            <a:extLst xmlns:a="http://schemas.openxmlformats.org/drawingml/2006/main">
              <a:ext uri="{FF2B5EF4-FFF2-40B4-BE49-F238E27FC236}">
                <a16:creationId xmlns:a16="http://schemas.microsoft.com/office/drawing/2014/main" id="{84D70F6A-02F8-41CE-A020-D5761FECD0AB}"/>
              </a:ext>
            </a:extLst>
          </p:cNvPr>
          <p:cNvSpPr>
            <a:spLocks xmlns:a="http://schemas.openxmlformats.org/drawingml/2006/main" noGrp="1"/>
          </p:cNvSpPr>
          <p:nvPr/>
        </p:nvSpPr>
        <p:spPr>
          <a:xfrm xmlns:a="http://schemas.openxmlformats.org/drawingml/2006/main">
            <a:off x="742950" y="32861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202A33"/>
                </a:solidFill>
                <a:latin typeface="Aptos"/>
                <a:ea typeface="Aptos"/>
                <a:cs typeface="Aptos"/>
              </a:defRPr>
            </a:pPr>
            <a:r>
              <a:rPr sz="1200" b="1">
                <a:solidFill>
                  <a:srgbClr val="202A33"/>
                </a:solidFill>
                <a:latin typeface="Aptos"/>
                <a:ea typeface="Aptos"/>
                <a:cs typeface="Aptos"/>
              </a:rPr>
              <a:t>Structured Transformer</a:t>
            </a:r>
          </a:p>
        </p:txBody>
      </p:sp>
      <p:sp>
        <p:nvSpPr>
          <p:cNvPr id="17" name="">
            <a:extLst xmlns:a="http://schemas.openxmlformats.org/drawingml/2006/main">
              <a:ext uri="{FF2B5EF4-FFF2-40B4-BE49-F238E27FC236}">
                <a16:creationId xmlns:a16="http://schemas.microsoft.com/office/drawing/2014/main" id="{EA6BD81E-0EBF-48FD-8D82-126A4F5F189B}"/>
              </a:ext>
            </a:extLst>
          </p:cNvPr>
          <p:cNvSpPr>
            <a:spLocks xmlns:a="http://schemas.openxmlformats.org/drawingml/2006/main" noGrp="1"/>
          </p:cNvSpPr>
          <p:nvPr/>
        </p:nvSpPr>
        <p:spPr>
          <a:xfrm xmlns:a="http://schemas.openxmlformats.org/drawingml/2006/main">
            <a:off x="3143250" y="33051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FE86EAD-E098-4AA3-A4E8-DAAC0305AA7D}"/>
              </a:ext>
            </a:extLst>
          </p:cNvPr>
          <p:cNvSpPr>
            <a:spLocks xmlns:a="http://schemas.openxmlformats.org/drawingml/2006/main" noGrp="1"/>
          </p:cNvSpPr>
          <p:nvPr/>
        </p:nvSpPr>
        <p:spPr>
          <a:xfrm xmlns:a="http://schemas.openxmlformats.org/drawingml/2006/main">
            <a:off x="3143250" y="3305175"/>
            <a:ext cx="4094607" cy="1905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2602FC0-F65D-4B37-AFBE-A418FC4F8FF6}"/>
              </a:ext>
            </a:extLst>
          </p:cNvPr>
          <p:cNvSpPr>
            <a:spLocks xmlns:a="http://schemas.openxmlformats.org/drawingml/2006/main" noGrp="1"/>
          </p:cNvSpPr>
          <p:nvPr/>
        </p:nvSpPr>
        <p:spPr>
          <a:xfrm xmlns:a="http://schemas.openxmlformats.org/drawingml/2006/main">
            <a:off x="7505700" y="32480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655F73"/>
                </a:solidFill>
                <a:latin typeface="Aptos"/>
                <a:ea typeface="Aptos"/>
                <a:cs typeface="Aptos"/>
              </a:defRPr>
            </a:pPr>
            <a:r>
              <a:rPr sz="1350" b="1">
                <a:solidFill>
                  <a:srgbClr val="655F73"/>
                </a:solidFill>
                <a:latin typeface="Aptos"/>
                <a:ea typeface="Aptos"/>
                <a:cs typeface="Aptos"/>
              </a:rPr>
              <a:t>0.977</a:t>
            </a:r>
          </a:p>
        </p:txBody>
      </p:sp>
      <p:sp>
        <p:nvSpPr>
          <p:cNvPr id="20" name="">
            <a:extLst xmlns:a="http://schemas.openxmlformats.org/drawingml/2006/main">
              <a:ext uri="{FF2B5EF4-FFF2-40B4-BE49-F238E27FC236}">
                <a16:creationId xmlns:a16="http://schemas.microsoft.com/office/drawing/2014/main" id="{D6EC9F72-D132-4CED-8685-B8FCD0F9085A}"/>
              </a:ext>
            </a:extLst>
          </p:cNvPr>
          <p:cNvSpPr>
            <a:spLocks xmlns:a="http://schemas.openxmlformats.org/drawingml/2006/main" noGrp="1"/>
          </p:cNvSpPr>
          <p:nvPr/>
        </p:nvSpPr>
        <p:spPr>
          <a:xfrm xmlns:a="http://schemas.openxmlformats.org/drawingml/2006/main">
            <a:off x="8572500" y="3257550"/>
            <a:ext cx="2476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21" name="">
            <a:extLst xmlns:a="http://schemas.openxmlformats.org/drawingml/2006/main">
              <a:ext uri="{FF2B5EF4-FFF2-40B4-BE49-F238E27FC236}">
                <a16:creationId xmlns:a16="http://schemas.microsoft.com/office/drawing/2014/main" id="{9FCC54E0-977C-4B05-BCF0-1A132FF5028E}"/>
              </a:ext>
            </a:extLst>
          </p:cNvPr>
          <p:cNvSpPr>
            <a:spLocks xmlns:a="http://schemas.openxmlformats.org/drawingml/2006/main" noGrp="1"/>
          </p:cNvSpPr>
          <p:nvPr/>
        </p:nvSpPr>
        <p:spPr>
          <a:xfrm xmlns:a="http://schemas.openxmlformats.org/drawingml/2006/main">
            <a:off x="8639175" y="33147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55F73"/>
                </a:solidFill>
                <a:latin typeface="Aptos"/>
                <a:ea typeface="Aptos"/>
                <a:cs typeface="Aptos"/>
              </a:defRPr>
            </a:pPr>
            <a:r>
              <a:rPr sz="825" b="1">
                <a:solidFill>
                  <a:srgbClr val="655F73"/>
                </a:solidFill>
                <a:latin typeface="Aptos"/>
                <a:ea typeface="Aptos"/>
                <a:cs typeface="Aptos"/>
              </a:rPr>
              <a:t>research status only</a:t>
            </a:r>
          </a:p>
        </p:txBody>
      </p:sp>
      <p:sp>
        <p:nvSpPr>
          <p:cNvPr id="22" name="">
            <a:extLst xmlns:a="http://schemas.openxmlformats.org/drawingml/2006/main">
              <a:ext uri="{FF2B5EF4-FFF2-40B4-BE49-F238E27FC236}">
                <a16:creationId xmlns:a16="http://schemas.microsoft.com/office/drawing/2014/main" id="{79C4EC73-AE43-4FD1-BB4F-0DAFD0DE36FE}"/>
              </a:ext>
            </a:extLst>
          </p:cNvPr>
          <p:cNvSpPr>
            <a:spLocks xmlns:a="http://schemas.openxmlformats.org/drawingml/2006/main" noGrp="1"/>
          </p:cNvSpPr>
          <p:nvPr/>
        </p:nvSpPr>
        <p:spPr>
          <a:xfrm xmlns:a="http://schemas.openxmlformats.org/drawingml/2006/main">
            <a:off x="742950" y="40862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202A33"/>
                </a:solidFill>
                <a:latin typeface="Aptos"/>
                <a:ea typeface="Aptos"/>
                <a:cs typeface="Aptos"/>
              </a:defRPr>
            </a:pPr>
            <a:r>
              <a:rPr sz="1200" b="1">
                <a:solidFill>
                  <a:srgbClr val="202A33"/>
                </a:solidFill>
                <a:latin typeface="Aptos"/>
                <a:ea typeface="Aptos"/>
                <a:cs typeface="Aptos"/>
              </a:rPr>
              <a:t>Raw opcode Transformer</a:t>
            </a:r>
          </a:p>
        </p:txBody>
      </p:sp>
      <p:sp>
        <p:nvSpPr>
          <p:cNvPr id="23" name="">
            <a:extLst xmlns:a="http://schemas.openxmlformats.org/drawingml/2006/main">
              <a:ext uri="{FF2B5EF4-FFF2-40B4-BE49-F238E27FC236}">
                <a16:creationId xmlns:a16="http://schemas.microsoft.com/office/drawing/2014/main" id="{DDA8DD6A-7E47-4B61-95E8-C15F0173E9EF}"/>
              </a:ext>
            </a:extLst>
          </p:cNvPr>
          <p:cNvSpPr>
            <a:spLocks xmlns:a="http://schemas.openxmlformats.org/drawingml/2006/main" noGrp="1"/>
          </p:cNvSpPr>
          <p:nvPr/>
        </p:nvSpPr>
        <p:spPr>
          <a:xfrm xmlns:a="http://schemas.openxmlformats.org/drawingml/2006/main">
            <a:off x="3143250" y="41052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5A1C5B3-D58E-4BC6-96B1-152C5D291CCE}"/>
              </a:ext>
            </a:extLst>
          </p:cNvPr>
          <p:cNvSpPr>
            <a:spLocks xmlns:a="http://schemas.openxmlformats.org/drawingml/2006/main" noGrp="1"/>
          </p:cNvSpPr>
          <p:nvPr/>
        </p:nvSpPr>
        <p:spPr>
          <a:xfrm xmlns:a="http://schemas.openxmlformats.org/drawingml/2006/main">
            <a:off x="3143250" y="4105275"/>
            <a:ext cx="461010" cy="1905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49AF454-AB12-4026-AAE4-7D258E172F25}"/>
              </a:ext>
            </a:extLst>
          </p:cNvPr>
          <p:cNvSpPr>
            <a:spLocks xmlns:a="http://schemas.openxmlformats.org/drawingml/2006/main" noGrp="1"/>
          </p:cNvSpPr>
          <p:nvPr/>
        </p:nvSpPr>
        <p:spPr>
          <a:xfrm xmlns:a="http://schemas.openxmlformats.org/drawingml/2006/main">
            <a:off x="7505700" y="40481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A65C55"/>
                </a:solidFill>
                <a:latin typeface="Aptos"/>
                <a:ea typeface="Aptos"/>
                <a:cs typeface="Aptos"/>
              </a:defRPr>
            </a:pPr>
            <a:r>
              <a:rPr sz="1350" b="1">
                <a:solidFill>
                  <a:srgbClr val="A65C55"/>
                </a:solidFill>
                <a:latin typeface="Aptos"/>
                <a:ea typeface="Aptos"/>
                <a:cs typeface="Aptos"/>
              </a:rPr>
              <a:t>0.110</a:t>
            </a:r>
          </a:p>
        </p:txBody>
      </p:sp>
      <p:sp>
        <p:nvSpPr>
          <p:cNvPr id="26" name="">
            <a:extLst xmlns:a="http://schemas.openxmlformats.org/drawingml/2006/main">
              <a:ext uri="{FF2B5EF4-FFF2-40B4-BE49-F238E27FC236}">
                <a16:creationId xmlns:a16="http://schemas.microsoft.com/office/drawing/2014/main" id="{89917D8D-BC06-425A-9948-168F95006845}"/>
              </a:ext>
            </a:extLst>
          </p:cNvPr>
          <p:cNvSpPr>
            <a:spLocks xmlns:a="http://schemas.openxmlformats.org/drawingml/2006/main" noGrp="1"/>
          </p:cNvSpPr>
          <p:nvPr/>
        </p:nvSpPr>
        <p:spPr>
          <a:xfrm xmlns:a="http://schemas.openxmlformats.org/drawingml/2006/main">
            <a:off x="8572500" y="4057650"/>
            <a:ext cx="2476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7" name="">
            <a:extLst xmlns:a="http://schemas.openxmlformats.org/drawingml/2006/main">
              <a:ext uri="{FF2B5EF4-FFF2-40B4-BE49-F238E27FC236}">
                <a16:creationId xmlns:a16="http://schemas.microsoft.com/office/drawing/2014/main" id="{DB72C7EC-AFEB-4AE8-B173-C620E5B1A5AD}"/>
              </a:ext>
            </a:extLst>
          </p:cNvPr>
          <p:cNvSpPr>
            <a:spLocks xmlns:a="http://schemas.openxmlformats.org/drawingml/2006/main" noGrp="1"/>
          </p:cNvSpPr>
          <p:nvPr/>
        </p:nvSpPr>
        <p:spPr>
          <a:xfrm xmlns:a="http://schemas.openxmlformats.org/drawingml/2006/main">
            <a:off x="8639175" y="41148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below 0.128 baseline</a:t>
            </a:r>
          </a:p>
        </p:txBody>
      </p:sp>
      <p:sp>
        <p:nvSpPr>
          <p:cNvPr id="28" name="">
            <a:extLst xmlns:a="http://schemas.openxmlformats.org/drawingml/2006/main">
              <a:ext uri="{FF2B5EF4-FFF2-40B4-BE49-F238E27FC236}">
                <a16:creationId xmlns:a16="http://schemas.microsoft.com/office/drawing/2014/main" id="{A284F4B6-B8DB-4452-BB93-099EAD51F2E8}"/>
              </a:ext>
            </a:extLst>
          </p:cNvPr>
          <p:cNvSpPr>
            <a:spLocks xmlns:a="http://schemas.openxmlformats.org/drawingml/2006/main" noGrp="1"/>
          </p:cNvSpPr>
          <p:nvPr/>
        </p:nvSpPr>
        <p:spPr>
          <a:xfrm xmlns:a="http://schemas.openxmlformats.org/drawingml/2006/main">
            <a:off x="723900" y="4991100"/>
            <a:ext cx="4800600" cy="9906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29" name="">
            <a:extLst xmlns:a="http://schemas.openxmlformats.org/drawingml/2006/main">
              <a:ext uri="{FF2B5EF4-FFF2-40B4-BE49-F238E27FC236}">
                <a16:creationId xmlns:a16="http://schemas.microsoft.com/office/drawing/2014/main" id="{75226393-1280-414D-998C-7E6A5482A6E3}"/>
              </a:ext>
            </a:extLst>
          </p:cNvPr>
          <p:cNvSpPr>
            <a:spLocks xmlns:a="http://schemas.openxmlformats.org/drawingml/2006/main" noGrp="1"/>
          </p:cNvSpPr>
          <p:nvPr/>
        </p:nvSpPr>
        <p:spPr>
          <a:xfrm xmlns:a="http://schemas.openxmlformats.org/drawingml/2006/main">
            <a:off x="933450" y="52197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4F7D76"/>
                </a:solidFill>
                <a:latin typeface="Aptos"/>
                <a:ea typeface="Aptos"/>
                <a:cs typeface="Aptos"/>
              </a:defRPr>
            </a:pPr>
            <a:r>
              <a:rPr sz="975" b="1">
                <a:solidFill>
                  <a:srgbClr val="4F7D76"/>
                </a:solidFill>
                <a:latin typeface="Aptos"/>
                <a:ea typeface="Aptos"/>
                <a:cs typeface="Aptos"/>
              </a:rPr>
              <a:t>READY</a:t>
            </a:r>
          </a:p>
        </p:txBody>
      </p:sp>
      <p:sp>
        <p:nvSpPr>
          <p:cNvPr id="30" name="">
            <a:extLst xmlns:a="http://schemas.openxmlformats.org/drawingml/2006/main">
              <a:ext uri="{FF2B5EF4-FFF2-40B4-BE49-F238E27FC236}">
                <a16:creationId xmlns:a16="http://schemas.microsoft.com/office/drawing/2014/main" id="{AE3A38EE-4A66-4337-BEAB-9F9F02BA1F81}"/>
              </a:ext>
            </a:extLst>
          </p:cNvPr>
          <p:cNvSpPr>
            <a:spLocks xmlns:a="http://schemas.openxmlformats.org/drawingml/2006/main" noGrp="1"/>
          </p:cNvSpPr>
          <p:nvPr/>
        </p:nvSpPr>
        <p:spPr>
          <a:xfrm xmlns:a="http://schemas.openxmlformats.org/drawingml/2006/main">
            <a:off x="1885950" y="51816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202A33"/>
                </a:solidFill>
                <a:latin typeface="Aptos"/>
                <a:ea typeface="Aptos"/>
                <a:cs typeface="Aptos"/>
              </a:defRPr>
            </a:pPr>
            <a:r>
              <a:rPr sz="1200" b="1">
                <a:solidFill>
                  <a:srgbClr val="202A33"/>
                </a:solidFill>
                <a:latin typeface="Aptos"/>
                <a:ea typeface="Aptos"/>
                <a:cs typeface="Aptos"/>
              </a:rPr>
              <a:t>report wording, prioritization, R8 risk triage</a:t>
            </a:r>
          </a:p>
        </p:txBody>
      </p:sp>
      <p:sp>
        <p:nvSpPr>
          <p:cNvPr id="31" name="">
            <a:extLst xmlns:a="http://schemas.openxmlformats.org/drawingml/2006/main">
              <a:ext uri="{FF2B5EF4-FFF2-40B4-BE49-F238E27FC236}">
                <a16:creationId xmlns:a16="http://schemas.microsoft.com/office/drawing/2014/main" id="{21ECD759-E85E-4DCF-B651-86797A8441A2}"/>
              </a:ext>
            </a:extLst>
          </p:cNvPr>
          <p:cNvSpPr>
            <a:spLocks xmlns:a="http://schemas.openxmlformats.org/drawingml/2006/main" noGrp="1"/>
          </p:cNvSpPr>
          <p:nvPr/>
        </p:nvSpPr>
        <p:spPr>
          <a:xfrm xmlns:a="http://schemas.openxmlformats.org/drawingml/2006/main">
            <a:off x="5943600" y="4991100"/>
            <a:ext cx="5562600" cy="9906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32" name="">
            <a:extLst xmlns:a="http://schemas.openxmlformats.org/drawingml/2006/main">
              <a:ext uri="{FF2B5EF4-FFF2-40B4-BE49-F238E27FC236}">
                <a16:creationId xmlns:a16="http://schemas.microsoft.com/office/drawing/2014/main" id="{F9F9574E-A5BA-4467-BF31-C6E6B9AD891D}"/>
              </a:ext>
            </a:extLst>
          </p:cNvPr>
          <p:cNvSpPr>
            <a:spLocks xmlns:a="http://schemas.openxmlformats.org/drawingml/2006/main" noGrp="1"/>
          </p:cNvSpPr>
          <p:nvPr/>
        </p:nvSpPr>
        <p:spPr>
          <a:xfrm xmlns:a="http://schemas.openxmlformats.org/drawingml/2006/main">
            <a:off x="6153150" y="5219700"/>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A65C55"/>
                </a:solidFill>
                <a:latin typeface="Aptos"/>
                <a:ea typeface="Aptos"/>
                <a:cs typeface="Aptos"/>
              </a:defRPr>
            </a:pPr>
            <a:r>
              <a:rPr sz="975" b="1">
                <a:solidFill>
                  <a:srgbClr val="A65C55"/>
                </a:solidFill>
                <a:latin typeface="Aptos"/>
                <a:ea typeface="Aptos"/>
                <a:cs typeface="Aptos"/>
              </a:rPr>
              <a:t>BLOCKED</a:t>
            </a:r>
          </a:p>
        </p:txBody>
      </p:sp>
      <p:sp>
        <p:nvSpPr>
          <p:cNvPr id="33" name="">
            <a:extLst xmlns:a="http://schemas.openxmlformats.org/drawingml/2006/main">
              <a:ext uri="{FF2B5EF4-FFF2-40B4-BE49-F238E27FC236}">
                <a16:creationId xmlns:a16="http://schemas.microsoft.com/office/drawing/2014/main" id="{B9B34011-0774-4F48-96CF-25B63F7A02B6}"/>
              </a:ext>
            </a:extLst>
          </p:cNvPr>
          <p:cNvSpPr>
            <a:spLocks xmlns:a="http://schemas.openxmlformats.org/drawingml/2006/main" noGrp="1"/>
          </p:cNvSpPr>
          <p:nvPr/>
        </p:nvSpPr>
        <p:spPr>
          <a:xfrm xmlns:a="http://schemas.openxmlformats.org/drawingml/2006/main">
            <a:off x="7277100" y="518160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202A33"/>
                </a:solidFill>
                <a:latin typeface="Aptos"/>
                <a:ea typeface="Aptos"/>
                <a:cs typeface="Aptos"/>
              </a:defRPr>
            </a:pPr>
            <a:r>
              <a:rPr sz="1200" b="1">
                <a:solidFill>
                  <a:srgbClr val="202A33"/>
                </a:solidFill>
                <a:latin typeface="Aptos"/>
                <a:ea typeface="Aptos"/>
                <a:cs typeface="Aptos"/>
              </a:rPr>
              <a:t>selected versions, SBOM components, CVE labels</a:t>
            </a:r>
          </a:p>
        </p:txBody>
      </p:sp>
      <p:sp>
        <p:nvSpPr>
          <p:cNvPr id="34" name="">
            <a:extLst xmlns:a="http://schemas.openxmlformats.org/drawingml/2006/main">
              <a:ext uri="{FF2B5EF4-FFF2-40B4-BE49-F238E27FC236}">
                <a16:creationId xmlns:a16="http://schemas.microsoft.com/office/drawing/2014/main" id="{C39CB0D2-8871-4CC4-BF89-26F8D05AA25B}"/>
              </a:ext>
            </a:extLst>
          </p:cNvPr>
          <p:cNvSpPr>
            <a:spLocks xmlns:a="http://schemas.openxmlformats.org/drawingml/2006/main" noGrp="1"/>
          </p:cNvSpPr>
          <p:nvPr/>
        </p:nvSpPr>
        <p:spPr>
          <a:xfrm xmlns:a="http://schemas.openxmlformats.org/drawingml/2006/main">
            <a:off x="2000250" y="619125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65717A"/>
                </a:solidFill>
                <a:latin typeface="Aptos"/>
                <a:ea typeface="Aptos"/>
                <a:cs typeface="Aptos"/>
              </a:defRPr>
            </a:pPr>
            <a:r>
              <a:rPr sz="1050" b="1">
                <a:solidFill>
                  <a:srgbClr val="65717A"/>
                </a:solidFill>
                <a:latin typeface="Aptos"/>
                <a:ea typeface="Aptos"/>
                <a:cs typeface="Aptos"/>
              </a:rPr>
              <a:t>31,589 local evidence rows  |  strict APK promotion candidates: 0</a:t>
            </a:r>
          </a:p>
        </p:txBody>
      </p:sp>
      <p:sp>
        <p:nvSpPr>
          <p:cNvPr id="35" name="">
            <a:extLst xmlns:a="http://schemas.openxmlformats.org/drawingml/2006/main">
              <a:ext uri="{FF2B5EF4-FFF2-40B4-BE49-F238E27FC236}">
                <a16:creationId xmlns:a16="http://schemas.microsoft.com/office/drawing/2014/main" id="{9E43C72B-9E12-4CAA-850E-F0D5E6C3A31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694700694"/>
      </p:ext>
    </p:extLst>
  </p:cSld>
</p:sld>
</file>

<file path=ppt/slides/slide29.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8BE63F1-83E0-427D-8C87-DE7BC7249F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FD0AF0-A7B9-4F58-97A4-BF84DA35806F}"/>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549D5FF-7937-4658-BE1B-0D35D0607058}"/>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4F7D76"/>
                </a:solidFill>
                <a:latin typeface="Aptos"/>
                <a:ea typeface="Aptos"/>
                <a:cs typeface="Aptos"/>
              </a:defRPr>
            </a:pPr>
            <a:r>
              <a:rPr sz="900" b="1">
                <a:solidFill>
                  <a:srgbClr val="4F7D76"/>
                </a:solidFill>
                <a:latin typeface="Aptos"/>
                <a:ea typeface="Aptos"/>
                <a:cs typeface="Aptos"/>
              </a:rPr>
              <a:t>LIVE DEMO EVIDENCE</a:t>
            </a:r>
          </a:p>
        </p:txBody>
      </p:sp>
      <p:sp>
        <p:nvSpPr>
          <p:cNvPr id="4" name="">
            <a:extLst xmlns:a="http://schemas.openxmlformats.org/drawingml/2006/main">
              <a:ext uri="{FF2B5EF4-FFF2-40B4-BE49-F238E27FC236}">
                <a16:creationId xmlns:a16="http://schemas.microsoft.com/office/drawing/2014/main" id="{3A07BAAF-3BE7-4DCF-A3FC-E3E46A5C2C49}"/>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reproducible demo command returns a 10/10 verdict and keeps AI report-only</a:t>
            </a:r>
          </a:p>
        </p:txBody>
      </p:sp>
      <p:sp>
        <p:nvSpPr>
          <p:cNvPr id="5" name="">
            <a:extLst xmlns:a="http://schemas.openxmlformats.org/drawingml/2006/main">
              <a:ext uri="{FF2B5EF4-FFF2-40B4-BE49-F238E27FC236}">
                <a16:creationId xmlns:a16="http://schemas.microsoft.com/office/drawing/2014/main" id="{18EAE173-E276-47FC-8207-3B89E45D5224}"/>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8290A6"/>
                </a:solidFill>
                <a:latin typeface="Aptos"/>
                <a:ea typeface="Aptos"/>
                <a:cs typeface="Aptos"/>
              </a:defRPr>
            </a:pPr>
            <a:r>
              <a:rPr sz="900" b="1">
                <a:solidFill>
                  <a:srgbClr val="8290A6"/>
                </a:solidFill>
                <a:latin typeface="Aptos"/>
                <a:ea typeface="Aptos"/>
                <a:cs typeface="Aptos"/>
              </a:rPr>
              <a:t>29</a:t>
            </a:r>
          </a:p>
        </p:txBody>
      </p:sp>
      <p:sp>
        <p:nvSpPr>
          <p:cNvPr id="6" name="">
            <a:extLst xmlns:a="http://schemas.openxmlformats.org/drawingml/2006/main">
              <a:ext uri="{FF2B5EF4-FFF2-40B4-BE49-F238E27FC236}">
                <a16:creationId xmlns:a16="http://schemas.microsoft.com/office/drawing/2014/main" id="{F9943671-055F-40B8-AD9D-7A20627552B7}"/>
              </a:ext>
            </a:extLst>
          </p:cNvPr>
          <p:cNvSpPr>
            <a:spLocks xmlns:a="http://schemas.openxmlformats.org/drawingml/2006/main" noGrp="1"/>
          </p:cNvSpPr>
          <p:nvPr/>
        </p:nvSpPr>
        <p:spPr>
          <a:xfrm xmlns:a="http://schemas.openxmlformats.org/drawingml/2006/main">
            <a:off x="609600" y="1428750"/>
            <a:ext cx="5715000" cy="3905250"/>
          </a:xfrm>
          <a:prstGeom xmlns:a="http://schemas.openxmlformats.org/drawingml/2006/main" prst="rect">
            <a:avLst/>
          </a:prstGeom>
          <a:solidFill xmlns:a="http://schemas.openxmlformats.org/drawingml/2006/main">
            <a:srgbClr val="101820"/>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362D848B-5727-486A-B533-41E5FDDB02B9}"/>
              </a:ext>
            </a:extLst>
          </p:cNvPr>
          <p:cNvSpPr>
            <a:spLocks xmlns:a="http://schemas.openxmlformats.org/drawingml/2006/main" noGrp="1"/>
          </p:cNvSpPr>
          <p:nvPr/>
        </p:nvSpPr>
        <p:spPr>
          <a:xfrm xmlns:a="http://schemas.openxmlformats.org/drawingml/2006/main">
            <a:off x="609600" y="1428750"/>
            <a:ext cx="5715000" cy="342900"/>
          </a:xfrm>
          <a:prstGeom xmlns:a="http://schemas.openxmlformats.org/drawingml/2006/main" prst="rect">
            <a:avLst/>
          </a:prstGeom>
          <a:solidFill xmlns:a="http://schemas.openxmlformats.org/drawingml/2006/main">
            <a:srgbClr val="2230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5ED63B9-D024-4F0C-A69B-AA4A30AC639A}"/>
              </a:ext>
            </a:extLst>
          </p:cNvPr>
          <p:cNvSpPr>
            <a:spLocks xmlns:a="http://schemas.openxmlformats.org/drawingml/2006/main" noGrp="1"/>
          </p:cNvSpPr>
          <p:nvPr/>
        </p:nvSpPr>
        <p:spPr>
          <a:xfrm xmlns:a="http://schemas.openxmlformats.org/drawingml/2006/main">
            <a:off x="800100" y="1524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PowerShell  |  project .venv</a:t>
            </a:r>
          </a:p>
        </p:txBody>
      </p:sp>
      <p:sp>
        <p:nvSpPr>
          <p:cNvPr id="9" name="">
            <a:extLst xmlns:a="http://schemas.openxmlformats.org/drawingml/2006/main">
              <a:ext uri="{FF2B5EF4-FFF2-40B4-BE49-F238E27FC236}">
                <a16:creationId xmlns:a16="http://schemas.microsoft.com/office/drawing/2014/main" id="{5AD3CBEC-79E8-43E5-8EA0-39C5045B5DCB}"/>
              </a:ext>
            </a:extLst>
          </p:cNvPr>
          <p:cNvSpPr>
            <a:spLocks xmlns:a="http://schemas.openxmlformats.org/drawingml/2006/main" noGrp="1"/>
          </p:cNvSpPr>
          <p:nvPr/>
        </p:nvSpPr>
        <p:spPr>
          <a:xfrm xmlns:a="http://schemas.openxmlformats.org/drawingml/2006/main">
            <a:off x="819150" y="2000250"/>
            <a:ext cx="521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4F7D76"/>
                </a:solidFill>
                <a:latin typeface="Cascadia Mono"/>
                <a:ea typeface="Cascadia Mono"/>
                <a:cs typeface="Cascadia Mono"/>
              </a:defRPr>
            </a:pPr>
            <a:r>
              <a:rPr sz="1050" b="1">
                <a:solidFill>
                  <a:srgbClr val="4F7D76"/>
                </a:solidFill>
                <a:latin typeface="Cascadia Mono"/>
                <a:ea typeface="Cascadia Mono"/>
                <a:cs typeface="Cascadia Mono"/>
              </a:rPr>
              <a:t>.\.venv\Scripts\python.exe scripts\run_final_ai_defense_demo.py --refresh</a:t>
            </a:r>
          </a:p>
        </p:txBody>
      </p:sp>
      <p:sp>
        <p:nvSpPr>
          <p:cNvPr id="10" name="">
            <a:extLst xmlns:a="http://schemas.openxmlformats.org/drawingml/2006/main">
              <a:ext uri="{FF2B5EF4-FFF2-40B4-BE49-F238E27FC236}">
                <a16:creationId xmlns:a16="http://schemas.microsoft.com/office/drawing/2014/main" id="{4BD4360B-0E48-4F8D-8CD9-E39B7DB71307}"/>
              </a:ext>
            </a:extLst>
          </p:cNvPr>
          <p:cNvSpPr>
            <a:spLocks xmlns:a="http://schemas.openxmlformats.org/drawingml/2006/main" noGrp="1"/>
          </p:cNvSpPr>
          <p:nvPr/>
        </p:nvSpPr>
        <p:spPr>
          <a:xfrm xmlns:a="http://schemas.openxmlformats.org/drawingml/2006/main">
            <a:off x="819150" y="2628900"/>
            <a:ext cx="52197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a:t>
            </a:r>
          </a:p>
          <a:p xmlns:a="http://schemas.openxmlformats.org/drawingml/2006/main">
            <a:pPr algn="l">
              <a:buNone/>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  "checks_passed": 10,</a:t>
            </a:r>
          </a:p>
          <a:p xmlns:a="http://schemas.openxmlformats.org/drawingml/2006/main">
            <a:pPr algn="l">
              <a:buNone/>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  "checks_total": 10,</a:t>
            </a:r>
          </a:p>
          <a:p xmlns:a="http://schemas.openxmlformats.org/drawingml/2006/main">
            <a:pPr algn="l">
              <a:buNone/>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  "ready": true,</a:t>
            </a:r>
          </a:p>
          <a:p xmlns:a="http://schemas.openxmlformats.org/drawingml/2006/main">
            <a:pPr algn="l">
              <a:buNone/>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  "matcher_authority_ready": false</a:t>
            </a:r>
          </a:p>
          <a:p xmlns:a="http://schemas.openxmlformats.org/drawingml/2006/main">
            <a:pPr algn="l">
              <a:buNone/>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a:t>
            </a:r>
          </a:p>
        </p:txBody>
      </p:sp>
      <p:sp>
        <p:nvSpPr>
          <p:cNvPr id="11" name="rule">
            <a:extLst xmlns:a="http://schemas.openxmlformats.org/drawingml/2006/main">
              <a:ext uri="{FF2B5EF4-FFF2-40B4-BE49-F238E27FC236}">
                <a16:creationId xmlns:a16="http://schemas.microsoft.com/office/drawing/2014/main" id="{83603ADB-36D8-40EC-9F3E-D838EC3705FF}"/>
              </a:ext>
            </a:extLst>
          </p:cNvPr>
          <p:cNvSpPr>
            <a:spLocks xmlns:a="http://schemas.openxmlformats.org/drawingml/2006/main" noGrp="1"/>
          </p:cNvSpPr>
          <p:nvPr/>
        </p:nvSpPr>
        <p:spPr>
          <a:xfrm xmlns:a="http://schemas.openxmlformats.org/drawingml/2006/main">
            <a:off x="819150" y="4229100"/>
            <a:ext cx="52197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145A937-30CC-4F1B-A294-113E5F7A1C10}"/>
              </a:ext>
            </a:extLst>
          </p:cNvPr>
          <p:cNvSpPr>
            <a:spLocks xmlns:a="http://schemas.openxmlformats.org/drawingml/2006/main" noGrp="1"/>
          </p:cNvSpPr>
          <p:nvPr/>
        </p:nvSpPr>
        <p:spPr>
          <a:xfrm xmlns:a="http://schemas.openxmlformats.org/drawingml/2006/main">
            <a:off x="819150" y="43815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8D754D"/>
                </a:solidFill>
                <a:latin typeface="Aptos"/>
                <a:ea typeface="Aptos"/>
                <a:cs typeface="Aptos"/>
              </a:defRPr>
            </a:pPr>
            <a:r>
              <a:rPr sz="900" b="1">
                <a:solidFill>
                  <a:srgbClr val="8D754D"/>
                </a:solidFill>
                <a:latin typeface="Aptos"/>
                <a:ea typeface="Aptos"/>
                <a:cs typeface="Aptos"/>
              </a:rPr>
              <a:t>Model reruns</a:t>
            </a:r>
          </a:p>
        </p:txBody>
      </p:sp>
      <p:sp>
        <p:nvSpPr>
          <p:cNvPr id="13" name="">
            <a:extLst xmlns:a="http://schemas.openxmlformats.org/drawingml/2006/main">
              <a:ext uri="{FF2B5EF4-FFF2-40B4-BE49-F238E27FC236}">
                <a16:creationId xmlns:a16="http://schemas.microsoft.com/office/drawing/2014/main" id="{5DF152A9-43A8-4B1F-9F0A-152053B3BEB6}"/>
              </a:ext>
            </a:extLst>
          </p:cNvPr>
          <p:cNvSpPr>
            <a:spLocks xmlns:a="http://schemas.openxmlformats.org/drawingml/2006/main" noGrp="1"/>
          </p:cNvSpPr>
          <p:nvPr/>
        </p:nvSpPr>
        <p:spPr>
          <a:xfrm xmlns:a="http://schemas.openxmlformats.org/drawingml/2006/main">
            <a:off x="819150" y="4686300"/>
            <a:ext cx="521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C4CEDA"/>
                </a:solidFill>
                <a:latin typeface="Cascadia Mono"/>
                <a:ea typeface="Cascadia Mono"/>
                <a:cs typeface="Cascadia Mono"/>
              </a:defRPr>
            </a:pPr>
            <a:r>
              <a:rPr sz="975" b="1">
                <a:solidFill>
                  <a:srgbClr val="C4CEDA"/>
                </a:solidFill>
                <a:latin typeface="Cascadia Mono"/>
                <a:ea typeface="Cascadia Mono"/>
                <a:cs typeface="Cascadia Mono"/>
              </a:rPr>
              <a:t>RandomForest  0.708   |   MVP-safe Transformer  0.882</a:t>
            </a:r>
          </a:p>
          <a:p xmlns:a="http://schemas.openxmlformats.org/drawingml/2006/main">
            <a:pPr algn="l">
              <a:buNone/>
              <a:defRPr sz="975" b="1">
                <a:solidFill>
                  <a:srgbClr val="C4CEDA"/>
                </a:solidFill>
                <a:latin typeface="Cascadia Mono"/>
                <a:ea typeface="Cascadia Mono"/>
                <a:cs typeface="Cascadia Mono"/>
              </a:defRPr>
            </a:pPr>
            <a:r>
              <a:rPr sz="975" b="1">
                <a:solidFill>
                  <a:srgbClr val="C4CEDA"/>
                </a:solidFill>
                <a:latin typeface="Cascadia Mono"/>
                <a:ea typeface="Cascadia Mono"/>
                <a:cs typeface="Cascadia Mono"/>
              </a:rPr>
              <a:t>Raw opcode Transformer  0.110 &lt; 0.128 baseline</a:t>
            </a:r>
          </a:p>
        </p:txBody>
      </p:sp>
      <p:sp>
        <p:nvSpPr>
          <p:cNvPr id="14" name="">
            <a:extLst xmlns:a="http://schemas.openxmlformats.org/drawingml/2006/main">
              <a:ext uri="{FF2B5EF4-FFF2-40B4-BE49-F238E27FC236}">
                <a16:creationId xmlns:a16="http://schemas.microsoft.com/office/drawing/2014/main" id="{194A0FDD-EED6-418D-9D83-56EC745CDD08}"/>
              </a:ext>
            </a:extLst>
          </p:cNvPr>
          <p:cNvSpPr>
            <a:spLocks xmlns:a="http://schemas.openxmlformats.org/drawingml/2006/main" noGrp="1"/>
          </p:cNvSpPr>
          <p:nvPr/>
        </p:nvSpPr>
        <p:spPr>
          <a:xfrm xmlns:a="http://schemas.openxmlformats.org/drawingml/2006/main">
            <a:off x="6629400" y="1428750"/>
            <a:ext cx="4876800" cy="314325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01316aec14584564"/>
          <a:stretch xmlns:a="http://schemas.openxmlformats.org/drawingml/2006/main"/>
        </p:blipFill>
        <p:spPr>
          <a:xfrm xmlns:a="http://schemas.openxmlformats.org/drawingml/2006/main">
            <a:off x="6914388" y="1504950"/>
            <a:ext cx="4306824" cy="29908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569DDEA-9B15-4588-8EAD-18CC6FD69909}"/>
              </a:ext>
            </a:extLst>
          </p:cNvPr>
          <p:cNvSpPr>
            <a:spLocks xmlns:a="http://schemas.openxmlformats.org/drawingml/2006/main" noGrp="1"/>
          </p:cNvSpPr>
          <p:nvPr/>
        </p:nvSpPr>
        <p:spPr>
          <a:xfrm xmlns:a="http://schemas.openxmlformats.org/drawingml/2006/main">
            <a:off x="6838950" y="4743450"/>
            <a:ext cx="4457700" cy="266700"/>
          </a:xfrm>
          <a:prstGeom xmlns:a="http://schemas.openxmlformats.org/drawingml/2006/main" prst="rect">
            <a:avLst/>
          </a:prstGeom>
          <a:solidFill xmlns:a="http://schemas.openxmlformats.org/drawingml/2006/main">
            <a:srgbClr val="22303C"/>
          </a:solidFill>
          <a:ln xmlns:a="http://schemas.openxmlformats.org/drawingml/2006/main" w="9525">
            <a:solidFill>
              <a:srgbClr val="655F73"/>
            </a:solidFill>
            <a:prstDash val="solid"/>
          </a:ln>
        </p:spPr>
      </p:sp>
      <p:sp>
        <p:nvSpPr>
          <p:cNvPr id="17" name="">
            <a:extLst xmlns:a="http://schemas.openxmlformats.org/drawingml/2006/main">
              <a:ext uri="{FF2B5EF4-FFF2-40B4-BE49-F238E27FC236}">
                <a16:creationId xmlns:a16="http://schemas.microsoft.com/office/drawing/2014/main" id="{E524C978-9068-4866-8EE5-8901282ED3C4}"/>
              </a:ext>
            </a:extLst>
          </p:cNvPr>
          <p:cNvSpPr>
            <a:spLocks xmlns:a="http://schemas.openxmlformats.org/drawingml/2006/main" noGrp="1"/>
          </p:cNvSpPr>
          <p:nvPr/>
        </p:nvSpPr>
        <p:spPr>
          <a:xfrm xmlns:a="http://schemas.openxmlformats.org/drawingml/2006/main">
            <a:off x="6905625" y="4800600"/>
            <a:ext cx="4324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55F73"/>
                </a:solidFill>
                <a:latin typeface="Aptos"/>
                <a:ea typeface="Aptos"/>
                <a:cs typeface="Aptos"/>
              </a:defRPr>
            </a:pPr>
            <a:r>
              <a:rPr sz="825" b="1">
                <a:solidFill>
                  <a:srgbClr val="655F73"/>
                </a:solidFill>
                <a:latin typeface="Aptos"/>
                <a:ea typeface="Aptos"/>
                <a:cs typeface="Aptos"/>
              </a:rPr>
              <a:t>Aegis hard APK  |  7 emitted components</a:t>
            </a:r>
          </a:p>
        </p:txBody>
      </p:sp>
      <p:sp>
        <p:nvSpPr>
          <p:cNvPr id="18" name="">
            <a:extLst xmlns:a="http://schemas.openxmlformats.org/drawingml/2006/main">
              <a:ext uri="{FF2B5EF4-FFF2-40B4-BE49-F238E27FC236}">
                <a16:creationId xmlns:a16="http://schemas.microsoft.com/office/drawing/2014/main" id="{53B616B0-EEB2-4BA5-A24B-EDE9E42E9005}"/>
              </a:ext>
            </a:extLst>
          </p:cNvPr>
          <p:cNvSpPr>
            <a:spLocks xmlns:a="http://schemas.openxmlformats.org/drawingml/2006/main" noGrp="1"/>
          </p:cNvSpPr>
          <p:nvPr/>
        </p:nvSpPr>
        <p:spPr>
          <a:xfrm xmlns:a="http://schemas.openxmlformats.org/drawingml/2006/main">
            <a:off x="6629400" y="5181600"/>
            <a:ext cx="4876800" cy="78105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19" name="">
            <a:extLst xmlns:a="http://schemas.openxmlformats.org/drawingml/2006/main">
              <a:ext uri="{FF2B5EF4-FFF2-40B4-BE49-F238E27FC236}">
                <a16:creationId xmlns:a16="http://schemas.microsoft.com/office/drawing/2014/main" id="{E02B43E6-B5D1-48FC-8CDC-4BB426C1336D}"/>
              </a:ext>
            </a:extLst>
          </p:cNvPr>
          <p:cNvSpPr>
            <a:spLocks xmlns:a="http://schemas.openxmlformats.org/drawingml/2006/main" noGrp="1"/>
          </p:cNvSpPr>
          <p:nvPr/>
        </p:nvSpPr>
        <p:spPr>
          <a:xfrm xmlns:a="http://schemas.openxmlformats.org/drawingml/2006/main">
            <a:off x="6819900" y="53530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A65C55"/>
                </a:solidFill>
                <a:latin typeface="Aptos"/>
                <a:ea typeface="Aptos"/>
                <a:cs typeface="Aptos"/>
              </a:defRPr>
            </a:pPr>
            <a:r>
              <a:rPr sz="825" b="1">
                <a:solidFill>
                  <a:srgbClr val="A65C55"/>
                </a:solidFill>
                <a:latin typeface="Aptos"/>
                <a:ea typeface="Aptos"/>
                <a:cs typeface="Aptos"/>
              </a:rPr>
              <a:t>GUARDRAIL</a:t>
            </a:r>
          </a:p>
        </p:txBody>
      </p:sp>
      <p:sp>
        <p:nvSpPr>
          <p:cNvPr id="20" name="">
            <a:extLst xmlns:a="http://schemas.openxmlformats.org/drawingml/2006/main">
              <a:ext uri="{FF2B5EF4-FFF2-40B4-BE49-F238E27FC236}">
                <a16:creationId xmlns:a16="http://schemas.microsoft.com/office/drawing/2014/main" id="{46DEF35D-D7C1-40DC-96DE-3346D8C11073}"/>
              </a:ext>
            </a:extLst>
          </p:cNvPr>
          <p:cNvSpPr>
            <a:spLocks xmlns:a="http://schemas.openxmlformats.org/drawingml/2006/main" noGrp="1"/>
          </p:cNvSpPr>
          <p:nvPr/>
        </p:nvSpPr>
        <p:spPr>
          <a:xfrm xmlns:a="http://schemas.openxmlformats.org/drawingml/2006/main">
            <a:off x="7905750" y="5276850"/>
            <a:ext cx="3371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FFFFFF"/>
                </a:solidFill>
                <a:latin typeface="Aptos"/>
                <a:ea typeface="Aptos"/>
                <a:cs typeface="Aptos"/>
              </a:defRPr>
            </a:pPr>
            <a:r>
              <a:rPr sz="900" b="1">
                <a:solidFill>
                  <a:srgbClr val="FFFFFF"/>
                </a:solidFill>
                <a:latin typeface="Aptos"/>
                <a:ea typeface="Aptos"/>
                <a:cs typeface="Aptos"/>
              </a:rPr>
              <a:t>AI changes report wording and triage only; selected versions, SBOM components, and CVE labels remain deterministic.</a:t>
            </a:r>
          </a:p>
        </p:txBody>
      </p:sp>
      <p:sp>
        <p:nvSpPr>
          <p:cNvPr id="21" name="">
            <a:extLst xmlns:a="http://schemas.openxmlformats.org/drawingml/2006/main">
              <a:ext uri="{FF2B5EF4-FFF2-40B4-BE49-F238E27FC236}">
                <a16:creationId xmlns:a16="http://schemas.microsoft.com/office/drawing/2014/main" id="{2EE4DC88-E427-4291-BC9C-B0FDE5CA2202}"/>
              </a:ext>
            </a:extLst>
          </p:cNvPr>
          <p:cNvSpPr>
            <a:spLocks xmlns:a="http://schemas.openxmlformats.org/drawingml/2006/main" noGrp="1"/>
          </p:cNvSpPr>
          <p:nvPr/>
        </p:nvSpPr>
        <p:spPr>
          <a:xfrm xmlns:a="http://schemas.openxmlformats.org/drawingml/2006/main">
            <a:off x="1143000" y="5981700"/>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8D754D"/>
                </a:solidFill>
                <a:latin typeface="Aptos"/>
                <a:ea typeface="Aptos"/>
                <a:cs typeface="Aptos"/>
              </a:defRPr>
            </a:pPr>
            <a:r>
              <a:rPr sz="1125" b="1">
                <a:solidFill>
                  <a:srgbClr val="8D754D"/>
                </a:solidFill>
                <a:latin typeface="Aptos"/>
                <a:ea typeface="Aptos"/>
                <a:cs typeface="Aptos"/>
              </a:rPr>
              <a:t>Present from saved reports; do not rebuild the 15.8 GB DB during the defense.</a:t>
            </a:r>
          </a:p>
        </p:txBody>
      </p:sp>
      <p:sp>
        <p:nvSpPr>
          <p:cNvPr id="22" name="">
            <a:extLst xmlns:a="http://schemas.openxmlformats.org/drawingml/2006/main">
              <a:ext uri="{FF2B5EF4-FFF2-40B4-BE49-F238E27FC236}">
                <a16:creationId xmlns:a16="http://schemas.microsoft.com/office/drawing/2014/main" id="{E6475829-61C9-46D6-90D9-A2950DFCB17E}"/>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281978809"/>
      </p:ext>
    </p:extLst>
  </p:cSld>
</p:sld>
</file>

<file path=ppt/slides/slide30.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B1D4F7B-2217-4477-ACF8-69FE1508C00A}"/>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8D754D"/>
                </a:solidFill>
                <a:latin typeface="Aptos"/>
                <a:ea typeface="Aptos"/>
                <a:cs typeface="Aptos"/>
              </a:defRPr>
            </a:pPr>
            <a:r>
              <a:rPr sz="900" b="1">
                <a:solidFill>
                  <a:srgbClr val="8D754D"/>
                </a:solidFill>
                <a:latin typeface="Aptos"/>
                <a:ea typeface="Aptos"/>
                <a:cs typeface="Aptos"/>
              </a:rPr>
              <a:t>LIMITATIONS AND FUTURE WORK</a:t>
            </a:r>
          </a:p>
        </p:txBody>
      </p:sp>
      <p:sp>
        <p:nvSpPr>
          <p:cNvPr id="2" name="">
            <a:extLst xmlns:a="http://schemas.openxmlformats.org/drawingml/2006/main">
              <a:ext uri="{FF2B5EF4-FFF2-40B4-BE49-F238E27FC236}">
                <a16:creationId xmlns:a16="http://schemas.microsoft.com/office/drawing/2014/main" id="{A78984BB-D2FE-4015-8847-F42932264A2A}"/>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next research steps follow directly from the remaining evidence gaps</a:t>
            </a:r>
          </a:p>
        </p:txBody>
      </p:sp>
      <p:sp>
        <p:nvSpPr>
          <p:cNvPr id="3" name="">
            <a:extLst xmlns:a="http://schemas.openxmlformats.org/drawingml/2006/main">
              <a:ext uri="{FF2B5EF4-FFF2-40B4-BE49-F238E27FC236}">
                <a16:creationId xmlns:a16="http://schemas.microsoft.com/office/drawing/2014/main" id="{31B8BFA2-007D-4D04-ADAA-00C5B52B037B}"/>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30</a:t>
            </a:r>
          </a:p>
        </p:txBody>
      </p:sp>
      <p:sp>
        <p:nvSpPr>
          <p:cNvPr id="4" name="">
            <a:extLst xmlns:a="http://schemas.openxmlformats.org/drawingml/2006/main">
              <a:ext uri="{FF2B5EF4-FFF2-40B4-BE49-F238E27FC236}">
                <a16:creationId xmlns:a16="http://schemas.microsoft.com/office/drawing/2014/main" id="{797B1AFE-3698-4978-9723-0516EBBBA091}"/>
              </a:ext>
            </a:extLst>
          </p:cNvPr>
          <p:cNvSpPr>
            <a:spLocks xmlns:a="http://schemas.openxmlformats.org/drawingml/2006/main" noGrp="1"/>
          </p:cNvSpPr>
          <p:nvPr/>
        </p:nvSpPr>
        <p:spPr>
          <a:xfrm xmlns:a="http://schemas.openxmlformats.org/drawingml/2006/main">
            <a:off x="685800" y="1562100"/>
            <a:ext cx="310515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5" name="">
            <a:extLst xmlns:a="http://schemas.openxmlformats.org/drawingml/2006/main">
              <a:ext uri="{FF2B5EF4-FFF2-40B4-BE49-F238E27FC236}">
                <a16:creationId xmlns:a16="http://schemas.microsoft.com/office/drawing/2014/main" id="{6909D60C-A98E-4008-A38C-6F807DF971A6}"/>
              </a:ext>
            </a:extLst>
          </p:cNvPr>
          <p:cNvSpPr>
            <a:spLocks xmlns:a="http://schemas.openxmlformats.org/drawingml/2006/main" noGrp="1"/>
          </p:cNvSpPr>
          <p:nvPr/>
        </p:nvSpPr>
        <p:spPr>
          <a:xfrm xmlns:a="http://schemas.openxmlformats.org/drawingml/2006/main">
            <a:off x="685800" y="1562100"/>
            <a:ext cx="3105150" cy="6667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AED428B-450D-4525-B048-F685229DC39E}"/>
              </a:ext>
            </a:extLst>
          </p:cNvPr>
          <p:cNvSpPr>
            <a:spLocks xmlns:a="http://schemas.openxmlformats.org/drawingml/2006/main" noGrp="1"/>
          </p:cNvSpPr>
          <p:nvPr/>
        </p:nvSpPr>
        <p:spPr>
          <a:xfrm xmlns:a="http://schemas.openxmlformats.org/drawingml/2006/main">
            <a:off x="857250" y="1771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CURRENT LIMIT</a:t>
            </a:r>
          </a:p>
        </p:txBody>
      </p:sp>
      <p:sp>
        <p:nvSpPr>
          <p:cNvPr id="7" name="">
            <a:extLst xmlns:a="http://schemas.openxmlformats.org/drawingml/2006/main">
              <a:ext uri="{FF2B5EF4-FFF2-40B4-BE49-F238E27FC236}">
                <a16:creationId xmlns:a16="http://schemas.microsoft.com/office/drawing/2014/main" id="{7950E283-AEE8-424D-B649-A534A6B5B7F6}"/>
              </a:ext>
            </a:extLst>
          </p:cNvPr>
          <p:cNvSpPr>
            <a:spLocks xmlns:a="http://schemas.openxmlformats.org/drawingml/2006/main" noGrp="1"/>
          </p:cNvSpPr>
          <p:nvPr/>
        </p:nvSpPr>
        <p:spPr>
          <a:xfrm xmlns:a="http://schemas.openxmlformats.org/drawingml/2006/main">
            <a:off x="933450" y="260985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351B555-48D3-4265-A17D-4F730711AF43}"/>
              </a:ext>
            </a:extLst>
          </p:cNvPr>
          <p:cNvSpPr>
            <a:spLocks xmlns:a="http://schemas.openxmlformats.org/drawingml/2006/main" noGrp="1"/>
          </p:cNvSpPr>
          <p:nvPr/>
        </p:nvSpPr>
        <p:spPr>
          <a:xfrm xmlns:a="http://schemas.openxmlformats.org/drawingml/2006/main">
            <a:off x="1181100" y="25146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02A33"/>
                </a:solidFill>
                <a:latin typeface="Aptos"/>
                <a:ea typeface="Aptos"/>
                <a:cs typeface="Aptos"/>
              </a:defRPr>
            </a:pPr>
            <a:r>
              <a:rPr sz="975" b="1">
                <a:solidFill>
                  <a:srgbClr val="202A33"/>
                </a:solidFill>
                <a:latin typeface="Aptos"/>
                <a:ea typeface="Aptos"/>
                <a:cs typeface="Aptos"/>
              </a:rPr>
              <a:t>adjacent AndroidX/Kotlin versions</a:t>
            </a:r>
          </a:p>
        </p:txBody>
      </p:sp>
      <p:sp>
        <p:nvSpPr>
          <p:cNvPr id="9" name="">
            <a:extLst xmlns:a="http://schemas.openxmlformats.org/drawingml/2006/main">
              <a:ext uri="{FF2B5EF4-FFF2-40B4-BE49-F238E27FC236}">
                <a16:creationId xmlns:a16="http://schemas.microsoft.com/office/drawing/2014/main" id="{9D268B5B-B2C6-47CA-BCA5-6239B0CB8912}"/>
              </a:ext>
            </a:extLst>
          </p:cNvPr>
          <p:cNvSpPr>
            <a:spLocks xmlns:a="http://schemas.openxmlformats.org/drawingml/2006/main" noGrp="1"/>
          </p:cNvSpPr>
          <p:nvPr/>
        </p:nvSpPr>
        <p:spPr>
          <a:xfrm xmlns:a="http://schemas.openxmlformats.org/drawingml/2006/main">
            <a:off x="933450" y="321945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8632606-E816-4667-B61D-879109EBBF68}"/>
              </a:ext>
            </a:extLst>
          </p:cNvPr>
          <p:cNvSpPr>
            <a:spLocks xmlns:a="http://schemas.openxmlformats.org/drawingml/2006/main" noGrp="1"/>
          </p:cNvSpPr>
          <p:nvPr/>
        </p:nvSpPr>
        <p:spPr>
          <a:xfrm xmlns:a="http://schemas.openxmlformats.org/drawingml/2006/main">
            <a:off x="1181100" y="31242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02A33"/>
                </a:solidFill>
                <a:latin typeface="Aptos"/>
                <a:ea typeface="Aptos"/>
                <a:cs typeface="Aptos"/>
              </a:defRPr>
            </a:pPr>
            <a:r>
              <a:rPr sz="975" b="1">
                <a:solidFill>
                  <a:srgbClr val="202A33"/>
                </a:solidFill>
                <a:latin typeface="Aptos"/>
                <a:ea typeface="Aptos"/>
                <a:cs typeface="Aptos"/>
              </a:rPr>
              <a:t>reference coverage gaps</a:t>
            </a:r>
          </a:p>
        </p:txBody>
      </p:sp>
      <p:sp>
        <p:nvSpPr>
          <p:cNvPr id="11" name="">
            <a:extLst xmlns:a="http://schemas.openxmlformats.org/drawingml/2006/main">
              <a:ext uri="{FF2B5EF4-FFF2-40B4-BE49-F238E27FC236}">
                <a16:creationId xmlns:a16="http://schemas.microsoft.com/office/drawing/2014/main" id="{73533DC2-4BE8-4DE3-80E1-3AA413E84C6E}"/>
              </a:ext>
            </a:extLst>
          </p:cNvPr>
          <p:cNvSpPr>
            <a:spLocks xmlns:a="http://schemas.openxmlformats.org/drawingml/2006/main" noGrp="1"/>
          </p:cNvSpPr>
          <p:nvPr/>
        </p:nvSpPr>
        <p:spPr>
          <a:xfrm xmlns:a="http://schemas.openxmlformats.org/drawingml/2006/main">
            <a:off x="933450" y="382905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A347099-01A1-40A7-923A-9376716D960C}"/>
              </a:ext>
            </a:extLst>
          </p:cNvPr>
          <p:cNvSpPr>
            <a:spLocks xmlns:a="http://schemas.openxmlformats.org/drawingml/2006/main" noGrp="1"/>
          </p:cNvSpPr>
          <p:nvPr/>
        </p:nvSpPr>
        <p:spPr>
          <a:xfrm xmlns:a="http://schemas.openxmlformats.org/drawingml/2006/main">
            <a:off x="1181100" y="37338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02A33"/>
                </a:solidFill>
                <a:latin typeface="Aptos"/>
                <a:ea typeface="Aptos"/>
                <a:cs typeface="Aptos"/>
              </a:defRPr>
            </a:pPr>
            <a:r>
              <a:rPr sz="975" b="1">
                <a:solidFill>
                  <a:srgbClr val="202A33"/>
                </a:solidFill>
                <a:latin typeface="Aptos"/>
                <a:ea typeface="Aptos"/>
                <a:cs typeface="Aptos"/>
              </a:rPr>
              <a:t>R8 inlining and removed evidence</a:t>
            </a:r>
          </a:p>
        </p:txBody>
      </p:sp>
      <p:sp>
        <p:nvSpPr>
          <p:cNvPr id="13" name="">
            <a:extLst xmlns:a="http://schemas.openxmlformats.org/drawingml/2006/main">
              <a:ext uri="{FF2B5EF4-FFF2-40B4-BE49-F238E27FC236}">
                <a16:creationId xmlns:a16="http://schemas.microsoft.com/office/drawing/2014/main" id="{E753DECA-5713-4F71-8D27-4785862BC67D}"/>
              </a:ext>
            </a:extLst>
          </p:cNvPr>
          <p:cNvSpPr>
            <a:spLocks xmlns:a="http://schemas.openxmlformats.org/drawingml/2006/main" noGrp="1"/>
          </p:cNvSpPr>
          <p:nvPr/>
        </p:nvSpPr>
        <p:spPr>
          <a:xfrm xmlns:a="http://schemas.openxmlformats.org/drawingml/2006/main">
            <a:off x="933450" y="443865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FFBA0C8-4D63-4EC3-AF5A-79C3219B9087}"/>
              </a:ext>
            </a:extLst>
          </p:cNvPr>
          <p:cNvSpPr>
            <a:spLocks xmlns:a="http://schemas.openxmlformats.org/drawingml/2006/main" noGrp="1"/>
          </p:cNvSpPr>
          <p:nvPr/>
        </p:nvSpPr>
        <p:spPr>
          <a:xfrm xmlns:a="http://schemas.openxmlformats.org/drawingml/2006/main">
            <a:off x="1181100" y="43434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02A33"/>
                </a:solidFill>
                <a:latin typeface="Aptos"/>
                <a:ea typeface="Aptos"/>
                <a:cs typeface="Aptos"/>
              </a:defRPr>
            </a:pPr>
            <a:r>
              <a:rPr sz="975" b="1">
                <a:solidFill>
                  <a:srgbClr val="202A33"/>
                </a:solidFill>
                <a:latin typeface="Aptos"/>
                <a:ea typeface="Aptos"/>
                <a:cs typeface="Aptos"/>
              </a:rPr>
              <a:t>native and hidden-code boundaries</a:t>
            </a:r>
          </a:p>
        </p:txBody>
      </p:sp>
      <p:sp>
        <p:nvSpPr>
          <p:cNvPr id="15" name="">
            <a:extLst xmlns:a="http://schemas.openxmlformats.org/drawingml/2006/main">
              <a:ext uri="{FF2B5EF4-FFF2-40B4-BE49-F238E27FC236}">
                <a16:creationId xmlns:a16="http://schemas.microsoft.com/office/drawing/2014/main" id="{DF7B82EB-7F39-4987-9FF2-2AEC0F1C9035}"/>
              </a:ext>
            </a:extLst>
          </p:cNvPr>
          <p:cNvSpPr>
            <a:spLocks xmlns:a="http://schemas.openxmlformats.org/drawingml/2006/main" noGrp="1"/>
          </p:cNvSpPr>
          <p:nvPr/>
        </p:nvSpPr>
        <p:spPr>
          <a:xfrm xmlns:a="http://schemas.openxmlformats.org/drawingml/2006/main">
            <a:off x="4095750" y="1562100"/>
            <a:ext cx="310515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16" name="">
            <a:extLst xmlns:a="http://schemas.openxmlformats.org/drawingml/2006/main">
              <a:ext uri="{FF2B5EF4-FFF2-40B4-BE49-F238E27FC236}">
                <a16:creationId xmlns:a16="http://schemas.microsoft.com/office/drawing/2014/main" id="{D5630D9B-F976-4C33-9D29-961681659013}"/>
              </a:ext>
            </a:extLst>
          </p:cNvPr>
          <p:cNvSpPr>
            <a:spLocks xmlns:a="http://schemas.openxmlformats.org/drawingml/2006/main" noGrp="1"/>
          </p:cNvSpPr>
          <p:nvPr/>
        </p:nvSpPr>
        <p:spPr>
          <a:xfrm xmlns:a="http://schemas.openxmlformats.org/drawingml/2006/main">
            <a:off x="4095750" y="1562100"/>
            <a:ext cx="3105150" cy="6667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5B740C4-429D-4B21-B5B4-EA2BA73A3BB4}"/>
              </a:ext>
            </a:extLst>
          </p:cNvPr>
          <p:cNvSpPr>
            <a:spLocks xmlns:a="http://schemas.openxmlformats.org/drawingml/2006/main" noGrp="1"/>
          </p:cNvSpPr>
          <p:nvPr/>
        </p:nvSpPr>
        <p:spPr>
          <a:xfrm xmlns:a="http://schemas.openxmlformats.org/drawingml/2006/main">
            <a:off x="4267200" y="1771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NEXT ENGINEERING</a:t>
            </a:r>
          </a:p>
        </p:txBody>
      </p:sp>
      <p:sp>
        <p:nvSpPr>
          <p:cNvPr id="18" name="">
            <a:extLst xmlns:a="http://schemas.openxmlformats.org/drawingml/2006/main">
              <a:ext uri="{FF2B5EF4-FFF2-40B4-BE49-F238E27FC236}">
                <a16:creationId xmlns:a16="http://schemas.microsoft.com/office/drawing/2014/main" id="{AF87018C-4889-4DA3-86B1-1A24772828C6}"/>
              </a:ext>
            </a:extLst>
          </p:cNvPr>
          <p:cNvSpPr>
            <a:spLocks xmlns:a="http://schemas.openxmlformats.org/drawingml/2006/main" noGrp="1"/>
          </p:cNvSpPr>
          <p:nvPr/>
        </p:nvSpPr>
        <p:spPr>
          <a:xfrm xmlns:a="http://schemas.openxmlformats.org/drawingml/2006/main">
            <a:off x="4343400" y="26098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1A1D96D-0257-44F0-84CA-35CA28F35463}"/>
              </a:ext>
            </a:extLst>
          </p:cNvPr>
          <p:cNvSpPr>
            <a:spLocks xmlns:a="http://schemas.openxmlformats.org/drawingml/2006/main" noGrp="1"/>
          </p:cNvSpPr>
          <p:nvPr/>
        </p:nvSpPr>
        <p:spPr>
          <a:xfrm xmlns:a="http://schemas.openxmlformats.org/drawingml/2006/main">
            <a:off x="4591050" y="25146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02A33"/>
                </a:solidFill>
                <a:latin typeface="Aptos"/>
                <a:ea typeface="Aptos"/>
                <a:cs typeface="Aptos"/>
              </a:defRPr>
            </a:pPr>
            <a:r>
              <a:rPr sz="975" b="1">
                <a:solidFill>
                  <a:srgbClr val="202A33"/>
                </a:solidFill>
                <a:latin typeface="Aptos"/>
                <a:ea typeface="Aptos"/>
                <a:cs typeface="Aptos"/>
              </a:rPr>
              <a:t>stronger candidate recall and pruning</a:t>
            </a:r>
          </a:p>
        </p:txBody>
      </p:sp>
      <p:sp>
        <p:nvSpPr>
          <p:cNvPr id="20" name="">
            <a:extLst xmlns:a="http://schemas.openxmlformats.org/drawingml/2006/main">
              <a:ext uri="{FF2B5EF4-FFF2-40B4-BE49-F238E27FC236}">
                <a16:creationId xmlns:a16="http://schemas.microsoft.com/office/drawing/2014/main" id="{7B09C6BA-D2C5-49AC-AECB-1AA81810D105}"/>
              </a:ext>
            </a:extLst>
          </p:cNvPr>
          <p:cNvSpPr>
            <a:spLocks xmlns:a="http://schemas.openxmlformats.org/drawingml/2006/main" noGrp="1"/>
          </p:cNvSpPr>
          <p:nvPr/>
        </p:nvSpPr>
        <p:spPr>
          <a:xfrm xmlns:a="http://schemas.openxmlformats.org/drawingml/2006/main">
            <a:off x="4343400" y="32194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8A6F408-5BB5-48A6-BCF8-CA8C72765029}"/>
              </a:ext>
            </a:extLst>
          </p:cNvPr>
          <p:cNvSpPr>
            <a:spLocks xmlns:a="http://schemas.openxmlformats.org/drawingml/2006/main" noGrp="1"/>
          </p:cNvSpPr>
          <p:nvPr/>
        </p:nvSpPr>
        <p:spPr>
          <a:xfrm xmlns:a="http://schemas.openxmlformats.org/drawingml/2006/main">
            <a:off x="4591050" y="31242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02A33"/>
                </a:solidFill>
                <a:latin typeface="Aptos"/>
                <a:ea typeface="Aptos"/>
                <a:cs typeface="Aptos"/>
              </a:defRPr>
            </a:pPr>
            <a:r>
              <a:rPr sz="975" b="1">
                <a:solidFill>
                  <a:srgbClr val="202A33"/>
                </a:solidFill>
                <a:latin typeface="Aptos"/>
                <a:ea typeface="Aptos"/>
                <a:cs typeface="Aptos"/>
              </a:rPr>
              <a:t>version-unique literal/context evidence</a:t>
            </a:r>
          </a:p>
        </p:txBody>
      </p:sp>
      <p:sp>
        <p:nvSpPr>
          <p:cNvPr id="22" name="">
            <a:extLst xmlns:a="http://schemas.openxmlformats.org/drawingml/2006/main">
              <a:ext uri="{FF2B5EF4-FFF2-40B4-BE49-F238E27FC236}">
                <a16:creationId xmlns:a16="http://schemas.microsoft.com/office/drawing/2014/main" id="{94FF263A-1FCB-4E28-BF0E-DE9AE79F65D2}"/>
              </a:ext>
            </a:extLst>
          </p:cNvPr>
          <p:cNvSpPr>
            <a:spLocks xmlns:a="http://schemas.openxmlformats.org/drawingml/2006/main" noGrp="1"/>
          </p:cNvSpPr>
          <p:nvPr/>
        </p:nvSpPr>
        <p:spPr>
          <a:xfrm xmlns:a="http://schemas.openxmlformats.org/drawingml/2006/main">
            <a:off x="4343400" y="38290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D067469-C3AC-4BF8-834B-9CF8B63B4D3A}"/>
              </a:ext>
            </a:extLst>
          </p:cNvPr>
          <p:cNvSpPr>
            <a:spLocks xmlns:a="http://schemas.openxmlformats.org/drawingml/2006/main" noGrp="1"/>
          </p:cNvSpPr>
          <p:nvPr/>
        </p:nvSpPr>
        <p:spPr>
          <a:xfrm xmlns:a="http://schemas.openxmlformats.org/drawingml/2006/main">
            <a:off x="4591050" y="37338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02A33"/>
                </a:solidFill>
                <a:latin typeface="Aptos"/>
                <a:ea typeface="Aptos"/>
                <a:cs typeface="Aptos"/>
              </a:defRPr>
            </a:pPr>
            <a:r>
              <a:rPr sz="975" b="1">
                <a:solidFill>
                  <a:srgbClr val="202A33"/>
                </a:solidFill>
                <a:latin typeface="Aptos"/>
                <a:ea typeface="Aptos"/>
                <a:cs typeface="Aptos"/>
              </a:rPr>
              <a:t>broader guarded reference growth</a:t>
            </a:r>
          </a:p>
        </p:txBody>
      </p:sp>
      <p:sp>
        <p:nvSpPr>
          <p:cNvPr id="24" name="">
            <a:extLst xmlns:a="http://schemas.openxmlformats.org/drawingml/2006/main">
              <a:ext uri="{FF2B5EF4-FFF2-40B4-BE49-F238E27FC236}">
                <a16:creationId xmlns:a16="http://schemas.microsoft.com/office/drawing/2014/main" id="{1CC837E2-1822-44E9-9410-183F45494017}"/>
              </a:ext>
            </a:extLst>
          </p:cNvPr>
          <p:cNvSpPr>
            <a:spLocks xmlns:a="http://schemas.openxmlformats.org/drawingml/2006/main" noGrp="1"/>
          </p:cNvSpPr>
          <p:nvPr/>
        </p:nvSpPr>
        <p:spPr>
          <a:xfrm xmlns:a="http://schemas.openxmlformats.org/drawingml/2006/main">
            <a:off x="4343400" y="44386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338C4E6-5F61-4CD3-B775-68F12F86BD68}"/>
              </a:ext>
            </a:extLst>
          </p:cNvPr>
          <p:cNvSpPr>
            <a:spLocks xmlns:a="http://schemas.openxmlformats.org/drawingml/2006/main" noGrp="1"/>
          </p:cNvSpPr>
          <p:nvPr/>
        </p:nvSpPr>
        <p:spPr>
          <a:xfrm xmlns:a="http://schemas.openxmlformats.org/drawingml/2006/main">
            <a:off x="4591050" y="43434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02A33"/>
                </a:solidFill>
                <a:latin typeface="Aptos"/>
                <a:ea typeface="Aptos"/>
                <a:cs typeface="Aptos"/>
              </a:defRPr>
            </a:pPr>
            <a:r>
              <a:rPr sz="975" b="1">
                <a:solidFill>
                  <a:srgbClr val="202A33"/>
                </a:solidFill>
                <a:latin typeface="Aptos"/>
                <a:ea typeface="Aptos"/>
                <a:cs typeface="Aptos"/>
              </a:rPr>
              <a:t>faster batch and DB workflows</a:t>
            </a:r>
          </a:p>
        </p:txBody>
      </p:sp>
      <p:sp>
        <p:nvSpPr>
          <p:cNvPr id="26" name="">
            <a:extLst xmlns:a="http://schemas.openxmlformats.org/drawingml/2006/main">
              <a:ext uri="{FF2B5EF4-FFF2-40B4-BE49-F238E27FC236}">
                <a16:creationId xmlns:a16="http://schemas.microsoft.com/office/drawing/2014/main" id="{7A8B9942-B3A7-4230-A724-14A183216D50}"/>
              </a:ext>
            </a:extLst>
          </p:cNvPr>
          <p:cNvSpPr>
            <a:spLocks xmlns:a="http://schemas.openxmlformats.org/drawingml/2006/main" noGrp="1"/>
          </p:cNvSpPr>
          <p:nvPr/>
        </p:nvSpPr>
        <p:spPr>
          <a:xfrm xmlns:a="http://schemas.openxmlformats.org/drawingml/2006/main">
            <a:off x="7505700" y="1562100"/>
            <a:ext cx="310515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27" name="">
            <a:extLst xmlns:a="http://schemas.openxmlformats.org/drawingml/2006/main">
              <a:ext uri="{FF2B5EF4-FFF2-40B4-BE49-F238E27FC236}">
                <a16:creationId xmlns:a16="http://schemas.microsoft.com/office/drawing/2014/main" id="{0AAF6D90-94A2-4C8D-BEA8-8D2FA510E6AC}"/>
              </a:ext>
            </a:extLst>
          </p:cNvPr>
          <p:cNvSpPr>
            <a:spLocks xmlns:a="http://schemas.openxmlformats.org/drawingml/2006/main" noGrp="1"/>
          </p:cNvSpPr>
          <p:nvPr/>
        </p:nvSpPr>
        <p:spPr>
          <a:xfrm xmlns:a="http://schemas.openxmlformats.org/drawingml/2006/main">
            <a:off x="7505700" y="1562100"/>
            <a:ext cx="3105150" cy="6667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13EAAF2-3B76-4527-820E-5F3F7E945F12}"/>
              </a:ext>
            </a:extLst>
          </p:cNvPr>
          <p:cNvSpPr>
            <a:spLocks xmlns:a="http://schemas.openxmlformats.org/drawingml/2006/main" noGrp="1"/>
          </p:cNvSpPr>
          <p:nvPr/>
        </p:nvSpPr>
        <p:spPr>
          <a:xfrm xmlns:a="http://schemas.openxmlformats.org/drawingml/2006/main">
            <a:off x="7677150" y="1771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NEXT RESEARCH</a:t>
            </a:r>
          </a:p>
        </p:txBody>
      </p:sp>
      <p:sp>
        <p:nvSpPr>
          <p:cNvPr id="29" name="">
            <a:extLst xmlns:a="http://schemas.openxmlformats.org/drawingml/2006/main">
              <a:ext uri="{FF2B5EF4-FFF2-40B4-BE49-F238E27FC236}">
                <a16:creationId xmlns:a16="http://schemas.microsoft.com/office/drawing/2014/main" id="{2C6A8B20-3046-4506-92D9-DBA7D2269B57}"/>
              </a:ext>
            </a:extLst>
          </p:cNvPr>
          <p:cNvSpPr>
            <a:spLocks xmlns:a="http://schemas.openxmlformats.org/drawingml/2006/main" noGrp="1"/>
          </p:cNvSpPr>
          <p:nvPr/>
        </p:nvSpPr>
        <p:spPr>
          <a:xfrm xmlns:a="http://schemas.openxmlformats.org/drawingml/2006/main">
            <a:off x="7753350" y="26098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8C22A0C-C0FC-4388-A76A-CDBC2F37456D}"/>
              </a:ext>
            </a:extLst>
          </p:cNvPr>
          <p:cNvSpPr>
            <a:spLocks xmlns:a="http://schemas.openxmlformats.org/drawingml/2006/main" noGrp="1"/>
          </p:cNvSpPr>
          <p:nvPr/>
        </p:nvSpPr>
        <p:spPr>
          <a:xfrm xmlns:a="http://schemas.openxmlformats.org/drawingml/2006/main">
            <a:off x="8001000" y="25146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02A33"/>
                </a:solidFill>
                <a:latin typeface="Aptos"/>
                <a:ea typeface="Aptos"/>
                <a:cs typeface="Aptos"/>
              </a:defRPr>
            </a:pPr>
            <a:r>
              <a:rPr sz="975" b="1">
                <a:solidFill>
                  <a:srgbClr val="202A33"/>
                </a:solidFill>
                <a:latin typeface="Aptos"/>
                <a:ea typeface="Aptos"/>
                <a:cs typeface="Aptos"/>
              </a:rPr>
              <a:t>larger independent R8 corpora</a:t>
            </a:r>
          </a:p>
        </p:txBody>
      </p:sp>
      <p:sp>
        <p:nvSpPr>
          <p:cNvPr id="31" name="">
            <a:extLst xmlns:a="http://schemas.openxmlformats.org/drawingml/2006/main">
              <a:ext uri="{FF2B5EF4-FFF2-40B4-BE49-F238E27FC236}">
                <a16:creationId xmlns:a16="http://schemas.microsoft.com/office/drawing/2014/main" id="{D9CC40F1-0892-49DC-89C2-942F88E100FC}"/>
              </a:ext>
            </a:extLst>
          </p:cNvPr>
          <p:cNvSpPr>
            <a:spLocks xmlns:a="http://schemas.openxmlformats.org/drawingml/2006/main" noGrp="1"/>
          </p:cNvSpPr>
          <p:nvPr/>
        </p:nvSpPr>
        <p:spPr>
          <a:xfrm xmlns:a="http://schemas.openxmlformats.org/drawingml/2006/main">
            <a:off x="7753350" y="32194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75ABB66-CBEC-4061-B859-0765E083F076}"/>
              </a:ext>
            </a:extLst>
          </p:cNvPr>
          <p:cNvSpPr>
            <a:spLocks xmlns:a="http://schemas.openxmlformats.org/drawingml/2006/main" noGrp="1"/>
          </p:cNvSpPr>
          <p:nvPr/>
        </p:nvSpPr>
        <p:spPr>
          <a:xfrm xmlns:a="http://schemas.openxmlformats.org/drawingml/2006/main">
            <a:off x="8001000" y="31242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02A33"/>
                </a:solidFill>
                <a:latin typeface="Aptos"/>
                <a:ea typeface="Aptos"/>
                <a:cs typeface="Aptos"/>
              </a:defRPr>
            </a:pPr>
            <a:r>
              <a:rPr sz="975" b="1">
                <a:solidFill>
                  <a:srgbClr val="202A33"/>
                </a:solidFill>
                <a:latin typeface="Aptos"/>
                <a:ea typeface="Aptos"/>
                <a:cs typeface="Aptos"/>
              </a:rPr>
              <a:t>class/package-aware opcode aggregation</a:t>
            </a:r>
          </a:p>
        </p:txBody>
      </p:sp>
      <p:sp>
        <p:nvSpPr>
          <p:cNvPr id="33" name="">
            <a:extLst xmlns:a="http://schemas.openxmlformats.org/drawingml/2006/main">
              <a:ext uri="{FF2B5EF4-FFF2-40B4-BE49-F238E27FC236}">
                <a16:creationId xmlns:a16="http://schemas.microsoft.com/office/drawing/2014/main" id="{1E4831FA-9BB3-4ECE-A49E-30328BA82B6F}"/>
              </a:ext>
            </a:extLst>
          </p:cNvPr>
          <p:cNvSpPr>
            <a:spLocks xmlns:a="http://schemas.openxmlformats.org/drawingml/2006/main" noGrp="1"/>
          </p:cNvSpPr>
          <p:nvPr/>
        </p:nvSpPr>
        <p:spPr>
          <a:xfrm xmlns:a="http://schemas.openxmlformats.org/drawingml/2006/main">
            <a:off x="7753350" y="38290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8B45785-E6BA-45A5-B491-FDD480FC5610}"/>
              </a:ext>
            </a:extLst>
          </p:cNvPr>
          <p:cNvSpPr>
            <a:spLocks xmlns:a="http://schemas.openxmlformats.org/drawingml/2006/main" noGrp="1"/>
          </p:cNvSpPr>
          <p:nvPr/>
        </p:nvSpPr>
        <p:spPr>
          <a:xfrm xmlns:a="http://schemas.openxmlformats.org/drawingml/2006/main">
            <a:off x="8001000" y="37338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02A33"/>
                </a:solidFill>
                <a:latin typeface="Aptos"/>
                <a:ea typeface="Aptos"/>
                <a:cs typeface="Aptos"/>
              </a:defRPr>
            </a:pPr>
            <a:r>
              <a:rPr sz="975" b="1">
                <a:solidFill>
                  <a:srgbClr val="202A33"/>
                </a:solidFill>
                <a:latin typeface="Aptos"/>
                <a:ea typeface="Aptos"/>
                <a:cs typeface="Aptos"/>
              </a:rPr>
              <a:t>scoped hybrid structural rerankers</a:t>
            </a:r>
          </a:p>
        </p:txBody>
      </p:sp>
      <p:sp>
        <p:nvSpPr>
          <p:cNvPr id="35" name="">
            <a:extLst xmlns:a="http://schemas.openxmlformats.org/drawingml/2006/main">
              <a:ext uri="{FF2B5EF4-FFF2-40B4-BE49-F238E27FC236}">
                <a16:creationId xmlns:a16="http://schemas.microsoft.com/office/drawing/2014/main" id="{544BC72B-94E4-409E-AF3D-34F57F75A010}"/>
              </a:ext>
            </a:extLst>
          </p:cNvPr>
          <p:cNvSpPr>
            <a:spLocks xmlns:a="http://schemas.openxmlformats.org/drawingml/2006/main" noGrp="1"/>
          </p:cNvSpPr>
          <p:nvPr/>
        </p:nvSpPr>
        <p:spPr>
          <a:xfrm xmlns:a="http://schemas.openxmlformats.org/drawingml/2006/main">
            <a:off x="7753350" y="44386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C807C27-4EF6-47BE-AD65-BFC39B4AAF84}"/>
              </a:ext>
            </a:extLst>
          </p:cNvPr>
          <p:cNvSpPr>
            <a:spLocks xmlns:a="http://schemas.openxmlformats.org/drawingml/2006/main" noGrp="1"/>
          </p:cNvSpPr>
          <p:nvPr/>
        </p:nvSpPr>
        <p:spPr>
          <a:xfrm xmlns:a="http://schemas.openxmlformats.org/drawingml/2006/main">
            <a:off x="8001000" y="43434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02A33"/>
                </a:solidFill>
                <a:latin typeface="Aptos"/>
                <a:ea typeface="Aptos"/>
                <a:cs typeface="Aptos"/>
              </a:defRPr>
            </a:pPr>
            <a:r>
              <a:rPr sz="975" b="1">
                <a:solidFill>
                  <a:srgbClr val="202A33"/>
                </a:solidFill>
                <a:latin typeface="Aptos"/>
                <a:ea typeface="Aptos"/>
                <a:cs typeface="Aptos"/>
              </a:rPr>
              <a:t>strict APK-only promotion controls</a:t>
            </a:r>
          </a:p>
        </p:txBody>
      </p:sp>
      <p:sp>
        <p:nvSpPr>
          <p:cNvPr id="37" name="">
            <a:extLst xmlns:a="http://schemas.openxmlformats.org/drawingml/2006/main">
              <a:ext uri="{FF2B5EF4-FFF2-40B4-BE49-F238E27FC236}">
                <a16:creationId xmlns:a16="http://schemas.microsoft.com/office/drawing/2014/main" id="{6028BAF2-852A-4B71-ABB5-56A609AF3465}"/>
              </a:ext>
            </a:extLst>
          </p:cNvPr>
          <p:cNvSpPr>
            <a:spLocks xmlns:a="http://schemas.openxmlformats.org/drawingml/2006/main" noGrp="1"/>
          </p:cNvSpPr>
          <p:nvPr/>
        </p:nvSpPr>
        <p:spPr>
          <a:xfrm xmlns:a="http://schemas.openxmlformats.org/drawingml/2006/main">
            <a:off x="685800" y="5562600"/>
            <a:ext cx="10820400" cy="6096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38" name="">
            <a:extLst xmlns:a="http://schemas.openxmlformats.org/drawingml/2006/main">
              <a:ext uri="{FF2B5EF4-FFF2-40B4-BE49-F238E27FC236}">
                <a16:creationId xmlns:a16="http://schemas.microsoft.com/office/drawing/2014/main" id="{7BC62ADA-1C4D-4CD4-B978-56662089BE63}"/>
              </a:ext>
            </a:extLst>
          </p:cNvPr>
          <p:cNvSpPr>
            <a:spLocks xmlns:a="http://schemas.openxmlformats.org/drawingml/2006/main" noGrp="1"/>
          </p:cNvSpPr>
          <p:nvPr/>
        </p:nvSpPr>
        <p:spPr>
          <a:xfrm xmlns:a="http://schemas.openxmlformats.org/drawingml/2006/main">
            <a:off x="876300" y="5734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655F73"/>
                </a:solidFill>
                <a:latin typeface="Aptos"/>
                <a:ea typeface="Aptos"/>
                <a:cs typeface="Aptos"/>
              </a:defRPr>
            </a:pPr>
            <a:r>
              <a:rPr sz="825" b="1">
                <a:solidFill>
                  <a:srgbClr val="655F73"/>
                </a:solidFill>
                <a:latin typeface="Aptos"/>
                <a:ea typeface="Aptos"/>
                <a:cs typeface="Aptos"/>
              </a:rPr>
              <a:t>PROMOTION BAR</a:t>
            </a:r>
          </a:p>
        </p:txBody>
      </p:sp>
      <p:sp>
        <p:nvSpPr>
          <p:cNvPr id="39" name="">
            <a:extLst xmlns:a="http://schemas.openxmlformats.org/drawingml/2006/main">
              <a:ext uri="{FF2B5EF4-FFF2-40B4-BE49-F238E27FC236}">
                <a16:creationId xmlns:a16="http://schemas.microsoft.com/office/drawing/2014/main" id="{1309D27A-E42C-4B0D-BBED-2BAC007C13BE}"/>
              </a:ext>
            </a:extLst>
          </p:cNvPr>
          <p:cNvSpPr>
            <a:spLocks xmlns:a="http://schemas.openxmlformats.org/drawingml/2006/main" noGrp="1"/>
          </p:cNvSpPr>
          <p:nvPr/>
        </p:nvSpPr>
        <p:spPr>
          <a:xfrm xmlns:a="http://schemas.openxmlformats.org/drawingml/2006/main">
            <a:off x="2343150" y="56864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02A33"/>
                </a:solidFill>
                <a:latin typeface="Aptos"/>
                <a:ea typeface="Aptos"/>
                <a:cs typeface="Aptos"/>
              </a:defRPr>
            </a:pPr>
            <a:r>
              <a:rPr sz="1125" b="1">
                <a:solidFill>
                  <a:srgbClr val="202A33"/>
                </a:solidFill>
                <a:latin typeface="Aptos"/>
                <a:ea typeface="Aptos"/>
                <a:cs typeface="Aptos"/>
              </a:rPr>
              <a:t>A future method becomes authoritative only after nonzero APK-only candidates survive representative exact and boundary controls.</a:t>
            </a:r>
          </a:p>
        </p:txBody>
      </p:sp>
      <p:sp>
        <p:nvSpPr>
          <p:cNvPr id="40" name="">
            <a:extLst xmlns:a="http://schemas.openxmlformats.org/drawingml/2006/main">
              <a:ext uri="{FF2B5EF4-FFF2-40B4-BE49-F238E27FC236}">
                <a16:creationId xmlns:a16="http://schemas.microsoft.com/office/drawing/2014/main" id="{B2E90B6F-A766-47EF-A66C-D9F1C2C3F56E}"/>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44745489"/>
      </p:ext>
    </p:extLst>
  </p:cSld>
</p:sld>
</file>

<file path=ppt/slides/slide31.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8DA2754-C88E-4AB5-846D-D775606E25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05A26A-0842-4CF2-8A58-C2880A1AA7F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E7E8BF6-09CD-486B-A364-A0B357BDC8A2}"/>
              </a:ext>
            </a:extLst>
          </p:cNvPr>
          <p:cNvSpPr>
            <a:spLocks xmlns:a="http://schemas.openxmlformats.org/drawingml/2006/main" noGrp="1"/>
          </p:cNvSpPr>
          <p:nvPr/>
        </p:nvSpPr>
        <p:spPr>
          <a:xfrm xmlns:a="http://schemas.openxmlformats.org/drawingml/2006/main">
            <a:off x="685800" y="4762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8D754D"/>
                </a:solidFill>
                <a:latin typeface="Aptos"/>
                <a:ea typeface="Aptos"/>
                <a:cs typeface="Aptos"/>
              </a:defRPr>
            </a:pPr>
            <a:r>
              <a:rPr sz="900" b="1">
                <a:solidFill>
                  <a:srgbClr val="8D754D"/>
                </a:solidFill>
                <a:latin typeface="Aptos"/>
                <a:ea typeface="Aptos"/>
                <a:cs typeface="Aptos"/>
              </a:rPr>
              <a:t>CONCLUSION</a:t>
            </a:r>
          </a:p>
        </p:txBody>
      </p:sp>
      <p:sp>
        <p:nvSpPr>
          <p:cNvPr id="4" name="">
            <a:extLst xmlns:a="http://schemas.openxmlformats.org/drawingml/2006/main">
              <a:ext uri="{FF2B5EF4-FFF2-40B4-BE49-F238E27FC236}">
                <a16:creationId xmlns:a16="http://schemas.microsoft.com/office/drawing/2014/main" id="{4EBD8C65-26CA-404C-A121-5C940EFFA4CE}"/>
              </a:ext>
            </a:extLst>
          </p:cNvPr>
          <p:cNvSpPr>
            <a:spLocks xmlns:a="http://schemas.openxmlformats.org/drawingml/2006/main" noGrp="1"/>
          </p:cNvSpPr>
          <p:nvPr/>
        </p:nvSpPr>
        <p:spPr>
          <a:xfrm xmlns:a="http://schemas.openxmlformats.org/drawingml/2006/main">
            <a:off x="685800" y="971550"/>
            <a:ext cx="723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A credible reverse-SBOM tool</a:t>
            </a:r>
          </a:p>
        </p:txBody>
      </p:sp>
      <p:sp>
        <p:nvSpPr>
          <p:cNvPr id="5" name="">
            <a:extLst xmlns:a="http://schemas.openxmlformats.org/drawingml/2006/main">
              <a:ext uri="{FF2B5EF4-FFF2-40B4-BE49-F238E27FC236}">
                <a16:creationId xmlns:a16="http://schemas.microsoft.com/office/drawing/2014/main" id="{EFF35240-B8E6-4EE5-AF5C-173ADDBB864A}"/>
              </a:ext>
            </a:extLst>
          </p:cNvPr>
          <p:cNvSpPr>
            <a:spLocks xmlns:a="http://schemas.openxmlformats.org/drawingml/2006/main" noGrp="1"/>
          </p:cNvSpPr>
          <p:nvPr/>
        </p:nvSpPr>
        <p:spPr>
          <a:xfrm xmlns:a="http://schemas.openxmlformats.org/drawingml/2006/main">
            <a:off x="685800" y="1504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B9C4D3"/>
                </a:solidFill>
                <a:latin typeface="Aptos"/>
                <a:ea typeface="Aptos"/>
                <a:cs typeface="Aptos"/>
              </a:defRPr>
            </a:pPr>
            <a:r>
              <a:rPr sz="1875" b="1">
                <a:solidFill>
                  <a:srgbClr val="B9C4D3"/>
                </a:solidFill>
                <a:latin typeface="Aptos"/>
                <a:ea typeface="Aptos"/>
                <a:cs typeface="Aptos"/>
              </a:rPr>
              <a:t>must be useful, measurable, and honest about uncertainty.</a:t>
            </a:r>
          </a:p>
        </p:txBody>
      </p:sp>
      <p:sp>
        <p:nvSpPr>
          <p:cNvPr id="6" name="">
            <a:extLst xmlns:a="http://schemas.openxmlformats.org/drawingml/2006/main">
              <a:ext uri="{FF2B5EF4-FFF2-40B4-BE49-F238E27FC236}">
                <a16:creationId xmlns:a16="http://schemas.microsoft.com/office/drawing/2014/main" id="{1DBAA1F4-8C7A-4F9C-B6B1-C1EFA166ADD5}"/>
              </a:ext>
            </a:extLst>
          </p:cNvPr>
          <p:cNvSpPr>
            <a:spLocks xmlns:a="http://schemas.openxmlformats.org/drawingml/2006/main" noGrp="1"/>
          </p:cNvSpPr>
          <p:nvPr/>
        </p:nvSpPr>
        <p:spPr>
          <a:xfrm xmlns:a="http://schemas.openxmlformats.org/drawingml/2006/main">
            <a:off x="685800" y="2476500"/>
            <a:ext cx="3200400" cy="1809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AF60EC98-C3DE-43C9-AC2B-0E10E13C9785}"/>
              </a:ext>
            </a:extLst>
          </p:cNvPr>
          <p:cNvSpPr>
            <a:spLocks xmlns:a="http://schemas.openxmlformats.org/drawingml/2006/main" noGrp="1"/>
          </p:cNvSpPr>
          <p:nvPr/>
        </p:nvSpPr>
        <p:spPr>
          <a:xfrm xmlns:a="http://schemas.openxmlformats.org/drawingml/2006/main">
            <a:off x="914400" y="2705100"/>
            <a:ext cx="400050" cy="4000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B79D60E-9AAD-4885-B64B-3C615725BE16}"/>
              </a:ext>
            </a:extLst>
          </p:cNvPr>
          <p:cNvSpPr>
            <a:spLocks xmlns:a="http://schemas.openxmlformats.org/drawingml/2006/main" noGrp="1"/>
          </p:cNvSpPr>
          <p:nvPr/>
        </p:nvSpPr>
        <p:spPr>
          <a:xfrm xmlns:a="http://schemas.openxmlformats.org/drawingml/2006/main">
            <a:off x="914400" y="28194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17212B"/>
                </a:solidFill>
                <a:latin typeface="Aptos"/>
                <a:ea typeface="Aptos"/>
                <a:cs typeface="Aptos"/>
              </a:defRPr>
            </a:pPr>
            <a:r>
              <a:rPr sz="900" b="1">
                <a:solidFill>
                  <a:srgbClr val="17212B"/>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E93A9F9A-BAD8-48AE-BC7A-2F6DF3377142}"/>
              </a:ext>
            </a:extLst>
          </p:cNvPr>
          <p:cNvSpPr>
            <a:spLocks xmlns:a="http://schemas.openxmlformats.org/drawingml/2006/main" noGrp="1"/>
          </p:cNvSpPr>
          <p:nvPr/>
        </p:nvSpPr>
        <p:spPr>
          <a:xfrm xmlns:a="http://schemas.openxmlformats.org/drawingml/2006/main">
            <a:off x="1466850" y="2724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FFFFFF"/>
                </a:solidFill>
                <a:latin typeface="Aptos"/>
                <a:ea typeface="Aptos"/>
                <a:cs typeface="Aptos"/>
              </a:defRPr>
            </a:pPr>
            <a:r>
              <a:rPr sz="1500" b="1">
                <a:solidFill>
                  <a:srgbClr val="FFFFFF"/>
                </a:solidFill>
                <a:latin typeface="Aptos"/>
                <a:ea typeface="Aptos"/>
                <a:cs typeface="Aptos"/>
              </a:rPr>
              <a:t>End-to-end MVP</a:t>
            </a:r>
          </a:p>
        </p:txBody>
      </p:sp>
      <p:sp>
        <p:nvSpPr>
          <p:cNvPr id="10" name="">
            <a:extLst xmlns:a="http://schemas.openxmlformats.org/drawingml/2006/main">
              <a:ext uri="{FF2B5EF4-FFF2-40B4-BE49-F238E27FC236}">
                <a16:creationId xmlns:a16="http://schemas.microsoft.com/office/drawing/2014/main" id="{F2891E4B-9CBA-4B22-B911-961C371B2ACE}"/>
              </a:ext>
            </a:extLst>
          </p:cNvPr>
          <p:cNvSpPr>
            <a:spLocks xmlns:a="http://schemas.openxmlformats.org/drawingml/2006/main" noGrp="1"/>
          </p:cNvSpPr>
          <p:nvPr/>
        </p:nvSpPr>
        <p:spPr>
          <a:xfrm xmlns:a="http://schemas.openxmlformats.org/drawingml/2006/main">
            <a:off x="914400" y="33337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B8C3D2"/>
                </a:solidFill>
                <a:latin typeface="Aptos"/>
                <a:ea typeface="Aptos"/>
                <a:cs typeface="Aptos"/>
              </a:defRPr>
            </a:pPr>
            <a:r>
              <a:rPr sz="1125" b="0">
                <a:solidFill>
                  <a:srgbClr val="B8C3D2"/>
                </a:solidFill>
                <a:latin typeface="Aptos"/>
                <a:ea typeface="Aptos"/>
                <a:cs typeface="Aptos"/>
              </a:rPr>
              <a:t>APK -&gt; evidence -&gt; CycloneDX -&gt; CVE</a:t>
            </a:r>
          </a:p>
        </p:txBody>
      </p:sp>
      <p:sp>
        <p:nvSpPr>
          <p:cNvPr id="11" name="">
            <a:extLst xmlns:a="http://schemas.openxmlformats.org/drawingml/2006/main">
              <a:ext uri="{FF2B5EF4-FFF2-40B4-BE49-F238E27FC236}">
                <a16:creationId xmlns:a16="http://schemas.microsoft.com/office/drawing/2014/main" id="{C78E92D2-82E2-4952-861D-8D7221428238}"/>
              </a:ext>
            </a:extLst>
          </p:cNvPr>
          <p:cNvSpPr>
            <a:spLocks xmlns:a="http://schemas.openxmlformats.org/drawingml/2006/main" noGrp="1"/>
          </p:cNvSpPr>
          <p:nvPr/>
        </p:nvSpPr>
        <p:spPr>
          <a:xfrm xmlns:a="http://schemas.openxmlformats.org/drawingml/2006/main">
            <a:off x="685800" y="4191000"/>
            <a:ext cx="3200400" cy="952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6C1E088-012D-4616-9BC0-2E74AD8DF5BD}"/>
              </a:ext>
            </a:extLst>
          </p:cNvPr>
          <p:cNvSpPr>
            <a:spLocks xmlns:a="http://schemas.openxmlformats.org/drawingml/2006/main" noGrp="1"/>
          </p:cNvSpPr>
          <p:nvPr/>
        </p:nvSpPr>
        <p:spPr>
          <a:xfrm xmlns:a="http://schemas.openxmlformats.org/drawingml/2006/main">
            <a:off x="4267200" y="2476500"/>
            <a:ext cx="3200400" cy="1809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84871CB4-20B1-4F49-95F8-B8E4DB9577B2}"/>
              </a:ext>
            </a:extLst>
          </p:cNvPr>
          <p:cNvSpPr>
            <a:spLocks xmlns:a="http://schemas.openxmlformats.org/drawingml/2006/main" noGrp="1"/>
          </p:cNvSpPr>
          <p:nvPr/>
        </p:nvSpPr>
        <p:spPr>
          <a:xfrm xmlns:a="http://schemas.openxmlformats.org/drawingml/2006/main">
            <a:off x="4495800" y="2705100"/>
            <a:ext cx="400050" cy="4000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4FD6F0B-90C3-4744-91DE-DBDA55DEAA78}"/>
              </a:ext>
            </a:extLst>
          </p:cNvPr>
          <p:cNvSpPr>
            <a:spLocks xmlns:a="http://schemas.openxmlformats.org/drawingml/2006/main" noGrp="1"/>
          </p:cNvSpPr>
          <p:nvPr/>
        </p:nvSpPr>
        <p:spPr>
          <a:xfrm xmlns:a="http://schemas.openxmlformats.org/drawingml/2006/main">
            <a:off x="4495800" y="28194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17212B"/>
                </a:solidFill>
                <a:latin typeface="Aptos"/>
                <a:ea typeface="Aptos"/>
                <a:cs typeface="Aptos"/>
              </a:defRPr>
            </a:pPr>
            <a:r>
              <a:rPr sz="900" b="1">
                <a:solidFill>
                  <a:srgbClr val="17212B"/>
                </a:solidFill>
                <a:latin typeface="Aptos"/>
                <a:ea typeface="Aptos"/>
                <a:cs typeface="Aptos"/>
              </a:rPr>
              <a:t>02</a:t>
            </a:r>
          </a:p>
        </p:txBody>
      </p:sp>
      <p:sp>
        <p:nvSpPr>
          <p:cNvPr id="15" name="">
            <a:extLst xmlns:a="http://schemas.openxmlformats.org/drawingml/2006/main">
              <a:ext uri="{FF2B5EF4-FFF2-40B4-BE49-F238E27FC236}">
                <a16:creationId xmlns:a16="http://schemas.microsoft.com/office/drawing/2014/main" id="{DD4D8395-B857-4828-A482-51ACF7A8CBD8}"/>
              </a:ext>
            </a:extLst>
          </p:cNvPr>
          <p:cNvSpPr>
            <a:spLocks xmlns:a="http://schemas.openxmlformats.org/drawingml/2006/main" noGrp="1"/>
          </p:cNvSpPr>
          <p:nvPr/>
        </p:nvSpPr>
        <p:spPr>
          <a:xfrm xmlns:a="http://schemas.openxmlformats.org/drawingml/2006/main">
            <a:off x="5048250" y="2724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FFFFFF"/>
                </a:solidFill>
                <a:latin typeface="Aptos"/>
                <a:ea typeface="Aptos"/>
                <a:cs typeface="Aptos"/>
              </a:defRPr>
            </a:pPr>
            <a:r>
              <a:rPr sz="1500" b="1">
                <a:solidFill>
                  <a:srgbClr val="FFFFFF"/>
                </a:solidFill>
                <a:latin typeface="Aptos"/>
                <a:ea typeface="Aptos"/>
                <a:cs typeface="Aptos"/>
              </a:rPr>
              <a:t>Transparent evaluation</a:t>
            </a:r>
          </a:p>
        </p:txBody>
      </p:sp>
      <p:sp>
        <p:nvSpPr>
          <p:cNvPr id="16" name="">
            <a:extLst xmlns:a="http://schemas.openxmlformats.org/drawingml/2006/main">
              <a:ext uri="{FF2B5EF4-FFF2-40B4-BE49-F238E27FC236}">
                <a16:creationId xmlns:a16="http://schemas.microsoft.com/office/drawing/2014/main" id="{C8F369A1-1EE6-4CAA-B0B9-0EFE932BBADD}"/>
              </a:ext>
            </a:extLst>
          </p:cNvPr>
          <p:cNvSpPr>
            <a:spLocks xmlns:a="http://schemas.openxmlformats.org/drawingml/2006/main" noGrp="1"/>
          </p:cNvSpPr>
          <p:nvPr/>
        </p:nvSpPr>
        <p:spPr>
          <a:xfrm xmlns:a="http://schemas.openxmlformats.org/drawingml/2006/main">
            <a:off x="4495800" y="33337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B8C3D2"/>
                </a:solidFill>
                <a:latin typeface="Aptos"/>
                <a:ea typeface="Aptos"/>
                <a:cs typeface="Aptos"/>
              </a:defRPr>
            </a:pPr>
            <a:r>
              <a:rPr sz="1125" b="0">
                <a:solidFill>
                  <a:srgbClr val="B8C3D2"/>
                </a:solidFill>
                <a:latin typeface="Aptos"/>
                <a:ea typeface="Aptos"/>
                <a:cs typeface="Aptos"/>
              </a:rPr>
              <a:t>clean, partial, boundary, and gap exports</a:t>
            </a:r>
          </a:p>
        </p:txBody>
      </p:sp>
      <p:sp>
        <p:nvSpPr>
          <p:cNvPr id="17" name="">
            <a:extLst xmlns:a="http://schemas.openxmlformats.org/drawingml/2006/main">
              <a:ext uri="{FF2B5EF4-FFF2-40B4-BE49-F238E27FC236}">
                <a16:creationId xmlns:a16="http://schemas.microsoft.com/office/drawing/2014/main" id="{392EEC74-6A5E-4BAC-A3EB-4A41969146C1}"/>
              </a:ext>
            </a:extLst>
          </p:cNvPr>
          <p:cNvSpPr>
            <a:spLocks xmlns:a="http://schemas.openxmlformats.org/drawingml/2006/main" noGrp="1"/>
          </p:cNvSpPr>
          <p:nvPr/>
        </p:nvSpPr>
        <p:spPr>
          <a:xfrm xmlns:a="http://schemas.openxmlformats.org/drawingml/2006/main">
            <a:off x="4267200" y="4191000"/>
            <a:ext cx="3200400" cy="952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E5DF684-2377-4235-B24E-37CD419B433D}"/>
              </a:ext>
            </a:extLst>
          </p:cNvPr>
          <p:cNvSpPr>
            <a:spLocks xmlns:a="http://schemas.openxmlformats.org/drawingml/2006/main" noGrp="1"/>
          </p:cNvSpPr>
          <p:nvPr/>
        </p:nvSpPr>
        <p:spPr>
          <a:xfrm xmlns:a="http://schemas.openxmlformats.org/drawingml/2006/main">
            <a:off x="7848600" y="2476500"/>
            <a:ext cx="3200400" cy="1809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4231306E-7758-49CF-925B-880530E598B3}"/>
              </a:ext>
            </a:extLst>
          </p:cNvPr>
          <p:cNvSpPr>
            <a:spLocks xmlns:a="http://schemas.openxmlformats.org/drawingml/2006/main" noGrp="1"/>
          </p:cNvSpPr>
          <p:nvPr/>
        </p:nvSpPr>
        <p:spPr>
          <a:xfrm xmlns:a="http://schemas.openxmlformats.org/drawingml/2006/main">
            <a:off x="8077200" y="2705100"/>
            <a:ext cx="400050" cy="40005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3CEB5D9-ED65-4E9D-BC5F-79265B73C83E}"/>
              </a:ext>
            </a:extLst>
          </p:cNvPr>
          <p:cNvSpPr>
            <a:spLocks xmlns:a="http://schemas.openxmlformats.org/drawingml/2006/main" noGrp="1"/>
          </p:cNvSpPr>
          <p:nvPr/>
        </p:nvSpPr>
        <p:spPr>
          <a:xfrm xmlns:a="http://schemas.openxmlformats.org/drawingml/2006/main">
            <a:off x="8077200" y="28194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17212B"/>
                </a:solidFill>
                <a:latin typeface="Aptos"/>
                <a:ea typeface="Aptos"/>
                <a:cs typeface="Aptos"/>
              </a:defRPr>
            </a:pPr>
            <a:r>
              <a:rPr sz="900" b="1">
                <a:solidFill>
                  <a:srgbClr val="17212B"/>
                </a:solidFill>
                <a:latin typeface="Aptos"/>
                <a:ea typeface="Aptos"/>
                <a:cs typeface="Aptos"/>
              </a:rPr>
              <a:t>03</a:t>
            </a:r>
          </a:p>
        </p:txBody>
      </p:sp>
      <p:sp>
        <p:nvSpPr>
          <p:cNvPr id="21" name="">
            <a:extLst xmlns:a="http://schemas.openxmlformats.org/drawingml/2006/main">
              <a:ext uri="{FF2B5EF4-FFF2-40B4-BE49-F238E27FC236}">
                <a16:creationId xmlns:a16="http://schemas.microsoft.com/office/drawing/2014/main" id="{3630979E-4C45-4B1B-BB81-49C24C378897}"/>
              </a:ext>
            </a:extLst>
          </p:cNvPr>
          <p:cNvSpPr>
            <a:spLocks xmlns:a="http://schemas.openxmlformats.org/drawingml/2006/main" noGrp="1"/>
          </p:cNvSpPr>
          <p:nvPr/>
        </p:nvSpPr>
        <p:spPr>
          <a:xfrm xmlns:a="http://schemas.openxmlformats.org/drawingml/2006/main">
            <a:off x="8629650" y="2724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FFFFFF"/>
                </a:solidFill>
                <a:latin typeface="Aptos"/>
                <a:ea typeface="Aptos"/>
                <a:cs typeface="Aptos"/>
              </a:defRPr>
            </a:pPr>
            <a:r>
              <a:rPr sz="1500" b="1">
                <a:solidFill>
                  <a:srgbClr val="FFFFFF"/>
                </a:solidFill>
                <a:latin typeface="Aptos"/>
                <a:ea typeface="Aptos"/>
                <a:cs typeface="Aptos"/>
              </a:rPr>
              <a:t>Guarded innovation</a:t>
            </a:r>
          </a:p>
        </p:txBody>
      </p:sp>
      <p:sp>
        <p:nvSpPr>
          <p:cNvPr id="22" name="">
            <a:extLst xmlns:a="http://schemas.openxmlformats.org/drawingml/2006/main">
              <a:ext uri="{FF2B5EF4-FFF2-40B4-BE49-F238E27FC236}">
                <a16:creationId xmlns:a16="http://schemas.microsoft.com/office/drawing/2014/main" id="{C6DD84B6-80E5-4D8C-B32C-41E562D202F4}"/>
              </a:ext>
            </a:extLst>
          </p:cNvPr>
          <p:cNvSpPr>
            <a:spLocks xmlns:a="http://schemas.openxmlformats.org/drawingml/2006/main" noGrp="1"/>
          </p:cNvSpPr>
          <p:nvPr/>
        </p:nvSpPr>
        <p:spPr>
          <a:xfrm xmlns:a="http://schemas.openxmlformats.org/drawingml/2006/main">
            <a:off x="8077200" y="33337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B8C3D2"/>
                </a:solidFill>
                <a:latin typeface="Aptos"/>
                <a:ea typeface="Aptos"/>
                <a:cs typeface="Aptos"/>
              </a:defRPr>
            </a:pPr>
            <a:r>
              <a:rPr sz="1125" b="0">
                <a:solidFill>
                  <a:srgbClr val="B8C3D2"/>
                </a:solidFill>
                <a:latin typeface="Aptos"/>
                <a:ea typeface="Aptos"/>
                <a:cs typeface="Aptos"/>
              </a:rPr>
              <a:t>hybrid matcher research + report-only AI</a:t>
            </a:r>
          </a:p>
        </p:txBody>
      </p:sp>
      <p:sp>
        <p:nvSpPr>
          <p:cNvPr id="23" name="">
            <a:extLst xmlns:a="http://schemas.openxmlformats.org/drawingml/2006/main">
              <a:ext uri="{FF2B5EF4-FFF2-40B4-BE49-F238E27FC236}">
                <a16:creationId xmlns:a16="http://schemas.microsoft.com/office/drawing/2014/main" id="{CC288308-EDBC-4CA8-89D4-9266CF5FDD6C}"/>
              </a:ext>
            </a:extLst>
          </p:cNvPr>
          <p:cNvSpPr>
            <a:spLocks xmlns:a="http://schemas.openxmlformats.org/drawingml/2006/main" noGrp="1"/>
          </p:cNvSpPr>
          <p:nvPr/>
        </p:nvSpPr>
        <p:spPr>
          <a:xfrm xmlns:a="http://schemas.openxmlformats.org/drawingml/2006/main">
            <a:off x="7848600" y="4191000"/>
            <a:ext cx="3200400" cy="952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B9F4C00-8E32-401B-B863-554B33901F23}"/>
              </a:ext>
            </a:extLst>
          </p:cNvPr>
          <p:cNvSpPr>
            <a:spLocks xmlns:a="http://schemas.openxmlformats.org/drawingml/2006/main" noGrp="1"/>
          </p:cNvSpPr>
          <p:nvPr/>
        </p:nvSpPr>
        <p:spPr>
          <a:xfrm xmlns:a="http://schemas.openxmlformats.org/drawingml/2006/main">
            <a:off x="685800" y="4762500"/>
            <a:ext cx="103822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505A3F18-108B-440C-83D4-966BADE3C6A9}"/>
              </a:ext>
            </a:extLst>
          </p:cNvPr>
          <p:cNvSpPr>
            <a:spLocks xmlns:a="http://schemas.openxmlformats.org/drawingml/2006/main" noGrp="1"/>
          </p:cNvSpPr>
          <p:nvPr/>
        </p:nvSpPr>
        <p:spPr>
          <a:xfrm xmlns:a="http://schemas.openxmlformats.org/drawingml/2006/main">
            <a:off x="933450" y="5010150"/>
            <a:ext cx="723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A65C55"/>
                </a:solidFill>
                <a:latin typeface="Aptos"/>
                <a:ea typeface="Aptos"/>
                <a:cs typeface="Aptos"/>
              </a:defRPr>
            </a:pPr>
            <a:r>
              <a:rPr sz="900" b="1">
                <a:solidFill>
                  <a:srgbClr val="A65C55"/>
                </a:solidFill>
                <a:latin typeface="Aptos"/>
                <a:ea typeface="Aptos"/>
                <a:cs typeface="Aptos"/>
              </a:rPr>
              <a:t>NEXT</a:t>
            </a:r>
          </a:p>
        </p:txBody>
      </p:sp>
      <p:sp>
        <p:nvSpPr>
          <p:cNvPr id="26" name="">
            <a:extLst xmlns:a="http://schemas.openxmlformats.org/drawingml/2006/main">
              <a:ext uri="{FF2B5EF4-FFF2-40B4-BE49-F238E27FC236}">
                <a16:creationId xmlns:a16="http://schemas.microsoft.com/office/drawing/2014/main" id="{B584ADA6-B004-45D6-8035-4C3EE641A30A}"/>
              </a:ext>
            </a:extLst>
          </p:cNvPr>
          <p:cNvSpPr>
            <a:spLocks xmlns:a="http://schemas.openxmlformats.org/drawingml/2006/main" noGrp="1"/>
          </p:cNvSpPr>
          <p:nvPr/>
        </p:nvSpPr>
        <p:spPr>
          <a:xfrm xmlns:a="http://schemas.openxmlformats.org/drawingml/2006/main">
            <a:off x="1752600" y="4933950"/>
            <a:ext cx="885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202A33"/>
                </a:solidFill>
                <a:latin typeface="Aptos"/>
                <a:ea typeface="Aptos"/>
                <a:cs typeface="Aptos"/>
              </a:defRPr>
            </a:pPr>
            <a:r>
              <a:rPr sz="1275" b="1">
                <a:solidFill>
                  <a:srgbClr val="202A33"/>
                </a:solidFill>
                <a:latin typeface="Aptos"/>
                <a:ea typeface="Aptos"/>
                <a:cs typeface="Aptos"/>
              </a:rPr>
              <a:t>stronger version-specific evidence, broader independent R8 corpora, and stricter APK-only promotion controls</a:t>
            </a:r>
          </a:p>
        </p:txBody>
      </p:sp>
      <p:sp>
        <p:nvSpPr>
          <p:cNvPr id="27" name="">
            <a:extLst xmlns:a="http://schemas.openxmlformats.org/drawingml/2006/main">
              <a:ext uri="{FF2B5EF4-FFF2-40B4-BE49-F238E27FC236}">
                <a16:creationId xmlns:a16="http://schemas.microsoft.com/office/drawing/2014/main" id="{58A09DE4-CACD-47C9-9B00-F2D5D5E5358A}"/>
              </a:ext>
            </a:extLst>
          </p:cNvPr>
          <p:cNvSpPr>
            <a:spLocks xmlns:a="http://schemas.openxmlformats.org/drawingml/2006/main" noGrp="1"/>
          </p:cNvSpPr>
          <p:nvPr/>
        </p:nvSpPr>
        <p:spPr>
          <a:xfrm xmlns:a="http://schemas.openxmlformats.org/drawingml/2006/main">
            <a:off x="685800" y="60769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8D754D"/>
                </a:solidFill>
                <a:latin typeface="Aptos Display"/>
                <a:ea typeface="Aptos Display"/>
                <a:cs typeface="Aptos Display"/>
              </a:defRPr>
            </a:pPr>
            <a:r>
              <a:rPr sz="1950" b="1">
                <a:solidFill>
                  <a:srgbClr val="8D754D"/>
                </a:solidFill>
                <a:latin typeface="Aptos Display"/>
                <a:ea typeface="Aptos Display"/>
                <a:cs typeface="Aptos Display"/>
              </a:rPr>
              <a:t>Questions</a:t>
            </a:r>
          </a:p>
        </p:txBody>
      </p:sp>
      <p:sp>
        <p:nvSpPr>
          <p:cNvPr id="28" name="">
            <a:extLst xmlns:a="http://schemas.openxmlformats.org/drawingml/2006/main">
              <a:ext uri="{FF2B5EF4-FFF2-40B4-BE49-F238E27FC236}">
                <a16:creationId xmlns:a16="http://schemas.microsoft.com/office/drawing/2014/main" id="{F509E3D6-7BD0-448B-BC5B-3D1980887788}"/>
              </a:ext>
            </a:extLst>
          </p:cNvPr>
          <p:cNvSpPr>
            <a:spLocks xmlns:a="http://schemas.openxmlformats.org/drawingml/2006/main" noGrp="1"/>
          </p:cNvSpPr>
          <p:nvPr/>
        </p:nvSpPr>
        <p:spPr>
          <a:xfrm xmlns:a="http://schemas.openxmlformats.org/drawingml/2006/main">
            <a:off x="5429250" y="61150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8997AA"/>
                </a:solidFill>
                <a:latin typeface="Cascadia Mono"/>
                <a:ea typeface="Cascadia Mono"/>
                <a:cs typeface="Cascadia Mono"/>
              </a:defRPr>
            </a:pPr>
            <a:r>
              <a:rPr sz="900" b="0">
                <a:solidFill>
                  <a:srgbClr val="8997AA"/>
                </a:solidFill>
                <a:latin typeface="Cascadia Mono"/>
                <a:ea typeface="Cascadia Mono"/>
                <a:cs typeface="Cascadia Mono"/>
              </a:rPr>
              <a:t>Demo command: python scripts/run_final_ai_defense_demo.py --refresh</a:t>
            </a:r>
          </a:p>
        </p:txBody>
      </p:sp>
    </p:spTree>
    <p:extLst>
      <p:ext uri="{BB962C8B-B14F-4D97-AF65-F5344CB8AC3E}">
        <p14:creationId xmlns:p14="http://schemas.microsoft.com/office/powerpoint/2010/main" val="1369328095"/>
      </p:ext>
    </p:extLst>
  </p:cSld>
</p:sld>
</file>

<file path=ppt/slides/slide32.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7C486E4-056F-4B09-BED0-910289B348E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D612B8-4518-4D47-A27E-1D7B40BF5A82}"/>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825AE2D-D2F3-4B65-846D-14425D210368}"/>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365F7D"/>
                </a:solidFill>
                <a:latin typeface="Aptos"/>
                <a:ea typeface="Aptos"/>
                <a:cs typeface="Aptos"/>
              </a:defRPr>
            </a:pPr>
            <a:r>
              <a:rPr sz="900" b="1">
                <a:solidFill>
                  <a:srgbClr val="365F7D"/>
                </a:solidFill>
                <a:latin typeface="Aptos"/>
                <a:ea typeface="Aptos"/>
                <a:cs typeface="Aptos"/>
              </a:rPr>
              <a:t>BACKUP 1  |  PROJECT STRUCTURE</a:t>
            </a:r>
          </a:p>
        </p:txBody>
      </p:sp>
      <p:sp>
        <p:nvSpPr>
          <p:cNvPr id="4" name="">
            <a:extLst xmlns:a="http://schemas.openxmlformats.org/drawingml/2006/main">
              <a:ext uri="{FF2B5EF4-FFF2-40B4-BE49-F238E27FC236}">
                <a16:creationId xmlns:a16="http://schemas.microsoft.com/office/drawing/2014/main" id="{2A700D13-B947-4FDD-8BB2-3C26EF25E3E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pfe-final repository connects source code, datasets, Docker, databases, and evidence outputs</a:t>
            </a:r>
          </a:p>
        </p:txBody>
      </p:sp>
      <p:sp>
        <p:nvSpPr>
          <p:cNvPr id="5" name="">
            <a:extLst xmlns:a="http://schemas.openxmlformats.org/drawingml/2006/main">
              <a:ext uri="{FF2B5EF4-FFF2-40B4-BE49-F238E27FC236}">
                <a16:creationId xmlns:a16="http://schemas.microsoft.com/office/drawing/2014/main" id="{C86EF1EB-BCD0-4C74-BF05-A0C099C3E31B}"/>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8290A6"/>
                </a:solidFill>
                <a:latin typeface="Aptos"/>
                <a:ea typeface="Aptos"/>
                <a:cs typeface="Aptos"/>
              </a:defRPr>
            </a:pPr>
            <a:r>
              <a:rPr sz="900" b="1">
                <a:solidFill>
                  <a:srgbClr val="8290A6"/>
                </a:solidFill>
                <a:latin typeface="Aptos"/>
                <a:ea typeface="Aptos"/>
                <a:cs typeface="Aptos"/>
              </a:rPr>
              <a:t>32</a:t>
            </a:r>
          </a:p>
        </p:txBody>
      </p:sp>
      <p:sp>
        <p:nvSpPr>
          <p:cNvPr id="6" name="">
            <a:extLst xmlns:a="http://schemas.openxmlformats.org/drawingml/2006/main">
              <a:ext uri="{FF2B5EF4-FFF2-40B4-BE49-F238E27FC236}">
                <a16:creationId xmlns:a16="http://schemas.microsoft.com/office/drawing/2014/main" id="{12E14181-3130-4B4C-9F93-BCB7C1E83F85}"/>
              </a:ext>
            </a:extLst>
          </p:cNvPr>
          <p:cNvSpPr>
            <a:spLocks xmlns:a="http://schemas.openxmlformats.org/drawingml/2006/main" noGrp="1"/>
          </p:cNvSpPr>
          <p:nvPr/>
        </p:nvSpPr>
        <p:spPr>
          <a:xfrm xmlns:a="http://schemas.openxmlformats.org/drawingml/2006/main">
            <a:off x="590550" y="1352550"/>
            <a:ext cx="4514850" cy="4438650"/>
          </a:xfrm>
          <a:prstGeom xmlns:a="http://schemas.openxmlformats.org/drawingml/2006/main" prst="rect">
            <a:avLst/>
          </a:prstGeom>
          <a:solidFill xmlns:a="http://schemas.openxmlformats.org/drawingml/2006/main">
            <a:srgbClr val="101820"/>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8DF643EE-5C7F-4114-91BA-C9C13BA322D9}"/>
              </a:ext>
            </a:extLst>
          </p:cNvPr>
          <p:cNvSpPr>
            <a:spLocks xmlns:a="http://schemas.openxmlformats.org/drawingml/2006/main" noGrp="1"/>
          </p:cNvSpPr>
          <p:nvPr/>
        </p:nvSpPr>
        <p:spPr>
          <a:xfrm xmlns:a="http://schemas.openxmlformats.org/drawingml/2006/main">
            <a:off x="819150" y="1581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4F7D76"/>
                </a:solidFill>
                <a:latin typeface="Cascadia Mono"/>
                <a:ea typeface="Cascadia Mono"/>
                <a:cs typeface="Cascadia Mono"/>
              </a:defRPr>
            </a:pPr>
            <a:r>
              <a:rPr sz="1200" b="1">
                <a:solidFill>
                  <a:srgbClr val="4F7D76"/>
                </a:solidFill>
                <a:latin typeface="Cascadia Mono"/>
                <a:ea typeface="Cascadia Mono"/>
                <a:cs typeface="Cascadia Mono"/>
              </a:rPr>
              <a:t>pfe-final/</a:t>
            </a:r>
          </a:p>
        </p:txBody>
      </p:sp>
      <p:sp>
        <p:nvSpPr>
          <p:cNvPr id="8" name="">
            <a:extLst xmlns:a="http://schemas.openxmlformats.org/drawingml/2006/main">
              <a:ext uri="{FF2B5EF4-FFF2-40B4-BE49-F238E27FC236}">
                <a16:creationId xmlns:a16="http://schemas.microsoft.com/office/drawing/2014/main" id="{8C8F275D-C721-40E3-8934-E0A8262C987C}"/>
              </a:ext>
            </a:extLst>
          </p:cNvPr>
          <p:cNvSpPr>
            <a:spLocks xmlns:a="http://schemas.openxmlformats.org/drawingml/2006/main" noGrp="1"/>
          </p:cNvSpPr>
          <p:nvPr/>
        </p:nvSpPr>
        <p:spPr>
          <a:xfrm xmlns:a="http://schemas.openxmlformats.org/drawingml/2006/main">
            <a:off x="838200" y="1962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Cascadia Mono"/>
                <a:ea typeface="Cascadia Mono"/>
                <a:cs typeface="Cascadia Mono"/>
              </a:defRPr>
            </a:pPr>
            <a:r>
              <a:rPr sz="825" b="1">
                <a:solidFill>
                  <a:srgbClr val="365F7D"/>
                </a:solidFill>
                <a:latin typeface="Cascadia Mono"/>
                <a:ea typeface="Cascadia Mono"/>
                <a:cs typeface="Cascadia Mono"/>
              </a:rPr>
              <a:t>├─ src/apk_sbom/</a:t>
            </a:r>
          </a:p>
        </p:txBody>
      </p:sp>
      <p:sp>
        <p:nvSpPr>
          <p:cNvPr id="9" name="">
            <a:extLst xmlns:a="http://schemas.openxmlformats.org/drawingml/2006/main">
              <a:ext uri="{FF2B5EF4-FFF2-40B4-BE49-F238E27FC236}">
                <a16:creationId xmlns:a16="http://schemas.microsoft.com/office/drawing/2014/main" id="{3CE2C416-7313-473B-A62B-ED9B82F87F15}"/>
              </a:ext>
            </a:extLst>
          </p:cNvPr>
          <p:cNvSpPr>
            <a:spLocks xmlns:a="http://schemas.openxmlformats.org/drawingml/2006/main" noGrp="1"/>
          </p:cNvSpPr>
          <p:nvPr/>
        </p:nvSpPr>
        <p:spPr>
          <a:xfrm xmlns:a="http://schemas.openxmlformats.org/drawingml/2006/main">
            <a:off x="2971800" y="19621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B8C3D3"/>
                </a:solidFill>
                <a:latin typeface="Aptos"/>
                <a:ea typeface="Aptos"/>
                <a:cs typeface="Aptos"/>
              </a:defRPr>
            </a:pPr>
            <a:r>
              <a:rPr sz="750" b="0">
                <a:solidFill>
                  <a:srgbClr val="B8C3D3"/>
                </a:solidFill>
                <a:latin typeface="Aptos"/>
                <a:ea typeface="Aptos"/>
                <a:cs typeface="Aptos"/>
              </a:rPr>
              <a:t>production pipeline modules</a:t>
            </a:r>
          </a:p>
        </p:txBody>
      </p:sp>
      <p:sp>
        <p:nvSpPr>
          <p:cNvPr id="10" name="">
            <a:extLst xmlns:a="http://schemas.openxmlformats.org/drawingml/2006/main">
              <a:ext uri="{FF2B5EF4-FFF2-40B4-BE49-F238E27FC236}">
                <a16:creationId xmlns:a16="http://schemas.microsoft.com/office/drawing/2014/main" id="{0964FE40-74E1-4585-934C-66B1C2C81BA9}"/>
              </a:ext>
            </a:extLst>
          </p:cNvPr>
          <p:cNvSpPr>
            <a:spLocks xmlns:a="http://schemas.openxmlformats.org/drawingml/2006/main" noGrp="1"/>
          </p:cNvSpPr>
          <p:nvPr/>
        </p:nvSpPr>
        <p:spPr>
          <a:xfrm xmlns:a="http://schemas.openxmlformats.org/drawingml/2006/main">
            <a:off x="838200" y="2305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4F7D76"/>
                </a:solidFill>
                <a:latin typeface="Cascadia Mono"/>
                <a:ea typeface="Cascadia Mono"/>
                <a:cs typeface="Cascadia Mono"/>
              </a:defRPr>
            </a:pPr>
            <a:r>
              <a:rPr sz="825" b="1">
                <a:solidFill>
                  <a:srgbClr val="4F7D76"/>
                </a:solidFill>
                <a:latin typeface="Cascadia Mono"/>
                <a:ea typeface="Cascadia Mono"/>
                <a:cs typeface="Cascadia Mono"/>
              </a:rPr>
              <a:t>├─ scripts/</a:t>
            </a:r>
          </a:p>
        </p:txBody>
      </p:sp>
      <p:sp>
        <p:nvSpPr>
          <p:cNvPr id="11" name="">
            <a:extLst xmlns:a="http://schemas.openxmlformats.org/drawingml/2006/main">
              <a:ext uri="{FF2B5EF4-FFF2-40B4-BE49-F238E27FC236}">
                <a16:creationId xmlns:a16="http://schemas.microsoft.com/office/drawing/2014/main" id="{21C0686F-9DC1-4E65-8E47-84A98D40387A}"/>
              </a:ext>
            </a:extLst>
          </p:cNvPr>
          <p:cNvSpPr>
            <a:spLocks xmlns:a="http://schemas.openxmlformats.org/drawingml/2006/main" noGrp="1"/>
          </p:cNvSpPr>
          <p:nvPr/>
        </p:nvSpPr>
        <p:spPr>
          <a:xfrm xmlns:a="http://schemas.openxmlformats.org/drawingml/2006/main">
            <a:off x="2971800" y="23050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B8C3D3"/>
                </a:solidFill>
                <a:latin typeface="Aptos"/>
                <a:ea typeface="Aptos"/>
                <a:cs typeface="Aptos"/>
              </a:defRPr>
            </a:pPr>
            <a:r>
              <a:rPr sz="750" b="0">
                <a:solidFill>
                  <a:srgbClr val="B8C3D3"/>
                </a:solidFill>
                <a:latin typeface="Aptos"/>
                <a:ea typeface="Aptos"/>
                <a:cs typeface="Aptos"/>
              </a:rPr>
              <a:t>evaluation, training, demo, DB workflows</a:t>
            </a:r>
          </a:p>
        </p:txBody>
      </p:sp>
      <p:sp>
        <p:nvSpPr>
          <p:cNvPr id="12" name="">
            <a:extLst xmlns:a="http://schemas.openxmlformats.org/drawingml/2006/main">
              <a:ext uri="{FF2B5EF4-FFF2-40B4-BE49-F238E27FC236}">
                <a16:creationId xmlns:a16="http://schemas.microsoft.com/office/drawing/2014/main" id="{6B9ECA95-2559-4588-AB89-2738C89353A8}"/>
              </a:ext>
            </a:extLst>
          </p:cNvPr>
          <p:cNvSpPr>
            <a:spLocks xmlns:a="http://schemas.openxmlformats.org/drawingml/2006/main" noGrp="1"/>
          </p:cNvSpPr>
          <p:nvPr/>
        </p:nvSpPr>
        <p:spPr>
          <a:xfrm xmlns:a="http://schemas.openxmlformats.org/drawingml/2006/main">
            <a:off x="838200" y="2647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6F7C61"/>
                </a:solidFill>
                <a:latin typeface="Cascadia Mono"/>
                <a:ea typeface="Cascadia Mono"/>
                <a:cs typeface="Cascadia Mono"/>
              </a:defRPr>
            </a:pPr>
            <a:r>
              <a:rPr sz="825" b="1">
                <a:solidFill>
                  <a:srgbClr val="6F7C61"/>
                </a:solidFill>
                <a:latin typeface="Cascadia Mono"/>
                <a:ea typeface="Cascadia Mono"/>
                <a:cs typeface="Cascadia Mono"/>
              </a:rPr>
              <a:t>├─ datasets/</a:t>
            </a:r>
          </a:p>
        </p:txBody>
      </p:sp>
      <p:sp>
        <p:nvSpPr>
          <p:cNvPr id="13" name="">
            <a:extLst xmlns:a="http://schemas.openxmlformats.org/drawingml/2006/main">
              <a:ext uri="{FF2B5EF4-FFF2-40B4-BE49-F238E27FC236}">
                <a16:creationId xmlns:a16="http://schemas.microsoft.com/office/drawing/2014/main" id="{AC74D7E2-959D-461A-8E63-00978EDEAB6D}"/>
              </a:ext>
            </a:extLst>
          </p:cNvPr>
          <p:cNvSpPr>
            <a:spLocks xmlns:a="http://schemas.openxmlformats.org/drawingml/2006/main" noGrp="1"/>
          </p:cNvSpPr>
          <p:nvPr/>
        </p:nvSpPr>
        <p:spPr>
          <a:xfrm xmlns:a="http://schemas.openxmlformats.org/drawingml/2006/main">
            <a:off x="2971800" y="26479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B8C3D3"/>
                </a:solidFill>
                <a:latin typeface="Aptos"/>
                <a:ea typeface="Aptos"/>
                <a:cs typeface="Aptos"/>
              </a:defRPr>
            </a:pPr>
            <a:r>
              <a:rPr sz="750" b="0">
                <a:solidFill>
                  <a:srgbClr val="B8C3D3"/>
                </a:solidFill>
                <a:latin typeface="Aptos"/>
                <a:ea typeface="Aptos"/>
                <a:cs typeface="Aptos"/>
              </a:rPr>
              <a:t>dataset manifests and ground truth</a:t>
            </a:r>
          </a:p>
        </p:txBody>
      </p:sp>
      <p:sp>
        <p:nvSpPr>
          <p:cNvPr id="14" name="">
            <a:extLst xmlns:a="http://schemas.openxmlformats.org/drawingml/2006/main">
              <a:ext uri="{FF2B5EF4-FFF2-40B4-BE49-F238E27FC236}">
                <a16:creationId xmlns:a16="http://schemas.microsoft.com/office/drawing/2014/main" id="{8A6DB92A-832D-44B6-BD47-EBC84342306A}"/>
              </a:ext>
            </a:extLst>
          </p:cNvPr>
          <p:cNvSpPr>
            <a:spLocks xmlns:a="http://schemas.openxmlformats.org/drawingml/2006/main" noGrp="1"/>
          </p:cNvSpPr>
          <p:nvPr/>
        </p:nvSpPr>
        <p:spPr>
          <a:xfrm xmlns:a="http://schemas.openxmlformats.org/drawingml/2006/main">
            <a:off x="838200" y="29908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D754D"/>
                </a:solidFill>
                <a:latin typeface="Cascadia Mono"/>
                <a:ea typeface="Cascadia Mono"/>
                <a:cs typeface="Cascadia Mono"/>
              </a:defRPr>
            </a:pPr>
            <a:r>
              <a:rPr sz="825" b="1">
                <a:solidFill>
                  <a:srgbClr val="8D754D"/>
                </a:solidFill>
                <a:latin typeface="Cascadia Mono"/>
                <a:ea typeface="Cascadia Mono"/>
                <a:cs typeface="Cascadia Mono"/>
              </a:rPr>
              <a:t>├─ data/test_apks/</a:t>
            </a:r>
          </a:p>
        </p:txBody>
      </p:sp>
      <p:sp>
        <p:nvSpPr>
          <p:cNvPr id="15" name="">
            <a:extLst xmlns:a="http://schemas.openxmlformats.org/drawingml/2006/main">
              <a:ext uri="{FF2B5EF4-FFF2-40B4-BE49-F238E27FC236}">
                <a16:creationId xmlns:a16="http://schemas.microsoft.com/office/drawing/2014/main" id="{A054A81E-86AC-47EF-9408-944E113BE6B2}"/>
              </a:ext>
            </a:extLst>
          </p:cNvPr>
          <p:cNvSpPr>
            <a:spLocks xmlns:a="http://schemas.openxmlformats.org/drawingml/2006/main" noGrp="1"/>
          </p:cNvSpPr>
          <p:nvPr/>
        </p:nvSpPr>
        <p:spPr>
          <a:xfrm xmlns:a="http://schemas.openxmlformats.org/drawingml/2006/main">
            <a:off x="2971800" y="29908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B8C3D3"/>
                </a:solidFill>
                <a:latin typeface="Aptos"/>
                <a:ea typeface="Aptos"/>
                <a:cs typeface="Aptos"/>
              </a:defRPr>
            </a:pPr>
            <a:r>
              <a:rPr sz="750" b="0">
                <a:solidFill>
                  <a:srgbClr val="B8C3D3"/>
                </a:solidFill>
                <a:latin typeface="Aptos"/>
                <a:ea typeface="Aptos"/>
                <a:cs typeface="Aptos"/>
              </a:rPr>
              <a:t>controlled and real APK inputs</a:t>
            </a:r>
          </a:p>
        </p:txBody>
      </p:sp>
      <p:sp>
        <p:nvSpPr>
          <p:cNvPr id="16" name="">
            <a:extLst xmlns:a="http://schemas.openxmlformats.org/drawingml/2006/main">
              <a:ext uri="{FF2B5EF4-FFF2-40B4-BE49-F238E27FC236}">
                <a16:creationId xmlns:a16="http://schemas.microsoft.com/office/drawing/2014/main" id="{07B7C17E-5B81-4259-95AB-2137AA832E2F}"/>
              </a:ext>
            </a:extLst>
          </p:cNvPr>
          <p:cNvSpPr>
            <a:spLocks xmlns:a="http://schemas.openxmlformats.org/drawingml/2006/main" noGrp="1"/>
          </p:cNvSpPr>
          <p:nvPr/>
        </p:nvSpPr>
        <p:spPr>
          <a:xfrm xmlns:a="http://schemas.openxmlformats.org/drawingml/2006/main">
            <a:off x="838200" y="33337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655F73"/>
                </a:solidFill>
                <a:latin typeface="Cascadia Mono"/>
                <a:ea typeface="Cascadia Mono"/>
                <a:cs typeface="Cascadia Mono"/>
              </a:defRPr>
            </a:pPr>
            <a:r>
              <a:rPr sz="825" b="1">
                <a:solidFill>
                  <a:srgbClr val="655F73"/>
                </a:solidFill>
                <a:latin typeface="Cascadia Mono"/>
                <a:ea typeface="Cascadia Mono"/>
                <a:cs typeface="Cascadia Mono"/>
              </a:rPr>
              <a:t>├─ data/reference_db/</a:t>
            </a:r>
          </a:p>
        </p:txBody>
      </p:sp>
      <p:sp>
        <p:nvSpPr>
          <p:cNvPr id="17" name="">
            <a:extLst xmlns:a="http://schemas.openxmlformats.org/drawingml/2006/main">
              <a:ext uri="{FF2B5EF4-FFF2-40B4-BE49-F238E27FC236}">
                <a16:creationId xmlns:a16="http://schemas.microsoft.com/office/drawing/2014/main" id="{0DCD5C73-A958-4531-9E0F-FB37C8F225C0}"/>
              </a:ext>
            </a:extLst>
          </p:cNvPr>
          <p:cNvSpPr>
            <a:spLocks xmlns:a="http://schemas.openxmlformats.org/drawingml/2006/main" noGrp="1"/>
          </p:cNvSpPr>
          <p:nvPr/>
        </p:nvSpPr>
        <p:spPr>
          <a:xfrm xmlns:a="http://schemas.openxmlformats.org/drawingml/2006/main">
            <a:off x="2971800" y="33337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B8C3D3"/>
                </a:solidFill>
                <a:latin typeface="Aptos"/>
                <a:ea typeface="Aptos"/>
                <a:cs typeface="Aptos"/>
              </a:defRPr>
            </a:pPr>
            <a:r>
              <a:rPr sz="750" b="0">
                <a:solidFill>
                  <a:srgbClr val="B8C3D3"/>
                </a:solidFill>
                <a:latin typeface="Aptos"/>
                <a:ea typeface="Aptos"/>
                <a:cs typeface="Aptos"/>
              </a:rPr>
              <a:t>SQLite Maven feature databases</a:t>
            </a:r>
          </a:p>
        </p:txBody>
      </p:sp>
      <p:sp>
        <p:nvSpPr>
          <p:cNvPr id="18" name="">
            <a:extLst xmlns:a="http://schemas.openxmlformats.org/drawingml/2006/main">
              <a:ext uri="{FF2B5EF4-FFF2-40B4-BE49-F238E27FC236}">
                <a16:creationId xmlns:a16="http://schemas.microsoft.com/office/drawing/2014/main" id="{CE3F5C60-0CCA-4915-96E5-0ED0F5704141}"/>
              </a:ext>
            </a:extLst>
          </p:cNvPr>
          <p:cNvSpPr>
            <a:spLocks xmlns:a="http://schemas.openxmlformats.org/drawingml/2006/main" noGrp="1"/>
          </p:cNvSpPr>
          <p:nvPr/>
        </p:nvSpPr>
        <p:spPr>
          <a:xfrm xmlns:a="http://schemas.openxmlformats.org/drawingml/2006/main">
            <a:off x="838200" y="36766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A65C55"/>
                </a:solidFill>
                <a:latin typeface="Cascadia Mono"/>
                <a:ea typeface="Cascadia Mono"/>
                <a:cs typeface="Cascadia Mono"/>
              </a:defRPr>
            </a:pPr>
            <a:r>
              <a:rPr sz="825" b="1">
                <a:solidFill>
                  <a:srgbClr val="A65C55"/>
                </a:solidFill>
                <a:latin typeface="Cascadia Mono"/>
                <a:ea typeface="Cascadia Mono"/>
                <a:cs typeface="Cascadia Mono"/>
              </a:rPr>
              <a:t>├─ data/results/</a:t>
            </a:r>
          </a:p>
        </p:txBody>
      </p:sp>
      <p:sp>
        <p:nvSpPr>
          <p:cNvPr id="19" name="">
            <a:extLst xmlns:a="http://schemas.openxmlformats.org/drawingml/2006/main">
              <a:ext uri="{FF2B5EF4-FFF2-40B4-BE49-F238E27FC236}">
                <a16:creationId xmlns:a16="http://schemas.microsoft.com/office/drawing/2014/main" id="{5A697A7E-73AD-4038-972A-3516B62E5773}"/>
              </a:ext>
            </a:extLst>
          </p:cNvPr>
          <p:cNvSpPr>
            <a:spLocks xmlns:a="http://schemas.openxmlformats.org/drawingml/2006/main" noGrp="1"/>
          </p:cNvSpPr>
          <p:nvPr/>
        </p:nvSpPr>
        <p:spPr>
          <a:xfrm xmlns:a="http://schemas.openxmlformats.org/drawingml/2006/main">
            <a:off x="2971800" y="36766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B8C3D3"/>
                </a:solidFill>
                <a:latin typeface="Aptos"/>
                <a:ea typeface="Aptos"/>
                <a:cs typeface="Aptos"/>
              </a:defRPr>
            </a:pPr>
            <a:r>
              <a:rPr sz="750" b="0">
                <a:solidFill>
                  <a:srgbClr val="B8C3D3"/>
                </a:solidFill>
                <a:latin typeface="Aptos"/>
                <a:ea typeface="Aptos"/>
                <a:cs typeface="Aptos"/>
              </a:rPr>
              <a:t>SBOM, reports, metrics, screenshots</a:t>
            </a:r>
          </a:p>
        </p:txBody>
      </p:sp>
      <p:sp>
        <p:nvSpPr>
          <p:cNvPr id="20" name="">
            <a:extLst xmlns:a="http://schemas.openxmlformats.org/drawingml/2006/main">
              <a:ext uri="{FF2B5EF4-FFF2-40B4-BE49-F238E27FC236}">
                <a16:creationId xmlns:a16="http://schemas.microsoft.com/office/drawing/2014/main" id="{2F895C50-F03C-4C32-87ED-2F865537D588}"/>
              </a:ext>
            </a:extLst>
          </p:cNvPr>
          <p:cNvSpPr>
            <a:spLocks xmlns:a="http://schemas.openxmlformats.org/drawingml/2006/main" noGrp="1"/>
          </p:cNvSpPr>
          <p:nvPr/>
        </p:nvSpPr>
        <p:spPr>
          <a:xfrm xmlns:a="http://schemas.openxmlformats.org/drawingml/2006/main">
            <a:off x="838200" y="40195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65F7D"/>
                </a:solidFill>
                <a:latin typeface="Cascadia Mono"/>
                <a:ea typeface="Cascadia Mono"/>
                <a:cs typeface="Cascadia Mono"/>
              </a:defRPr>
            </a:pPr>
            <a:r>
              <a:rPr sz="825" b="1">
                <a:solidFill>
                  <a:srgbClr val="365F7D"/>
                </a:solidFill>
                <a:latin typeface="Cascadia Mono"/>
                <a:ea typeface="Cascadia Mono"/>
                <a:cs typeface="Cascadia Mono"/>
              </a:rPr>
              <a:t>├─ tests/</a:t>
            </a:r>
          </a:p>
        </p:txBody>
      </p:sp>
      <p:sp>
        <p:nvSpPr>
          <p:cNvPr id="21" name="">
            <a:extLst xmlns:a="http://schemas.openxmlformats.org/drawingml/2006/main">
              <a:ext uri="{FF2B5EF4-FFF2-40B4-BE49-F238E27FC236}">
                <a16:creationId xmlns:a16="http://schemas.microsoft.com/office/drawing/2014/main" id="{90F3DE3E-AA5C-4E83-A152-719FE0363ACD}"/>
              </a:ext>
            </a:extLst>
          </p:cNvPr>
          <p:cNvSpPr>
            <a:spLocks xmlns:a="http://schemas.openxmlformats.org/drawingml/2006/main" noGrp="1"/>
          </p:cNvSpPr>
          <p:nvPr/>
        </p:nvSpPr>
        <p:spPr>
          <a:xfrm xmlns:a="http://schemas.openxmlformats.org/drawingml/2006/main">
            <a:off x="2971800" y="40195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B8C3D3"/>
                </a:solidFill>
                <a:latin typeface="Aptos"/>
                <a:ea typeface="Aptos"/>
                <a:cs typeface="Aptos"/>
              </a:defRPr>
            </a:pPr>
            <a:r>
              <a:rPr sz="750" b="0">
                <a:solidFill>
                  <a:srgbClr val="B8C3D3"/>
                </a:solidFill>
                <a:latin typeface="Aptos"/>
                <a:ea typeface="Aptos"/>
                <a:cs typeface="Aptos"/>
              </a:rPr>
              <a:t>unit and regression controls</a:t>
            </a:r>
          </a:p>
        </p:txBody>
      </p:sp>
      <p:sp>
        <p:nvSpPr>
          <p:cNvPr id="22" name="">
            <a:extLst xmlns:a="http://schemas.openxmlformats.org/drawingml/2006/main">
              <a:ext uri="{FF2B5EF4-FFF2-40B4-BE49-F238E27FC236}">
                <a16:creationId xmlns:a16="http://schemas.microsoft.com/office/drawing/2014/main" id="{8D636777-456E-43B3-A706-3E833DA9DD2C}"/>
              </a:ext>
            </a:extLst>
          </p:cNvPr>
          <p:cNvSpPr>
            <a:spLocks xmlns:a="http://schemas.openxmlformats.org/drawingml/2006/main" noGrp="1"/>
          </p:cNvSpPr>
          <p:nvPr/>
        </p:nvSpPr>
        <p:spPr>
          <a:xfrm xmlns:a="http://schemas.openxmlformats.org/drawingml/2006/main">
            <a:off x="838200" y="43624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4F7D76"/>
                </a:solidFill>
                <a:latin typeface="Cascadia Mono"/>
                <a:ea typeface="Cascadia Mono"/>
                <a:cs typeface="Cascadia Mono"/>
              </a:defRPr>
            </a:pPr>
            <a:r>
              <a:rPr sz="825" b="1">
                <a:solidFill>
                  <a:srgbClr val="4F7D76"/>
                </a:solidFill>
                <a:latin typeface="Cascadia Mono"/>
                <a:ea typeface="Cascadia Mono"/>
                <a:cs typeface="Cascadia Mono"/>
              </a:rPr>
              <a:t>├─ docs/</a:t>
            </a:r>
          </a:p>
        </p:txBody>
      </p:sp>
      <p:sp>
        <p:nvSpPr>
          <p:cNvPr id="23" name="">
            <a:extLst xmlns:a="http://schemas.openxmlformats.org/drawingml/2006/main">
              <a:ext uri="{FF2B5EF4-FFF2-40B4-BE49-F238E27FC236}">
                <a16:creationId xmlns:a16="http://schemas.microsoft.com/office/drawing/2014/main" id="{9E9EEE40-61B4-4AE1-A423-6BDAF6EB6D3B}"/>
              </a:ext>
            </a:extLst>
          </p:cNvPr>
          <p:cNvSpPr>
            <a:spLocks xmlns:a="http://schemas.openxmlformats.org/drawingml/2006/main" noGrp="1"/>
          </p:cNvSpPr>
          <p:nvPr/>
        </p:nvSpPr>
        <p:spPr>
          <a:xfrm xmlns:a="http://schemas.openxmlformats.org/drawingml/2006/main">
            <a:off x="2971800" y="43624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B8C3D3"/>
                </a:solidFill>
                <a:latin typeface="Aptos"/>
                <a:ea typeface="Aptos"/>
                <a:cs typeface="Aptos"/>
              </a:defRPr>
            </a:pPr>
            <a:r>
              <a:rPr sz="750" b="0">
                <a:solidFill>
                  <a:srgbClr val="B8C3D3"/>
                </a:solidFill>
                <a:latin typeface="Aptos"/>
                <a:ea typeface="Aptos"/>
                <a:cs typeface="Aptos"/>
              </a:rPr>
              <a:t>architecture, evaluation, thesis evidence</a:t>
            </a:r>
          </a:p>
        </p:txBody>
      </p:sp>
      <p:sp>
        <p:nvSpPr>
          <p:cNvPr id="24" name="">
            <a:extLst xmlns:a="http://schemas.openxmlformats.org/drawingml/2006/main">
              <a:ext uri="{FF2B5EF4-FFF2-40B4-BE49-F238E27FC236}">
                <a16:creationId xmlns:a16="http://schemas.microsoft.com/office/drawing/2014/main" id="{3432A08C-1D4B-469C-A814-F20467E36D57}"/>
              </a:ext>
            </a:extLst>
          </p:cNvPr>
          <p:cNvSpPr>
            <a:spLocks xmlns:a="http://schemas.openxmlformats.org/drawingml/2006/main" noGrp="1"/>
          </p:cNvSpPr>
          <p:nvPr/>
        </p:nvSpPr>
        <p:spPr>
          <a:xfrm xmlns:a="http://schemas.openxmlformats.org/drawingml/2006/main">
            <a:off x="838200" y="47053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D754D"/>
                </a:solidFill>
                <a:latin typeface="Cascadia Mono"/>
                <a:ea typeface="Cascadia Mono"/>
                <a:cs typeface="Cascadia Mono"/>
              </a:defRPr>
            </a:pPr>
            <a:r>
              <a:rPr sz="825" b="1">
                <a:solidFill>
                  <a:srgbClr val="8D754D"/>
                </a:solidFill>
                <a:latin typeface="Cascadia Mono"/>
                <a:ea typeface="Cascadia Mono"/>
                <a:cs typeface="Cascadia Mono"/>
              </a:rPr>
              <a:t>├─ Dockerfile</a:t>
            </a:r>
          </a:p>
        </p:txBody>
      </p:sp>
      <p:sp>
        <p:nvSpPr>
          <p:cNvPr id="25" name="">
            <a:extLst xmlns:a="http://schemas.openxmlformats.org/drawingml/2006/main">
              <a:ext uri="{FF2B5EF4-FFF2-40B4-BE49-F238E27FC236}">
                <a16:creationId xmlns:a16="http://schemas.microsoft.com/office/drawing/2014/main" id="{7C380B8C-DB02-44D7-A3C4-F2626EB99565}"/>
              </a:ext>
            </a:extLst>
          </p:cNvPr>
          <p:cNvSpPr>
            <a:spLocks xmlns:a="http://schemas.openxmlformats.org/drawingml/2006/main" noGrp="1"/>
          </p:cNvSpPr>
          <p:nvPr/>
        </p:nvSpPr>
        <p:spPr>
          <a:xfrm xmlns:a="http://schemas.openxmlformats.org/drawingml/2006/main">
            <a:off x="2971800" y="47053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B8C3D3"/>
                </a:solidFill>
                <a:latin typeface="Aptos"/>
                <a:ea typeface="Aptos"/>
                <a:cs typeface="Aptos"/>
              </a:defRPr>
            </a:pPr>
            <a:r>
              <a:rPr sz="750" b="0">
                <a:solidFill>
                  <a:srgbClr val="B8C3D3"/>
                </a:solidFill>
                <a:latin typeface="Aptos"/>
                <a:ea typeface="Aptos"/>
                <a:cs typeface="Aptos"/>
              </a:rPr>
              <a:t>toolchain image definition</a:t>
            </a:r>
          </a:p>
        </p:txBody>
      </p:sp>
      <p:sp>
        <p:nvSpPr>
          <p:cNvPr id="26" name="">
            <a:extLst xmlns:a="http://schemas.openxmlformats.org/drawingml/2006/main">
              <a:ext uri="{FF2B5EF4-FFF2-40B4-BE49-F238E27FC236}">
                <a16:creationId xmlns:a16="http://schemas.microsoft.com/office/drawing/2014/main" id="{3CFD5724-FC68-41ED-B720-454A96BAE5A9}"/>
              </a:ext>
            </a:extLst>
          </p:cNvPr>
          <p:cNvSpPr>
            <a:spLocks xmlns:a="http://schemas.openxmlformats.org/drawingml/2006/main" noGrp="1"/>
          </p:cNvSpPr>
          <p:nvPr/>
        </p:nvSpPr>
        <p:spPr>
          <a:xfrm xmlns:a="http://schemas.openxmlformats.org/drawingml/2006/main">
            <a:off x="838200" y="50482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655F73"/>
                </a:solidFill>
                <a:latin typeface="Cascadia Mono"/>
                <a:ea typeface="Cascadia Mono"/>
                <a:cs typeface="Cascadia Mono"/>
              </a:defRPr>
            </a:pPr>
            <a:r>
              <a:rPr sz="825" b="1">
                <a:solidFill>
                  <a:srgbClr val="655F73"/>
                </a:solidFill>
                <a:latin typeface="Cascadia Mono"/>
                <a:ea typeface="Cascadia Mono"/>
                <a:cs typeface="Cascadia Mono"/>
              </a:rPr>
              <a:t>└─ docker-compose.yml</a:t>
            </a:r>
          </a:p>
        </p:txBody>
      </p:sp>
      <p:sp>
        <p:nvSpPr>
          <p:cNvPr id="27" name="">
            <a:extLst xmlns:a="http://schemas.openxmlformats.org/drawingml/2006/main">
              <a:ext uri="{FF2B5EF4-FFF2-40B4-BE49-F238E27FC236}">
                <a16:creationId xmlns:a16="http://schemas.microsoft.com/office/drawing/2014/main" id="{EC5801BD-5171-4508-A220-252DFD8179C3}"/>
              </a:ext>
            </a:extLst>
          </p:cNvPr>
          <p:cNvSpPr>
            <a:spLocks xmlns:a="http://schemas.openxmlformats.org/drawingml/2006/main" noGrp="1"/>
          </p:cNvSpPr>
          <p:nvPr/>
        </p:nvSpPr>
        <p:spPr>
          <a:xfrm xmlns:a="http://schemas.openxmlformats.org/drawingml/2006/main">
            <a:off x="2971800" y="50482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B8C3D3"/>
                </a:solidFill>
                <a:latin typeface="Aptos"/>
                <a:ea typeface="Aptos"/>
                <a:cs typeface="Aptos"/>
              </a:defRPr>
            </a:pPr>
            <a:r>
              <a:rPr sz="750" b="0">
                <a:solidFill>
                  <a:srgbClr val="B8C3D3"/>
                </a:solidFill>
                <a:latin typeface="Aptos"/>
                <a:ea typeface="Aptos"/>
                <a:cs typeface="Aptos"/>
              </a:rPr>
              <a:t>bind-mounted reproducible workspace</a:t>
            </a:r>
          </a:p>
        </p:txBody>
      </p:sp>
      <p:sp>
        <p:nvSpPr>
          <p:cNvPr id="28" name="">
            <a:extLst xmlns:a="http://schemas.openxmlformats.org/drawingml/2006/main">
              <a:ext uri="{FF2B5EF4-FFF2-40B4-BE49-F238E27FC236}">
                <a16:creationId xmlns:a16="http://schemas.microsoft.com/office/drawing/2014/main" id="{0E45C0FC-E389-4E76-AB00-B982E1412FF5}"/>
              </a:ext>
            </a:extLst>
          </p:cNvPr>
          <p:cNvSpPr>
            <a:spLocks xmlns:a="http://schemas.openxmlformats.org/drawingml/2006/main" noGrp="1"/>
          </p:cNvSpPr>
          <p:nvPr/>
        </p:nvSpPr>
        <p:spPr>
          <a:xfrm xmlns:a="http://schemas.openxmlformats.org/drawingml/2006/main">
            <a:off x="5429250" y="1352550"/>
            <a:ext cx="6172200" cy="44386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54EC35C1-8E70-49D9-8EDD-C90580E535CF}"/>
              </a:ext>
            </a:extLst>
          </p:cNvPr>
          <p:cNvSpPr>
            <a:spLocks xmlns:a="http://schemas.openxmlformats.org/drawingml/2006/main" noGrp="1"/>
          </p:cNvSpPr>
          <p:nvPr/>
        </p:nvSpPr>
        <p:spPr>
          <a:xfrm xmlns:a="http://schemas.openxmlformats.org/drawingml/2006/main">
            <a:off x="5657850" y="15811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365F7D"/>
                </a:solidFill>
                <a:latin typeface="Aptos"/>
                <a:ea typeface="Aptos"/>
                <a:cs typeface="Aptos"/>
              </a:defRPr>
            </a:pPr>
            <a:r>
              <a:rPr sz="900" b="1">
                <a:solidFill>
                  <a:srgbClr val="365F7D"/>
                </a:solidFill>
                <a:latin typeface="Aptos"/>
                <a:ea typeface="Aptos"/>
                <a:cs typeface="Aptos"/>
              </a:rPr>
              <a:t>IMPLEMENTATION FLOW</a:t>
            </a:r>
          </a:p>
        </p:txBody>
      </p:sp>
      <p:sp>
        <p:nvSpPr>
          <p:cNvPr id="30" name="">
            <a:extLst xmlns:a="http://schemas.openxmlformats.org/drawingml/2006/main">
              <a:ext uri="{FF2B5EF4-FFF2-40B4-BE49-F238E27FC236}">
                <a16:creationId xmlns:a16="http://schemas.microsoft.com/office/drawing/2014/main" id="{D7088BBF-79E8-440B-8F9D-C6FD1A2B20EF}"/>
              </a:ext>
            </a:extLst>
          </p:cNvPr>
          <p:cNvSpPr>
            <a:spLocks xmlns:a="http://schemas.openxmlformats.org/drawingml/2006/main" noGrp="1"/>
          </p:cNvSpPr>
          <p:nvPr/>
        </p:nvSpPr>
        <p:spPr>
          <a:xfrm xmlns:a="http://schemas.openxmlformats.org/drawingml/2006/main">
            <a:off x="5657850" y="2000250"/>
            <a:ext cx="14668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8D754D"/>
            </a:solidFill>
            <a:prstDash val="solid"/>
          </a:ln>
        </p:spPr>
      </p:sp>
      <p:sp>
        <p:nvSpPr>
          <p:cNvPr id="31" name="">
            <a:extLst xmlns:a="http://schemas.openxmlformats.org/drawingml/2006/main">
              <a:ext uri="{FF2B5EF4-FFF2-40B4-BE49-F238E27FC236}">
                <a16:creationId xmlns:a16="http://schemas.microsoft.com/office/drawing/2014/main" id="{9F513470-2279-4E6A-861D-B9874C871C4F}"/>
              </a:ext>
            </a:extLst>
          </p:cNvPr>
          <p:cNvSpPr>
            <a:spLocks xmlns:a="http://schemas.openxmlformats.org/drawingml/2006/main" noGrp="1"/>
          </p:cNvSpPr>
          <p:nvPr/>
        </p:nvSpPr>
        <p:spPr>
          <a:xfrm xmlns:a="http://schemas.openxmlformats.org/drawingml/2006/main">
            <a:off x="5724525" y="20574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8D754D"/>
                </a:solidFill>
                <a:latin typeface="Aptos"/>
                <a:ea typeface="Aptos"/>
                <a:cs typeface="Aptos"/>
              </a:defRPr>
            </a:pPr>
            <a:r>
              <a:rPr sz="825" b="1">
                <a:solidFill>
                  <a:srgbClr val="8D754D"/>
                </a:solidFill>
                <a:latin typeface="Aptos"/>
                <a:ea typeface="Aptos"/>
                <a:cs typeface="Aptos"/>
              </a:rPr>
              <a:t>APK input</a:t>
            </a:r>
          </a:p>
        </p:txBody>
      </p:sp>
      <p:sp>
        <p:nvSpPr>
          <p:cNvPr id="32" name="rule">
            <a:extLst xmlns:a="http://schemas.openxmlformats.org/drawingml/2006/main">
              <a:ext uri="{FF2B5EF4-FFF2-40B4-BE49-F238E27FC236}">
                <a16:creationId xmlns:a16="http://schemas.microsoft.com/office/drawing/2014/main" id="{B4BEEB53-B905-4206-AA29-571B4EE9E204}"/>
              </a:ext>
            </a:extLst>
          </p:cNvPr>
          <p:cNvSpPr>
            <a:spLocks xmlns:a="http://schemas.openxmlformats.org/drawingml/2006/main" noGrp="1"/>
          </p:cNvSpPr>
          <p:nvPr/>
        </p:nvSpPr>
        <p:spPr>
          <a:xfrm xmlns:a="http://schemas.openxmlformats.org/drawingml/2006/main">
            <a:off x="7200900" y="2124075"/>
            <a:ext cx="2667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8F4C083-3007-44C7-B5ED-8978C972F887}"/>
              </a:ext>
            </a:extLst>
          </p:cNvPr>
          <p:cNvSpPr>
            <a:spLocks xmlns:a="http://schemas.openxmlformats.org/drawingml/2006/main" noGrp="1"/>
          </p:cNvSpPr>
          <p:nvPr/>
        </p:nvSpPr>
        <p:spPr>
          <a:xfrm xmlns:a="http://schemas.openxmlformats.org/drawingml/2006/main">
            <a:off x="7391400" y="203835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3FEC9A6-0148-4532-91A1-E780428940D6}"/>
              </a:ext>
            </a:extLst>
          </p:cNvPr>
          <p:cNvSpPr>
            <a:spLocks xmlns:a="http://schemas.openxmlformats.org/drawingml/2006/main" noGrp="1"/>
          </p:cNvSpPr>
          <p:nvPr/>
        </p:nvSpPr>
        <p:spPr>
          <a:xfrm xmlns:a="http://schemas.openxmlformats.org/drawingml/2006/main">
            <a:off x="7715250" y="20193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data/test_apks or mounted user APK</a:t>
            </a:r>
          </a:p>
        </p:txBody>
      </p:sp>
      <p:sp>
        <p:nvSpPr>
          <p:cNvPr id="35" name="">
            <a:extLst xmlns:a="http://schemas.openxmlformats.org/drawingml/2006/main">
              <a:ext uri="{FF2B5EF4-FFF2-40B4-BE49-F238E27FC236}">
                <a16:creationId xmlns:a16="http://schemas.microsoft.com/office/drawing/2014/main" id="{62FE9341-FB6C-47A8-B3F3-8D627FED505F}"/>
              </a:ext>
            </a:extLst>
          </p:cNvPr>
          <p:cNvSpPr>
            <a:spLocks xmlns:a="http://schemas.openxmlformats.org/drawingml/2006/main" noGrp="1"/>
          </p:cNvSpPr>
          <p:nvPr/>
        </p:nvSpPr>
        <p:spPr>
          <a:xfrm xmlns:a="http://schemas.openxmlformats.org/drawingml/2006/main">
            <a:off x="5657850" y="2571750"/>
            <a:ext cx="14668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36" name="">
            <a:extLst xmlns:a="http://schemas.openxmlformats.org/drawingml/2006/main">
              <a:ext uri="{FF2B5EF4-FFF2-40B4-BE49-F238E27FC236}">
                <a16:creationId xmlns:a16="http://schemas.microsoft.com/office/drawing/2014/main" id="{BF3AF73E-E5D3-42BE-A5E4-9F6B81155E65}"/>
              </a:ext>
            </a:extLst>
          </p:cNvPr>
          <p:cNvSpPr>
            <a:spLocks xmlns:a="http://schemas.openxmlformats.org/drawingml/2006/main" noGrp="1"/>
          </p:cNvSpPr>
          <p:nvPr/>
        </p:nvSpPr>
        <p:spPr>
          <a:xfrm xmlns:a="http://schemas.openxmlformats.org/drawingml/2006/main">
            <a:off x="5724525" y="26289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365F7D"/>
                </a:solidFill>
                <a:latin typeface="Aptos"/>
                <a:ea typeface="Aptos"/>
                <a:cs typeface="Aptos"/>
              </a:defRPr>
            </a:pPr>
            <a:r>
              <a:rPr sz="825" b="1">
                <a:solidFill>
                  <a:srgbClr val="365F7D"/>
                </a:solidFill>
                <a:latin typeface="Aptos"/>
                <a:ea typeface="Aptos"/>
                <a:cs typeface="Aptos"/>
              </a:rPr>
              <a:t>Extract + analyze</a:t>
            </a:r>
          </a:p>
        </p:txBody>
      </p:sp>
      <p:sp>
        <p:nvSpPr>
          <p:cNvPr id="37" name="rule">
            <a:extLst xmlns:a="http://schemas.openxmlformats.org/drawingml/2006/main">
              <a:ext uri="{FF2B5EF4-FFF2-40B4-BE49-F238E27FC236}">
                <a16:creationId xmlns:a16="http://schemas.microsoft.com/office/drawing/2014/main" id="{15557F38-9955-4456-ADE9-F4BCAEC1A6F4}"/>
              </a:ext>
            </a:extLst>
          </p:cNvPr>
          <p:cNvSpPr>
            <a:spLocks xmlns:a="http://schemas.openxmlformats.org/drawingml/2006/main" noGrp="1"/>
          </p:cNvSpPr>
          <p:nvPr/>
        </p:nvSpPr>
        <p:spPr>
          <a:xfrm xmlns:a="http://schemas.openxmlformats.org/drawingml/2006/main">
            <a:off x="7200900" y="2695575"/>
            <a:ext cx="2667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F44F8446-7D24-4B75-AC92-C29F047FBC72}"/>
              </a:ext>
            </a:extLst>
          </p:cNvPr>
          <p:cNvSpPr>
            <a:spLocks xmlns:a="http://schemas.openxmlformats.org/drawingml/2006/main" noGrp="1"/>
          </p:cNvSpPr>
          <p:nvPr/>
        </p:nvSpPr>
        <p:spPr>
          <a:xfrm xmlns:a="http://schemas.openxmlformats.org/drawingml/2006/main">
            <a:off x="7391400" y="260985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44835CC-F37C-4BB7-989F-3EFE22C7058C}"/>
              </a:ext>
            </a:extLst>
          </p:cNvPr>
          <p:cNvSpPr>
            <a:spLocks xmlns:a="http://schemas.openxmlformats.org/drawingml/2006/main" noGrp="1"/>
          </p:cNvSpPr>
          <p:nvPr/>
        </p:nvSpPr>
        <p:spPr>
          <a:xfrm xmlns:a="http://schemas.openxmlformats.org/drawingml/2006/main">
            <a:off x="7715250" y="25908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apk_extractor.py + dex_analyzer.py</a:t>
            </a:r>
          </a:p>
        </p:txBody>
      </p:sp>
      <p:sp>
        <p:nvSpPr>
          <p:cNvPr id="40" name="">
            <a:extLst xmlns:a="http://schemas.openxmlformats.org/drawingml/2006/main">
              <a:ext uri="{FF2B5EF4-FFF2-40B4-BE49-F238E27FC236}">
                <a16:creationId xmlns:a16="http://schemas.microsoft.com/office/drawing/2014/main" id="{02C3915C-631F-4067-8E58-A881FAC3BD79}"/>
              </a:ext>
            </a:extLst>
          </p:cNvPr>
          <p:cNvSpPr>
            <a:spLocks xmlns:a="http://schemas.openxmlformats.org/drawingml/2006/main" noGrp="1"/>
          </p:cNvSpPr>
          <p:nvPr/>
        </p:nvSpPr>
        <p:spPr>
          <a:xfrm xmlns:a="http://schemas.openxmlformats.org/drawingml/2006/main">
            <a:off x="5657850" y="3143250"/>
            <a:ext cx="14668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5F73"/>
            </a:solidFill>
            <a:prstDash val="solid"/>
          </a:ln>
        </p:spPr>
      </p:sp>
      <p:sp>
        <p:nvSpPr>
          <p:cNvPr id="41" name="">
            <a:extLst xmlns:a="http://schemas.openxmlformats.org/drawingml/2006/main">
              <a:ext uri="{FF2B5EF4-FFF2-40B4-BE49-F238E27FC236}">
                <a16:creationId xmlns:a16="http://schemas.microsoft.com/office/drawing/2014/main" id="{2F354DE4-A05B-4E12-ADBB-2076C21674E8}"/>
              </a:ext>
            </a:extLst>
          </p:cNvPr>
          <p:cNvSpPr>
            <a:spLocks xmlns:a="http://schemas.openxmlformats.org/drawingml/2006/main" noGrp="1"/>
          </p:cNvSpPr>
          <p:nvPr/>
        </p:nvSpPr>
        <p:spPr>
          <a:xfrm xmlns:a="http://schemas.openxmlformats.org/drawingml/2006/main">
            <a:off x="5724525" y="32004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55F73"/>
                </a:solidFill>
                <a:latin typeface="Aptos"/>
                <a:ea typeface="Aptos"/>
                <a:cs typeface="Aptos"/>
              </a:defRPr>
            </a:pPr>
            <a:r>
              <a:rPr sz="825" b="1">
                <a:solidFill>
                  <a:srgbClr val="655F73"/>
                </a:solidFill>
                <a:latin typeface="Aptos"/>
                <a:ea typeface="Aptos"/>
                <a:cs typeface="Aptos"/>
              </a:rPr>
              <a:t>Match</a:t>
            </a:r>
          </a:p>
        </p:txBody>
      </p:sp>
      <p:sp>
        <p:nvSpPr>
          <p:cNvPr id="42" name="rule">
            <a:extLst xmlns:a="http://schemas.openxmlformats.org/drawingml/2006/main">
              <a:ext uri="{FF2B5EF4-FFF2-40B4-BE49-F238E27FC236}">
                <a16:creationId xmlns:a16="http://schemas.microsoft.com/office/drawing/2014/main" id="{5033435F-2E74-411F-86A7-83919EF173FE}"/>
              </a:ext>
            </a:extLst>
          </p:cNvPr>
          <p:cNvSpPr>
            <a:spLocks xmlns:a="http://schemas.openxmlformats.org/drawingml/2006/main" noGrp="1"/>
          </p:cNvSpPr>
          <p:nvPr/>
        </p:nvSpPr>
        <p:spPr>
          <a:xfrm xmlns:a="http://schemas.openxmlformats.org/drawingml/2006/main">
            <a:off x="7200900" y="3267075"/>
            <a:ext cx="26670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24920A4F-B07F-4677-B606-D3E1A9B359A1}"/>
              </a:ext>
            </a:extLst>
          </p:cNvPr>
          <p:cNvSpPr>
            <a:spLocks xmlns:a="http://schemas.openxmlformats.org/drawingml/2006/main" noGrp="1"/>
          </p:cNvSpPr>
          <p:nvPr/>
        </p:nvSpPr>
        <p:spPr>
          <a:xfrm xmlns:a="http://schemas.openxmlformats.org/drawingml/2006/main">
            <a:off x="7391400" y="3181350"/>
            <a:ext cx="228600" cy="190500"/>
          </a:xfrm>
          <a:prstGeom xmlns:a="http://schemas.openxmlformats.org/drawingml/2006/main" prst="chevron">
            <a:avLst/>
          </a:prstGeom>
          <a:solidFill xmlns:a="http://schemas.openxmlformats.org/drawingml/2006/main">
            <a:srgbClr val="655F73"/>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96538C02-2618-459E-AF00-F5C1DF6AE7D0}"/>
              </a:ext>
            </a:extLst>
          </p:cNvPr>
          <p:cNvSpPr>
            <a:spLocks xmlns:a="http://schemas.openxmlformats.org/drawingml/2006/main" noGrp="1"/>
          </p:cNvSpPr>
          <p:nvPr/>
        </p:nvSpPr>
        <p:spPr>
          <a:xfrm xmlns:a="http://schemas.openxmlformats.org/drawingml/2006/main">
            <a:off x="7715250" y="31623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matcher.py queries reference_features*.sqlite</a:t>
            </a:r>
          </a:p>
        </p:txBody>
      </p:sp>
      <p:sp>
        <p:nvSpPr>
          <p:cNvPr id="45" name="">
            <a:extLst xmlns:a="http://schemas.openxmlformats.org/drawingml/2006/main">
              <a:ext uri="{FF2B5EF4-FFF2-40B4-BE49-F238E27FC236}">
                <a16:creationId xmlns:a16="http://schemas.microsoft.com/office/drawing/2014/main" id="{35136517-C940-4889-A52C-32BE4904ECCD}"/>
              </a:ext>
            </a:extLst>
          </p:cNvPr>
          <p:cNvSpPr>
            <a:spLocks xmlns:a="http://schemas.openxmlformats.org/drawingml/2006/main" noGrp="1"/>
          </p:cNvSpPr>
          <p:nvPr/>
        </p:nvSpPr>
        <p:spPr>
          <a:xfrm xmlns:a="http://schemas.openxmlformats.org/drawingml/2006/main">
            <a:off x="5657850" y="3714750"/>
            <a:ext cx="14668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4F7D76"/>
            </a:solidFill>
            <a:prstDash val="solid"/>
          </a:ln>
        </p:spPr>
      </p:sp>
      <p:sp>
        <p:nvSpPr>
          <p:cNvPr id="46" name="">
            <a:extLst xmlns:a="http://schemas.openxmlformats.org/drawingml/2006/main">
              <a:ext uri="{FF2B5EF4-FFF2-40B4-BE49-F238E27FC236}">
                <a16:creationId xmlns:a16="http://schemas.microsoft.com/office/drawing/2014/main" id="{E054A14C-72A3-4F5A-A507-DE8E59957C58}"/>
              </a:ext>
            </a:extLst>
          </p:cNvPr>
          <p:cNvSpPr>
            <a:spLocks xmlns:a="http://schemas.openxmlformats.org/drawingml/2006/main" noGrp="1"/>
          </p:cNvSpPr>
          <p:nvPr/>
        </p:nvSpPr>
        <p:spPr>
          <a:xfrm xmlns:a="http://schemas.openxmlformats.org/drawingml/2006/main">
            <a:off x="5724525" y="37719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4F7D76"/>
                </a:solidFill>
                <a:latin typeface="Aptos"/>
                <a:ea typeface="Aptos"/>
                <a:cs typeface="Aptos"/>
              </a:defRPr>
            </a:pPr>
            <a:r>
              <a:rPr sz="825" b="1">
                <a:solidFill>
                  <a:srgbClr val="4F7D76"/>
                </a:solidFill>
                <a:latin typeface="Aptos"/>
                <a:ea typeface="Aptos"/>
                <a:cs typeface="Aptos"/>
              </a:rPr>
              <a:t>Emit</a:t>
            </a:r>
          </a:p>
        </p:txBody>
      </p:sp>
      <p:sp>
        <p:nvSpPr>
          <p:cNvPr id="47" name="rule">
            <a:extLst xmlns:a="http://schemas.openxmlformats.org/drawingml/2006/main">
              <a:ext uri="{FF2B5EF4-FFF2-40B4-BE49-F238E27FC236}">
                <a16:creationId xmlns:a16="http://schemas.microsoft.com/office/drawing/2014/main" id="{30119AB7-C541-41AB-8C29-BA40BF40EC5D}"/>
              </a:ext>
            </a:extLst>
          </p:cNvPr>
          <p:cNvSpPr>
            <a:spLocks xmlns:a="http://schemas.openxmlformats.org/drawingml/2006/main" noGrp="1"/>
          </p:cNvSpPr>
          <p:nvPr/>
        </p:nvSpPr>
        <p:spPr>
          <a:xfrm xmlns:a="http://schemas.openxmlformats.org/drawingml/2006/main">
            <a:off x="7200900" y="3838575"/>
            <a:ext cx="2667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4B31FDF-4AE3-493D-9FA5-9F4ECD1D5FFE}"/>
              </a:ext>
            </a:extLst>
          </p:cNvPr>
          <p:cNvSpPr>
            <a:spLocks xmlns:a="http://schemas.openxmlformats.org/drawingml/2006/main" noGrp="1"/>
          </p:cNvSpPr>
          <p:nvPr/>
        </p:nvSpPr>
        <p:spPr>
          <a:xfrm xmlns:a="http://schemas.openxmlformats.org/drawingml/2006/main">
            <a:off x="7391400" y="375285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15325EAA-F14E-47D0-8092-373F0201D724}"/>
              </a:ext>
            </a:extLst>
          </p:cNvPr>
          <p:cNvSpPr>
            <a:spLocks xmlns:a="http://schemas.openxmlformats.org/drawingml/2006/main" noGrp="1"/>
          </p:cNvSpPr>
          <p:nvPr/>
        </p:nvSpPr>
        <p:spPr>
          <a:xfrm xmlns:a="http://schemas.openxmlformats.org/drawingml/2006/main">
            <a:off x="7715250" y="37338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sbom.py + vulnerability.py + report.py</a:t>
            </a:r>
          </a:p>
        </p:txBody>
      </p:sp>
      <p:sp>
        <p:nvSpPr>
          <p:cNvPr id="50" name="">
            <a:extLst xmlns:a="http://schemas.openxmlformats.org/drawingml/2006/main">
              <a:ext uri="{FF2B5EF4-FFF2-40B4-BE49-F238E27FC236}">
                <a16:creationId xmlns:a16="http://schemas.microsoft.com/office/drawing/2014/main" id="{6D12783D-B919-406C-8B69-1A063CB99EC1}"/>
              </a:ext>
            </a:extLst>
          </p:cNvPr>
          <p:cNvSpPr>
            <a:spLocks xmlns:a="http://schemas.openxmlformats.org/drawingml/2006/main" noGrp="1"/>
          </p:cNvSpPr>
          <p:nvPr/>
        </p:nvSpPr>
        <p:spPr>
          <a:xfrm xmlns:a="http://schemas.openxmlformats.org/drawingml/2006/main">
            <a:off x="5657850" y="4286250"/>
            <a:ext cx="14668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51" name="">
            <a:extLst xmlns:a="http://schemas.openxmlformats.org/drawingml/2006/main">
              <a:ext uri="{FF2B5EF4-FFF2-40B4-BE49-F238E27FC236}">
                <a16:creationId xmlns:a16="http://schemas.microsoft.com/office/drawing/2014/main" id="{0610B7BA-90A1-4FE2-8DB1-DBB5785DABC5}"/>
              </a:ext>
            </a:extLst>
          </p:cNvPr>
          <p:cNvSpPr>
            <a:spLocks xmlns:a="http://schemas.openxmlformats.org/drawingml/2006/main" noGrp="1"/>
          </p:cNvSpPr>
          <p:nvPr/>
        </p:nvSpPr>
        <p:spPr>
          <a:xfrm xmlns:a="http://schemas.openxmlformats.org/drawingml/2006/main">
            <a:off x="5724525" y="43434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F7C61"/>
                </a:solidFill>
                <a:latin typeface="Aptos"/>
                <a:ea typeface="Aptos"/>
                <a:cs typeface="Aptos"/>
              </a:defRPr>
            </a:pPr>
            <a:r>
              <a:rPr sz="825" b="1">
                <a:solidFill>
                  <a:srgbClr val="6F7C61"/>
                </a:solidFill>
                <a:latin typeface="Aptos"/>
                <a:ea typeface="Aptos"/>
                <a:cs typeface="Aptos"/>
              </a:rPr>
              <a:t>Validate</a:t>
            </a:r>
          </a:p>
        </p:txBody>
      </p:sp>
      <p:sp>
        <p:nvSpPr>
          <p:cNvPr id="52" name="rule">
            <a:extLst xmlns:a="http://schemas.openxmlformats.org/drawingml/2006/main">
              <a:ext uri="{FF2B5EF4-FFF2-40B4-BE49-F238E27FC236}">
                <a16:creationId xmlns:a16="http://schemas.microsoft.com/office/drawing/2014/main" id="{020FCCBA-F54B-4AB1-92F3-2CA739188BDA}"/>
              </a:ext>
            </a:extLst>
          </p:cNvPr>
          <p:cNvSpPr>
            <a:spLocks xmlns:a="http://schemas.openxmlformats.org/drawingml/2006/main" noGrp="1"/>
          </p:cNvSpPr>
          <p:nvPr/>
        </p:nvSpPr>
        <p:spPr>
          <a:xfrm xmlns:a="http://schemas.openxmlformats.org/drawingml/2006/main">
            <a:off x="7200900" y="4410075"/>
            <a:ext cx="2667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95C74AD5-F3A4-4E9F-8BD5-776B22776294}"/>
              </a:ext>
            </a:extLst>
          </p:cNvPr>
          <p:cNvSpPr>
            <a:spLocks xmlns:a="http://schemas.openxmlformats.org/drawingml/2006/main" noGrp="1"/>
          </p:cNvSpPr>
          <p:nvPr/>
        </p:nvSpPr>
        <p:spPr>
          <a:xfrm xmlns:a="http://schemas.openxmlformats.org/drawingml/2006/main">
            <a:off x="7391400" y="4324350"/>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0718C1D1-F485-452C-81F2-5C024FE82EBB}"/>
              </a:ext>
            </a:extLst>
          </p:cNvPr>
          <p:cNvSpPr>
            <a:spLocks xmlns:a="http://schemas.openxmlformats.org/drawingml/2006/main" noGrp="1"/>
          </p:cNvSpPr>
          <p:nvPr/>
        </p:nvSpPr>
        <p:spPr>
          <a:xfrm xmlns:a="http://schemas.openxmlformats.org/drawingml/2006/main">
            <a:off x="7715250" y="43053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source-validation JSON + evaluation scripts</a:t>
            </a:r>
          </a:p>
        </p:txBody>
      </p:sp>
      <p:sp>
        <p:nvSpPr>
          <p:cNvPr id="55" name="">
            <a:extLst xmlns:a="http://schemas.openxmlformats.org/drawingml/2006/main">
              <a:ext uri="{FF2B5EF4-FFF2-40B4-BE49-F238E27FC236}">
                <a16:creationId xmlns:a16="http://schemas.microsoft.com/office/drawing/2014/main" id="{3DB83AD6-26F5-4176-BFBE-C8961C420B87}"/>
              </a:ext>
            </a:extLst>
          </p:cNvPr>
          <p:cNvSpPr>
            <a:spLocks xmlns:a="http://schemas.openxmlformats.org/drawingml/2006/main" noGrp="1"/>
          </p:cNvSpPr>
          <p:nvPr/>
        </p:nvSpPr>
        <p:spPr>
          <a:xfrm xmlns:a="http://schemas.openxmlformats.org/drawingml/2006/main">
            <a:off x="5657850" y="4857750"/>
            <a:ext cx="14668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56" name="">
            <a:extLst xmlns:a="http://schemas.openxmlformats.org/drawingml/2006/main">
              <a:ext uri="{FF2B5EF4-FFF2-40B4-BE49-F238E27FC236}">
                <a16:creationId xmlns:a16="http://schemas.microsoft.com/office/drawing/2014/main" id="{D17412DE-AF7D-4701-BAE7-1E6AB532554A}"/>
              </a:ext>
            </a:extLst>
          </p:cNvPr>
          <p:cNvSpPr>
            <a:spLocks xmlns:a="http://schemas.openxmlformats.org/drawingml/2006/main" noGrp="1"/>
          </p:cNvSpPr>
          <p:nvPr/>
        </p:nvSpPr>
        <p:spPr>
          <a:xfrm xmlns:a="http://schemas.openxmlformats.org/drawingml/2006/main">
            <a:off x="5724525" y="49149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Preserve evidence</a:t>
            </a:r>
          </a:p>
        </p:txBody>
      </p:sp>
      <p:sp>
        <p:nvSpPr>
          <p:cNvPr id="57" name="rule">
            <a:extLst xmlns:a="http://schemas.openxmlformats.org/drawingml/2006/main">
              <a:ext uri="{FF2B5EF4-FFF2-40B4-BE49-F238E27FC236}">
                <a16:creationId xmlns:a16="http://schemas.microsoft.com/office/drawing/2014/main" id="{57AFE88B-A828-4566-A626-71769DC91625}"/>
              </a:ext>
            </a:extLst>
          </p:cNvPr>
          <p:cNvSpPr>
            <a:spLocks xmlns:a="http://schemas.openxmlformats.org/drawingml/2006/main" noGrp="1"/>
          </p:cNvSpPr>
          <p:nvPr/>
        </p:nvSpPr>
        <p:spPr>
          <a:xfrm xmlns:a="http://schemas.openxmlformats.org/drawingml/2006/main">
            <a:off x="7200900" y="4981575"/>
            <a:ext cx="266700" cy="190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7C792249-005F-43BD-AD60-E8F759B99D33}"/>
              </a:ext>
            </a:extLst>
          </p:cNvPr>
          <p:cNvSpPr>
            <a:spLocks xmlns:a="http://schemas.openxmlformats.org/drawingml/2006/main" noGrp="1"/>
          </p:cNvSpPr>
          <p:nvPr/>
        </p:nvSpPr>
        <p:spPr>
          <a:xfrm xmlns:a="http://schemas.openxmlformats.org/drawingml/2006/main">
            <a:off x="7391400" y="4895850"/>
            <a:ext cx="228600" cy="190500"/>
          </a:xfrm>
          <a:prstGeom xmlns:a="http://schemas.openxmlformats.org/drawingml/2006/main" prst="chevron">
            <a:avLst/>
          </a:prstGeom>
          <a:solidFill xmlns:a="http://schemas.openxmlformats.org/drawingml/2006/main">
            <a:srgbClr val="A65C55"/>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D1A0B178-D41F-4C43-8607-65DFE82B375D}"/>
              </a:ext>
            </a:extLst>
          </p:cNvPr>
          <p:cNvSpPr>
            <a:spLocks xmlns:a="http://schemas.openxmlformats.org/drawingml/2006/main" noGrp="1"/>
          </p:cNvSpPr>
          <p:nvPr/>
        </p:nvSpPr>
        <p:spPr>
          <a:xfrm xmlns:a="http://schemas.openxmlformats.org/drawingml/2006/main">
            <a:off x="7715250" y="48768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data/results/... HTML, JSON, CycloneDX, metrics</a:t>
            </a:r>
          </a:p>
        </p:txBody>
      </p:sp>
      <p:sp>
        <p:nvSpPr>
          <p:cNvPr id="60" name="">
            <a:extLst xmlns:a="http://schemas.openxmlformats.org/drawingml/2006/main">
              <a:ext uri="{FF2B5EF4-FFF2-40B4-BE49-F238E27FC236}">
                <a16:creationId xmlns:a16="http://schemas.microsoft.com/office/drawing/2014/main" id="{C020D1C1-210E-41ED-B666-84005D7BCB25}"/>
              </a:ext>
            </a:extLst>
          </p:cNvPr>
          <p:cNvSpPr>
            <a:spLocks xmlns:a="http://schemas.openxmlformats.org/drawingml/2006/main" noGrp="1"/>
          </p:cNvSpPr>
          <p:nvPr/>
        </p:nvSpPr>
        <p:spPr>
          <a:xfrm xmlns:a="http://schemas.openxmlformats.org/drawingml/2006/main">
            <a:off x="685800" y="59817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C8D738F3-0442-488A-8730-A6F5DC413DAE}"/>
              </a:ext>
            </a:extLst>
          </p:cNvPr>
          <p:cNvSpPr>
            <a:spLocks xmlns:a="http://schemas.openxmlformats.org/drawingml/2006/main" noGrp="1"/>
          </p:cNvSpPr>
          <p:nvPr/>
        </p:nvSpPr>
        <p:spPr>
          <a:xfrm xmlns:a="http://schemas.openxmlformats.org/drawingml/2006/main">
            <a:off x="819150" y="60483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Core modules: apk_extractor.py  dex_analyzer.py  reference_features.py  matcher.py  sbom.py  vulnerability.py  report.py</a:t>
            </a:r>
          </a:p>
        </p:txBody>
      </p:sp>
      <p:sp>
        <p:nvSpPr>
          <p:cNvPr id="62" name="">
            <a:extLst xmlns:a="http://schemas.openxmlformats.org/drawingml/2006/main">
              <a:ext uri="{FF2B5EF4-FFF2-40B4-BE49-F238E27FC236}">
                <a16:creationId xmlns:a16="http://schemas.microsoft.com/office/drawing/2014/main" id="{E74A5271-1C62-4087-95CF-BF27B3730CB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327046374"/>
      </p:ext>
    </p:extLst>
  </p:cSld>
</p:sld>
</file>

<file path=ppt/slides/slide33.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D0E6DAF-5069-4D72-B07E-A391C5DE08DB}"/>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F7C61"/>
                </a:solidFill>
                <a:latin typeface="Aptos"/>
                <a:ea typeface="Aptos"/>
                <a:cs typeface="Aptos"/>
              </a:defRPr>
            </a:pPr>
            <a:r>
              <a:rPr sz="900" b="1">
                <a:solidFill>
                  <a:srgbClr val="6F7C61"/>
                </a:solidFill>
                <a:latin typeface="Aptos"/>
                <a:ea typeface="Aptos"/>
                <a:cs typeface="Aptos"/>
              </a:rPr>
              <a:t>BACKUP 2</a:t>
            </a:r>
          </a:p>
        </p:txBody>
      </p:sp>
      <p:sp>
        <p:nvSpPr>
          <p:cNvPr id="2" name="">
            <a:extLst xmlns:a="http://schemas.openxmlformats.org/drawingml/2006/main">
              <a:ext uri="{FF2B5EF4-FFF2-40B4-BE49-F238E27FC236}">
                <a16:creationId xmlns:a16="http://schemas.microsoft.com/office/drawing/2014/main" id="{EB6D7D93-1B72-4A6F-A9D8-97E932B68B27}"/>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Exact matcher signals, default weights, and guarded signals</a:t>
            </a:r>
          </a:p>
        </p:txBody>
      </p:sp>
      <p:sp>
        <p:nvSpPr>
          <p:cNvPr id="3" name="">
            <a:extLst xmlns:a="http://schemas.openxmlformats.org/drawingml/2006/main">
              <a:ext uri="{FF2B5EF4-FFF2-40B4-BE49-F238E27FC236}">
                <a16:creationId xmlns:a16="http://schemas.microsoft.com/office/drawing/2014/main" id="{2EF58A80-2671-4849-86ED-DD02957650E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33</a:t>
            </a:r>
          </a:p>
        </p:txBody>
      </p:sp>
      <p:sp>
        <p:nvSpPr>
          <p:cNvPr id="4" name="">
            <a:extLst xmlns:a="http://schemas.openxmlformats.org/drawingml/2006/main">
              <a:ext uri="{FF2B5EF4-FFF2-40B4-BE49-F238E27FC236}">
                <a16:creationId xmlns:a16="http://schemas.microsoft.com/office/drawing/2014/main" id="{35B53836-62B0-4405-B986-6FB146448D20}"/>
              </a:ext>
            </a:extLst>
          </p:cNvPr>
          <p:cNvSpPr>
            <a:spLocks xmlns:a="http://schemas.openxmlformats.org/drawingml/2006/main" noGrp="1"/>
          </p:cNvSpPr>
          <p:nvPr/>
        </p:nvSpPr>
        <p:spPr>
          <a:xfrm xmlns:a="http://schemas.openxmlformats.org/drawingml/2006/main">
            <a:off x="800100" y="14859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Class</a:t>
            </a:r>
          </a:p>
        </p:txBody>
      </p:sp>
      <p:sp>
        <p:nvSpPr>
          <p:cNvPr id="5" name="">
            <a:extLst xmlns:a="http://schemas.openxmlformats.org/drawingml/2006/main">
              <a:ext uri="{FF2B5EF4-FFF2-40B4-BE49-F238E27FC236}">
                <a16:creationId xmlns:a16="http://schemas.microsoft.com/office/drawing/2014/main" id="{6C3F6927-E735-4810-869D-06A306C11CD9}"/>
              </a:ext>
            </a:extLst>
          </p:cNvPr>
          <p:cNvSpPr>
            <a:spLocks xmlns:a="http://schemas.openxmlformats.org/drawingml/2006/main" noGrp="1"/>
          </p:cNvSpPr>
          <p:nvPr/>
        </p:nvSpPr>
        <p:spPr>
          <a:xfrm xmlns:a="http://schemas.openxmlformats.org/drawingml/2006/main">
            <a:off x="2590800" y="151447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79B3EB7-662C-448D-BEF7-7B80F17A4378}"/>
              </a:ext>
            </a:extLst>
          </p:cNvPr>
          <p:cNvSpPr>
            <a:spLocks xmlns:a="http://schemas.openxmlformats.org/drawingml/2006/main" noGrp="1"/>
          </p:cNvSpPr>
          <p:nvPr/>
        </p:nvSpPr>
        <p:spPr>
          <a:xfrm xmlns:a="http://schemas.openxmlformats.org/drawingml/2006/main">
            <a:off x="2590800" y="1514475"/>
            <a:ext cx="4953000" cy="1714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9052255-2257-4A99-953C-4C1A3101EF83}"/>
              </a:ext>
            </a:extLst>
          </p:cNvPr>
          <p:cNvSpPr>
            <a:spLocks xmlns:a="http://schemas.openxmlformats.org/drawingml/2006/main" noGrp="1"/>
          </p:cNvSpPr>
          <p:nvPr/>
        </p:nvSpPr>
        <p:spPr>
          <a:xfrm xmlns:a="http://schemas.openxmlformats.org/drawingml/2006/main">
            <a:off x="7715250" y="14478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365F7D"/>
                </a:solidFill>
                <a:latin typeface="Aptos"/>
                <a:ea typeface="Aptos"/>
                <a:cs typeface="Aptos"/>
              </a:defRPr>
            </a:pPr>
            <a:r>
              <a:rPr sz="1200" b="1">
                <a:solidFill>
                  <a:srgbClr val="365F7D"/>
                </a:solidFill>
                <a:latin typeface="Aptos"/>
                <a:ea typeface="Aptos"/>
                <a:cs typeface="Aptos"/>
              </a:rPr>
              <a:t>0.45</a:t>
            </a:r>
          </a:p>
        </p:txBody>
      </p:sp>
      <p:sp>
        <p:nvSpPr>
          <p:cNvPr id="8" name="">
            <a:extLst xmlns:a="http://schemas.openxmlformats.org/drawingml/2006/main">
              <a:ext uri="{FF2B5EF4-FFF2-40B4-BE49-F238E27FC236}">
                <a16:creationId xmlns:a16="http://schemas.microsoft.com/office/drawing/2014/main" id="{F8C0CEC9-446A-4075-9A7F-9808F8EE1940}"/>
              </a:ext>
            </a:extLst>
          </p:cNvPr>
          <p:cNvSpPr>
            <a:spLocks xmlns:a="http://schemas.openxmlformats.org/drawingml/2006/main" noGrp="1"/>
          </p:cNvSpPr>
          <p:nvPr/>
        </p:nvSpPr>
        <p:spPr>
          <a:xfrm xmlns:a="http://schemas.openxmlformats.org/drawingml/2006/main">
            <a:off x="800100" y="2038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Method</a:t>
            </a:r>
          </a:p>
        </p:txBody>
      </p:sp>
      <p:sp>
        <p:nvSpPr>
          <p:cNvPr id="9" name="">
            <a:extLst xmlns:a="http://schemas.openxmlformats.org/drawingml/2006/main">
              <a:ext uri="{FF2B5EF4-FFF2-40B4-BE49-F238E27FC236}">
                <a16:creationId xmlns:a16="http://schemas.microsoft.com/office/drawing/2014/main" id="{2CE67DA5-C43C-4D89-B7EB-5953970566F4}"/>
              </a:ext>
            </a:extLst>
          </p:cNvPr>
          <p:cNvSpPr>
            <a:spLocks xmlns:a="http://schemas.openxmlformats.org/drawingml/2006/main" noGrp="1"/>
          </p:cNvSpPr>
          <p:nvPr/>
        </p:nvSpPr>
        <p:spPr>
          <a:xfrm xmlns:a="http://schemas.openxmlformats.org/drawingml/2006/main">
            <a:off x="2590800" y="206692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36C550F-B1E2-4AF9-A218-E6C448D1CE2F}"/>
              </a:ext>
            </a:extLst>
          </p:cNvPr>
          <p:cNvSpPr>
            <a:spLocks xmlns:a="http://schemas.openxmlformats.org/drawingml/2006/main" noGrp="1"/>
          </p:cNvSpPr>
          <p:nvPr/>
        </p:nvSpPr>
        <p:spPr>
          <a:xfrm xmlns:a="http://schemas.openxmlformats.org/drawingml/2006/main">
            <a:off x="2590800" y="2066925"/>
            <a:ext cx="2751667" cy="1714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07ACF6B-4BE7-4B09-AC41-16F76E45BCCB}"/>
              </a:ext>
            </a:extLst>
          </p:cNvPr>
          <p:cNvSpPr>
            <a:spLocks xmlns:a="http://schemas.openxmlformats.org/drawingml/2006/main" noGrp="1"/>
          </p:cNvSpPr>
          <p:nvPr/>
        </p:nvSpPr>
        <p:spPr>
          <a:xfrm xmlns:a="http://schemas.openxmlformats.org/drawingml/2006/main">
            <a:off x="7715250" y="20002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4F7D76"/>
                </a:solidFill>
                <a:latin typeface="Aptos"/>
                <a:ea typeface="Aptos"/>
                <a:cs typeface="Aptos"/>
              </a:defRPr>
            </a:pPr>
            <a:r>
              <a:rPr sz="1200" b="1">
                <a:solidFill>
                  <a:srgbClr val="4F7D76"/>
                </a:solidFill>
                <a:latin typeface="Aptos"/>
                <a:ea typeface="Aptos"/>
                <a:cs typeface="Aptos"/>
              </a:rPr>
              <a:t>0.25</a:t>
            </a:r>
          </a:p>
        </p:txBody>
      </p:sp>
      <p:sp>
        <p:nvSpPr>
          <p:cNvPr id="12" name="">
            <a:extLst xmlns:a="http://schemas.openxmlformats.org/drawingml/2006/main">
              <a:ext uri="{FF2B5EF4-FFF2-40B4-BE49-F238E27FC236}">
                <a16:creationId xmlns:a16="http://schemas.microsoft.com/office/drawing/2014/main" id="{45A723E4-5D0D-4AB7-A22A-5192328A31F9}"/>
              </a:ext>
            </a:extLst>
          </p:cNvPr>
          <p:cNvSpPr>
            <a:spLocks xmlns:a="http://schemas.openxmlformats.org/drawingml/2006/main" noGrp="1"/>
          </p:cNvSpPr>
          <p:nvPr/>
        </p:nvSpPr>
        <p:spPr>
          <a:xfrm xmlns:a="http://schemas.openxmlformats.org/drawingml/2006/main">
            <a:off x="800100" y="25908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Package</a:t>
            </a:r>
          </a:p>
        </p:txBody>
      </p:sp>
      <p:sp>
        <p:nvSpPr>
          <p:cNvPr id="13" name="">
            <a:extLst xmlns:a="http://schemas.openxmlformats.org/drawingml/2006/main">
              <a:ext uri="{FF2B5EF4-FFF2-40B4-BE49-F238E27FC236}">
                <a16:creationId xmlns:a16="http://schemas.microsoft.com/office/drawing/2014/main" id="{08CC43D3-EFBB-4B33-9947-0A75390D7F71}"/>
              </a:ext>
            </a:extLst>
          </p:cNvPr>
          <p:cNvSpPr>
            <a:spLocks xmlns:a="http://schemas.openxmlformats.org/drawingml/2006/main" noGrp="1"/>
          </p:cNvSpPr>
          <p:nvPr/>
        </p:nvSpPr>
        <p:spPr>
          <a:xfrm xmlns:a="http://schemas.openxmlformats.org/drawingml/2006/main">
            <a:off x="2590800" y="261937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2920C00-A5E8-43D0-A804-236F4772FC3C}"/>
              </a:ext>
            </a:extLst>
          </p:cNvPr>
          <p:cNvSpPr>
            <a:spLocks xmlns:a="http://schemas.openxmlformats.org/drawingml/2006/main" noGrp="1"/>
          </p:cNvSpPr>
          <p:nvPr/>
        </p:nvSpPr>
        <p:spPr>
          <a:xfrm xmlns:a="http://schemas.openxmlformats.org/drawingml/2006/main">
            <a:off x="2590800" y="2619375"/>
            <a:ext cx="1651000" cy="1714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77B93E9-ADC8-42FF-B9B6-9BD998D9D7CE}"/>
              </a:ext>
            </a:extLst>
          </p:cNvPr>
          <p:cNvSpPr>
            <a:spLocks xmlns:a="http://schemas.openxmlformats.org/drawingml/2006/main" noGrp="1"/>
          </p:cNvSpPr>
          <p:nvPr/>
        </p:nvSpPr>
        <p:spPr>
          <a:xfrm xmlns:a="http://schemas.openxmlformats.org/drawingml/2006/main">
            <a:off x="7715250" y="25527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6F7C61"/>
                </a:solidFill>
                <a:latin typeface="Aptos"/>
                <a:ea typeface="Aptos"/>
                <a:cs typeface="Aptos"/>
              </a:defRPr>
            </a:pPr>
            <a:r>
              <a:rPr sz="1200" b="1">
                <a:solidFill>
                  <a:srgbClr val="6F7C61"/>
                </a:solidFill>
                <a:latin typeface="Aptos"/>
                <a:ea typeface="Aptos"/>
                <a:cs typeface="Aptos"/>
              </a:rPr>
              <a:t>0.15</a:t>
            </a:r>
          </a:p>
        </p:txBody>
      </p:sp>
      <p:sp>
        <p:nvSpPr>
          <p:cNvPr id="16" name="">
            <a:extLst xmlns:a="http://schemas.openxmlformats.org/drawingml/2006/main">
              <a:ext uri="{FF2B5EF4-FFF2-40B4-BE49-F238E27FC236}">
                <a16:creationId xmlns:a16="http://schemas.microsoft.com/office/drawing/2014/main" id="{CF6F8268-24C8-48A4-9F23-5BB6438E9A30}"/>
              </a:ext>
            </a:extLst>
          </p:cNvPr>
          <p:cNvSpPr>
            <a:spLocks xmlns:a="http://schemas.openxmlformats.org/drawingml/2006/main" noGrp="1"/>
          </p:cNvSpPr>
          <p:nvPr/>
        </p:nvSpPr>
        <p:spPr>
          <a:xfrm xmlns:a="http://schemas.openxmlformats.org/drawingml/2006/main">
            <a:off x="800100" y="3143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Opcode</a:t>
            </a:r>
          </a:p>
        </p:txBody>
      </p:sp>
      <p:sp>
        <p:nvSpPr>
          <p:cNvPr id="17" name="">
            <a:extLst xmlns:a="http://schemas.openxmlformats.org/drawingml/2006/main">
              <a:ext uri="{FF2B5EF4-FFF2-40B4-BE49-F238E27FC236}">
                <a16:creationId xmlns:a16="http://schemas.microsoft.com/office/drawing/2014/main" id="{F797FE8D-6EC8-450F-8B73-A80D85102240}"/>
              </a:ext>
            </a:extLst>
          </p:cNvPr>
          <p:cNvSpPr>
            <a:spLocks xmlns:a="http://schemas.openxmlformats.org/drawingml/2006/main" noGrp="1"/>
          </p:cNvSpPr>
          <p:nvPr/>
        </p:nvSpPr>
        <p:spPr>
          <a:xfrm xmlns:a="http://schemas.openxmlformats.org/drawingml/2006/main">
            <a:off x="2590800" y="317182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071AFF5-835E-4ABB-BB32-A1056970A1BC}"/>
              </a:ext>
            </a:extLst>
          </p:cNvPr>
          <p:cNvSpPr>
            <a:spLocks xmlns:a="http://schemas.openxmlformats.org/drawingml/2006/main" noGrp="1"/>
          </p:cNvSpPr>
          <p:nvPr/>
        </p:nvSpPr>
        <p:spPr>
          <a:xfrm xmlns:a="http://schemas.openxmlformats.org/drawingml/2006/main">
            <a:off x="2590800" y="3171825"/>
            <a:ext cx="1651000" cy="1714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FBACC2A-0FA1-4A84-96A7-454FA57ADC7F}"/>
              </a:ext>
            </a:extLst>
          </p:cNvPr>
          <p:cNvSpPr>
            <a:spLocks xmlns:a="http://schemas.openxmlformats.org/drawingml/2006/main" noGrp="1"/>
          </p:cNvSpPr>
          <p:nvPr/>
        </p:nvSpPr>
        <p:spPr>
          <a:xfrm xmlns:a="http://schemas.openxmlformats.org/drawingml/2006/main">
            <a:off x="7715250" y="31051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655F73"/>
                </a:solidFill>
                <a:latin typeface="Aptos"/>
                <a:ea typeface="Aptos"/>
                <a:cs typeface="Aptos"/>
              </a:defRPr>
            </a:pPr>
            <a:r>
              <a:rPr sz="1200" b="1">
                <a:solidFill>
                  <a:srgbClr val="655F73"/>
                </a:solidFill>
                <a:latin typeface="Aptos"/>
                <a:ea typeface="Aptos"/>
                <a:cs typeface="Aptos"/>
              </a:rPr>
              <a:t>0.15</a:t>
            </a:r>
          </a:p>
        </p:txBody>
      </p:sp>
      <p:sp>
        <p:nvSpPr>
          <p:cNvPr id="20" name="">
            <a:extLst xmlns:a="http://schemas.openxmlformats.org/drawingml/2006/main">
              <a:ext uri="{FF2B5EF4-FFF2-40B4-BE49-F238E27FC236}">
                <a16:creationId xmlns:a16="http://schemas.microsoft.com/office/drawing/2014/main" id="{7D4C276D-30EC-4F8E-A7E4-7162BD276B33}"/>
              </a:ext>
            </a:extLst>
          </p:cNvPr>
          <p:cNvSpPr>
            <a:spLocks xmlns:a="http://schemas.openxmlformats.org/drawingml/2006/main" noGrp="1"/>
          </p:cNvSpPr>
          <p:nvPr/>
        </p:nvSpPr>
        <p:spPr>
          <a:xfrm xmlns:a="http://schemas.openxmlformats.org/drawingml/2006/main">
            <a:off x="800100" y="36957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Unique version</a:t>
            </a:r>
          </a:p>
        </p:txBody>
      </p:sp>
      <p:sp>
        <p:nvSpPr>
          <p:cNvPr id="21" name="">
            <a:extLst xmlns:a="http://schemas.openxmlformats.org/drawingml/2006/main">
              <a:ext uri="{FF2B5EF4-FFF2-40B4-BE49-F238E27FC236}">
                <a16:creationId xmlns:a16="http://schemas.microsoft.com/office/drawing/2014/main" id="{00573203-14A6-4008-8A57-6B721B9D2F6D}"/>
              </a:ext>
            </a:extLst>
          </p:cNvPr>
          <p:cNvSpPr>
            <a:spLocks xmlns:a="http://schemas.openxmlformats.org/drawingml/2006/main" noGrp="1"/>
          </p:cNvSpPr>
          <p:nvPr/>
        </p:nvSpPr>
        <p:spPr>
          <a:xfrm xmlns:a="http://schemas.openxmlformats.org/drawingml/2006/main">
            <a:off x="2590800" y="372427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48833DB-9182-4238-86C6-555042D897E1}"/>
              </a:ext>
            </a:extLst>
          </p:cNvPr>
          <p:cNvSpPr>
            <a:spLocks xmlns:a="http://schemas.openxmlformats.org/drawingml/2006/main" noGrp="1"/>
          </p:cNvSpPr>
          <p:nvPr/>
        </p:nvSpPr>
        <p:spPr>
          <a:xfrm xmlns:a="http://schemas.openxmlformats.org/drawingml/2006/main">
            <a:off x="2590800" y="3724275"/>
            <a:ext cx="1320800" cy="1714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5AE50F2-3749-4E51-9E0F-7E3D725846A0}"/>
              </a:ext>
            </a:extLst>
          </p:cNvPr>
          <p:cNvSpPr>
            <a:spLocks xmlns:a="http://schemas.openxmlformats.org/drawingml/2006/main" noGrp="1"/>
          </p:cNvSpPr>
          <p:nvPr/>
        </p:nvSpPr>
        <p:spPr>
          <a:xfrm xmlns:a="http://schemas.openxmlformats.org/drawingml/2006/main">
            <a:off x="7715250" y="36576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8D754D"/>
                </a:solidFill>
                <a:latin typeface="Aptos"/>
                <a:ea typeface="Aptos"/>
                <a:cs typeface="Aptos"/>
              </a:defRPr>
            </a:pPr>
            <a:r>
              <a:rPr sz="1200" b="1">
                <a:solidFill>
                  <a:srgbClr val="8D754D"/>
                </a:solidFill>
                <a:latin typeface="Aptos"/>
                <a:ea typeface="Aptos"/>
                <a:cs typeface="Aptos"/>
              </a:rPr>
              <a:t>0.12</a:t>
            </a:r>
          </a:p>
        </p:txBody>
      </p:sp>
      <p:sp>
        <p:nvSpPr>
          <p:cNvPr id="24" name="">
            <a:extLst xmlns:a="http://schemas.openxmlformats.org/drawingml/2006/main">
              <a:ext uri="{FF2B5EF4-FFF2-40B4-BE49-F238E27FC236}">
                <a16:creationId xmlns:a16="http://schemas.microsoft.com/office/drawing/2014/main" id="{D6C23697-1ED8-450F-9366-3D862FEEBC5B}"/>
              </a:ext>
            </a:extLst>
          </p:cNvPr>
          <p:cNvSpPr>
            <a:spLocks xmlns:a="http://schemas.openxmlformats.org/drawingml/2006/main" noGrp="1"/>
          </p:cNvSpPr>
          <p:nvPr/>
        </p:nvSpPr>
        <p:spPr>
          <a:xfrm xmlns:a="http://schemas.openxmlformats.org/drawingml/2006/main">
            <a:off x="800100" y="42481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Dependency</a:t>
            </a:r>
          </a:p>
        </p:txBody>
      </p:sp>
      <p:sp>
        <p:nvSpPr>
          <p:cNvPr id="25" name="">
            <a:extLst xmlns:a="http://schemas.openxmlformats.org/drawingml/2006/main">
              <a:ext uri="{FF2B5EF4-FFF2-40B4-BE49-F238E27FC236}">
                <a16:creationId xmlns:a16="http://schemas.microsoft.com/office/drawing/2014/main" id="{8EF935D6-80AD-483C-BACE-095838175035}"/>
              </a:ext>
            </a:extLst>
          </p:cNvPr>
          <p:cNvSpPr>
            <a:spLocks xmlns:a="http://schemas.openxmlformats.org/drawingml/2006/main" noGrp="1"/>
          </p:cNvSpPr>
          <p:nvPr/>
        </p:nvSpPr>
        <p:spPr>
          <a:xfrm xmlns:a="http://schemas.openxmlformats.org/drawingml/2006/main">
            <a:off x="2590800" y="427672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777BD63-4802-482B-AEB3-107A6FE492E8}"/>
              </a:ext>
            </a:extLst>
          </p:cNvPr>
          <p:cNvSpPr>
            <a:spLocks xmlns:a="http://schemas.openxmlformats.org/drawingml/2006/main" noGrp="1"/>
          </p:cNvSpPr>
          <p:nvPr/>
        </p:nvSpPr>
        <p:spPr>
          <a:xfrm xmlns:a="http://schemas.openxmlformats.org/drawingml/2006/main">
            <a:off x="2590800" y="4276725"/>
            <a:ext cx="1100667" cy="1714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7704C16-9778-4E62-A1AA-7DFF72C39BC3}"/>
              </a:ext>
            </a:extLst>
          </p:cNvPr>
          <p:cNvSpPr>
            <a:spLocks xmlns:a="http://schemas.openxmlformats.org/drawingml/2006/main" noGrp="1"/>
          </p:cNvSpPr>
          <p:nvPr/>
        </p:nvSpPr>
        <p:spPr>
          <a:xfrm xmlns:a="http://schemas.openxmlformats.org/drawingml/2006/main">
            <a:off x="7715250" y="421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365F7D"/>
                </a:solidFill>
                <a:latin typeface="Aptos"/>
                <a:ea typeface="Aptos"/>
                <a:cs typeface="Aptos"/>
              </a:defRPr>
            </a:pPr>
            <a:r>
              <a:rPr sz="1200" b="1">
                <a:solidFill>
                  <a:srgbClr val="365F7D"/>
                </a:solidFill>
                <a:latin typeface="Aptos"/>
                <a:ea typeface="Aptos"/>
                <a:cs typeface="Aptos"/>
              </a:rPr>
              <a:t>0.10</a:t>
            </a:r>
          </a:p>
        </p:txBody>
      </p:sp>
      <p:sp>
        <p:nvSpPr>
          <p:cNvPr id="28" name="">
            <a:extLst xmlns:a="http://schemas.openxmlformats.org/drawingml/2006/main">
              <a:ext uri="{FF2B5EF4-FFF2-40B4-BE49-F238E27FC236}">
                <a16:creationId xmlns:a16="http://schemas.microsoft.com/office/drawing/2014/main" id="{E96038FE-029E-4D22-8818-641A30925B98}"/>
              </a:ext>
            </a:extLst>
          </p:cNvPr>
          <p:cNvSpPr>
            <a:spLocks xmlns:a="http://schemas.openxmlformats.org/drawingml/2006/main" noGrp="1"/>
          </p:cNvSpPr>
          <p:nvPr/>
        </p:nvSpPr>
        <p:spPr>
          <a:xfrm xmlns:a="http://schemas.openxmlformats.org/drawingml/2006/main">
            <a:off x="800100" y="48006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02A33"/>
                </a:solidFill>
                <a:latin typeface="Aptos"/>
                <a:ea typeface="Aptos"/>
                <a:cs typeface="Aptos"/>
              </a:defRPr>
            </a:pPr>
            <a:r>
              <a:rPr sz="1050" b="1">
                <a:solidFill>
                  <a:srgbClr val="202A33"/>
                </a:solidFill>
                <a:latin typeface="Aptos"/>
                <a:ea typeface="Aptos"/>
                <a:cs typeface="Aptos"/>
              </a:rPr>
              <a:t>Literal</a:t>
            </a:r>
          </a:p>
        </p:txBody>
      </p:sp>
      <p:sp>
        <p:nvSpPr>
          <p:cNvPr id="29" name="">
            <a:extLst xmlns:a="http://schemas.openxmlformats.org/drawingml/2006/main">
              <a:ext uri="{FF2B5EF4-FFF2-40B4-BE49-F238E27FC236}">
                <a16:creationId xmlns:a16="http://schemas.microsoft.com/office/drawing/2014/main" id="{1A7CA9B2-4CC0-4FC2-B508-3B8AE88A3BDA}"/>
              </a:ext>
            </a:extLst>
          </p:cNvPr>
          <p:cNvSpPr>
            <a:spLocks xmlns:a="http://schemas.openxmlformats.org/drawingml/2006/main" noGrp="1"/>
          </p:cNvSpPr>
          <p:nvPr/>
        </p:nvSpPr>
        <p:spPr>
          <a:xfrm xmlns:a="http://schemas.openxmlformats.org/drawingml/2006/main">
            <a:off x="2590800" y="482917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D745CCC-95CB-473C-946B-4925F8FE0E11}"/>
              </a:ext>
            </a:extLst>
          </p:cNvPr>
          <p:cNvSpPr>
            <a:spLocks xmlns:a="http://schemas.openxmlformats.org/drawingml/2006/main" noGrp="1"/>
          </p:cNvSpPr>
          <p:nvPr/>
        </p:nvSpPr>
        <p:spPr>
          <a:xfrm xmlns:a="http://schemas.openxmlformats.org/drawingml/2006/main">
            <a:off x="2590800" y="4829175"/>
            <a:ext cx="880533" cy="1714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0342C14-DE48-450E-829B-166A913C1293}"/>
              </a:ext>
            </a:extLst>
          </p:cNvPr>
          <p:cNvSpPr>
            <a:spLocks xmlns:a="http://schemas.openxmlformats.org/drawingml/2006/main" noGrp="1"/>
          </p:cNvSpPr>
          <p:nvPr/>
        </p:nvSpPr>
        <p:spPr>
          <a:xfrm xmlns:a="http://schemas.openxmlformats.org/drawingml/2006/main">
            <a:off x="7715250" y="47625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A65C55"/>
                </a:solidFill>
                <a:latin typeface="Aptos"/>
                <a:ea typeface="Aptos"/>
                <a:cs typeface="Aptos"/>
              </a:defRPr>
            </a:pPr>
            <a:r>
              <a:rPr sz="1200" b="1">
                <a:solidFill>
                  <a:srgbClr val="A65C55"/>
                </a:solidFill>
                <a:latin typeface="Aptos"/>
                <a:ea typeface="Aptos"/>
                <a:cs typeface="Aptos"/>
              </a:rPr>
              <a:t>0.08</a:t>
            </a:r>
          </a:p>
        </p:txBody>
      </p:sp>
      <p:sp>
        <p:nvSpPr>
          <p:cNvPr id="32" name="">
            <a:extLst xmlns:a="http://schemas.openxmlformats.org/drawingml/2006/main">
              <a:ext uri="{FF2B5EF4-FFF2-40B4-BE49-F238E27FC236}">
                <a16:creationId xmlns:a16="http://schemas.microsoft.com/office/drawing/2014/main" id="{88EC1243-4C49-428B-AA5E-D93D56E49FA7}"/>
              </a:ext>
            </a:extLst>
          </p:cNvPr>
          <p:cNvSpPr>
            <a:spLocks xmlns:a="http://schemas.openxmlformats.org/drawingml/2006/main" noGrp="1"/>
          </p:cNvSpPr>
          <p:nvPr/>
        </p:nvSpPr>
        <p:spPr>
          <a:xfrm xmlns:a="http://schemas.openxmlformats.org/drawingml/2006/main">
            <a:off x="8591550" y="1447800"/>
            <a:ext cx="2914650" cy="20764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33" name="">
            <a:extLst xmlns:a="http://schemas.openxmlformats.org/drawingml/2006/main">
              <a:ext uri="{FF2B5EF4-FFF2-40B4-BE49-F238E27FC236}">
                <a16:creationId xmlns:a16="http://schemas.microsoft.com/office/drawing/2014/main" id="{0FADC76F-6B69-4FA0-9376-3C8187DC33E4}"/>
              </a:ext>
            </a:extLst>
          </p:cNvPr>
          <p:cNvSpPr>
            <a:spLocks xmlns:a="http://schemas.openxmlformats.org/drawingml/2006/main" noGrp="1"/>
          </p:cNvSpPr>
          <p:nvPr/>
        </p:nvSpPr>
        <p:spPr>
          <a:xfrm xmlns:a="http://schemas.openxmlformats.org/drawingml/2006/main">
            <a:off x="8801100" y="1676400"/>
            <a:ext cx="2495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A65C55"/>
                </a:solidFill>
                <a:latin typeface="Aptos"/>
                <a:ea typeface="Aptos"/>
                <a:cs typeface="Aptos"/>
              </a:defRPr>
            </a:pPr>
            <a:r>
              <a:rPr sz="900" b="1">
                <a:solidFill>
                  <a:srgbClr val="A65C55"/>
                </a:solidFill>
                <a:latin typeface="Aptos"/>
                <a:ea typeface="Aptos"/>
                <a:cs typeface="Aptos"/>
              </a:rPr>
              <a:t>DISABLED GLOBALLY</a:t>
            </a:r>
          </a:p>
        </p:txBody>
      </p:sp>
      <p:sp>
        <p:nvSpPr>
          <p:cNvPr id="34" name="">
            <a:extLst xmlns:a="http://schemas.openxmlformats.org/drawingml/2006/main">
              <a:ext uri="{FF2B5EF4-FFF2-40B4-BE49-F238E27FC236}">
                <a16:creationId xmlns:a16="http://schemas.microsoft.com/office/drawing/2014/main" id="{443B0247-A1A2-4067-B2A6-4A917E70D5A5}"/>
              </a:ext>
            </a:extLst>
          </p:cNvPr>
          <p:cNvSpPr>
            <a:spLocks xmlns:a="http://schemas.openxmlformats.org/drawingml/2006/main" noGrp="1"/>
          </p:cNvSpPr>
          <p:nvPr/>
        </p:nvSpPr>
        <p:spPr>
          <a:xfrm xmlns:a="http://schemas.openxmlformats.org/drawingml/2006/main">
            <a:off x="8801100" y="2152650"/>
            <a:ext cx="2495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202A33"/>
                </a:solidFill>
                <a:latin typeface="Aptos"/>
                <a:ea typeface="Aptos"/>
                <a:cs typeface="Aptos"/>
              </a:defRPr>
            </a:pPr>
            <a:r>
              <a:rPr sz="1275" b="1">
                <a:solidFill>
                  <a:srgbClr val="202A33"/>
                </a:solidFill>
                <a:latin typeface="Aptos"/>
                <a:ea typeface="Aptos"/>
                <a:cs typeface="Aptos"/>
              </a:rPr>
              <a:t>API-reference weight  0.00</a:t>
            </a:r>
          </a:p>
          <a:p xmlns:a="http://schemas.openxmlformats.org/drawingml/2006/main">
            <a:pPr algn="ctr">
              <a:buNone/>
              <a:defRPr sz="1275" b="1">
                <a:solidFill>
                  <a:srgbClr val="202A33"/>
                </a:solidFill>
                <a:latin typeface="Aptos"/>
                <a:ea typeface="Aptos"/>
                <a:cs typeface="Aptos"/>
              </a:defRPr>
            </a:pPr>
            <a:r>
              <a:rPr sz="1275" b="1">
                <a:solidFill>
                  <a:srgbClr val="202A33"/>
                </a:solidFill>
                <a:latin typeface="Aptos"/>
                <a:ea typeface="Aptos"/>
                <a:cs typeface="Aptos"/>
              </a:rPr>
              <a:t>Opcode tri-gram weight  0.00</a:t>
            </a:r>
          </a:p>
        </p:txBody>
      </p:sp>
      <p:sp>
        <p:nvSpPr>
          <p:cNvPr id="35" name="">
            <a:extLst xmlns:a="http://schemas.openxmlformats.org/drawingml/2006/main">
              <a:ext uri="{FF2B5EF4-FFF2-40B4-BE49-F238E27FC236}">
                <a16:creationId xmlns:a16="http://schemas.microsoft.com/office/drawing/2014/main" id="{06E6B8B3-3308-4D95-B08F-9997740D411E}"/>
              </a:ext>
            </a:extLst>
          </p:cNvPr>
          <p:cNvSpPr>
            <a:spLocks xmlns:a="http://schemas.openxmlformats.org/drawingml/2006/main" noGrp="1"/>
          </p:cNvSpPr>
          <p:nvPr/>
        </p:nvSpPr>
        <p:spPr>
          <a:xfrm xmlns:a="http://schemas.openxmlformats.org/drawingml/2006/main">
            <a:off x="8858250" y="30099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0">
                <a:solidFill>
                  <a:srgbClr val="65717A"/>
                </a:solidFill>
                <a:latin typeface="Aptos"/>
                <a:ea typeface="Aptos"/>
                <a:cs typeface="Aptos"/>
              </a:defRPr>
            </a:pPr>
            <a:r>
              <a:rPr sz="825" b="0">
                <a:solidFill>
                  <a:srgbClr val="65717A"/>
                </a:solidFill>
                <a:latin typeface="Aptos"/>
                <a:ea typeface="Aptos"/>
                <a:cs typeface="Aptos"/>
              </a:rPr>
              <a:t>Implemented for diagnostics, but current controls do not justify global scoring.</a:t>
            </a:r>
          </a:p>
        </p:txBody>
      </p:sp>
      <p:sp>
        <p:nvSpPr>
          <p:cNvPr id="36" name="">
            <a:extLst xmlns:a="http://schemas.openxmlformats.org/drawingml/2006/main">
              <a:ext uri="{FF2B5EF4-FFF2-40B4-BE49-F238E27FC236}">
                <a16:creationId xmlns:a16="http://schemas.microsoft.com/office/drawing/2014/main" id="{2C244FF1-B72B-49BD-99C1-DF4443075C2E}"/>
              </a:ext>
            </a:extLst>
          </p:cNvPr>
          <p:cNvSpPr>
            <a:spLocks xmlns:a="http://schemas.openxmlformats.org/drawingml/2006/main" noGrp="1"/>
          </p:cNvSpPr>
          <p:nvPr/>
        </p:nvSpPr>
        <p:spPr>
          <a:xfrm xmlns:a="http://schemas.openxmlformats.org/drawingml/2006/main">
            <a:off x="8591550" y="3790950"/>
            <a:ext cx="2914650" cy="16002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37" name="">
            <a:extLst xmlns:a="http://schemas.openxmlformats.org/drawingml/2006/main">
              <a:ext uri="{FF2B5EF4-FFF2-40B4-BE49-F238E27FC236}">
                <a16:creationId xmlns:a16="http://schemas.microsoft.com/office/drawing/2014/main" id="{CF8EDB4D-0D19-4F38-B4B0-A6C673831707}"/>
              </a:ext>
            </a:extLst>
          </p:cNvPr>
          <p:cNvSpPr>
            <a:spLocks xmlns:a="http://schemas.openxmlformats.org/drawingml/2006/main" noGrp="1"/>
          </p:cNvSpPr>
          <p:nvPr/>
        </p:nvSpPr>
        <p:spPr>
          <a:xfrm xmlns:a="http://schemas.openxmlformats.org/drawingml/2006/main">
            <a:off x="8801100" y="4000500"/>
            <a:ext cx="2495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8D754D"/>
                </a:solidFill>
                <a:latin typeface="Aptos"/>
                <a:ea typeface="Aptos"/>
                <a:cs typeface="Aptos"/>
              </a:defRPr>
            </a:pPr>
            <a:r>
              <a:rPr sz="900" b="1">
                <a:solidFill>
                  <a:srgbClr val="8D754D"/>
                </a:solidFill>
                <a:latin typeface="Aptos"/>
                <a:ea typeface="Aptos"/>
                <a:cs typeface="Aptos"/>
              </a:rPr>
              <a:t>TIE THRESHOLDS</a:t>
            </a:r>
          </a:p>
        </p:txBody>
      </p:sp>
      <p:sp>
        <p:nvSpPr>
          <p:cNvPr id="38" name="">
            <a:extLst xmlns:a="http://schemas.openxmlformats.org/drawingml/2006/main">
              <a:ext uri="{FF2B5EF4-FFF2-40B4-BE49-F238E27FC236}">
                <a16:creationId xmlns:a16="http://schemas.microsoft.com/office/drawing/2014/main" id="{B6858EB6-E8A5-4ECC-B3E4-E1E48796F071}"/>
              </a:ext>
            </a:extLst>
          </p:cNvPr>
          <p:cNvSpPr>
            <a:spLocks xmlns:a="http://schemas.openxmlformats.org/drawingml/2006/main" noGrp="1"/>
          </p:cNvSpPr>
          <p:nvPr/>
        </p:nvSpPr>
        <p:spPr>
          <a:xfrm xmlns:a="http://schemas.openxmlformats.org/drawingml/2006/main">
            <a:off x="8801100" y="4362450"/>
            <a:ext cx="2495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feature-equivalent &lt;= 0.001</a:t>
            </a:r>
          </a:p>
          <a:p xmlns:a="http://schemas.openxmlformats.org/drawingml/2006/main">
            <a:pPr algn="ctr">
              <a:buNone/>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near tie &lt;= 0.006</a:t>
            </a:r>
          </a:p>
          <a:p xmlns:a="http://schemas.openxmlformats.org/drawingml/2006/main">
            <a:pPr algn="ctr">
              <a:buNone/>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near-tie score floor 0.35</a:t>
            </a:r>
          </a:p>
        </p:txBody>
      </p:sp>
      <p:sp>
        <p:nvSpPr>
          <p:cNvPr id="39" name="">
            <a:extLst xmlns:a="http://schemas.openxmlformats.org/drawingml/2006/main">
              <a:ext uri="{FF2B5EF4-FFF2-40B4-BE49-F238E27FC236}">
                <a16:creationId xmlns:a16="http://schemas.microsoft.com/office/drawing/2014/main" id="{78C49195-D6FF-4E73-9B82-F6C750D8AEB3}"/>
              </a:ext>
            </a:extLst>
          </p:cNvPr>
          <p:cNvSpPr>
            <a:spLocks xmlns:a="http://schemas.openxmlformats.org/drawingml/2006/main" noGrp="1"/>
          </p:cNvSpPr>
          <p:nvPr/>
        </p:nvSpPr>
        <p:spPr>
          <a:xfrm xmlns:a="http://schemas.openxmlformats.org/drawingml/2006/main">
            <a:off x="685800" y="58102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7DB91E7-BD49-4C7E-9425-50BE461F01A7}"/>
              </a:ext>
            </a:extLst>
          </p:cNvPr>
          <p:cNvSpPr>
            <a:spLocks xmlns:a="http://schemas.openxmlformats.org/drawingml/2006/main" noGrp="1"/>
          </p:cNvSpPr>
          <p:nvPr/>
        </p:nvSpPr>
        <p:spPr>
          <a:xfrm xmlns:a="http://schemas.openxmlformats.org/drawingml/2006/main">
            <a:off x="819150" y="5876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Source: src/apk_sbom/matcher.py constants and score_reference_component()</a:t>
            </a:r>
          </a:p>
        </p:txBody>
      </p:sp>
      <p:sp>
        <p:nvSpPr>
          <p:cNvPr id="41" name="">
            <a:extLst xmlns:a="http://schemas.openxmlformats.org/drawingml/2006/main">
              <a:ext uri="{FF2B5EF4-FFF2-40B4-BE49-F238E27FC236}">
                <a16:creationId xmlns:a16="http://schemas.microsoft.com/office/drawing/2014/main" id="{30D3BDA0-50EA-4C33-BCE8-DAF65BFD338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590898559"/>
      </p:ext>
    </p:extLst>
  </p:cSld>
</p:sld>
</file>

<file path=ppt/slides/slide34.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AC2500F-176B-46A3-9285-2556404E75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CBEA8C0-F372-46A9-80D3-06C1BD7D57DC}"/>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B0F7D09-699D-4707-B4CD-CDA13314FC7C}"/>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4F7D76"/>
                </a:solidFill>
                <a:latin typeface="Aptos"/>
                <a:ea typeface="Aptos"/>
                <a:cs typeface="Aptos"/>
              </a:defRPr>
            </a:pPr>
            <a:r>
              <a:rPr sz="900" b="1">
                <a:solidFill>
                  <a:srgbClr val="4F7D76"/>
                </a:solidFill>
                <a:latin typeface="Aptos"/>
                <a:ea typeface="Aptos"/>
                <a:cs typeface="Aptos"/>
              </a:rPr>
              <a:t>BACKUP 3  |  DOCKER IMPLEMENTATION</a:t>
            </a:r>
          </a:p>
        </p:txBody>
      </p:sp>
      <p:sp>
        <p:nvSpPr>
          <p:cNvPr id="4" name="">
            <a:extLst xmlns:a="http://schemas.openxmlformats.org/drawingml/2006/main">
              <a:ext uri="{FF2B5EF4-FFF2-40B4-BE49-F238E27FC236}">
                <a16:creationId xmlns:a16="http://schemas.microsoft.com/office/drawing/2014/main" id="{C861D3F4-F68A-4272-AAA6-E82BF270E1C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Docker packages the complete Android analysis toolchain while data and outputs stay reproducible</a:t>
            </a:r>
          </a:p>
        </p:txBody>
      </p:sp>
      <p:sp>
        <p:nvSpPr>
          <p:cNvPr id="5" name="">
            <a:extLst xmlns:a="http://schemas.openxmlformats.org/drawingml/2006/main">
              <a:ext uri="{FF2B5EF4-FFF2-40B4-BE49-F238E27FC236}">
                <a16:creationId xmlns:a16="http://schemas.microsoft.com/office/drawing/2014/main" id="{5C98FAB2-2B0D-463B-901B-FF62B340233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8290A6"/>
                </a:solidFill>
                <a:latin typeface="Aptos"/>
                <a:ea typeface="Aptos"/>
                <a:cs typeface="Aptos"/>
              </a:defRPr>
            </a:pPr>
            <a:r>
              <a:rPr sz="900" b="1">
                <a:solidFill>
                  <a:srgbClr val="8290A6"/>
                </a:solidFill>
                <a:latin typeface="Aptos"/>
                <a:ea typeface="Aptos"/>
                <a:cs typeface="Aptos"/>
              </a:rPr>
              <a:t>34</a:t>
            </a:r>
          </a:p>
        </p:txBody>
      </p:sp>
      <p:sp>
        <p:nvSpPr>
          <p:cNvPr id="6" name="">
            <a:extLst xmlns:a="http://schemas.openxmlformats.org/drawingml/2006/main">
              <a:ext uri="{FF2B5EF4-FFF2-40B4-BE49-F238E27FC236}">
                <a16:creationId xmlns:a16="http://schemas.microsoft.com/office/drawing/2014/main" id="{3101B259-B347-431F-8BEA-C4A7A904AD88}"/>
              </a:ext>
            </a:extLst>
          </p:cNvPr>
          <p:cNvSpPr>
            <a:spLocks xmlns:a="http://schemas.openxmlformats.org/drawingml/2006/main" noGrp="1"/>
          </p:cNvSpPr>
          <p:nvPr/>
        </p:nvSpPr>
        <p:spPr>
          <a:xfrm xmlns:a="http://schemas.openxmlformats.org/drawingml/2006/main">
            <a:off x="609600" y="1409700"/>
            <a:ext cx="220980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C2D7BC42-FCFB-4951-9E66-297B42A74AEF}"/>
              </a:ext>
            </a:extLst>
          </p:cNvPr>
          <p:cNvSpPr>
            <a:spLocks xmlns:a="http://schemas.openxmlformats.org/drawingml/2006/main" noGrp="1"/>
          </p:cNvSpPr>
          <p:nvPr/>
        </p:nvSpPr>
        <p:spPr>
          <a:xfrm xmlns:a="http://schemas.openxmlformats.org/drawingml/2006/main">
            <a:off x="742950" y="1581150"/>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4F7D76"/>
                </a:solidFill>
                <a:latin typeface="Aptos Display"/>
                <a:ea typeface="Aptos Display"/>
                <a:cs typeface="Aptos Display"/>
              </a:defRPr>
            </a:pPr>
            <a:r>
              <a:rPr sz="2550" b="1">
                <a:solidFill>
                  <a:srgbClr val="4F7D76"/>
                </a:solidFill>
                <a:latin typeface="Aptos Display"/>
                <a:ea typeface="Aptos Display"/>
                <a:cs typeface="Aptos Display"/>
              </a:rPr>
              <a:t>10,517</a:t>
            </a:r>
          </a:p>
        </p:txBody>
      </p:sp>
      <p:sp>
        <p:nvSpPr>
          <p:cNvPr id="8" name="">
            <a:extLst xmlns:a="http://schemas.openxmlformats.org/drawingml/2006/main">
              <a:ext uri="{FF2B5EF4-FFF2-40B4-BE49-F238E27FC236}">
                <a16:creationId xmlns:a16="http://schemas.microsoft.com/office/drawing/2014/main" id="{3CF88706-E808-4007-940E-0445572F3963}"/>
              </a:ext>
            </a:extLst>
          </p:cNvPr>
          <p:cNvSpPr>
            <a:spLocks xmlns:a="http://schemas.openxmlformats.org/drawingml/2006/main" noGrp="1"/>
          </p:cNvSpPr>
          <p:nvPr/>
        </p:nvSpPr>
        <p:spPr>
          <a:xfrm xmlns:a="http://schemas.openxmlformats.org/drawingml/2006/main">
            <a:off x="742950" y="20193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B5C0D0"/>
                </a:solidFill>
                <a:latin typeface="Aptos"/>
                <a:ea typeface="Aptos"/>
                <a:cs typeface="Aptos"/>
              </a:defRPr>
            </a:pPr>
            <a:r>
              <a:rPr sz="900" b="1">
                <a:solidFill>
                  <a:srgbClr val="B5C0D0"/>
                </a:solidFill>
                <a:latin typeface="Aptos"/>
                <a:ea typeface="Aptos"/>
                <a:cs typeface="Aptos"/>
              </a:rPr>
              <a:t>reference coordinate-version rows</a:t>
            </a:r>
          </a:p>
        </p:txBody>
      </p:sp>
      <p:sp>
        <p:nvSpPr>
          <p:cNvPr id="9" name="">
            <a:extLst xmlns:a="http://schemas.openxmlformats.org/drawingml/2006/main">
              <a:ext uri="{FF2B5EF4-FFF2-40B4-BE49-F238E27FC236}">
                <a16:creationId xmlns:a16="http://schemas.microsoft.com/office/drawing/2014/main" id="{D6D12D77-207A-473D-9340-BDC40B0B467F}"/>
              </a:ext>
            </a:extLst>
          </p:cNvPr>
          <p:cNvSpPr>
            <a:spLocks xmlns:a="http://schemas.openxmlformats.org/drawingml/2006/main" noGrp="1"/>
          </p:cNvSpPr>
          <p:nvPr/>
        </p:nvSpPr>
        <p:spPr>
          <a:xfrm xmlns:a="http://schemas.openxmlformats.org/drawingml/2006/main">
            <a:off x="2990850" y="1409700"/>
            <a:ext cx="220980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0" name="">
            <a:extLst xmlns:a="http://schemas.openxmlformats.org/drawingml/2006/main">
              <a:ext uri="{FF2B5EF4-FFF2-40B4-BE49-F238E27FC236}">
                <a16:creationId xmlns:a16="http://schemas.microsoft.com/office/drawing/2014/main" id="{C01A153F-EDED-404D-9396-D121F8A6D8D7}"/>
              </a:ext>
            </a:extLst>
          </p:cNvPr>
          <p:cNvSpPr>
            <a:spLocks xmlns:a="http://schemas.openxmlformats.org/drawingml/2006/main" noGrp="1"/>
          </p:cNvSpPr>
          <p:nvPr/>
        </p:nvSpPr>
        <p:spPr>
          <a:xfrm xmlns:a="http://schemas.openxmlformats.org/drawingml/2006/main">
            <a:off x="3124200" y="1581150"/>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655F73"/>
                </a:solidFill>
                <a:latin typeface="Aptos Display"/>
                <a:ea typeface="Aptos Display"/>
                <a:cs typeface="Aptos Display"/>
              </a:defRPr>
            </a:pPr>
            <a:r>
              <a:rPr sz="2550" b="1">
                <a:solidFill>
                  <a:srgbClr val="655F73"/>
                </a:solidFill>
                <a:latin typeface="Aptos Display"/>
                <a:ea typeface="Aptos Display"/>
                <a:cs typeface="Aptos Display"/>
              </a:rPr>
              <a:t>15.8 GB</a:t>
            </a:r>
          </a:p>
        </p:txBody>
      </p:sp>
      <p:sp>
        <p:nvSpPr>
          <p:cNvPr id="11" name="">
            <a:extLst xmlns:a="http://schemas.openxmlformats.org/drawingml/2006/main">
              <a:ext uri="{FF2B5EF4-FFF2-40B4-BE49-F238E27FC236}">
                <a16:creationId xmlns:a16="http://schemas.microsoft.com/office/drawing/2014/main" id="{662136C9-B772-469B-A3DC-A86D27201621}"/>
              </a:ext>
            </a:extLst>
          </p:cNvPr>
          <p:cNvSpPr>
            <a:spLocks xmlns:a="http://schemas.openxmlformats.org/drawingml/2006/main" noGrp="1"/>
          </p:cNvSpPr>
          <p:nvPr/>
        </p:nvSpPr>
        <p:spPr>
          <a:xfrm xmlns:a="http://schemas.openxmlformats.org/drawingml/2006/main">
            <a:off x="3124200" y="20193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B5C0D0"/>
                </a:solidFill>
                <a:latin typeface="Aptos"/>
                <a:ea typeface="Aptos"/>
                <a:cs typeface="Aptos"/>
              </a:defRPr>
            </a:pPr>
            <a:r>
              <a:rPr sz="900" b="1">
                <a:solidFill>
                  <a:srgbClr val="B5C0D0"/>
                </a:solidFill>
                <a:latin typeface="Aptos"/>
                <a:ea typeface="Aptos"/>
                <a:cs typeface="Aptos"/>
              </a:rPr>
              <a:t>final v2 SQLite database</a:t>
            </a:r>
          </a:p>
        </p:txBody>
      </p:sp>
      <p:sp>
        <p:nvSpPr>
          <p:cNvPr id="12" name="">
            <a:extLst xmlns:a="http://schemas.openxmlformats.org/drawingml/2006/main">
              <a:ext uri="{FF2B5EF4-FFF2-40B4-BE49-F238E27FC236}">
                <a16:creationId xmlns:a16="http://schemas.microsoft.com/office/drawing/2014/main" id="{97E2A395-E5FA-479D-AA7A-92EA29D631C7}"/>
              </a:ext>
            </a:extLst>
          </p:cNvPr>
          <p:cNvSpPr>
            <a:spLocks xmlns:a="http://schemas.openxmlformats.org/drawingml/2006/main" noGrp="1"/>
          </p:cNvSpPr>
          <p:nvPr/>
        </p:nvSpPr>
        <p:spPr>
          <a:xfrm xmlns:a="http://schemas.openxmlformats.org/drawingml/2006/main">
            <a:off x="5372100" y="1409700"/>
            <a:ext cx="220980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C41256E4-6047-4EF7-8A5D-506F2F12808A}"/>
              </a:ext>
            </a:extLst>
          </p:cNvPr>
          <p:cNvSpPr>
            <a:spLocks xmlns:a="http://schemas.openxmlformats.org/drawingml/2006/main" noGrp="1"/>
          </p:cNvSpPr>
          <p:nvPr/>
        </p:nvSpPr>
        <p:spPr>
          <a:xfrm xmlns:a="http://schemas.openxmlformats.org/drawingml/2006/main">
            <a:off x="5505450" y="1581150"/>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8D754D"/>
                </a:solidFill>
                <a:latin typeface="Aptos Display"/>
                <a:ea typeface="Aptos Display"/>
                <a:cs typeface="Aptos Display"/>
              </a:defRPr>
            </a:pPr>
            <a:r>
              <a:rPr sz="2550" b="1">
                <a:solidFill>
                  <a:srgbClr val="8D754D"/>
                </a:solidFill>
                <a:latin typeface="Aptos Display"/>
                <a:ea typeface="Aptos Display"/>
                <a:cs typeface="Aptos Display"/>
              </a:rPr>
              <a:t>/app</a:t>
            </a:r>
          </a:p>
        </p:txBody>
      </p:sp>
      <p:sp>
        <p:nvSpPr>
          <p:cNvPr id="14" name="">
            <a:extLst xmlns:a="http://schemas.openxmlformats.org/drawingml/2006/main">
              <a:ext uri="{FF2B5EF4-FFF2-40B4-BE49-F238E27FC236}">
                <a16:creationId xmlns:a16="http://schemas.microsoft.com/office/drawing/2014/main" id="{D41D65B3-A6F4-402C-9C84-4B535C01B15F}"/>
              </a:ext>
            </a:extLst>
          </p:cNvPr>
          <p:cNvSpPr>
            <a:spLocks xmlns:a="http://schemas.openxmlformats.org/drawingml/2006/main" noGrp="1"/>
          </p:cNvSpPr>
          <p:nvPr/>
        </p:nvSpPr>
        <p:spPr>
          <a:xfrm xmlns:a="http://schemas.openxmlformats.org/drawingml/2006/main">
            <a:off x="5505450" y="20193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B5C0D0"/>
                </a:solidFill>
                <a:latin typeface="Aptos"/>
                <a:ea typeface="Aptos"/>
                <a:cs typeface="Aptos"/>
              </a:defRPr>
            </a:pPr>
            <a:r>
              <a:rPr sz="900" b="1">
                <a:solidFill>
                  <a:srgbClr val="B5C0D0"/>
                </a:solidFill>
                <a:latin typeface="Aptos"/>
                <a:ea typeface="Aptos"/>
                <a:cs typeface="Aptos"/>
              </a:rPr>
              <a:t>container working directory</a:t>
            </a:r>
          </a:p>
        </p:txBody>
      </p:sp>
      <p:sp>
        <p:nvSpPr>
          <p:cNvPr id="15" name="">
            <a:extLst xmlns:a="http://schemas.openxmlformats.org/drawingml/2006/main">
              <a:ext uri="{FF2B5EF4-FFF2-40B4-BE49-F238E27FC236}">
                <a16:creationId xmlns:a16="http://schemas.microsoft.com/office/drawing/2014/main" id="{A9B7548B-7584-47F4-A4EC-EB10C3BA646C}"/>
              </a:ext>
            </a:extLst>
          </p:cNvPr>
          <p:cNvSpPr>
            <a:spLocks xmlns:a="http://schemas.openxmlformats.org/drawingml/2006/main" noGrp="1"/>
          </p:cNvSpPr>
          <p:nvPr/>
        </p:nvSpPr>
        <p:spPr>
          <a:xfrm xmlns:a="http://schemas.openxmlformats.org/drawingml/2006/main">
            <a:off x="7753350" y="1409700"/>
            <a:ext cx="220980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6" name="">
            <a:extLst xmlns:a="http://schemas.openxmlformats.org/drawingml/2006/main">
              <a:ext uri="{FF2B5EF4-FFF2-40B4-BE49-F238E27FC236}">
                <a16:creationId xmlns:a16="http://schemas.microsoft.com/office/drawing/2014/main" id="{80FAD2C9-A0C1-4E0A-B9A6-1F1BFC7FAADD}"/>
              </a:ext>
            </a:extLst>
          </p:cNvPr>
          <p:cNvSpPr>
            <a:spLocks xmlns:a="http://schemas.openxmlformats.org/drawingml/2006/main" noGrp="1"/>
          </p:cNvSpPr>
          <p:nvPr/>
        </p:nvSpPr>
        <p:spPr>
          <a:xfrm xmlns:a="http://schemas.openxmlformats.org/drawingml/2006/main">
            <a:off x="7886700" y="1581150"/>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6F7C61"/>
                </a:solidFill>
                <a:latin typeface="Aptos Display"/>
                <a:ea typeface="Aptos Display"/>
                <a:cs typeface="Aptos Display"/>
              </a:defRPr>
            </a:pPr>
            <a:r>
              <a:rPr sz="2550" b="1">
                <a:solidFill>
                  <a:srgbClr val="6F7C61"/>
                </a:solidFill>
                <a:latin typeface="Aptos Display"/>
                <a:ea typeface="Aptos Display"/>
                <a:cs typeface="Aptos Display"/>
              </a:rPr>
              <a:t>.:/app</a:t>
            </a:r>
          </a:p>
        </p:txBody>
      </p:sp>
      <p:sp>
        <p:nvSpPr>
          <p:cNvPr id="17" name="">
            <a:extLst xmlns:a="http://schemas.openxmlformats.org/drawingml/2006/main">
              <a:ext uri="{FF2B5EF4-FFF2-40B4-BE49-F238E27FC236}">
                <a16:creationId xmlns:a16="http://schemas.microsoft.com/office/drawing/2014/main" id="{00A99938-8BB9-4E1B-BF9F-4E54A6DCB4A3}"/>
              </a:ext>
            </a:extLst>
          </p:cNvPr>
          <p:cNvSpPr>
            <a:spLocks xmlns:a="http://schemas.openxmlformats.org/drawingml/2006/main" noGrp="1"/>
          </p:cNvSpPr>
          <p:nvPr/>
        </p:nvSpPr>
        <p:spPr>
          <a:xfrm xmlns:a="http://schemas.openxmlformats.org/drawingml/2006/main">
            <a:off x="7886700" y="20193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B5C0D0"/>
                </a:solidFill>
                <a:latin typeface="Aptos"/>
                <a:ea typeface="Aptos"/>
                <a:cs typeface="Aptos"/>
              </a:defRPr>
            </a:pPr>
            <a:r>
              <a:rPr sz="900" b="1">
                <a:solidFill>
                  <a:srgbClr val="B5C0D0"/>
                </a:solidFill>
                <a:latin typeface="Aptos"/>
                <a:ea typeface="Aptos"/>
                <a:cs typeface="Aptos"/>
              </a:rPr>
              <a:t>Compose bind mount</a:t>
            </a:r>
          </a:p>
        </p:txBody>
      </p:sp>
      <p:sp>
        <p:nvSpPr>
          <p:cNvPr id="18" name="">
            <a:extLst xmlns:a="http://schemas.openxmlformats.org/drawingml/2006/main">
              <a:ext uri="{FF2B5EF4-FFF2-40B4-BE49-F238E27FC236}">
                <a16:creationId xmlns:a16="http://schemas.microsoft.com/office/drawing/2014/main" id="{35197E3C-852A-4BC7-91DA-0DBC3DCA138C}"/>
              </a:ext>
            </a:extLst>
          </p:cNvPr>
          <p:cNvSpPr>
            <a:spLocks xmlns:a="http://schemas.openxmlformats.org/drawingml/2006/main" noGrp="1"/>
          </p:cNvSpPr>
          <p:nvPr/>
        </p:nvSpPr>
        <p:spPr>
          <a:xfrm xmlns:a="http://schemas.openxmlformats.org/drawingml/2006/main">
            <a:off x="10134600" y="1409700"/>
            <a:ext cx="14668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2444D47D-00B5-4F24-A1B5-1E95ED74E42F}"/>
              </a:ext>
            </a:extLst>
          </p:cNvPr>
          <p:cNvSpPr>
            <a:spLocks xmlns:a="http://schemas.openxmlformats.org/drawingml/2006/main" noGrp="1"/>
          </p:cNvSpPr>
          <p:nvPr/>
        </p:nvSpPr>
        <p:spPr>
          <a:xfrm xmlns:a="http://schemas.openxmlformats.org/drawingml/2006/main">
            <a:off x="10267950" y="158115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a:solidFill>
                  <a:srgbClr val="365F7D"/>
                </a:solidFill>
                <a:latin typeface="Aptos Display"/>
                <a:ea typeface="Aptos Display"/>
                <a:cs typeface="Aptos Display"/>
              </a:defRPr>
            </a:pPr>
            <a:r>
              <a:rPr sz="1725" b="1">
                <a:solidFill>
                  <a:srgbClr val="365F7D"/>
                </a:solidFill>
                <a:latin typeface="Aptos Display"/>
                <a:ea typeface="Aptos Display"/>
                <a:cs typeface="Aptos Display"/>
              </a:rPr>
              <a:t>/app/src</a:t>
            </a:r>
          </a:p>
        </p:txBody>
      </p:sp>
      <p:sp>
        <p:nvSpPr>
          <p:cNvPr id="20" name="">
            <a:extLst xmlns:a="http://schemas.openxmlformats.org/drawingml/2006/main">
              <a:ext uri="{FF2B5EF4-FFF2-40B4-BE49-F238E27FC236}">
                <a16:creationId xmlns:a16="http://schemas.microsoft.com/office/drawing/2014/main" id="{36EA669F-1AF5-48DC-840D-D42D02389D43}"/>
              </a:ext>
            </a:extLst>
          </p:cNvPr>
          <p:cNvSpPr>
            <a:spLocks xmlns:a="http://schemas.openxmlformats.org/drawingml/2006/main" noGrp="1"/>
          </p:cNvSpPr>
          <p:nvPr/>
        </p:nvSpPr>
        <p:spPr>
          <a:xfrm xmlns:a="http://schemas.openxmlformats.org/drawingml/2006/main">
            <a:off x="10267950" y="2019300"/>
            <a:ext cx="1200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B5C0D0"/>
                </a:solidFill>
                <a:latin typeface="Aptos"/>
                <a:ea typeface="Aptos"/>
                <a:cs typeface="Aptos"/>
              </a:defRPr>
            </a:pPr>
            <a:r>
              <a:rPr sz="900" b="1">
                <a:solidFill>
                  <a:srgbClr val="B5C0D0"/>
                </a:solidFill>
                <a:latin typeface="Aptos"/>
                <a:ea typeface="Aptos"/>
                <a:cs typeface="Aptos"/>
              </a:rPr>
              <a:t>PYTHONPATH</a:t>
            </a:r>
          </a:p>
        </p:txBody>
      </p:sp>
      <p:sp>
        <p:nvSpPr>
          <p:cNvPr id="21" name="">
            <a:extLst xmlns:a="http://schemas.openxmlformats.org/drawingml/2006/main">
              <a:ext uri="{FF2B5EF4-FFF2-40B4-BE49-F238E27FC236}">
                <a16:creationId xmlns:a16="http://schemas.microsoft.com/office/drawing/2014/main" id="{B38FE922-9E2E-49C2-988D-E861D0020AF1}"/>
              </a:ext>
            </a:extLst>
          </p:cNvPr>
          <p:cNvSpPr>
            <a:spLocks xmlns:a="http://schemas.openxmlformats.org/drawingml/2006/main" noGrp="1"/>
          </p:cNvSpPr>
          <p:nvPr/>
        </p:nvSpPr>
        <p:spPr>
          <a:xfrm xmlns:a="http://schemas.openxmlformats.org/drawingml/2006/main">
            <a:off x="609600" y="2743200"/>
            <a:ext cx="5238750" cy="2781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2" name="">
            <a:extLst xmlns:a="http://schemas.openxmlformats.org/drawingml/2006/main">
              <a:ext uri="{FF2B5EF4-FFF2-40B4-BE49-F238E27FC236}">
                <a16:creationId xmlns:a16="http://schemas.microsoft.com/office/drawing/2014/main" id="{658FC29D-163C-4C3B-AC27-80B220E96735}"/>
              </a:ext>
            </a:extLst>
          </p:cNvPr>
          <p:cNvSpPr>
            <a:spLocks xmlns:a="http://schemas.openxmlformats.org/drawingml/2006/main" noGrp="1"/>
          </p:cNvSpPr>
          <p:nvPr/>
        </p:nvSpPr>
        <p:spPr>
          <a:xfrm xmlns:a="http://schemas.openxmlformats.org/drawingml/2006/main">
            <a:off x="838200" y="29718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4F7D76"/>
                </a:solidFill>
                <a:latin typeface="Aptos"/>
                <a:ea typeface="Aptos"/>
                <a:cs typeface="Aptos"/>
              </a:defRPr>
            </a:pPr>
            <a:r>
              <a:rPr sz="900" b="1">
                <a:solidFill>
                  <a:srgbClr val="4F7D76"/>
                </a:solidFill>
                <a:latin typeface="Aptos"/>
                <a:ea typeface="Aptos"/>
                <a:cs typeface="Aptos"/>
              </a:rPr>
              <a:t>DOCKERFILE TOOLCHAIN</a:t>
            </a:r>
          </a:p>
        </p:txBody>
      </p:sp>
      <p:sp>
        <p:nvSpPr>
          <p:cNvPr id="23" name="">
            <a:extLst xmlns:a="http://schemas.openxmlformats.org/drawingml/2006/main">
              <a:ext uri="{FF2B5EF4-FFF2-40B4-BE49-F238E27FC236}">
                <a16:creationId xmlns:a16="http://schemas.microsoft.com/office/drawing/2014/main" id="{6B78084E-C1CB-418B-A6EF-7B271B36ED2D}"/>
              </a:ext>
            </a:extLst>
          </p:cNvPr>
          <p:cNvSpPr>
            <a:spLocks xmlns:a="http://schemas.openxmlformats.org/drawingml/2006/main" noGrp="1"/>
          </p:cNvSpPr>
          <p:nvPr/>
        </p:nvSpPr>
        <p:spPr>
          <a:xfrm xmlns:a="http://schemas.openxmlformats.org/drawingml/2006/main">
            <a:off x="876300" y="339090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CDCBABF-3380-4DFB-8457-4F936C6ECAF8}"/>
              </a:ext>
            </a:extLst>
          </p:cNvPr>
          <p:cNvSpPr>
            <a:spLocks xmlns:a="http://schemas.openxmlformats.org/drawingml/2006/main" noGrp="1"/>
          </p:cNvSpPr>
          <p:nvPr/>
        </p:nvSpPr>
        <p:spPr>
          <a:xfrm xmlns:a="http://schemas.openxmlformats.org/drawingml/2006/main">
            <a:off x="1104900" y="331470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C0CBD8"/>
                </a:solidFill>
                <a:latin typeface="Aptos"/>
                <a:ea typeface="Aptos"/>
                <a:cs typeface="Aptos"/>
              </a:defRPr>
            </a:pPr>
            <a:r>
              <a:rPr sz="825" b="1">
                <a:solidFill>
                  <a:srgbClr val="C0CBD8"/>
                </a:solidFill>
                <a:latin typeface="Aptos"/>
                <a:ea typeface="Aptos"/>
                <a:cs typeface="Aptos"/>
              </a:rPr>
              <a:t>Python 3.12 + project requirements</a:t>
            </a:r>
          </a:p>
        </p:txBody>
      </p:sp>
      <p:sp>
        <p:nvSpPr>
          <p:cNvPr id="25" name="">
            <a:extLst xmlns:a="http://schemas.openxmlformats.org/drawingml/2006/main">
              <a:ext uri="{FF2B5EF4-FFF2-40B4-BE49-F238E27FC236}">
                <a16:creationId xmlns:a16="http://schemas.microsoft.com/office/drawing/2014/main" id="{0B3BB29F-0380-4AF7-B126-7A1BD1E98394}"/>
              </a:ext>
            </a:extLst>
          </p:cNvPr>
          <p:cNvSpPr>
            <a:spLocks xmlns:a="http://schemas.openxmlformats.org/drawingml/2006/main" noGrp="1"/>
          </p:cNvSpPr>
          <p:nvPr/>
        </p:nvSpPr>
        <p:spPr>
          <a:xfrm xmlns:a="http://schemas.openxmlformats.org/drawingml/2006/main">
            <a:off x="876300" y="371475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ACF17FA-CB30-4FC5-861E-9B7032A429A0}"/>
              </a:ext>
            </a:extLst>
          </p:cNvPr>
          <p:cNvSpPr>
            <a:spLocks xmlns:a="http://schemas.openxmlformats.org/drawingml/2006/main" noGrp="1"/>
          </p:cNvSpPr>
          <p:nvPr/>
        </p:nvSpPr>
        <p:spPr>
          <a:xfrm xmlns:a="http://schemas.openxmlformats.org/drawingml/2006/main">
            <a:off x="1104900" y="363855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C0CBD8"/>
                </a:solidFill>
                <a:latin typeface="Aptos"/>
                <a:ea typeface="Aptos"/>
                <a:cs typeface="Aptos"/>
              </a:defRPr>
            </a:pPr>
            <a:r>
              <a:rPr sz="825" b="1">
                <a:solidFill>
                  <a:srgbClr val="C0CBD8"/>
                </a:solidFill>
                <a:latin typeface="Aptos"/>
                <a:ea typeface="Aptos"/>
                <a:cs typeface="Aptos"/>
              </a:rPr>
              <a:t>JDK 11 + default JDK</a:t>
            </a:r>
          </a:p>
        </p:txBody>
      </p:sp>
      <p:sp>
        <p:nvSpPr>
          <p:cNvPr id="27" name="">
            <a:extLst xmlns:a="http://schemas.openxmlformats.org/drawingml/2006/main">
              <a:ext uri="{FF2B5EF4-FFF2-40B4-BE49-F238E27FC236}">
                <a16:creationId xmlns:a16="http://schemas.microsoft.com/office/drawing/2014/main" id="{B1DBECC7-7000-4558-9ACB-2C6A514AB674}"/>
              </a:ext>
            </a:extLst>
          </p:cNvPr>
          <p:cNvSpPr>
            <a:spLocks xmlns:a="http://schemas.openxmlformats.org/drawingml/2006/main" noGrp="1"/>
          </p:cNvSpPr>
          <p:nvPr/>
        </p:nvSpPr>
        <p:spPr>
          <a:xfrm xmlns:a="http://schemas.openxmlformats.org/drawingml/2006/main">
            <a:off x="876300" y="403860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233DAA0-95F2-494C-94CE-6B7E46A9F0D0}"/>
              </a:ext>
            </a:extLst>
          </p:cNvPr>
          <p:cNvSpPr>
            <a:spLocks xmlns:a="http://schemas.openxmlformats.org/drawingml/2006/main" noGrp="1"/>
          </p:cNvSpPr>
          <p:nvPr/>
        </p:nvSpPr>
        <p:spPr>
          <a:xfrm xmlns:a="http://schemas.openxmlformats.org/drawingml/2006/main">
            <a:off x="1104900" y="396240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C0CBD8"/>
                </a:solidFill>
                <a:latin typeface="Aptos"/>
                <a:ea typeface="Aptos"/>
                <a:cs typeface="Aptos"/>
              </a:defRPr>
            </a:pPr>
            <a:r>
              <a:rPr sz="825" b="1">
                <a:solidFill>
                  <a:srgbClr val="C0CBD8"/>
                </a:solidFill>
                <a:latin typeface="Aptos"/>
                <a:ea typeface="Aptos"/>
                <a:cs typeface="Aptos"/>
              </a:rPr>
              <a:t>Android SDK, build-tools 36 + legacy 29, D8</a:t>
            </a:r>
          </a:p>
        </p:txBody>
      </p:sp>
      <p:sp>
        <p:nvSpPr>
          <p:cNvPr id="29" name="">
            <a:extLst xmlns:a="http://schemas.openxmlformats.org/drawingml/2006/main">
              <a:ext uri="{FF2B5EF4-FFF2-40B4-BE49-F238E27FC236}">
                <a16:creationId xmlns:a16="http://schemas.microsoft.com/office/drawing/2014/main" id="{5E1F8266-4692-4157-B2DD-6D83E20288C2}"/>
              </a:ext>
            </a:extLst>
          </p:cNvPr>
          <p:cNvSpPr>
            <a:spLocks xmlns:a="http://schemas.openxmlformats.org/drawingml/2006/main" noGrp="1"/>
          </p:cNvSpPr>
          <p:nvPr/>
        </p:nvSpPr>
        <p:spPr>
          <a:xfrm xmlns:a="http://schemas.openxmlformats.org/drawingml/2006/main">
            <a:off x="876300" y="436245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A9A02AC-FE60-4AF4-B280-6D51531A424F}"/>
              </a:ext>
            </a:extLst>
          </p:cNvPr>
          <p:cNvSpPr>
            <a:spLocks xmlns:a="http://schemas.openxmlformats.org/drawingml/2006/main" noGrp="1"/>
          </p:cNvSpPr>
          <p:nvPr/>
        </p:nvSpPr>
        <p:spPr>
          <a:xfrm xmlns:a="http://schemas.openxmlformats.org/drawingml/2006/main">
            <a:off x="1104900" y="428625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C0CBD8"/>
                </a:solidFill>
                <a:latin typeface="Aptos"/>
                <a:ea typeface="Aptos"/>
                <a:cs typeface="Aptos"/>
              </a:defRPr>
            </a:pPr>
            <a:r>
              <a:rPr sz="825" b="1">
                <a:solidFill>
                  <a:srgbClr val="C0CBD8"/>
                </a:solidFill>
                <a:latin typeface="Aptos"/>
                <a:ea typeface="Aptos"/>
                <a:cs typeface="Aptos"/>
              </a:rPr>
              <a:t>Gradle 9.5 plus compatibility versions</a:t>
            </a:r>
          </a:p>
        </p:txBody>
      </p:sp>
      <p:sp>
        <p:nvSpPr>
          <p:cNvPr id="31" name="">
            <a:extLst xmlns:a="http://schemas.openxmlformats.org/drawingml/2006/main">
              <a:ext uri="{FF2B5EF4-FFF2-40B4-BE49-F238E27FC236}">
                <a16:creationId xmlns:a16="http://schemas.microsoft.com/office/drawing/2014/main" id="{78737F0D-C4CB-4140-81CB-B55D410E74A5}"/>
              </a:ext>
            </a:extLst>
          </p:cNvPr>
          <p:cNvSpPr>
            <a:spLocks xmlns:a="http://schemas.openxmlformats.org/drawingml/2006/main" noGrp="1"/>
          </p:cNvSpPr>
          <p:nvPr/>
        </p:nvSpPr>
        <p:spPr>
          <a:xfrm xmlns:a="http://schemas.openxmlformats.org/drawingml/2006/main">
            <a:off x="876300" y="4686300"/>
            <a:ext cx="95250" cy="952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FB6F963-EA7D-4C62-9341-E4D198DC32CD}"/>
              </a:ext>
            </a:extLst>
          </p:cNvPr>
          <p:cNvSpPr>
            <a:spLocks xmlns:a="http://schemas.openxmlformats.org/drawingml/2006/main" noGrp="1"/>
          </p:cNvSpPr>
          <p:nvPr/>
        </p:nvSpPr>
        <p:spPr>
          <a:xfrm xmlns:a="http://schemas.openxmlformats.org/drawingml/2006/main">
            <a:off x="1104900" y="461010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C0CBD8"/>
                </a:solidFill>
                <a:latin typeface="Aptos"/>
                <a:ea typeface="Aptos"/>
                <a:cs typeface="Aptos"/>
              </a:defRPr>
            </a:pPr>
            <a:r>
              <a:rPr sz="825" b="1">
                <a:solidFill>
                  <a:srgbClr val="C0CBD8"/>
                </a:solidFill>
                <a:latin typeface="Aptos"/>
                <a:ea typeface="Aptos"/>
                <a:cs typeface="Aptos"/>
              </a:rPr>
              <a:t>Syft, Grype, Trivy, CycloneDX CLI, cdxgen</a:t>
            </a:r>
          </a:p>
        </p:txBody>
      </p:sp>
      <p:sp>
        <p:nvSpPr>
          <p:cNvPr id="33" name="">
            <a:extLst xmlns:a="http://schemas.openxmlformats.org/drawingml/2006/main">
              <a:ext uri="{FF2B5EF4-FFF2-40B4-BE49-F238E27FC236}">
                <a16:creationId xmlns:a16="http://schemas.microsoft.com/office/drawing/2014/main" id="{309FFC24-EC38-486C-9A5D-05EC0389FBD9}"/>
              </a:ext>
            </a:extLst>
          </p:cNvPr>
          <p:cNvSpPr>
            <a:spLocks xmlns:a="http://schemas.openxmlformats.org/drawingml/2006/main" noGrp="1"/>
          </p:cNvSpPr>
          <p:nvPr/>
        </p:nvSpPr>
        <p:spPr>
          <a:xfrm xmlns:a="http://schemas.openxmlformats.org/drawingml/2006/main">
            <a:off x="876300" y="5010150"/>
            <a:ext cx="95250" cy="952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8019197-5ED3-4930-9143-8E9548CD02BF}"/>
              </a:ext>
            </a:extLst>
          </p:cNvPr>
          <p:cNvSpPr>
            <a:spLocks xmlns:a="http://schemas.openxmlformats.org/drawingml/2006/main" noGrp="1"/>
          </p:cNvSpPr>
          <p:nvPr/>
        </p:nvSpPr>
        <p:spPr>
          <a:xfrm xmlns:a="http://schemas.openxmlformats.org/drawingml/2006/main">
            <a:off x="1104900" y="493395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C0CBD8"/>
                </a:solidFill>
                <a:latin typeface="Aptos"/>
                <a:ea typeface="Aptos"/>
                <a:cs typeface="Aptos"/>
              </a:defRPr>
            </a:pPr>
            <a:r>
              <a:rPr sz="825" b="1">
                <a:solidFill>
                  <a:srgbClr val="C0CBD8"/>
                </a:solidFill>
                <a:latin typeface="Aptos"/>
                <a:ea typeface="Aptos"/>
                <a:cs typeface="Aptos"/>
              </a:rPr>
              <a:t>Source copied to /app; default command checks toolchain</a:t>
            </a:r>
          </a:p>
        </p:txBody>
      </p:sp>
      <p:sp>
        <p:nvSpPr>
          <p:cNvPr id="35" name="">
            <a:extLst xmlns:a="http://schemas.openxmlformats.org/drawingml/2006/main">
              <a:ext uri="{FF2B5EF4-FFF2-40B4-BE49-F238E27FC236}">
                <a16:creationId xmlns:a16="http://schemas.microsoft.com/office/drawing/2014/main" id="{4BA55C25-3E2D-443F-9D90-5D783D02E3A6}"/>
              </a:ext>
            </a:extLst>
          </p:cNvPr>
          <p:cNvSpPr>
            <a:spLocks xmlns:a="http://schemas.openxmlformats.org/drawingml/2006/main" noGrp="1"/>
          </p:cNvSpPr>
          <p:nvPr/>
        </p:nvSpPr>
        <p:spPr>
          <a:xfrm xmlns:a="http://schemas.openxmlformats.org/drawingml/2006/main">
            <a:off x="6134100" y="2743200"/>
            <a:ext cx="5467350" cy="27813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36" name="">
            <a:extLst xmlns:a="http://schemas.openxmlformats.org/drawingml/2006/main">
              <a:ext uri="{FF2B5EF4-FFF2-40B4-BE49-F238E27FC236}">
                <a16:creationId xmlns:a16="http://schemas.microsoft.com/office/drawing/2014/main" id="{5DA7C847-DCB1-44E6-A598-B4F4D1E3D706}"/>
              </a:ext>
            </a:extLst>
          </p:cNvPr>
          <p:cNvSpPr>
            <a:spLocks xmlns:a="http://schemas.openxmlformats.org/drawingml/2006/main" noGrp="1"/>
          </p:cNvSpPr>
          <p:nvPr/>
        </p:nvSpPr>
        <p:spPr>
          <a:xfrm xmlns:a="http://schemas.openxmlformats.org/drawingml/2006/main">
            <a:off x="6381750" y="2971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5F73"/>
                </a:solidFill>
                <a:latin typeface="Aptos"/>
                <a:ea typeface="Aptos"/>
                <a:cs typeface="Aptos"/>
              </a:defRPr>
            </a:pPr>
            <a:r>
              <a:rPr sz="900" b="1">
                <a:solidFill>
                  <a:srgbClr val="655F73"/>
                </a:solidFill>
                <a:latin typeface="Aptos"/>
                <a:ea typeface="Aptos"/>
                <a:cs typeface="Aptos"/>
              </a:rPr>
              <a:t>REPRODUCIBLE ARTIFACT FLOW</a:t>
            </a:r>
          </a:p>
        </p:txBody>
      </p:sp>
      <p:sp>
        <p:nvSpPr>
          <p:cNvPr id="37" name="">
            <a:extLst xmlns:a="http://schemas.openxmlformats.org/drawingml/2006/main">
              <a:ext uri="{FF2B5EF4-FFF2-40B4-BE49-F238E27FC236}">
                <a16:creationId xmlns:a16="http://schemas.microsoft.com/office/drawing/2014/main" id="{9F4FD525-D2E5-4638-99DF-8118D81D813A}"/>
              </a:ext>
            </a:extLst>
          </p:cNvPr>
          <p:cNvSpPr>
            <a:spLocks xmlns:a="http://schemas.openxmlformats.org/drawingml/2006/main" noGrp="1"/>
          </p:cNvSpPr>
          <p:nvPr/>
        </p:nvSpPr>
        <p:spPr>
          <a:xfrm xmlns:a="http://schemas.openxmlformats.org/drawingml/2006/main">
            <a:off x="6381750" y="3371850"/>
            <a:ext cx="14668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38" name="">
            <a:extLst xmlns:a="http://schemas.openxmlformats.org/drawingml/2006/main">
              <a:ext uri="{FF2B5EF4-FFF2-40B4-BE49-F238E27FC236}">
                <a16:creationId xmlns:a16="http://schemas.microsoft.com/office/drawing/2014/main" id="{08A8C139-8480-49CB-8603-3CFCC3487023}"/>
              </a:ext>
            </a:extLst>
          </p:cNvPr>
          <p:cNvSpPr>
            <a:spLocks xmlns:a="http://schemas.openxmlformats.org/drawingml/2006/main" noGrp="1"/>
          </p:cNvSpPr>
          <p:nvPr/>
        </p:nvSpPr>
        <p:spPr>
          <a:xfrm xmlns:a="http://schemas.openxmlformats.org/drawingml/2006/main">
            <a:off x="6448425" y="34290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8D754D"/>
                </a:solidFill>
                <a:latin typeface="Aptos"/>
                <a:ea typeface="Aptos"/>
                <a:cs typeface="Aptos"/>
              </a:defRPr>
            </a:pPr>
            <a:r>
              <a:rPr sz="825" b="1">
                <a:solidFill>
                  <a:srgbClr val="8D754D"/>
                </a:solidFill>
                <a:latin typeface="Aptos"/>
                <a:ea typeface="Aptos"/>
                <a:cs typeface="Aptos"/>
              </a:rPr>
              <a:t>Host inputs</a:t>
            </a:r>
          </a:p>
        </p:txBody>
      </p:sp>
      <p:sp>
        <p:nvSpPr>
          <p:cNvPr id="39" name="">
            <a:extLst xmlns:a="http://schemas.openxmlformats.org/drawingml/2006/main">
              <a:ext uri="{FF2B5EF4-FFF2-40B4-BE49-F238E27FC236}">
                <a16:creationId xmlns:a16="http://schemas.microsoft.com/office/drawing/2014/main" id="{453FE292-6535-4E28-8C6A-8C89953C5754}"/>
              </a:ext>
            </a:extLst>
          </p:cNvPr>
          <p:cNvSpPr>
            <a:spLocks xmlns:a="http://schemas.openxmlformats.org/drawingml/2006/main" noGrp="1"/>
          </p:cNvSpPr>
          <p:nvPr/>
        </p:nvSpPr>
        <p:spPr>
          <a:xfrm xmlns:a="http://schemas.openxmlformats.org/drawingml/2006/main">
            <a:off x="8020050" y="33909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02A33"/>
                </a:solidFill>
                <a:latin typeface="Aptos"/>
                <a:ea typeface="Aptos"/>
                <a:cs typeface="Aptos"/>
              </a:defRPr>
            </a:pPr>
            <a:r>
              <a:rPr sz="825" b="1">
                <a:solidFill>
                  <a:srgbClr val="202A33"/>
                </a:solidFill>
                <a:latin typeface="Aptos"/>
                <a:ea typeface="Aptos"/>
                <a:cs typeface="Aptos"/>
              </a:rPr>
              <a:t>data/test_apks  +  datasets</a:t>
            </a:r>
          </a:p>
        </p:txBody>
      </p:sp>
      <p:sp>
        <p:nvSpPr>
          <p:cNvPr id="40" name="">
            <a:extLst xmlns:a="http://schemas.openxmlformats.org/drawingml/2006/main">
              <a:ext uri="{FF2B5EF4-FFF2-40B4-BE49-F238E27FC236}">
                <a16:creationId xmlns:a16="http://schemas.microsoft.com/office/drawing/2014/main" id="{63704F5C-7E49-4EBE-BBD7-B7224AB7A9CF}"/>
              </a:ext>
            </a:extLst>
          </p:cNvPr>
          <p:cNvSpPr>
            <a:spLocks xmlns:a="http://schemas.openxmlformats.org/drawingml/2006/main" noGrp="1"/>
          </p:cNvSpPr>
          <p:nvPr/>
        </p:nvSpPr>
        <p:spPr>
          <a:xfrm xmlns:a="http://schemas.openxmlformats.org/drawingml/2006/main">
            <a:off x="6381750" y="3781425"/>
            <a:ext cx="14668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41" name="">
            <a:extLst xmlns:a="http://schemas.openxmlformats.org/drawingml/2006/main">
              <a:ext uri="{FF2B5EF4-FFF2-40B4-BE49-F238E27FC236}">
                <a16:creationId xmlns:a16="http://schemas.microsoft.com/office/drawing/2014/main" id="{4B54A6BE-381F-45E3-86FD-55003E534A47}"/>
              </a:ext>
            </a:extLst>
          </p:cNvPr>
          <p:cNvSpPr>
            <a:spLocks xmlns:a="http://schemas.openxmlformats.org/drawingml/2006/main" noGrp="1"/>
          </p:cNvSpPr>
          <p:nvPr/>
        </p:nvSpPr>
        <p:spPr>
          <a:xfrm xmlns:a="http://schemas.openxmlformats.org/drawingml/2006/main">
            <a:off x="6448425" y="3838575"/>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55F73"/>
                </a:solidFill>
                <a:latin typeface="Aptos"/>
                <a:ea typeface="Aptos"/>
                <a:cs typeface="Aptos"/>
              </a:defRPr>
            </a:pPr>
            <a:r>
              <a:rPr sz="825" b="1">
                <a:solidFill>
                  <a:srgbClr val="655F73"/>
                </a:solidFill>
                <a:latin typeface="Aptos"/>
                <a:ea typeface="Aptos"/>
                <a:cs typeface="Aptos"/>
              </a:rPr>
              <a:t>Host reference</a:t>
            </a:r>
          </a:p>
        </p:txBody>
      </p:sp>
      <p:sp>
        <p:nvSpPr>
          <p:cNvPr id="42" name="">
            <a:extLst xmlns:a="http://schemas.openxmlformats.org/drawingml/2006/main">
              <a:ext uri="{FF2B5EF4-FFF2-40B4-BE49-F238E27FC236}">
                <a16:creationId xmlns:a16="http://schemas.microsoft.com/office/drawing/2014/main" id="{2A97990C-8C87-46FA-903D-93A4354C3692}"/>
              </a:ext>
            </a:extLst>
          </p:cNvPr>
          <p:cNvSpPr>
            <a:spLocks xmlns:a="http://schemas.openxmlformats.org/drawingml/2006/main" noGrp="1"/>
          </p:cNvSpPr>
          <p:nvPr/>
        </p:nvSpPr>
        <p:spPr>
          <a:xfrm xmlns:a="http://schemas.openxmlformats.org/drawingml/2006/main">
            <a:off x="8020050" y="38004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02A33"/>
                </a:solidFill>
                <a:latin typeface="Aptos"/>
                <a:ea typeface="Aptos"/>
                <a:cs typeface="Aptos"/>
              </a:defRPr>
            </a:pPr>
            <a:r>
              <a:rPr sz="825" b="1">
                <a:solidFill>
                  <a:srgbClr val="202A33"/>
                </a:solidFill>
                <a:latin typeface="Aptos"/>
                <a:ea typeface="Aptos"/>
                <a:cs typeface="Aptos"/>
              </a:rPr>
              <a:t>data/reference_db/*.sqlite</a:t>
            </a:r>
          </a:p>
        </p:txBody>
      </p:sp>
      <p:sp>
        <p:nvSpPr>
          <p:cNvPr id="43" name="">
            <a:extLst xmlns:a="http://schemas.openxmlformats.org/drawingml/2006/main">
              <a:ext uri="{FF2B5EF4-FFF2-40B4-BE49-F238E27FC236}">
                <a16:creationId xmlns:a16="http://schemas.microsoft.com/office/drawing/2014/main" id="{F7E2DACD-EF16-4454-A2BF-B6FBC1D5174C}"/>
              </a:ext>
            </a:extLst>
          </p:cNvPr>
          <p:cNvSpPr>
            <a:spLocks xmlns:a="http://schemas.openxmlformats.org/drawingml/2006/main" noGrp="1"/>
          </p:cNvSpPr>
          <p:nvPr/>
        </p:nvSpPr>
        <p:spPr>
          <a:xfrm xmlns:a="http://schemas.openxmlformats.org/drawingml/2006/main">
            <a:off x="6381750" y="4191000"/>
            <a:ext cx="14668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44" name="">
            <a:extLst xmlns:a="http://schemas.openxmlformats.org/drawingml/2006/main">
              <a:ext uri="{FF2B5EF4-FFF2-40B4-BE49-F238E27FC236}">
                <a16:creationId xmlns:a16="http://schemas.microsoft.com/office/drawing/2014/main" id="{38074C14-8B19-446B-B6C3-12EB3A7F519C}"/>
              </a:ext>
            </a:extLst>
          </p:cNvPr>
          <p:cNvSpPr>
            <a:spLocks xmlns:a="http://schemas.openxmlformats.org/drawingml/2006/main" noGrp="1"/>
          </p:cNvSpPr>
          <p:nvPr/>
        </p:nvSpPr>
        <p:spPr>
          <a:xfrm xmlns:a="http://schemas.openxmlformats.org/drawingml/2006/main">
            <a:off x="6448425" y="42481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365F7D"/>
                </a:solidFill>
                <a:latin typeface="Aptos"/>
                <a:ea typeface="Aptos"/>
                <a:cs typeface="Aptos"/>
              </a:defRPr>
            </a:pPr>
            <a:r>
              <a:rPr sz="825" b="1">
                <a:solidFill>
                  <a:srgbClr val="365F7D"/>
                </a:solidFill>
                <a:latin typeface="Aptos"/>
                <a:ea typeface="Aptos"/>
                <a:cs typeface="Aptos"/>
              </a:rPr>
              <a:t>Container execution</a:t>
            </a:r>
          </a:p>
        </p:txBody>
      </p:sp>
      <p:sp>
        <p:nvSpPr>
          <p:cNvPr id="45" name="">
            <a:extLst xmlns:a="http://schemas.openxmlformats.org/drawingml/2006/main">
              <a:ext uri="{FF2B5EF4-FFF2-40B4-BE49-F238E27FC236}">
                <a16:creationId xmlns:a16="http://schemas.microsoft.com/office/drawing/2014/main" id="{3DA60977-C873-49EB-BAC9-D7F615AFD412}"/>
              </a:ext>
            </a:extLst>
          </p:cNvPr>
          <p:cNvSpPr>
            <a:spLocks xmlns:a="http://schemas.openxmlformats.org/drawingml/2006/main" noGrp="1"/>
          </p:cNvSpPr>
          <p:nvPr/>
        </p:nvSpPr>
        <p:spPr>
          <a:xfrm xmlns:a="http://schemas.openxmlformats.org/drawingml/2006/main">
            <a:off x="8020050" y="42100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02A33"/>
                </a:solidFill>
                <a:latin typeface="Cascadia Mono"/>
                <a:ea typeface="Cascadia Mono"/>
                <a:cs typeface="Cascadia Mono"/>
              </a:defRPr>
            </a:pPr>
            <a:r>
              <a:rPr sz="825" b="1">
                <a:solidFill>
                  <a:srgbClr val="202A33"/>
                </a:solidFill>
                <a:latin typeface="Cascadia Mono"/>
                <a:ea typeface="Cascadia Mono"/>
                <a:cs typeface="Cascadia Mono"/>
              </a:rPr>
              <a:t>docker compose run --rm apk-sbom ...</a:t>
            </a:r>
          </a:p>
        </p:txBody>
      </p:sp>
      <p:sp>
        <p:nvSpPr>
          <p:cNvPr id="46" name="">
            <a:extLst xmlns:a="http://schemas.openxmlformats.org/drawingml/2006/main">
              <a:ext uri="{FF2B5EF4-FFF2-40B4-BE49-F238E27FC236}">
                <a16:creationId xmlns:a16="http://schemas.microsoft.com/office/drawing/2014/main" id="{9DDAF491-CB29-42B9-B430-04B8A679109F}"/>
              </a:ext>
            </a:extLst>
          </p:cNvPr>
          <p:cNvSpPr>
            <a:spLocks xmlns:a="http://schemas.openxmlformats.org/drawingml/2006/main" noGrp="1"/>
          </p:cNvSpPr>
          <p:nvPr/>
        </p:nvSpPr>
        <p:spPr>
          <a:xfrm xmlns:a="http://schemas.openxmlformats.org/drawingml/2006/main">
            <a:off x="6381750" y="4600575"/>
            <a:ext cx="14668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47" name="">
            <a:extLst xmlns:a="http://schemas.openxmlformats.org/drawingml/2006/main">
              <a:ext uri="{FF2B5EF4-FFF2-40B4-BE49-F238E27FC236}">
                <a16:creationId xmlns:a16="http://schemas.microsoft.com/office/drawing/2014/main" id="{8DEF7341-D981-4B0B-879B-0810FBBE49B8}"/>
              </a:ext>
            </a:extLst>
          </p:cNvPr>
          <p:cNvSpPr>
            <a:spLocks xmlns:a="http://schemas.openxmlformats.org/drawingml/2006/main" noGrp="1"/>
          </p:cNvSpPr>
          <p:nvPr/>
        </p:nvSpPr>
        <p:spPr>
          <a:xfrm xmlns:a="http://schemas.openxmlformats.org/drawingml/2006/main">
            <a:off x="6448425" y="4657725"/>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4F7D76"/>
                </a:solidFill>
                <a:latin typeface="Aptos"/>
                <a:ea typeface="Aptos"/>
                <a:cs typeface="Aptos"/>
              </a:defRPr>
            </a:pPr>
            <a:r>
              <a:rPr sz="825" b="1">
                <a:solidFill>
                  <a:srgbClr val="4F7D76"/>
                </a:solidFill>
                <a:latin typeface="Aptos"/>
                <a:ea typeface="Aptos"/>
                <a:cs typeface="Aptos"/>
              </a:rPr>
              <a:t>Host outputs</a:t>
            </a:r>
          </a:p>
        </p:txBody>
      </p:sp>
      <p:sp>
        <p:nvSpPr>
          <p:cNvPr id="48" name="">
            <a:extLst xmlns:a="http://schemas.openxmlformats.org/drawingml/2006/main">
              <a:ext uri="{FF2B5EF4-FFF2-40B4-BE49-F238E27FC236}">
                <a16:creationId xmlns:a16="http://schemas.microsoft.com/office/drawing/2014/main" id="{F4C78464-88FD-4F0B-9774-062A59B4D0E0}"/>
              </a:ext>
            </a:extLst>
          </p:cNvPr>
          <p:cNvSpPr>
            <a:spLocks xmlns:a="http://schemas.openxmlformats.org/drawingml/2006/main" noGrp="1"/>
          </p:cNvSpPr>
          <p:nvPr/>
        </p:nvSpPr>
        <p:spPr>
          <a:xfrm xmlns:a="http://schemas.openxmlformats.org/drawingml/2006/main">
            <a:off x="8020050" y="461962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02A33"/>
                </a:solidFill>
                <a:latin typeface="Cascadia Mono"/>
                <a:ea typeface="Cascadia Mono"/>
                <a:cs typeface="Cascadia Mono"/>
              </a:defRPr>
            </a:pPr>
            <a:r>
              <a:rPr sz="825" b="1">
                <a:solidFill>
                  <a:srgbClr val="202A33"/>
                </a:solidFill>
                <a:latin typeface="Cascadia Mono"/>
                <a:ea typeface="Cascadia Mono"/>
                <a:cs typeface="Cascadia Mono"/>
              </a:rPr>
              <a:t>data/results/... report.html, JSON, SBOM</a:t>
            </a:r>
          </a:p>
        </p:txBody>
      </p:sp>
      <p:sp>
        <p:nvSpPr>
          <p:cNvPr id="49" name="">
            <a:extLst xmlns:a="http://schemas.openxmlformats.org/drawingml/2006/main">
              <a:ext uri="{FF2B5EF4-FFF2-40B4-BE49-F238E27FC236}">
                <a16:creationId xmlns:a16="http://schemas.microsoft.com/office/drawing/2014/main" id="{72D49904-0865-4B3B-9981-841032C209C0}"/>
              </a:ext>
            </a:extLst>
          </p:cNvPr>
          <p:cNvSpPr>
            <a:spLocks xmlns:a="http://schemas.openxmlformats.org/drawingml/2006/main" noGrp="1"/>
          </p:cNvSpPr>
          <p:nvPr/>
        </p:nvSpPr>
        <p:spPr>
          <a:xfrm xmlns:a="http://schemas.openxmlformats.org/drawingml/2006/main">
            <a:off x="6381750" y="5010150"/>
            <a:ext cx="14668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50" name="">
            <a:extLst xmlns:a="http://schemas.openxmlformats.org/drawingml/2006/main">
              <a:ext uri="{FF2B5EF4-FFF2-40B4-BE49-F238E27FC236}">
                <a16:creationId xmlns:a16="http://schemas.microsoft.com/office/drawing/2014/main" id="{3D71A51B-2E48-48C7-AC93-269E5E1057E8}"/>
              </a:ext>
            </a:extLst>
          </p:cNvPr>
          <p:cNvSpPr>
            <a:spLocks xmlns:a="http://schemas.openxmlformats.org/drawingml/2006/main" noGrp="1"/>
          </p:cNvSpPr>
          <p:nvPr/>
        </p:nvSpPr>
        <p:spPr>
          <a:xfrm xmlns:a="http://schemas.openxmlformats.org/drawingml/2006/main">
            <a:off x="6448425" y="50673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F7C61"/>
                </a:solidFill>
                <a:latin typeface="Aptos"/>
                <a:ea typeface="Aptos"/>
                <a:cs typeface="Aptos"/>
              </a:defRPr>
            </a:pPr>
            <a:r>
              <a:rPr sz="825" b="1">
                <a:solidFill>
                  <a:srgbClr val="6F7C61"/>
                </a:solidFill>
                <a:latin typeface="Aptos"/>
                <a:ea typeface="Aptos"/>
                <a:cs typeface="Aptos"/>
              </a:rPr>
              <a:t>Regression proof</a:t>
            </a:r>
          </a:p>
        </p:txBody>
      </p:sp>
      <p:sp>
        <p:nvSpPr>
          <p:cNvPr id="51" name="">
            <a:extLst xmlns:a="http://schemas.openxmlformats.org/drawingml/2006/main">
              <a:ext uri="{FF2B5EF4-FFF2-40B4-BE49-F238E27FC236}">
                <a16:creationId xmlns:a16="http://schemas.microsoft.com/office/drawing/2014/main" id="{D7F04154-43C9-4743-B461-3A434C908D2D}"/>
              </a:ext>
            </a:extLst>
          </p:cNvPr>
          <p:cNvSpPr>
            <a:spLocks xmlns:a="http://schemas.openxmlformats.org/drawingml/2006/main" noGrp="1"/>
          </p:cNvSpPr>
          <p:nvPr/>
        </p:nvSpPr>
        <p:spPr>
          <a:xfrm xmlns:a="http://schemas.openxmlformats.org/drawingml/2006/main">
            <a:off x="8020050" y="50292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02A33"/>
                </a:solidFill>
                <a:latin typeface="Cascadia Mono"/>
                <a:ea typeface="Cascadia Mono"/>
                <a:cs typeface="Cascadia Mono"/>
              </a:defRPr>
            </a:pPr>
            <a:r>
              <a:rPr sz="825" b="1">
                <a:solidFill>
                  <a:srgbClr val="202A33"/>
                </a:solidFill>
                <a:latin typeface="Cascadia Mono"/>
                <a:ea typeface="Cascadia Mono"/>
                <a:cs typeface="Cascadia Mono"/>
              </a:rPr>
              <a:t>tests + source-validation + metrics</a:t>
            </a:r>
          </a:p>
        </p:txBody>
      </p:sp>
      <p:sp>
        <p:nvSpPr>
          <p:cNvPr id="52" name="">
            <a:extLst xmlns:a="http://schemas.openxmlformats.org/drawingml/2006/main">
              <a:ext uri="{FF2B5EF4-FFF2-40B4-BE49-F238E27FC236}">
                <a16:creationId xmlns:a16="http://schemas.microsoft.com/office/drawing/2014/main" id="{18AAB49A-CF69-4FDE-8594-A9425D46B18E}"/>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A1166D69-4452-4667-B476-29404D6EE956}"/>
              </a:ext>
            </a:extLst>
          </p:cNvPr>
          <p:cNvSpPr>
            <a:spLocks xmlns:a="http://schemas.openxmlformats.org/drawingml/2006/main" noGrp="1"/>
          </p:cNvSpPr>
          <p:nvPr/>
        </p:nvSpPr>
        <p:spPr>
          <a:xfrm xmlns:a="http://schemas.openxmlformats.org/drawingml/2006/main">
            <a:off x="819150" y="58959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Files: Dockerfile  |  docker-compose.yml  |  .dockerignore  |  data/reference_db/  |  data/results/</a:t>
            </a:r>
          </a:p>
        </p:txBody>
      </p:sp>
      <p:sp>
        <p:nvSpPr>
          <p:cNvPr id="54" name="">
            <a:extLst xmlns:a="http://schemas.openxmlformats.org/drawingml/2006/main">
              <a:ext uri="{FF2B5EF4-FFF2-40B4-BE49-F238E27FC236}">
                <a16:creationId xmlns:a16="http://schemas.microsoft.com/office/drawing/2014/main" id="{B8DA97F1-5667-41B0-A86B-BD3114D8DF8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330541244"/>
      </p:ext>
    </p:extLst>
  </p:cSld>
</p:sld>
</file>

<file path=ppt/slides/slide35.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26A14A4-1726-482C-B06A-243EB226766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8D754D"/>
                </a:solidFill>
                <a:latin typeface="Aptos"/>
                <a:ea typeface="Aptos"/>
                <a:cs typeface="Aptos"/>
              </a:defRPr>
            </a:pPr>
            <a:r>
              <a:rPr sz="900" b="1">
                <a:solidFill>
                  <a:srgbClr val="8D754D"/>
                </a:solidFill>
                <a:latin typeface="Aptos"/>
                <a:ea typeface="Aptos"/>
                <a:cs typeface="Aptos"/>
              </a:rPr>
              <a:t>BACKUP 4</a:t>
            </a:r>
          </a:p>
        </p:txBody>
      </p:sp>
      <p:sp>
        <p:nvSpPr>
          <p:cNvPr id="2" name="">
            <a:extLst xmlns:a="http://schemas.openxmlformats.org/drawingml/2006/main">
              <a:ext uri="{FF2B5EF4-FFF2-40B4-BE49-F238E27FC236}">
                <a16:creationId xmlns:a16="http://schemas.microsoft.com/office/drawing/2014/main" id="{F17D5D46-62E5-4B3B-8FA5-5ED92074D7C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Detailed APK-family classification</a:t>
            </a:r>
          </a:p>
        </p:txBody>
      </p:sp>
      <p:sp>
        <p:nvSpPr>
          <p:cNvPr id="3" name="">
            <a:extLst xmlns:a="http://schemas.openxmlformats.org/drawingml/2006/main">
              <a:ext uri="{FF2B5EF4-FFF2-40B4-BE49-F238E27FC236}">
                <a16:creationId xmlns:a16="http://schemas.microsoft.com/office/drawing/2014/main" id="{F73C4D9A-EF84-49CE-A38C-AF1F49CEBD2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35</a:t>
            </a:r>
          </a:p>
        </p:txBody>
      </p:sp>
      <p:sp>
        <p:nvSpPr>
          <p:cNvPr id="4" name="">
            <a:extLst xmlns:a="http://schemas.openxmlformats.org/drawingml/2006/main">
              <a:ext uri="{FF2B5EF4-FFF2-40B4-BE49-F238E27FC236}">
                <a16:creationId xmlns:a16="http://schemas.microsoft.com/office/drawing/2014/main" id="{68786DA9-611F-4533-851D-EECE236EF0BC}"/>
              </a:ext>
            </a:extLst>
          </p:cNvPr>
          <p:cNvSpPr>
            <a:spLocks xmlns:a="http://schemas.openxmlformats.org/drawingml/2006/main" noGrp="1"/>
          </p:cNvSpPr>
          <p:nvPr/>
        </p:nvSpPr>
        <p:spPr>
          <a:xfrm xmlns:a="http://schemas.openxmlformats.org/drawingml/2006/main">
            <a:off x="685800" y="13906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5" name="">
            <a:extLst xmlns:a="http://schemas.openxmlformats.org/drawingml/2006/main">
              <a:ext uri="{FF2B5EF4-FFF2-40B4-BE49-F238E27FC236}">
                <a16:creationId xmlns:a16="http://schemas.microsoft.com/office/drawing/2014/main" id="{1BE4F816-49B6-4CBF-9775-50CC22F80088}"/>
              </a:ext>
            </a:extLst>
          </p:cNvPr>
          <p:cNvSpPr>
            <a:spLocks xmlns:a="http://schemas.openxmlformats.org/drawingml/2006/main" noGrp="1"/>
          </p:cNvSpPr>
          <p:nvPr/>
        </p:nvSpPr>
        <p:spPr>
          <a:xfrm xmlns:a="http://schemas.openxmlformats.org/drawingml/2006/main">
            <a:off x="857250" y="15621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6F7C61"/>
                </a:solidFill>
                <a:latin typeface="Aptos"/>
                <a:ea typeface="Aptos"/>
                <a:cs typeface="Aptos"/>
              </a:defRPr>
            </a:pPr>
            <a:r>
              <a:rPr sz="1275" b="1">
                <a:solidFill>
                  <a:srgbClr val="6F7C61"/>
                </a:solidFill>
                <a:latin typeface="Aptos"/>
                <a:ea typeface="Aptos"/>
                <a:cs typeface="Aptos"/>
              </a:rPr>
              <a:t>Clear</a:t>
            </a:r>
          </a:p>
        </p:txBody>
      </p:sp>
      <p:sp>
        <p:nvSpPr>
          <p:cNvPr id="6" name="">
            <a:extLst xmlns:a="http://schemas.openxmlformats.org/drawingml/2006/main">
              <a:ext uri="{FF2B5EF4-FFF2-40B4-BE49-F238E27FC236}">
                <a16:creationId xmlns:a16="http://schemas.microsoft.com/office/drawing/2014/main" id="{C9767072-B8C7-41D3-9BF2-89C172963209}"/>
              </a:ext>
            </a:extLst>
          </p:cNvPr>
          <p:cNvSpPr>
            <a:spLocks xmlns:a="http://schemas.openxmlformats.org/drawingml/2006/main" noGrp="1"/>
          </p:cNvSpPr>
          <p:nvPr/>
        </p:nvSpPr>
        <p:spPr>
          <a:xfrm xmlns:a="http://schemas.openxmlformats.org/drawingml/2006/main">
            <a:off x="2152650" y="15240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names and code preserved</a:t>
            </a:r>
          </a:p>
        </p:txBody>
      </p:sp>
      <p:sp>
        <p:nvSpPr>
          <p:cNvPr id="7" name="">
            <a:extLst xmlns:a="http://schemas.openxmlformats.org/drawingml/2006/main">
              <a:ext uri="{FF2B5EF4-FFF2-40B4-BE49-F238E27FC236}">
                <a16:creationId xmlns:a16="http://schemas.microsoft.com/office/drawing/2014/main" id="{1AAA5260-7D68-4DC4-939D-54B65ECDAF3D}"/>
              </a:ext>
            </a:extLst>
          </p:cNvPr>
          <p:cNvSpPr>
            <a:spLocks xmlns:a="http://schemas.openxmlformats.org/drawingml/2006/main" noGrp="1"/>
          </p:cNvSpPr>
          <p:nvPr/>
        </p:nvSpPr>
        <p:spPr>
          <a:xfrm xmlns:a="http://schemas.openxmlformats.org/drawingml/2006/main">
            <a:off x="3981450" y="15240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0">
                <a:solidFill>
                  <a:srgbClr val="65717A"/>
                </a:solidFill>
                <a:latin typeface="Aptos"/>
                <a:ea typeface="Aptos"/>
                <a:cs typeface="Aptos"/>
              </a:defRPr>
            </a:pPr>
            <a:r>
              <a:rPr sz="900" b="0">
                <a:solidFill>
                  <a:srgbClr val="65717A"/>
                </a:solidFill>
                <a:latin typeface="Aptos"/>
                <a:ea typeface="Aptos"/>
                <a:cs typeface="Aptos"/>
              </a:rPr>
              <a:t>exact/high expected</a:t>
            </a:r>
          </a:p>
        </p:txBody>
      </p:sp>
      <p:sp>
        <p:nvSpPr>
          <p:cNvPr id="8" name="">
            <a:extLst xmlns:a="http://schemas.openxmlformats.org/drawingml/2006/main">
              <a:ext uri="{FF2B5EF4-FFF2-40B4-BE49-F238E27FC236}">
                <a16:creationId xmlns:a16="http://schemas.microsoft.com/office/drawing/2014/main" id="{B964199F-B592-4796-A2A4-3A347F6BAD12}"/>
              </a:ext>
            </a:extLst>
          </p:cNvPr>
          <p:cNvSpPr>
            <a:spLocks xmlns:a="http://schemas.openxmlformats.org/drawingml/2006/main" noGrp="1"/>
          </p:cNvSpPr>
          <p:nvPr/>
        </p:nvSpPr>
        <p:spPr>
          <a:xfrm xmlns:a="http://schemas.openxmlformats.org/drawingml/2006/main">
            <a:off x="6134100" y="13906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9" name="">
            <a:extLst xmlns:a="http://schemas.openxmlformats.org/drawingml/2006/main">
              <a:ext uri="{FF2B5EF4-FFF2-40B4-BE49-F238E27FC236}">
                <a16:creationId xmlns:a16="http://schemas.microsoft.com/office/drawing/2014/main" id="{63723947-EEF1-4450-9460-879E315DCA18}"/>
              </a:ext>
            </a:extLst>
          </p:cNvPr>
          <p:cNvSpPr>
            <a:spLocks xmlns:a="http://schemas.openxmlformats.org/drawingml/2006/main" noGrp="1"/>
          </p:cNvSpPr>
          <p:nvPr/>
        </p:nvSpPr>
        <p:spPr>
          <a:xfrm xmlns:a="http://schemas.openxmlformats.org/drawingml/2006/main">
            <a:off x="6305550" y="15621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65F7D"/>
                </a:solidFill>
                <a:latin typeface="Aptos"/>
                <a:ea typeface="Aptos"/>
                <a:cs typeface="Aptos"/>
              </a:defRPr>
            </a:pPr>
            <a:r>
              <a:rPr sz="1275" b="1">
                <a:solidFill>
                  <a:srgbClr val="365F7D"/>
                </a:solidFill>
                <a:latin typeface="Aptos"/>
                <a:ea typeface="Aptos"/>
                <a:cs typeface="Aptos"/>
              </a:rPr>
              <a:t>R8 rename</a:t>
            </a:r>
          </a:p>
        </p:txBody>
      </p:sp>
      <p:sp>
        <p:nvSpPr>
          <p:cNvPr id="10" name="">
            <a:extLst xmlns:a="http://schemas.openxmlformats.org/drawingml/2006/main">
              <a:ext uri="{FF2B5EF4-FFF2-40B4-BE49-F238E27FC236}">
                <a16:creationId xmlns:a16="http://schemas.microsoft.com/office/drawing/2014/main" id="{95CA1FC0-9AC6-40BE-A7B5-38403F4E6E4C}"/>
              </a:ext>
            </a:extLst>
          </p:cNvPr>
          <p:cNvSpPr>
            <a:spLocks xmlns:a="http://schemas.openxmlformats.org/drawingml/2006/main" noGrp="1"/>
          </p:cNvSpPr>
          <p:nvPr/>
        </p:nvSpPr>
        <p:spPr>
          <a:xfrm xmlns:a="http://schemas.openxmlformats.org/drawingml/2006/main">
            <a:off x="7600950" y="15240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identifiers rewritten</a:t>
            </a:r>
          </a:p>
        </p:txBody>
      </p:sp>
      <p:sp>
        <p:nvSpPr>
          <p:cNvPr id="11" name="">
            <a:extLst xmlns:a="http://schemas.openxmlformats.org/drawingml/2006/main">
              <a:ext uri="{FF2B5EF4-FFF2-40B4-BE49-F238E27FC236}">
                <a16:creationId xmlns:a16="http://schemas.microsoft.com/office/drawing/2014/main" id="{F9F87EB7-12D6-4A06-8431-3470491F62CF}"/>
              </a:ext>
            </a:extLst>
          </p:cNvPr>
          <p:cNvSpPr>
            <a:spLocks xmlns:a="http://schemas.openxmlformats.org/drawingml/2006/main" noGrp="1"/>
          </p:cNvSpPr>
          <p:nvPr/>
        </p:nvSpPr>
        <p:spPr>
          <a:xfrm xmlns:a="http://schemas.openxmlformats.org/drawingml/2006/main">
            <a:off x="9429750" y="15240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0">
                <a:solidFill>
                  <a:srgbClr val="65717A"/>
                </a:solidFill>
                <a:latin typeface="Aptos"/>
                <a:ea typeface="Aptos"/>
                <a:cs typeface="Aptos"/>
              </a:defRPr>
            </a:pPr>
            <a:r>
              <a:rPr sz="900" b="0">
                <a:solidFill>
                  <a:srgbClr val="65717A"/>
                </a:solidFill>
                <a:latin typeface="Aptos"/>
                <a:ea typeface="Aptos"/>
                <a:cs typeface="Aptos"/>
              </a:rPr>
              <a:t>structure should survive</a:t>
            </a:r>
          </a:p>
        </p:txBody>
      </p:sp>
      <p:sp>
        <p:nvSpPr>
          <p:cNvPr id="12" name="">
            <a:extLst xmlns:a="http://schemas.openxmlformats.org/drawingml/2006/main">
              <a:ext uri="{FF2B5EF4-FFF2-40B4-BE49-F238E27FC236}">
                <a16:creationId xmlns:a16="http://schemas.microsoft.com/office/drawing/2014/main" id="{72909C3A-0D2B-4649-9D45-AF0FFFA1FF2D}"/>
              </a:ext>
            </a:extLst>
          </p:cNvPr>
          <p:cNvSpPr>
            <a:spLocks xmlns:a="http://schemas.openxmlformats.org/drawingml/2006/main" noGrp="1"/>
          </p:cNvSpPr>
          <p:nvPr/>
        </p:nvSpPr>
        <p:spPr>
          <a:xfrm xmlns:a="http://schemas.openxmlformats.org/drawingml/2006/main">
            <a:off x="685800" y="24574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3" name="">
            <a:extLst xmlns:a="http://schemas.openxmlformats.org/drawingml/2006/main">
              <a:ext uri="{FF2B5EF4-FFF2-40B4-BE49-F238E27FC236}">
                <a16:creationId xmlns:a16="http://schemas.microsoft.com/office/drawing/2014/main" id="{1AD73D61-53B0-4D53-9483-38BB7DBD0F73}"/>
              </a:ext>
            </a:extLst>
          </p:cNvPr>
          <p:cNvSpPr>
            <a:spLocks xmlns:a="http://schemas.openxmlformats.org/drawingml/2006/main" noGrp="1"/>
          </p:cNvSpPr>
          <p:nvPr/>
        </p:nvSpPr>
        <p:spPr>
          <a:xfrm xmlns:a="http://schemas.openxmlformats.org/drawingml/2006/main">
            <a:off x="857250" y="26289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4F7D76"/>
                </a:solidFill>
                <a:latin typeface="Aptos"/>
                <a:ea typeface="Aptos"/>
                <a:cs typeface="Aptos"/>
              </a:defRPr>
            </a:pPr>
            <a:r>
              <a:rPr sz="1275" b="1">
                <a:solidFill>
                  <a:srgbClr val="4F7D76"/>
                </a:solidFill>
                <a:latin typeface="Aptos"/>
                <a:ea typeface="Aptos"/>
                <a:cs typeface="Aptos"/>
              </a:rPr>
              <a:t>R8 shrink</a:t>
            </a:r>
          </a:p>
        </p:txBody>
      </p:sp>
      <p:sp>
        <p:nvSpPr>
          <p:cNvPr id="14" name="">
            <a:extLst xmlns:a="http://schemas.openxmlformats.org/drawingml/2006/main">
              <a:ext uri="{FF2B5EF4-FFF2-40B4-BE49-F238E27FC236}">
                <a16:creationId xmlns:a16="http://schemas.microsoft.com/office/drawing/2014/main" id="{4215281A-D7C9-4BEE-908D-F8701697A2F9}"/>
              </a:ext>
            </a:extLst>
          </p:cNvPr>
          <p:cNvSpPr>
            <a:spLocks xmlns:a="http://schemas.openxmlformats.org/drawingml/2006/main" noGrp="1"/>
          </p:cNvSpPr>
          <p:nvPr/>
        </p:nvSpPr>
        <p:spPr>
          <a:xfrm xmlns:a="http://schemas.openxmlformats.org/drawingml/2006/main">
            <a:off x="2152650" y="25908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unused code removed</a:t>
            </a:r>
          </a:p>
        </p:txBody>
      </p:sp>
      <p:sp>
        <p:nvSpPr>
          <p:cNvPr id="15" name="">
            <a:extLst xmlns:a="http://schemas.openxmlformats.org/drawingml/2006/main">
              <a:ext uri="{FF2B5EF4-FFF2-40B4-BE49-F238E27FC236}">
                <a16:creationId xmlns:a16="http://schemas.microsoft.com/office/drawing/2014/main" id="{5BECD3E2-C129-42B8-AFC3-32B373A1E11F}"/>
              </a:ext>
            </a:extLst>
          </p:cNvPr>
          <p:cNvSpPr>
            <a:spLocks xmlns:a="http://schemas.openxmlformats.org/drawingml/2006/main" noGrp="1"/>
          </p:cNvSpPr>
          <p:nvPr/>
        </p:nvSpPr>
        <p:spPr>
          <a:xfrm xmlns:a="http://schemas.openxmlformats.org/drawingml/2006/main">
            <a:off x="3981450" y="25908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0">
                <a:solidFill>
                  <a:srgbClr val="65717A"/>
                </a:solidFill>
                <a:latin typeface="Aptos"/>
                <a:ea typeface="Aptos"/>
                <a:cs typeface="Aptos"/>
              </a:defRPr>
            </a:pPr>
            <a:r>
              <a:rPr sz="900" b="0">
                <a:solidFill>
                  <a:srgbClr val="65717A"/>
                </a:solidFill>
                <a:latin typeface="Aptos"/>
                <a:ea typeface="Aptos"/>
                <a:cs typeface="Aptos"/>
              </a:rPr>
              <a:t>lower evidence volume</a:t>
            </a:r>
          </a:p>
        </p:txBody>
      </p:sp>
      <p:sp>
        <p:nvSpPr>
          <p:cNvPr id="16" name="">
            <a:extLst xmlns:a="http://schemas.openxmlformats.org/drawingml/2006/main">
              <a:ext uri="{FF2B5EF4-FFF2-40B4-BE49-F238E27FC236}">
                <a16:creationId xmlns:a16="http://schemas.microsoft.com/office/drawing/2014/main" id="{F02CDE39-C254-4471-9CEE-044AEA3D752E}"/>
              </a:ext>
            </a:extLst>
          </p:cNvPr>
          <p:cNvSpPr>
            <a:spLocks xmlns:a="http://schemas.openxmlformats.org/drawingml/2006/main" noGrp="1"/>
          </p:cNvSpPr>
          <p:nvPr/>
        </p:nvSpPr>
        <p:spPr>
          <a:xfrm xmlns:a="http://schemas.openxmlformats.org/drawingml/2006/main">
            <a:off x="6134100" y="24574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17" name="">
            <a:extLst xmlns:a="http://schemas.openxmlformats.org/drawingml/2006/main">
              <a:ext uri="{FF2B5EF4-FFF2-40B4-BE49-F238E27FC236}">
                <a16:creationId xmlns:a16="http://schemas.microsoft.com/office/drawing/2014/main" id="{08AE7AC4-32B2-4853-A0E8-8A54DD6F978C}"/>
              </a:ext>
            </a:extLst>
          </p:cNvPr>
          <p:cNvSpPr>
            <a:spLocks xmlns:a="http://schemas.openxmlformats.org/drawingml/2006/main" noGrp="1"/>
          </p:cNvSpPr>
          <p:nvPr/>
        </p:nvSpPr>
        <p:spPr>
          <a:xfrm xmlns:a="http://schemas.openxmlformats.org/drawingml/2006/main">
            <a:off x="6305550" y="26289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655F73"/>
                </a:solidFill>
                <a:latin typeface="Aptos"/>
                <a:ea typeface="Aptos"/>
                <a:cs typeface="Aptos"/>
              </a:defRPr>
            </a:pPr>
            <a:r>
              <a:rPr sz="1275" b="1">
                <a:solidFill>
                  <a:srgbClr val="655F73"/>
                </a:solidFill>
                <a:latin typeface="Aptos"/>
                <a:ea typeface="Aptos"/>
                <a:cs typeface="Aptos"/>
              </a:rPr>
              <a:t>R8 optimize</a:t>
            </a:r>
          </a:p>
        </p:txBody>
      </p:sp>
      <p:sp>
        <p:nvSpPr>
          <p:cNvPr id="18" name="">
            <a:extLst xmlns:a="http://schemas.openxmlformats.org/drawingml/2006/main">
              <a:ext uri="{FF2B5EF4-FFF2-40B4-BE49-F238E27FC236}">
                <a16:creationId xmlns:a16="http://schemas.microsoft.com/office/drawing/2014/main" id="{0BF98525-90EA-4876-8A27-5E37B084E9AC}"/>
              </a:ext>
            </a:extLst>
          </p:cNvPr>
          <p:cNvSpPr>
            <a:spLocks xmlns:a="http://schemas.openxmlformats.org/drawingml/2006/main" noGrp="1"/>
          </p:cNvSpPr>
          <p:nvPr/>
        </p:nvSpPr>
        <p:spPr>
          <a:xfrm xmlns:a="http://schemas.openxmlformats.org/drawingml/2006/main">
            <a:off x="7600950" y="25908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calls and methods rewritten</a:t>
            </a:r>
          </a:p>
        </p:txBody>
      </p:sp>
      <p:sp>
        <p:nvSpPr>
          <p:cNvPr id="19" name="">
            <a:extLst xmlns:a="http://schemas.openxmlformats.org/drawingml/2006/main">
              <a:ext uri="{FF2B5EF4-FFF2-40B4-BE49-F238E27FC236}">
                <a16:creationId xmlns:a16="http://schemas.microsoft.com/office/drawing/2014/main" id="{CD7DFCCB-6F2A-4E34-A4B2-61CC3099AA20}"/>
              </a:ext>
            </a:extLst>
          </p:cNvPr>
          <p:cNvSpPr>
            <a:spLocks xmlns:a="http://schemas.openxmlformats.org/drawingml/2006/main" noGrp="1"/>
          </p:cNvSpPr>
          <p:nvPr/>
        </p:nvSpPr>
        <p:spPr>
          <a:xfrm xmlns:a="http://schemas.openxmlformats.org/drawingml/2006/main">
            <a:off x="9429750" y="25908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0">
                <a:solidFill>
                  <a:srgbClr val="65717A"/>
                </a:solidFill>
                <a:latin typeface="Aptos"/>
                <a:ea typeface="Aptos"/>
                <a:cs typeface="Aptos"/>
              </a:defRPr>
            </a:pPr>
            <a:r>
              <a:rPr sz="900" b="0">
                <a:solidFill>
                  <a:srgbClr val="65717A"/>
                </a:solidFill>
                <a:latin typeface="Aptos"/>
                <a:ea typeface="Aptos"/>
                <a:cs typeface="Aptos"/>
              </a:rPr>
              <a:t>version evidence stressed</a:t>
            </a:r>
          </a:p>
        </p:txBody>
      </p:sp>
      <p:sp>
        <p:nvSpPr>
          <p:cNvPr id="20" name="">
            <a:extLst xmlns:a="http://schemas.openxmlformats.org/drawingml/2006/main">
              <a:ext uri="{FF2B5EF4-FFF2-40B4-BE49-F238E27FC236}">
                <a16:creationId xmlns:a16="http://schemas.microsoft.com/office/drawing/2014/main" id="{520ED45B-7BA1-46BE-822E-EFF8676364A5}"/>
              </a:ext>
            </a:extLst>
          </p:cNvPr>
          <p:cNvSpPr>
            <a:spLocks xmlns:a="http://schemas.openxmlformats.org/drawingml/2006/main" noGrp="1"/>
          </p:cNvSpPr>
          <p:nvPr/>
        </p:nvSpPr>
        <p:spPr>
          <a:xfrm xmlns:a="http://schemas.openxmlformats.org/drawingml/2006/main">
            <a:off x="685800" y="35242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21" name="">
            <a:extLst xmlns:a="http://schemas.openxmlformats.org/drawingml/2006/main">
              <a:ext uri="{FF2B5EF4-FFF2-40B4-BE49-F238E27FC236}">
                <a16:creationId xmlns:a16="http://schemas.microsoft.com/office/drawing/2014/main" id="{5207E69A-12A4-4D61-A12A-27A637AC28D6}"/>
              </a:ext>
            </a:extLst>
          </p:cNvPr>
          <p:cNvSpPr>
            <a:spLocks xmlns:a="http://schemas.openxmlformats.org/drawingml/2006/main" noGrp="1"/>
          </p:cNvSpPr>
          <p:nvPr/>
        </p:nvSpPr>
        <p:spPr>
          <a:xfrm xmlns:a="http://schemas.openxmlformats.org/drawingml/2006/main">
            <a:off x="857250" y="36957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8D754D"/>
                </a:solidFill>
                <a:latin typeface="Aptos"/>
                <a:ea typeface="Aptos"/>
                <a:cs typeface="Aptos"/>
              </a:defRPr>
            </a:pPr>
            <a:r>
              <a:rPr sz="1275" b="1">
                <a:solidFill>
                  <a:srgbClr val="8D754D"/>
                </a:solidFill>
                <a:latin typeface="Aptos"/>
                <a:ea typeface="Aptos"/>
                <a:cs typeface="Aptos"/>
              </a:rPr>
              <a:t>Repackage</a:t>
            </a:r>
          </a:p>
        </p:txBody>
      </p:sp>
      <p:sp>
        <p:nvSpPr>
          <p:cNvPr id="22" name="">
            <a:extLst xmlns:a="http://schemas.openxmlformats.org/drawingml/2006/main">
              <a:ext uri="{FF2B5EF4-FFF2-40B4-BE49-F238E27FC236}">
                <a16:creationId xmlns:a16="http://schemas.microsoft.com/office/drawing/2014/main" id="{C03E11C7-0A28-4473-8328-178A219211A4}"/>
              </a:ext>
            </a:extLst>
          </p:cNvPr>
          <p:cNvSpPr>
            <a:spLocks xmlns:a="http://schemas.openxmlformats.org/drawingml/2006/main" noGrp="1"/>
          </p:cNvSpPr>
          <p:nvPr/>
        </p:nvSpPr>
        <p:spPr>
          <a:xfrm xmlns:a="http://schemas.openxmlformats.org/drawingml/2006/main">
            <a:off x="2152650" y="36576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namespace flattened</a:t>
            </a:r>
          </a:p>
        </p:txBody>
      </p:sp>
      <p:sp>
        <p:nvSpPr>
          <p:cNvPr id="23" name="">
            <a:extLst xmlns:a="http://schemas.openxmlformats.org/drawingml/2006/main">
              <a:ext uri="{FF2B5EF4-FFF2-40B4-BE49-F238E27FC236}">
                <a16:creationId xmlns:a16="http://schemas.microsoft.com/office/drawing/2014/main" id="{433BDC56-E753-4A80-BD75-05548C458616}"/>
              </a:ext>
            </a:extLst>
          </p:cNvPr>
          <p:cNvSpPr>
            <a:spLocks xmlns:a="http://schemas.openxmlformats.org/drawingml/2006/main" noGrp="1"/>
          </p:cNvSpPr>
          <p:nvPr/>
        </p:nvSpPr>
        <p:spPr>
          <a:xfrm xmlns:a="http://schemas.openxmlformats.org/drawingml/2006/main">
            <a:off x="3981450" y="36576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0">
                <a:solidFill>
                  <a:srgbClr val="65717A"/>
                </a:solidFill>
                <a:latin typeface="Aptos"/>
                <a:ea typeface="Aptos"/>
                <a:cs typeface="Aptos"/>
              </a:defRPr>
            </a:pPr>
            <a:r>
              <a:rPr sz="900" b="0">
                <a:solidFill>
                  <a:srgbClr val="65717A"/>
                </a:solidFill>
                <a:latin typeface="Aptos"/>
                <a:ea typeface="Aptos"/>
                <a:cs typeface="Aptos"/>
              </a:rPr>
              <a:t>package signal weakened</a:t>
            </a:r>
          </a:p>
        </p:txBody>
      </p:sp>
      <p:sp>
        <p:nvSpPr>
          <p:cNvPr id="24" name="">
            <a:extLst xmlns:a="http://schemas.openxmlformats.org/drawingml/2006/main">
              <a:ext uri="{FF2B5EF4-FFF2-40B4-BE49-F238E27FC236}">
                <a16:creationId xmlns:a16="http://schemas.microsoft.com/office/drawing/2014/main" id="{BF8685C2-BCEE-4692-A6DE-472CB7B31552}"/>
              </a:ext>
            </a:extLst>
          </p:cNvPr>
          <p:cNvSpPr>
            <a:spLocks xmlns:a="http://schemas.openxmlformats.org/drawingml/2006/main" noGrp="1"/>
          </p:cNvSpPr>
          <p:nvPr/>
        </p:nvSpPr>
        <p:spPr>
          <a:xfrm xmlns:a="http://schemas.openxmlformats.org/drawingml/2006/main">
            <a:off x="6134100" y="35242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25" name="">
            <a:extLst xmlns:a="http://schemas.openxmlformats.org/drawingml/2006/main">
              <a:ext uri="{FF2B5EF4-FFF2-40B4-BE49-F238E27FC236}">
                <a16:creationId xmlns:a16="http://schemas.microsoft.com/office/drawing/2014/main" id="{CB84F86D-F3BD-4239-A16D-2A36F2C56484}"/>
              </a:ext>
            </a:extLst>
          </p:cNvPr>
          <p:cNvSpPr>
            <a:spLocks xmlns:a="http://schemas.openxmlformats.org/drawingml/2006/main" noGrp="1"/>
          </p:cNvSpPr>
          <p:nvPr/>
        </p:nvSpPr>
        <p:spPr>
          <a:xfrm xmlns:a="http://schemas.openxmlformats.org/drawingml/2006/main">
            <a:off x="6305550" y="36957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65F7D"/>
                </a:solidFill>
                <a:latin typeface="Aptos"/>
                <a:ea typeface="Aptos"/>
                <a:cs typeface="Aptos"/>
              </a:defRPr>
            </a:pPr>
            <a:r>
              <a:rPr sz="1275" b="1">
                <a:solidFill>
                  <a:srgbClr val="365F7D"/>
                </a:solidFill>
                <a:latin typeface="Aptos"/>
                <a:ea typeface="Aptos"/>
                <a:cs typeface="Aptos"/>
              </a:rPr>
              <a:t>Multidex</a:t>
            </a:r>
          </a:p>
        </p:txBody>
      </p:sp>
      <p:sp>
        <p:nvSpPr>
          <p:cNvPr id="26" name="">
            <a:extLst xmlns:a="http://schemas.openxmlformats.org/drawingml/2006/main">
              <a:ext uri="{FF2B5EF4-FFF2-40B4-BE49-F238E27FC236}">
                <a16:creationId xmlns:a16="http://schemas.microsoft.com/office/drawing/2014/main" id="{A56278A4-FB7F-430C-B36F-20701AE29ADC}"/>
              </a:ext>
            </a:extLst>
          </p:cNvPr>
          <p:cNvSpPr>
            <a:spLocks xmlns:a="http://schemas.openxmlformats.org/drawingml/2006/main" noGrp="1"/>
          </p:cNvSpPr>
          <p:nvPr/>
        </p:nvSpPr>
        <p:spPr>
          <a:xfrm xmlns:a="http://schemas.openxmlformats.org/drawingml/2006/main">
            <a:off x="7600950" y="36576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several classes*.dex</a:t>
            </a:r>
          </a:p>
        </p:txBody>
      </p:sp>
      <p:sp>
        <p:nvSpPr>
          <p:cNvPr id="27" name="">
            <a:extLst xmlns:a="http://schemas.openxmlformats.org/drawingml/2006/main">
              <a:ext uri="{FF2B5EF4-FFF2-40B4-BE49-F238E27FC236}">
                <a16:creationId xmlns:a16="http://schemas.microsoft.com/office/drawing/2014/main" id="{C3C8D51C-2861-423C-9940-78416CFB249B}"/>
              </a:ext>
            </a:extLst>
          </p:cNvPr>
          <p:cNvSpPr>
            <a:spLocks xmlns:a="http://schemas.openxmlformats.org/drawingml/2006/main" noGrp="1"/>
          </p:cNvSpPr>
          <p:nvPr/>
        </p:nvSpPr>
        <p:spPr>
          <a:xfrm xmlns:a="http://schemas.openxmlformats.org/drawingml/2006/main">
            <a:off x="9429750" y="36576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0">
                <a:solidFill>
                  <a:srgbClr val="65717A"/>
                </a:solidFill>
                <a:latin typeface="Aptos"/>
                <a:ea typeface="Aptos"/>
                <a:cs typeface="Aptos"/>
              </a:defRPr>
            </a:pPr>
            <a:r>
              <a:rPr sz="900" b="0">
                <a:solidFill>
                  <a:srgbClr val="65717A"/>
                </a:solidFill>
                <a:latin typeface="Aptos"/>
                <a:ea typeface="Aptos"/>
                <a:cs typeface="Aptos"/>
              </a:rPr>
              <a:t>all DEX files analyzed</a:t>
            </a:r>
          </a:p>
        </p:txBody>
      </p:sp>
      <p:sp>
        <p:nvSpPr>
          <p:cNvPr id="28" name="">
            <a:extLst xmlns:a="http://schemas.openxmlformats.org/drawingml/2006/main">
              <a:ext uri="{FF2B5EF4-FFF2-40B4-BE49-F238E27FC236}">
                <a16:creationId xmlns:a16="http://schemas.microsoft.com/office/drawing/2014/main" id="{05EC80A0-C3DC-445E-9E78-05DB0A9AEE57}"/>
              </a:ext>
            </a:extLst>
          </p:cNvPr>
          <p:cNvSpPr>
            <a:spLocks xmlns:a="http://schemas.openxmlformats.org/drawingml/2006/main" noGrp="1"/>
          </p:cNvSpPr>
          <p:nvPr/>
        </p:nvSpPr>
        <p:spPr>
          <a:xfrm xmlns:a="http://schemas.openxmlformats.org/drawingml/2006/main">
            <a:off x="685800" y="45910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9" name="">
            <a:extLst xmlns:a="http://schemas.openxmlformats.org/drawingml/2006/main">
              <a:ext uri="{FF2B5EF4-FFF2-40B4-BE49-F238E27FC236}">
                <a16:creationId xmlns:a16="http://schemas.microsoft.com/office/drawing/2014/main" id="{4143E182-200C-493C-BD17-C2113EDAAF34}"/>
              </a:ext>
            </a:extLst>
          </p:cNvPr>
          <p:cNvSpPr>
            <a:spLocks xmlns:a="http://schemas.openxmlformats.org/drawingml/2006/main" noGrp="1"/>
          </p:cNvSpPr>
          <p:nvPr/>
        </p:nvSpPr>
        <p:spPr>
          <a:xfrm xmlns:a="http://schemas.openxmlformats.org/drawingml/2006/main">
            <a:off x="857250" y="47625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A65C55"/>
                </a:solidFill>
                <a:latin typeface="Aptos"/>
                <a:ea typeface="Aptos"/>
                <a:cs typeface="Aptos"/>
              </a:defRPr>
            </a:pPr>
            <a:r>
              <a:rPr sz="1275" b="1">
                <a:solidFill>
                  <a:srgbClr val="A65C55"/>
                </a:solidFill>
                <a:latin typeface="Aptos"/>
                <a:ea typeface="Aptos"/>
                <a:cs typeface="Aptos"/>
              </a:rPr>
              <a:t>Native-heavy</a:t>
            </a:r>
          </a:p>
        </p:txBody>
      </p:sp>
      <p:sp>
        <p:nvSpPr>
          <p:cNvPr id="30" name="">
            <a:extLst xmlns:a="http://schemas.openxmlformats.org/drawingml/2006/main">
              <a:ext uri="{FF2B5EF4-FFF2-40B4-BE49-F238E27FC236}">
                <a16:creationId xmlns:a16="http://schemas.microsoft.com/office/drawing/2014/main" id="{22AB333F-E2A2-462E-9A88-3D854D07B947}"/>
              </a:ext>
            </a:extLst>
          </p:cNvPr>
          <p:cNvSpPr>
            <a:spLocks xmlns:a="http://schemas.openxmlformats.org/drawingml/2006/main" noGrp="1"/>
          </p:cNvSpPr>
          <p:nvPr/>
        </p:nvSpPr>
        <p:spPr>
          <a:xfrm xmlns:a="http://schemas.openxmlformats.org/drawingml/2006/main">
            <a:off x="2152650" y="47244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many .so files</a:t>
            </a:r>
          </a:p>
        </p:txBody>
      </p:sp>
      <p:sp>
        <p:nvSpPr>
          <p:cNvPr id="31" name="">
            <a:extLst xmlns:a="http://schemas.openxmlformats.org/drawingml/2006/main">
              <a:ext uri="{FF2B5EF4-FFF2-40B4-BE49-F238E27FC236}">
                <a16:creationId xmlns:a16="http://schemas.microsoft.com/office/drawing/2014/main" id="{056B7F72-9D84-4F8C-BD64-554C8185F6D1}"/>
              </a:ext>
            </a:extLst>
          </p:cNvPr>
          <p:cNvSpPr>
            <a:spLocks xmlns:a="http://schemas.openxmlformats.org/drawingml/2006/main" noGrp="1"/>
          </p:cNvSpPr>
          <p:nvPr/>
        </p:nvSpPr>
        <p:spPr>
          <a:xfrm xmlns:a="http://schemas.openxmlformats.org/drawingml/2006/main">
            <a:off x="3981450" y="4724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0">
                <a:solidFill>
                  <a:srgbClr val="65717A"/>
                </a:solidFill>
                <a:latin typeface="Aptos"/>
                <a:ea typeface="Aptos"/>
                <a:cs typeface="Aptos"/>
              </a:defRPr>
            </a:pPr>
            <a:r>
              <a:rPr sz="900" b="0">
                <a:solidFill>
                  <a:srgbClr val="65717A"/>
                </a:solidFill>
                <a:latin typeface="Aptos"/>
                <a:ea typeface="Aptos"/>
                <a:cs typeface="Aptos"/>
              </a:rPr>
              <a:t>hash-only native components</a:t>
            </a:r>
          </a:p>
        </p:txBody>
      </p:sp>
      <p:sp>
        <p:nvSpPr>
          <p:cNvPr id="32" name="">
            <a:extLst xmlns:a="http://schemas.openxmlformats.org/drawingml/2006/main">
              <a:ext uri="{FF2B5EF4-FFF2-40B4-BE49-F238E27FC236}">
                <a16:creationId xmlns:a16="http://schemas.microsoft.com/office/drawing/2014/main" id="{AA642D51-579A-4627-87E8-14A29FAC8BE8}"/>
              </a:ext>
            </a:extLst>
          </p:cNvPr>
          <p:cNvSpPr>
            <a:spLocks xmlns:a="http://schemas.openxmlformats.org/drawingml/2006/main" noGrp="1"/>
          </p:cNvSpPr>
          <p:nvPr/>
        </p:nvSpPr>
        <p:spPr>
          <a:xfrm xmlns:a="http://schemas.openxmlformats.org/drawingml/2006/main">
            <a:off x="6134100" y="45910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33" name="">
            <a:extLst xmlns:a="http://schemas.openxmlformats.org/drawingml/2006/main">
              <a:ext uri="{FF2B5EF4-FFF2-40B4-BE49-F238E27FC236}">
                <a16:creationId xmlns:a16="http://schemas.microsoft.com/office/drawing/2014/main" id="{EA136833-89E0-4596-A61D-49E8650BB907}"/>
              </a:ext>
            </a:extLst>
          </p:cNvPr>
          <p:cNvSpPr>
            <a:spLocks xmlns:a="http://schemas.openxmlformats.org/drawingml/2006/main" noGrp="1"/>
          </p:cNvSpPr>
          <p:nvPr/>
        </p:nvSpPr>
        <p:spPr>
          <a:xfrm xmlns:a="http://schemas.openxmlformats.org/drawingml/2006/main">
            <a:off x="6305550" y="47625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A65C55"/>
                </a:solidFill>
                <a:latin typeface="Aptos"/>
                <a:ea typeface="Aptos"/>
                <a:cs typeface="Aptos"/>
              </a:defRPr>
            </a:pPr>
            <a:r>
              <a:rPr sz="1275" b="1">
                <a:solidFill>
                  <a:srgbClr val="A65C55"/>
                </a:solidFill>
                <a:latin typeface="Aptos"/>
                <a:ea typeface="Aptos"/>
                <a:cs typeface="Aptos"/>
              </a:rPr>
              <a:t>Hidden/protected</a:t>
            </a:r>
          </a:p>
        </p:txBody>
      </p:sp>
      <p:sp>
        <p:nvSpPr>
          <p:cNvPr id="34" name="">
            <a:extLst xmlns:a="http://schemas.openxmlformats.org/drawingml/2006/main">
              <a:ext uri="{FF2B5EF4-FFF2-40B4-BE49-F238E27FC236}">
                <a16:creationId xmlns:a16="http://schemas.microsoft.com/office/drawing/2014/main" id="{97D243A8-9E1D-4439-9847-8C535A203F5A}"/>
              </a:ext>
            </a:extLst>
          </p:cNvPr>
          <p:cNvSpPr>
            <a:spLocks xmlns:a="http://schemas.openxmlformats.org/drawingml/2006/main" noGrp="1"/>
          </p:cNvSpPr>
          <p:nvPr/>
        </p:nvSpPr>
        <p:spPr>
          <a:xfrm xmlns:a="http://schemas.openxmlformats.org/drawingml/2006/main">
            <a:off x="7600950" y="47244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nonstandard DEX or opaque payload</a:t>
            </a:r>
          </a:p>
        </p:txBody>
      </p:sp>
      <p:sp>
        <p:nvSpPr>
          <p:cNvPr id="35" name="">
            <a:extLst xmlns:a="http://schemas.openxmlformats.org/drawingml/2006/main">
              <a:ext uri="{FF2B5EF4-FFF2-40B4-BE49-F238E27FC236}">
                <a16:creationId xmlns:a16="http://schemas.microsoft.com/office/drawing/2014/main" id="{1D46F1B3-26CF-49CE-AA1D-7480903F6536}"/>
              </a:ext>
            </a:extLst>
          </p:cNvPr>
          <p:cNvSpPr>
            <a:spLocks xmlns:a="http://schemas.openxmlformats.org/drawingml/2006/main" noGrp="1"/>
          </p:cNvSpPr>
          <p:nvPr/>
        </p:nvSpPr>
        <p:spPr>
          <a:xfrm xmlns:a="http://schemas.openxmlformats.org/drawingml/2006/main">
            <a:off x="9429750" y="4724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0">
                <a:solidFill>
                  <a:srgbClr val="65717A"/>
                </a:solidFill>
                <a:latin typeface="Aptos"/>
                <a:ea typeface="Aptos"/>
                <a:cs typeface="Aptos"/>
              </a:defRPr>
            </a:pPr>
            <a:r>
              <a:rPr sz="900" b="0">
                <a:solidFill>
                  <a:srgbClr val="65717A"/>
                </a:solidFill>
                <a:latin typeface="Aptos"/>
                <a:ea typeface="Aptos"/>
                <a:cs typeface="Aptos"/>
              </a:rPr>
              <a:t>risk warning, no false Maven claim</a:t>
            </a:r>
          </a:p>
        </p:txBody>
      </p:sp>
      <p:sp>
        <p:nvSpPr>
          <p:cNvPr id="36" name="">
            <a:extLst xmlns:a="http://schemas.openxmlformats.org/drawingml/2006/main">
              <a:ext uri="{FF2B5EF4-FFF2-40B4-BE49-F238E27FC236}">
                <a16:creationId xmlns:a16="http://schemas.microsoft.com/office/drawing/2014/main" id="{7FA8745F-E6AB-4D69-98B3-FC9E7EFA1596}"/>
              </a:ext>
            </a:extLst>
          </p:cNvPr>
          <p:cNvSpPr>
            <a:spLocks xmlns:a="http://schemas.openxmlformats.org/drawingml/2006/main" noGrp="1"/>
          </p:cNvSpPr>
          <p:nvPr/>
        </p:nvSpPr>
        <p:spPr>
          <a:xfrm xmlns:a="http://schemas.openxmlformats.org/drawingml/2006/main">
            <a:off x="685800" y="58102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F05809F-AB32-4055-B76F-56716C6F4A37}"/>
              </a:ext>
            </a:extLst>
          </p:cNvPr>
          <p:cNvSpPr>
            <a:spLocks xmlns:a="http://schemas.openxmlformats.org/drawingml/2006/main" noGrp="1"/>
          </p:cNvSpPr>
          <p:nvPr/>
        </p:nvSpPr>
        <p:spPr>
          <a:xfrm xmlns:a="http://schemas.openxmlformats.org/drawingml/2006/main">
            <a:off x="819150" y="5876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Source: docs/evaluation/APK_TYPE_EVALUATION.md  |  data/results/evaluation/apk-type-evaluation.json</a:t>
            </a:r>
          </a:p>
        </p:txBody>
      </p:sp>
      <p:sp>
        <p:nvSpPr>
          <p:cNvPr id="38" name="">
            <a:extLst xmlns:a="http://schemas.openxmlformats.org/drawingml/2006/main">
              <a:ext uri="{FF2B5EF4-FFF2-40B4-BE49-F238E27FC236}">
                <a16:creationId xmlns:a16="http://schemas.microsoft.com/office/drawing/2014/main" id="{C001B724-01B2-41E1-B9DA-BE2909927860}"/>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786775934"/>
      </p:ext>
    </p:extLst>
  </p:cSld>
</p:sld>
</file>

<file path=ppt/slides/slide36.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F98A29-0CD3-4693-9FD8-AD5A216193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8351528-877A-4308-84A5-3BCAD748FBB4}"/>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45E88A8-6B65-4DC5-AC16-5F9FA4CE4D2E}"/>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5F73"/>
                </a:solidFill>
                <a:latin typeface="Aptos"/>
                <a:ea typeface="Aptos"/>
                <a:cs typeface="Aptos"/>
              </a:defRPr>
            </a:pPr>
            <a:r>
              <a:rPr sz="900" b="1">
                <a:solidFill>
                  <a:srgbClr val="655F73"/>
                </a:solidFill>
                <a:latin typeface="Aptos"/>
                <a:ea typeface="Aptos"/>
                <a:cs typeface="Aptos"/>
              </a:rPr>
              <a:t>BACKUP 5</a:t>
            </a:r>
          </a:p>
        </p:txBody>
      </p:sp>
      <p:sp>
        <p:nvSpPr>
          <p:cNvPr id="4" name="">
            <a:extLst xmlns:a="http://schemas.openxmlformats.org/drawingml/2006/main">
              <a:ext uri="{FF2B5EF4-FFF2-40B4-BE49-F238E27FC236}">
                <a16:creationId xmlns:a16="http://schemas.microsoft.com/office/drawing/2014/main" id="{D2D18A03-68E8-4AA5-AAC5-9D92D83C0992}"/>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Source-gap taxonomy separates explanation from actionable matcher work</a:t>
            </a:r>
          </a:p>
        </p:txBody>
      </p:sp>
      <p:sp>
        <p:nvSpPr>
          <p:cNvPr id="5" name="">
            <a:extLst xmlns:a="http://schemas.openxmlformats.org/drawingml/2006/main">
              <a:ext uri="{FF2B5EF4-FFF2-40B4-BE49-F238E27FC236}">
                <a16:creationId xmlns:a16="http://schemas.microsoft.com/office/drawing/2014/main" id="{94C4B1D3-08A5-4697-9CD5-07B87440A6F4}"/>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8290A6"/>
                </a:solidFill>
                <a:latin typeface="Aptos"/>
                <a:ea typeface="Aptos"/>
                <a:cs typeface="Aptos"/>
              </a:defRPr>
            </a:pPr>
            <a:r>
              <a:rPr sz="900" b="1">
                <a:solidFill>
                  <a:srgbClr val="8290A6"/>
                </a:solidFill>
                <a:latin typeface="Aptos"/>
                <a:ea typeface="Aptos"/>
                <a:cs typeface="Aptos"/>
              </a:rPr>
              <a:t>36</a:t>
            </a:r>
          </a:p>
        </p:txBody>
      </p:sp>
      <p:sp>
        <p:nvSpPr>
          <p:cNvPr id="6" name="">
            <a:extLst xmlns:a="http://schemas.openxmlformats.org/drawingml/2006/main">
              <a:ext uri="{FF2B5EF4-FFF2-40B4-BE49-F238E27FC236}">
                <a16:creationId xmlns:a16="http://schemas.microsoft.com/office/drawing/2014/main" id="{2AA16226-43BE-45EC-9FB0-259480AE5026}"/>
              </a:ext>
            </a:extLst>
          </p:cNvPr>
          <p:cNvSpPr>
            <a:spLocks xmlns:a="http://schemas.openxmlformats.org/drawingml/2006/main" noGrp="1"/>
          </p:cNvSpPr>
          <p:nvPr/>
        </p:nvSpPr>
        <p:spPr>
          <a:xfrm xmlns:a="http://schemas.openxmlformats.org/drawingml/2006/main">
            <a:off x="685800" y="133350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40D6E2D0-69C4-4756-9583-76860E276FC8}"/>
              </a:ext>
            </a:extLst>
          </p:cNvPr>
          <p:cNvSpPr>
            <a:spLocks xmlns:a="http://schemas.openxmlformats.org/drawingml/2006/main" noGrp="1"/>
          </p:cNvSpPr>
          <p:nvPr/>
        </p:nvSpPr>
        <p:spPr>
          <a:xfrm xmlns:a="http://schemas.openxmlformats.org/drawingml/2006/main">
            <a:off x="876300" y="14382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F7C61"/>
                </a:solidFill>
                <a:latin typeface="Aptos"/>
                <a:ea typeface="Aptos"/>
                <a:cs typeface="Aptos"/>
              </a:defRPr>
            </a:pPr>
            <a:r>
              <a:rPr sz="900" b="1">
                <a:solidFill>
                  <a:srgbClr val="6F7C61"/>
                </a:solidFill>
                <a:latin typeface="Aptos"/>
                <a:ea typeface="Aptos"/>
                <a:cs typeface="Aptos"/>
              </a:rPr>
              <a:t>Exact in DB and emitted</a:t>
            </a:r>
          </a:p>
        </p:txBody>
      </p:sp>
      <p:sp>
        <p:nvSpPr>
          <p:cNvPr id="8" name="">
            <a:extLst xmlns:a="http://schemas.openxmlformats.org/drawingml/2006/main">
              <a:ext uri="{FF2B5EF4-FFF2-40B4-BE49-F238E27FC236}">
                <a16:creationId xmlns:a16="http://schemas.microsoft.com/office/drawing/2014/main" id="{229C2A95-8258-401E-AC97-B202B064ACE0}"/>
              </a:ext>
            </a:extLst>
          </p:cNvPr>
          <p:cNvSpPr>
            <a:spLocks xmlns:a="http://schemas.openxmlformats.org/drawingml/2006/main" noGrp="1"/>
          </p:cNvSpPr>
          <p:nvPr/>
        </p:nvSpPr>
        <p:spPr>
          <a:xfrm xmlns:a="http://schemas.openxmlformats.org/drawingml/2006/main">
            <a:off x="4171950" y="14097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75" b="1">
                <a:solidFill>
                  <a:srgbClr val="6F7C61"/>
                </a:solidFill>
                <a:latin typeface="Aptos"/>
                <a:ea typeface="Aptos"/>
                <a:cs typeface="Aptos"/>
              </a:defRPr>
            </a:pPr>
            <a:r>
              <a:rPr sz="1275" b="1">
                <a:solidFill>
                  <a:srgbClr val="6F7C61"/>
                </a:solidFill>
                <a:latin typeface="Aptos"/>
                <a:ea typeface="Aptos"/>
                <a:cs typeface="Aptos"/>
              </a:rPr>
              <a:t>898</a:t>
            </a:r>
          </a:p>
        </p:txBody>
      </p:sp>
      <p:sp>
        <p:nvSpPr>
          <p:cNvPr id="9" name="">
            <a:extLst xmlns:a="http://schemas.openxmlformats.org/drawingml/2006/main">
              <a:ext uri="{FF2B5EF4-FFF2-40B4-BE49-F238E27FC236}">
                <a16:creationId xmlns:a16="http://schemas.microsoft.com/office/drawing/2014/main" id="{B662B387-5752-42B0-B1F4-9DB63F951E77}"/>
              </a:ext>
            </a:extLst>
          </p:cNvPr>
          <p:cNvSpPr>
            <a:spLocks xmlns:a="http://schemas.openxmlformats.org/drawingml/2006/main" noGrp="1"/>
          </p:cNvSpPr>
          <p:nvPr/>
        </p:nvSpPr>
        <p:spPr>
          <a:xfrm xmlns:a="http://schemas.openxmlformats.org/drawingml/2006/main">
            <a:off x="5600700" y="142875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CC7D5"/>
                </a:solidFill>
                <a:latin typeface="Aptos"/>
                <a:ea typeface="Aptos"/>
                <a:cs typeface="Aptos"/>
              </a:defRPr>
            </a:pPr>
            <a:r>
              <a:rPr sz="900" b="0">
                <a:solidFill>
                  <a:srgbClr val="BCC7D5"/>
                </a:solidFill>
                <a:latin typeface="Aptos"/>
                <a:ea typeface="Aptos"/>
                <a:cs typeface="Aptos"/>
              </a:rPr>
              <a:t>recognized output subset</a:t>
            </a:r>
          </a:p>
        </p:txBody>
      </p:sp>
      <p:sp>
        <p:nvSpPr>
          <p:cNvPr id="10" name="">
            <a:extLst xmlns:a="http://schemas.openxmlformats.org/drawingml/2006/main">
              <a:ext uri="{FF2B5EF4-FFF2-40B4-BE49-F238E27FC236}">
                <a16:creationId xmlns:a16="http://schemas.microsoft.com/office/drawing/2014/main" id="{79C22DE6-DE96-41FD-91B5-56A021260EE6}"/>
              </a:ext>
            </a:extLst>
          </p:cNvPr>
          <p:cNvSpPr>
            <a:spLocks xmlns:a="http://schemas.openxmlformats.org/drawingml/2006/main" noGrp="1"/>
          </p:cNvSpPr>
          <p:nvPr/>
        </p:nvSpPr>
        <p:spPr>
          <a:xfrm xmlns:a="http://schemas.openxmlformats.org/drawingml/2006/main">
            <a:off x="685800" y="188595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1" name="">
            <a:extLst xmlns:a="http://schemas.openxmlformats.org/drawingml/2006/main">
              <a:ext uri="{FF2B5EF4-FFF2-40B4-BE49-F238E27FC236}">
                <a16:creationId xmlns:a16="http://schemas.microsoft.com/office/drawing/2014/main" id="{9395B367-6950-4571-A004-C5A7F595D696}"/>
              </a:ext>
            </a:extLst>
          </p:cNvPr>
          <p:cNvSpPr>
            <a:spLocks xmlns:a="http://schemas.openxmlformats.org/drawingml/2006/main" noGrp="1"/>
          </p:cNvSpPr>
          <p:nvPr/>
        </p:nvSpPr>
        <p:spPr>
          <a:xfrm xmlns:a="http://schemas.openxmlformats.org/drawingml/2006/main">
            <a:off x="876300" y="199072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4F7D76"/>
                </a:solidFill>
                <a:latin typeface="Aptos"/>
                <a:ea typeface="Aptos"/>
                <a:cs typeface="Aptos"/>
              </a:defRPr>
            </a:pPr>
            <a:r>
              <a:rPr sz="900" b="1">
                <a:solidFill>
                  <a:srgbClr val="4F7D76"/>
                </a:solidFill>
                <a:latin typeface="Aptos"/>
                <a:ea typeface="Aptos"/>
                <a:cs typeface="Aptos"/>
              </a:rPr>
              <a:t>Exact version in DB</a:t>
            </a:r>
          </a:p>
        </p:txBody>
      </p:sp>
      <p:sp>
        <p:nvSpPr>
          <p:cNvPr id="12" name="">
            <a:extLst xmlns:a="http://schemas.openxmlformats.org/drawingml/2006/main">
              <a:ext uri="{FF2B5EF4-FFF2-40B4-BE49-F238E27FC236}">
                <a16:creationId xmlns:a16="http://schemas.microsoft.com/office/drawing/2014/main" id="{43E25901-DC32-40BB-8DB7-7437554FC7A1}"/>
              </a:ext>
            </a:extLst>
          </p:cNvPr>
          <p:cNvSpPr>
            <a:spLocks xmlns:a="http://schemas.openxmlformats.org/drawingml/2006/main" noGrp="1"/>
          </p:cNvSpPr>
          <p:nvPr/>
        </p:nvSpPr>
        <p:spPr>
          <a:xfrm xmlns:a="http://schemas.openxmlformats.org/drawingml/2006/main">
            <a:off x="4171950" y="1962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75" b="1">
                <a:solidFill>
                  <a:srgbClr val="4F7D76"/>
                </a:solidFill>
                <a:latin typeface="Aptos"/>
                <a:ea typeface="Aptos"/>
                <a:cs typeface="Aptos"/>
              </a:defRPr>
            </a:pPr>
            <a:r>
              <a:rPr sz="1275" b="1">
                <a:solidFill>
                  <a:srgbClr val="4F7D76"/>
                </a:solidFill>
                <a:latin typeface="Aptos"/>
                <a:ea typeface="Aptos"/>
                <a:cs typeface="Aptos"/>
              </a:rPr>
              <a:t>5,874</a:t>
            </a:r>
          </a:p>
        </p:txBody>
      </p:sp>
      <p:sp>
        <p:nvSpPr>
          <p:cNvPr id="13" name="">
            <a:extLst xmlns:a="http://schemas.openxmlformats.org/drawingml/2006/main">
              <a:ext uri="{FF2B5EF4-FFF2-40B4-BE49-F238E27FC236}">
                <a16:creationId xmlns:a16="http://schemas.microsoft.com/office/drawing/2014/main" id="{19D02424-4072-42B5-ABE0-73243078C009}"/>
              </a:ext>
            </a:extLst>
          </p:cNvPr>
          <p:cNvSpPr>
            <a:spLocks xmlns:a="http://schemas.openxmlformats.org/drawingml/2006/main" noGrp="1"/>
          </p:cNvSpPr>
          <p:nvPr/>
        </p:nvSpPr>
        <p:spPr>
          <a:xfrm xmlns:a="http://schemas.openxmlformats.org/drawingml/2006/main">
            <a:off x="5600700" y="198120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CC7D5"/>
                </a:solidFill>
                <a:latin typeface="Aptos"/>
                <a:ea typeface="Aptos"/>
                <a:cs typeface="Aptos"/>
              </a:defRPr>
            </a:pPr>
            <a:r>
              <a:rPr sz="900" b="0">
                <a:solidFill>
                  <a:srgbClr val="BCC7D5"/>
                </a:solidFill>
                <a:latin typeface="Aptos"/>
                <a:ea typeface="Aptos"/>
                <a:cs typeface="Aptos"/>
              </a:rPr>
              <a:t>reference exists; not all rows emit</a:t>
            </a:r>
          </a:p>
        </p:txBody>
      </p:sp>
      <p:sp>
        <p:nvSpPr>
          <p:cNvPr id="14" name="">
            <a:extLst xmlns:a="http://schemas.openxmlformats.org/drawingml/2006/main">
              <a:ext uri="{FF2B5EF4-FFF2-40B4-BE49-F238E27FC236}">
                <a16:creationId xmlns:a16="http://schemas.microsoft.com/office/drawing/2014/main" id="{88A35E0A-8677-428B-A9EE-731860CBEA68}"/>
              </a:ext>
            </a:extLst>
          </p:cNvPr>
          <p:cNvSpPr>
            <a:spLocks xmlns:a="http://schemas.openxmlformats.org/drawingml/2006/main" noGrp="1"/>
          </p:cNvSpPr>
          <p:nvPr/>
        </p:nvSpPr>
        <p:spPr>
          <a:xfrm xmlns:a="http://schemas.openxmlformats.org/drawingml/2006/main">
            <a:off x="685800" y="243840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5" name="">
            <a:extLst xmlns:a="http://schemas.openxmlformats.org/drawingml/2006/main">
              <a:ext uri="{FF2B5EF4-FFF2-40B4-BE49-F238E27FC236}">
                <a16:creationId xmlns:a16="http://schemas.microsoft.com/office/drawing/2014/main" id="{D5B36A05-377C-40F7-AA79-A9C00B14116B}"/>
              </a:ext>
            </a:extLst>
          </p:cNvPr>
          <p:cNvSpPr>
            <a:spLocks xmlns:a="http://schemas.openxmlformats.org/drawingml/2006/main" noGrp="1"/>
          </p:cNvSpPr>
          <p:nvPr/>
        </p:nvSpPr>
        <p:spPr>
          <a:xfrm xmlns:a="http://schemas.openxmlformats.org/drawingml/2006/main">
            <a:off x="876300" y="25431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365F7D"/>
                </a:solidFill>
                <a:latin typeface="Aptos"/>
                <a:ea typeface="Aptos"/>
                <a:cs typeface="Aptos"/>
              </a:defRPr>
            </a:pPr>
            <a:r>
              <a:rPr sz="900" b="1">
                <a:solidFill>
                  <a:srgbClr val="365F7D"/>
                </a:solidFill>
                <a:latin typeface="Aptos"/>
                <a:ea typeface="Aptos"/>
                <a:cs typeface="Aptos"/>
              </a:rPr>
              <a:t>Artifact-family alias</a:t>
            </a:r>
          </a:p>
        </p:txBody>
      </p:sp>
      <p:sp>
        <p:nvSpPr>
          <p:cNvPr id="16" name="">
            <a:extLst xmlns:a="http://schemas.openxmlformats.org/drawingml/2006/main">
              <a:ext uri="{FF2B5EF4-FFF2-40B4-BE49-F238E27FC236}">
                <a16:creationId xmlns:a16="http://schemas.microsoft.com/office/drawing/2014/main" id="{FBA57A47-BCBF-4D2E-9B4D-26B1A81BFAE4}"/>
              </a:ext>
            </a:extLst>
          </p:cNvPr>
          <p:cNvSpPr>
            <a:spLocks xmlns:a="http://schemas.openxmlformats.org/drawingml/2006/main" noGrp="1"/>
          </p:cNvSpPr>
          <p:nvPr/>
        </p:nvSpPr>
        <p:spPr>
          <a:xfrm xmlns:a="http://schemas.openxmlformats.org/drawingml/2006/main">
            <a:off x="4171950" y="25146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75" b="1">
                <a:solidFill>
                  <a:srgbClr val="365F7D"/>
                </a:solidFill>
                <a:latin typeface="Aptos"/>
                <a:ea typeface="Aptos"/>
                <a:cs typeface="Aptos"/>
              </a:defRPr>
            </a:pPr>
            <a:r>
              <a:rPr sz="1275" b="1">
                <a:solidFill>
                  <a:srgbClr val="365F7D"/>
                </a:solidFill>
                <a:latin typeface="Aptos"/>
                <a:ea typeface="Aptos"/>
                <a:cs typeface="Aptos"/>
              </a:rPr>
              <a:t>1,504</a:t>
            </a:r>
          </a:p>
        </p:txBody>
      </p:sp>
      <p:sp>
        <p:nvSpPr>
          <p:cNvPr id="17" name="">
            <a:extLst xmlns:a="http://schemas.openxmlformats.org/drawingml/2006/main">
              <a:ext uri="{FF2B5EF4-FFF2-40B4-BE49-F238E27FC236}">
                <a16:creationId xmlns:a16="http://schemas.microsoft.com/office/drawing/2014/main" id="{53E22F8C-6D9F-4D64-801C-9E7219DF6553}"/>
              </a:ext>
            </a:extLst>
          </p:cNvPr>
          <p:cNvSpPr>
            <a:spLocks xmlns:a="http://schemas.openxmlformats.org/drawingml/2006/main" noGrp="1"/>
          </p:cNvSpPr>
          <p:nvPr/>
        </p:nvSpPr>
        <p:spPr>
          <a:xfrm xmlns:a="http://schemas.openxmlformats.org/drawingml/2006/main">
            <a:off x="5600700" y="253365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CC7D5"/>
                </a:solidFill>
                <a:latin typeface="Aptos"/>
                <a:ea typeface="Aptos"/>
                <a:cs typeface="Aptos"/>
              </a:defRPr>
            </a:pPr>
            <a:r>
              <a:rPr sz="900" b="0">
                <a:solidFill>
                  <a:srgbClr val="BCC7D5"/>
                </a:solidFill>
                <a:latin typeface="Aptos"/>
                <a:ea typeface="Aptos"/>
                <a:cs typeface="Aptos"/>
              </a:rPr>
              <a:t>public/target coordinate overlap</a:t>
            </a:r>
          </a:p>
        </p:txBody>
      </p:sp>
      <p:sp>
        <p:nvSpPr>
          <p:cNvPr id="18" name="">
            <a:extLst xmlns:a="http://schemas.openxmlformats.org/drawingml/2006/main">
              <a:ext uri="{FF2B5EF4-FFF2-40B4-BE49-F238E27FC236}">
                <a16:creationId xmlns:a16="http://schemas.microsoft.com/office/drawing/2014/main" id="{BA314D69-E3EE-4704-ACA0-9E5D44FDD2CF}"/>
              </a:ext>
            </a:extLst>
          </p:cNvPr>
          <p:cNvSpPr>
            <a:spLocks xmlns:a="http://schemas.openxmlformats.org/drawingml/2006/main" noGrp="1"/>
          </p:cNvSpPr>
          <p:nvPr/>
        </p:nvSpPr>
        <p:spPr>
          <a:xfrm xmlns:a="http://schemas.openxmlformats.org/drawingml/2006/main">
            <a:off x="685800" y="299085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138FDE5B-0F47-4CBD-9C7C-CFB6BC8A01E9}"/>
              </a:ext>
            </a:extLst>
          </p:cNvPr>
          <p:cNvSpPr>
            <a:spLocks xmlns:a="http://schemas.openxmlformats.org/drawingml/2006/main" noGrp="1"/>
          </p:cNvSpPr>
          <p:nvPr/>
        </p:nvSpPr>
        <p:spPr>
          <a:xfrm xmlns:a="http://schemas.openxmlformats.org/drawingml/2006/main">
            <a:off x="876300" y="309562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717A"/>
                </a:solidFill>
                <a:latin typeface="Aptos"/>
                <a:ea typeface="Aptos"/>
                <a:cs typeface="Aptos"/>
              </a:defRPr>
            </a:pPr>
            <a:r>
              <a:rPr sz="900" b="1">
                <a:solidFill>
                  <a:srgbClr val="65717A"/>
                </a:solidFill>
                <a:latin typeface="Aptos"/>
                <a:ea typeface="Aptos"/>
                <a:cs typeface="Aptos"/>
              </a:rPr>
              <a:t>Metadata-only</a:t>
            </a:r>
          </a:p>
        </p:txBody>
      </p:sp>
      <p:sp>
        <p:nvSpPr>
          <p:cNvPr id="20" name="">
            <a:extLst xmlns:a="http://schemas.openxmlformats.org/drawingml/2006/main">
              <a:ext uri="{FF2B5EF4-FFF2-40B4-BE49-F238E27FC236}">
                <a16:creationId xmlns:a16="http://schemas.microsoft.com/office/drawing/2014/main" id="{FED6C084-D451-4F04-9E89-3E55182BBC5E}"/>
              </a:ext>
            </a:extLst>
          </p:cNvPr>
          <p:cNvSpPr>
            <a:spLocks xmlns:a="http://schemas.openxmlformats.org/drawingml/2006/main" noGrp="1"/>
          </p:cNvSpPr>
          <p:nvPr/>
        </p:nvSpPr>
        <p:spPr>
          <a:xfrm xmlns:a="http://schemas.openxmlformats.org/drawingml/2006/main">
            <a:off x="4171950" y="30670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75" b="1">
                <a:solidFill>
                  <a:srgbClr val="65717A"/>
                </a:solidFill>
                <a:latin typeface="Aptos"/>
                <a:ea typeface="Aptos"/>
                <a:cs typeface="Aptos"/>
              </a:defRPr>
            </a:pPr>
            <a:r>
              <a:rPr sz="1275" b="1">
                <a:solidFill>
                  <a:srgbClr val="65717A"/>
                </a:solidFill>
                <a:latin typeface="Aptos"/>
                <a:ea typeface="Aptos"/>
                <a:cs typeface="Aptos"/>
              </a:rPr>
              <a:t>734</a:t>
            </a:r>
          </a:p>
        </p:txBody>
      </p:sp>
      <p:sp>
        <p:nvSpPr>
          <p:cNvPr id="21" name="">
            <a:extLst xmlns:a="http://schemas.openxmlformats.org/drawingml/2006/main">
              <a:ext uri="{FF2B5EF4-FFF2-40B4-BE49-F238E27FC236}">
                <a16:creationId xmlns:a16="http://schemas.microsoft.com/office/drawing/2014/main" id="{4C73FE83-0023-4F41-9333-37503869D392}"/>
              </a:ext>
            </a:extLst>
          </p:cNvPr>
          <p:cNvSpPr>
            <a:spLocks xmlns:a="http://schemas.openxmlformats.org/drawingml/2006/main" noGrp="1"/>
          </p:cNvSpPr>
          <p:nvPr/>
        </p:nvSpPr>
        <p:spPr>
          <a:xfrm xmlns:a="http://schemas.openxmlformats.org/drawingml/2006/main">
            <a:off x="5600700" y="308610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CC7D5"/>
                </a:solidFill>
                <a:latin typeface="Aptos"/>
                <a:ea typeface="Aptos"/>
                <a:cs typeface="Aptos"/>
              </a:defRPr>
            </a:pPr>
            <a:r>
              <a:rPr sz="900" b="0">
                <a:solidFill>
                  <a:srgbClr val="BCC7D5"/>
                </a:solidFill>
                <a:latin typeface="Aptos"/>
                <a:ea typeface="Aptos"/>
                <a:cs typeface="Aptos"/>
              </a:rPr>
              <a:t>BOM or source metadata without bytecode</a:t>
            </a:r>
          </a:p>
        </p:txBody>
      </p:sp>
      <p:sp>
        <p:nvSpPr>
          <p:cNvPr id="22" name="">
            <a:extLst xmlns:a="http://schemas.openxmlformats.org/drawingml/2006/main">
              <a:ext uri="{FF2B5EF4-FFF2-40B4-BE49-F238E27FC236}">
                <a16:creationId xmlns:a16="http://schemas.microsoft.com/office/drawing/2014/main" id="{79272083-E13F-489E-8A32-EE3B04B9329F}"/>
              </a:ext>
            </a:extLst>
          </p:cNvPr>
          <p:cNvSpPr>
            <a:spLocks xmlns:a="http://schemas.openxmlformats.org/drawingml/2006/main" noGrp="1"/>
          </p:cNvSpPr>
          <p:nvPr/>
        </p:nvSpPr>
        <p:spPr>
          <a:xfrm xmlns:a="http://schemas.openxmlformats.org/drawingml/2006/main">
            <a:off x="685800" y="354330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3" name="">
            <a:extLst xmlns:a="http://schemas.openxmlformats.org/drawingml/2006/main">
              <a:ext uri="{FF2B5EF4-FFF2-40B4-BE49-F238E27FC236}">
                <a16:creationId xmlns:a16="http://schemas.microsoft.com/office/drawing/2014/main" id="{5FFC78FD-B6C3-4534-A5CF-5B4FFF616B0B}"/>
              </a:ext>
            </a:extLst>
          </p:cNvPr>
          <p:cNvSpPr>
            <a:spLocks xmlns:a="http://schemas.openxmlformats.org/drawingml/2006/main" noGrp="1"/>
          </p:cNvSpPr>
          <p:nvPr/>
        </p:nvSpPr>
        <p:spPr>
          <a:xfrm xmlns:a="http://schemas.openxmlformats.org/drawingml/2006/main">
            <a:off x="876300" y="36480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5F73"/>
                </a:solidFill>
                <a:latin typeface="Aptos"/>
                <a:ea typeface="Aptos"/>
                <a:cs typeface="Aptos"/>
              </a:defRPr>
            </a:pPr>
            <a:r>
              <a:rPr sz="900" b="1">
                <a:solidFill>
                  <a:srgbClr val="655F73"/>
                </a:solidFill>
                <a:latin typeface="Aptos"/>
                <a:ea typeface="Aptos"/>
                <a:cs typeface="Aptos"/>
              </a:rPr>
              <a:t>Source boundary</a:t>
            </a:r>
          </a:p>
        </p:txBody>
      </p:sp>
      <p:sp>
        <p:nvSpPr>
          <p:cNvPr id="24" name="">
            <a:extLst xmlns:a="http://schemas.openxmlformats.org/drawingml/2006/main">
              <a:ext uri="{FF2B5EF4-FFF2-40B4-BE49-F238E27FC236}">
                <a16:creationId xmlns:a16="http://schemas.microsoft.com/office/drawing/2014/main" id="{AE94A367-5E6F-406E-BBA1-D82DDDE5ADB1}"/>
              </a:ext>
            </a:extLst>
          </p:cNvPr>
          <p:cNvSpPr>
            <a:spLocks xmlns:a="http://schemas.openxmlformats.org/drawingml/2006/main" noGrp="1"/>
          </p:cNvSpPr>
          <p:nvPr/>
        </p:nvSpPr>
        <p:spPr>
          <a:xfrm xmlns:a="http://schemas.openxmlformats.org/drawingml/2006/main">
            <a:off x="4171950" y="36195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75" b="1">
                <a:solidFill>
                  <a:srgbClr val="655F73"/>
                </a:solidFill>
                <a:latin typeface="Aptos"/>
                <a:ea typeface="Aptos"/>
                <a:cs typeface="Aptos"/>
              </a:defRPr>
            </a:pPr>
            <a:r>
              <a:rPr sz="1275" b="1">
                <a:solidFill>
                  <a:srgbClr val="655F73"/>
                </a:solidFill>
                <a:latin typeface="Aptos"/>
                <a:ea typeface="Aptos"/>
                <a:cs typeface="Aptos"/>
              </a:rPr>
              <a:t>277</a:t>
            </a:r>
          </a:p>
        </p:txBody>
      </p:sp>
      <p:sp>
        <p:nvSpPr>
          <p:cNvPr id="25" name="">
            <a:extLst xmlns:a="http://schemas.openxmlformats.org/drawingml/2006/main">
              <a:ext uri="{FF2B5EF4-FFF2-40B4-BE49-F238E27FC236}">
                <a16:creationId xmlns:a16="http://schemas.microsoft.com/office/drawing/2014/main" id="{4A073B62-948B-431E-B203-87E23C859894}"/>
              </a:ext>
            </a:extLst>
          </p:cNvPr>
          <p:cNvSpPr>
            <a:spLocks xmlns:a="http://schemas.openxmlformats.org/drawingml/2006/main" noGrp="1"/>
          </p:cNvSpPr>
          <p:nvPr/>
        </p:nvSpPr>
        <p:spPr>
          <a:xfrm xmlns:a="http://schemas.openxmlformats.org/drawingml/2006/main">
            <a:off x="5600700" y="363855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CC7D5"/>
                </a:solidFill>
                <a:latin typeface="Aptos"/>
                <a:ea typeface="Aptos"/>
                <a:cs typeface="Aptos"/>
              </a:defRPr>
            </a:pPr>
            <a:r>
              <a:rPr sz="900" b="0">
                <a:solidFill>
                  <a:srgbClr val="BCC7D5"/>
                </a:solidFill>
                <a:latin typeface="Aptos"/>
                <a:ea typeface="Aptos"/>
                <a:cs typeface="Aptos"/>
              </a:rPr>
              <a:t>native/framework/build-only boundary</a:t>
            </a:r>
          </a:p>
        </p:txBody>
      </p:sp>
      <p:sp>
        <p:nvSpPr>
          <p:cNvPr id="26" name="">
            <a:extLst xmlns:a="http://schemas.openxmlformats.org/drawingml/2006/main">
              <a:ext uri="{FF2B5EF4-FFF2-40B4-BE49-F238E27FC236}">
                <a16:creationId xmlns:a16="http://schemas.microsoft.com/office/drawing/2014/main" id="{E2A0988A-0857-4D22-8B90-79746422661F}"/>
              </a:ext>
            </a:extLst>
          </p:cNvPr>
          <p:cNvSpPr>
            <a:spLocks xmlns:a="http://schemas.openxmlformats.org/drawingml/2006/main" noGrp="1"/>
          </p:cNvSpPr>
          <p:nvPr/>
        </p:nvSpPr>
        <p:spPr>
          <a:xfrm xmlns:a="http://schemas.openxmlformats.org/drawingml/2006/main">
            <a:off x="685800" y="409575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7" name="">
            <a:extLst xmlns:a="http://schemas.openxmlformats.org/drawingml/2006/main">
              <a:ext uri="{FF2B5EF4-FFF2-40B4-BE49-F238E27FC236}">
                <a16:creationId xmlns:a16="http://schemas.microsoft.com/office/drawing/2014/main" id="{8EAE46B5-6A49-4A5D-9D7E-011BDCD9063F}"/>
              </a:ext>
            </a:extLst>
          </p:cNvPr>
          <p:cNvSpPr>
            <a:spLocks xmlns:a="http://schemas.openxmlformats.org/drawingml/2006/main" noGrp="1"/>
          </p:cNvSpPr>
          <p:nvPr/>
        </p:nvSpPr>
        <p:spPr>
          <a:xfrm xmlns:a="http://schemas.openxmlformats.org/drawingml/2006/main">
            <a:off x="876300" y="420052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8D754D"/>
                </a:solidFill>
                <a:latin typeface="Aptos"/>
                <a:ea typeface="Aptos"/>
                <a:cs typeface="Aptos"/>
              </a:defRPr>
            </a:pPr>
            <a:r>
              <a:rPr sz="900" b="1">
                <a:solidFill>
                  <a:srgbClr val="8D754D"/>
                </a:solidFill>
                <a:latin typeface="Aptos"/>
                <a:ea typeface="Aptos"/>
                <a:cs typeface="Aptos"/>
              </a:rPr>
              <a:t>Matcher-recall gap</a:t>
            </a:r>
          </a:p>
        </p:txBody>
      </p:sp>
      <p:sp>
        <p:nvSpPr>
          <p:cNvPr id="28" name="">
            <a:extLst xmlns:a="http://schemas.openxmlformats.org/drawingml/2006/main">
              <a:ext uri="{FF2B5EF4-FFF2-40B4-BE49-F238E27FC236}">
                <a16:creationId xmlns:a16="http://schemas.microsoft.com/office/drawing/2014/main" id="{EDE27245-8488-49AD-92BB-AC791A65EF35}"/>
              </a:ext>
            </a:extLst>
          </p:cNvPr>
          <p:cNvSpPr>
            <a:spLocks xmlns:a="http://schemas.openxmlformats.org/drawingml/2006/main" noGrp="1"/>
          </p:cNvSpPr>
          <p:nvPr/>
        </p:nvSpPr>
        <p:spPr>
          <a:xfrm xmlns:a="http://schemas.openxmlformats.org/drawingml/2006/main">
            <a:off x="4171950" y="41719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75" b="1">
                <a:solidFill>
                  <a:srgbClr val="8D754D"/>
                </a:solidFill>
                <a:latin typeface="Aptos"/>
                <a:ea typeface="Aptos"/>
                <a:cs typeface="Aptos"/>
              </a:defRPr>
            </a:pPr>
            <a:r>
              <a:rPr sz="1275" b="1">
                <a:solidFill>
                  <a:srgbClr val="8D754D"/>
                </a:solidFill>
                <a:latin typeface="Aptos"/>
                <a:ea typeface="Aptos"/>
                <a:cs typeface="Aptos"/>
              </a:rPr>
              <a:t>2,281</a:t>
            </a:r>
          </a:p>
        </p:txBody>
      </p:sp>
      <p:sp>
        <p:nvSpPr>
          <p:cNvPr id="29" name="">
            <a:extLst xmlns:a="http://schemas.openxmlformats.org/drawingml/2006/main">
              <a:ext uri="{FF2B5EF4-FFF2-40B4-BE49-F238E27FC236}">
                <a16:creationId xmlns:a16="http://schemas.microsoft.com/office/drawing/2014/main" id="{EBEAD532-3BD8-44C4-B1DB-B1B2F79CA7BB}"/>
              </a:ext>
            </a:extLst>
          </p:cNvPr>
          <p:cNvSpPr>
            <a:spLocks xmlns:a="http://schemas.openxmlformats.org/drawingml/2006/main" noGrp="1"/>
          </p:cNvSpPr>
          <p:nvPr/>
        </p:nvSpPr>
        <p:spPr>
          <a:xfrm xmlns:a="http://schemas.openxmlformats.org/drawingml/2006/main">
            <a:off x="5600700" y="419100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CC7D5"/>
                </a:solidFill>
                <a:latin typeface="Aptos"/>
                <a:ea typeface="Aptos"/>
                <a:cs typeface="Aptos"/>
              </a:defRPr>
            </a:pPr>
            <a:r>
              <a:rPr sz="900" b="0">
                <a:solidFill>
                  <a:srgbClr val="BCC7D5"/>
                </a:solidFill>
                <a:latin typeface="Aptos"/>
                <a:ea typeface="Aptos"/>
                <a:cs typeface="Aptos"/>
              </a:rPr>
              <a:t>reference exists; matcher did not emit</a:t>
            </a:r>
          </a:p>
        </p:txBody>
      </p:sp>
      <p:sp>
        <p:nvSpPr>
          <p:cNvPr id="30" name="">
            <a:extLst xmlns:a="http://schemas.openxmlformats.org/drawingml/2006/main">
              <a:ext uri="{FF2B5EF4-FFF2-40B4-BE49-F238E27FC236}">
                <a16:creationId xmlns:a16="http://schemas.microsoft.com/office/drawing/2014/main" id="{DFC4EAFE-6F09-43F2-B874-C810BF11C526}"/>
              </a:ext>
            </a:extLst>
          </p:cNvPr>
          <p:cNvSpPr>
            <a:spLocks xmlns:a="http://schemas.openxmlformats.org/drawingml/2006/main" noGrp="1"/>
          </p:cNvSpPr>
          <p:nvPr/>
        </p:nvSpPr>
        <p:spPr>
          <a:xfrm xmlns:a="http://schemas.openxmlformats.org/drawingml/2006/main">
            <a:off x="685800" y="464820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1" name="">
            <a:extLst xmlns:a="http://schemas.openxmlformats.org/drawingml/2006/main">
              <a:ext uri="{FF2B5EF4-FFF2-40B4-BE49-F238E27FC236}">
                <a16:creationId xmlns:a16="http://schemas.microsoft.com/office/drawing/2014/main" id="{9A0C46AA-3C06-4168-BC5F-3A0829A7A25B}"/>
              </a:ext>
            </a:extLst>
          </p:cNvPr>
          <p:cNvSpPr>
            <a:spLocks xmlns:a="http://schemas.openxmlformats.org/drawingml/2006/main" noGrp="1"/>
          </p:cNvSpPr>
          <p:nvPr/>
        </p:nvSpPr>
        <p:spPr>
          <a:xfrm xmlns:a="http://schemas.openxmlformats.org/drawingml/2006/main">
            <a:off x="876300" y="47529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A65C55"/>
                </a:solidFill>
                <a:latin typeface="Aptos"/>
                <a:ea typeface="Aptos"/>
                <a:cs typeface="Aptos"/>
              </a:defRPr>
            </a:pPr>
            <a:r>
              <a:rPr sz="900" b="1">
                <a:solidFill>
                  <a:srgbClr val="A65C55"/>
                </a:solidFill>
                <a:latin typeface="Aptos"/>
                <a:ea typeface="Aptos"/>
                <a:cs typeface="Aptos"/>
              </a:rPr>
              <a:t>Missing coordinate/version</a:t>
            </a:r>
          </a:p>
        </p:txBody>
      </p:sp>
      <p:sp>
        <p:nvSpPr>
          <p:cNvPr id="32" name="">
            <a:extLst xmlns:a="http://schemas.openxmlformats.org/drawingml/2006/main">
              <a:ext uri="{FF2B5EF4-FFF2-40B4-BE49-F238E27FC236}">
                <a16:creationId xmlns:a16="http://schemas.microsoft.com/office/drawing/2014/main" id="{F50FB8E0-09F6-45C6-A964-AC952872C543}"/>
              </a:ext>
            </a:extLst>
          </p:cNvPr>
          <p:cNvSpPr>
            <a:spLocks xmlns:a="http://schemas.openxmlformats.org/drawingml/2006/main" noGrp="1"/>
          </p:cNvSpPr>
          <p:nvPr/>
        </p:nvSpPr>
        <p:spPr>
          <a:xfrm xmlns:a="http://schemas.openxmlformats.org/drawingml/2006/main">
            <a:off x="4171950" y="47244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75" b="1">
                <a:solidFill>
                  <a:srgbClr val="A65C55"/>
                </a:solidFill>
                <a:latin typeface="Aptos"/>
                <a:ea typeface="Aptos"/>
                <a:cs typeface="Aptos"/>
              </a:defRPr>
            </a:pPr>
            <a:r>
              <a:rPr sz="1275" b="1">
                <a:solidFill>
                  <a:srgbClr val="A65C55"/>
                </a:solidFill>
                <a:latin typeface="Aptos"/>
                <a:ea typeface="Aptos"/>
                <a:cs typeface="Aptos"/>
              </a:rPr>
              <a:t>442</a:t>
            </a:r>
          </a:p>
        </p:txBody>
      </p:sp>
      <p:sp>
        <p:nvSpPr>
          <p:cNvPr id="33" name="">
            <a:extLst xmlns:a="http://schemas.openxmlformats.org/drawingml/2006/main">
              <a:ext uri="{FF2B5EF4-FFF2-40B4-BE49-F238E27FC236}">
                <a16:creationId xmlns:a16="http://schemas.microsoft.com/office/drawing/2014/main" id="{C3B46B59-A87E-4C59-A29F-4C12AC8DF663}"/>
              </a:ext>
            </a:extLst>
          </p:cNvPr>
          <p:cNvSpPr>
            <a:spLocks xmlns:a="http://schemas.openxmlformats.org/drawingml/2006/main" noGrp="1"/>
          </p:cNvSpPr>
          <p:nvPr/>
        </p:nvSpPr>
        <p:spPr>
          <a:xfrm xmlns:a="http://schemas.openxmlformats.org/drawingml/2006/main">
            <a:off x="5600700" y="474345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CC7D5"/>
                </a:solidFill>
                <a:latin typeface="Aptos"/>
                <a:ea typeface="Aptos"/>
                <a:cs typeface="Aptos"/>
              </a:defRPr>
            </a:pPr>
            <a:r>
              <a:rPr sz="900" b="0">
                <a:solidFill>
                  <a:srgbClr val="BCC7D5"/>
                </a:solidFill>
                <a:latin typeface="Aptos"/>
                <a:ea typeface="Aptos"/>
                <a:cs typeface="Aptos"/>
              </a:rPr>
              <a:t>reference growth candidate</a:t>
            </a:r>
          </a:p>
        </p:txBody>
      </p:sp>
      <p:sp>
        <p:nvSpPr>
          <p:cNvPr id="34" name="">
            <a:extLst xmlns:a="http://schemas.openxmlformats.org/drawingml/2006/main">
              <a:ext uri="{FF2B5EF4-FFF2-40B4-BE49-F238E27FC236}">
                <a16:creationId xmlns:a16="http://schemas.microsoft.com/office/drawing/2014/main" id="{0725AA30-0929-4A8E-AB62-FE7933D3BC93}"/>
              </a:ext>
            </a:extLst>
          </p:cNvPr>
          <p:cNvSpPr>
            <a:spLocks xmlns:a="http://schemas.openxmlformats.org/drawingml/2006/main" noGrp="1"/>
          </p:cNvSpPr>
          <p:nvPr/>
        </p:nvSpPr>
        <p:spPr>
          <a:xfrm xmlns:a="http://schemas.openxmlformats.org/drawingml/2006/main">
            <a:off x="685800" y="520065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5" name="">
            <a:extLst xmlns:a="http://schemas.openxmlformats.org/drawingml/2006/main">
              <a:ext uri="{FF2B5EF4-FFF2-40B4-BE49-F238E27FC236}">
                <a16:creationId xmlns:a16="http://schemas.microsoft.com/office/drawing/2014/main" id="{28DD43F3-4933-4D44-91DB-620D275C6AF0}"/>
              </a:ext>
            </a:extLst>
          </p:cNvPr>
          <p:cNvSpPr>
            <a:spLocks xmlns:a="http://schemas.openxmlformats.org/drawingml/2006/main" noGrp="1"/>
          </p:cNvSpPr>
          <p:nvPr/>
        </p:nvSpPr>
        <p:spPr>
          <a:xfrm xmlns:a="http://schemas.openxmlformats.org/drawingml/2006/main">
            <a:off x="876300" y="530542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A65C55"/>
                </a:solidFill>
                <a:latin typeface="Aptos"/>
                <a:ea typeface="Aptos"/>
                <a:cs typeface="Aptos"/>
              </a:defRPr>
            </a:pPr>
            <a:r>
              <a:rPr sz="900" b="1">
                <a:solidFill>
                  <a:srgbClr val="A65C55"/>
                </a:solidFill>
                <a:latin typeface="Aptos"/>
                <a:ea typeface="Aptos"/>
                <a:cs typeface="Aptos"/>
              </a:rPr>
              <a:t>Missing coordinate</a:t>
            </a:r>
          </a:p>
        </p:txBody>
      </p:sp>
      <p:sp>
        <p:nvSpPr>
          <p:cNvPr id="36" name="">
            <a:extLst xmlns:a="http://schemas.openxmlformats.org/drawingml/2006/main">
              <a:ext uri="{FF2B5EF4-FFF2-40B4-BE49-F238E27FC236}">
                <a16:creationId xmlns:a16="http://schemas.microsoft.com/office/drawing/2014/main" id="{5B95BB44-0B55-4D69-B58D-397C54C673BA}"/>
              </a:ext>
            </a:extLst>
          </p:cNvPr>
          <p:cNvSpPr>
            <a:spLocks xmlns:a="http://schemas.openxmlformats.org/drawingml/2006/main" noGrp="1"/>
          </p:cNvSpPr>
          <p:nvPr/>
        </p:nvSpPr>
        <p:spPr>
          <a:xfrm xmlns:a="http://schemas.openxmlformats.org/drawingml/2006/main">
            <a:off x="4171950" y="52768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75" b="1">
                <a:solidFill>
                  <a:srgbClr val="A65C55"/>
                </a:solidFill>
                <a:latin typeface="Aptos"/>
                <a:ea typeface="Aptos"/>
                <a:cs typeface="Aptos"/>
              </a:defRPr>
            </a:pPr>
            <a:r>
              <a:rPr sz="1275" b="1">
                <a:solidFill>
                  <a:srgbClr val="A65C55"/>
                </a:solidFill>
                <a:latin typeface="Aptos"/>
                <a:ea typeface="Aptos"/>
                <a:cs typeface="Aptos"/>
              </a:rPr>
              <a:t>72</a:t>
            </a:r>
          </a:p>
        </p:txBody>
      </p:sp>
      <p:sp>
        <p:nvSpPr>
          <p:cNvPr id="37" name="">
            <a:extLst xmlns:a="http://schemas.openxmlformats.org/drawingml/2006/main">
              <a:ext uri="{FF2B5EF4-FFF2-40B4-BE49-F238E27FC236}">
                <a16:creationId xmlns:a16="http://schemas.microsoft.com/office/drawing/2014/main" id="{1ABEEAFC-C9AF-461D-9343-01C75CA137F1}"/>
              </a:ext>
            </a:extLst>
          </p:cNvPr>
          <p:cNvSpPr>
            <a:spLocks xmlns:a="http://schemas.openxmlformats.org/drawingml/2006/main" noGrp="1"/>
          </p:cNvSpPr>
          <p:nvPr/>
        </p:nvSpPr>
        <p:spPr>
          <a:xfrm xmlns:a="http://schemas.openxmlformats.org/drawingml/2006/main">
            <a:off x="5600700" y="529590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BCC7D5"/>
                </a:solidFill>
                <a:latin typeface="Aptos"/>
                <a:ea typeface="Aptos"/>
                <a:cs typeface="Aptos"/>
              </a:defRPr>
            </a:pPr>
            <a:r>
              <a:rPr sz="900" b="0">
                <a:solidFill>
                  <a:srgbClr val="BCC7D5"/>
                </a:solidFill>
                <a:latin typeface="Aptos"/>
                <a:ea typeface="Aptos"/>
                <a:cs typeface="Aptos"/>
              </a:rPr>
              <a:t>coordinate absent entirely</a:t>
            </a:r>
          </a:p>
        </p:txBody>
      </p:sp>
      <p:sp>
        <p:nvSpPr>
          <p:cNvPr id="38" name="">
            <a:extLst xmlns:a="http://schemas.openxmlformats.org/drawingml/2006/main">
              <a:ext uri="{FF2B5EF4-FFF2-40B4-BE49-F238E27FC236}">
                <a16:creationId xmlns:a16="http://schemas.microsoft.com/office/drawing/2014/main" id="{76A427DA-B600-4011-87C0-F6A238230158}"/>
              </a:ext>
            </a:extLst>
          </p:cNvPr>
          <p:cNvSpPr>
            <a:spLocks xmlns:a="http://schemas.openxmlformats.org/drawingml/2006/main" noGrp="1"/>
          </p:cNvSpPr>
          <p:nvPr/>
        </p:nvSpPr>
        <p:spPr>
          <a:xfrm xmlns:a="http://schemas.openxmlformats.org/drawingml/2006/main">
            <a:off x="685800" y="5886450"/>
            <a:ext cx="10820400" cy="457200"/>
          </a:xfrm>
          <a:prstGeom xmlns:a="http://schemas.openxmlformats.org/drawingml/2006/main" prst="rect">
            <a:avLst/>
          </a:prstGeom>
          <a:solidFill xmlns:a="http://schemas.openxmlformats.org/drawingml/2006/main">
            <a:srgbClr val="22303C"/>
          </a:solidFill>
          <a:ln xmlns:a="http://schemas.openxmlformats.org/drawingml/2006/main" w="9525">
            <a:solidFill>
              <a:srgbClr val="8D754D"/>
            </a:solidFill>
            <a:prstDash val="solid"/>
          </a:ln>
        </p:spPr>
      </p:sp>
      <p:sp>
        <p:nvSpPr>
          <p:cNvPr id="39" name="">
            <a:extLst xmlns:a="http://schemas.openxmlformats.org/drawingml/2006/main">
              <a:ext uri="{FF2B5EF4-FFF2-40B4-BE49-F238E27FC236}">
                <a16:creationId xmlns:a16="http://schemas.microsoft.com/office/drawing/2014/main" id="{14AF462E-D2BD-4A20-BF26-7BA42579C8D2}"/>
              </a:ext>
            </a:extLst>
          </p:cNvPr>
          <p:cNvSpPr>
            <a:spLocks xmlns:a="http://schemas.openxmlformats.org/drawingml/2006/main" noGrp="1"/>
          </p:cNvSpPr>
          <p:nvPr/>
        </p:nvSpPr>
        <p:spPr>
          <a:xfrm xmlns:a="http://schemas.openxmlformats.org/drawingml/2006/main">
            <a:off x="876300" y="60579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D754D"/>
                </a:solidFill>
                <a:latin typeface="Aptos"/>
                <a:ea typeface="Aptos"/>
                <a:cs typeface="Aptos"/>
              </a:defRPr>
            </a:pPr>
            <a:r>
              <a:rPr sz="825" b="1">
                <a:solidFill>
                  <a:srgbClr val="8D754D"/>
                </a:solidFill>
                <a:latin typeface="Aptos"/>
                <a:ea typeface="Aptos"/>
                <a:cs typeface="Aptos"/>
              </a:rPr>
              <a:t>ACTIONABLE</a:t>
            </a:r>
          </a:p>
        </p:txBody>
      </p:sp>
      <p:sp>
        <p:nvSpPr>
          <p:cNvPr id="40" name="">
            <a:extLst xmlns:a="http://schemas.openxmlformats.org/drawingml/2006/main">
              <a:ext uri="{FF2B5EF4-FFF2-40B4-BE49-F238E27FC236}">
                <a16:creationId xmlns:a16="http://schemas.microsoft.com/office/drawing/2014/main" id="{ACCCE70A-70A3-4470-8429-C7946559DBBF}"/>
              </a:ext>
            </a:extLst>
          </p:cNvPr>
          <p:cNvSpPr>
            <a:spLocks xmlns:a="http://schemas.openxmlformats.org/drawingml/2006/main" noGrp="1"/>
          </p:cNvSpPr>
          <p:nvPr/>
        </p:nvSpPr>
        <p:spPr>
          <a:xfrm xmlns:a="http://schemas.openxmlformats.org/drawingml/2006/main">
            <a:off x="2343150" y="60102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2,281 matcher-recall rows and 442 missing-reference rows require different engineering responses.</a:t>
            </a:r>
          </a:p>
        </p:txBody>
      </p:sp>
      <p:sp>
        <p:nvSpPr>
          <p:cNvPr id="41" name="">
            <a:extLst xmlns:a="http://schemas.openxmlformats.org/drawingml/2006/main">
              <a:ext uri="{FF2B5EF4-FFF2-40B4-BE49-F238E27FC236}">
                <a16:creationId xmlns:a16="http://schemas.microsoft.com/office/drawing/2014/main" id="{C6E2B5B2-DC39-4248-A853-9543589F398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91449401"/>
      </p:ext>
    </p:extLst>
  </p:cSld>
</p:sld>
</file>

<file path=ppt/slides/slide37.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BE76A55-2C0D-4935-B97F-73A4C1753D13}"/>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A65C55"/>
                </a:solidFill>
                <a:latin typeface="Aptos"/>
                <a:ea typeface="Aptos"/>
                <a:cs typeface="Aptos"/>
              </a:defRPr>
            </a:pPr>
            <a:r>
              <a:rPr sz="900" b="1">
                <a:solidFill>
                  <a:srgbClr val="A65C55"/>
                </a:solidFill>
                <a:latin typeface="Aptos"/>
                <a:ea typeface="Aptos"/>
                <a:cs typeface="Aptos"/>
              </a:rPr>
              <a:t>BACKUP 6</a:t>
            </a:r>
          </a:p>
        </p:txBody>
      </p:sp>
      <p:sp>
        <p:nvSpPr>
          <p:cNvPr id="2" name="">
            <a:extLst xmlns:a="http://schemas.openxmlformats.org/drawingml/2006/main">
              <a:ext uri="{FF2B5EF4-FFF2-40B4-BE49-F238E27FC236}">
                <a16:creationId xmlns:a16="http://schemas.microsoft.com/office/drawing/2014/main" id="{FD44F7A2-C90B-462E-A2E1-7E921D4F9A15}"/>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Failed-experiment regression matrix</a:t>
            </a:r>
          </a:p>
        </p:txBody>
      </p:sp>
      <p:sp>
        <p:nvSpPr>
          <p:cNvPr id="3" name="">
            <a:extLst xmlns:a="http://schemas.openxmlformats.org/drawingml/2006/main">
              <a:ext uri="{FF2B5EF4-FFF2-40B4-BE49-F238E27FC236}">
                <a16:creationId xmlns:a16="http://schemas.microsoft.com/office/drawing/2014/main" id="{7A40B729-1CCE-49D2-A72A-6B402BCD4736}"/>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37</a:t>
            </a:r>
          </a:p>
        </p:txBody>
      </p:sp>
      <p:sp>
        <p:nvSpPr>
          <p:cNvPr id="4" name="">
            <a:extLst xmlns:a="http://schemas.openxmlformats.org/drawingml/2006/main">
              <a:ext uri="{FF2B5EF4-FFF2-40B4-BE49-F238E27FC236}">
                <a16:creationId xmlns:a16="http://schemas.microsoft.com/office/drawing/2014/main" id="{A9D1062B-EAA6-4C8D-A02B-635127C7CFBE}"/>
              </a:ext>
            </a:extLst>
          </p:cNvPr>
          <p:cNvSpPr>
            <a:spLocks xmlns:a="http://schemas.openxmlformats.org/drawingml/2006/main" noGrp="1"/>
          </p:cNvSpPr>
          <p:nvPr/>
        </p:nvSpPr>
        <p:spPr>
          <a:xfrm xmlns:a="http://schemas.openxmlformats.org/drawingml/2006/main">
            <a:off x="685800" y="135255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5" name="">
            <a:extLst xmlns:a="http://schemas.openxmlformats.org/drawingml/2006/main">
              <a:ext uri="{FF2B5EF4-FFF2-40B4-BE49-F238E27FC236}">
                <a16:creationId xmlns:a16="http://schemas.microsoft.com/office/drawing/2014/main" id="{3E4E3D69-E46F-4640-BB6E-45ABB4CFB464}"/>
              </a:ext>
            </a:extLst>
          </p:cNvPr>
          <p:cNvSpPr>
            <a:spLocks xmlns:a="http://schemas.openxmlformats.org/drawingml/2006/main" noGrp="1"/>
          </p:cNvSpPr>
          <p:nvPr/>
        </p:nvSpPr>
        <p:spPr>
          <a:xfrm xmlns:a="http://schemas.openxmlformats.org/drawingml/2006/main">
            <a:off x="857250" y="14954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Global Phase 4 blend</a:t>
            </a:r>
          </a:p>
        </p:txBody>
      </p:sp>
      <p:sp>
        <p:nvSpPr>
          <p:cNvPr id="6" name="">
            <a:extLst xmlns:a="http://schemas.openxmlformats.org/drawingml/2006/main">
              <a:ext uri="{FF2B5EF4-FFF2-40B4-BE49-F238E27FC236}">
                <a16:creationId xmlns:a16="http://schemas.microsoft.com/office/drawing/2014/main" id="{3909D012-A1E0-4AEA-AA50-6C4FA928920B}"/>
              </a:ext>
            </a:extLst>
          </p:cNvPr>
          <p:cNvSpPr>
            <a:spLocks xmlns:a="http://schemas.openxmlformats.org/drawingml/2006/main" noGrp="1"/>
          </p:cNvSpPr>
          <p:nvPr/>
        </p:nvSpPr>
        <p:spPr>
          <a:xfrm xmlns:a="http://schemas.openxmlformats.org/drawingml/2006/main">
            <a:off x="3295650" y="1466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4F7D76"/>
                </a:solidFill>
                <a:latin typeface="Aptos"/>
                <a:ea typeface="Aptos"/>
                <a:cs typeface="Aptos"/>
              </a:defRPr>
            </a:pPr>
            <a:r>
              <a:rPr sz="825" b="1">
                <a:solidFill>
                  <a:srgbClr val="4F7D76"/>
                </a:solidFill>
                <a:latin typeface="Aptos"/>
                <a:ea typeface="Aptos"/>
                <a:cs typeface="Aptos"/>
              </a:rPr>
              <a:t>+10 target opportunities</a:t>
            </a:r>
          </a:p>
        </p:txBody>
      </p:sp>
      <p:sp>
        <p:nvSpPr>
          <p:cNvPr id="7" name="">
            <a:extLst xmlns:a="http://schemas.openxmlformats.org/drawingml/2006/main">
              <a:ext uri="{FF2B5EF4-FFF2-40B4-BE49-F238E27FC236}">
                <a16:creationId xmlns:a16="http://schemas.microsoft.com/office/drawing/2014/main" id="{5BEE7305-12C9-4C07-B791-136B292035F8}"/>
              </a:ext>
            </a:extLst>
          </p:cNvPr>
          <p:cNvSpPr>
            <a:spLocks xmlns:a="http://schemas.openxmlformats.org/drawingml/2006/main" noGrp="1"/>
          </p:cNvSpPr>
          <p:nvPr/>
        </p:nvSpPr>
        <p:spPr>
          <a:xfrm xmlns:a="http://schemas.openxmlformats.org/drawingml/2006/main">
            <a:off x="5943600" y="144780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65717A"/>
                </a:solidFill>
                <a:latin typeface="Aptos"/>
                <a:ea typeface="Aptos"/>
                <a:cs typeface="Aptos"/>
              </a:defRPr>
            </a:pPr>
            <a:r>
              <a:rPr sz="825" b="0">
                <a:solidFill>
                  <a:srgbClr val="65717A"/>
                </a:solidFill>
                <a:latin typeface="Aptos"/>
                <a:ea typeface="Aptos"/>
                <a:cs typeface="Aptos"/>
              </a:rPr>
              <a:t>6 controlled, 121 real, 10 clean blockers</a:t>
            </a:r>
          </a:p>
        </p:txBody>
      </p:sp>
      <p:sp>
        <p:nvSpPr>
          <p:cNvPr id="8" name="">
            <a:extLst xmlns:a="http://schemas.openxmlformats.org/drawingml/2006/main">
              <a:ext uri="{FF2B5EF4-FFF2-40B4-BE49-F238E27FC236}">
                <a16:creationId xmlns:a16="http://schemas.microsoft.com/office/drawing/2014/main" id="{B6A4F455-884F-4F9F-AB14-B6847E27C335}"/>
              </a:ext>
            </a:extLst>
          </p:cNvPr>
          <p:cNvSpPr>
            <a:spLocks xmlns:a="http://schemas.openxmlformats.org/drawingml/2006/main" noGrp="1"/>
          </p:cNvSpPr>
          <p:nvPr/>
        </p:nvSpPr>
        <p:spPr>
          <a:xfrm xmlns:a="http://schemas.openxmlformats.org/drawingml/2006/main">
            <a:off x="9410700" y="1466850"/>
            <a:ext cx="1885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9" name="">
            <a:extLst xmlns:a="http://schemas.openxmlformats.org/drawingml/2006/main">
              <a:ext uri="{FF2B5EF4-FFF2-40B4-BE49-F238E27FC236}">
                <a16:creationId xmlns:a16="http://schemas.microsoft.com/office/drawing/2014/main" id="{8B133E7E-3FA5-4FCD-96A0-8207481DA326}"/>
              </a:ext>
            </a:extLst>
          </p:cNvPr>
          <p:cNvSpPr>
            <a:spLocks xmlns:a="http://schemas.openxmlformats.org/drawingml/2006/main" noGrp="1"/>
          </p:cNvSpPr>
          <p:nvPr/>
        </p:nvSpPr>
        <p:spPr>
          <a:xfrm xmlns:a="http://schemas.openxmlformats.org/drawingml/2006/main">
            <a:off x="9477375" y="152400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Reject global</a:t>
            </a:r>
          </a:p>
        </p:txBody>
      </p:sp>
      <p:sp>
        <p:nvSpPr>
          <p:cNvPr id="10" name="">
            <a:extLst xmlns:a="http://schemas.openxmlformats.org/drawingml/2006/main">
              <a:ext uri="{FF2B5EF4-FFF2-40B4-BE49-F238E27FC236}">
                <a16:creationId xmlns:a16="http://schemas.microsoft.com/office/drawing/2014/main" id="{C2B7CB05-D669-4AED-AC0C-7E988914F0A5}"/>
              </a:ext>
            </a:extLst>
          </p:cNvPr>
          <p:cNvSpPr>
            <a:spLocks xmlns:a="http://schemas.openxmlformats.org/drawingml/2006/main" noGrp="1"/>
          </p:cNvSpPr>
          <p:nvPr/>
        </p:nvSpPr>
        <p:spPr>
          <a:xfrm xmlns:a="http://schemas.openxmlformats.org/drawingml/2006/main">
            <a:off x="685800" y="198120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11" name="">
            <a:extLst xmlns:a="http://schemas.openxmlformats.org/drawingml/2006/main">
              <a:ext uri="{FF2B5EF4-FFF2-40B4-BE49-F238E27FC236}">
                <a16:creationId xmlns:a16="http://schemas.microsoft.com/office/drawing/2014/main" id="{DAC8D890-0C09-4105-8FD5-7BA512FB6A77}"/>
              </a:ext>
            </a:extLst>
          </p:cNvPr>
          <p:cNvSpPr>
            <a:spLocks xmlns:a="http://schemas.openxmlformats.org/drawingml/2006/main" noGrp="1"/>
          </p:cNvSpPr>
          <p:nvPr/>
        </p:nvSpPr>
        <p:spPr>
          <a:xfrm xmlns:a="http://schemas.openxmlformats.org/drawingml/2006/main">
            <a:off x="857250" y="21240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Phase 5 scoped trigger</a:t>
            </a:r>
          </a:p>
        </p:txBody>
      </p:sp>
      <p:sp>
        <p:nvSpPr>
          <p:cNvPr id="12" name="">
            <a:extLst xmlns:a="http://schemas.openxmlformats.org/drawingml/2006/main">
              <a:ext uri="{FF2B5EF4-FFF2-40B4-BE49-F238E27FC236}">
                <a16:creationId xmlns:a16="http://schemas.microsoft.com/office/drawing/2014/main" id="{D5BC8DEC-31CA-4C61-899F-54BDE8B8887F}"/>
              </a:ext>
            </a:extLst>
          </p:cNvPr>
          <p:cNvSpPr>
            <a:spLocks xmlns:a="http://schemas.openxmlformats.org/drawingml/2006/main" noGrp="1"/>
          </p:cNvSpPr>
          <p:nvPr/>
        </p:nvSpPr>
        <p:spPr>
          <a:xfrm xmlns:a="http://schemas.openxmlformats.org/drawingml/2006/main">
            <a:off x="3295650" y="20955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D754D"/>
                </a:solidFill>
                <a:latin typeface="Aptos"/>
                <a:ea typeface="Aptos"/>
                <a:cs typeface="Aptos"/>
              </a:defRPr>
            </a:pPr>
            <a:r>
              <a:rPr sz="825" b="1">
                <a:solidFill>
                  <a:srgbClr val="8D754D"/>
                </a:solidFill>
                <a:latin typeface="Aptos"/>
                <a:ea typeface="Aptos"/>
                <a:cs typeface="Aptos"/>
              </a:rPr>
              <a:t>4 target improvements</a:t>
            </a:r>
          </a:p>
        </p:txBody>
      </p:sp>
      <p:sp>
        <p:nvSpPr>
          <p:cNvPr id="13" name="">
            <a:extLst xmlns:a="http://schemas.openxmlformats.org/drawingml/2006/main">
              <a:ext uri="{FF2B5EF4-FFF2-40B4-BE49-F238E27FC236}">
                <a16:creationId xmlns:a16="http://schemas.microsoft.com/office/drawing/2014/main" id="{45757365-DE56-4309-B79E-6DDAC5ECC8C5}"/>
              </a:ext>
            </a:extLst>
          </p:cNvPr>
          <p:cNvSpPr>
            <a:spLocks xmlns:a="http://schemas.openxmlformats.org/drawingml/2006/main" noGrp="1"/>
          </p:cNvSpPr>
          <p:nvPr/>
        </p:nvSpPr>
        <p:spPr>
          <a:xfrm xmlns:a="http://schemas.openxmlformats.org/drawingml/2006/main">
            <a:off x="5943600" y="207645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65717A"/>
                </a:solidFill>
                <a:latin typeface="Aptos"/>
                <a:ea typeface="Aptos"/>
                <a:cs typeface="Aptos"/>
              </a:defRPr>
            </a:pPr>
            <a:r>
              <a:rPr sz="825" b="0">
                <a:solidFill>
                  <a:srgbClr val="65717A"/>
                </a:solidFill>
                <a:latin typeface="Aptos"/>
                <a:ea typeface="Aptos"/>
                <a:cs typeface="Aptos"/>
              </a:rPr>
              <a:t>0 triggered regression/conflict</a:t>
            </a:r>
          </a:p>
        </p:txBody>
      </p:sp>
      <p:sp>
        <p:nvSpPr>
          <p:cNvPr id="14" name="">
            <a:extLst xmlns:a="http://schemas.openxmlformats.org/drawingml/2006/main">
              <a:ext uri="{FF2B5EF4-FFF2-40B4-BE49-F238E27FC236}">
                <a16:creationId xmlns:a16="http://schemas.microsoft.com/office/drawing/2014/main" id="{86904C7C-C3F0-4FA1-AAB3-9FFE4C38A99B}"/>
              </a:ext>
            </a:extLst>
          </p:cNvPr>
          <p:cNvSpPr>
            <a:spLocks xmlns:a="http://schemas.openxmlformats.org/drawingml/2006/main" noGrp="1"/>
          </p:cNvSpPr>
          <p:nvPr/>
        </p:nvSpPr>
        <p:spPr>
          <a:xfrm xmlns:a="http://schemas.openxmlformats.org/drawingml/2006/main">
            <a:off x="9410700" y="2095500"/>
            <a:ext cx="1885950" cy="2667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15" name="">
            <a:extLst xmlns:a="http://schemas.openxmlformats.org/drawingml/2006/main">
              <a:ext uri="{FF2B5EF4-FFF2-40B4-BE49-F238E27FC236}">
                <a16:creationId xmlns:a16="http://schemas.microsoft.com/office/drawing/2014/main" id="{C86205FA-B82D-48FC-BBB6-898F12461BAF}"/>
              </a:ext>
            </a:extLst>
          </p:cNvPr>
          <p:cNvSpPr>
            <a:spLocks xmlns:a="http://schemas.openxmlformats.org/drawingml/2006/main" noGrp="1"/>
          </p:cNvSpPr>
          <p:nvPr/>
        </p:nvSpPr>
        <p:spPr>
          <a:xfrm xmlns:a="http://schemas.openxmlformats.org/drawingml/2006/main">
            <a:off x="9477375" y="215265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8D754D"/>
                </a:solidFill>
                <a:latin typeface="Aptos"/>
                <a:ea typeface="Aptos"/>
                <a:cs typeface="Aptos"/>
              </a:defRPr>
            </a:pPr>
            <a:r>
              <a:rPr sz="825" b="1">
                <a:solidFill>
                  <a:srgbClr val="8D754D"/>
                </a:solidFill>
                <a:latin typeface="Aptos"/>
                <a:ea typeface="Aptos"/>
                <a:cs typeface="Aptos"/>
              </a:rPr>
              <a:t>Experiment only</a:t>
            </a:r>
          </a:p>
        </p:txBody>
      </p:sp>
      <p:sp>
        <p:nvSpPr>
          <p:cNvPr id="16" name="">
            <a:extLst xmlns:a="http://schemas.openxmlformats.org/drawingml/2006/main">
              <a:ext uri="{FF2B5EF4-FFF2-40B4-BE49-F238E27FC236}">
                <a16:creationId xmlns:a16="http://schemas.microsoft.com/office/drawing/2014/main" id="{1EDF89D4-CADA-44AE-B98E-573757A63270}"/>
              </a:ext>
            </a:extLst>
          </p:cNvPr>
          <p:cNvSpPr>
            <a:spLocks xmlns:a="http://schemas.openxmlformats.org/drawingml/2006/main" noGrp="1"/>
          </p:cNvSpPr>
          <p:nvPr/>
        </p:nvSpPr>
        <p:spPr>
          <a:xfrm xmlns:a="http://schemas.openxmlformats.org/drawingml/2006/main">
            <a:off x="685800" y="260985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17" name="">
            <a:extLst xmlns:a="http://schemas.openxmlformats.org/drawingml/2006/main">
              <a:ext uri="{FF2B5EF4-FFF2-40B4-BE49-F238E27FC236}">
                <a16:creationId xmlns:a16="http://schemas.microsoft.com/office/drawing/2014/main" id="{7FED0780-DF44-4D0C-B05E-BECF7C6DEFCD}"/>
              </a:ext>
            </a:extLst>
          </p:cNvPr>
          <p:cNvSpPr>
            <a:spLocks xmlns:a="http://schemas.openxmlformats.org/drawingml/2006/main" noGrp="1"/>
          </p:cNvSpPr>
          <p:nvPr/>
        </p:nvSpPr>
        <p:spPr>
          <a:xfrm xmlns:a="http://schemas.openxmlformats.org/drawingml/2006/main">
            <a:off x="857250" y="27527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Coroutines 1.6.4</a:t>
            </a:r>
          </a:p>
        </p:txBody>
      </p:sp>
      <p:sp>
        <p:nvSpPr>
          <p:cNvPr id="18" name="">
            <a:extLst xmlns:a="http://schemas.openxmlformats.org/drawingml/2006/main">
              <a:ext uri="{FF2B5EF4-FFF2-40B4-BE49-F238E27FC236}">
                <a16:creationId xmlns:a16="http://schemas.microsoft.com/office/drawing/2014/main" id="{148FBCB5-7148-4B41-9669-81B7D374C51A}"/>
              </a:ext>
            </a:extLst>
          </p:cNvPr>
          <p:cNvSpPr>
            <a:spLocks xmlns:a="http://schemas.openxmlformats.org/drawingml/2006/main" noGrp="1"/>
          </p:cNvSpPr>
          <p:nvPr/>
        </p:nvSpPr>
        <p:spPr>
          <a:xfrm xmlns:a="http://schemas.openxmlformats.org/drawingml/2006/main">
            <a:off x="3295650" y="2724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4F7D76"/>
                </a:solidFill>
                <a:latin typeface="Aptos"/>
                <a:ea typeface="Aptos"/>
                <a:cs typeface="Aptos"/>
              </a:defRPr>
            </a:pPr>
            <a:r>
              <a:rPr sz="825" b="1">
                <a:solidFill>
                  <a:srgbClr val="4F7D76"/>
                </a:solidFill>
                <a:latin typeface="Aptos"/>
                <a:ea typeface="Aptos"/>
                <a:cs typeface="Aptos"/>
              </a:rPr>
              <a:t>20/20 targets fixed</a:t>
            </a:r>
          </a:p>
        </p:txBody>
      </p:sp>
      <p:sp>
        <p:nvSpPr>
          <p:cNvPr id="19" name="">
            <a:extLst xmlns:a="http://schemas.openxmlformats.org/drawingml/2006/main">
              <a:ext uri="{FF2B5EF4-FFF2-40B4-BE49-F238E27FC236}">
                <a16:creationId xmlns:a16="http://schemas.microsoft.com/office/drawing/2014/main" id="{DB65912F-6E7E-4396-89D1-2A291F3C6CE5}"/>
              </a:ext>
            </a:extLst>
          </p:cNvPr>
          <p:cNvSpPr>
            <a:spLocks xmlns:a="http://schemas.openxmlformats.org/drawingml/2006/main" noGrp="1"/>
          </p:cNvSpPr>
          <p:nvPr/>
        </p:nvSpPr>
        <p:spPr>
          <a:xfrm xmlns:a="http://schemas.openxmlformats.org/drawingml/2006/main">
            <a:off x="5943600" y="270510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65717A"/>
                </a:solidFill>
                <a:latin typeface="Aptos"/>
                <a:ea typeface="Aptos"/>
                <a:cs typeface="Aptos"/>
              </a:defRPr>
            </a:pPr>
            <a:r>
              <a:rPr sz="825" b="0">
                <a:solidFill>
                  <a:srgbClr val="65717A"/>
                </a:solidFill>
                <a:latin typeface="Aptos"/>
                <a:ea typeface="Aptos"/>
                <a:cs typeface="Aptos"/>
              </a:rPr>
              <a:t>1 clean + 2 boundary regressions</a:t>
            </a:r>
          </a:p>
        </p:txBody>
      </p:sp>
      <p:sp>
        <p:nvSpPr>
          <p:cNvPr id="20" name="">
            <a:extLst xmlns:a="http://schemas.openxmlformats.org/drawingml/2006/main">
              <a:ext uri="{FF2B5EF4-FFF2-40B4-BE49-F238E27FC236}">
                <a16:creationId xmlns:a16="http://schemas.microsoft.com/office/drawing/2014/main" id="{07D1A7A0-399C-4477-B189-2C03E7A78F69}"/>
              </a:ext>
            </a:extLst>
          </p:cNvPr>
          <p:cNvSpPr>
            <a:spLocks xmlns:a="http://schemas.openxmlformats.org/drawingml/2006/main" noGrp="1"/>
          </p:cNvSpPr>
          <p:nvPr/>
        </p:nvSpPr>
        <p:spPr>
          <a:xfrm xmlns:a="http://schemas.openxmlformats.org/drawingml/2006/main">
            <a:off x="9410700" y="2724150"/>
            <a:ext cx="1885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1" name="">
            <a:extLst xmlns:a="http://schemas.openxmlformats.org/drawingml/2006/main">
              <a:ext uri="{FF2B5EF4-FFF2-40B4-BE49-F238E27FC236}">
                <a16:creationId xmlns:a16="http://schemas.microsoft.com/office/drawing/2014/main" id="{E3415D04-FF7F-4E28-BBD9-0F48B31921E4}"/>
              </a:ext>
            </a:extLst>
          </p:cNvPr>
          <p:cNvSpPr>
            <a:spLocks xmlns:a="http://schemas.openxmlformats.org/drawingml/2006/main" noGrp="1"/>
          </p:cNvSpPr>
          <p:nvPr/>
        </p:nvSpPr>
        <p:spPr>
          <a:xfrm xmlns:a="http://schemas.openxmlformats.org/drawingml/2006/main">
            <a:off x="9477375" y="278130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Reject shared DB</a:t>
            </a:r>
          </a:p>
        </p:txBody>
      </p:sp>
      <p:sp>
        <p:nvSpPr>
          <p:cNvPr id="22" name="">
            <a:extLst xmlns:a="http://schemas.openxmlformats.org/drawingml/2006/main">
              <a:ext uri="{FF2B5EF4-FFF2-40B4-BE49-F238E27FC236}">
                <a16:creationId xmlns:a16="http://schemas.microsoft.com/office/drawing/2014/main" id="{D67E463E-54DD-4CB1-BED8-11C6B1D95030}"/>
              </a:ext>
            </a:extLst>
          </p:cNvPr>
          <p:cNvSpPr>
            <a:spLocks xmlns:a="http://schemas.openxmlformats.org/drawingml/2006/main" noGrp="1"/>
          </p:cNvSpPr>
          <p:nvPr/>
        </p:nvSpPr>
        <p:spPr>
          <a:xfrm xmlns:a="http://schemas.openxmlformats.org/drawingml/2006/main">
            <a:off x="685800" y="323850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3" name="">
            <a:extLst xmlns:a="http://schemas.openxmlformats.org/drawingml/2006/main">
              <a:ext uri="{FF2B5EF4-FFF2-40B4-BE49-F238E27FC236}">
                <a16:creationId xmlns:a16="http://schemas.microsoft.com/office/drawing/2014/main" id="{1FE3A4BE-FF80-44E6-A77E-398FBCD2F0FB}"/>
              </a:ext>
            </a:extLst>
          </p:cNvPr>
          <p:cNvSpPr>
            <a:spLocks xmlns:a="http://schemas.openxmlformats.org/drawingml/2006/main" noGrp="1"/>
          </p:cNvSpPr>
          <p:nvPr/>
        </p:nvSpPr>
        <p:spPr>
          <a:xfrm xmlns:a="http://schemas.openxmlformats.org/drawingml/2006/main">
            <a:off x="857250" y="3381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API ref weight 0.05</a:t>
            </a:r>
          </a:p>
        </p:txBody>
      </p:sp>
      <p:sp>
        <p:nvSpPr>
          <p:cNvPr id="24" name="">
            <a:extLst xmlns:a="http://schemas.openxmlformats.org/drawingml/2006/main">
              <a:ext uri="{FF2B5EF4-FFF2-40B4-BE49-F238E27FC236}">
                <a16:creationId xmlns:a16="http://schemas.microsoft.com/office/drawing/2014/main" id="{F717E87F-C6E9-4186-A347-6F21439E24EE}"/>
              </a:ext>
            </a:extLst>
          </p:cNvPr>
          <p:cNvSpPr>
            <a:spLocks xmlns:a="http://schemas.openxmlformats.org/drawingml/2006/main" noGrp="1"/>
          </p:cNvSpPr>
          <p:nvPr/>
        </p:nvSpPr>
        <p:spPr>
          <a:xfrm xmlns:a="http://schemas.openxmlformats.org/drawingml/2006/main">
            <a:off x="3295650" y="33528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4F7D76"/>
                </a:solidFill>
                <a:latin typeface="Aptos"/>
                <a:ea typeface="Aptos"/>
                <a:cs typeface="Aptos"/>
              </a:defRPr>
            </a:pPr>
            <a:r>
              <a:rPr sz="825" b="1">
                <a:solidFill>
                  <a:srgbClr val="4F7D76"/>
                </a:solidFill>
                <a:latin typeface="Aptos"/>
                <a:ea typeface="Aptos"/>
                <a:cs typeface="Aptos"/>
              </a:rPr>
              <a:t>No measured benefit</a:t>
            </a:r>
          </a:p>
        </p:txBody>
      </p:sp>
      <p:sp>
        <p:nvSpPr>
          <p:cNvPr id="25" name="">
            <a:extLst xmlns:a="http://schemas.openxmlformats.org/drawingml/2006/main">
              <a:ext uri="{FF2B5EF4-FFF2-40B4-BE49-F238E27FC236}">
                <a16:creationId xmlns:a16="http://schemas.microsoft.com/office/drawing/2014/main" id="{171C60C2-7FB5-4F5F-93F5-47F5C7C584FE}"/>
              </a:ext>
            </a:extLst>
          </p:cNvPr>
          <p:cNvSpPr>
            <a:spLocks xmlns:a="http://schemas.openxmlformats.org/drawingml/2006/main" noGrp="1"/>
          </p:cNvSpPr>
          <p:nvPr/>
        </p:nvSpPr>
        <p:spPr>
          <a:xfrm xmlns:a="http://schemas.openxmlformats.org/drawingml/2006/main">
            <a:off x="5943600" y="333375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65717A"/>
                </a:solidFill>
                <a:latin typeface="Aptos"/>
                <a:ea typeface="Aptos"/>
                <a:cs typeface="Aptos"/>
              </a:defRPr>
            </a:pPr>
            <a:r>
              <a:rPr sz="825" b="0">
                <a:solidFill>
                  <a:srgbClr val="65717A"/>
                </a:solidFill>
                <a:latin typeface="Aptos"/>
                <a:ea typeface="Aptos"/>
                <a:cs typeface="Aptos"/>
              </a:rPr>
              <a:t>No metric change</a:t>
            </a:r>
          </a:p>
        </p:txBody>
      </p:sp>
      <p:sp>
        <p:nvSpPr>
          <p:cNvPr id="26" name="">
            <a:extLst xmlns:a="http://schemas.openxmlformats.org/drawingml/2006/main">
              <a:ext uri="{FF2B5EF4-FFF2-40B4-BE49-F238E27FC236}">
                <a16:creationId xmlns:a16="http://schemas.microsoft.com/office/drawing/2014/main" id="{0CF024F7-F49E-48AA-B8D4-7C376203011B}"/>
              </a:ext>
            </a:extLst>
          </p:cNvPr>
          <p:cNvSpPr>
            <a:spLocks xmlns:a="http://schemas.openxmlformats.org/drawingml/2006/main" noGrp="1"/>
          </p:cNvSpPr>
          <p:nvPr/>
        </p:nvSpPr>
        <p:spPr>
          <a:xfrm xmlns:a="http://schemas.openxmlformats.org/drawingml/2006/main">
            <a:off x="9410700" y="3352800"/>
            <a:ext cx="1885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7" name="">
            <a:extLst xmlns:a="http://schemas.openxmlformats.org/drawingml/2006/main">
              <a:ext uri="{FF2B5EF4-FFF2-40B4-BE49-F238E27FC236}">
                <a16:creationId xmlns:a16="http://schemas.microsoft.com/office/drawing/2014/main" id="{78F86C68-C678-40F3-BF72-F083794D494B}"/>
              </a:ext>
            </a:extLst>
          </p:cNvPr>
          <p:cNvSpPr>
            <a:spLocks xmlns:a="http://schemas.openxmlformats.org/drawingml/2006/main" noGrp="1"/>
          </p:cNvSpPr>
          <p:nvPr/>
        </p:nvSpPr>
        <p:spPr>
          <a:xfrm xmlns:a="http://schemas.openxmlformats.org/drawingml/2006/main">
            <a:off x="9477375" y="340995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Disabled</a:t>
            </a:r>
          </a:p>
        </p:txBody>
      </p:sp>
      <p:sp>
        <p:nvSpPr>
          <p:cNvPr id="28" name="">
            <a:extLst xmlns:a="http://schemas.openxmlformats.org/drawingml/2006/main">
              <a:ext uri="{FF2B5EF4-FFF2-40B4-BE49-F238E27FC236}">
                <a16:creationId xmlns:a16="http://schemas.microsoft.com/office/drawing/2014/main" id="{8DB001FE-89BF-4F97-895F-7E7CD1F18352}"/>
              </a:ext>
            </a:extLst>
          </p:cNvPr>
          <p:cNvSpPr>
            <a:spLocks xmlns:a="http://schemas.openxmlformats.org/drawingml/2006/main" noGrp="1"/>
          </p:cNvSpPr>
          <p:nvPr/>
        </p:nvSpPr>
        <p:spPr>
          <a:xfrm xmlns:a="http://schemas.openxmlformats.org/drawingml/2006/main">
            <a:off x="685800" y="386715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9" name="">
            <a:extLst xmlns:a="http://schemas.openxmlformats.org/drawingml/2006/main">
              <a:ext uri="{FF2B5EF4-FFF2-40B4-BE49-F238E27FC236}">
                <a16:creationId xmlns:a16="http://schemas.microsoft.com/office/drawing/2014/main" id="{FD464591-6852-4CCD-919B-A0DC96A9FC80}"/>
              </a:ext>
            </a:extLst>
          </p:cNvPr>
          <p:cNvSpPr>
            <a:spLocks xmlns:a="http://schemas.openxmlformats.org/drawingml/2006/main" noGrp="1"/>
          </p:cNvSpPr>
          <p:nvPr/>
        </p:nvSpPr>
        <p:spPr>
          <a:xfrm xmlns:a="http://schemas.openxmlformats.org/drawingml/2006/main">
            <a:off x="857250" y="40100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Opcode tri-gram 0.02</a:t>
            </a:r>
          </a:p>
        </p:txBody>
      </p:sp>
      <p:sp>
        <p:nvSpPr>
          <p:cNvPr id="30" name="">
            <a:extLst xmlns:a="http://schemas.openxmlformats.org/drawingml/2006/main">
              <a:ext uri="{FF2B5EF4-FFF2-40B4-BE49-F238E27FC236}">
                <a16:creationId xmlns:a16="http://schemas.microsoft.com/office/drawing/2014/main" id="{146B2985-5360-42A4-B917-CAE2ECC81E8B}"/>
              </a:ext>
            </a:extLst>
          </p:cNvPr>
          <p:cNvSpPr>
            <a:spLocks xmlns:a="http://schemas.openxmlformats.org/drawingml/2006/main" noGrp="1"/>
          </p:cNvSpPr>
          <p:nvPr/>
        </p:nvSpPr>
        <p:spPr>
          <a:xfrm xmlns:a="http://schemas.openxmlformats.org/drawingml/2006/main">
            <a:off x="3295650" y="39814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4F7D76"/>
                </a:solidFill>
                <a:latin typeface="Aptos"/>
                <a:ea typeface="Aptos"/>
                <a:cs typeface="Aptos"/>
              </a:defRPr>
            </a:pPr>
            <a:r>
              <a:rPr sz="825" b="1">
                <a:solidFill>
                  <a:srgbClr val="4F7D76"/>
                </a:solidFill>
                <a:latin typeface="Aptos"/>
                <a:ea typeface="Aptos"/>
                <a:cs typeface="Aptos"/>
              </a:rPr>
              <a:t>No confirmed improvement</a:t>
            </a:r>
          </a:p>
        </p:txBody>
      </p:sp>
      <p:sp>
        <p:nvSpPr>
          <p:cNvPr id="31" name="">
            <a:extLst xmlns:a="http://schemas.openxmlformats.org/drawingml/2006/main">
              <a:ext uri="{FF2B5EF4-FFF2-40B4-BE49-F238E27FC236}">
                <a16:creationId xmlns:a16="http://schemas.microsoft.com/office/drawing/2014/main" id="{B9DB6628-3130-4DC9-BAE0-C7B453126B5F}"/>
              </a:ext>
            </a:extLst>
          </p:cNvPr>
          <p:cNvSpPr>
            <a:spLocks xmlns:a="http://schemas.openxmlformats.org/drawingml/2006/main" noGrp="1"/>
          </p:cNvSpPr>
          <p:nvPr/>
        </p:nvSpPr>
        <p:spPr>
          <a:xfrm xmlns:a="http://schemas.openxmlformats.org/drawingml/2006/main">
            <a:off x="5943600" y="396240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65717A"/>
                </a:solidFill>
                <a:latin typeface="Aptos"/>
                <a:ea typeface="Aptos"/>
                <a:cs typeface="Aptos"/>
              </a:defRPr>
            </a:pPr>
            <a:r>
              <a:rPr sz="825" b="0">
                <a:solidFill>
                  <a:srgbClr val="65717A"/>
                </a:solidFill>
                <a:latin typeface="Aptos"/>
                <a:ea typeface="Aptos"/>
                <a:cs typeface="Aptos"/>
              </a:rPr>
              <a:t>OpenTracks + Conversations regress</a:t>
            </a:r>
          </a:p>
        </p:txBody>
      </p:sp>
      <p:sp>
        <p:nvSpPr>
          <p:cNvPr id="32" name="">
            <a:extLst xmlns:a="http://schemas.openxmlformats.org/drawingml/2006/main">
              <a:ext uri="{FF2B5EF4-FFF2-40B4-BE49-F238E27FC236}">
                <a16:creationId xmlns:a16="http://schemas.microsoft.com/office/drawing/2014/main" id="{24F74207-5384-4E24-9774-E18CAAE5FE86}"/>
              </a:ext>
            </a:extLst>
          </p:cNvPr>
          <p:cNvSpPr>
            <a:spLocks xmlns:a="http://schemas.openxmlformats.org/drawingml/2006/main" noGrp="1"/>
          </p:cNvSpPr>
          <p:nvPr/>
        </p:nvSpPr>
        <p:spPr>
          <a:xfrm xmlns:a="http://schemas.openxmlformats.org/drawingml/2006/main">
            <a:off x="9410700" y="3981450"/>
            <a:ext cx="1885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33" name="">
            <a:extLst xmlns:a="http://schemas.openxmlformats.org/drawingml/2006/main">
              <a:ext uri="{FF2B5EF4-FFF2-40B4-BE49-F238E27FC236}">
                <a16:creationId xmlns:a16="http://schemas.microsoft.com/office/drawing/2014/main" id="{0732AD71-ACD6-4BAE-8C85-76E4789935A2}"/>
              </a:ext>
            </a:extLst>
          </p:cNvPr>
          <p:cNvSpPr>
            <a:spLocks xmlns:a="http://schemas.openxmlformats.org/drawingml/2006/main" noGrp="1"/>
          </p:cNvSpPr>
          <p:nvPr/>
        </p:nvSpPr>
        <p:spPr>
          <a:xfrm xmlns:a="http://schemas.openxmlformats.org/drawingml/2006/main">
            <a:off x="9477375" y="403860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Disabled</a:t>
            </a:r>
          </a:p>
        </p:txBody>
      </p:sp>
      <p:sp>
        <p:nvSpPr>
          <p:cNvPr id="34" name="">
            <a:extLst xmlns:a="http://schemas.openxmlformats.org/drawingml/2006/main">
              <a:ext uri="{FF2B5EF4-FFF2-40B4-BE49-F238E27FC236}">
                <a16:creationId xmlns:a16="http://schemas.microsoft.com/office/drawing/2014/main" id="{87BAC58E-ADDE-4413-BAED-422B7FD51E37}"/>
              </a:ext>
            </a:extLst>
          </p:cNvPr>
          <p:cNvSpPr>
            <a:spLocks xmlns:a="http://schemas.openxmlformats.org/drawingml/2006/main" noGrp="1"/>
          </p:cNvSpPr>
          <p:nvPr/>
        </p:nvSpPr>
        <p:spPr>
          <a:xfrm xmlns:a="http://schemas.openxmlformats.org/drawingml/2006/main">
            <a:off x="685800" y="449580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35" name="">
            <a:extLst xmlns:a="http://schemas.openxmlformats.org/drawingml/2006/main">
              <a:ext uri="{FF2B5EF4-FFF2-40B4-BE49-F238E27FC236}">
                <a16:creationId xmlns:a16="http://schemas.microsoft.com/office/drawing/2014/main" id="{6FD84CE2-2197-4326-A661-276FBEFDF813}"/>
              </a:ext>
            </a:extLst>
          </p:cNvPr>
          <p:cNvSpPr>
            <a:spLocks xmlns:a="http://schemas.openxmlformats.org/drawingml/2006/main" noGrp="1"/>
          </p:cNvSpPr>
          <p:nvPr/>
        </p:nvSpPr>
        <p:spPr>
          <a:xfrm xmlns:a="http://schemas.openxmlformats.org/drawingml/2006/main">
            <a:off x="857250" y="46386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APK-only reranker</a:t>
            </a:r>
          </a:p>
        </p:txBody>
      </p:sp>
      <p:sp>
        <p:nvSpPr>
          <p:cNvPr id="36" name="">
            <a:extLst xmlns:a="http://schemas.openxmlformats.org/drawingml/2006/main">
              <a:ext uri="{FF2B5EF4-FFF2-40B4-BE49-F238E27FC236}">
                <a16:creationId xmlns:a16="http://schemas.microsoft.com/office/drawing/2014/main" id="{F52B76A1-37D8-416A-99A6-07711112D6EF}"/>
              </a:ext>
            </a:extLst>
          </p:cNvPr>
          <p:cNvSpPr>
            <a:spLocks xmlns:a="http://schemas.openxmlformats.org/drawingml/2006/main" noGrp="1"/>
          </p:cNvSpPr>
          <p:nvPr/>
        </p:nvSpPr>
        <p:spPr>
          <a:xfrm xmlns:a="http://schemas.openxmlformats.org/drawingml/2006/main">
            <a:off x="3295650" y="46101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4F7D76"/>
                </a:solidFill>
                <a:latin typeface="Aptos"/>
                <a:ea typeface="Aptos"/>
                <a:cs typeface="Aptos"/>
              </a:defRPr>
            </a:pPr>
            <a:r>
              <a:rPr sz="825" b="1">
                <a:solidFill>
                  <a:srgbClr val="4F7D76"/>
                </a:solidFill>
                <a:latin typeface="Aptos"/>
                <a:ea typeface="Aptos"/>
                <a:cs typeface="Aptos"/>
              </a:rPr>
              <a:t>0 changes</a:t>
            </a:r>
          </a:p>
        </p:txBody>
      </p:sp>
      <p:sp>
        <p:nvSpPr>
          <p:cNvPr id="37" name="">
            <a:extLst xmlns:a="http://schemas.openxmlformats.org/drawingml/2006/main">
              <a:ext uri="{FF2B5EF4-FFF2-40B4-BE49-F238E27FC236}">
                <a16:creationId xmlns:a16="http://schemas.microsoft.com/office/drawing/2014/main" id="{045B1E94-3815-4E75-863F-D3B752E09496}"/>
              </a:ext>
            </a:extLst>
          </p:cNvPr>
          <p:cNvSpPr>
            <a:spLocks xmlns:a="http://schemas.openxmlformats.org/drawingml/2006/main" noGrp="1"/>
          </p:cNvSpPr>
          <p:nvPr/>
        </p:nvSpPr>
        <p:spPr>
          <a:xfrm xmlns:a="http://schemas.openxmlformats.org/drawingml/2006/main">
            <a:off x="5943600" y="459105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65717A"/>
                </a:solidFill>
                <a:latin typeface="Aptos"/>
                <a:ea typeface="Aptos"/>
                <a:cs typeface="Aptos"/>
              </a:defRPr>
            </a:pPr>
            <a:r>
              <a:rPr sz="825" b="0">
                <a:solidFill>
                  <a:srgbClr val="65717A"/>
                </a:solidFill>
                <a:latin typeface="Aptos"/>
                <a:ea typeface="Aptos"/>
                <a:cs typeface="Aptos"/>
              </a:rPr>
              <a:t>0 fixes; source alternative visible 7.6%</a:t>
            </a:r>
          </a:p>
        </p:txBody>
      </p:sp>
      <p:sp>
        <p:nvSpPr>
          <p:cNvPr id="38" name="">
            <a:extLst xmlns:a="http://schemas.openxmlformats.org/drawingml/2006/main">
              <a:ext uri="{FF2B5EF4-FFF2-40B4-BE49-F238E27FC236}">
                <a16:creationId xmlns:a16="http://schemas.microsoft.com/office/drawing/2014/main" id="{141F1E74-C2EC-49FB-80A1-036065CB8144}"/>
              </a:ext>
            </a:extLst>
          </p:cNvPr>
          <p:cNvSpPr>
            <a:spLocks xmlns:a="http://schemas.openxmlformats.org/drawingml/2006/main" noGrp="1"/>
          </p:cNvSpPr>
          <p:nvPr/>
        </p:nvSpPr>
        <p:spPr>
          <a:xfrm xmlns:a="http://schemas.openxmlformats.org/drawingml/2006/main">
            <a:off x="9410700" y="4610100"/>
            <a:ext cx="1885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39" name="">
            <a:extLst xmlns:a="http://schemas.openxmlformats.org/drawingml/2006/main">
              <a:ext uri="{FF2B5EF4-FFF2-40B4-BE49-F238E27FC236}">
                <a16:creationId xmlns:a16="http://schemas.microsoft.com/office/drawing/2014/main" id="{8CF975D3-1047-4F73-B3B8-64976E7413D6}"/>
              </a:ext>
            </a:extLst>
          </p:cNvPr>
          <p:cNvSpPr>
            <a:spLocks xmlns:a="http://schemas.openxmlformats.org/drawingml/2006/main" noGrp="1"/>
          </p:cNvSpPr>
          <p:nvPr/>
        </p:nvSpPr>
        <p:spPr>
          <a:xfrm xmlns:a="http://schemas.openxmlformats.org/drawingml/2006/main">
            <a:off x="9477375" y="466725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Reject</a:t>
            </a:r>
          </a:p>
        </p:txBody>
      </p:sp>
      <p:sp>
        <p:nvSpPr>
          <p:cNvPr id="40" name="">
            <a:extLst xmlns:a="http://schemas.openxmlformats.org/drawingml/2006/main">
              <a:ext uri="{FF2B5EF4-FFF2-40B4-BE49-F238E27FC236}">
                <a16:creationId xmlns:a16="http://schemas.microsoft.com/office/drawing/2014/main" id="{3F41FD1A-B513-497F-8C93-3FC77C6F3A30}"/>
              </a:ext>
            </a:extLst>
          </p:cNvPr>
          <p:cNvSpPr>
            <a:spLocks xmlns:a="http://schemas.openxmlformats.org/drawingml/2006/main" noGrp="1"/>
          </p:cNvSpPr>
          <p:nvPr/>
        </p:nvSpPr>
        <p:spPr>
          <a:xfrm xmlns:a="http://schemas.openxmlformats.org/drawingml/2006/main">
            <a:off x="685800" y="512445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41" name="">
            <a:extLst xmlns:a="http://schemas.openxmlformats.org/drawingml/2006/main">
              <a:ext uri="{FF2B5EF4-FFF2-40B4-BE49-F238E27FC236}">
                <a16:creationId xmlns:a16="http://schemas.microsoft.com/office/drawing/2014/main" id="{23A57402-5285-4AF8-AF66-11413A4CC873}"/>
              </a:ext>
            </a:extLst>
          </p:cNvPr>
          <p:cNvSpPr>
            <a:spLocks xmlns:a="http://schemas.openxmlformats.org/drawingml/2006/main" noGrp="1"/>
          </p:cNvSpPr>
          <p:nvPr/>
        </p:nvSpPr>
        <p:spPr>
          <a:xfrm xmlns:a="http://schemas.openxmlformats.org/drawingml/2006/main">
            <a:off x="857250" y="52673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Candidate expansion</a:t>
            </a:r>
          </a:p>
        </p:txBody>
      </p:sp>
      <p:sp>
        <p:nvSpPr>
          <p:cNvPr id="42" name="">
            <a:extLst xmlns:a="http://schemas.openxmlformats.org/drawingml/2006/main">
              <a:ext uri="{FF2B5EF4-FFF2-40B4-BE49-F238E27FC236}">
                <a16:creationId xmlns:a16="http://schemas.microsoft.com/office/drawing/2014/main" id="{93D3D25E-F0A8-4514-B752-A418131E29E6}"/>
              </a:ext>
            </a:extLst>
          </p:cNvPr>
          <p:cNvSpPr>
            <a:spLocks xmlns:a="http://schemas.openxmlformats.org/drawingml/2006/main" noGrp="1"/>
          </p:cNvSpPr>
          <p:nvPr/>
        </p:nvSpPr>
        <p:spPr>
          <a:xfrm xmlns:a="http://schemas.openxmlformats.org/drawingml/2006/main">
            <a:off x="3295650" y="52387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4F7D76"/>
                </a:solidFill>
                <a:latin typeface="Aptos"/>
                <a:ea typeface="Aptos"/>
                <a:cs typeface="Aptos"/>
              </a:defRPr>
            </a:pPr>
            <a:r>
              <a:rPr sz="825" b="1">
                <a:solidFill>
                  <a:srgbClr val="4F7D76"/>
                </a:solidFill>
                <a:latin typeface="Aptos"/>
                <a:ea typeface="Aptos"/>
                <a:cs typeface="Aptos"/>
              </a:rPr>
              <a:t>134 same-coordinate refs</a:t>
            </a:r>
          </a:p>
        </p:txBody>
      </p:sp>
      <p:sp>
        <p:nvSpPr>
          <p:cNvPr id="43" name="">
            <a:extLst xmlns:a="http://schemas.openxmlformats.org/drawingml/2006/main">
              <a:ext uri="{FF2B5EF4-FFF2-40B4-BE49-F238E27FC236}">
                <a16:creationId xmlns:a16="http://schemas.microsoft.com/office/drawing/2014/main" id="{080D0AE7-1960-46D5-86D6-E37F5C20E9A6}"/>
              </a:ext>
            </a:extLst>
          </p:cNvPr>
          <p:cNvSpPr>
            <a:spLocks xmlns:a="http://schemas.openxmlformats.org/drawingml/2006/main" noGrp="1"/>
          </p:cNvSpPr>
          <p:nvPr/>
        </p:nvSpPr>
        <p:spPr>
          <a:xfrm xmlns:a="http://schemas.openxmlformats.org/drawingml/2006/main">
            <a:off x="5943600" y="521970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65717A"/>
                </a:solidFill>
                <a:latin typeface="Aptos"/>
                <a:ea typeface="Aptos"/>
                <a:cs typeface="Aptos"/>
              </a:defRPr>
            </a:pPr>
            <a:r>
              <a:rPr sz="825" b="0">
                <a:solidFill>
                  <a:srgbClr val="65717A"/>
                </a:solidFill>
                <a:latin typeface="Aptos"/>
                <a:ea typeface="Aptos"/>
                <a:cs typeface="Aptos"/>
              </a:rPr>
              <a:t>selected 1.2.0-alpha01 vs source 1.8.1</a:t>
            </a:r>
          </a:p>
        </p:txBody>
      </p:sp>
      <p:sp>
        <p:nvSpPr>
          <p:cNvPr id="44" name="">
            <a:extLst xmlns:a="http://schemas.openxmlformats.org/drawingml/2006/main">
              <a:ext uri="{FF2B5EF4-FFF2-40B4-BE49-F238E27FC236}">
                <a16:creationId xmlns:a16="http://schemas.microsoft.com/office/drawing/2014/main" id="{776D392A-E0DD-4E49-9909-3AD889478BF4}"/>
              </a:ext>
            </a:extLst>
          </p:cNvPr>
          <p:cNvSpPr>
            <a:spLocks xmlns:a="http://schemas.openxmlformats.org/drawingml/2006/main" noGrp="1"/>
          </p:cNvSpPr>
          <p:nvPr/>
        </p:nvSpPr>
        <p:spPr>
          <a:xfrm xmlns:a="http://schemas.openxmlformats.org/drawingml/2006/main">
            <a:off x="9410700" y="5238750"/>
            <a:ext cx="1885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45" name="">
            <a:extLst xmlns:a="http://schemas.openxmlformats.org/drawingml/2006/main">
              <a:ext uri="{FF2B5EF4-FFF2-40B4-BE49-F238E27FC236}">
                <a16:creationId xmlns:a16="http://schemas.microsoft.com/office/drawing/2014/main" id="{32D4F11D-CB0B-47E8-82B6-619A3C777A26}"/>
              </a:ext>
            </a:extLst>
          </p:cNvPr>
          <p:cNvSpPr>
            <a:spLocks xmlns:a="http://schemas.openxmlformats.org/drawingml/2006/main" noGrp="1"/>
          </p:cNvSpPr>
          <p:nvPr/>
        </p:nvSpPr>
        <p:spPr>
          <a:xfrm xmlns:a="http://schemas.openxmlformats.org/drawingml/2006/main">
            <a:off x="9477375" y="529590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Reject</a:t>
            </a:r>
          </a:p>
        </p:txBody>
      </p:sp>
      <p:sp>
        <p:nvSpPr>
          <p:cNvPr id="46" name="">
            <a:extLst xmlns:a="http://schemas.openxmlformats.org/drawingml/2006/main">
              <a:ext uri="{FF2B5EF4-FFF2-40B4-BE49-F238E27FC236}">
                <a16:creationId xmlns:a16="http://schemas.microsoft.com/office/drawing/2014/main" id="{4A326A5F-4A32-4ACF-B140-53E90CFC65C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451983112"/>
      </p:ext>
    </p:extLst>
  </p:cSld>
</p:sld>
</file>

<file path=ppt/slides/slide38.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3B1C3BB-2403-49CC-9A0C-A22AFB5FC10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E9FC7D-7B54-4B67-8A0F-7D4B2A5E4FEE}"/>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C6FC5AC-8DE5-4878-9E61-D14EB44450FA}"/>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365F7D"/>
                </a:solidFill>
                <a:latin typeface="Aptos"/>
                <a:ea typeface="Aptos"/>
                <a:cs typeface="Aptos"/>
              </a:defRPr>
            </a:pPr>
            <a:r>
              <a:rPr sz="900" b="1">
                <a:solidFill>
                  <a:srgbClr val="365F7D"/>
                </a:solidFill>
                <a:latin typeface="Aptos"/>
                <a:ea typeface="Aptos"/>
                <a:cs typeface="Aptos"/>
              </a:rPr>
              <a:t>BACKUP 7</a:t>
            </a:r>
          </a:p>
        </p:txBody>
      </p:sp>
      <p:sp>
        <p:nvSpPr>
          <p:cNvPr id="4" name="">
            <a:extLst xmlns:a="http://schemas.openxmlformats.org/drawingml/2006/main">
              <a:ext uri="{FF2B5EF4-FFF2-40B4-BE49-F238E27FC236}">
                <a16:creationId xmlns:a16="http://schemas.microsoft.com/office/drawing/2014/main" id="{24928F27-A014-47F7-8C8A-41D15BD08FF3}"/>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RandomForest confusion and ablation evidence</a:t>
            </a:r>
          </a:p>
        </p:txBody>
      </p:sp>
      <p:sp>
        <p:nvSpPr>
          <p:cNvPr id="5" name="">
            <a:extLst xmlns:a="http://schemas.openxmlformats.org/drawingml/2006/main">
              <a:ext uri="{FF2B5EF4-FFF2-40B4-BE49-F238E27FC236}">
                <a16:creationId xmlns:a16="http://schemas.microsoft.com/office/drawing/2014/main" id="{8269AE28-8915-4A36-9BDF-DB3DF33A84C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8290A6"/>
                </a:solidFill>
                <a:latin typeface="Aptos"/>
                <a:ea typeface="Aptos"/>
                <a:cs typeface="Aptos"/>
              </a:defRPr>
            </a:pPr>
            <a:r>
              <a:rPr sz="900" b="1">
                <a:solidFill>
                  <a:srgbClr val="8290A6"/>
                </a:solidFill>
                <a:latin typeface="Aptos"/>
                <a:ea typeface="Aptos"/>
                <a:cs typeface="Aptos"/>
              </a:rPr>
              <a:t>38</a:t>
            </a:r>
          </a:p>
        </p:txBody>
      </p:sp>
      <p:sp>
        <p:nvSpPr>
          <p:cNvPr id="6" name="">
            <a:extLst xmlns:a="http://schemas.openxmlformats.org/drawingml/2006/main">
              <a:ext uri="{FF2B5EF4-FFF2-40B4-BE49-F238E27FC236}">
                <a16:creationId xmlns:a16="http://schemas.microsoft.com/office/drawing/2014/main" id="{9B6F9891-51BB-41C7-916D-9A3D2D0F94FD}"/>
              </a:ext>
            </a:extLst>
          </p:cNvPr>
          <p:cNvSpPr>
            <a:spLocks xmlns:a="http://schemas.openxmlformats.org/drawingml/2006/main" noGrp="1"/>
          </p:cNvSpPr>
          <p:nvPr/>
        </p:nvSpPr>
        <p:spPr>
          <a:xfrm xmlns:a="http://schemas.openxmlformats.org/drawingml/2006/main">
            <a:off x="685800" y="1390650"/>
            <a:ext cx="5219700" cy="41719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B37244A6-EA98-4837-B7E0-8668FCDFB57A}"/>
              </a:ext>
            </a:extLst>
          </p:cNvPr>
          <p:cNvSpPr>
            <a:spLocks xmlns:a="http://schemas.openxmlformats.org/drawingml/2006/main" noGrp="1"/>
          </p:cNvSpPr>
          <p:nvPr/>
        </p:nvSpPr>
        <p:spPr>
          <a:xfrm xmlns:a="http://schemas.openxmlformats.org/drawingml/2006/main">
            <a:off x="914400" y="1619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365F7D"/>
                </a:solidFill>
                <a:latin typeface="Aptos"/>
                <a:ea typeface="Aptos"/>
                <a:cs typeface="Aptos"/>
              </a:defRPr>
            </a:pPr>
            <a:r>
              <a:rPr sz="900" b="1">
                <a:solidFill>
                  <a:srgbClr val="365F7D"/>
                </a:solidFill>
                <a:latin typeface="Aptos"/>
                <a:ea typeface="Aptos"/>
                <a:cs typeface="Aptos"/>
              </a:rPr>
              <a:t>TEST PER-CLASS F1</a:t>
            </a:r>
          </a:p>
        </p:txBody>
      </p:sp>
      <p:sp>
        <p:nvSpPr>
          <p:cNvPr id="8" name="">
            <a:extLst xmlns:a="http://schemas.openxmlformats.org/drawingml/2006/main">
              <a:ext uri="{FF2B5EF4-FFF2-40B4-BE49-F238E27FC236}">
                <a16:creationId xmlns:a16="http://schemas.microsoft.com/office/drawing/2014/main" id="{A3C96F1F-BC3C-48A9-A966-B0F0FB028D4A}"/>
              </a:ext>
            </a:extLst>
          </p:cNvPr>
          <p:cNvSpPr>
            <a:spLocks xmlns:a="http://schemas.openxmlformats.org/drawingml/2006/main" noGrp="1"/>
          </p:cNvSpPr>
          <p:nvPr/>
        </p:nvSpPr>
        <p:spPr>
          <a:xfrm xmlns:a="http://schemas.openxmlformats.org/drawingml/2006/main">
            <a:off x="933450" y="20574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confirmed_exact</a:t>
            </a:r>
          </a:p>
        </p:txBody>
      </p:sp>
      <p:sp>
        <p:nvSpPr>
          <p:cNvPr id="9" name="">
            <a:extLst xmlns:a="http://schemas.openxmlformats.org/drawingml/2006/main">
              <a:ext uri="{FF2B5EF4-FFF2-40B4-BE49-F238E27FC236}">
                <a16:creationId xmlns:a16="http://schemas.microsoft.com/office/drawing/2014/main" id="{C6E30CB6-072A-4C84-9F75-0C2F01A2E194}"/>
              </a:ext>
            </a:extLst>
          </p:cNvPr>
          <p:cNvSpPr>
            <a:spLocks xmlns:a="http://schemas.openxmlformats.org/drawingml/2006/main" noGrp="1"/>
          </p:cNvSpPr>
          <p:nvPr/>
        </p:nvSpPr>
        <p:spPr>
          <a:xfrm xmlns:a="http://schemas.openxmlformats.org/drawingml/2006/main">
            <a:off x="3028950" y="209550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B3F283F-53C9-4110-8A5C-518EC3B08AEC}"/>
              </a:ext>
            </a:extLst>
          </p:cNvPr>
          <p:cNvSpPr>
            <a:spLocks xmlns:a="http://schemas.openxmlformats.org/drawingml/2006/main" noGrp="1"/>
          </p:cNvSpPr>
          <p:nvPr/>
        </p:nvSpPr>
        <p:spPr>
          <a:xfrm xmlns:a="http://schemas.openxmlformats.org/drawingml/2006/main">
            <a:off x="3028950" y="2095500"/>
            <a:ext cx="2095500" cy="1333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DA976D2-F3B6-49D1-A4B2-F22190C9013B}"/>
              </a:ext>
            </a:extLst>
          </p:cNvPr>
          <p:cNvSpPr>
            <a:spLocks xmlns:a="http://schemas.openxmlformats.org/drawingml/2006/main" noGrp="1"/>
          </p:cNvSpPr>
          <p:nvPr/>
        </p:nvSpPr>
        <p:spPr>
          <a:xfrm xmlns:a="http://schemas.openxmlformats.org/drawingml/2006/main">
            <a:off x="5219700" y="2038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1">
                <a:solidFill>
                  <a:srgbClr val="6F7C61"/>
                </a:solidFill>
                <a:latin typeface="Aptos"/>
                <a:ea typeface="Aptos"/>
                <a:cs typeface="Aptos"/>
              </a:defRPr>
            </a:pPr>
            <a:r>
              <a:rPr sz="750" b="1">
                <a:solidFill>
                  <a:srgbClr val="6F7C61"/>
                </a:solidFill>
                <a:latin typeface="Aptos"/>
                <a:ea typeface="Aptos"/>
                <a:cs typeface="Aptos"/>
              </a:rPr>
              <a:t>1.000</a:t>
            </a:r>
          </a:p>
        </p:txBody>
      </p:sp>
      <p:sp>
        <p:nvSpPr>
          <p:cNvPr id="12" name="">
            <a:extLst xmlns:a="http://schemas.openxmlformats.org/drawingml/2006/main">
              <a:ext uri="{FF2B5EF4-FFF2-40B4-BE49-F238E27FC236}">
                <a16:creationId xmlns:a16="http://schemas.microsoft.com/office/drawing/2014/main" id="{348428E3-AB64-49C5-8BE9-D0C500BBABE4}"/>
              </a:ext>
            </a:extLst>
          </p:cNvPr>
          <p:cNvSpPr>
            <a:spLocks xmlns:a="http://schemas.openxmlformats.org/drawingml/2006/main" noGrp="1"/>
          </p:cNvSpPr>
          <p:nvPr/>
        </p:nvSpPr>
        <p:spPr>
          <a:xfrm xmlns:a="http://schemas.openxmlformats.org/drawingml/2006/main">
            <a:off x="933450" y="25336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suggest_report_only</a:t>
            </a:r>
          </a:p>
        </p:txBody>
      </p:sp>
      <p:sp>
        <p:nvSpPr>
          <p:cNvPr id="13" name="">
            <a:extLst xmlns:a="http://schemas.openxmlformats.org/drawingml/2006/main">
              <a:ext uri="{FF2B5EF4-FFF2-40B4-BE49-F238E27FC236}">
                <a16:creationId xmlns:a16="http://schemas.microsoft.com/office/drawing/2014/main" id="{A1E5CE0E-9373-4BDD-978A-9E54F14CADAC}"/>
              </a:ext>
            </a:extLst>
          </p:cNvPr>
          <p:cNvSpPr>
            <a:spLocks xmlns:a="http://schemas.openxmlformats.org/drawingml/2006/main" noGrp="1"/>
          </p:cNvSpPr>
          <p:nvPr/>
        </p:nvSpPr>
        <p:spPr>
          <a:xfrm xmlns:a="http://schemas.openxmlformats.org/drawingml/2006/main">
            <a:off x="3028950" y="257175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DEE7F21-7317-4144-9AA6-4ABB90C2FF6D}"/>
              </a:ext>
            </a:extLst>
          </p:cNvPr>
          <p:cNvSpPr>
            <a:spLocks xmlns:a="http://schemas.openxmlformats.org/drawingml/2006/main" noGrp="1"/>
          </p:cNvSpPr>
          <p:nvPr/>
        </p:nvSpPr>
        <p:spPr>
          <a:xfrm xmlns:a="http://schemas.openxmlformats.org/drawingml/2006/main">
            <a:off x="3028950" y="2571750"/>
            <a:ext cx="2095500" cy="1333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7693CDC-6BDD-44EC-A829-860237E1B874}"/>
              </a:ext>
            </a:extLst>
          </p:cNvPr>
          <p:cNvSpPr>
            <a:spLocks xmlns:a="http://schemas.openxmlformats.org/drawingml/2006/main" noGrp="1"/>
          </p:cNvSpPr>
          <p:nvPr/>
        </p:nvSpPr>
        <p:spPr>
          <a:xfrm xmlns:a="http://schemas.openxmlformats.org/drawingml/2006/main">
            <a:off x="5219700" y="2514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1">
                <a:solidFill>
                  <a:srgbClr val="4F7D76"/>
                </a:solidFill>
                <a:latin typeface="Aptos"/>
                <a:ea typeface="Aptos"/>
                <a:cs typeface="Aptos"/>
              </a:defRPr>
            </a:pPr>
            <a:r>
              <a:rPr sz="750" b="1">
                <a:solidFill>
                  <a:srgbClr val="4F7D76"/>
                </a:solidFill>
                <a:latin typeface="Aptos"/>
                <a:ea typeface="Aptos"/>
                <a:cs typeface="Aptos"/>
              </a:rPr>
              <a:t>1.000</a:t>
            </a:r>
          </a:p>
        </p:txBody>
      </p:sp>
      <p:sp>
        <p:nvSpPr>
          <p:cNvPr id="16" name="">
            <a:extLst xmlns:a="http://schemas.openxmlformats.org/drawingml/2006/main">
              <a:ext uri="{FF2B5EF4-FFF2-40B4-BE49-F238E27FC236}">
                <a16:creationId xmlns:a16="http://schemas.microsoft.com/office/drawing/2014/main" id="{96ABCE7D-7DD2-48F4-80E1-FF9212A05519}"/>
              </a:ext>
            </a:extLst>
          </p:cNvPr>
          <p:cNvSpPr>
            <a:spLocks xmlns:a="http://schemas.openxmlformats.org/drawingml/2006/main" noGrp="1"/>
          </p:cNvSpPr>
          <p:nvPr/>
        </p:nvSpPr>
        <p:spPr>
          <a:xfrm xmlns:a="http://schemas.openxmlformats.org/drawingml/2006/main">
            <a:off x="933450" y="30099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suppress_uncertain</a:t>
            </a:r>
          </a:p>
        </p:txBody>
      </p:sp>
      <p:sp>
        <p:nvSpPr>
          <p:cNvPr id="17" name="">
            <a:extLst xmlns:a="http://schemas.openxmlformats.org/drawingml/2006/main">
              <a:ext uri="{FF2B5EF4-FFF2-40B4-BE49-F238E27FC236}">
                <a16:creationId xmlns:a16="http://schemas.microsoft.com/office/drawing/2014/main" id="{FAB0677E-595D-4204-9644-D237114D0F0F}"/>
              </a:ext>
            </a:extLst>
          </p:cNvPr>
          <p:cNvSpPr>
            <a:spLocks xmlns:a="http://schemas.openxmlformats.org/drawingml/2006/main" noGrp="1"/>
          </p:cNvSpPr>
          <p:nvPr/>
        </p:nvSpPr>
        <p:spPr>
          <a:xfrm xmlns:a="http://schemas.openxmlformats.org/drawingml/2006/main">
            <a:off x="3028950" y="304800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560EBC8-DE08-44B3-A633-660B962355C2}"/>
              </a:ext>
            </a:extLst>
          </p:cNvPr>
          <p:cNvSpPr>
            <a:spLocks xmlns:a="http://schemas.openxmlformats.org/drawingml/2006/main" noGrp="1"/>
          </p:cNvSpPr>
          <p:nvPr/>
        </p:nvSpPr>
        <p:spPr>
          <a:xfrm xmlns:a="http://schemas.openxmlformats.org/drawingml/2006/main">
            <a:off x="3028950" y="3048000"/>
            <a:ext cx="1911096" cy="1333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9659F5A-36EB-425A-BA3C-F7CA2FA09C31}"/>
              </a:ext>
            </a:extLst>
          </p:cNvPr>
          <p:cNvSpPr>
            <a:spLocks xmlns:a="http://schemas.openxmlformats.org/drawingml/2006/main" noGrp="1"/>
          </p:cNvSpPr>
          <p:nvPr/>
        </p:nvSpPr>
        <p:spPr>
          <a:xfrm xmlns:a="http://schemas.openxmlformats.org/drawingml/2006/main">
            <a:off x="5219700" y="29908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1">
                <a:solidFill>
                  <a:srgbClr val="8D754D"/>
                </a:solidFill>
                <a:latin typeface="Aptos"/>
                <a:ea typeface="Aptos"/>
                <a:cs typeface="Aptos"/>
              </a:defRPr>
            </a:pPr>
            <a:r>
              <a:rPr sz="750" b="1">
                <a:solidFill>
                  <a:srgbClr val="8D754D"/>
                </a:solidFill>
                <a:latin typeface="Aptos"/>
                <a:ea typeface="Aptos"/>
                <a:cs typeface="Aptos"/>
              </a:rPr>
              <a:t>0.912</a:t>
            </a:r>
          </a:p>
        </p:txBody>
      </p:sp>
      <p:sp>
        <p:nvSpPr>
          <p:cNvPr id="20" name="">
            <a:extLst xmlns:a="http://schemas.openxmlformats.org/drawingml/2006/main">
              <a:ext uri="{FF2B5EF4-FFF2-40B4-BE49-F238E27FC236}">
                <a16:creationId xmlns:a16="http://schemas.microsoft.com/office/drawing/2014/main" id="{FEFEEF02-77FA-45B9-BD95-C9E42E44E49F}"/>
              </a:ext>
            </a:extLst>
          </p:cNvPr>
          <p:cNvSpPr>
            <a:spLocks xmlns:a="http://schemas.openxmlformats.org/drawingml/2006/main" noGrp="1"/>
          </p:cNvSpPr>
          <p:nvPr/>
        </p:nvSpPr>
        <p:spPr>
          <a:xfrm xmlns:a="http://schemas.openxmlformats.org/drawingml/2006/main">
            <a:off x="933450" y="34861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boundary_do_not_suggest</a:t>
            </a:r>
          </a:p>
        </p:txBody>
      </p:sp>
      <p:sp>
        <p:nvSpPr>
          <p:cNvPr id="21" name="">
            <a:extLst xmlns:a="http://schemas.openxmlformats.org/drawingml/2006/main">
              <a:ext uri="{FF2B5EF4-FFF2-40B4-BE49-F238E27FC236}">
                <a16:creationId xmlns:a16="http://schemas.microsoft.com/office/drawing/2014/main" id="{08E2939E-F3A3-4D61-A75F-3BE1025FF737}"/>
              </a:ext>
            </a:extLst>
          </p:cNvPr>
          <p:cNvSpPr>
            <a:spLocks xmlns:a="http://schemas.openxmlformats.org/drawingml/2006/main" noGrp="1"/>
          </p:cNvSpPr>
          <p:nvPr/>
        </p:nvSpPr>
        <p:spPr>
          <a:xfrm xmlns:a="http://schemas.openxmlformats.org/drawingml/2006/main">
            <a:off x="3028950" y="352425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25B9D74-193B-4AF7-A43F-F793DA081294}"/>
              </a:ext>
            </a:extLst>
          </p:cNvPr>
          <p:cNvSpPr>
            <a:spLocks xmlns:a="http://schemas.openxmlformats.org/drawingml/2006/main" noGrp="1"/>
          </p:cNvSpPr>
          <p:nvPr/>
        </p:nvSpPr>
        <p:spPr>
          <a:xfrm xmlns:a="http://schemas.openxmlformats.org/drawingml/2006/main">
            <a:off x="3028950" y="3524250"/>
            <a:ext cx="1682687" cy="1333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80155FA-0332-400B-AAF7-DF3DCF00CDCF}"/>
              </a:ext>
            </a:extLst>
          </p:cNvPr>
          <p:cNvSpPr>
            <a:spLocks xmlns:a="http://schemas.openxmlformats.org/drawingml/2006/main" noGrp="1"/>
          </p:cNvSpPr>
          <p:nvPr/>
        </p:nvSpPr>
        <p:spPr>
          <a:xfrm xmlns:a="http://schemas.openxmlformats.org/drawingml/2006/main">
            <a:off x="5219700" y="34671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1">
                <a:solidFill>
                  <a:srgbClr val="655F73"/>
                </a:solidFill>
                <a:latin typeface="Aptos"/>
                <a:ea typeface="Aptos"/>
                <a:cs typeface="Aptos"/>
              </a:defRPr>
            </a:pPr>
            <a:r>
              <a:rPr sz="750" b="1">
                <a:solidFill>
                  <a:srgbClr val="655F73"/>
                </a:solidFill>
                <a:latin typeface="Aptos"/>
                <a:ea typeface="Aptos"/>
                <a:cs typeface="Aptos"/>
              </a:rPr>
              <a:t>0.803</a:t>
            </a:r>
          </a:p>
        </p:txBody>
      </p:sp>
      <p:sp>
        <p:nvSpPr>
          <p:cNvPr id="24" name="">
            <a:extLst xmlns:a="http://schemas.openxmlformats.org/drawingml/2006/main">
              <a:ext uri="{FF2B5EF4-FFF2-40B4-BE49-F238E27FC236}">
                <a16:creationId xmlns:a16="http://schemas.microsoft.com/office/drawing/2014/main" id="{A57DFFD2-5931-4602-85F6-D34D91A78685}"/>
              </a:ext>
            </a:extLst>
          </p:cNvPr>
          <p:cNvSpPr>
            <a:spLocks xmlns:a="http://schemas.openxmlformats.org/drawingml/2006/main" noGrp="1"/>
          </p:cNvSpPr>
          <p:nvPr/>
        </p:nvSpPr>
        <p:spPr>
          <a:xfrm xmlns:a="http://schemas.openxmlformats.org/drawingml/2006/main">
            <a:off x="933450" y="39624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risk_only</a:t>
            </a:r>
          </a:p>
        </p:txBody>
      </p:sp>
      <p:sp>
        <p:nvSpPr>
          <p:cNvPr id="25" name="">
            <a:extLst xmlns:a="http://schemas.openxmlformats.org/drawingml/2006/main">
              <a:ext uri="{FF2B5EF4-FFF2-40B4-BE49-F238E27FC236}">
                <a16:creationId xmlns:a16="http://schemas.microsoft.com/office/drawing/2014/main" id="{2D206700-35A4-4BCD-824E-56369C62E1D7}"/>
              </a:ext>
            </a:extLst>
          </p:cNvPr>
          <p:cNvSpPr>
            <a:spLocks xmlns:a="http://schemas.openxmlformats.org/drawingml/2006/main" noGrp="1"/>
          </p:cNvSpPr>
          <p:nvPr/>
        </p:nvSpPr>
        <p:spPr>
          <a:xfrm xmlns:a="http://schemas.openxmlformats.org/drawingml/2006/main">
            <a:off x="3028950" y="400050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198C0FE-84A7-4BEC-A0EB-B297A0356B4B}"/>
              </a:ext>
            </a:extLst>
          </p:cNvPr>
          <p:cNvSpPr>
            <a:spLocks xmlns:a="http://schemas.openxmlformats.org/drawingml/2006/main" noGrp="1"/>
          </p:cNvSpPr>
          <p:nvPr/>
        </p:nvSpPr>
        <p:spPr>
          <a:xfrm xmlns:a="http://schemas.openxmlformats.org/drawingml/2006/main">
            <a:off x="3028950" y="4000500"/>
            <a:ext cx="737616" cy="1333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8D495FE-E5D8-4B46-8B0B-5F8CE2C4F32D}"/>
              </a:ext>
            </a:extLst>
          </p:cNvPr>
          <p:cNvSpPr>
            <a:spLocks xmlns:a="http://schemas.openxmlformats.org/drawingml/2006/main" noGrp="1"/>
          </p:cNvSpPr>
          <p:nvPr/>
        </p:nvSpPr>
        <p:spPr>
          <a:xfrm xmlns:a="http://schemas.openxmlformats.org/drawingml/2006/main">
            <a:off x="5219700" y="3943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1">
                <a:solidFill>
                  <a:srgbClr val="365F7D"/>
                </a:solidFill>
                <a:latin typeface="Aptos"/>
                <a:ea typeface="Aptos"/>
                <a:cs typeface="Aptos"/>
              </a:defRPr>
            </a:pPr>
            <a:r>
              <a:rPr sz="750" b="1">
                <a:solidFill>
                  <a:srgbClr val="365F7D"/>
                </a:solidFill>
                <a:latin typeface="Aptos"/>
                <a:ea typeface="Aptos"/>
                <a:cs typeface="Aptos"/>
              </a:rPr>
              <a:t>0.352</a:t>
            </a:r>
          </a:p>
        </p:txBody>
      </p:sp>
      <p:sp>
        <p:nvSpPr>
          <p:cNvPr id="28" name="">
            <a:extLst xmlns:a="http://schemas.openxmlformats.org/drawingml/2006/main">
              <a:ext uri="{FF2B5EF4-FFF2-40B4-BE49-F238E27FC236}">
                <a16:creationId xmlns:a16="http://schemas.microsoft.com/office/drawing/2014/main" id="{BB14986E-3D44-43AF-8FCB-30F00E7CFD09}"/>
              </a:ext>
            </a:extLst>
          </p:cNvPr>
          <p:cNvSpPr>
            <a:spLocks xmlns:a="http://schemas.openxmlformats.org/drawingml/2006/main" noGrp="1"/>
          </p:cNvSpPr>
          <p:nvPr/>
        </p:nvSpPr>
        <p:spPr>
          <a:xfrm xmlns:a="http://schemas.openxmlformats.org/drawingml/2006/main">
            <a:off x="933450" y="44386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FFFFFF"/>
                </a:solidFill>
                <a:latin typeface="Aptos"/>
                <a:ea typeface="Aptos"/>
                <a:cs typeface="Aptos"/>
              </a:defRPr>
            </a:pPr>
            <a:r>
              <a:rPr sz="825" b="1">
                <a:solidFill>
                  <a:srgbClr val="FFFFFF"/>
                </a:solidFill>
                <a:latin typeface="Aptos"/>
                <a:ea typeface="Aptos"/>
                <a:cs typeface="Aptos"/>
              </a:rPr>
              <a:t>mismatch_or_extra</a:t>
            </a:r>
          </a:p>
        </p:txBody>
      </p:sp>
      <p:sp>
        <p:nvSpPr>
          <p:cNvPr id="29" name="">
            <a:extLst xmlns:a="http://schemas.openxmlformats.org/drawingml/2006/main">
              <a:ext uri="{FF2B5EF4-FFF2-40B4-BE49-F238E27FC236}">
                <a16:creationId xmlns:a16="http://schemas.microsoft.com/office/drawing/2014/main" id="{2D1DB920-0DD0-4FE2-8DED-6ABFC0772177}"/>
              </a:ext>
            </a:extLst>
          </p:cNvPr>
          <p:cNvSpPr>
            <a:spLocks xmlns:a="http://schemas.openxmlformats.org/drawingml/2006/main" noGrp="1"/>
          </p:cNvSpPr>
          <p:nvPr/>
        </p:nvSpPr>
        <p:spPr>
          <a:xfrm xmlns:a="http://schemas.openxmlformats.org/drawingml/2006/main">
            <a:off x="3028950" y="447675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5FECBBF-73F3-4287-B7CE-C806C578D023}"/>
              </a:ext>
            </a:extLst>
          </p:cNvPr>
          <p:cNvSpPr>
            <a:spLocks xmlns:a="http://schemas.openxmlformats.org/drawingml/2006/main" noGrp="1"/>
          </p:cNvSpPr>
          <p:nvPr/>
        </p:nvSpPr>
        <p:spPr>
          <a:xfrm xmlns:a="http://schemas.openxmlformats.org/drawingml/2006/main">
            <a:off x="3028950" y="4476750"/>
            <a:ext cx="375094" cy="1333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BEBA1D5-1696-43D0-9862-6220372AE4BF}"/>
              </a:ext>
            </a:extLst>
          </p:cNvPr>
          <p:cNvSpPr>
            <a:spLocks xmlns:a="http://schemas.openxmlformats.org/drawingml/2006/main" noGrp="1"/>
          </p:cNvSpPr>
          <p:nvPr/>
        </p:nvSpPr>
        <p:spPr>
          <a:xfrm xmlns:a="http://schemas.openxmlformats.org/drawingml/2006/main">
            <a:off x="5219700" y="4419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1">
                <a:solidFill>
                  <a:srgbClr val="A65C55"/>
                </a:solidFill>
                <a:latin typeface="Aptos"/>
                <a:ea typeface="Aptos"/>
                <a:cs typeface="Aptos"/>
              </a:defRPr>
            </a:pPr>
            <a:r>
              <a:rPr sz="750" b="1">
                <a:solidFill>
                  <a:srgbClr val="A65C55"/>
                </a:solidFill>
                <a:latin typeface="Aptos"/>
                <a:ea typeface="Aptos"/>
                <a:cs typeface="Aptos"/>
              </a:rPr>
              <a:t>0.179</a:t>
            </a:r>
          </a:p>
        </p:txBody>
      </p:sp>
      <p:sp>
        <p:nvSpPr>
          <p:cNvPr id="32" name="">
            <a:extLst xmlns:a="http://schemas.openxmlformats.org/drawingml/2006/main">
              <a:ext uri="{FF2B5EF4-FFF2-40B4-BE49-F238E27FC236}">
                <a16:creationId xmlns:a16="http://schemas.microsoft.com/office/drawing/2014/main" id="{CEA2A655-C978-4C51-945E-08484BE5F316}"/>
              </a:ext>
            </a:extLst>
          </p:cNvPr>
          <p:cNvSpPr>
            <a:spLocks xmlns:a="http://schemas.openxmlformats.org/drawingml/2006/main" noGrp="1"/>
          </p:cNvSpPr>
          <p:nvPr/>
        </p:nvSpPr>
        <p:spPr>
          <a:xfrm xmlns:a="http://schemas.openxmlformats.org/drawingml/2006/main">
            <a:off x="6191250" y="1390650"/>
            <a:ext cx="531495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CFFBC31B-52C2-4E4D-99AD-46696D127149}"/>
              </a:ext>
            </a:extLst>
          </p:cNvPr>
          <p:cNvSpPr>
            <a:spLocks xmlns:a="http://schemas.openxmlformats.org/drawingml/2006/main" noGrp="1"/>
          </p:cNvSpPr>
          <p:nvPr/>
        </p:nvSpPr>
        <p:spPr>
          <a:xfrm xmlns:a="http://schemas.openxmlformats.org/drawingml/2006/main">
            <a:off x="6419850" y="1619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5F73"/>
                </a:solidFill>
                <a:latin typeface="Aptos"/>
                <a:ea typeface="Aptos"/>
                <a:cs typeface="Aptos"/>
              </a:defRPr>
            </a:pPr>
            <a:r>
              <a:rPr sz="900" b="1">
                <a:solidFill>
                  <a:srgbClr val="655F73"/>
                </a:solidFill>
                <a:latin typeface="Aptos"/>
                <a:ea typeface="Aptos"/>
                <a:cs typeface="Aptos"/>
              </a:rPr>
              <a:t>ABLATION MACRO-F1</a:t>
            </a:r>
          </a:p>
        </p:txBody>
      </p:sp>
      <p:sp>
        <p:nvSpPr>
          <p:cNvPr id="34" name="">
            <a:extLst xmlns:a="http://schemas.openxmlformats.org/drawingml/2006/main">
              <a:ext uri="{FF2B5EF4-FFF2-40B4-BE49-F238E27FC236}">
                <a16:creationId xmlns:a16="http://schemas.microsoft.com/office/drawing/2014/main" id="{C3BB7AEF-A496-4F42-8FC7-6AA8043E2DC1}"/>
              </a:ext>
            </a:extLst>
          </p:cNvPr>
          <p:cNvSpPr>
            <a:spLocks xmlns:a="http://schemas.openxmlformats.org/drawingml/2006/main" noGrp="1"/>
          </p:cNvSpPr>
          <p:nvPr/>
        </p:nvSpPr>
        <p:spPr>
          <a:xfrm xmlns:a="http://schemas.openxmlformats.org/drawingml/2006/main">
            <a:off x="6419850" y="20574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all features</a:t>
            </a:r>
          </a:p>
        </p:txBody>
      </p:sp>
      <p:sp>
        <p:nvSpPr>
          <p:cNvPr id="35" name="">
            <a:extLst xmlns:a="http://schemas.openxmlformats.org/drawingml/2006/main">
              <a:ext uri="{FF2B5EF4-FFF2-40B4-BE49-F238E27FC236}">
                <a16:creationId xmlns:a16="http://schemas.microsoft.com/office/drawing/2014/main" id="{77313F94-B364-4C38-BCF4-D65E16218639}"/>
              </a:ext>
            </a:extLst>
          </p:cNvPr>
          <p:cNvSpPr>
            <a:spLocks xmlns:a="http://schemas.openxmlformats.org/drawingml/2006/main" noGrp="1"/>
          </p:cNvSpPr>
          <p:nvPr/>
        </p:nvSpPr>
        <p:spPr>
          <a:xfrm xmlns:a="http://schemas.openxmlformats.org/drawingml/2006/main">
            <a:off x="8191500" y="209550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A9823B69-32B5-48E0-B13A-887C0938A7BF}"/>
              </a:ext>
            </a:extLst>
          </p:cNvPr>
          <p:cNvSpPr>
            <a:spLocks xmlns:a="http://schemas.openxmlformats.org/drawingml/2006/main" noGrp="1"/>
          </p:cNvSpPr>
          <p:nvPr/>
        </p:nvSpPr>
        <p:spPr>
          <a:xfrm xmlns:a="http://schemas.openxmlformats.org/drawingml/2006/main">
            <a:off x="8191500" y="2095500"/>
            <a:ext cx="1685925" cy="1333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D6C50F7-062F-4F73-B57C-67247DEEE20E}"/>
              </a:ext>
            </a:extLst>
          </p:cNvPr>
          <p:cNvSpPr>
            <a:spLocks xmlns:a="http://schemas.openxmlformats.org/drawingml/2006/main" noGrp="1"/>
          </p:cNvSpPr>
          <p:nvPr/>
        </p:nvSpPr>
        <p:spPr>
          <a:xfrm xmlns:a="http://schemas.openxmlformats.org/drawingml/2006/main">
            <a:off x="10668000" y="20383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1">
                <a:solidFill>
                  <a:srgbClr val="365F7D"/>
                </a:solidFill>
                <a:latin typeface="Aptos"/>
                <a:ea typeface="Aptos"/>
                <a:cs typeface="Aptos"/>
              </a:defRPr>
            </a:pPr>
            <a:r>
              <a:rPr sz="750" b="1">
                <a:solidFill>
                  <a:srgbClr val="365F7D"/>
                </a:solidFill>
                <a:latin typeface="Aptos"/>
                <a:ea typeface="Aptos"/>
                <a:cs typeface="Aptos"/>
              </a:rPr>
              <a:t>0.708</a:t>
            </a:r>
          </a:p>
        </p:txBody>
      </p:sp>
      <p:sp>
        <p:nvSpPr>
          <p:cNvPr id="38" name="">
            <a:extLst xmlns:a="http://schemas.openxmlformats.org/drawingml/2006/main">
              <a:ext uri="{FF2B5EF4-FFF2-40B4-BE49-F238E27FC236}">
                <a16:creationId xmlns:a16="http://schemas.microsoft.com/office/drawing/2014/main" id="{79A4444D-8F7F-43E1-94B5-A5C44C435139}"/>
              </a:ext>
            </a:extLst>
          </p:cNvPr>
          <p:cNvSpPr>
            <a:spLocks xmlns:a="http://schemas.openxmlformats.org/drawingml/2006/main" noGrp="1"/>
          </p:cNvSpPr>
          <p:nvPr/>
        </p:nvSpPr>
        <p:spPr>
          <a:xfrm xmlns:a="http://schemas.openxmlformats.org/drawingml/2006/main">
            <a:off x="6419850" y="2533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no overlap counts</a:t>
            </a:r>
          </a:p>
        </p:txBody>
      </p:sp>
      <p:sp>
        <p:nvSpPr>
          <p:cNvPr id="39" name="">
            <a:extLst xmlns:a="http://schemas.openxmlformats.org/drawingml/2006/main">
              <a:ext uri="{FF2B5EF4-FFF2-40B4-BE49-F238E27FC236}">
                <a16:creationId xmlns:a16="http://schemas.microsoft.com/office/drawing/2014/main" id="{2A54183C-AF27-45A1-A830-437F707ACC22}"/>
              </a:ext>
            </a:extLst>
          </p:cNvPr>
          <p:cNvSpPr>
            <a:spLocks xmlns:a="http://schemas.openxmlformats.org/drawingml/2006/main" noGrp="1"/>
          </p:cNvSpPr>
          <p:nvPr/>
        </p:nvSpPr>
        <p:spPr>
          <a:xfrm xmlns:a="http://schemas.openxmlformats.org/drawingml/2006/main">
            <a:off x="8191500" y="257175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510F6BDD-ABC4-42E1-8F9C-A4B9EEF08CF4}"/>
              </a:ext>
            </a:extLst>
          </p:cNvPr>
          <p:cNvSpPr>
            <a:spLocks xmlns:a="http://schemas.openxmlformats.org/drawingml/2006/main" noGrp="1"/>
          </p:cNvSpPr>
          <p:nvPr/>
        </p:nvSpPr>
        <p:spPr>
          <a:xfrm xmlns:a="http://schemas.openxmlformats.org/drawingml/2006/main">
            <a:off x="8191500" y="2571750"/>
            <a:ext cx="1690688" cy="1333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AEA85BD6-344C-4A5A-B06A-CA053DE618CD}"/>
              </a:ext>
            </a:extLst>
          </p:cNvPr>
          <p:cNvSpPr>
            <a:spLocks xmlns:a="http://schemas.openxmlformats.org/drawingml/2006/main" noGrp="1"/>
          </p:cNvSpPr>
          <p:nvPr/>
        </p:nvSpPr>
        <p:spPr>
          <a:xfrm xmlns:a="http://schemas.openxmlformats.org/drawingml/2006/main">
            <a:off x="10668000" y="25146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1">
                <a:solidFill>
                  <a:srgbClr val="4F7D76"/>
                </a:solidFill>
                <a:latin typeface="Aptos"/>
                <a:ea typeface="Aptos"/>
                <a:cs typeface="Aptos"/>
              </a:defRPr>
            </a:pPr>
            <a:r>
              <a:rPr sz="750" b="1">
                <a:solidFill>
                  <a:srgbClr val="4F7D76"/>
                </a:solidFill>
                <a:latin typeface="Aptos"/>
                <a:ea typeface="Aptos"/>
                <a:cs typeface="Aptos"/>
              </a:rPr>
              <a:t>0.710</a:t>
            </a:r>
          </a:p>
        </p:txBody>
      </p:sp>
      <p:sp>
        <p:nvSpPr>
          <p:cNvPr id="42" name="">
            <a:extLst xmlns:a="http://schemas.openxmlformats.org/drawingml/2006/main">
              <a:ext uri="{FF2B5EF4-FFF2-40B4-BE49-F238E27FC236}">
                <a16:creationId xmlns:a16="http://schemas.microsoft.com/office/drawing/2014/main" id="{D6D35D31-63E1-4A24-8BF1-969256511619}"/>
              </a:ext>
            </a:extLst>
          </p:cNvPr>
          <p:cNvSpPr>
            <a:spLocks xmlns:a="http://schemas.openxmlformats.org/drawingml/2006/main" noGrp="1"/>
          </p:cNvSpPr>
          <p:nvPr/>
        </p:nvSpPr>
        <p:spPr>
          <a:xfrm xmlns:a="http://schemas.openxmlformats.org/drawingml/2006/main">
            <a:off x="6419850" y="30099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no context flags</a:t>
            </a:r>
          </a:p>
        </p:txBody>
      </p:sp>
      <p:sp>
        <p:nvSpPr>
          <p:cNvPr id="43" name="">
            <a:extLst xmlns:a="http://schemas.openxmlformats.org/drawingml/2006/main">
              <a:ext uri="{FF2B5EF4-FFF2-40B4-BE49-F238E27FC236}">
                <a16:creationId xmlns:a16="http://schemas.microsoft.com/office/drawing/2014/main" id="{DD2EC499-4533-40D0-9735-E61C1B587C90}"/>
              </a:ext>
            </a:extLst>
          </p:cNvPr>
          <p:cNvSpPr>
            <a:spLocks xmlns:a="http://schemas.openxmlformats.org/drawingml/2006/main" noGrp="1"/>
          </p:cNvSpPr>
          <p:nvPr/>
        </p:nvSpPr>
        <p:spPr>
          <a:xfrm xmlns:a="http://schemas.openxmlformats.org/drawingml/2006/main">
            <a:off x="8191500" y="304800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4110F186-3B9E-494B-A9A6-0B3D198BCF62}"/>
              </a:ext>
            </a:extLst>
          </p:cNvPr>
          <p:cNvSpPr>
            <a:spLocks xmlns:a="http://schemas.openxmlformats.org/drawingml/2006/main" noGrp="1"/>
          </p:cNvSpPr>
          <p:nvPr/>
        </p:nvSpPr>
        <p:spPr>
          <a:xfrm xmlns:a="http://schemas.openxmlformats.org/drawingml/2006/main">
            <a:off x="8191500" y="3048000"/>
            <a:ext cx="1343025" cy="1333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D56BF63-E9ED-47FF-BBB9-8B47AF71F56C}"/>
              </a:ext>
            </a:extLst>
          </p:cNvPr>
          <p:cNvSpPr>
            <a:spLocks xmlns:a="http://schemas.openxmlformats.org/drawingml/2006/main" noGrp="1"/>
          </p:cNvSpPr>
          <p:nvPr/>
        </p:nvSpPr>
        <p:spPr>
          <a:xfrm xmlns:a="http://schemas.openxmlformats.org/drawingml/2006/main">
            <a:off x="10668000" y="2990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1">
                <a:solidFill>
                  <a:srgbClr val="8D754D"/>
                </a:solidFill>
                <a:latin typeface="Aptos"/>
                <a:ea typeface="Aptos"/>
                <a:cs typeface="Aptos"/>
              </a:defRPr>
            </a:pPr>
            <a:r>
              <a:rPr sz="750" b="1">
                <a:solidFill>
                  <a:srgbClr val="8D754D"/>
                </a:solidFill>
                <a:latin typeface="Aptos"/>
                <a:ea typeface="Aptos"/>
                <a:cs typeface="Aptos"/>
              </a:rPr>
              <a:t>0.564</a:t>
            </a:r>
          </a:p>
        </p:txBody>
      </p:sp>
      <p:sp>
        <p:nvSpPr>
          <p:cNvPr id="46" name="">
            <a:extLst xmlns:a="http://schemas.openxmlformats.org/drawingml/2006/main">
              <a:ext uri="{FF2B5EF4-FFF2-40B4-BE49-F238E27FC236}">
                <a16:creationId xmlns:a16="http://schemas.microsoft.com/office/drawing/2014/main" id="{BCC860D3-EEF1-4182-A02A-EEB0A1DEDF2B}"/>
              </a:ext>
            </a:extLst>
          </p:cNvPr>
          <p:cNvSpPr>
            <a:spLocks xmlns:a="http://schemas.openxmlformats.org/drawingml/2006/main" noGrp="1"/>
          </p:cNvSpPr>
          <p:nvPr/>
        </p:nvSpPr>
        <p:spPr>
          <a:xfrm xmlns:a="http://schemas.openxmlformats.org/drawingml/2006/main">
            <a:off x="6419850" y="34861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scores only</a:t>
            </a:r>
          </a:p>
        </p:txBody>
      </p:sp>
      <p:sp>
        <p:nvSpPr>
          <p:cNvPr id="47" name="">
            <a:extLst xmlns:a="http://schemas.openxmlformats.org/drawingml/2006/main">
              <a:ext uri="{FF2B5EF4-FFF2-40B4-BE49-F238E27FC236}">
                <a16:creationId xmlns:a16="http://schemas.microsoft.com/office/drawing/2014/main" id="{1CE4E2D2-583D-4E23-B514-38C0087430CA}"/>
              </a:ext>
            </a:extLst>
          </p:cNvPr>
          <p:cNvSpPr>
            <a:spLocks xmlns:a="http://schemas.openxmlformats.org/drawingml/2006/main" noGrp="1"/>
          </p:cNvSpPr>
          <p:nvPr/>
        </p:nvSpPr>
        <p:spPr>
          <a:xfrm xmlns:a="http://schemas.openxmlformats.org/drawingml/2006/main">
            <a:off x="8191500" y="352425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9537426A-C171-4597-AD85-8E21F80C04E4}"/>
              </a:ext>
            </a:extLst>
          </p:cNvPr>
          <p:cNvSpPr>
            <a:spLocks xmlns:a="http://schemas.openxmlformats.org/drawingml/2006/main" noGrp="1"/>
          </p:cNvSpPr>
          <p:nvPr/>
        </p:nvSpPr>
        <p:spPr>
          <a:xfrm xmlns:a="http://schemas.openxmlformats.org/drawingml/2006/main">
            <a:off x="8191500" y="3524250"/>
            <a:ext cx="1328738" cy="1333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2D881EB2-0ADC-43B2-B40E-91CCDDA96541}"/>
              </a:ext>
            </a:extLst>
          </p:cNvPr>
          <p:cNvSpPr>
            <a:spLocks xmlns:a="http://schemas.openxmlformats.org/drawingml/2006/main" noGrp="1"/>
          </p:cNvSpPr>
          <p:nvPr/>
        </p:nvSpPr>
        <p:spPr>
          <a:xfrm xmlns:a="http://schemas.openxmlformats.org/drawingml/2006/main">
            <a:off x="10668000" y="34671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1">
                <a:solidFill>
                  <a:srgbClr val="655F73"/>
                </a:solidFill>
                <a:latin typeface="Aptos"/>
                <a:ea typeface="Aptos"/>
                <a:cs typeface="Aptos"/>
              </a:defRPr>
            </a:pPr>
            <a:r>
              <a:rPr sz="750" b="1">
                <a:solidFill>
                  <a:srgbClr val="655F73"/>
                </a:solidFill>
                <a:latin typeface="Aptos"/>
                <a:ea typeface="Aptos"/>
                <a:cs typeface="Aptos"/>
              </a:rPr>
              <a:t>0.558</a:t>
            </a:r>
          </a:p>
        </p:txBody>
      </p:sp>
      <p:sp>
        <p:nvSpPr>
          <p:cNvPr id="50" name="">
            <a:extLst xmlns:a="http://schemas.openxmlformats.org/drawingml/2006/main">
              <a:ext uri="{FF2B5EF4-FFF2-40B4-BE49-F238E27FC236}">
                <a16:creationId xmlns:a16="http://schemas.microsoft.com/office/drawing/2014/main" id="{A70E4AEE-B0BB-45D2-9908-0B4EA0B79A7A}"/>
              </a:ext>
            </a:extLst>
          </p:cNvPr>
          <p:cNvSpPr>
            <a:spLocks xmlns:a="http://schemas.openxmlformats.org/drawingml/2006/main" noGrp="1"/>
          </p:cNvSpPr>
          <p:nvPr/>
        </p:nvSpPr>
        <p:spPr>
          <a:xfrm xmlns:a="http://schemas.openxmlformats.org/drawingml/2006/main">
            <a:off x="6419850" y="39624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overlap counts only</a:t>
            </a:r>
          </a:p>
        </p:txBody>
      </p:sp>
      <p:sp>
        <p:nvSpPr>
          <p:cNvPr id="51" name="">
            <a:extLst xmlns:a="http://schemas.openxmlformats.org/drawingml/2006/main">
              <a:ext uri="{FF2B5EF4-FFF2-40B4-BE49-F238E27FC236}">
                <a16:creationId xmlns:a16="http://schemas.microsoft.com/office/drawing/2014/main" id="{EE77EEBF-498F-4555-9A5B-A1EF96D1448B}"/>
              </a:ext>
            </a:extLst>
          </p:cNvPr>
          <p:cNvSpPr>
            <a:spLocks xmlns:a="http://schemas.openxmlformats.org/drawingml/2006/main" noGrp="1"/>
          </p:cNvSpPr>
          <p:nvPr/>
        </p:nvSpPr>
        <p:spPr>
          <a:xfrm xmlns:a="http://schemas.openxmlformats.org/drawingml/2006/main">
            <a:off x="8191500" y="400050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402E56F3-21AD-40A5-928C-8881BE6422A0}"/>
              </a:ext>
            </a:extLst>
          </p:cNvPr>
          <p:cNvSpPr>
            <a:spLocks xmlns:a="http://schemas.openxmlformats.org/drawingml/2006/main" noGrp="1"/>
          </p:cNvSpPr>
          <p:nvPr/>
        </p:nvSpPr>
        <p:spPr>
          <a:xfrm xmlns:a="http://schemas.openxmlformats.org/drawingml/2006/main">
            <a:off x="8191500" y="4000500"/>
            <a:ext cx="419100" cy="1333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816BC487-B31F-4D11-9D8D-FD1880E0DABB}"/>
              </a:ext>
            </a:extLst>
          </p:cNvPr>
          <p:cNvSpPr>
            <a:spLocks xmlns:a="http://schemas.openxmlformats.org/drawingml/2006/main" noGrp="1"/>
          </p:cNvSpPr>
          <p:nvPr/>
        </p:nvSpPr>
        <p:spPr>
          <a:xfrm xmlns:a="http://schemas.openxmlformats.org/drawingml/2006/main">
            <a:off x="10668000" y="39433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1">
                <a:solidFill>
                  <a:srgbClr val="A65C55"/>
                </a:solidFill>
                <a:latin typeface="Aptos"/>
                <a:ea typeface="Aptos"/>
                <a:cs typeface="Aptos"/>
              </a:defRPr>
            </a:pPr>
            <a:r>
              <a:rPr sz="750" b="1">
                <a:solidFill>
                  <a:srgbClr val="A65C55"/>
                </a:solidFill>
                <a:latin typeface="Aptos"/>
                <a:ea typeface="Aptos"/>
                <a:cs typeface="Aptos"/>
              </a:rPr>
              <a:t>0.176</a:t>
            </a:r>
          </a:p>
        </p:txBody>
      </p:sp>
      <p:sp>
        <p:nvSpPr>
          <p:cNvPr id="54" name="">
            <a:extLst xmlns:a="http://schemas.openxmlformats.org/drawingml/2006/main">
              <a:ext uri="{FF2B5EF4-FFF2-40B4-BE49-F238E27FC236}">
                <a16:creationId xmlns:a16="http://schemas.microsoft.com/office/drawing/2014/main" id="{51D50FE0-BBDF-48A6-A256-2C2BF02C5020}"/>
              </a:ext>
            </a:extLst>
          </p:cNvPr>
          <p:cNvSpPr>
            <a:spLocks xmlns:a="http://schemas.openxmlformats.org/drawingml/2006/main" noGrp="1"/>
          </p:cNvSpPr>
          <p:nvPr/>
        </p:nvSpPr>
        <p:spPr>
          <a:xfrm xmlns:a="http://schemas.openxmlformats.org/drawingml/2006/main">
            <a:off x="6419850" y="4438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202A33"/>
                </a:solidFill>
                <a:latin typeface="Aptos"/>
                <a:ea typeface="Aptos"/>
                <a:cs typeface="Aptos"/>
              </a:defRPr>
            </a:pPr>
            <a:r>
              <a:rPr sz="900" b="1">
                <a:solidFill>
                  <a:srgbClr val="202A33"/>
                </a:solidFill>
                <a:latin typeface="Aptos"/>
                <a:ea typeface="Aptos"/>
                <a:cs typeface="Aptos"/>
              </a:rPr>
              <a:t>context flags only</a:t>
            </a:r>
          </a:p>
        </p:txBody>
      </p:sp>
      <p:sp>
        <p:nvSpPr>
          <p:cNvPr id="55" name="">
            <a:extLst xmlns:a="http://schemas.openxmlformats.org/drawingml/2006/main">
              <a:ext uri="{FF2B5EF4-FFF2-40B4-BE49-F238E27FC236}">
                <a16:creationId xmlns:a16="http://schemas.microsoft.com/office/drawing/2014/main" id="{6CC832E8-D8C5-4138-B250-7F24CA49BC16}"/>
              </a:ext>
            </a:extLst>
          </p:cNvPr>
          <p:cNvSpPr>
            <a:spLocks xmlns:a="http://schemas.openxmlformats.org/drawingml/2006/main" noGrp="1"/>
          </p:cNvSpPr>
          <p:nvPr/>
        </p:nvSpPr>
        <p:spPr>
          <a:xfrm xmlns:a="http://schemas.openxmlformats.org/drawingml/2006/main">
            <a:off x="8191500" y="447675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264E2B6D-DED0-47C0-89B3-BAFF105BF610}"/>
              </a:ext>
            </a:extLst>
          </p:cNvPr>
          <p:cNvSpPr>
            <a:spLocks xmlns:a="http://schemas.openxmlformats.org/drawingml/2006/main" noGrp="1"/>
          </p:cNvSpPr>
          <p:nvPr/>
        </p:nvSpPr>
        <p:spPr>
          <a:xfrm xmlns:a="http://schemas.openxmlformats.org/drawingml/2006/main">
            <a:off x="8191500" y="4476750"/>
            <a:ext cx="385763" cy="1333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E13CC1D7-EFB0-4EA7-B114-52B6E9A8D3C9}"/>
              </a:ext>
            </a:extLst>
          </p:cNvPr>
          <p:cNvSpPr>
            <a:spLocks xmlns:a="http://schemas.openxmlformats.org/drawingml/2006/main" noGrp="1"/>
          </p:cNvSpPr>
          <p:nvPr/>
        </p:nvSpPr>
        <p:spPr>
          <a:xfrm xmlns:a="http://schemas.openxmlformats.org/drawingml/2006/main">
            <a:off x="10668000" y="44196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1">
                <a:solidFill>
                  <a:srgbClr val="A65C55"/>
                </a:solidFill>
                <a:latin typeface="Aptos"/>
                <a:ea typeface="Aptos"/>
                <a:cs typeface="Aptos"/>
              </a:defRPr>
            </a:pPr>
            <a:r>
              <a:rPr sz="750" b="1">
                <a:solidFill>
                  <a:srgbClr val="A65C55"/>
                </a:solidFill>
                <a:latin typeface="Aptos"/>
                <a:ea typeface="Aptos"/>
                <a:cs typeface="Aptos"/>
              </a:rPr>
              <a:t>0.162</a:t>
            </a:r>
          </a:p>
        </p:txBody>
      </p:sp>
      <p:sp>
        <p:nvSpPr>
          <p:cNvPr id="58" name="">
            <a:extLst xmlns:a="http://schemas.openxmlformats.org/drawingml/2006/main">
              <a:ext uri="{FF2B5EF4-FFF2-40B4-BE49-F238E27FC236}">
                <a16:creationId xmlns:a16="http://schemas.microsoft.com/office/drawing/2014/main" id="{A47A775D-5F7C-4B70-9132-17B1F18D3707}"/>
              </a:ext>
            </a:extLst>
          </p:cNvPr>
          <p:cNvSpPr>
            <a:spLocks xmlns:a="http://schemas.openxmlformats.org/drawingml/2006/main" noGrp="1"/>
          </p:cNvSpPr>
          <p:nvPr/>
        </p:nvSpPr>
        <p:spPr>
          <a:xfrm xmlns:a="http://schemas.openxmlformats.org/drawingml/2006/main">
            <a:off x="685800" y="58674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01A51929-FAAC-4EC3-84BA-E5C07B093F19}"/>
              </a:ext>
            </a:extLst>
          </p:cNvPr>
          <p:cNvSpPr>
            <a:spLocks xmlns:a="http://schemas.openxmlformats.org/drawingml/2006/main" noGrp="1"/>
          </p:cNvSpPr>
          <p:nvPr/>
        </p:nvSpPr>
        <p:spPr>
          <a:xfrm xmlns:a="http://schemas.openxmlformats.org/drawingml/2006/main">
            <a:off x="819150" y="59340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Metrics: data/results/experiments/ai-r8-assistant/metrics.json</a:t>
            </a:r>
          </a:p>
        </p:txBody>
      </p:sp>
      <p:sp>
        <p:nvSpPr>
          <p:cNvPr id="60" name="">
            <a:extLst xmlns:a="http://schemas.openxmlformats.org/drawingml/2006/main">
              <a:ext uri="{FF2B5EF4-FFF2-40B4-BE49-F238E27FC236}">
                <a16:creationId xmlns:a16="http://schemas.microsoft.com/office/drawing/2014/main" id="{EA390933-D712-4ECA-9B3A-8B77408A9AD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71895969"/>
      </p:ext>
    </p:extLst>
  </p:cSld>
</p:sld>
</file>

<file path=ppt/slides/slide39.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7F311C6-F461-4965-80B9-99E16D7833C0}"/>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5F73"/>
                </a:solidFill>
                <a:latin typeface="Aptos"/>
                <a:ea typeface="Aptos"/>
                <a:cs typeface="Aptos"/>
              </a:defRPr>
            </a:pPr>
            <a:r>
              <a:rPr sz="900" b="1">
                <a:solidFill>
                  <a:srgbClr val="655F73"/>
                </a:solidFill>
                <a:latin typeface="Aptos"/>
                <a:ea typeface="Aptos"/>
                <a:cs typeface="Aptos"/>
              </a:rPr>
              <a:t>BACKUP 8</a:t>
            </a:r>
          </a:p>
        </p:txBody>
      </p:sp>
      <p:sp>
        <p:nvSpPr>
          <p:cNvPr id="2" name="">
            <a:extLst xmlns:a="http://schemas.openxmlformats.org/drawingml/2006/main">
              <a:ext uri="{FF2B5EF4-FFF2-40B4-BE49-F238E27FC236}">
                <a16:creationId xmlns:a16="http://schemas.microsoft.com/office/drawing/2014/main" id="{9166668D-9C34-46C4-AEA1-C936538AB5DF}"/>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Transformer corpus, split, and per-class results</a:t>
            </a:r>
          </a:p>
        </p:txBody>
      </p:sp>
      <p:sp>
        <p:nvSpPr>
          <p:cNvPr id="3" name="">
            <a:extLst xmlns:a="http://schemas.openxmlformats.org/drawingml/2006/main">
              <a:ext uri="{FF2B5EF4-FFF2-40B4-BE49-F238E27FC236}">
                <a16:creationId xmlns:a16="http://schemas.microsoft.com/office/drawing/2014/main" id="{761282DF-00E1-4DF8-A785-310093744C98}"/>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a:solidFill>
                  <a:srgbClr val="65717A"/>
                </a:solidFill>
                <a:latin typeface="Aptos"/>
                <a:ea typeface="Aptos"/>
                <a:cs typeface="Aptos"/>
              </a:defRPr>
            </a:pPr>
            <a:r>
              <a:rPr sz="900" b="1">
                <a:solidFill>
                  <a:srgbClr val="65717A"/>
                </a:solidFill>
                <a:latin typeface="Aptos"/>
                <a:ea typeface="Aptos"/>
                <a:cs typeface="Aptos"/>
              </a:rPr>
              <a:t>39</a:t>
            </a:r>
          </a:p>
        </p:txBody>
      </p:sp>
      <p:sp>
        <p:nvSpPr>
          <p:cNvPr id="4" name="">
            <a:extLst xmlns:a="http://schemas.openxmlformats.org/drawingml/2006/main">
              <a:ext uri="{FF2B5EF4-FFF2-40B4-BE49-F238E27FC236}">
                <a16:creationId xmlns:a16="http://schemas.microsoft.com/office/drawing/2014/main" id="{276F7A41-60F0-4201-AAE6-66544F9EE55F}"/>
              </a:ext>
            </a:extLst>
          </p:cNvPr>
          <p:cNvSpPr>
            <a:spLocks xmlns:a="http://schemas.openxmlformats.org/drawingml/2006/main" noGrp="1"/>
          </p:cNvSpPr>
          <p:nvPr/>
        </p:nvSpPr>
        <p:spPr>
          <a:xfrm xmlns:a="http://schemas.openxmlformats.org/drawingml/2006/main">
            <a:off x="685800" y="1390650"/>
            <a:ext cx="234315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5" name="">
            <a:extLst xmlns:a="http://schemas.openxmlformats.org/drawingml/2006/main">
              <a:ext uri="{FF2B5EF4-FFF2-40B4-BE49-F238E27FC236}">
                <a16:creationId xmlns:a16="http://schemas.microsoft.com/office/drawing/2014/main" id="{1998B933-C27A-4A89-942E-14511E21B6FD}"/>
              </a:ext>
            </a:extLst>
          </p:cNvPr>
          <p:cNvSpPr>
            <a:spLocks xmlns:a="http://schemas.openxmlformats.org/drawingml/2006/main" noGrp="1"/>
          </p:cNvSpPr>
          <p:nvPr/>
        </p:nvSpPr>
        <p:spPr>
          <a:xfrm xmlns:a="http://schemas.openxmlformats.org/drawingml/2006/main">
            <a:off x="819150" y="15621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700" b="1">
                <a:solidFill>
                  <a:srgbClr val="655F73"/>
                </a:solidFill>
                <a:latin typeface="Aptos Display"/>
                <a:ea typeface="Aptos Display"/>
                <a:cs typeface="Aptos Display"/>
              </a:defRPr>
            </a:pPr>
            <a:r>
              <a:rPr sz="2700" b="1">
                <a:solidFill>
                  <a:srgbClr val="655F73"/>
                </a:solidFill>
                <a:latin typeface="Aptos Display"/>
                <a:ea typeface="Aptos Display"/>
                <a:cs typeface="Aptos Display"/>
              </a:rPr>
              <a:t>20,523</a:t>
            </a:r>
          </a:p>
        </p:txBody>
      </p:sp>
      <p:sp>
        <p:nvSpPr>
          <p:cNvPr id="6" name="">
            <a:extLst xmlns:a="http://schemas.openxmlformats.org/drawingml/2006/main">
              <a:ext uri="{FF2B5EF4-FFF2-40B4-BE49-F238E27FC236}">
                <a16:creationId xmlns:a16="http://schemas.microsoft.com/office/drawing/2014/main" id="{E64BA399-CA62-4D68-86AF-1462C54DD823}"/>
              </a:ext>
            </a:extLst>
          </p:cNvPr>
          <p:cNvSpPr>
            <a:spLocks xmlns:a="http://schemas.openxmlformats.org/drawingml/2006/main" noGrp="1"/>
          </p:cNvSpPr>
          <p:nvPr/>
        </p:nvSpPr>
        <p:spPr>
          <a:xfrm xmlns:a="http://schemas.openxmlformats.org/drawingml/2006/main">
            <a:off x="819150" y="20002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65717A"/>
                </a:solidFill>
                <a:latin typeface="Aptos"/>
                <a:ea typeface="Aptos"/>
                <a:cs typeface="Aptos"/>
              </a:defRPr>
            </a:pPr>
            <a:r>
              <a:rPr sz="900" b="1">
                <a:solidFill>
                  <a:srgbClr val="65717A"/>
                </a:solidFill>
                <a:latin typeface="Aptos"/>
                <a:ea typeface="Aptos"/>
                <a:cs typeface="Aptos"/>
              </a:rPr>
              <a:t>MVP-safe structured rows</a:t>
            </a:r>
          </a:p>
        </p:txBody>
      </p:sp>
      <p:sp>
        <p:nvSpPr>
          <p:cNvPr id="7" name="">
            <a:extLst xmlns:a="http://schemas.openxmlformats.org/drawingml/2006/main">
              <a:ext uri="{FF2B5EF4-FFF2-40B4-BE49-F238E27FC236}">
                <a16:creationId xmlns:a16="http://schemas.microsoft.com/office/drawing/2014/main" id="{37130EAB-652C-4B0B-B315-0CABEF7E6C8B}"/>
              </a:ext>
            </a:extLst>
          </p:cNvPr>
          <p:cNvSpPr>
            <a:spLocks xmlns:a="http://schemas.openxmlformats.org/drawingml/2006/main" noGrp="1"/>
          </p:cNvSpPr>
          <p:nvPr/>
        </p:nvSpPr>
        <p:spPr>
          <a:xfrm xmlns:a="http://schemas.openxmlformats.org/drawingml/2006/main">
            <a:off x="3257550" y="1390650"/>
            <a:ext cx="234315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8" name="">
            <a:extLst xmlns:a="http://schemas.openxmlformats.org/drawingml/2006/main">
              <a:ext uri="{FF2B5EF4-FFF2-40B4-BE49-F238E27FC236}">
                <a16:creationId xmlns:a16="http://schemas.microsoft.com/office/drawing/2014/main" id="{DC6CF1ED-BF1F-4A38-B315-D827C6DC41DD}"/>
              </a:ext>
            </a:extLst>
          </p:cNvPr>
          <p:cNvSpPr>
            <a:spLocks xmlns:a="http://schemas.openxmlformats.org/drawingml/2006/main" noGrp="1"/>
          </p:cNvSpPr>
          <p:nvPr/>
        </p:nvSpPr>
        <p:spPr>
          <a:xfrm xmlns:a="http://schemas.openxmlformats.org/drawingml/2006/main">
            <a:off x="3390900" y="15621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700" b="1">
                <a:solidFill>
                  <a:srgbClr val="365F7D"/>
                </a:solidFill>
                <a:latin typeface="Aptos Display"/>
                <a:ea typeface="Aptos Display"/>
                <a:cs typeface="Aptos Display"/>
              </a:defRPr>
            </a:pPr>
            <a:r>
              <a:rPr sz="2700" b="1">
                <a:solidFill>
                  <a:srgbClr val="365F7D"/>
                </a:solidFill>
                <a:latin typeface="Aptos Display"/>
                <a:ea typeface="Aptos Display"/>
                <a:cs typeface="Aptos Display"/>
              </a:rPr>
              <a:t>1,704</a:t>
            </a:r>
          </a:p>
        </p:txBody>
      </p:sp>
      <p:sp>
        <p:nvSpPr>
          <p:cNvPr id="9" name="">
            <a:extLst xmlns:a="http://schemas.openxmlformats.org/drawingml/2006/main">
              <a:ext uri="{FF2B5EF4-FFF2-40B4-BE49-F238E27FC236}">
                <a16:creationId xmlns:a16="http://schemas.microsoft.com/office/drawing/2014/main" id="{0563809D-8257-47AA-8586-F9306161ABB0}"/>
              </a:ext>
            </a:extLst>
          </p:cNvPr>
          <p:cNvSpPr>
            <a:spLocks xmlns:a="http://schemas.openxmlformats.org/drawingml/2006/main" noGrp="1"/>
          </p:cNvSpPr>
          <p:nvPr/>
        </p:nvSpPr>
        <p:spPr>
          <a:xfrm xmlns:a="http://schemas.openxmlformats.org/drawingml/2006/main">
            <a:off x="3390900" y="20002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65717A"/>
                </a:solidFill>
                <a:latin typeface="Aptos"/>
                <a:ea typeface="Aptos"/>
                <a:cs typeface="Aptos"/>
              </a:defRPr>
            </a:pPr>
            <a:r>
              <a:rPr sz="900" b="1">
                <a:solidFill>
                  <a:srgbClr val="65717A"/>
                </a:solidFill>
                <a:latin typeface="Aptos"/>
                <a:ea typeface="Aptos"/>
                <a:cs typeface="Aptos"/>
              </a:rPr>
              <a:t>structured-token vocabulary</a:t>
            </a:r>
          </a:p>
        </p:txBody>
      </p:sp>
      <p:sp>
        <p:nvSpPr>
          <p:cNvPr id="10" name="">
            <a:extLst xmlns:a="http://schemas.openxmlformats.org/drawingml/2006/main">
              <a:ext uri="{FF2B5EF4-FFF2-40B4-BE49-F238E27FC236}">
                <a16:creationId xmlns:a16="http://schemas.microsoft.com/office/drawing/2014/main" id="{4F564517-E279-4EC3-97AC-DF659B73C0F3}"/>
              </a:ext>
            </a:extLst>
          </p:cNvPr>
          <p:cNvSpPr>
            <a:spLocks xmlns:a="http://schemas.openxmlformats.org/drawingml/2006/main" noGrp="1"/>
          </p:cNvSpPr>
          <p:nvPr/>
        </p:nvSpPr>
        <p:spPr>
          <a:xfrm xmlns:a="http://schemas.openxmlformats.org/drawingml/2006/main">
            <a:off x="5829300" y="1390650"/>
            <a:ext cx="234315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11" name="">
            <a:extLst xmlns:a="http://schemas.openxmlformats.org/drawingml/2006/main">
              <a:ext uri="{FF2B5EF4-FFF2-40B4-BE49-F238E27FC236}">
                <a16:creationId xmlns:a16="http://schemas.microsoft.com/office/drawing/2014/main" id="{AAA1DD91-CDF0-4A2E-B484-D0C12F7261F4}"/>
              </a:ext>
            </a:extLst>
          </p:cNvPr>
          <p:cNvSpPr>
            <a:spLocks xmlns:a="http://schemas.openxmlformats.org/drawingml/2006/main" noGrp="1"/>
          </p:cNvSpPr>
          <p:nvPr/>
        </p:nvSpPr>
        <p:spPr>
          <a:xfrm xmlns:a="http://schemas.openxmlformats.org/drawingml/2006/main">
            <a:off x="5962650" y="15621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700" b="1">
                <a:solidFill>
                  <a:srgbClr val="A65C55"/>
                </a:solidFill>
                <a:latin typeface="Aptos Display"/>
                <a:ea typeface="Aptos Display"/>
                <a:cs typeface="Aptos Display"/>
              </a:defRPr>
            </a:pPr>
            <a:r>
              <a:rPr sz="2700" b="1">
                <a:solidFill>
                  <a:srgbClr val="A65C55"/>
                </a:solidFill>
                <a:latin typeface="Aptos Display"/>
                <a:ea typeface="Aptos Display"/>
                <a:cs typeface="Aptos Display"/>
              </a:rPr>
              <a:t>1,680</a:t>
            </a:r>
          </a:p>
        </p:txBody>
      </p:sp>
      <p:sp>
        <p:nvSpPr>
          <p:cNvPr id="12" name="">
            <a:extLst xmlns:a="http://schemas.openxmlformats.org/drawingml/2006/main">
              <a:ext uri="{FF2B5EF4-FFF2-40B4-BE49-F238E27FC236}">
                <a16:creationId xmlns:a16="http://schemas.microsoft.com/office/drawing/2014/main" id="{8A8582F4-90A2-4207-94B3-ACFBC322C20F}"/>
              </a:ext>
            </a:extLst>
          </p:cNvPr>
          <p:cNvSpPr>
            <a:spLocks xmlns:a="http://schemas.openxmlformats.org/drawingml/2006/main" noGrp="1"/>
          </p:cNvSpPr>
          <p:nvPr/>
        </p:nvSpPr>
        <p:spPr>
          <a:xfrm xmlns:a="http://schemas.openxmlformats.org/drawingml/2006/main">
            <a:off x="5962650" y="20002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65717A"/>
                </a:solidFill>
                <a:latin typeface="Aptos"/>
                <a:ea typeface="Aptos"/>
                <a:cs typeface="Aptos"/>
              </a:defRPr>
            </a:pPr>
            <a:r>
              <a:rPr sz="900" b="1">
                <a:solidFill>
                  <a:srgbClr val="65717A"/>
                </a:solidFill>
                <a:latin typeface="Aptos"/>
                <a:ea typeface="Aptos"/>
                <a:cs typeface="Aptos"/>
              </a:rPr>
              <a:t>raw method opcode sequences</a:t>
            </a:r>
          </a:p>
        </p:txBody>
      </p:sp>
      <p:sp>
        <p:nvSpPr>
          <p:cNvPr id="13" name="">
            <a:extLst xmlns:a="http://schemas.openxmlformats.org/drawingml/2006/main">
              <a:ext uri="{FF2B5EF4-FFF2-40B4-BE49-F238E27FC236}">
                <a16:creationId xmlns:a16="http://schemas.microsoft.com/office/drawing/2014/main" id="{DA2DC9EA-53F3-4DDA-8141-6E67FD22EF01}"/>
              </a:ext>
            </a:extLst>
          </p:cNvPr>
          <p:cNvSpPr>
            <a:spLocks xmlns:a="http://schemas.openxmlformats.org/drawingml/2006/main" noGrp="1"/>
          </p:cNvSpPr>
          <p:nvPr/>
        </p:nvSpPr>
        <p:spPr>
          <a:xfrm xmlns:a="http://schemas.openxmlformats.org/drawingml/2006/main">
            <a:off x="8401050" y="1390650"/>
            <a:ext cx="234315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14" name="">
            <a:extLst xmlns:a="http://schemas.openxmlformats.org/drawingml/2006/main">
              <a:ext uri="{FF2B5EF4-FFF2-40B4-BE49-F238E27FC236}">
                <a16:creationId xmlns:a16="http://schemas.microsoft.com/office/drawing/2014/main" id="{A519BE45-4644-47D8-8989-3F7809AFA9FF}"/>
              </a:ext>
            </a:extLst>
          </p:cNvPr>
          <p:cNvSpPr>
            <a:spLocks xmlns:a="http://schemas.openxmlformats.org/drawingml/2006/main" noGrp="1"/>
          </p:cNvSpPr>
          <p:nvPr/>
        </p:nvSpPr>
        <p:spPr>
          <a:xfrm xmlns:a="http://schemas.openxmlformats.org/drawingml/2006/main">
            <a:off x="8534400" y="15621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000" b="1">
                <a:solidFill>
                  <a:srgbClr val="8D754D"/>
                </a:solidFill>
                <a:latin typeface="Aptos Display"/>
                <a:ea typeface="Aptos Display"/>
                <a:cs typeface="Aptos Display"/>
              </a:defRPr>
            </a:pPr>
            <a:r>
              <a:rPr sz="3000" b="1">
                <a:solidFill>
                  <a:srgbClr val="8D754D"/>
                </a:solidFill>
                <a:latin typeface="Aptos Display"/>
                <a:ea typeface="Aptos Display"/>
                <a:cs typeface="Aptos Display"/>
              </a:rPr>
              <a:t>14</a:t>
            </a:r>
          </a:p>
        </p:txBody>
      </p:sp>
      <p:sp>
        <p:nvSpPr>
          <p:cNvPr id="15" name="">
            <a:extLst xmlns:a="http://schemas.openxmlformats.org/drawingml/2006/main">
              <a:ext uri="{FF2B5EF4-FFF2-40B4-BE49-F238E27FC236}">
                <a16:creationId xmlns:a16="http://schemas.microsoft.com/office/drawing/2014/main" id="{BEB84308-9B69-488A-9EC8-A7AA61A35E64}"/>
              </a:ext>
            </a:extLst>
          </p:cNvPr>
          <p:cNvSpPr>
            <a:spLocks xmlns:a="http://schemas.openxmlformats.org/drawingml/2006/main" noGrp="1"/>
          </p:cNvSpPr>
          <p:nvPr/>
        </p:nvSpPr>
        <p:spPr>
          <a:xfrm xmlns:a="http://schemas.openxmlformats.org/drawingml/2006/main">
            <a:off x="8534400" y="20002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a:solidFill>
                  <a:srgbClr val="65717A"/>
                </a:solidFill>
                <a:latin typeface="Aptos"/>
                <a:ea typeface="Aptos"/>
                <a:cs typeface="Aptos"/>
              </a:defRPr>
            </a:pPr>
            <a:r>
              <a:rPr sz="900" b="1">
                <a:solidFill>
                  <a:srgbClr val="65717A"/>
                </a:solidFill>
                <a:latin typeface="Aptos"/>
                <a:ea typeface="Aptos"/>
                <a:cs typeface="Aptos"/>
              </a:rPr>
              <a:t>APKs in raw-opcode corpus</a:t>
            </a:r>
          </a:p>
        </p:txBody>
      </p:sp>
      <p:sp>
        <p:nvSpPr>
          <p:cNvPr id="16" name="">
            <a:extLst xmlns:a="http://schemas.openxmlformats.org/drawingml/2006/main">
              <a:ext uri="{FF2B5EF4-FFF2-40B4-BE49-F238E27FC236}">
                <a16:creationId xmlns:a16="http://schemas.microsoft.com/office/drawing/2014/main" id="{342A7E2A-4B98-421D-9F81-AD83889F2A36}"/>
              </a:ext>
            </a:extLst>
          </p:cNvPr>
          <p:cNvSpPr>
            <a:spLocks xmlns:a="http://schemas.openxmlformats.org/drawingml/2006/main" noGrp="1"/>
          </p:cNvSpPr>
          <p:nvPr/>
        </p:nvSpPr>
        <p:spPr>
          <a:xfrm xmlns:a="http://schemas.openxmlformats.org/drawingml/2006/main">
            <a:off x="685800" y="2781300"/>
            <a:ext cx="5143500" cy="26289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17" name="">
            <a:extLst xmlns:a="http://schemas.openxmlformats.org/drawingml/2006/main">
              <a:ext uri="{FF2B5EF4-FFF2-40B4-BE49-F238E27FC236}">
                <a16:creationId xmlns:a16="http://schemas.microsoft.com/office/drawing/2014/main" id="{D569F465-1CEB-475E-95AA-A0DB4AF69B8B}"/>
              </a:ext>
            </a:extLst>
          </p:cNvPr>
          <p:cNvSpPr>
            <a:spLocks xmlns:a="http://schemas.openxmlformats.org/drawingml/2006/main" noGrp="1"/>
          </p:cNvSpPr>
          <p:nvPr/>
        </p:nvSpPr>
        <p:spPr>
          <a:xfrm xmlns:a="http://schemas.openxmlformats.org/drawingml/2006/main">
            <a:off x="914400" y="3009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655F73"/>
                </a:solidFill>
                <a:latin typeface="Aptos"/>
                <a:ea typeface="Aptos"/>
                <a:cs typeface="Aptos"/>
              </a:defRPr>
            </a:pPr>
            <a:r>
              <a:rPr sz="900" b="1">
                <a:solidFill>
                  <a:srgbClr val="655F73"/>
                </a:solidFill>
                <a:latin typeface="Aptos"/>
                <a:ea typeface="Aptos"/>
                <a:cs typeface="Aptos"/>
              </a:rPr>
              <a:t>MVP-SAFE TEST F1</a:t>
            </a:r>
          </a:p>
        </p:txBody>
      </p:sp>
      <p:sp>
        <p:nvSpPr>
          <p:cNvPr id="18" name="">
            <a:extLst xmlns:a="http://schemas.openxmlformats.org/drawingml/2006/main">
              <a:ext uri="{FF2B5EF4-FFF2-40B4-BE49-F238E27FC236}">
                <a16:creationId xmlns:a16="http://schemas.microsoft.com/office/drawing/2014/main" id="{D30CCFE0-FCEF-43E3-BDEF-933032202CF9}"/>
              </a:ext>
            </a:extLst>
          </p:cNvPr>
          <p:cNvSpPr>
            <a:spLocks xmlns:a="http://schemas.openxmlformats.org/drawingml/2006/main" noGrp="1"/>
          </p:cNvSpPr>
          <p:nvPr/>
        </p:nvSpPr>
        <p:spPr>
          <a:xfrm xmlns:a="http://schemas.openxmlformats.org/drawingml/2006/main">
            <a:off x="933450" y="34099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202A33"/>
                </a:solidFill>
                <a:latin typeface="Aptos"/>
                <a:ea typeface="Aptos"/>
                <a:cs typeface="Aptos"/>
              </a:defRPr>
            </a:pPr>
            <a:r>
              <a:rPr sz="750" b="1">
                <a:solidFill>
                  <a:srgbClr val="202A33"/>
                </a:solidFill>
                <a:latin typeface="Aptos"/>
                <a:ea typeface="Aptos"/>
                <a:cs typeface="Aptos"/>
              </a:rPr>
              <a:t>confirmed exact</a:t>
            </a:r>
          </a:p>
        </p:txBody>
      </p:sp>
      <p:sp>
        <p:nvSpPr>
          <p:cNvPr id="19" name="">
            <a:extLst xmlns:a="http://schemas.openxmlformats.org/drawingml/2006/main">
              <a:ext uri="{FF2B5EF4-FFF2-40B4-BE49-F238E27FC236}">
                <a16:creationId xmlns:a16="http://schemas.microsoft.com/office/drawing/2014/main" id="{CE7E7D41-E34B-4D0B-95BB-C97604B5FBA5}"/>
              </a:ext>
            </a:extLst>
          </p:cNvPr>
          <p:cNvSpPr>
            <a:spLocks xmlns:a="http://schemas.openxmlformats.org/drawingml/2006/main" noGrp="1"/>
          </p:cNvSpPr>
          <p:nvPr/>
        </p:nvSpPr>
        <p:spPr>
          <a:xfrm xmlns:a="http://schemas.openxmlformats.org/drawingml/2006/main">
            <a:off x="2609850" y="34480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2274CB0-09D6-4EB2-8E11-A06851E19DE1}"/>
              </a:ext>
            </a:extLst>
          </p:cNvPr>
          <p:cNvSpPr>
            <a:spLocks xmlns:a="http://schemas.openxmlformats.org/drawingml/2006/main" noGrp="1"/>
          </p:cNvSpPr>
          <p:nvPr/>
        </p:nvSpPr>
        <p:spPr>
          <a:xfrm xmlns:a="http://schemas.openxmlformats.org/drawingml/2006/main">
            <a:off x="2609850" y="3448050"/>
            <a:ext cx="2343150" cy="11430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ADBBFAB-2F18-4B62-A229-2910198548D8}"/>
              </a:ext>
            </a:extLst>
          </p:cNvPr>
          <p:cNvSpPr>
            <a:spLocks xmlns:a="http://schemas.openxmlformats.org/drawingml/2006/main" noGrp="1"/>
          </p:cNvSpPr>
          <p:nvPr/>
        </p:nvSpPr>
        <p:spPr>
          <a:xfrm xmlns:a="http://schemas.openxmlformats.org/drawingml/2006/main">
            <a:off x="5010150" y="33718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675" b="1">
                <a:solidFill>
                  <a:srgbClr val="6F7C61"/>
                </a:solidFill>
                <a:latin typeface="Aptos"/>
                <a:ea typeface="Aptos"/>
                <a:cs typeface="Aptos"/>
              </a:defRPr>
            </a:pPr>
            <a:r>
              <a:rPr sz="675" b="1">
                <a:solidFill>
                  <a:srgbClr val="6F7C61"/>
                </a:solidFill>
                <a:latin typeface="Aptos"/>
                <a:ea typeface="Aptos"/>
                <a:cs typeface="Aptos"/>
              </a:rPr>
              <a:t>1.000</a:t>
            </a:r>
          </a:p>
        </p:txBody>
      </p:sp>
      <p:sp>
        <p:nvSpPr>
          <p:cNvPr id="22" name="">
            <a:extLst xmlns:a="http://schemas.openxmlformats.org/drawingml/2006/main">
              <a:ext uri="{FF2B5EF4-FFF2-40B4-BE49-F238E27FC236}">
                <a16:creationId xmlns:a16="http://schemas.microsoft.com/office/drawing/2014/main" id="{F3EC80D1-F602-4032-A52C-BE6ED7496695}"/>
              </a:ext>
            </a:extLst>
          </p:cNvPr>
          <p:cNvSpPr>
            <a:spLocks xmlns:a="http://schemas.openxmlformats.org/drawingml/2006/main" noGrp="1"/>
          </p:cNvSpPr>
          <p:nvPr/>
        </p:nvSpPr>
        <p:spPr>
          <a:xfrm xmlns:a="http://schemas.openxmlformats.org/drawingml/2006/main">
            <a:off x="933450" y="37147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202A33"/>
                </a:solidFill>
                <a:latin typeface="Aptos"/>
                <a:ea typeface="Aptos"/>
                <a:cs typeface="Aptos"/>
              </a:defRPr>
            </a:pPr>
            <a:r>
              <a:rPr sz="750" b="1">
                <a:solidFill>
                  <a:srgbClr val="202A33"/>
                </a:solidFill>
                <a:latin typeface="Aptos"/>
                <a:ea typeface="Aptos"/>
                <a:cs typeface="Aptos"/>
              </a:rPr>
              <a:t>suggest report-only</a:t>
            </a:r>
          </a:p>
        </p:txBody>
      </p:sp>
      <p:sp>
        <p:nvSpPr>
          <p:cNvPr id="23" name="">
            <a:extLst xmlns:a="http://schemas.openxmlformats.org/drawingml/2006/main">
              <a:ext uri="{FF2B5EF4-FFF2-40B4-BE49-F238E27FC236}">
                <a16:creationId xmlns:a16="http://schemas.microsoft.com/office/drawing/2014/main" id="{9AF27B57-5655-4D55-948D-896744AB3A49}"/>
              </a:ext>
            </a:extLst>
          </p:cNvPr>
          <p:cNvSpPr>
            <a:spLocks xmlns:a="http://schemas.openxmlformats.org/drawingml/2006/main" noGrp="1"/>
          </p:cNvSpPr>
          <p:nvPr/>
        </p:nvSpPr>
        <p:spPr>
          <a:xfrm xmlns:a="http://schemas.openxmlformats.org/drawingml/2006/main">
            <a:off x="2609850" y="37528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322A3CD-1BC4-4927-B1F5-B2628DC3C45A}"/>
              </a:ext>
            </a:extLst>
          </p:cNvPr>
          <p:cNvSpPr>
            <a:spLocks xmlns:a="http://schemas.openxmlformats.org/drawingml/2006/main" noGrp="1"/>
          </p:cNvSpPr>
          <p:nvPr/>
        </p:nvSpPr>
        <p:spPr>
          <a:xfrm xmlns:a="http://schemas.openxmlformats.org/drawingml/2006/main">
            <a:off x="2609850" y="3752850"/>
            <a:ext cx="2282228" cy="1143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24B086E-2C93-4871-8C1F-15112CFCB095}"/>
              </a:ext>
            </a:extLst>
          </p:cNvPr>
          <p:cNvSpPr>
            <a:spLocks xmlns:a="http://schemas.openxmlformats.org/drawingml/2006/main" noGrp="1"/>
          </p:cNvSpPr>
          <p:nvPr/>
        </p:nvSpPr>
        <p:spPr>
          <a:xfrm xmlns:a="http://schemas.openxmlformats.org/drawingml/2006/main">
            <a:off x="5010150" y="3676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675" b="1">
                <a:solidFill>
                  <a:srgbClr val="4F7D76"/>
                </a:solidFill>
                <a:latin typeface="Aptos"/>
                <a:ea typeface="Aptos"/>
                <a:cs typeface="Aptos"/>
              </a:defRPr>
            </a:pPr>
            <a:r>
              <a:rPr sz="675" b="1">
                <a:solidFill>
                  <a:srgbClr val="4F7D76"/>
                </a:solidFill>
                <a:latin typeface="Aptos"/>
                <a:ea typeface="Aptos"/>
                <a:cs typeface="Aptos"/>
              </a:rPr>
              <a:t>0.974</a:t>
            </a:r>
          </a:p>
        </p:txBody>
      </p:sp>
      <p:sp>
        <p:nvSpPr>
          <p:cNvPr id="26" name="">
            <a:extLst xmlns:a="http://schemas.openxmlformats.org/drawingml/2006/main">
              <a:ext uri="{FF2B5EF4-FFF2-40B4-BE49-F238E27FC236}">
                <a16:creationId xmlns:a16="http://schemas.microsoft.com/office/drawing/2014/main" id="{6C0ED310-E04E-4A7F-AA12-F8A40EA20175}"/>
              </a:ext>
            </a:extLst>
          </p:cNvPr>
          <p:cNvSpPr>
            <a:spLocks xmlns:a="http://schemas.openxmlformats.org/drawingml/2006/main" noGrp="1"/>
          </p:cNvSpPr>
          <p:nvPr/>
        </p:nvSpPr>
        <p:spPr>
          <a:xfrm xmlns:a="http://schemas.openxmlformats.org/drawingml/2006/main">
            <a:off x="933450" y="40195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202A33"/>
                </a:solidFill>
                <a:latin typeface="Aptos"/>
                <a:ea typeface="Aptos"/>
                <a:cs typeface="Aptos"/>
              </a:defRPr>
            </a:pPr>
            <a:r>
              <a:rPr sz="750" b="1">
                <a:solidFill>
                  <a:srgbClr val="202A33"/>
                </a:solidFill>
                <a:latin typeface="Aptos"/>
                <a:ea typeface="Aptos"/>
                <a:cs typeface="Aptos"/>
              </a:rPr>
              <a:t>suppress uncertain</a:t>
            </a:r>
          </a:p>
        </p:txBody>
      </p:sp>
      <p:sp>
        <p:nvSpPr>
          <p:cNvPr id="27" name="">
            <a:extLst xmlns:a="http://schemas.openxmlformats.org/drawingml/2006/main">
              <a:ext uri="{FF2B5EF4-FFF2-40B4-BE49-F238E27FC236}">
                <a16:creationId xmlns:a16="http://schemas.microsoft.com/office/drawing/2014/main" id="{B9BEBC78-7560-4FA5-A6E5-CE8D8FB36613}"/>
              </a:ext>
            </a:extLst>
          </p:cNvPr>
          <p:cNvSpPr>
            <a:spLocks xmlns:a="http://schemas.openxmlformats.org/drawingml/2006/main" noGrp="1"/>
          </p:cNvSpPr>
          <p:nvPr/>
        </p:nvSpPr>
        <p:spPr>
          <a:xfrm xmlns:a="http://schemas.openxmlformats.org/drawingml/2006/main">
            <a:off x="2609850" y="40576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5A1C07F-44D6-46DA-82AD-5C2A04FD1D89}"/>
              </a:ext>
            </a:extLst>
          </p:cNvPr>
          <p:cNvSpPr>
            <a:spLocks xmlns:a="http://schemas.openxmlformats.org/drawingml/2006/main" noGrp="1"/>
          </p:cNvSpPr>
          <p:nvPr/>
        </p:nvSpPr>
        <p:spPr>
          <a:xfrm xmlns:a="http://schemas.openxmlformats.org/drawingml/2006/main">
            <a:off x="2609850" y="4057650"/>
            <a:ext cx="2129923" cy="1143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5B7CE13-FBD1-422A-AC61-16FB4C578404}"/>
              </a:ext>
            </a:extLst>
          </p:cNvPr>
          <p:cNvSpPr>
            <a:spLocks xmlns:a="http://schemas.openxmlformats.org/drawingml/2006/main" noGrp="1"/>
          </p:cNvSpPr>
          <p:nvPr/>
        </p:nvSpPr>
        <p:spPr>
          <a:xfrm xmlns:a="http://schemas.openxmlformats.org/drawingml/2006/main">
            <a:off x="5010150" y="39814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675" b="1">
                <a:solidFill>
                  <a:srgbClr val="8D754D"/>
                </a:solidFill>
                <a:latin typeface="Aptos"/>
                <a:ea typeface="Aptos"/>
                <a:cs typeface="Aptos"/>
              </a:defRPr>
            </a:pPr>
            <a:r>
              <a:rPr sz="675" b="1">
                <a:solidFill>
                  <a:srgbClr val="8D754D"/>
                </a:solidFill>
                <a:latin typeface="Aptos"/>
                <a:ea typeface="Aptos"/>
                <a:cs typeface="Aptos"/>
              </a:rPr>
              <a:t>0.909</a:t>
            </a:r>
          </a:p>
        </p:txBody>
      </p:sp>
      <p:sp>
        <p:nvSpPr>
          <p:cNvPr id="30" name="">
            <a:extLst xmlns:a="http://schemas.openxmlformats.org/drawingml/2006/main">
              <a:ext uri="{FF2B5EF4-FFF2-40B4-BE49-F238E27FC236}">
                <a16:creationId xmlns:a16="http://schemas.microsoft.com/office/drawing/2014/main" id="{297D62F5-938A-4B5A-97E9-BD02228CDF52}"/>
              </a:ext>
            </a:extLst>
          </p:cNvPr>
          <p:cNvSpPr>
            <a:spLocks xmlns:a="http://schemas.openxmlformats.org/drawingml/2006/main" noGrp="1"/>
          </p:cNvSpPr>
          <p:nvPr/>
        </p:nvSpPr>
        <p:spPr>
          <a:xfrm xmlns:a="http://schemas.openxmlformats.org/drawingml/2006/main">
            <a:off x="933450" y="43243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202A33"/>
                </a:solidFill>
                <a:latin typeface="Aptos"/>
                <a:ea typeface="Aptos"/>
                <a:cs typeface="Aptos"/>
              </a:defRPr>
            </a:pPr>
            <a:r>
              <a:rPr sz="750" b="1">
                <a:solidFill>
                  <a:srgbClr val="202A33"/>
                </a:solidFill>
                <a:latin typeface="Aptos"/>
                <a:ea typeface="Aptos"/>
                <a:cs typeface="Aptos"/>
              </a:rPr>
              <a:t>risk only</a:t>
            </a:r>
          </a:p>
        </p:txBody>
      </p:sp>
      <p:sp>
        <p:nvSpPr>
          <p:cNvPr id="31" name="">
            <a:extLst xmlns:a="http://schemas.openxmlformats.org/drawingml/2006/main">
              <a:ext uri="{FF2B5EF4-FFF2-40B4-BE49-F238E27FC236}">
                <a16:creationId xmlns:a16="http://schemas.microsoft.com/office/drawing/2014/main" id="{CBEAF620-FE13-457C-8F2F-CDA2B10088FA}"/>
              </a:ext>
            </a:extLst>
          </p:cNvPr>
          <p:cNvSpPr>
            <a:spLocks xmlns:a="http://schemas.openxmlformats.org/drawingml/2006/main" noGrp="1"/>
          </p:cNvSpPr>
          <p:nvPr/>
        </p:nvSpPr>
        <p:spPr>
          <a:xfrm xmlns:a="http://schemas.openxmlformats.org/drawingml/2006/main">
            <a:off x="2609850" y="43624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66EC32D-51E6-4863-8D93-436338BE1A6E}"/>
              </a:ext>
            </a:extLst>
          </p:cNvPr>
          <p:cNvSpPr>
            <a:spLocks xmlns:a="http://schemas.openxmlformats.org/drawingml/2006/main" noGrp="1"/>
          </p:cNvSpPr>
          <p:nvPr/>
        </p:nvSpPr>
        <p:spPr>
          <a:xfrm xmlns:a="http://schemas.openxmlformats.org/drawingml/2006/main">
            <a:off x="2609850" y="4362450"/>
            <a:ext cx="2061972" cy="1143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C10BE75-289C-4572-8C07-442A9BDAD03D}"/>
              </a:ext>
            </a:extLst>
          </p:cNvPr>
          <p:cNvSpPr>
            <a:spLocks xmlns:a="http://schemas.openxmlformats.org/drawingml/2006/main" noGrp="1"/>
          </p:cNvSpPr>
          <p:nvPr/>
        </p:nvSpPr>
        <p:spPr>
          <a:xfrm xmlns:a="http://schemas.openxmlformats.org/drawingml/2006/main">
            <a:off x="5010150" y="4286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675" b="1">
                <a:solidFill>
                  <a:srgbClr val="365F7D"/>
                </a:solidFill>
                <a:latin typeface="Aptos"/>
                <a:ea typeface="Aptos"/>
                <a:cs typeface="Aptos"/>
              </a:defRPr>
            </a:pPr>
            <a:r>
              <a:rPr sz="675" b="1">
                <a:solidFill>
                  <a:srgbClr val="365F7D"/>
                </a:solidFill>
                <a:latin typeface="Aptos"/>
                <a:ea typeface="Aptos"/>
                <a:cs typeface="Aptos"/>
              </a:rPr>
              <a:t>0.880</a:t>
            </a:r>
          </a:p>
        </p:txBody>
      </p:sp>
      <p:sp>
        <p:nvSpPr>
          <p:cNvPr id="34" name="">
            <a:extLst xmlns:a="http://schemas.openxmlformats.org/drawingml/2006/main">
              <a:ext uri="{FF2B5EF4-FFF2-40B4-BE49-F238E27FC236}">
                <a16:creationId xmlns:a16="http://schemas.microsoft.com/office/drawing/2014/main" id="{775DB258-7FE5-4AD7-90F4-5290DB273985}"/>
              </a:ext>
            </a:extLst>
          </p:cNvPr>
          <p:cNvSpPr>
            <a:spLocks xmlns:a="http://schemas.openxmlformats.org/drawingml/2006/main" noGrp="1"/>
          </p:cNvSpPr>
          <p:nvPr/>
        </p:nvSpPr>
        <p:spPr>
          <a:xfrm xmlns:a="http://schemas.openxmlformats.org/drawingml/2006/main">
            <a:off x="933450" y="46291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202A33"/>
                </a:solidFill>
                <a:latin typeface="Aptos"/>
                <a:ea typeface="Aptos"/>
                <a:cs typeface="Aptos"/>
              </a:defRPr>
            </a:pPr>
            <a:r>
              <a:rPr sz="750" b="1">
                <a:solidFill>
                  <a:srgbClr val="202A33"/>
                </a:solidFill>
                <a:latin typeface="Aptos"/>
                <a:ea typeface="Aptos"/>
                <a:cs typeface="Aptos"/>
              </a:rPr>
              <a:t>mismatch / extra</a:t>
            </a:r>
          </a:p>
        </p:txBody>
      </p:sp>
      <p:sp>
        <p:nvSpPr>
          <p:cNvPr id="35" name="">
            <a:extLst xmlns:a="http://schemas.openxmlformats.org/drawingml/2006/main">
              <a:ext uri="{FF2B5EF4-FFF2-40B4-BE49-F238E27FC236}">
                <a16:creationId xmlns:a16="http://schemas.microsoft.com/office/drawing/2014/main" id="{1DDD8488-B2D5-4363-B0F1-7F68EBE6AFFF}"/>
              </a:ext>
            </a:extLst>
          </p:cNvPr>
          <p:cNvSpPr>
            <a:spLocks xmlns:a="http://schemas.openxmlformats.org/drawingml/2006/main" noGrp="1"/>
          </p:cNvSpPr>
          <p:nvPr/>
        </p:nvSpPr>
        <p:spPr>
          <a:xfrm xmlns:a="http://schemas.openxmlformats.org/drawingml/2006/main">
            <a:off x="2609850" y="46672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A4E8D44-F4DD-4D45-8F7C-42534450D47C}"/>
              </a:ext>
            </a:extLst>
          </p:cNvPr>
          <p:cNvSpPr>
            <a:spLocks xmlns:a="http://schemas.openxmlformats.org/drawingml/2006/main" noGrp="1"/>
          </p:cNvSpPr>
          <p:nvPr/>
        </p:nvSpPr>
        <p:spPr>
          <a:xfrm xmlns:a="http://schemas.openxmlformats.org/drawingml/2006/main">
            <a:off x="2609850" y="4667250"/>
            <a:ext cx="1794853" cy="1143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3C22771-23EE-47BF-B794-721C4050EFB1}"/>
              </a:ext>
            </a:extLst>
          </p:cNvPr>
          <p:cNvSpPr>
            <a:spLocks xmlns:a="http://schemas.openxmlformats.org/drawingml/2006/main" noGrp="1"/>
          </p:cNvSpPr>
          <p:nvPr/>
        </p:nvSpPr>
        <p:spPr>
          <a:xfrm xmlns:a="http://schemas.openxmlformats.org/drawingml/2006/main">
            <a:off x="5010150" y="45910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675" b="1">
                <a:solidFill>
                  <a:srgbClr val="A65C55"/>
                </a:solidFill>
                <a:latin typeface="Aptos"/>
                <a:ea typeface="Aptos"/>
                <a:cs typeface="Aptos"/>
              </a:defRPr>
            </a:pPr>
            <a:r>
              <a:rPr sz="675" b="1">
                <a:solidFill>
                  <a:srgbClr val="A65C55"/>
                </a:solidFill>
                <a:latin typeface="Aptos"/>
                <a:ea typeface="Aptos"/>
                <a:cs typeface="Aptos"/>
              </a:rPr>
              <a:t>0.766</a:t>
            </a:r>
          </a:p>
        </p:txBody>
      </p:sp>
      <p:sp>
        <p:nvSpPr>
          <p:cNvPr id="38" name="">
            <a:extLst xmlns:a="http://schemas.openxmlformats.org/drawingml/2006/main">
              <a:ext uri="{FF2B5EF4-FFF2-40B4-BE49-F238E27FC236}">
                <a16:creationId xmlns:a16="http://schemas.microsoft.com/office/drawing/2014/main" id="{C4F01E15-18FB-4B1E-B63A-92DAB0D4D251}"/>
              </a:ext>
            </a:extLst>
          </p:cNvPr>
          <p:cNvSpPr>
            <a:spLocks xmlns:a="http://schemas.openxmlformats.org/drawingml/2006/main" noGrp="1"/>
          </p:cNvSpPr>
          <p:nvPr/>
        </p:nvSpPr>
        <p:spPr>
          <a:xfrm xmlns:a="http://schemas.openxmlformats.org/drawingml/2006/main">
            <a:off x="933450" y="49339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202A33"/>
                </a:solidFill>
                <a:latin typeface="Aptos"/>
                <a:ea typeface="Aptos"/>
                <a:cs typeface="Aptos"/>
              </a:defRPr>
            </a:pPr>
            <a:r>
              <a:rPr sz="750" b="1">
                <a:solidFill>
                  <a:srgbClr val="202A33"/>
                </a:solidFill>
                <a:latin typeface="Aptos"/>
                <a:ea typeface="Aptos"/>
                <a:cs typeface="Aptos"/>
              </a:rPr>
              <a:t>boundary</a:t>
            </a:r>
          </a:p>
        </p:txBody>
      </p:sp>
      <p:sp>
        <p:nvSpPr>
          <p:cNvPr id="39" name="">
            <a:extLst xmlns:a="http://schemas.openxmlformats.org/drawingml/2006/main">
              <a:ext uri="{FF2B5EF4-FFF2-40B4-BE49-F238E27FC236}">
                <a16:creationId xmlns:a16="http://schemas.microsoft.com/office/drawing/2014/main" id="{1259A7CC-C818-47B4-8DEE-D76DFC88D698}"/>
              </a:ext>
            </a:extLst>
          </p:cNvPr>
          <p:cNvSpPr>
            <a:spLocks xmlns:a="http://schemas.openxmlformats.org/drawingml/2006/main" noGrp="1"/>
          </p:cNvSpPr>
          <p:nvPr/>
        </p:nvSpPr>
        <p:spPr>
          <a:xfrm xmlns:a="http://schemas.openxmlformats.org/drawingml/2006/main">
            <a:off x="2609850" y="49720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DD6E52AC-927D-4A96-BBF4-ABB06AC2013C}"/>
              </a:ext>
            </a:extLst>
          </p:cNvPr>
          <p:cNvSpPr>
            <a:spLocks xmlns:a="http://schemas.openxmlformats.org/drawingml/2006/main" noGrp="1"/>
          </p:cNvSpPr>
          <p:nvPr/>
        </p:nvSpPr>
        <p:spPr>
          <a:xfrm xmlns:a="http://schemas.openxmlformats.org/drawingml/2006/main">
            <a:off x="2609850" y="4972050"/>
            <a:ext cx="1790167" cy="1143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2C470393-3972-4B6D-8A04-94DFBC93AE0B}"/>
              </a:ext>
            </a:extLst>
          </p:cNvPr>
          <p:cNvSpPr>
            <a:spLocks xmlns:a="http://schemas.openxmlformats.org/drawingml/2006/main" noGrp="1"/>
          </p:cNvSpPr>
          <p:nvPr/>
        </p:nvSpPr>
        <p:spPr>
          <a:xfrm xmlns:a="http://schemas.openxmlformats.org/drawingml/2006/main">
            <a:off x="5010150" y="48958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675" b="1">
                <a:solidFill>
                  <a:srgbClr val="655F73"/>
                </a:solidFill>
                <a:latin typeface="Aptos"/>
                <a:ea typeface="Aptos"/>
                <a:cs typeface="Aptos"/>
              </a:defRPr>
            </a:pPr>
            <a:r>
              <a:rPr sz="675" b="1">
                <a:solidFill>
                  <a:srgbClr val="655F73"/>
                </a:solidFill>
                <a:latin typeface="Aptos"/>
                <a:ea typeface="Aptos"/>
                <a:cs typeface="Aptos"/>
              </a:rPr>
              <a:t>0.764</a:t>
            </a:r>
          </a:p>
        </p:txBody>
      </p:sp>
      <p:sp>
        <p:nvSpPr>
          <p:cNvPr id="42" name="">
            <a:extLst xmlns:a="http://schemas.openxmlformats.org/drawingml/2006/main">
              <a:ext uri="{FF2B5EF4-FFF2-40B4-BE49-F238E27FC236}">
                <a16:creationId xmlns:a16="http://schemas.microsoft.com/office/drawing/2014/main" id="{0378340C-00FC-474C-A2E7-6C965274C943}"/>
              </a:ext>
            </a:extLst>
          </p:cNvPr>
          <p:cNvSpPr>
            <a:spLocks xmlns:a="http://schemas.openxmlformats.org/drawingml/2006/main" noGrp="1"/>
          </p:cNvSpPr>
          <p:nvPr/>
        </p:nvSpPr>
        <p:spPr>
          <a:xfrm xmlns:a="http://schemas.openxmlformats.org/drawingml/2006/main">
            <a:off x="6115050" y="2781300"/>
            <a:ext cx="5391150" cy="26289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43" name="">
            <a:extLst xmlns:a="http://schemas.openxmlformats.org/drawingml/2006/main">
              <a:ext uri="{FF2B5EF4-FFF2-40B4-BE49-F238E27FC236}">
                <a16:creationId xmlns:a16="http://schemas.microsoft.com/office/drawing/2014/main" id="{6D6608E0-064E-48FF-9525-490D61D70A9A}"/>
              </a:ext>
            </a:extLst>
          </p:cNvPr>
          <p:cNvSpPr>
            <a:spLocks xmlns:a="http://schemas.openxmlformats.org/drawingml/2006/main" noGrp="1"/>
          </p:cNvSpPr>
          <p:nvPr/>
        </p:nvSpPr>
        <p:spPr>
          <a:xfrm xmlns:a="http://schemas.openxmlformats.org/drawingml/2006/main">
            <a:off x="6362700" y="30099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A65C55"/>
                </a:solidFill>
                <a:latin typeface="Aptos"/>
                <a:ea typeface="Aptos"/>
                <a:cs typeface="Aptos"/>
              </a:defRPr>
            </a:pPr>
            <a:r>
              <a:rPr sz="900" b="1">
                <a:solidFill>
                  <a:srgbClr val="A65C55"/>
                </a:solidFill>
                <a:latin typeface="Aptos"/>
                <a:ea typeface="Aptos"/>
                <a:cs typeface="Aptos"/>
              </a:rPr>
              <a:t>RAW OPCODE CASE-HELDOUT</a:t>
            </a:r>
          </a:p>
        </p:txBody>
      </p:sp>
      <p:sp>
        <p:nvSpPr>
          <p:cNvPr id="44" name="">
            <a:extLst xmlns:a="http://schemas.openxmlformats.org/drawingml/2006/main">
              <a:ext uri="{FF2B5EF4-FFF2-40B4-BE49-F238E27FC236}">
                <a16:creationId xmlns:a16="http://schemas.microsoft.com/office/drawing/2014/main" id="{3443FEC2-D80D-46EB-97AE-7949BAD659D2}"/>
              </a:ext>
            </a:extLst>
          </p:cNvPr>
          <p:cNvSpPr>
            <a:spLocks xmlns:a="http://schemas.openxmlformats.org/drawingml/2006/main" noGrp="1"/>
          </p:cNvSpPr>
          <p:nvPr/>
        </p:nvSpPr>
        <p:spPr>
          <a:xfrm xmlns:a="http://schemas.openxmlformats.org/drawingml/2006/main">
            <a:off x="6362700" y="33718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Train 665  |  Validation 175  |  Test 840</a:t>
            </a:r>
          </a:p>
        </p:txBody>
      </p:sp>
      <p:sp>
        <p:nvSpPr>
          <p:cNvPr id="45" name="">
            <a:extLst xmlns:a="http://schemas.openxmlformats.org/drawingml/2006/main">
              <a:ext uri="{FF2B5EF4-FFF2-40B4-BE49-F238E27FC236}">
                <a16:creationId xmlns:a16="http://schemas.microsoft.com/office/drawing/2014/main" id="{E585C0AF-85D4-4F78-89F8-2A6B88A69547}"/>
              </a:ext>
            </a:extLst>
          </p:cNvPr>
          <p:cNvSpPr>
            <a:spLocks xmlns:a="http://schemas.openxmlformats.org/drawingml/2006/main" noGrp="1"/>
          </p:cNvSpPr>
          <p:nvPr/>
        </p:nvSpPr>
        <p:spPr>
          <a:xfrm xmlns:a="http://schemas.openxmlformats.org/drawingml/2006/main">
            <a:off x="6362700" y="37528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BEC9D7"/>
                </a:solidFill>
                <a:latin typeface="Aptos"/>
                <a:ea typeface="Aptos"/>
                <a:cs typeface="Aptos"/>
              </a:defRPr>
            </a:pPr>
            <a:r>
              <a:rPr sz="1050" b="0">
                <a:solidFill>
                  <a:srgbClr val="BEC9D7"/>
                </a:solidFill>
                <a:latin typeface="Aptos"/>
                <a:ea typeface="Aptos"/>
                <a:cs typeface="Aptos"/>
              </a:rPr>
              <a:t>7 labels  |  120 test sequences per label</a:t>
            </a:r>
          </a:p>
        </p:txBody>
      </p:sp>
      <p:sp>
        <p:nvSpPr>
          <p:cNvPr id="46" name="">
            <a:extLst xmlns:a="http://schemas.openxmlformats.org/drawingml/2006/main">
              <a:ext uri="{FF2B5EF4-FFF2-40B4-BE49-F238E27FC236}">
                <a16:creationId xmlns:a16="http://schemas.microsoft.com/office/drawing/2014/main" id="{54AA25A1-AD9C-45C2-BFD5-3DD165EE9591}"/>
              </a:ext>
            </a:extLst>
          </p:cNvPr>
          <p:cNvSpPr>
            <a:spLocks xmlns:a="http://schemas.openxmlformats.org/drawingml/2006/main" noGrp="1"/>
          </p:cNvSpPr>
          <p:nvPr/>
        </p:nvSpPr>
        <p:spPr>
          <a:xfrm xmlns:a="http://schemas.openxmlformats.org/drawingml/2006/main">
            <a:off x="6362700" y="42672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A65C55"/>
                </a:solidFill>
                <a:latin typeface="Aptos"/>
                <a:ea typeface="Aptos"/>
                <a:cs typeface="Aptos"/>
              </a:defRPr>
            </a:pPr>
            <a:r>
              <a:rPr sz="1350" b="1">
                <a:solidFill>
                  <a:srgbClr val="A65C55"/>
                </a:solidFill>
                <a:latin typeface="Aptos"/>
                <a:ea typeface="Aptos"/>
                <a:cs typeface="Aptos"/>
              </a:rPr>
              <a:t>Transformer macro-F1  0.110</a:t>
            </a:r>
          </a:p>
        </p:txBody>
      </p:sp>
      <p:sp>
        <p:nvSpPr>
          <p:cNvPr id="47" name="">
            <a:extLst xmlns:a="http://schemas.openxmlformats.org/drawingml/2006/main">
              <a:ext uri="{FF2B5EF4-FFF2-40B4-BE49-F238E27FC236}">
                <a16:creationId xmlns:a16="http://schemas.microsoft.com/office/drawing/2014/main" id="{118839E9-E48F-4CD0-A4AD-44601321FC3F}"/>
              </a:ext>
            </a:extLst>
          </p:cNvPr>
          <p:cNvSpPr>
            <a:spLocks xmlns:a="http://schemas.openxmlformats.org/drawingml/2006/main" noGrp="1"/>
          </p:cNvSpPr>
          <p:nvPr/>
        </p:nvSpPr>
        <p:spPr>
          <a:xfrm xmlns:a="http://schemas.openxmlformats.org/drawingml/2006/main">
            <a:off x="6362700" y="46482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8D754D"/>
                </a:solidFill>
                <a:latin typeface="Aptos"/>
                <a:ea typeface="Aptos"/>
                <a:cs typeface="Aptos"/>
              </a:defRPr>
            </a:pPr>
            <a:r>
              <a:rPr sz="1350" b="1">
                <a:solidFill>
                  <a:srgbClr val="8D754D"/>
                </a:solidFill>
                <a:latin typeface="Aptos"/>
                <a:ea typeface="Aptos"/>
                <a:cs typeface="Aptos"/>
              </a:rPr>
              <a:t>Opcode-count baseline  0.128</a:t>
            </a:r>
          </a:p>
        </p:txBody>
      </p:sp>
      <p:sp>
        <p:nvSpPr>
          <p:cNvPr id="48" name="">
            <a:extLst xmlns:a="http://schemas.openxmlformats.org/drawingml/2006/main">
              <a:ext uri="{FF2B5EF4-FFF2-40B4-BE49-F238E27FC236}">
                <a16:creationId xmlns:a16="http://schemas.microsoft.com/office/drawing/2014/main" id="{EB840E10-1E19-49CC-A0C0-4DE50219B59B}"/>
              </a:ext>
            </a:extLst>
          </p:cNvPr>
          <p:cNvSpPr>
            <a:spLocks xmlns:a="http://schemas.openxmlformats.org/drawingml/2006/main" noGrp="1"/>
          </p:cNvSpPr>
          <p:nvPr/>
        </p:nvSpPr>
        <p:spPr>
          <a:xfrm xmlns:a="http://schemas.openxmlformats.org/drawingml/2006/main">
            <a:off x="9429750" y="4324350"/>
            <a:ext cx="16192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49" name="">
            <a:extLst xmlns:a="http://schemas.openxmlformats.org/drawingml/2006/main">
              <a:ext uri="{FF2B5EF4-FFF2-40B4-BE49-F238E27FC236}">
                <a16:creationId xmlns:a16="http://schemas.microsoft.com/office/drawing/2014/main" id="{955BB3A7-FA89-45A0-8A77-6BCD8C86CD66}"/>
              </a:ext>
            </a:extLst>
          </p:cNvPr>
          <p:cNvSpPr>
            <a:spLocks xmlns:a="http://schemas.openxmlformats.org/drawingml/2006/main" noGrp="1"/>
          </p:cNvSpPr>
          <p:nvPr/>
        </p:nvSpPr>
        <p:spPr>
          <a:xfrm xmlns:a="http://schemas.openxmlformats.org/drawingml/2006/main">
            <a:off x="9496425" y="438150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A65C55"/>
                </a:solidFill>
                <a:latin typeface="Aptos"/>
                <a:ea typeface="Aptos"/>
                <a:cs typeface="Aptos"/>
              </a:defRPr>
            </a:pPr>
            <a:r>
              <a:rPr sz="825" b="1">
                <a:solidFill>
                  <a:srgbClr val="A65C55"/>
                </a:solidFill>
                <a:latin typeface="Aptos"/>
                <a:ea typeface="Aptos"/>
                <a:cs typeface="Aptos"/>
              </a:rPr>
              <a:t>research-only</a:t>
            </a:r>
          </a:p>
        </p:txBody>
      </p:sp>
      <p:sp>
        <p:nvSpPr>
          <p:cNvPr id="50" name="">
            <a:extLst xmlns:a="http://schemas.openxmlformats.org/drawingml/2006/main">
              <a:ext uri="{FF2B5EF4-FFF2-40B4-BE49-F238E27FC236}">
                <a16:creationId xmlns:a16="http://schemas.microsoft.com/office/drawing/2014/main" id="{7B8C1686-CA2A-455C-82B3-A01FF9DF0BD1}"/>
              </a:ext>
            </a:extLst>
          </p:cNvPr>
          <p:cNvSpPr>
            <a:spLocks xmlns:a="http://schemas.openxmlformats.org/drawingml/2006/main" noGrp="1"/>
          </p:cNvSpPr>
          <p:nvPr/>
        </p:nvSpPr>
        <p:spPr>
          <a:xfrm xmlns:a="http://schemas.openxmlformats.org/drawingml/2006/main">
            <a:off x="685800" y="58102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80CBAD8E-975A-4060-9A54-85888D80E6A6}"/>
              </a:ext>
            </a:extLst>
          </p:cNvPr>
          <p:cNvSpPr>
            <a:spLocks xmlns:a="http://schemas.openxmlformats.org/drawingml/2006/main" noGrp="1"/>
          </p:cNvSpPr>
          <p:nvPr/>
        </p:nvSpPr>
        <p:spPr>
          <a:xfrm xmlns:a="http://schemas.openxmlformats.org/drawingml/2006/main">
            <a:off x="819150" y="5876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Metrics: metrics-mvp-safe.json  |  ai-r8-raw-opcode-prototype/metrics.json</a:t>
            </a:r>
          </a:p>
        </p:txBody>
      </p:sp>
      <p:sp>
        <p:nvSpPr>
          <p:cNvPr id="52" name="">
            <a:extLst xmlns:a="http://schemas.openxmlformats.org/drawingml/2006/main">
              <a:ext uri="{FF2B5EF4-FFF2-40B4-BE49-F238E27FC236}">
                <a16:creationId xmlns:a16="http://schemas.microsoft.com/office/drawing/2014/main" id="{CBF53729-7FCD-4129-961B-B7D4915F0CC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32825984"/>
      </p:ext>
    </p:extLst>
  </p:cSld>
</p:sld>
</file>

<file path=ppt/slides/slide40.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B3C903B-2FBB-4911-97E4-A8AF779493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172A"/>
          </a:solidFill>
          <a:ln xmlns:a="http://schemas.openxmlformats.org/drawingml/2006/main" w="0">
            <a:solidFill>
              <a:srgbClr val="0F172A"/>
            </a:solidFill>
            <a:prstDash val="solid"/>
          </a:ln>
        </p:spPr>
      </p:sp>
      <p:sp>
        <p:nvSpPr>
          <p:cNvPr id="2" name="">
            <a:extLst xmlns:a="http://schemas.openxmlformats.org/drawingml/2006/main">
              <a:ext uri="{FF2B5EF4-FFF2-40B4-BE49-F238E27FC236}">
                <a16:creationId xmlns:a16="http://schemas.microsoft.com/office/drawing/2014/main" id="{C4EC020E-F3AA-4046-9CC0-D4B02259C37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4B8A6"/>
          </a:solidFill>
          <a:ln xmlns:a="http://schemas.openxmlformats.org/drawingml/2006/main" w="0">
            <a:solidFill>
              <a:srgbClr val="14B8A6"/>
            </a:solidFill>
            <a:prstDash val="solid"/>
          </a:ln>
        </p:spPr>
      </p:sp>
      <p:sp>
        <p:nvSpPr>
          <p:cNvPr id="3" name="">
            <a:extLst xmlns:a="http://schemas.openxmlformats.org/drawingml/2006/main">
              <a:ext uri="{FF2B5EF4-FFF2-40B4-BE49-F238E27FC236}">
                <a16:creationId xmlns:a16="http://schemas.microsoft.com/office/drawing/2014/main" id="{F3115F12-D29D-4F84-AF68-DC44B5CEDDFA}"/>
              </a:ext>
            </a:extLst>
          </p:cNvPr>
          <p:cNvSpPr>
            <a:spLocks xmlns:a="http://schemas.openxmlformats.org/drawingml/2006/main" noGrp="1"/>
          </p:cNvSpPr>
          <p:nvPr/>
        </p:nvSpPr>
        <p:spPr>
          <a:xfrm xmlns:a="http://schemas.openxmlformats.org/drawingml/2006/main">
            <a:off x="457200" y="3429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4B8A6"/>
                </a:solidFill>
              </a:defRPr>
            </a:pPr>
            <a:r>
              <a:rPr sz="975" b="1">
                <a:solidFill>
                  <a:srgbClr val="14B8A6"/>
                </a:solidFill>
              </a:rPr>
              <a:t>PROTOTYPE OUTPUT PROOF</a:t>
            </a:r>
          </a:p>
        </p:txBody>
      </p:sp>
      <p:sp>
        <p:nvSpPr>
          <p:cNvPr id="4" name="">
            <a:extLst xmlns:a="http://schemas.openxmlformats.org/drawingml/2006/main">
              <a:ext uri="{FF2B5EF4-FFF2-40B4-BE49-F238E27FC236}">
                <a16:creationId xmlns:a16="http://schemas.microsoft.com/office/drawing/2014/main" id="{EA0C292E-2433-457A-926C-A4B3A9836A08}"/>
              </a:ext>
            </a:extLst>
          </p:cNvPr>
          <p:cNvSpPr>
            <a:spLocks xmlns:a="http://schemas.openxmlformats.org/drawingml/2006/main" noGrp="1"/>
          </p:cNvSpPr>
          <p:nvPr/>
        </p:nvSpPr>
        <p:spPr>
          <a:xfrm xmlns:a="http://schemas.openxmlformats.org/drawingml/2006/main">
            <a:off x="457200" y="666750"/>
            <a:ext cx="942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F8FAFC"/>
                </a:solidFill>
              </a:defRPr>
            </a:pPr>
            <a:r>
              <a:rPr sz="2625" b="1">
                <a:solidFill>
                  <a:srgbClr val="F8FAFC"/>
                </a:solidFill>
              </a:rPr>
              <a:t>Clean lane: F-Droid report pages show zero OSV findings</a:t>
            </a:r>
          </a:p>
        </p:txBody>
      </p:sp>
      <p:sp>
        <p:nvSpPr>
          <p:cNvPr id="5" name="">
            <a:extLst xmlns:a="http://schemas.openxmlformats.org/drawingml/2006/main">
              <a:ext uri="{FF2B5EF4-FFF2-40B4-BE49-F238E27FC236}">
                <a16:creationId xmlns:a16="http://schemas.microsoft.com/office/drawing/2014/main" id="{5B4BF553-42BF-47AD-82B6-CB58AD339558}"/>
              </a:ext>
            </a:extLst>
          </p:cNvPr>
          <p:cNvSpPr>
            <a:spLocks xmlns:a="http://schemas.openxmlformats.org/drawingml/2006/main" noGrp="1"/>
          </p:cNvSpPr>
          <p:nvPr/>
        </p:nvSpPr>
        <p:spPr>
          <a:xfrm xmlns:a="http://schemas.openxmlformats.org/drawingml/2006/main">
            <a:off x="11506200" y="3429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CBD5E1"/>
                </a:solidFill>
              </a:defRPr>
            </a:pPr>
            <a:r>
              <a:rPr sz="975" b="0">
                <a:solidFill>
                  <a:srgbClr val="CBD5E1"/>
                </a:solidFill>
              </a:rPr>
              <a:t>40</a:t>
            </a:r>
          </a:p>
        </p:txBody>
      </p:sp>
      <p:sp>
        <p:nvSpPr>
          <p:cNvPr id="6" name="">
            <a:extLst xmlns:a="http://schemas.openxmlformats.org/drawingml/2006/main">
              <a:ext uri="{FF2B5EF4-FFF2-40B4-BE49-F238E27FC236}">
                <a16:creationId xmlns:a16="http://schemas.microsoft.com/office/drawing/2014/main" id="{0A285331-14C5-4322-BFBA-D9B8D5DDB557}"/>
              </a:ext>
            </a:extLst>
          </p:cNvPr>
          <p:cNvSpPr>
            <a:spLocks xmlns:a="http://schemas.openxmlformats.org/drawingml/2006/main" noGrp="1"/>
          </p:cNvSpPr>
          <p:nvPr/>
        </p:nvSpPr>
        <p:spPr>
          <a:xfrm xmlns:a="http://schemas.openxmlformats.org/drawingml/2006/main">
            <a:off x="438150" y="1466850"/>
            <a:ext cx="5467350" cy="4686300"/>
          </a:xfrm>
          <a:prstGeom xmlns:a="http://schemas.openxmlformats.org/drawingml/2006/main" prst="roundRect">
            <a:avLst>
              <a:gd name="adj" fmla="val 2439"/>
            </a:avLst>
          </a:prstGeom>
          <a:solidFill xmlns:a="http://schemas.openxmlformats.org/drawingml/2006/main">
            <a:srgbClr val="F8FAFC"/>
          </a:solidFill>
          <a:ln xmlns:a="http://schemas.openxmlformats.org/drawingml/2006/main" w="11430">
            <a:solidFill>
              <a:srgbClr val="5EEAD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AFD5623-A0D3-4B17-9B42-083F151A6694}"/>
              </a:ext>
            </a:extLst>
          </p:cNvPr>
          <p:cNvSpPr>
            <a:spLocks xmlns:a="http://schemas.openxmlformats.org/drawingml/2006/main" noGrp="1"/>
          </p:cNvSpPr>
          <p:nvPr/>
        </p:nvSpPr>
        <p:spPr>
          <a:xfrm xmlns:a="http://schemas.openxmlformats.org/drawingml/2006/main">
            <a:off x="6286500" y="1466850"/>
            <a:ext cx="5467350" cy="4686300"/>
          </a:xfrm>
          <a:prstGeom xmlns:a="http://schemas.openxmlformats.org/drawingml/2006/main" prst="roundRect">
            <a:avLst>
              <a:gd name="adj" fmla="val 2439"/>
            </a:avLst>
          </a:prstGeom>
          <a:solidFill xmlns:a="http://schemas.openxmlformats.org/drawingml/2006/main">
            <a:srgbClr val="F8FAFC"/>
          </a:solidFill>
          <a:ln xmlns:a="http://schemas.openxmlformats.org/drawingml/2006/main" w="11430">
            <a:solidFill>
              <a:srgbClr val="5EEAD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e0a819dd8904966"/>
          <a:stretch xmlns:a="http://schemas.openxmlformats.org/drawingml/2006/main"/>
        </p:blipFill>
        <p:spPr>
          <a:xfrm xmlns:a="http://schemas.openxmlformats.org/drawingml/2006/main">
            <a:off x="552450" y="1845469"/>
            <a:ext cx="5238750" cy="3929063"/>
          </a:xfrm>
          <a:prstGeom xmlns:a="http://schemas.openxmlformats.org/drawingml/2006/main" prst="roundRect">
            <a:avLst>
              <a:gd name="adj" fmla="val 1282"/>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fdd41f315c6448d"/>
          <a:stretch xmlns:a="http://schemas.openxmlformats.org/drawingml/2006/main"/>
        </p:blipFill>
        <p:spPr>
          <a:xfrm xmlns:a="http://schemas.openxmlformats.org/drawingml/2006/main">
            <a:off x="6400800" y="1845469"/>
            <a:ext cx="5238750" cy="3929063"/>
          </a:xfrm>
          <a:prstGeom xmlns:a="http://schemas.openxmlformats.org/drawingml/2006/main" prst="roundRect">
            <a:avLst>
              <a:gd name="adj" fmla="val 1282"/>
            </a:avLst>
          </a:prstGeom>
        </p:spPr>
      </p:pic>
      <p:sp>
        <p:nvSpPr>
          <p:cNvPr id="10" name="">
            <a:extLst xmlns:a="http://schemas.openxmlformats.org/drawingml/2006/main">
              <a:ext uri="{FF2B5EF4-FFF2-40B4-BE49-F238E27FC236}">
                <a16:creationId xmlns:a16="http://schemas.microsoft.com/office/drawing/2014/main" id="{0B2D60B8-944B-4D34-A4B8-FAF8A0E0295A}"/>
              </a:ext>
            </a:extLst>
          </p:cNvPr>
          <p:cNvSpPr>
            <a:spLocks xmlns:a="http://schemas.openxmlformats.org/drawingml/2006/main" noGrp="1"/>
          </p:cNvSpPr>
          <p:nvPr/>
        </p:nvSpPr>
        <p:spPr>
          <a:xfrm xmlns:a="http://schemas.openxmlformats.org/drawingml/2006/main">
            <a:off x="666750" y="6438900"/>
            <a:ext cx="1085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CBD5E1"/>
                </a:solidFill>
              </a:defRPr>
            </a:pPr>
            <a:r>
              <a:rPr sz="975" b="0">
                <a:solidFill>
                  <a:srgbClr val="CBD5E1"/>
                </a:solidFill>
              </a:rPr>
              <a:t>Source artifacts: data/results/demo-osv-clean-fdroid/report.html, report.json, report.md, sbom.cdx.json, osv-vulnerabilities.json</a:t>
            </a:r>
          </a:p>
        </p:txBody>
      </p:sp>
    </p:spTree>
    <p:extLst>
      <p:ext uri="{BB962C8B-B14F-4D97-AF65-F5344CB8AC3E}">
        <p14:creationId xmlns:p14="http://schemas.microsoft.com/office/powerpoint/2010/main" val="1384467192"/>
      </p:ext>
    </p:extLst>
  </p:cSld>
</p:sld>
</file>

<file path=ppt/slides/slide4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6D1B646-EB7F-4671-9A01-90966FABA8B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172A"/>
          </a:solidFill>
          <a:ln xmlns:a="http://schemas.openxmlformats.org/drawingml/2006/main" w="0">
            <a:solidFill>
              <a:srgbClr val="0F172A"/>
            </a:solidFill>
            <a:prstDash val="solid"/>
          </a:ln>
        </p:spPr>
      </p:sp>
      <p:sp>
        <p:nvSpPr>
          <p:cNvPr id="2" name="">
            <a:extLst xmlns:a="http://schemas.openxmlformats.org/drawingml/2006/main">
              <a:ext uri="{FF2B5EF4-FFF2-40B4-BE49-F238E27FC236}">
                <a16:creationId xmlns:a16="http://schemas.microsoft.com/office/drawing/2014/main" id="{CDB8A5E4-358D-4103-B240-A3C0A8734E3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4B8A6"/>
          </a:solidFill>
          <a:ln xmlns:a="http://schemas.openxmlformats.org/drawingml/2006/main" w="0">
            <a:solidFill>
              <a:srgbClr val="14B8A6"/>
            </a:solidFill>
            <a:prstDash val="solid"/>
          </a:ln>
        </p:spPr>
      </p:sp>
      <p:sp>
        <p:nvSpPr>
          <p:cNvPr id="3" name="">
            <a:extLst xmlns:a="http://schemas.openxmlformats.org/drawingml/2006/main">
              <a:ext uri="{FF2B5EF4-FFF2-40B4-BE49-F238E27FC236}">
                <a16:creationId xmlns:a16="http://schemas.microsoft.com/office/drawing/2014/main" id="{7F85F64C-8BF9-4B3D-96C3-21B5ADC4CEE4}"/>
              </a:ext>
            </a:extLst>
          </p:cNvPr>
          <p:cNvSpPr>
            <a:spLocks xmlns:a="http://schemas.openxmlformats.org/drawingml/2006/main" noGrp="1"/>
          </p:cNvSpPr>
          <p:nvPr/>
        </p:nvSpPr>
        <p:spPr>
          <a:xfrm xmlns:a="http://schemas.openxmlformats.org/drawingml/2006/main">
            <a:off x="457200" y="3429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4B8A6"/>
                </a:solidFill>
              </a:defRPr>
            </a:pPr>
            <a:r>
              <a:rPr sz="975" b="1">
                <a:solidFill>
                  <a:srgbClr val="14B8A6"/>
                </a:solidFill>
              </a:rPr>
              <a:t>PROTOTYPE OUTPUT PROOF</a:t>
            </a:r>
          </a:p>
        </p:txBody>
      </p:sp>
      <p:sp>
        <p:nvSpPr>
          <p:cNvPr id="4" name="">
            <a:extLst xmlns:a="http://schemas.openxmlformats.org/drawingml/2006/main">
              <a:ext uri="{FF2B5EF4-FFF2-40B4-BE49-F238E27FC236}">
                <a16:creationId xmlns:a16="http://schemas.microsoft.com/office/drawing/2014/main" id="{E7191E6C-8B73-4BF3-95CF-CAFB88DD46AF}"/>
              </a:ext>
            </a:extLst>
          </p:cNvPr>
          <p:cNvSpPr>
            <a:spLocks xmlns:a="http://schemas.openxmlformats.org/drawingml/2006/main" noGrp="1"/>
          </p:cNvSpPr>
          <p:nvPr/>
        </p:nvSpPr>
        <p:spPr>
          <a:xfrm xmlns:a="http://schemas.openxmlformats.org/drawingml/2006/main">
            <a:off x="457200" y="666750"/>
            <a:ext cx="942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F8FAFC"/>
                </a:solidFill>
              </a:defRPr>
            </a:pPr>
            <a:r>
              <a:rPr sz="2625" b="1">
                <a:solidFill>
                  <a:srgbClr val="F8FAFC"/>
                </a:solidFill>
              </a:rPr>
              <a:t>Clean lane continued: components, version decisions, native hashes, artifacts</a:t>
            </a:r>
          </a:p>
        </p:txBody>
      </p:sp>
      <p:sp>
        <p:nvSpPr>
          <p:cNvPr id="5" name="">
            <a:extLst xmlns:a="http://schemas.openxmlformats.org/drawingml/2006/main">
              <a:ext uri="{FF2B5EF4-FFF2-40B4-BE49-F238E27FC236}">
                <a16:creationId xmlns:a16="http://schemas.microsoft.com/office/drawing/2014/main" id="{908C68C4-A9DF-4E38-9CF6-B97A1396575C}"/>
              </a:ext>
            </a:extLst>
          </p:cNvPr>
          <p:cNvSpPr>
            <a:spLocks xmlns:a="http://schemas.openxmlformats.org/drawingml/2006/main" noGrp="1"/>
          </p:cNvSpPr>
          <p:nvPr/>
        </p:nvSpPr>
        <p:spPr>
          <a:xfrm xmlns:a="http://schemas.openxmlformats.org/drawingml/2006/main">
            <a:off x="11506200" y="3429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CBD5E1"/>
                </a:solidFill>
              </a:defRPr>
            </a:pPr>
            <a:r>
              <a:rPr sz="975" b="0">
                <a:solidFill>
                  <a:srgbClr val="CBD5E1"/>
                </a:solidFill>
              </a:rPr>
              <a:t>41</a:t>
            </a:r>
          </a:p>
        </p:txBody>
      </p:sp>
      <p:sp>
        <p:nvSpPr>
          <p:cNvPr id="6" name="">
            <a:extLst xmlns:a="http://schemas.openxmlformats.org/drawingml/2006/main">
              <a:ext uri="{FF2B5EF4-FFF2-40B4-BE49-F238E27FC236}">
                <a16:creationId xmlns:a16="http://schemas.microsoft.com/office/drawing/2014/main" id="{3F4D9E9A-7D55-4F08-8660-4AEED37A0DD8}"/>
              </a:ext>
            </a:extLst>
          </p:cNvPr>
          <p:cNvSpPr>
            <a:spLocks xmlns:a="http://schemas.openxmlformats.org/drawingml/2006/main" noGrp="1"/>
          </p:cNvSpPr>
          <p:nvPr/>
        </p:nvSpPr>
        <p:spPr>
          <a:xfrm xmlns:a="http://schemas.openxmlformats.org/drawingml/2006/main">
            <a:off x="400050" y="1466850"/>
            <a:ext cx="3486150" cy="4686300"/>
          </a:xfrm>
          <a:prstGeom xmlns:a="http://schemas.openxmlformats.org/drawingml/2006/main" prst="roundRect">
            <a:avLst>
              <a:gd name="adj" fmla="val 3279"/>
            </a:avLst>
          </a:prstGeom>
          <a:solidFill xmlns:a="http://schemas.openxmlformats.org/drawingml/2006/main">
            <a:srgbClr val="F8FAFC"/>
          </a:solidFill>
          <a:ln xmlns:a="http://schemas.openxmlformats.org/drawingml/2006/main" w="11430">
            <a:solidFill>
              <a:srgbClr val="5EEAD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7ef4a8351254900"/>
          <a:stretch xmlns:a="http://schemas.openxmlformats.org/drawingml/2006/main"/>
        </p:blipFill>
        <p:spPr>
          <a:xfrm xmlns:a="http://schemas.openxmlformats.org/drawingml/2006/main">
            <a:off x="495300" y="2574131"/>
            <a:ext cx="3295650" cy="2471738"/>
          </a:xfrm>
          <a:prstGeom xmlns:a="http://schemas.openxmlformats.org/drawingml/2006/main" prst="roundRect">
            <a:avLst>
              <a:gd name="adj" fmla="val 1734"/>
            </a:avLst>
          </a:prstGeom>
        </p:spPr>
      </p:pic>
      <p:sp>
        <p:nvSpPr>
          <p:cNvPr id="8" name="">
            <a:extLst xmlns:a="http://schemas.openxmlformats.org/drawingml/2006/main">
              <a:ext uri="{FF2B5EF4-FFF2-40B4-BE49-F238E27FC236}">
                <a16:creationId xmlns:a16="http://schemas.microsoft.com/office/drawing/2014/main" id="{CBA8069D-E073-49C8-B1CF-B2E5A9E2163F}"/>
              </a:ext>
            </a:extLst>
          </p:cNvPr>
          <p:cNvSpPr>
            <a:spLocks xmlns:a="http://schemas.openxmlformats.org/drawingml/2006/main" noGrp="1"/>
          </p:cNvSpPr>
          <p:nvPr/>
        </p:nvSpPr>
        <p:spPr>
          <a:xfrm xmlns:a="http://schemas.openxmlformats.org/drawingml/2006/main">
            <a:off x="4210050" y="1466850"/>
            <a:ext cx="3486150" cy="4686300"/>
          </a:xfrm>
          <a:prstGeom xmlns:a="http://schemas.openxmlformats.org/drawingml/2006/main" prst="roundRect">
            <a:avLst>
              <a:gd name="adj" fmla="val 3279"/>
            </a:avLst>
          </a:prstGeom>
          <a:solidFill xmlns:a="http://schemas.openxmlformats.org/drawingml/2006/main">
            <a:srgbClr val="F8FAFC"/>
          </a:solidFill>
          <a:ln xmlns:a="http://schemas.openxmlformats.org/drawingml/2006/main" w="11430">
            <a:solidFill>
              <a:srgbClr val="5EEAD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e0d55272ac74f74"/>
          <a:stretch xmlns:a="http://schemas.openxmlformats.org/drawingml/2006/main"/>
        </p:blipFill>
        <p:spPr>
          <a:xfrm xmlns:a="http://schemas.openxmlformats.org/drawingml/2006/main">
            <a:off x="4305300" y="2574131"/>
            <a:ext cx="3295650" cy="2471738"/>
          </a:xfrm>
          <a:prstGeom xmlns:a="http://schemas.openxmlformats.org/drawingml/2006/main" prst="roundRect">
            <a:avLst>
              <a:gd name="adj" fmla="val 1734"/>
            </a:avLst>
          </a:prstGeom>
        </p:spPr>
      </p:pic>
      <p:sp>
        <p:nvSpPr>
          <p:cNvPr id="10" name="">
            <a:extLst xmlns:a="http://schemas.openxmlformats.org/drawingml/2006/main">
              <a:ext uri="{FF2B5EF4-FFF2-40B4-BE49-F238E27FC236}">
                <a16:creationId xmlns:a16="http://schemas.microsoft.com/office/drawing/2014/main" id="{17A02FC1-FA7C-44BF-BF6D-3037F1558288}"/>
              </a:ext>
            </a:extLst>
          </p:cNvPr>
          <p:cNvSpPr>
            <a:spLocks xmlns:a="http://schemas.openxmlformats.org/drawingml/2006/main" noGrp="1"/>
          </p:cNvSpPr>
          <p:nvPr/>
        </p:nvSpPr>
        <p:spPr>
          <a:xfrm xmlns:a="http://schemas.openxmlformats.org/drawingml/2006/main">
            <a:off x="8020050" y="1466850"/>
            <a:ext cx="3486150" cy="4686300"/>
          </a:xfrm>
          <a:prstGeom xmlns:a="http://schemas.openxmlformats.org/drawingml/2006/main" prst="roundRect">
            <a:avLst>
              <a:gd name="adj" fmla="val 3279"/>
            </a:avLst>
          </a:prstGeom>
          <a:solidFill xmlns:a="http://schemas.openxmlformats.org/drawingml/2006/main">
            <a:srgbClr val="F8FAFC"/>
          </a:solidFill>
          <a:ln xmlns:a="http://schemas.openxmlformats.org/drawingml/2006/main" w="11430">
            <a:solidFill>
              <a:srgbClr val="5EEAD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fec73c85aa44968"/>
          <a:stretch xmlns:a="http://schemas.openxmlformats.org/drawingml/2006/main"/>
        </p:blipFill>
        <p:spPr>
          <a:xfrm xmlns:a="http://schemas.openxmlformats.org/drawingml/2006/main">
            <a:off x="8115300" y="2574131"/>
            <a:ext cx="3295650" cy="2471738"/>
          </a:xfrm>
          <a:prstGeom xmlns:a="http://schemas.openxmlformats.org/drawingml/2006/main" prst="roundRect">
            <a:avLst>
              <a:gd name="adj" fmla="val 1734"/>
            </a:avLst>
          </a:prstGeom>
        </p:spPr>
      </p:pic>
      <p:sp>
        <p:nvSpPr>
          <p:cNvPr id="12" name="">
            <a:extLst xmlns:a="http://schemas.openxmlformats.org/drawingml/2006/main">
              <a:ext uri="{FF2B5EF4-FFF2-40B4-BE49-F238E27FC236}">
                <a16:creationId xmlns:a16="http://schemas.microsoft.com/office/drawing/2014/main" id="{2D36B847-9498-4C9E-A45F-19FC7DCE787B}"/>
              </a:ext>
            </a:extLst>
          </p:cNvPr>
          <p:cNvSpPr>
            <a:spLocks xmlns:a="http://schemas.openxmlformats.org/drawingml/2006/main" noGrp="1"/>
          </p:cNvSpPr>
          <p:nvPr/>
        </p:nvSpPr>
        <p:spPr>
          <a:xfrm xmlns:a="http://schemas.openxmlformats.org/drawingml/2006/main">
            <a:off x="647700" y="6076950"/>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5EEAD4"/>
                </a:solidFill>
              </a:defRPr>
            </a:pPr>
            <a:r>
              <a:rPr sz="1500" b="1">
                <a:solidFill>
                  <a:srgbClr val="5EEAD4"/>
                </a:solidFill>
              </a:rPr>
              <a:t>Clean claim: 23 Maven components, 4 native file hashes, 0 OSV vulnerabilities.</a:t>
            </a:r>
          </a:p>
        </p:txBody>
      </p:sp>
      <p:sp>
        <p:nvSpPr>
          <p:cNvPr id="13" name="">
            <a:extLst xmlns:a="http://schemas.openxmlformats.org/drawingml/2006/main">
              <a:ext uri="{FF2B5EF4-FFF2-40B4-BE49-F238E27FC236}">
                <a16:creationId xmlns:a16="http://schemas.microsoft.com/office/drawing/2014/main" id="{A5539422-CB12-47F9-BBD6-1F40F1638164}"/>
              </a:ext>
            </a:extLst>
          </p:cNvPr>
          <p:cNvSpPr>
            <a:spLocks xmlns:a="http://schemas.openxmlformats.org/drawingml/2006/main" noGrp="1"/>
          </p:cNvSpPr>
          <p:nvPr/>
        </p:nvSpPr>
        <p:spPr>
          <a:xfrm xmlns:a="http://schemas.openxmlformats.org/drawingml/2006/main">
            <a:off x="666750" y="6438900"/>
            <a:ext cx="1085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CBD5E1"/>
                </a:solidFill>
              </a:defRPr>
            </a:pPr>
            <a:r>
              <a:rPr sz="975" b="0">
                <a:solidFill>
                  <a:srgbClr val="CBD5E1"/>
                </a:solidFill>
              </a:rPr>
              <a:t>Full long image and copied raw output are in assets/report-proof-screenshots/clean-fdroid and original-output/clean-fdroid.</a:t>
            </a:r>
          </a:p>
        </p:txBody>
      </p:sp>
    </p:spTree>
    <p:extLst>
      <p:ext uri="{BB962C8B-B14F-4D97-AF65-F5344CB8AC3E}">
        <p14:creationId xmlns:p14="http://schemas.microsoft.com/office/powerpoint/2010/main" val="1299507068"/>
      </p:ext>
    </p:extLst>
  </p:cSld>
</p:sld>
</file>

<file path=ppt/slides/slide42.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AF59CD-2C38-4800-BC1F-76F0BFF3BC6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172A"/>
          </a:solidFill>
          <a:ln xmlns:a="http://schemas.openxmlformats.org/drawingml/2006/main" w="0">
            <a:solidFill>
              <a:srgbClr val="0F172A"/>
            </a:solidFill>
            <a:prstDash val="solid"/>
          </a:ln>
        </p:spPr>
      </p:sp>
      <p:sp>
        <p:nvSpPr>
          <p:cNvPr id="2" name="">
            <a:extLst xmlns:a="http://schemas.openxmlformats.org/drawingml/2006/main">
              <a:ext uri="{FF2B5EF4-FFF2-40B4-BE49-F238E27FC236}">
                <a16:creationId xmlns:a16="http://schemas.microsoft.com/office/drawing/2014/main" id="{33EEA463-813C-46C7-8041-BF73545E3CB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87171"/>
          </a:solidFill>
          <a:ln xmlns:a="http://schemas.openxmlformats.org/drawingml/2006/main" w="0">
            <a:solidFill>
              <a:srgbClr val="F87171"/>
            </a:solidFill>
            <a:prstDash val="solid"/>
          </a:ln>
        </p:spPr>
      </p:sp>
      <p:sp>
        <p:nvSpPr>
          <p:cNvPr id="3" name="">
            <a:extLst xmlns:a="http://schemas.openxmlformats.org/drawingml/2006/main">
              <a:ext uri="{FF2B5EF4-FFF2-40B4-BE49-F238E27FC236}">
                <a16:creationId xmlns:a16="http://schemas.microsoft.com/office/drawing/2014/main" id="{604DDE33-D9F8-45B0-A1EC-EC76A010F6B7}"/>
              </a:ext>
            </a:extLst>
          </p:cNvPr>
          <p:cNvSpPr>
            <a:spLocks xmlns:a="http://schemas.openxmlformats.org/drawingml/2006/main" noGrp="1"/>
          </p:cNvSpPr>
          <p:nvPr/>
        </p:nvSpPr>
        <p:spPr>
          <a:xfrm xmlns:a="http://schemas.openxmlformats.org/drawingml/2006/main">
            <a:off x="457200" y="3429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87171"/>
                </a:solidFill>
              </a:defRPr>
            </a:pPr>
            <a:r>
              <a:rPr sz="975" b="1">
                <a:solidFill>
                  <a:srgbClr val="F87171"/>
                </a:solidFill>
              </a:rPr>
              <a:t>PROTOTYPE OUTPUT PROOF</a:t>
            </a:r>
          </a:p>
        </p:txBody>
      </p:sp>
      <p:sp>
        <p:nvSpPr>
          <p:cNvPr id="4" name="">
            <a:extLst xmlns:a="http://schemas.openxmlformats.org/drawingml/2006/main">
              <a:ext uri="{FF2B5EF4-FFF2-40B4-BE49-F238E27FC236}">
                <a16:creationId xmlns:a16="http://schemas.microsoft.com/office/drawing/2014/main" id="{06A94765-2186-444A-8319-3EBA833905A9}"/>
              </a:ext>
            </a:extLst>
          </p:cNvPr>
          <p:cNvSpPr>
            <a:spLocks xmlns:a="http://schemas.openxmlformats.org/drawingml/2006/main" noGrp="1"/>
          </p:cNvSpPr>
          <p:nvPr/>
        </p:nvSpPr>
        <p:spPr>
          <a:xfrm xmlns:a="http://schemas.openxmlformats.org/drawingml/2006/main">
            <a:off x="457200" y="666750"/>
            <a:ext cx="942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F8FAFC"/>
                </a:solidFill>
              </a:defRPr>
            </a:pPr>
            <a:r>
              <a:rPr sz="2625" b="1">
                <a:solidFill>
                  <a:srgbClr val="F8FAFC"/>
                </a:solidFill>
              </a:rPr>
              <a:t>Vulnerable lane: exact Jackson version match before OSV lookup</a:t>
            </a:r>
          </a:p>
        </p:txBody>
      </p:sp>
      <p:sp>
        <p:nvSpPr>
          <p:cNvPr id="5" name="">
            <a:extLst xmlns:a="http://schemas.openxmlformats.org/drawingml/2006/main">
              <a:ext uri="{FF2B5EF4-FFF2-40B4-BE49-F238E27FC236}">
                <a16:creationId xmlns:a16="http://schemas.microsoft.com/office/drawing/2014/main" id="{22A3C6CE-B772-40AA-9430-C4D53028B40E}"/>
              </a:ext>
            </a:extLst>
          </p:cNvPr>
          <p:cNvSpPr>
            <a:spLocks xmlns:a="http://schemas.openxmlformats.org/drawingml/2006/main" noGrp="1"/>
          </p:cNvSpPr>
          <p:nvPr/>
        </p:nvSpPr>
        <p:spPr>
          <a:xfrm xmlns:a="http://schemas.openxmlformats.org/drawingml/2006/main">
            <a:off x="11506200" y="3429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CBD5E1"/>
                </a:solidFill>
              </a:defRPr>
            </a:pPr>
            <a:r>
              <a:rPr sz="975" b="0">
                <a:solidFill>
                  <a:srgbClr val="CBD5E1"/>
                </a:solidFill>
              </a:rPr>
              <a:t>42</a:t>
            </a:r>
          </a:p>
        </p:txBody>
      </p:sp>
      <p:sp>
        <p:nvSpPr>
          <p:cNvPr id="6" name="">
            <a:extLst xmlns:a="http://schemas.openxmlformats.org/drawingml/2006/main">
              <a:ext uri="{FF2B5EF4-FFF2-40B4-BE49-F238E27FC236}">
                <a16:creationId xmlns:a16="http://schemas.microsoft.com/office/drawing/2014/main" id="{63C7E84D-A683-4687-80E6-F1D677F22E7A}"/>
              </a:ext>
            </a:extLst>
          </p:cNvPr>
          <p:cNvSpPr>
            <a:spLocks xmlns:a="http://schemas.openxmlformats.org/drawingml/2006/main" noGrp="1"/>
          </p:cNvSpPr>
          <p:nvPr/>
        </p:nvSpPr>
        <p:spPr>
          <a:xfrm xmlns:a="http://schemas.openxmlformats.org/drawingml/2006/main">
            <a:off x="438150" y="1466850"/>
            <a:ext cx="5467350" cy="4686300"/>
          </a:xfrm>
          <a:prstGeom xmlns:a="http://schemas.openxmlformats.org/drawingml/2006/main" prst="roundRect">
            <a:avLst>
              <a:gd name="adj" fmla="val 2439"/>
            </a:avLst>
          </a:prstGeom>
          <a:solidFill xmlns:a="http://schemas.openxmlformats.org/drawingml/2006/main">
            <a:srgbClr val="F8FAFC"/>
          </a:solidFill>
          <a:ln xmlns:a="http://schemas.openxmlformats.org/drawingml/2006/main" w="11430">
            <a:solidFill>
              <a:srgbClr val="FECAC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E0A4D98-D334-4564-8F29-E297D40A7094}"/>
              </a:ext>
            </a:extLst>
          </p:cNvPr>
          <p:cNvSpPr>
            <a:spLocks xmlns:a="http://schemas.openxmlformats.org/drawingml/2006/main" noGrp="1"/>
          </p:cNvSpPr>
          <p:nvPr/>
        </p:nvSpPr>
        <p:spPr>
          <a:xfrm xmlns:a="http://schemas.openxmlformats.org/drawingml/2006/main">
            <a:off x="6286500" y="1466850"/>
            <a:ext cx="5467350" cy="4686300"/>
          </a:xfrm>
          <a:prstGeom xmlns:a="http://schemas.openxmlformats.org/drawingml/2006/main" prst="roundRect">
            <a:avLst>
              <a:gd name="adj" fmla="val 2439"/>
            </a:avLst>
          </a:prstGeom>
          <a:solidFill xmlns:a="http://schemas.openxmlformats.org/drawingml/2006/main">
            <a:srgbClr val="F8FAFC"/>
          </a:solidFill>
          <a:ln xmlns:a="http://schemas.openxmlformats.org/drawingml/2006/main" w="11430">
            <a:solidFill>
              <a:srgbClr val="FECAC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175881fbadf4de7"/>
          <a:stretch xmlns:a="http://schemas.openxmlformats.org/drawingml/2006/main"/>
        </p:blipFill>
        <p:spPr>
          <a:xfrm xmlns:a="http://schemas.openxmlformats.org/drawingml/2006/main">
            <a:off x="552450" y="1845469"/>
            <a:ext cx="5238750" cy="3929063"/>
          </a:xfrm>
          <a:prstGeom xmlns:a="http://schemas.openxmlformats.org/drawingml/2006/main" prst="roundRect">
            <a:avLst>
              <a:gd name="adj" fmla="val 1282"/>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77635f8433b4efc"/>
          <a:stretch xmlns:a="http://schemas.openxmlformats.org/drawingml/2006/main"/>
        </p:blipFill>
        <p:spPr>
          <a:xfrm xmlns:a="http://schemas.openxmlformats.org/drawingml/2006/main">
            <a:off x="6400800" y="1845469"/>
            <a:ext cx="5238750" cy="3929063"/>
          </a:xfrm>
          <a:prstGeom xmlns:a="http://schemas.openxmlformats.org/drawingml/2006/main" prst="roundRect">
            <a:avLst>
              <a:gd name="adj" fmla="val 1282"/>
            </a:avLst>
          </a:prstGeom>
        </p:spPr>
      </p:pic>
      <p:sp>
        <p:nvSpPr>
          <p:cNvPr id="10" name="">
            <a:extLst xmlns:a="http://schemas.openxmlformats.org/drawingml/2006/main">
              <a:ext uri="{FF2B5EF4-FFF2-40B4-BE49-F238E27FC236}">
                <a16:creationId xmlns:a16="http://schemas.microsoft.com/office/drawing/2014/main" id="{BCA41FC6-27D1-45C4-BC66-5234231F0CD5}"/>
              </a:ext>
            </a:extLst>
          </p:cNvPr>
          <p:cNvSpPr>
            <a:spLocks xmlns:a="http://schemas.openxmlformats.org/drawingml/2006/main" noGrp="1"/>
          </p:cNvSpPr>
          <p:nvPr/>
        </p:nvSpPr>
        <p:spPr>
          <a:xfrm xmlns:a="http://schemas.openxmlformats.org/drawingml/2006/main">
            <a:off x="666750" y="6438900"/>
            <a:ext cx="1085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CBD5E1"/>
                </a:solidFill>
              </a:defRPr>
            </a:pPr>
            <a:r>
              <a:rPr sz="975" b="0">
                <a:solidFill>
                  <a:srgbClr val="CBD5E1"/>
                </a:solidFill>
              </a:rPr>
              <a:t>The component row is exact/high confidence: com.fasterxml.jackson.core:jackson-databind@2.9.10.8.</a:t>
            </a:r>
          </a:p>
        </p:txBody>
      </p:sp>
    </p:spTree>
    <p:extLst>
      <p:ext uri="{BB962C8B-B14F-4D97-AF65-F5344CB8AC3E}">
        <p14:creationId xmlns:p14="http://schemas.microsoft.com/office/powerpoint/2010/main" val="158356780"/>
      </p:ext>
    </p:extLst>
  </p:cSld>
</p:sld>
</file>

<file path=ppt/slides/slide43.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358B5AA-C162-40ED-BDD0-136824EBEB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172A"/>
          </a:solidFill>
          <a:ln xmlns:a="http://schemas.openxmlformats.org/drawingml/2006/main" w="0">
            <a:solidFill>
              <a:srgbClr val="0F172A"/>
            </a:solidFill>
            <a:prstDash val="solid"/>
          </a:ln>
        </p:spPr>
      </p:sp>
      <p:sp>
        <p:nvSpPr>
          <p:cNvPr id="2" name="">
            <a:extLst xmlns:a="http://schemas.openxmlformats.org/drawingml/2006/main">
              <a:ext uri="{FF2B5EF4-FFF2-40B4-BE49-F238E27FC236}">
                <a16:creationId xmlns:a16="http://schemas.microsoft.com/office/drawing/2014/main" id="{5414A739-9F65-406A-8C7C-EE1E2852430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87171"/>
          </a:solidFill>
          <a:ln xmlns:a="http://schemas.openxmlformats.org/drawingml/2006/main" w="0">
            <a:solidFill>
              <a:srgbClr val="F87171"/>
            </a:solidFill>
            <a:prstDash val="solid"/>
          </a:ln>
        </p:spPr>
      </p:sp>
      <p:sp>
        <p:nvSpPr>
          <p:cNvPr id="3" name="">
            <a:extLst xmlns:a="http://schemas.openxmlformats.org/drawingml/2006/main">
              <a:ext uri="{FF2B5EF4-FFF2-40B4-BE49-F238E27FC236}">
                <a16:creationId xmlns:a16="http://schemas.microsoft.com/office/drawing/2014/main" id="{CFC10179-4D25-4356-8262-455D5C0293D6}"/>
              </a:ext>
            </a:extLst>
          </p:cNvPr>
          <p:cNvSpPr>
            <a:spLocks xmlns:a="http://schemas.openxmlformats.org/drawingml/2006/main" noGrp="1"/>
          </p:cNvSpPr>
          <p:nvPr/>
        </p:nvSpPr>
        <p:spPr>
          <a:xfrm xmlns:a="http://schemas.openxmlformats.org/drawingml/2006/main">
            <a:off x="457200" y="3429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87171"/>
                </a:solidFill>
              </a:defRPr>
            </a:pPr>
            <a:r>
              <a:rPr sz="975" b="1">
                <a:solidFill>
                  <a:srgbClr val="F87171"/>
                </a:solidFill>
              </a:rPr>
              <a:t>PROTOTYPE OUTPUT PROOF</a:t>
            </a:r>
          </a:p>
        </p:txBody>
      </p:sp>
      <p:sp>
        <p:nvSpPr>
          <p:cNvPr id="4" name="">
            <a:extLst xmlns:a="http://schemas.openxmlformats.org/drawingml/2006/main">
              <a:ext uri="{FF2B5EF4-FFF2-40B4-BE49-F238E27FC236}">
                <a16:creationId xmlns:a16="http://schemas.microsoft.com/office/drawing/2014/main" id="{A0670E54-E974-4628-ADCD-54D6796CAE39}"/>
              </a:ext>
            </a:extLst>
          </p:cNvPr>
          <p:cNvSpPr>
            <a:spLocks xmlns:a="http://schemas.openxmlformats.org/drawingml/2006/main" noGrp="1"/>
          </p:cNvSpPr>
          <p:nvPr/>
        </p:nvSpPr>
        <p:spPr>
          <a:xfrm xmlns:a="http://schemas.openxmlformats.org/drawingml/2006/main">
            <a:off x="457200" y="666750"/>
            <a:ext cx="942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F8FAFC"/>
                </a:solidFill>
              </a:defRPr>
            </a:pPr>
            <a:r>
              <a:rPr sz="2625" b="1">
                <a:solidFill>
                  <a:srgbClr val="F8FAFC"/>
                </a:solidFill>
              </a:rPr>
              <a:t>Vulnerable lane: OSV returns 3 confirmed HIGH findings</a:t>
            </a:r>
          </a:p>
        </p:txBody>
      </p:sp>
      <p:sp>
        <p:nvSpPr>
          <p:cNvPr id="5" name="">
            <a:extLst xmlns:a="http://schemas.openxmlformats.org/drawingml/2006/main">
              <a:ext uri="{FF2B5EF4-FFF2-40B4-BE49-F238E27FC236}">
                <a16:creationId xmlns:a16="http://schemas.microsoft.com/office/drawing/2014/main" id="{6D0DCDAB-077C-4A49-B818-0D9B009031CB}"/>
              </a:ext>
            </a:extLst>
          </p:cNvPr>
          <p:cNvSpPr>
            <a:spLocks xmlns:a="http://schemas.openxmlformats.org/drawingml/2006/main" noGrp="1"/>
          </p:cNvSpPr>
          <p:nvPr/>
        </p:nvSpPr>
        <p:spPr>
          <a:xfrm xmlns:a="http://schemas.openxmlformats.org/drawingml/2006/main">
            <a:off x="11506200" y="3429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CBD5E1"/>
                </a:solidFill>
              </a:defRPr>
            </a:pPr>
            <a:r>
              <a:rPr sz="975" b="0">
                <a:solidFill>
                  <a:srgbClr val="CBD5E1"/>
                </a:solidFill>
              </a:rPr>
              <a:t>43</a:t>
            </a:r>
          </a:p>
        </p:txBody>
      </p:sp>
      <p:sp>
        <p:nvSpPr>
          <p:cNvPr id="6" name="">
            <a:extLst xmlns:a="http://schemas.openxmlformats.org/drawingml/2006/main">
              <a:ext uri="{FF2B5EF4-FFF2-40B4-BE49-F238E27FC236}">
                <a16:creationId xmlns:a16="http://schemas.microsoft.com/office/drawing/2014/main" id="{B057939D-09A9-4A5B-9F18-5C2E0ECB918B}"/>
              </a:ext>
            </a:extLst>
          </p:cNvPr>
          <p:cNvSpPr>
            <a:spLocks xmlns:a="http://schemas.openxmlformats.org/drawingml/2006/main" noGrp="1"/>
          </p:cNvSpPr>
          <p:nvPr/>
        </p:nvSpPr>
        <p:spPr>
          <a:xfrm xmlns:a="http://schemas.openxmlformats.org/drawingml/2006/main">
            <a:off x="495300" y="1466850"/>
            <a:ext cx="6858000" cy="4476750"/>
          </a:xfrm>
          <a:prstGeom xmlns:a="http://schemas.openxmlformats.org/drawingml/2006/main" prst="roundRect">
            <a:avLst>
              <a:gd name="adj" fmla="val 2553"/>
            </a:avLst>
          </a:prstGeom>
          <a:solidFill xmlns:a="http://schemas.openxmlformats.org/drawingml/2006/main">
            <a:srgbClr val="F8FAFC"/>
          </a:solidFill>
          <a:ln xmlns:a="http://schemas.openxmlformats.org/drawingml/2006/main" w="11430">
            <a:solidFill>
              <a:srgbClr val="FECAC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611cd47455b4ffb"/>
          <a:stretch xmlns:a="http://schemas.openxmlformats.org/drawingml/2006/main"/>
        </p:blipFill>
        <p:spPr>
          <a:xfrm xmlns:a="http://schemas.openxmlformats.org/drawingml/2006/main">
            <a:off x="1092200" y="1581150"/>
            <a:ext cx="5664200" cy="4248150"/>
          </a:xfrm>
          <a:prstGeom xmlns:a="http://schemas.openxmlformats.org/drawingml/2006/main" prst="roundRect">
            <a:avLst>
              <a:gd name="adj" fmla="val 1345"/>
            </a:avLst>
          </a:prstGeom>
        </p:spPr>
      </p:pic>
      <p:sp>
        <p:nvSpPr>
          <p:cNvPr id="8" name="">
            <a:extLst xmlns:a="http://schemas.openxmlformats.org/drawingml/2006/main">
              <a:ext uri="{FF2B5EF4-FFF2-40B4-BE49-F238E27FC236}">
                <a16:creationId xmlns:a16="http://schemas.microsoft.com/office/drawing/2014/main" id="{AE4431FD-2258-471E-9744-4715DA0ECE5F}"/>
              </a:ext>
            </a:extLst>
          </p:cNvPr>
          <p:cNvSpPr>
            <a:spLocks xmlns:a="http://schemas.openxmlformats.org/drawingml/2006/main" noGrp="1"/>
          </p:cNvSpPr>
          <p:nvPr/>
        </p:nvSpPr>
        <p:spPr>
          <a:xfrm xmlns:a="http://schemas.openxmlformats.org/drawingml/2006/main">
            <a:off x="7677150" y="1466850"/>
            <a:ext cx="3619500" cy="1657350"/>
          </a:xfrm>
          <a:prstGeom xmlns:a="http://schemas.openxmlformats.org/drawingml/2006/main" prst="roundRect">
            <a:avLst>
              <a:gd name="adj" fmla="val 6897"/>
            </a:avLst>
          </a:prstGeom>
          <a:solidFill xmlns:a="http://schemas.openxmlformats.org/drawingml/2006/main">
            <a:srgbClr val="1E293B"/>
          </a:solidFill>
          <a:ln xmlns:a="http://schemas.openxmlformats.org/drawingml/2006/main" w="11430">
            <a:solidFill>
              <a:srgbClr val="EF444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CBF9D5B7-E481-4A88-8133-E70F327D997B}"/>
              </a:ext>
            </a:extLst>
          </p:cNvPr>
          <p:cNvSpPr>
            <a:spLocks xmlns:a="http://schemas.openxmlformats.org/drawingml/2006/main" noGrp="1"/>
          </p:cNvSpPr>
          <p:nvPr/>
        </p:nvSpPr>
        <p:spPr>
          <a:xfrm xmlns:a="http://schemas.openxmlformats.org/drawingml/2006/main">
            <a:off x="7924800" y="17907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ECACA"/>
                </a:solidFill>
              </a:defRPr>
            </a:pPr>
            <a:r>
              <a:rPr sz="1650" b="1">
                <a:solidFill>
                  <a:srgbClr val="FECACA"/>
                </a:solidFill>
              </a:rPr>
              <a:t>Confirmed HIGH CVEs</a:t>
            </a:r>
          </a:p>
        </p:txBody>
      </p:sp>
      <p:sp>
        <p:nvSpPr>
          <p:cNvPr id="10" name="">
            <a:extLst xmlns:a="http://schemas.openxmlformats.org/drawingml/2006/main">
              <a:ext uri="{FF2B5EF4-FFF2-40B4-BE49-F238E27FC236}">
                <a16:creationId xmlns:a16="http://schemas.microsoft.com/office/drawing/2014/main" id="{6B0FE336-B902-4630-9948-E8C4E9992F4C}"/>
              </a:ext>
            </a:extLst>
          </p:cNvPr>
          <p:cNvSpPr>
            <a:spLocks xmlns:a="http://schemas.openxmlformats.org/drawingml/2006/main" noGrp="1"/>
          </p:cNvSpPr>
          <p:nvPr/>
        </p:nvSpPr>
        <p:spPr>
          <a:xfrm xmlns:a="http://schemas.openxmlformats.org/drawingml/2006/main">
            <a:off x="7924800" y="2266950"/>
            <a:ext cx="314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87171"/>
                </a:solidFill>
              </a:defRPr>
            </a:pPr>
            <a:r>
              <a:rPr sz="1350" b="1">
                <a:solidFill>
                  <a:srgbClr val="F87171"/>
                </a:solidFill>
              </a:rPr>
              <a:t>CVE-2020-36518</a:t>
            </a:r>
          </a:p>
          <a:p xmlns:a="http://schemas.openxmlformats.org/drawingml/2006/main">
            <a:pPr algn="l">
              <a:defRPr sz="1350" b="1">
                <a:solidFill>
                  <a:srgbClr val="F87171"/>
                </a:solidFill>
              </a:defRPr>
            </a:pPr>
            <a:r>
              <a:rPr sz="1350" b="1">
                <a:solidFill>
                  <a:srgbClr val="F87171"/>
                </a:solidFill>
              </a:rPr>
              <a:t>CVE-2022-42003</a:t>
            </a:r>
          </a:p>
          <a:p xmlns:a="http://schemas.openxmlformats.org/drawingml/2006/main">
            <a:pPr algn="l">
              <a:defRPr sz="1350" b="1">
                <a:solidFill>
                  <a:srgbClr val="F87171"/>
                </a:solidFill>
              </a:defRPr>
            </a:pPr>
            <a:r>
              <a:rPr sz="1350" b="1">
                <a:solidFill>
                  <a:srgbClr val="F87171"/>
                </a:solidFill>
              </a:rPr>
              <a:t>CVE-2022-42004</a:t>
            </a:r>
          </a:p>
        </p:txBody>
      </p:sp>
      <p:sp>
        <p:nvSpPr>
          <p:cNvPr id="11" name="">
            <a:extLst xmlns:a="http://schemas.openxmlformats.org/drawingml/2006/main">
              <a:ext uri="{FF2B5EF4-FFF2-40B4-BE49-F238E27FC236}">
                <a16:creationId xmlns:a16="http://schemas.microsoft.com/office/drawing/2014/main" id="{4005CC3A-33F8-4908-85C6-9210D0045842}"/>
              </a:ext>
            </a:extLst>
          </p:cNvPr>
          <p:cNvSpPr>
            <a:spLocks xmlns:a="http://schemas.openxmlformats.org/drawingml/2006/main" noGrp="1"/>
          </p:cNvSpPr>
          <p:nvPr/>
        </p:nvSpPr>
        <p:spPr>
          <a:xfrm xmlns:a="http://schemas.openxmlformats.org/drawingml/2006/main">
            <a:off x="7677150" y="3409950"/>
            <a:ext cx="3619500" cy="2171700"/>
          </a:xfrm>
          <a:prstGeom xmlns:a="http://schemas.openxmlformats.org/drawingml/2006/main" prst="roundRect">
            <a:avLst>
              <a:gd name="adj" fmla="val 5263"/>
            </a:avLst>
          </a:prstGeom>
          <a:solidFill xmlns:a="http://schemas.openxmlformats.org/drawingml/2006/main">
            <a:srgbClr val="111827"/>
          </a:solidFill>
          <a:ln xmlns:a="http://schemas.openxmlformats.org/drawingml/2006/main" w="11430">
            <a:solidFill>
              <a:srgbClr val="47556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0E926939-F2EF-4036-B223-A71A8B345CF1}"/>
              </a:ext>
            </a:extLst>
          </p:cNvPr>
          <p:cNvSpPr>
            <a:spLocks xmlns:a="http://schemas.openxmlformats.org/drawingml/2006/main" noGrp="1"/>
          </p:cNvSpPr>
          <p:nvPr/>
        </p:nvSpPr>
        <p:spPr>
          <a:xfrm xmlns:a="http://schemas.openxmlformats.org/drawingml/2006/main">
            <a:off x="7924800" y="36385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8FAFC"/>
                </a:solidFill>
              </a:defRPr>
            </a:pPr>
            <a:r>
              <a:rPr sz="1575" b="1">
                <a:solidFill>
                  <a:srgbClr val="F8FAFC"/>
                </a:solidFill>
              </a:rPr>
              <a:t>Copied output bundle</a:t>
            </a:r>
          </a:p>
        </p:txBody>
      </p:sp>
      <p:sp>
        <p:nvSpPr>
          <p:cNvPr id="13" name="">
            <a:extLst xmlns:a="http://schemas.openxmlformats.org/drawingml/2006/main">
              <a:ext uri="{FF2B5EF4-FFF2-40B4-BE49-F238E27FC236}">
                <a16:creationId xmlns:a16="http://schemas.microsoft.com/office/drawing/2014/main" id="{831D8DEB-36F0-4008-9653-2D8031463AEE}"/>
              </a:ext>
            </a:extLst>
          </p:cNvPr>
          <p:cNvSpPr>
            <a:spLocks xmlns:a="http://schemas.openxmlformats.org/drawingml/2006/main" noGrp="1"/>
          </p:cNvSpPr>
          <p:nvPr/>
        </p:nvSpPr>
        <p:spPr>
          <a:xfrm xmlns:a="http://schemas.openxmlformats.org/drawingml/2006/main">
            <a:off x="7924800" y="4057650"/>
            <a:ext cx="3143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E2E8F0"/>
                </a:solidFill>
              </a:defRPr>
            </a:pPr>
            <a:r>
              <a:rPr sz="1200" b="0">
                <a:solidFill>
                  <a:srgbClr val="E2E8F0"/>
                </a:solidFill>
              </a:rPr>
              <a:t>report.html</a:t>
            </a:r>
          </a:p>
          <a:p xmlns:a="http://schemas.openxmlformats.org/drawingml/2006/main">
            <a:pPr algn="l">
              <a:defRPr sz="1200" b="0">
                <a:solidFill>
                  <a:srgbClr val="E2E8F0"/>
                </a:solidFill>
              </a:defRPr>
            </a:pPr>
            <a:r>
              <a:rPr sz="1200" b="0">
                <a:solidFill>
                  <a:srgbClr val="E2E8F0"/>
                </a:solidFill>
              </a:rPr>
              <a:t>report.json</a:t>
            </a:r>
          </a:p>
          <a:p xmlns:a="http://schemas.openxmlformats.org/drawingml/2006/main">
            <a:pPr algn="l">
              <a:defRPr sz="1200" b="0">
                <a:solidFill>
                  <a:srgbClr val="E2E8F0"/>
                </a:solidFill>
              </a:defRPr>
            </a:pPr>
            <a:r>
              <a:rPr sz="1200" b="0">
                <a:solidFill>
                  <a:srgbClr val="E2E8F0"/>
                </a:solidFill>
              </a:rPr>
              <a:t>report.md</a:t>
            </a:r>
          </a:p>
          <a:p xmlns:a="http://schemas.openxmlformats.org/drawingml/2006/main">
            <a:pPr algn="l">
              <a:defRPr sz="1200" b="0">
                <a:solidFill>
                  <a:srgbClr val="E2E8F0"/>
                </a:solidFill>
              </a:defRPr>
            </a:pPr>
            <a:r>
              <a:rPr sz="1200" b="0">
                <a:solidFill>
                  <a:srgbClr val="E2E8F0"/>
                </a:solidFill>
              </a:rPr>
              <a:t>sbom.cdx.json</a:t>
            </a:r>
          </a:p>
          <a:p xmlns:a="http://schemas.openxmlformats.org/drawingml/2006/main">
            <a:pPr algn="l">
              <a:defRPr sz="1200" b="0">
                <a:solidFill>
                  <a:srgbClr val="E2E8F0"/>
                </a:solidFill>
              </a:defRPr>
            </a:pPr>
            <a:r>
              <a:rPr sz="1200" b="0">
                <a:solidFill>
                  <a:srgbClr val="E2E8F0"/>
                </a:solidFill>
              </a:rPr>
              <a:t>osv-vulnerabilities.json</a:t>
            </a:r>
          </a:p>
          <a:p xmlns:a="http://schemas.openxmlformats.org/drawingml/2006/main">
            <a:pPr algn="l">
              <a:defRPr sz="1200" b="0">
                <a:solidFill>
                  <a:srgbClr val="E2E8F0"/>
                </a:solidFill>
              </a:defRPr>
            </a:pPr>
            <a:r>
              <a:rPr sz="1200" b="0">
                <a:solidFill>
                  <a:srgbClr val="E2E8F0"/>
                </a:solidFill>
              </a:rPr>
              <a:t>matches.json</a:t>
            </a:r>
          </a:p>
        </p:txBody>
      </p:sp>
      <p:sp>
        <p:nvSpPr>
          <p:cNvPr id="14" name="">
            <a:extLst xmlns:a="http://schemas.openxmlformats.org/drawingml/2006/main">
              <a:ext uri="{FF2B5EF4-FFF2-40B4-BE49-F238E27FC236}">
                <a16:creationId xmlns:a16="http://schemas.microsoft.com/office/drawing/2014/main" id="{91CAF154-36FD-4A8A-8742-7106DEF03181}"/>
              </a:ext>
            </a:extLst>
          </p:cNvPr>
          <p:cNvSpPr>
            <a:spLocks xmlns:a="http://schemas.openxmlformats.org/drawingml/2006/main" noGrp="1"/>
          </p:cNvSpPr>
          <p:nvPr/>
        </p:nvSpPr>
        <p:spPr>
          <a:xfrm xmlns:a="http://schemas.openxmlformats.org/drawingml/2006/main">
            <a:off x="666750" y="6438900"/>
            <a:ext cx="1085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CBD5E1"/>
                </a:solidFill>
              </a:defRPr>
            </a:pPr>
            <a:r>
              <a:rPr sz="975" b="0">
                <a:solidFill>
                  <a:srgbClr val="CBD5E1"/>
                </a:solidFill>
              </a:rPr>
              <a:t>Full long image and copied raw output are in assets/report-proof-screenshots/vulnerable-jackson and original-output/vulnerable-jackson.</a:t>
            </a:r>
          </a:p>
        </p:txBody>
      </p:sp>
    </p:spTree>
    <p:extLst>
      <p:ext uri="{BB962C8B-B14F-4D97-AF65-F5344CB8AC3E}">
        <p14:creationId xmlns:p14="http://schemas.microsoft.com/office/powerpoint/2010/main" val="12900748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2026-06-20T23:23:10.7400000Z</dcterms:created>
  <dcterms:modified xsi:type="dcterms:W3CDTF">2026-06-20T23:23:10.7410000Z</dcterms:modified>
</coreProperties>
</file>