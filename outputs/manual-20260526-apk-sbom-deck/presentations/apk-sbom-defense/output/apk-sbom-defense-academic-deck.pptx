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a37e581383445f" /><Relationship Type="http://schemas.openxmlformats.org/officeDocument/2006/relationships/extended-properties" Target="/docProps/app.xml" Id="Rebc2ffe76e8945fd" /><Relationship Type="http://schemas.openxmlformats.org/officeDocument/2006/relationships/officeDocument" Target="/ppt/presentation.xml" Id="R170bdb4d33d043f3" /></Relationships>
</file>

<file path=ppt/presentation.xml><?xml version="1.0" encoding="utf-8"?>
<p:presentation xmlns:p="http://schemas.openxmlformats.org/presentationml/2006/main">
  <p:sldMasterIdLst>
    <p:sldMasterId xmlns:r="http://schemas.openxmlformats.org/officeDocument/2006/relationships" id="2147483648" r:id="R6d36a7a108e94593"/>
  </p:sldMasterIdLst>
  <p:notesMasterIdLst>
    <p:notesMasterId xmlns:r="http://schemas.openxmlformats.org/officeDocument/2006/relationships" r:id="R41da9e9dd3dd4563"/>
  </p:notesMasterIdLst>
  <p:sldIdLst>
    <p:sldId xmlns:r="http://schemas.openxmlformats.org/officeDocument/2006/relationships" id="256" r:id="R2480ff76e9534ce6"/>
    <p:sldId xmlns:r="http://schemas.openxmlformats.org/officeDocument/2006/relationships" id="257" r:id="R10598e1c879a48ed"/>
    <p:sldId xmlns:r="http://schemas.openxmlformats.org/officeDocument/2006/relationships" id="258" r:id="Ra2b7166bb5c1492c"/>
    <p:sldId xmlns:r="http://schemas.openxmlformats.org/officeDocument/2006/relationships" id="259" r:id="R2206a2555754455c"/>
    <p:sldId xmlns:r="http://schemas.openxmlformats.org/officeDocument/2006/relationships" id="260" r:id="R29213dc88e404759"/>
    <p:sldId xmlns:r="http://schemas.openxmlformats.org/officeDocument/2006/relationships" id="261" r:id="Re7741e6e3b3449e7"/>
    <p:sldId xmlns:r="http://schemas.openxmlformats.org/officeDocument/2006/relationships" id="262" r:id="Re4d2c692ec1a4b0e"/>
    <p:sldId xmlns:r="http://schemas.openxmlformats.org/officeDocument/2006/relationships" id="263" r:id="R622b84f457eb469c"/>
    <p:sldId xmlns:r="http://schemas.openxmlformats.org/officeDocument/2006/relationships" id="264" r:id="Rccb45e852a62441c"/>
    <p:sldId xmlns:r="http://schemas.openxmlformats.org/officeDocument/2006/relationships" id="265" r:id="R6e5436f79c244e84"/>
    <p:sldId xmlns:r="http://schemas.openxmlformats.org/officeDocument/2006/relationships" id="266" r:id="Rbae0e8167675488b"/>
    <p:sldId xmlns:r="http://schemas.openxmlformats.org/officeDocument/2006/relationships" id="267" r:id="Rd42970eb6f4b41e6"/>
    <p:sldId xmlns:r="http://schemas.openxmlformats.org/officeDocument/2006/relationships" id="268" r:id="R1a105ad5f8604955"/>
    <p:sldId xmlns:r="http://schemas.openxmlformats.org/officeDocument/2006/relationships" id="269" r:id="R040e6847efc641a4"/>
    <p:sldId xmlns:r="http://schemas.openxmlformats.org/officeDocument/2006/relationships" id="270" r:id="R812d4368cee7430f"/>
    <p:sldId xmlns:r="http://schemas.openxmlformats.org/officeDocument/2006/relationships" id="271" r:id="Ra3d04d04edcc4eeb"/>
    <p:sldId xmlns:r="http://schemas.openxmlformats.org/officeDocument/2006/relationships" id="272" r:id="R6c3a0bee24324eca"/>
    <p:sldId xmlns:r="http://schemas.openxmlformats.org/officeDocument/2006/relationships" id="273" r:id="R69bd068f8a3a4b81"/>
    <p:sldId xmlns:r="http://schemas.openxmlformats.org/officeDocument/2006/relationships" id="274" r:id="R5227c181fcc34ef0"/>
    <p:sldId xmlns:r="http://schemas.openxmlformats.org/officeDocument/2006/relationships" id="275" r:id="Rf80c7a69fa764268"/>
    <p:sldId xmlns:r="http://schemas.openxmlformats.org/officeDocument/2006/relationships" id="276" r:id="R3c62e53d3a104aed"/>
    <p:sldId xmlns:r="http://schemas.openxmlformats.org/officeDocument/2006/relationships" id="277" r:id="R004491d912e24c23"/>
    <p:sldId xmlns:r="http://schemas.openxmlformats.org/officeDocument/2006/relationships" id="278" r:id="R7c15ffcb406d4ff6"/>
    <p:sldId xmlns:r="http://schemas.openxmlformats.org/officeDocument/2006/relationships" id="279" r:id="Recd67c563d2d49cb"/>
    <p:sldId xmlns:r="http://schemas.openxmlformats.org/officeDocument/2006/relationships" id="280" r:id="R217958154e764014"/>
    <p:sldId xmlns:r="http://schemas.openxmlformats.org/officeDocument/2006/relationships" id="281" r:id="R8567911cd8fd4893"/>
    <p:sldId xmlns:r="http://schemas.openxmlformats.org/officeDocument/2006/relationships" id="282" r:id="Rfbba0618ddb249c0"/>
    <p:sldId xmlns:r="http://schemas.openxmlformats.org/officeDocument/2006/relationships" id="283" r:id="R6c77498e860b4f74"/>
    <p:sldId xmlns:r="http://schemas.openxmlformats.org/officeDocument/2006/relationships" id="284" r:id="R878fd51262574ae2"/>
    <p:sldId xmlns:r="http://schemas.openxmlformats.org/officeDocument/2006/relationships" id="285" r:id="R078b651582cd4c09"/>
    <p:sldId xmlns:r="http://schemas.openxmlformats.org/officeDocument/2006/relationships" id="286" r:id="R670649f1d9f64dcb"/>
    <p:sldId xmlns:r="http://schemas.openxmlformats.org/officeDocument/2006/relationships" id="287" r:id="Re0871eedd5f64679"/>
    <p:sldId xmlns:r="http://schemas.openxmlformats.org/officeDocument/2006/relationships" id="288" r:id="R8cfba86f589448ee"/>
    <p:sldId xmlns:r="http://schemas.openxmlformats.org/officeDocument/2006/relationships" id="289" r:id="R386fdbfe787c4dd6"/>
    <p:sldId xmlns:r="http://schemas.openxmlformats.org/officeDocument/2006/relationships" id="290" r:id="Rb0d3449e69484e4c"/>
    <p:sldId xmlns:r="http://schemas.openxmlformats.org/officeDocument/2006/relationships" id="291" r:id="R8aa4f9b33b4d45ca"/>
    <p:sldId xmlns:r="http://schemas.openxmlformats.org/officeDocument/2006/relationships" id="292" r:id="R54185c9bcdda4099"/>
    <p:sldId xmlns:r="http://schemas.openxmlformats.org/officeDocument/2006/relationships" id="293" r:id="Rf0f9ac4114504be7"/>
    <p:sldId xmlns:r="http://schemas.openxmlformats.org/officeDocument/2006/relationships" id="294" r:id="Rd7d89fdec2dc43a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30ba34b5eb4b60" /><Relationship Type="http://schemas.openxmlformats.org/officeDocument/2006/relationships/slideMaster" Target="/ppt/slideMasters/slideMaster1.xml" Id="R6d36a7a108e94593" /><Relationship Type="http://schemas.openxmlformats.org/officeDocument/2006/relationships/notesMaster" Target="/ppt/notesMasters/notesMaster1.xml" Id="R41da9e9dd3dd4563" /><Relationship Type="http://schemas.openxmlformats.org/officeDocument/2006/relationships/presProps" Target="/ppt/presProps.xml" Id="Rae2a25fb335b4ff4" /><Relationship Type="http://schemas.openxmlformats.org/officeDocument/2006/relationships/tableStyles" Target="/ppt/tableStyles.xml" Id="R0befc88956fa4a88" /><Relationship Type="http://schemas.openxmlformats.org/officeDocument/2006/relationships/slide" Target="/ppt/slides/slide1.xml" Id="R2480ff76e9534ce6" /><Relationship Type="http://schemas.openxmlformats.org/officeDocument/2006/relationships/slide" Target="/ppt/slides/slide2.xml" Id="R10598e1c879a48ed" /><Relationship Type="http://schemas.openxmlformats.org/officeDocument/2006/relationships/slide" Target="/ppt/slides/slide3.xml" Id="Ra2b7166bb5c1492c" /><Relationship Type="http://schemas.openxmlformats.org/officeDocument/2006/relationships/slide" Target="/ppt/slides/slide4.xml" Id="R2206a2555754455c" /><Relationship Type="http://schemas.openxmlformats.org/officeDocument/2006/relationships/slide" Target="/ppt/slides/slide5.xml" Id="R29213dc88e404759" /><Relationship Type="http://schemas.openxmlformats.org/officeDocument/2006/relationships/slide" Target="/ppt/slides/slide6.xml" Id="Re7741e6e3b3449e7" /><Relationship Type="http://schemas.openxmlformats.org/officeDocument/2006/relationships/slide" Target="/ppt/slides/slide7.xml" Id="Re4d2c692ec1a4b0e" /><Relationship Type="http://schemas.openxmlformats.org/officeDocument/2006/relationships/slide" Target="/ppt/slides/slide8.xml" Id="R622b84f457eb469c" /><Relationship Type="http://schemas.openxmlformats.org/officeDocument/2006/relationships/slide" Target="/ppt/slides/slide9.xml" Id="Rccb45e852a62441c" /><Relationship Type="http://schemas.openxmlformats.org/officeDocument/2006/relationships/slide" Target="/ppt/slides/slide10.xml" Id="R6e5436f79c244e84" /><Relationship Type="http://schemas.openxmlformats.org/officeDocument/2006/relationships/slide" Target="/ppt/slides/slide11.xml" Id="Rbae0e8167675488b" /><Relationship Type="http://schemas.openxmlformats.org/officeDocument/2006/relationships/slide" Target="/ppt/slides/slide12.xml" Id="Rd42970eb6f4b41e6" /><Relationship Type="http://schemas.openxmlformats.org/officeDocument/2006/relationships/slide" Target="/ppt/slides/slide13.xml" Id="R1a105ad5f8604955" /><Relationship Type="http://schemas.openxmlformats.org/officeDocument/2006/relationships/slide" Target="/ppt/slides/slide14.xml" Id="R040e6847efc641a4" /><Relationship Type="http://schemas.openxmlformats.org/officeDocument/2006/relationships/slide" Target="/ppt/slides/slide15.xml" Id="R812d4368cee7430f" /><Relationship Type="http://schemas.openxmlformats.org/officeDocument/2006/relationships/slide" Target="/ppt/slides/slide16.xml" Id="Ra3d04d04edcc4eeb" /><Relationship Type="http://schemas.openxmlformats.org/officeDocument/2006/relationships/slide" Target="/ppt/slides/slide17.xml" Id="R6c3a0bee24324eca" /><Relationship Type="http://schemas.openxmlformats.org/officeDocument/2006/relationships/slide" Target="/ppt/slides/slide18.xml" Id="R69bd068f8a3a4b81" /><Relationship Type="http://schemas.openxmlformats.org/officeDocument/2006/relationships/slide" Target="/ppt/slides/slide19.xml" Id="R5227c181fcc34ef0" /><Relationship Type="http://schemas.openxmlformats.org/officeDocument/2006/relationships/slide" Target="/ppt/slides/slide20.xml" Id="Rf80c7a69fa764268" /><Relationship Type="http://schemas.openxmlformats.org/officeDocument/2006/relationships/slide" Target="/ppt/slides/slide21.xml" Id="R3c62e53d3a104aed" /><Relationship Type="http://schemas.openxmlformats.org/officeDocument/2006/relationships/slide" Target="/ppt/slides/slide22.xml" Id="R004491d912e24c23" /><Relationship Type="http://schemas.openxmlformats.org/officeDocument/2006/relationships/slide" Target="/ppt/slides/slide23.xml" Id="R7c15ffcb406d4ff6" /><Relationship Type="http://schemas.openxmlformats.org/officeDocument/2006/relationships/slide" Target="/ppt/slides/slide24.xml" Id="Recd67c563d2d49cb" /><Relationship Type="http://schemas.openxmlformats.org/officeDocument/2006/relationships/slide" Target="/ppt/slides/slide25.xml" Id="R217958154e764014" /><Relationship Type="http://schemas.openxmlformats.org/officeDocument/2006/relationships/slide" Target="/ppt/slides/slide26.xml" Id="R8567911cd8fd4893" /><Relationship Type="http://schemas.openxmlformats.org/officeDocument/2006/relationships/slide" Target="/ppt/slides/slide27.xml" Id="Rfbba0618ddb249c0" /><Relationship Type="http://schemas.openxmlformats.org/officeDocument/2006/relationships/slide" Target="/ppt/slides/slide28.xml" Id="R6c77498e860b4f74" /><Relationship Type="http://schemas.openxmlformats.org/officeDocument/2006/relationships/slide" Target="/ppt/slides/slide29.xml" Id="R878fd51262574ae2" /><Relationship Type="http://schemas.openxmlformats.org/officeDocument/2006/relationships/slide" Target="/ppt/slides/slide30.xml" Id="R078b651582cd4c09" /><Relationship Type="http://schemas.openxmlformats.org/officeDocument/2006/relationships/slide" Target="/ppt/slides/slide31.xml" Id="R670649f1d9f64dcb" /><Relationship Type="http://schemas.openxmlformats.org/officeDocument/2006/relationships/slide" Target="/ppt/slides/slide32.xml" Id="Re0871eedd5f64679" /><Relationship Type="http://schemas.openxmlformats.org/officeDocument/2006/relationships/slide" Target="/ppt/slides/slide33.xml" Id="R8cfba86f589448ee" /><Relationship Type="http://schemas.openxmlformats.org/officeDocument/2006/relationships/slide" Target="/ppt/slides/slide34.xml" Id="R386fdbfe787c4dd6" /><Relationship Type="http://schemas.openxmlformats.org/officeDocument/2006/relationships/slide" Target="/ppt/slides/slide35.xml" Id="Rb0d3449e69484e4c" /><Relationship Type="http://schemas.openxmlformats.org/officeDocument/2006/relationships/slide" Target="/ppt/slides/slide36.xml" Id="R8aa4f9b33b4d45ca" /><Relationship Type="http://schemas.openxmlformats.org/officeDocument/2006/relationships/slide" Target="/ppt/slides/slide37.xml" Id="R54185c9bcdda4099" /><Relationship Type="http://schemas.openxmlformats.org/officeDocument/2006/relationships/slide" Target="/ppt/slides/slide38.xml" Id="Rf0f9ac4114504be7" /><Relationship Type="http://schemas.openxmlformats.org/officeDocument/2006/relationships/slide" Target="/ppt/slides/slide39.xml" Id="Rd7d89fdec2dc43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2ce06ae40e41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8102eebabb4789" /><Relationship Type="http://schemas.openxmlformats.org/officeDocument/2006/relationships/notesMaster" Target="/ppt/notesMasters/notesMaster1.xml" Id="R2a7dba0109b742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91a7b12b3c4494" /><Relationship Type="http://schemas.openxmlformats.org/officeDocument/2006/relationships/notesMaster" Target="/ppt/notesMasters/notesMaster1.xml" Id="Ra3a525c9adc54f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6314b6477b4b25" /><Relationship Type="http://schemas.openxmlformats.org/officeDocument/2006/relationships/notesMaster" Target="/ppt/notesMasters/notesMaster1.xml" Id="Rc8f0b9ebbe5e40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496c120f524527" /><Relationship Type="http://schemas.openxmlformats.org/officeDocument/2006/relationships/notesMaster" Target="/ppt/notesMasters/notesMaster1.xml" Id="Rb14f0f4f4a4049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eb749d2fdd4e84" /><Relationship Type="http://schemas.openxmlformats.org/officeDocument/2006/relationships/notesMaster" Target="/ppt/notesMasters/notesMaster1.xml" Id="R9dde935be07943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e630b5195247f1" /><Relationship Type="http://schemas.openxmlformats.org/officeDocument/2006/relationships/notesMaster" Target="/ppt/notesMasters/notesMaster1.xml" Id="R9bb1152737704a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117bf5ef1a4438" /><Relationship Type="http://schemas.openxmlformats.org/officeDocument/2006/relationships/notesMaster" Target="/ppt/notesMasters/notesMaster1.xml" Id="R858bdbb1f6dd49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93e7d3f06f43c7" /><Relationship Type="http://schemas.openxmlformats.org/officeDocument/2006/relationships/notesMaster" Target="/ppt/notesMasters/notesMaster1.xml" Id="Rb5f4ff66670045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ec7a5c67c64165" /><Relationship Type="http://schemas.openxmlformats.org/officeDocument/2006/relationships/notesMaster" Target="/ppt/notesMasters/notesMaster1.xml" Id="R51b055dd27474d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9255e9b3db4adf" /><Relationship Type="http://schemas.openxmlformats.org/officeDocument/2006/relationships/notesMaster" Target="/ppt/notesMasters/notesMaster1.xml" Id="Re3ff3c80d15d42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3f86b45b064c69" /><Relationship Type="http://schemas.openxmlformats.org/officeDocument/2006/relationships/notesMaster" Target="/ppt/notesMasters/notesMaster1.xml" Id="R8a72cd46a1a54c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11d5c9b9204b58" /><Relationship Type="http://schemas.openxmlformats.org/officeDocument/2006/relationships/notesMaster" Target="/ppt/notesMasters/notesMaster1.xml" Id="Rcbf8b69637a043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f485f639845e2" /><Relationship Type="http://schemas.openxmlformats.org/officeDocument/2006/relationships/notesMaster" Target="/ppt/notesMasters/notesMaster1.xml" Id="Rb182cab5307844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3c0fcc891a475e" /><Relationship Type="http://schemas.openxmlformats.org/officeDocument/2006/relationships/notesMaster" Target="/ppt/notesMasters/notesMaster1.xml" Id="R23131a96f0a84a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54f61d1d834f52" /><Relationship Type="http://schemas.openxmlformats.org/officeDocument/2006/relationships/notesMaster" Target="/ppt/notesMasters/notesMaster1.xml" Id="R3d14414fd4dc41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61686739fd41aa" /><Relationship Type="http://schemas.openxmlformats.org/officeDocument/2006/relationships/notesMaster" Target="/ppt/notesMasters/notesMaster1.xml" Id="Rad5b37ed8ec640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5df7d82977442d" /><Relationship Type="http://schemas.openxmlformats.org/officeDocument/2006/relationships/notesMaster" Target="/ppt/notesMasters/notesMaster1.xml" Id="R1d89472433874b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1fb13b16d5448b" /><Relationship Type="http://schemas.openxmlformats.org/officeDocument/2006/relationships/notesMaster" Target="/ppt/notesMasters/notesMaster1.xml" Id="R73b3bdfcf01c49f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254fbc3e90456b" /><Relationship Type="http://schemas.openxmlformats.org/officeDocument/2006/relationships/notesMaster" Target="/ppt/notesMasters/notesMaster1.xml" Id="R94c688ae7b6049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cdfc9cc2a741e6" /><Relationship Type="http://schemas.openxmlformats.org/officeDocument/2006/relationships/notesMaster" Target="/ppt/notesMasters/notesMaster1.xml" Id="R8133b09ea6a34c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4678add8c6417f" /><Relationship Type="http://schemas.openxmlformats.org/officeDocument/2006/relationships/notesMaster" Target="/ppt/notesMasters/notesMaster1.xml" Id="R404e4bf63a574d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34f3b719994def" /><Relationship Type="http://schemas.openxmlformats.org/officeDocument/2006/relationships/notesMaster" Target="/ppt/notesMasters/notesMaster1.xml" Id="R858c10136d424f7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cf901c49904af2" /><Relationship Type="http://schemas.openxmlformats.org/officeDocument/2006/relationships/notesMaster" Target="/ppt/notesMasters/notesMaster1.xml" Id="R89d02fd7602047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e3220afc6904b8e" /><Relationship Type="http://schemas.openxmlformats.org/officeDocument/2006/relationships/notesMaster" Target="/ppt/notesMasters/notesMaster1.xml" Id="Rdd30430b9600451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cd5219c25f4b2a" /><Relationship Type="http://schemas.openxmlformats.org/officeDocument/2006/relationships/notesMaster" Target="/ppt/notesMasters/notesMaster1.xml" Id="R7d1dfdc398cb44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0757a01cb24c95" /><Relationship Type="http://schemas.openxmlformats.org/officeDocument/2006/relationships/notesMaster" Target="/ppt/notesMasters/notesMaster1.xml" Id="Re8aed13cd970429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29cbc81bebd4008" /><Relationship Type="http://schemas.openxmlformats.org/officeDocument/2006/relationships/notesMaster" Target="/ppt/notesMasters/notesMaster1.xml" Id="R30ebe58f304748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8d512313dd3474d" /><Relationship Type="http://schemas.openxmlformats.org/officeDocument/2006/relationships/notesMaster" Target="/ppt/notesMasters/notesMaster1.xml" Id="Reaf28a6cf134448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ea487ce2bd422b" /><Relationship Type="http://schemas.openxmlformats.org/officeDocument/2006/relationships/notesMaster" Target="/ppt/notesMasters/notesMaster1.xml" Id="R399b59b367a148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9168437203f44a8" /><Relationship Type="http://schemas.openxmlformats.org/officeDocument/2006/relationships/notesMaster" Target="/ppt/notesMasters/notesMaster1.xml" Id="R1bbe904cf3a54e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c20c6d48674f85" /><Relationship Type="http://schemas.openxmlformats.org/officeDocument/2006/relationships/notesMaster" Target="/ppt/notesMasters/notesMaster1.xml" Id="R33c6e83a039049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77165824fb6472c" /><Relationship Type="http://schemas.openxmlformats.org/officeDocument/2006/relationships/notesMaster" Target="/ppt/notesMasters/notesMaster1.xml" Id="R5344a48afc594ed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faa25b7855e4a43" /><Relationship Type="http://schemas.openxmlformats.org/officeDocument/2006/relationships/notesMaster" Target="/ppt/notesMasters/notesMaster1.xml" Id="R973eb71370f8494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24b0d5bac14161" /><Relationship Type="http://schemas.openxmlformats.org/officeDocument/2006/relationships/notesMaster" Target="/ppt/notesMasters/notesMaster1.xml" Id="R752c40ac2ee9483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05e2596eaac4437" /><Relationship Type="http://schemas.openxmlformats.org/officeDocument/2006/relationships/notesMaster" Target="/ppt/notesMasters/notesMaster1.xml" Id="R579c6abf42c248d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6b81cc8440d4524" /><Relationship Type="http://schemas.openxmlformats.org/officeDocument/2006/relationships/notesMaster" Target="/ppt/notesMasters/notesMaster1.xml" Id="Rc78536b24b264ba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8f81025b517411a" /><Relationship Type="http://schemas.openxmlformats.org/officeDocument/2006/relationships/notesMaster" Target="/ppt/notesMasters/notesMaster1.xml" Id="R6bfa6c9d5153468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ead5ce15f2e40f5" /><Relationship Type="http://schemas.openxmlformats.org/officeDocument/2006/relationships/notesMaster" Target="/ppt/notesMasters/notesMaster1.xml" Id="R22e17400045242d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7aec54b423a4f13" /><Relationship Type="http://schemas.openxmlformats.org/officeDocument/2006/relationships/notesMaster" Target="/ppt/notesMasters/notesMaster1.xml" Id="Ra4d47b51f4c74b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not the score. Say: this project starts from a compiled APK, where dependency metadata is absent. The tool recovers evidence, emits CycloneDX, maps vulnerabilities, and keeps uncertainty visible. Mention the three headline numbers only after stating that the v2 lane is source-known and not APK-only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normal SBOM tools are not enough: they consume source metadata. In an APK, Maven coordinates and exact versions are usually absent and R8 can transform the remaining bytecode. The research problem is evidence reconstruction, not manifest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papers as a list. Present the progression: signatures, structure, then learned models. The unresolved gap is exact version recovery under optimization together with standard SBOM and vulnerability output. Our design combines proven signals and reports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only a list of library names. It is a CycloneDX SBOM with identity confidence, version confidence, ambiguous alternatives, and confidence-aware OSV results. Ambiguity is preserved because a false exact version can create a false confirmed CVE.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choices as engineering decisions, not decoration. Static hybrid analysis was chosen because the input is an APK and package/hash-only evidence is fragile. Maven references were chosen because exact versions are required for SBOM and CVE work. CycloneDX and PURL provide interoperability. OSV aligns with Maven package/version queries. R8 is treated as confidence-affecting because perfect resilience is not supported by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MVP architecture. The main APK lane extracts and analyzes evidence, the separate Maven lane builds comparable versioned profiles, and both meet at the hybrid matcher. A confidence gate sits before CycloneDX and OSV so uncertain version evidence cannot become a strong vulnerability claim. The separation also makes the system reproducible: reference construction can evolve without hiding matcher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Evolution: the extractor began as a ZIP/DEX inventory, then added manifest decoding, native hashing, and finally forensic indicators for nonstandard DEX and protector-like packaging. We chose this because later confidence is only credible if the pipeline first knows which evidence is present or hidden. Code: src/apk_sbom/apk_extractor.py.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DEX analyzer started with packages and opcode counts. It then added class/method identity, graph and literal evidence, and later the Phase 3 multi-scale features. The key choice is to extract broadly but keep new features inert until control matrices justify scoring. Code: src/apk_sbom/dex_analyzer.py. Evidence: docs/evaluation/R8_MULTISCALE_FEATURE_DIAGNOSTICS.md.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lane evolved from a small manual list into a reproducible factory: fetch Maven artifacts and POMs, normalize JAR/AAR bytecode through D8, extract the same features as the APK, and store them in SQLite. We guard reference growth because adding the correct version can still regress another APK when adjacent versions are similar.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evolved from package-driven candidate generation into weighted multi-signal fusion, then added artifact-family and version-ambiguity policies. The strongest project lesson is the evidence gate: a change that fixes one target but regresses controls is not promoted. Code: src/apk_sbom/matcher.py.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single-score view was too easy to overinterpret. The current model separates identity from exact version, records score-gap and distinctive evidence, and exports ambiguous alternatives. This is why uncertain versions cannot create confirmed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lane moved from internal result JSON to CycloneDX 1.5, then added Maven PURLs, evidence properties, separate identity/version confidence, ambiguity, and native hash-only file components. We chose CycloneDX because it connects directly to vulnerability and scanner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considered NVD-first mapping, but Maven coordinates align much better with OSV. The current lane batches queries, enriches and deduplicates aliases, extracts severity, and then classifies findings using the component confidence and source validation. Code: src/apk_sbom/vulnerability.py.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Reporting is not cosmetic. It is the transparency layer that keeps default matcher authority separate from experiment-only and AI assistance. All formats are generated from the same evidence, so uncertainty and provenance stay consistent. Code: src/apk_sbom/report.py.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layered design prevents claim inflation. Controlled and source-validated APKs support quantitative correctness claims. Smoke APKs support robustness claims. Limitation APKs show whether the tool warns honestly. Evidence: docs/evaluation/DATASET_DESIGN.md.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APK is not counted because a source link exists. The proof bundle must identify the exact binary, matching source, resolved runtime dependency tree, generated report, and source-validation output. For difficult builds we used validation-only copies and exact module/configuration probing.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layers. Controlled cases test mechanics. Clean real APKs provide strong exact evidence. Partial real APKs are the difficult, realistic population. Blocked is now zero. Limitation cases remain visible but are excluded from exact Maven-version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generated truth is 72 controlled fixtures, 102 source-validated real APKs split into 5 clean and 97 partial, plus 4 boundary cases. These counts come from data/results/evaluation/thesis-evaluation-tables.json, not the older planning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metric. Controlled fixtures can support full precision/recall/F1 because dependencies are known by construction. Real APKs use the resolved source tree to confirm the versions the tool emitted. That is not full dependency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normal metric first: 927 of 1837 emitted Maven versions confirmed across 102 source-validated real APKs. Then separate the v2 lane: 6772 exact emitted rows across 106 source-tree cases under exact source-version slices. It is an upper-bound recognition test, not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where wording matters most. The v2 lane uses exact source coordinate-version slices, so it answers whether the matcher recognizes correct bytecode when candidate selection is bounded. It does not measure unconstrained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screenshots of the generated project reports, not mockups. The clean F-Droid report shows 23 Maven components and zero returned vulnerabilities. The controlled Jackson Databind 2.9.10.8 report shows three confirmed HIGH advisories: CVE-2020-36518, CVE-2022-42003, and CVE-2022-42004.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concrete examples. F-Droid confirms versions such as okhttp 4.12.0, coroutines-android 1.7.3, and activity 1.10.1. The okio 2.8.0 candidate disagreed with source 3.7.0 and was not promoted as confirmed. activity-compose 1.10.1 is a matcher-recall case because the reference exists. collection-ktx 1.4.4 is a missing-reference case because the exact version is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strength, not an apology. The project records experiments that looked promising but failed controls. The production matcher stays conservative because target improvements were not allowed to hide regressions. Evidence: docs/thesis/EXPERIMENT_DECISION_LEDGER.md.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task is deliberately not exact-version selection. Each row is classified into one of six evidence roles. Splits are grouped by APK case to reduce leakage. The labels and features come from existing matcher, transparency, Phase 5, and boundary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RandomForest was chosen because the evidence is structured and numeric, the model trains quickly, class weights handle imbalance, and feature importance is explainable. The result is 0.708 macro-F1, but suggestions remain report-only.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structured-token Transformer is strong even after obvious source shortcuts are removed. The raw-opcode Transformer is much weaker and does not beat a simple baseline under a case-heldout split. This is why the DL story includes both a useful prototype and a negative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AI as a guarded research contribution. The RandomForest is integrated only for report suggestions. The source-free MVP-safe Transformer reaches 0.882 macro-F1 and is a report-only risk-triage candidate. The raw-opcode model underperforms its baseline, so it remains an honest negative result. AI cannot select final versions or change SBOM/CVE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command was rerun through the project virtual environment and returned 10 of 10 checks with ready true. The RandomForest, five-epoch MVP-safe Transformer, and raw-opcode Transformer scripts were also rerun; the five-epoch structured model reproduced 0.882165 macro-F1. During the defense, show the saved metrics and reports instead of spending several minutes retraining. Avoid rebuilding the large DB or querying OSV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is evidence-driven. The first priority is version-distinctive and candidate-recall evidence, then broader independent R8 data and stricter APK-only promotion controls. Native and hidden-code recovery remain separate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contributions: an end-to-end APK-to-SBOM pipeline, a transparent evaluation that keeps hard cases visible, and guarded matcher/AI research that does not overrule deterministic evidence. The next work is stronger version-specific evidence and larger independent R8 corpora. Then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the repository is organized. It shows the complete path from APK inputs and Maven reference databases through production modules, evaluation scripts, tests, Docker, and generated evidence under data/results.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Weights are evidence contributions, not probabilities, and some policies can adjust the final decision. The most important defense point is that optional API-reference and opcode tri-gram weights remain zero globally.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Docker image contains the Android and SBOM toolchain, while Compose bind-mounts the repository at /app so APK inputs, the 15.8 GB reference DB, and generated results remain visible and reusable on the host. The .dockerignore excludes large result, DB, source, and APK directories from the image build context; they are supplied through the bind 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APK types change expected behavior. The classifier is part of the evaluation interpretation, not an excuse to hide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taxonomy prevents the 5,238 source-gap rows from being mislabeled as one kind of failure. Some are aliases or metadata-only; 2,281 are matcher recall and 442 are missing-reference candidates.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scoped Phase 5 trigger is the interesting middle ground: it retained four improvements without triggered regressions, but it stays experiment-only because the profiles are narrow and learned from a small candidate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excellent on exact and report-only labels but weaker on broad risk and mismatch categories. The ablation shows that no single feature family explains the result; the full structured evidence is useful, but the model remains 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 model performs well across all six report labels. The raw opcode corpus uses a stricter case-heldout setup but is still too small: only two APK cases per label, one held out for test. This supports the next-data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83611b5a2040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566f596d3c442f" /><Relationship Type="http://schemas.openxmlformats.org/officeDocument/2006/relationships/slideLayout" Target="/ppt/slideLayouts/slideLayout1.xml" Id="Rfbc6208c7bf24c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c6208c7bf24c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4f0ceb63a94305" /><Relationship Type="http://schemas.openxmlformats.org/officeDocument/2006/relationships/notesSlide" Target="/ppt/notesSlides/notesSlide1.xml" Id="Rca00a4eeabad4d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f7ef1fcd8d4f57" /><Relationship Type="http://schemas.openxmlformats.org/officeDocument/2006/relationships/notesSlide" Target="/ppt/notesSlides/notesSlide2.xml" Id="R5aac00e542cd4c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903ef32201454b" /><Relationship Type="http://schemas.openxmlformats.org/officeDocument/2006/relationships/notesSlide" Target="/ppt/notesSlides/notesSlide3.xml" Id="R2fe2b78fdcde4b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69be6146c94fe7" /><Relationship Type="http://schemas.openxmlformats.org/officeDocument/2006/relationships/notesSlide" Target="/ppt/notesSlides/notesSlide4.xml" Id="Rfcc54847205044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6a7dd65593444b" /><Relationship Type="http://schemas.openxmlformats.org/officeDocument/2006/relationships/notesSlide" Target="/ppt/notesSlides/notesSlide5.xml" Id="Rc97f89bbe36a4f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52490e15694e7e" /><Relationship Type="http://schemas.openxmlformats.org/officeDocument/2006/relationships/notesSlide" Target="/ppt/notesSlides/notesSlide6.xml" Id="R8cd9340a8b5a47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15214fa8ed4265" /><Relationship Type="http://schemas.openxmlformats.org/officeDocument/2006/relationships/notesSlide" Target="/ppt/notesSlides/notesSlide7.xml" Id="Rb16d4cf84eae43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052a87f5ac4310" /><Relationship Type="http://schemas.openxmlformats.org/officeDocument/2006/relationships/notesSlide" Target="/ppt/notesSlides/notesSlide8.xml" Id="R82c175834b6c44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74bec1d83e4fb5" /><Relationship Type="http://schemas.openxmlformats.org/officeDocument/2006/relationships/notesSlide" Target="/ppt/notesSlides/notesSlide9.xml" Id="R83a1466198e54a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052f7027114f63" /><Relationship Type="http://schemas.openxmlformats.org/officeDocument/2006/relationships/notesSlide" Target="/ppt/notesSlides/notesSlide10.xml" Id="R49b9bcba95a244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5cde437ec24067" /><Relationship Type="http://schemas.openxmlformats.org/officeDocument/2006/relationships/notesSlide" Target="/ppt/notesSlides/notesSlide11.xml" Id="Re3952a830dbb45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79efb513704b97" /><Relationship Type="http://schemas.openxmlformats.org/officeDocument/2006/relationships/notesSlide" Target="/ppt/notesSlides/notesSlide12.xml" Id="R4bb014cd5be543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0ce742827148ed" /><Relationship Type="http://schemas.openxmlformats.org/officeDocument/2006/relationships/notesSlide" Target="/ppt/notesSlides/notesSlide13.xml" Id="Rad8287328d3044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de3ffc21b54429" /><Relationship Type="http://schemas.openxmlformats.org/officeDocument/2006/relationships/notesSlide" Target="/ppt/notesSlides/notesSlide14.xml" Id="R568ce59ed2e842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f2f2e3e8bdb4f0a" /><Relationship Type="http://schemas.openxmlformats.org/officeDocument/2006/relationships/notesSlide" Target="/ppt/notesSlides/notesSlide15.xml" Id="R2246afe7eb474d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891d7e97cc482d" /><Relationship Type="http://schemas.openxmlformats.org/officeDocument/2006/relationships/notesSlide" Target="/ppt/notesSlides/notesSlide16.xml" Id="Rd0b13a929a0244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7c065fed294353" /><Relationship Type="http://schemas.openxmlformats.org/officeDocument/2006/relationships/notesSlide" Target="/ppt/notesSlides/notesSlide17.xml" Id="Rbbe1cb9c64424a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1e91b44155b43b5" /><Relationship Type="http://schemas.openxmlformats.org/officeDocument/2006/relationships/notesSlide" Target="/ppt/notesSlides/notesSlide18.xml" Id="Rbae76d01b5a94b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bd90a4b1a944f39" /><Relationship Type="http://schemas.openxmlformats.org/officeDocument/2006/relationships/notesSlide" Target="/ppt/notesSlides/notesSlide19.xml" Id="R3484b153e9964c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a6635e81d14f0a" /><Relationship Type="http://schemas.openxmlformats.org/officeDocument/2006/relationships/notesSlide" Target="/ppt/notesSlides/notesSlide20.xml" Id="Rccd69d39c10d4b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3a9c76049f64dd2" /><Relationship Type="http://schemas.openxmlformats.org/officeDocument/2006/relationships/notesSlide" Target="/ppt/notesSlides/notesSlide21.xml" Id="R824c318a914e4d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7c9ea1394d746cc" /><Relationship Type="http://schemas.openxmlformats.org/officeDocument/2006/relationships/image" Target="/ppt/media/image.png" Id="R7ad0a2c5a8c94815" /><Relationship Type="http://schemas.openxmlformats.org/officeDocument/2006/relationships/image" Target="/ppt/media/image2.png" Id="R3c6d3011b2394d46" /><Relationship Type="http://schemas.openxmlformats.org/officeDocument/2006/relationships/notesSlide" Target="/ppt/notesSlides/notesSlide22.xml" Id="R43dabd8f100642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59369f7f3ba4e9f" /><Relationship Type="http://schemas.openxmlformats.org/officeDocument/2006/relationships/notesSlide" Target="/ppt/notesSlides/notesSlide23.xml" Id="R69b35dcf917a4e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353389561494eaf" /><Relationship Type="http://schemas.openxmlformats.org/officeDocument/2006/relationships/notesSlide" Target="/ppt/notesSlides/notesSlide24.xml" Id="Rb8c96261be1642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2093373092c4613" /><Relationship Type="http://schemas.openxmlformats.org/officeDocument/2006/relationships/notesSlide" Target="/ppt/notesSlides/notesSlide25.xml" Id="Rd76c86cd282241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eb6c72b76d5490d" /><Relationship Type="http://schemas.openxmlformats.org/officeDocument/2006/relationships/notesSlide" Target="/ppt/notesSlides/notesSlide26.xml" Id="R82fdb44be62743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28837cd52df4ab5" /><Relationship Type="http://schemas.openxmlformats.org/officeDocument/2006/relationships/notesSlide" Target="/ppt/notesSlides/notesSlide27.xml" Id="R3e4f9b13b1584bf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31209bea4b04151" /><Relationship Type="http://schemas.openxmlformats.org/officeDocument/2006/relationships/notesSlide" Target="/ppt/notesSlides/notesSlide28.xml" Id="R4b54e2cc068642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bd8c81602da44b8" /><Relationship Type="http://schemas.openxmlformats.org/officeDocument/2006/relationships/image" Target="/ppt/media/image3.png" Id="R6cbd87f938394208" /><Relationship Type="http://schemas.openxmlformats.org/officeDocument/2006/relationships/notesSlide" Target="/ppt/notesSlides/notesSlide29.xml" Id="R3601cf245665442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a4309907ff947ad" /><Relationship Type="http://schemas.openxmlformats.org/officeDocument/2006/relationships/notesSlide" Target="/ppt/notesSlides/notesSlide30.xml" Id="Rf740afdb7f014ee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77604b2f50e4af0" /><Relationship Type="http://schemas.openxmlformats.org/officeDocument/2006/relationships/notesSlide" Target="/ppt/notesSlides/notesSlide31.xml" Id="R9151a8b1b5ef48f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f585422cbf94b56" /><Relationship Type="http://schemas.openxmlformats.org/officeDocument/2006/relationships/notesSlide" Target="/ppt/notesSlides/notesSlide32.xml" Id="R92cdaa8617ec4c3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1f15a373b114c4b" /><Relationship Type="http://schemas.openxmlformats.org/officeDocument/2006/relationships/notesSlide" Target="/ppt/notesSlides/notesSlide33.xml" Id="Rb02190fa011b4ff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c53737b24b049d9" /><Relationship Type="http://schemas.openxmlformats.org/officeDocument/2006/relationships/notesSlide" Target="/ppt/notesSlides/notesSlide34.xml" Id="R225c1fd19d9b493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ff8fb8951824050" /><Relationship Type="http://schemas.openxmlformats.org/officeDocument/2006/relationships/notesSlide" Target="/ppt/notesSlides/notesSlide35.xml" Id="Re6423b84371c4c5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e24513006974ea9" /><Relationship Type="http://schemas.openxmlformats.org/officeDocument/2006/relationships/notesSlide" Target="/ppt/notesSlides/notesSlide36.xml" Id="R719768fc452845f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9f4117258374335" /><Relationship Type="http://schemas.openxmlformats.org/officeDocument/2006/relationships/notesSlide" Target="/ppt/notesSlides/notesSlide37.xml" Id="R0e86bc690edd428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b0dcf2c07fc4731" /><Relationship Type="http://schemas.openxmlformats.org/officeDocument/2006/relationships/notesSlide" Target="/ppt/notesSlides/notesSlide38.xml" Id="Rb510cfb9198c474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dc2b61f1d074bb4" /><Relationship Type="http://schemas.openxmlformats.org/officeDocument/2006/relationships/notesSlide" Target="/ppt/notesSlides/notesSlide39.xml" Id="R01e82261df9f498e" /></Relationships>
</file>

<file path=ppt/slides/slide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C0AB2A-4CB7-4148-ADDE-20EE2148AF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8D3FAC-0D11-40AE-98B8-C00836B586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E6E3A5-2E1C-4349-BB75-F804249D952E}"/>
              </a:ext>
            </a:extLst>
          </p:cNvPr>
          <p:cNvSpPr>
            <a:spLocks xmlns:a="http://schemas.openxmlformats.org/drawingml/2006/main" noGrp="1"/>
          </p:cNvSpPr>
          <p:nvPr/>
        </p:nvSpPr>
        <p:spPr>
          <a:xfrm xmlns:a="http://schemas.openxmlformats.org/drawingml/2006/main">
            <a:off x="685800" y="4953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PFE DEFENSE  /  JUNE 2026</a:t>
            </a:r>
          </a:p>
        </p:txBody>
      </p:sp>
      <p:sp>
        <p:nvSpPr>
          <p:cNvPr id="4" name="">
            <a:extLst xmlns:a="http://schemas.openxmlformats.org/drawingml/2006/main">
              <a:ext uri="{FF2B5EF4-FFF2-40B4-BE49-F238E27FC236}">
                <a16:creationId xmlns:a16="http://schemas.microsoft.com/office/drawing/2014/main" id="{9F8E53E5-246C-4BA8-92BC-BA6592813AC0}"/>
              </a:ext>
            </a:extLst>
          </p:cNvPr>
          <p:cNvSpPr>
            <a:spLocks xmlns:a="http://schemas.openxmlformats.org/drawingml/2006/main" noGrp="1"/>
          </p:cNvSpPr>
          <p:nvPr/>
        </p:nvSpPr>
        <p:spPr>
          <a:xfrm xmlns:a="http://schemas.openxmlformats.org/drawingml/2006/main">
            <a:off x="685800" y="10858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Evidence-Based</a:t>
            </a:r>
          </a:p>
        </p:txBody>
      </p:sp>
      <p:sp>
        <p:nvSpPr>
          <p:cNvPr id="5" name="">
            <a:extLst xmlns:a="http://schemas.openxmlformats.org/drawingml/2006/main">
              <a:ext uri="{FF2B5EF4-FFF2-40B4-BE49-F238E27FC236}">
                <a16:creationId xmlns:a16="http://schemas.microsoft.com/office/drawing/2014/main" id="{7B9AA849-1035-41BF-9AA4-7A05E0623CE1}"/>
              </a:ext>
            </a:extLst>
          </p:cNvPr>
          <p:cNvSpPr>
            <a:spLocks xmlns:a="http://schemas.openxmlformats.org/drawingml/2006/main" noGrp="1"/>
          </p:cNvSpPr>
          <p:nvPr/>
        </p:nvSpPr>
        <p:spPr>
          <a:xfrm xmlns:a="http://schemas.openxmlformats.org/drawingml/2006/main">
            <a:off x="685800" y="16383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SBOM Recovery</a:t>
            </a:r>
          </a:p>
        </p:txBody>
      </p:sp>
      <p:sp>
        <p:nvSpPr>
          <p:cNvPr id="6" name="">
            <a:extLst xmlns:a="http://schemas.openxmlformats.org/drawingml/2006/main">
              <a:ext uri="{FF2B5EF4-FFF2-40B4-BE49-F238E27FC236}">
                <a16:creationId xmlns:a16="http://schemas.microsoft.com/office/drawing/2014/main" id="{8D40A314-4A02-41AA-8F80-B9E75EE73FA9}"/>
              </a:ext>
            </a:extLst>
          </p:cNvPr>
          <p:cNvSpPr>
            <a:spLocks xmlns:a="http://schemas.openxmlformats.org/drawingml/2006/main" noGrp="1"/>
          </p:cNvSpPr>
          <p:nvPr/>
        </p:nvSpPr>
        <p:spPr>
          <a:xfrm xmlns:a="http://schemas.openxmlformats.org/drawingml/2006/main">
            <a:off x="70485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A9B6C9"/>
                </a:solidFill>
                <a:latin typeface="Aptos"/>
                <a:ea typeface="Aptos"/>
                <a:cs typeface="Aptos"/>
              </a:defRPr>
            </a:pPr>
            <a:r>
              <a:rPr sz="1800" b="1">
                <a:solidFill>
                  <a:srgbClr val="A9B6C9"/>
                </a:solidFill>
                <a:latin typeface="Aptos"/>
                <a:ea typeface="Aptos"/>
                <a:cs typeface="Aptos"/>
              </a:rPr>
              <a:t>from compiled Android APKs</a:t>
            </a:r>
          </a:p>
        </p:txBody>
      </p:sp>
      <p:sp>
        <p:nvSpPr>
          <p:cNvPr id="7" name="">
            <a:extLst xmlns:a="http://schemas.openxmlformats.org/drawingml/2006/main">
              <a:ext uri="{FF2B5EF4-FFF2-40B4-BE49-F238E27FC236}">
                <a16:creationId xmlns:a16="http://schemas.microsoft.com/office/drawing/2014/main" id="{6B806078-3DB6-497F-B1A8-FB666EEB57D9}"/>
              </a:ext>
            </a:extLst>
          </p:cNvPr>
          <p:cNvSpPr>
            <a:spLocks xmlns:a="http://schemas.openxmlformats.org/drawingml/2006/main" noGrp="1"/>
          </p:cNvSpPr>
          <p:nvPr/>
        </p:nvSpPr>
        <p:spPr>
          <a:xfrm xmlns:a="http://schemas.openxmlformats.org/drawingml/2006/main">
            <a:off x="704850" y="29527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C6D0DE"/>
                </a:solidFill>
                <a:latin typeface="Aptos"/>
                <a:ea typeface="Aptos"/>
                <a:cs typeface="Aptos"/>
              </a:defRPr>
            </a:pPr>
            <a:r>
              <a:rPr sz="1275" b="0">
                <a:solidFill>
                  <a:srgbClr val="C6D0DE"/>
                </a:solidFill>
                <a:latin typeface="Aptos"/>
                <a:ea typeface="Aptos"/>
                <a:cs typeface="Aptos"/>
              </a:rPr>
              <a:t>Static evidence fusion, CycloneDX output, confidence-aware CVE mapping, and guarded AI assistance.</a:t>
            </a:r>
          </a:p>
        </p:txBody>
      </p:sp>
      <p:sp>
        <p:nvSpPr>
          <p:cNvPr id="8" name="">
            <a:extLst xmlns:a="http://schemas.openxmlformats.org/drawingml/2006/main">
              <a:ext uri="{FF2B5EF4-FFF2-40B4-BE49-F238E27FC236}">
                <a16:creationId xmlns:a16="http://schemas.microsoft.com/office/drawing/2014/main" id="{8636D43E-C3A7-476B-AEAA-BF694C253983}"/>
              </a:ext>
            </a:extLst>
          </p:cNvPr>
          <p:cNvSpPr>
            <a:spLocks xmlns:a="http://schemas.openxmlformats.org/drawingml/2006/main" noGrp="1"/>
          </p:cNvSpPr>
          <p:nvPr/>
        </p:nvSpPr>
        <p:spPr>
          <a:xfrm xmlns:a="http://schemas.openxmlformats.org/drawingml/2006/main">
            <a:off x="6972300" y="10477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18C64643-A52E-462A-BC98-33EC6B9533F5}"/>
              </a:ext>
            </a:extLst>
          </p:cNvPr>
          <p:cNvSpPr>
            <a:spLocks xmlns:a="http://schemas.openxmlformats.org/drawingml/2006/main" noGrp="1"/>
          </p:cNvSpPr>
          <p:nvPr/>
        </p:nvSpPr>
        <p:spPr>
          <a:xfrm xmlns:a="http://schemas.openxmlformats.org/drawingml/2006/main">
            <a:off x="6972300" y="1390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APK</a:t>
            </a:r>
          </a:p>
        </p:txBody>
      </p:sp>
      <p:sp>
        <p:nvSpPr>
          <p:cNvPr id="10" name="">
            <a:extLst xmlns:a="http://schemas.openxmlformats.org/drawingml/2006/main">
              <a:ext uri="{FF2B5EF4-FFF2-40B4-BE49-F238E27FC236}">
                <a16:creationId xmlns:a16="http://schemas.microsoft.com/office/drawing/2014/main" id="{52A8A9C1-C57B-46C9-BA8F-9EC0560A5AF5}"/>
              </a:ext>
            </a:extLst>
          </p:cNvPr>
          <p:cNvSpPr>
            <a:spLocks xmlns:a="http://schemas.openxmlformats.org/drawingml/2006/main" noGrp="1"/>
          </p:cNvSpPr>
          <p:nvPr/>
        </p:nvSpPr>
        <p:spPr>
          <a:xfrm xmlns:a="http://schemas.openxmlformats.org/drawingml/2006/main">
            <a:off x="8858250" y="8191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55F73"/>
            </a:solidFill>
            <a:prstDash val="solid"/>
          </a:ln>
        </p:spPr>
      </p:sp>
      <p:sp>
        <p:nvSpPr>
          <p:cNvPr id="11" name="">
            <a:extLst xmlns:a="http://schemas.openxmlformats.org/drawingml/2006/main">
              <a:ext uri="{FF2B5EF4-FFF2-40B4-BE49-F238E27FC236}">
                <a16:creationId xmlns:a16="http://schemas.microsoft.com/office/drawing/2014/main" id="{78CC42B7-628C-4D44-9E4A-3B9A54DCBA00}"/>
              </a:ext>
            </a:extLst>
          </p:cNvPr>
          <p:cNvSpPr>
            <a:spLocks xmlns:a="http://schemas.openxmlformats.org/drawingml/2006/main" noGrp="1"/>
          </p:cNvSpPr>
          <p:nvPr/>
        </p:nvSpPr>
        <p:spPr>
          <a:xfrm xmlns:a="http://schemas.openxmlformats.org/drawingml/2006/main">
            <a:off x="8858250" y="11620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DEX</a:t>
            </a:r>
          </a:p>
        </p:txBody>
      </p:sp>
      <p:sp>
        <p:nvSpPr>
          <p:cNvPr id="12" name="">
            <a:extLst xmlns:a="http://schemas.openxmlformats.org/drawingml/2006/main">
              <a:ext uri="{FF2B5EF4-FFF2-40B4-BE49-F238E27FC236}">
                <a16:creationId xmlns:a16="http://schemas.microsoft.com/office/drawing/2014/main" id="{15E63A7B-D4DD-4F12-ABE0-6822CAD40BFD}"/>
              </a:ext>
            </a:extLst>
          </p:cNvPr>
          <p:cNvSpPr>
            <a:spLocks xmlns:a="http://schemas.openxmlformats.org/drawingml/2006/main" noGrp="1"/>
          </p:cNvSpPr>
          <p:nvPr/>
        </p:nvSpPr>
        <p:spPr>
          <a:xfrm xmlns:a="http://schemas.openxmlformats.org/drawingml/2006/main">
            <a:off x="9848850" y="2209800"/>
            <a:ext cx="1200150" cy="1200150"/>
          </a:xfrm>
          <a:prstGeom xmlns:a="http://schemas.openxmlformats.org/drawingml/2006/main" prst="ellipse">
            <a:avLst/>
          </a:prstGeom>
          <a:solidFill xmlns:a="http://schemas.openxmlformats.org/drawingml/2006/main">
            <a:srgbClr val="4F7D76"/>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72C05737-DA5D-46DE-92C7-50F34E9622DF}"/>
              </a:ext>
            </a:extLst>
          </p:cNvPr>
          <p:cNvSpPr>
            <a:spLocks xmlns:a="http://schemas.openxmlformats.org/drawingml/2006/main" noGrp="1"/>
          </p:cNvSpPr>
          <p:nvPr/>
        </p:nvSpPr>
        <p:spPr>
          <a:xfrm xmlns:a="http://schemas.openxmlformats.org/drawingml/2006/main">
            <a:off x="9848850" y="26955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MATCH</a:t>
            </a:r>
          </a:p>
        </p:txBody>
      </p:sp>
      <p:sp>
        <p:nvSpPr>
          <p:cNvPr id="14" name="">
            <a:extLst xmlns:a="http://schemas.openxmlformats.org/drawingml/2006/main">
              <a:ext uri="{FF2B5EF4-FFF2-40B4-BE49-F238E27FC236}">
                <a16:creationId xmlns:a16="http://schemas.microsoft.com/office/drawing/2014/main" id="{D61298D7-FC91-4F2F-A71D-96DB71741121}"/>
              </a:ext>
            </a:extLst>
          </p:cNvPr>
          <p:cNvSpPr>
            <a:spLocks xmlns:a="http://schemas.openxmlformats.org/drawingml/2006/main" noGrp="1"/>
          </p:cNvSpPr>
          <p:nvPr/>
        </p:nvSpPr>
        <p:spPr>
          <a:xfrm xmlns:a="http://schemas.openxmlformats.org/drawingml/2006/main">
            <a:off x="8705850" y="36385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F7C61"/>
            </a:solidFill>
            <a:prstDash val="solid"/>
          </a:ln>
        </p:spPr>
      </p:sp>
      <p:sp>
        <p:nvSpPr>
          <p:cNvPr id="15" name="">
            <a:extLst xmlns:a="http://schemas.openxmlformats.org/drawingml/2006/main">
              <a:ext uri="{FF2B5EF4-FFF2-40B4-BE49-F238E27FC236}">
                <a16:creationId xmlns:a16="http://schemas.microsoft.com/office/drawing/2014/main" id="{C5956937-5E7E-46B2-B96A-920E523144B7}"/>
              </a:ext>
            </a:extLst>
          </p:cNvPr>
          <p:cNvSpPr>
            <a:spLocks xmlns:a="http://schemas.openxmlformats.org/drawingml/2006/main" noGrp="1"/>
          </p:cNvSpPr>
          <p:nvPr/>
        </p:nvSpPr>
        <p:spPr>
          <a:xfrm xmlns:a="http://schemas.openxmlformats.org/drawingml/2006/main">
            <a:off x="8705850" y="39814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SBOM</a:t>
            </a:r>
          </a:p>
        </p:txBody>
      </p:sp>
      <p:sp>
        <p:nvSpPr>
          <p:cNvPr id="16" name="">
            <a:extLst xmlns:a="http://schemas.openxmlformats.org/drawingml/2006/main">
              <a:ext uri="{FF2B5EF4-FFF2-40B4-BE49-F238E27FC236}">
                <a16:creationId xmlns:a16="http://schemas.microsoft.com/office/drawing/2014/main" id="{4855A323-DED2-464A-A95F-8A357D7E4D9E}"/>
              </a:ext>
            </a:extLst>
          </p:cNvPr>
          <p:cNvSpPr>
            <a:spLocks xmlns:a="http://schemas.openxmlformats.org/drawingml/2006/main" noGrp="1"/>
          </p:cNvSpPr>
          <p:nvPr/>
        </p:nvSpPr>
        <p:spPr>
          <a:xfrm xmlns:a="http://schemas.openxmlformats.org/drawingml/2006/main">
            <a:off x="6762750" y="34099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F9802B32-96D0-4B54-8D2B-57A3E6866DDA}"/>
              </a:ext>
            </a:extLst>
          </p:cNvPr>
          <p:cNvSpPr>
            <a:spLocks xmlns:a="http://schemas.openxmlformats.org/drawingml/2006/main" noGrp="1"/>
          </p:cNvSpPr>
          <p:nvPr/>
        </p:nvSpPr>
        <p:spPr>
          <a:xfrm xmlns:a="http://schemas.openxmlformats.org/drawingml/2006/main">
            <a:off x="6762750" y="37528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CVE</a:t>
            </a:r>
          </a:p>
        </p:txBody>
      </p:sp>
      <p:sp>
        <p:nvSpPr>
          <p:cNvPr id="18" name="rule">
            <a:extLst xmlns:a="http://schemas.openxmlformats.org/drawingml/2006/main">
              <a:ext uri="{FF2B5EF4-FFF2-40B4-BE49-F238E27FC236}">
                <a16:creationId xmlns:a16="http://schemas.microsoft.com/office/drawing/2014/main" id="{0F57AF33-7B67-459F-9475-3FAA88596E03}"/>
              </a:ext>
            </a:extLst>
          </p:cNvPr>
          <p:cNvSpPr>
            <a:spLocks xmlns:a="http://schemas.openxmlformats.org/drawingml/2006/main" noGrp="1"/>
          </p:cNvSpPr>
          <p:nvPr/>
        </p:nvSpPr>
        <p:spPr>
          <a:xfrm xmlns:a="http://schemas.openxmlformats.org/drawingml/2006/main">
            <a:off x="7810500" y="1466850"/>
            <a:ext cx="11620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9" name="rule">
            <a:extLst xmlns:a="http://schemas.openxmlformats.org/drawingml/2006/main">
              <a:ext uri="{FF2B5EF4-FFF2-40B4-BE49-F238E27FC236}">
                <a16:creationId xmlns:a16="http://schemas.microsoft.com/office/drawing/2014/main" id="{6B1DB354-4422-4851-A56E-5B79684E9DFF}"/>
              </a:ext>
            </a:extLst>
          </p:cNvPr>
          <p:cNvSpPr>
            <a:spLocks xmlns:a="http://schemas.openxmlformats.org/drawingml/2006/main" noGrp="1"/>
          </p:cNvSpPr>
          <p:nvPr/>
        </p:nvSpPr>
        <p:spPr>
          <a:xfrm xmlns:a="http://schemas.openxmlformats.org/drawingml/2006/main">
            <a:off x="9601200" y="1590675"/>
            <a:ext cx="7620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0" name="rule">
            <a:extLst xmlns:a="http://schemas.openxmlformats.org/drawingml/2006/main">
              <a:ext uri="{FF2B5EF4-FFF2-40B4-BE49-F238E27FC236}">
                <a16:creationId xmlns:a16="http://schemas.microsoft.com/office/drawing/2014/main" id="{CCA5FA0B-1A41-4E2B-AB8A-A6173E7AE348}"/>
              </a:ext>
            </a:extLst>
          </p:cNvPr>
          <p:cNvSpPr>
            <a:spLocks xmlns:a="http://schemas.openxmlformats.org/drawingml/2006/main" noGrp="1"/>
          </p:cNvSpPr>
          <p:nvPr/>
        </p:nvSpPr>
        <p:spPr>
          <a:xfrm xmlns:a="http://schemas.openxmlformats.org/drawingml/2006/main">
            <a:off x="9791700" y="3209925"/>
            <a:ext cx="8382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rule">
            <a:extLst xmlns:a="http://schemas.openxmlformats.org/drawingml/2006/main">
              <a:ext uri="{FF2B5EF4-FFF2-40B4-BE49-F238E27FC236}">
                <a16:creationId xmlns:a16="http://schemas.microsoft.com/office/drawing/2014/main" id="{5A7AA08C-3419-4BD6-B949-EEEEEC009EB5}"/>
              </a:ext>
            </a:extLst>
          </p:cNvPr>
          <p:cNvSpPr>
            <a:spLocks xmlns:a="http://schemas.openxmlformats.org/drawingml/2006/main" noGrp="1"/>
          </p:cNvSpPr>
          <p:nvPr/>
        </p:nvSpPr>
        <p:spPr>
          <a:xfrm xmlns:a="http://schemas.openxmlformats.org/drawingml/2006/main">
            <a:off x="7639050" y="3924300"/>
            <a:ext cx="11811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2" name="rule">
            <a:extLst xmlns:a="http://schemas.openxmlformats.org/drawingml/2006/main">
              <a:ext uri="{FF2B5EF4-FFF2-40B4-BE49-F238E27FC236}">
                <a16:creationId xmlns:a16="http://schemas.microsoft.com/office/drawing/2014/main" id="{8CCAAD05-16DD-4C19-BD72-E157DDC8DA12}"/>
              </a:ext>
            </a:extLst>
          </p:cNvPr>
          <p:cNvSpPr>
            <a:spLocks xmlns:a="http://schemas.openxmlformats.org/drawingml/2006/main" noGrp="1"/>
          </p:cNvSpPr>
          <p:nvPr/>
        </p:nvSpPr>
        <p:spPr>
          <a:xfrm xmlns:a="http://schemas.openxmlformats.org/drawingml/2006/main">
            <a:off x="7219950" y="2733675"/>
            <a:ext cx="19050" cy="742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4B44ECB-0E17-47B6-9274-6CEE1E270622}"/>
              </a:ext>
            </a:extLst>
          </p:cNvPr>
          <p:cNvSpPr>
            <a:spLocks xmlns:a="http://schemas.openxmlformats.org/drawingml/2006/main" noGrp="1"/>
          </p:cNvSpPr>
          <p:nvPr/>
        </p:nvSpPr>
        <p:spPr>
          <a:xfrm xmlns:a="http://schemas.openxmlformats.org/drawingml/2006/main">
            <a:off x="666750" y="4705350"/>
            <a:ext cx="104775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C1BDCBB-BA19-4E96-87CE-7509878066CD}"/>
              </a:ext>
            </a:extLst>
          </p:cNvPr>
          <p:cNvSpPr>
            <a:spLocks xmlns:a="http://schemas.openxmlformats.org/drawingml/2006/main" noGrp="1"/>
          </p:cNvSpPr>
          <p:nvPr/>
        </p:nvSpPr>
        <p:spPr>
          <a:xfrm xmlns:a="http://schemas.openxmlformats.org/drawingml/2006/main">
            <a:off x="7048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4F7D76"/>
                </a:solidFill>
                <a:latin typeface="Aptos Display"/>
                <a:ea typeface="Aptos Display"/>
                <a:cs typeface="Aptos Display"/>
              </a:defRPr>
            </a:pPr>
            <a:r>
              <a:rPr sz="2400" b="1">
                <a:solidFill>
                  <a:srgbClr val="4F7D76"/>
                </a:solidFill>
                <a:latin typeface="Aptos Display"/>
                <a:ea typeface="Aptos Display"/>
                <a:cs typeface="Aptos Display"/>
              </a:rPr>
              <a:t>927 / 1837</a:t>
            </a:r>
          </a:p>
        </p:txBody>
      </p:sp>
      <p:sp>
        <p:nvSpPr>
          <p:cNvPr id="25" name="">
            <a:extLst xmlns:a="http://schemas.openxmlformats.org/drawingml/2006/main">
              <a:ext uri="{FF2B5EF4-FFF2-40B4-BE49-F238E27FC236}">
                <a16:creationId xmlns:a16="http://schemas.microsoft.com/office/drawing/2014/main" id="{A0E068C2-6E50-4C78-AAD6-EC93EC852F63}"/>
              </a:ext>
            </a:extLst>
          </p:cNvPr>
          <p:cNvSpPr>
            <a:spLocks xmlns:a="http://schemas.openxmlformats.org/drawingml/2006/main" noGrp="1"/>
          </p:cNvSpPr>
          <p:nvPr/>
        </p:nvSpPr>
        <p:spPr>
          <a:xfrm xmlns:a="http://schemas.openxmlformats.org/drawingml/2006/main">
            <a:off x="704850" y="5562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normal source-validated emitted versions confirmed</a:t>
            </a:r>
          </a:p>
        </p:txBody>
      </p:sp>
      <p:sp>
        <p:nvSpPr>
          <p:cNvPr id="26" name="">
            <a:extLst xmlns:a="http://schemas.openxmlformats.org/drawingml/2006/main">
              <a:ext uri="{FF2B5EF4-FFF2-40B4-BE49-F238E27FC236}">
                <a16:creationId xmlns:a16="http://schemas.microsoft.com/office/drawing/2014/main" id="{0647FCFF-B71A-47B1-BDC1-3B0C6EC58140}"/>
              </a:ext>
            </a:extLst>
          </p:cNvPr>
          <p:cNvSpPr>
            <a:spLocks xmlns:a="http://schemas.openxmlformats.org/drawingml/2006/main" noGrp="1"/>
          </p:cNvSpPr>
          <p:nvPr/>
        </p:nvSpPr>
        <p:spPr>
          <a:xfrm xmlns:a="http://schemas.openxmlformats.org/drawingml/2006/main">
            <a:off x="4171950" y="49911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6F7C61"/>
                </a:solidFill>
                <a:latin typeface="Aptos Display"/>
                <a:ea typeface="Aptos Display"/>
                <a:cs typeface="Aptos Display"/>
              </a:defRPr>
            </a:pPr>
            <a:r>
              <a:rPr sz="2400" b="1">
                <a:solidFill>
                  <a:srgbClr val="6F7C61"/>
                </a:solidFill>
                <a:latin typeface="Aptos Display"/>
                <a:ea typeface="Aptos Display"/>
                <a:cs typeface="Aptos Display"/>
              </a:rPr>
              <a:t>84 / 84</a:t>
            </a:r>
          </a:p>
        </p:txBody>
      </p:sp>
      <p:sp>
        <p:nvSpPr>
          <p:cNvPr id="27" name="">
            <a:extLst xmlns:a="http://schemas.openxmlformats.org/drawingml/2006/main">
              <a:ext uri="{FF2B5EF4-FFF2-40B4-BE49-F238E27FC236}">
                <a16:creationId xmlns:a16="http://schemas.microsoft.com/office/drawing/2014/main" id="{BF49D0E6-B783-48AB-9479-864E410B50DF}"/>
              </a:ext>
            </a:extLst>
          </p:cNvPr>
          <p:cNvSpPr>
            <a:spLocks xmlns:a="http://schemas.openxmlformats.org/drawingml/2006/main" noGrp="1"/>
          </p:cNvSpPr>
          <p:nvPr/>
        </p:nvSpPr>
        <p:spPr>
          <a:xfrm xmlns:a="http://schemas.openxmlformats.org/drawingml/2006/main">
            <a:off x="4171950" y="55626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controlled expected Maven versions</a:t>
            </a:r>
          </a:p>
        </p:txBody>
      </p:sp>
      <p:sp>
        <p:nvSpPr>
          <p:cNvPr id="28" name="">
            <a:extLst xmlns:a="http://schemas.openxmlformats.org/drawingml/2006/main">
              <a:ext uri="{FF2B5EF4-FFF2-40B4-BE49-F238E27FC236}">
                <a16:creationId xmlns:a16="http://schemas.microsoft.com/office/drawing/2014/main" id="{D28E7733-7333-4911-85A8-2C453A0FD61B}"/>
              </a:ext>
            </a:extLst>
          </p:cNvPr>
          <p:cNvSpPr>
            <a:spLocks xmlns:a="http://schemas.openxmlformats.org/drawingml/2006/main" noGrp="1"/>
          </p:cNvSpPr>
          <p:nvPr/>
        </p:nvSpPr>
        <p:spPr>
          <a:xfrm xmlns:a="http://schemas.openxmlformats.org/drawingml/2006/main">
            <a:off x="7086600" y="49911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8D754D"/>
                </a:solidFill>
                <a:latin typeface="Aptos Display"/>
                <a:ea typeface="Aptos Display"/>
                <a:cs typeface="Aptos Display"/>
              </a:defRPr>
            </a:pPr>
            <a:r>
              <a:rPr sz="2400" b="1">
                <a:solidFill>
                  <a:srgbClr val="8D754D"/>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8022C2A7-F13F-4136-95C6-375112B3A648}"/>
              </a:ext>
            </a:extLst>
          </p:cNvPr>
          <p:cNvSpPr>
            <a:spLocks xmlns:a="http://schemas.openxmlformats.org/drawingml/2006/main" noGrp="1"/>
          </p:cNvSpPr>
          <p:nvPr/>
        </p:nvSpPr>
        <p:spPr>
          <a:xfrm xmlns:a="http://schemas.openxmlformats.org/drawingml/2006/main">
            <a:off x="7086600" y="55626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source-known v2 lane, not APK-only accuracy</a:t>
            </a:r>
          </a:p>
        </p:txBody>
      </p:sp>
    </p:spTree>
    <p:extLst>
      <p:ext uri="{BB962C8B-B14F-4D97-AF65-F5344CB8AC3E}">
        <p14:creationId xmlns:p14="http://schemas.microsoft.com/office/powerpoint/2010/main" val="1357368139"/>
      </p:ext>
    </p:extLst>
  </p:cSld>
</p:sld>
</file>

<file path=ppt/slides/slide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A7FC70-C48E-4BF4-AD57-944BCBA74DF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5858D323-ED09-44A4-ACA2-3D173B8695C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Compilation removes the dependency metadata SBOM tools expect</a:t>
            </a:r>
          </a:p>
        </p:txBody>
      </p:sp>
      <p:sp>
        <p:nvSpPr>
          <p:cNvPr id="3" name="">
            <a:extLst xmlns:a="http://schemas.openxmlformats.org/drawingml/2006/main">
              <a:ext uri="{FF2B5EF4-FFF2-40B4-BE49-F238E27FC236}">
                <a16:creationId xmlns:a16="http://schemas.microsoft.com/office/drawing/2014/main" id="{A393B47D-628D-4A4F-AB07-969E6A1B7B1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52917C9-0EA5-4565-9A0E-76B8ABFB5777}"/>
              </a:ext>
            </a:extLst>
          </p:cNvPr>
          <p:cNvSpPr>
            <a:spLocks xmlns:a="http://schemas.openxmlformats.org/drawingml/2006/main" noGrp="1"/>
          </p:cNvSpPr>
          <p:nvPr/>
        </p:nvSpPr>
        <p:spPr>
          <a:xfrm xmlns:a="http://schemas.openxmlformats.org/drawingml/2006/main">
            <a:off x="666750" y="1504950"/>
            <a:ext cx="4095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1538DD1D-2D44-47EC-B026-777003673E41}"/>
              </a:ext>
            </a:extLst>
          </p:cNvPr>
          <p:cNvSpPr>
            <a:spLocks xmlns:a="http://schemas.openxmlformats.org/drawingml/2006/main" noGrp="1"/>
          </p:cNvSpPr>
          <p:nvPr/>
        </p:nvSpPr>
        <p:spPr>
          <a:xfrm xmlns:a="http://schemas.openxmlformats.org/drawingml/2006/main">
            <a:off x="895350" y="1733550"/>
            <a:ext cx="1428750" cy="266700"/>
          </a:xfrm>
          <a:prstGeom xmlns:a="http://schemas.openxmlformats.org/drawingml/2006/main" prst="rect">
            <a:avLst/>
          </a:prstGeom>
          <a:solidFill xmlns:a="http://schemas.openxmlformats.org/drawingml/2006/main">
            <a:srgbClr val="EEF0EA"/>
          </a:solidFill>
          <a:ln xmlns:a="http://schemas.openxmlformats.org/drawingml/2006/main" w="9525">
            <a:solidFill>
              <a:srgbClr val="6F7C61"/>
            </a:solidFill>
            <a:prstDash val="solid"/>
          </a:ln>
        </p:spPr>
      </p:sp>
      <p:sp>
        <p:nvSpPr>
          <p:cNvPr id="6" name="">
            <a:extLst xmlns:a="http://schemas.openxmlformats.org/drawingml/2006/main">
              <a:ext uri="{FF2B5EF4-FFF2-40B4-BE49-F238E27FC236}">
                <a16:creationId xmlns:a16="http://schemas.microsoft.com/office/drawing/2014/main" id="{FF0B9103-FA7D-4A3F-9847-8015742B02B0}"/>
              </a:ext>
            </a:extLst>
          </p:cNvPr>
          <p:cNvSpPr>
            <a:spLocks xmlns:a="http://schemas.openxmlformats.org/drawingml/2006/main" noGrp="1"/>
          </p:cNvSpPr>
          <p:nvPr/>
        </p:nvSpPr>
        <p:spPr>
          <a:xfrm xmlns:a="http://schemas.openxmlformats.org/drawingml/2006/main">
            <a:off x="962025" y="1790700"/>
            <a:ext cx="1295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SOURCE PROJECT</a:t>
            </a:r>
          </a:p>
        </p:txBody>
      </p:sp>
      <p:sp>
        <p:nvSpPr>
          <p:cNvPr id="7" name="">
            <a:extLst xmlns:a="http://schemas.openxmlformats.org/drawingml/2006/main">
              <a:ext uri="{FF2B5EF4-FFF2-40B4-BE49-F238E27FC236}">
                <a16:creationId xmlns:a16="http://schemas.microsoft.com/office/drawing/2014/main" id="{A311564E-CF29-42DA-8B0A-437D38CB4F31}"/>
              </a:ext>
            </a:extLst>
          </p:cNvPr>
          <p:cNvSpPr>
            <a:spLocks xmlns:a="http://schemas.openxmlformats.org/drawingml/2006/main" noGrp="1"/>
          </p:cNvSpPr>
          <p:nvPr/>
        </p:nvSpPr>
        <p:spPr>
          <a:xfrm xmlns:a="http://schemas.openxmlformats.org/drawingml/2006/main">
            <a:off x="895350" y="2209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02A33"/>
                </a:solidFill>
                <a:latin typeface="Aptos"/>
                <a:ea typeface="Aptos"/>
                <a:cs typeface="Aptos"/>
              </a:defRPr>
            </a:pPr>
            <a:r>
              <a:rPr sz="1875" b="1">
                <a:solidFill>
                  <a:srgbClr val="202A33"/>
                </a:solidFill>
                <a:latin typeface="Aptos"/>
                <a:ea typeface="Aptos"/>
                <a:cs typeface="Aptos"/>
              </a:rPr>
              <a:t>Dependencies are explicit</a:t>
            </a:r>
          </a:p>
        </p:txBody>
      </p:sp>
      <p:sp>
        <p:nvSpPr>
          <p:cNvPr id="8" name="">
            <a:extLst xmlns:a="http://schemas.openxmlformats.org/drawingml/2006/main">
              <a:ext uri="{FF2B5EF4-FFF2-40B4-BE49-F238E27FC236}">
                <a16:creationId xmlns:a16="http://schemas.microsoft.com/office/drawing/2014/main" id="{20599D26-ED56-463C-8A15-5F189BDF7C17}"/>
              </a:ext>
            </a:extLst>
          </p:cNvPr>
          <p:cNvSpPr>
            <a:spLocks xmlns:a="http://schemas.openxmlformats.org/drawingml/2006/main" noGrp="1"/>
          </p:cNvSpPr>
          <p:nvPr/>
        </p:nvSpPr>
        <p:spPr>
          <a:xfrm xmlns:a="http://schemas.openxmlformats.org/drawingml/2006/main">
            <a:off x="914400" y="28003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DE9C19F-A7D1-4BD1-98D7-9B03BE858E21}"/>
              </a:ext>
            </a:extLst>
          </p:cNvPr>
          <p:cNvSpPr>
            <a:spLocks xmlns:a="http://schemas.openxmlformats.org/drawingml/2006/main" noGrp="1"/>
          </p:cNvSpPr>
          <p:nvPr/>
        </p:nvSpPr>
        <p:spPr>
          <a:xfrm xmlns:a="http://schemas.openxmlformats.org/drawingml/2006/main">
            <a:off x="118110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build.gradle</a:t>
            </a:r>
          </a:p>
        </p:txBody>
      </p:sp>
      <p:sp>
        <p:nvSpPr>
          <p:cNvPr id="10" name="">
            <a:extLst xmlns:a="http://schemas.openxmlformats.org/drawingml/2006/main">
              <a:ext uri="{FF2B5EF4-FFF2-40B4-BE49-F238E27FC236}">
                <a16:creationId xmlns:a16="http://schemas.microsoft.com/office/drawing/2014/main" id="{21D7CF4D-2AC7-4F69-9E84-7A641F5D41EE}"/>
              </a:ext>
            </a:extLst>
          </p:cNvPr>
          <p:cNvSpPr>
            <a:spLocks xmlns:a="http://schemas.openxmlformats.org/drawingml/2006/main" noGrp="1"/>
          </p:cNvSpPr>
          <p:nvPr/>
        </p:nvSpPr>
        <p:spPr>
          <a:xfrm xmlns:a="http://schemas.openxmlformats.org/drawingml/2006/main">
            <a:off x="1181100" y="2990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coordinates + versions</a:t>
            </a:r>
          </a:p>
        </p:txBody>
      </p:sp>
      <p:sp>
        <p:nvSpPr>
          <p:cNvPr id="11" name="">
            <a:extLst xmlns:a="http://schemas.openxmlformats.org/drawingml/2006/main">
              <a:ext uri="{FF2B5EF4-FFF2-40B4-BE49-F238E27FC236}">
                <a16:creationId xmlns:a16="http://schemas.microsoft.com/office/drawing/2014/main" id="{3A6A63FE-FA89-4AB7-8A5E-D635A640F187}"/>
              </a:ext>
            </a:extLst>
          </p:cNvPr>
          <p:cNvSpPr>
            <a:spLocks xmlns:a="http://schemas.openxmlformats.org/drawingml/2006/main" noGrp="1"/>
          </p:cNvSpPr>
          <p:nvPr/>
        </p:nvSpPr>
        <p:spPr>
          <a:xfrm xmlns:a="http://schemas.openxmlformats.org/drawingml/2006/main">
            <a:off x="914400" y="339090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4FC558-FF88-4ADD-B903-32BAD3E0C35B}"/>
              </a:ext>
            </a:extLst>
          </p:cNvPr>
          <p:cNvSpPr>
            <a:spLocks xmlns:a="http://schemas.openxmlformats.org/drawingml/2006/main" noGrp="1"/>
          </p:cNvSpPr>
          <p:nvPr/>
        </p:nvSpPr>
        <p:spPr>
          <a:xfrm xmlns:a="http://schemas.openxmlformats.org/drawingml/2006/main">
            <a:off x="1181100" y="3371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version catalog</a:t>
            </a:r>
          </a:p>
        </p:txBody>
      </p:sp>
      <p:sp>
        <p:nvSpPr>
          <p:cNvPr id="13" name="">
            <a:extLst xmlns:a="http://schemas.openxmlformats.org/drawingml/2006/main">
              <a:ext uri="{FF2B5EF4-FFF2-40B4-BE49-F238E27FC236}">
                <a16:creationId xmlns:a16="http://schemas.microsoft.com/office/drawing/2014/main" id="{699DD664-132C-4FA4-950D-3594FDC10FD7}"/>
              </a:ext>
            </a:extLst>
          </p:cNvPr>
          <p:cNvSpPr>
            <a:spLocks xmlns:a="http://schemas.openxmlformats.org/drawingml/2006/main" noGrp="1"/>
          </p:cNvSpPr>
          <p:nvPr/>
        </p:nvSpPr>
        <p:spPr>
          <a:xfrm xmlns:a="http://schemas.openxmlformats.org/drawingml/2006/main">
            <a:off x="1181100" y="3581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shared dependency policy</a:t>
            </a:r>
          </a:p>
        </p:txBody>
      </p:sp>
      <p:sp>
        <p:nvSpPr>
          <p:cNvPr id="14" name="">
            <a:extLst xmlns:a="http://schemas.openxmlformats.org/drawingml/2006/main">
              <a:ext uri="{FF2B5EF4-FFF2-40B4-BE49-F238E27FC236}">
                <a16:creationId xmlns:a16="http://schemas.microsoft.com/office/drawing/2014/main" id="{8C2EA6BE-C15D-4167-87EB-D334C4EF7276}"/>
              </a:ext>
            </a:extLst>
          </p:cNvPr>
          <p:cNvSpPr>
            <a:spLocks xmlns:a="http://schemas.openxmlformats.org/drawingml/2006/main" noGrp="1"/>
          </p:cNvSpPr>
          <p:nvPr/>
        </p:nvSpPr>
        <p:spPr>
          <a:xfrm xmlns:a="http://schemas.openxmlformats.org/drawingml/2006/main">
            <a:off x="914400" y="39814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CFE9B43-C961-49B5-A4FB-296AE688BA0F}"/>
              </a:ext>
            </a:extLst>
          </p:cNvPr>
          <p:cNvSpPr>
            <a:spLocks xmlns:a="http://schemas.openxmlformats.org/drawingml/2006/main" noGrp="1"/>
          </p:cNvSpPr>
          <p:nvPr/>
        </p:nvSpPr>
        <p:spPr>
          <a:xfrm xmlns:a="http://schemas.openxmlformats.org/drawingml/2006/main">
            <a:off x="1181100" y="3962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lock / tree</a:t>
            </a:r>
          </a:p>
        </p:txBody>
      </p:sp>
      <p:sp>
        <p:nvSpPr>
          <p:cNvPr id="16" name="">
            <a:extLst xmlns:a="http://schemas.openxmlformats.org/drawingml/2006/main">
              <a:ext uri="{FF2B5EF4-FFF2-40B4-BE49-F238E27FC236}">
                <a16:creationId xmlns:a16="http://schemas.microsoft.com/office/drawing/2014/main" id="{02E61D6F-EC71-4441-9F00-1AD0CDF8BBD8}"/>
              </a:ext>
            </a:extLst>
          </p:cNvPr>
          <p:cNvSpPr>
            <a:spLocks xmlns:a="http://schemas.openxmlformats.org/drawingml/2006/main" noGrp="1"/>
          </p:cNvSpPr>
          <p:nvPr/>
        </p:nvSpPr>
        <p:spPr>
          <a:xfrm xmlns:a="http://schemas.openxmlformats.org/drawingml/2006/main">
            <a:off x="1181100" y="4171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resolved transitives</a:t>
            </a:r>
          </a:p>
        </p:txBody>
      </p:sp>
      <p:sp>
        <p:nvSpPr>
          <p:cNvPr id="17" name="">
            <a:extLst xmlns:a="http://schemas.openxmlformats.org/drawingml/2006/main">
              <a:ext uri="{FF2B5EF4-FFF2-40B4-BE49-F238E27FC236}">
                <a16:creationId xmlns:a16="http://schemas.microsoft.com/office/drawing/2014/main" id="{DCE46505-5631-4AB1-B662-6A0172E176E9}"/>
              </a:ext>
            </a:extLst>
          </p:cNvPr>
          <p:cNvSpPr>
            <a:spLocks xmlns:a="http://schemas.openxmlformats.org/drawingml/2006/main" noGrp="1"/>
          </p:cNvSpPr>
          <p:nvPr/>
        </p:nvSpPr>
        <p:spPr>
          <a:xfrm xmlns:a="http://schemas.openxmlformats.org/drawingml/2006/main">
            <a:off x="89535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F7C61"/>
                </a:solidFill>
                <a:latin typeface="Aptos"/>
                <a:ea typeface="Aptos"/>
                <a:cs typeface="Aptos"/>
              </a:defRPr>
            </a:pPr>
            <a:r>
              <a:rPr sz="1200" b="1">
                <a:solidFill>
                  <a:srgbClr val="6F7C61"/>
                </a:solidFill>
                <a:latin typeface="Aptos"/>
                <a:ea typeface="Aptos"/>
                <a:cs typeface="Aptos"/>
              </a:rPr>
              <a:t>Normal source-based SBOM</a:t>
            </a:r>
          </a:p>
        </p:txBody>
      </p:sp>
      <p:sp>
        <p:nvSpPr>
          <p:cNvPr id="18" name="rule">
            <a:extLst xmlns:a="http://schemas.openxmlformats.org/drawingml/2006/main">
              <a:ext uri="{FF2B5EF4-FFF2-40B4-BE49-F238E27FC236}">
                <a16:creationId xmlns:a16="http://schemas.microsoft.com/office/drawing/2014/main" id="{DAEA5FBC-AC46-4479-806C-4CBC16C64587}"/>
              </a:ext>
            </a:extLst>
          </p:cNvPr>
          <p:cNvSpPr>
            <a:spLocks xmlns:a="http://schemas.openxmlformats.org/drawingml/2006/main" noGrp="1"/>
          </p:cNvSpPr>
          <p:nvPr/>
        </p:nvSpPr>
        <p:spPr>
          <a:xfrm xmlns:a="http://schemas.openxmlformats.org/drawingml/2006/main">
            <a:off x="4933950" y="3152775"/>
            <a:ext cx="1409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40CEBEC-0034-4043-BC58-F2666C8EE596}"/>
              </a:ext>
            </a:extLst>
          </p:cNvPr>
          <p:cNvSpPr>
            <a:spLocks xmlns:a="http://schemas.openxmlformats.org/drawingml/2006/main" noGrp="1"/>
          </p:cNvSpPr>
          <p:nvPr/>
        </p:nvSpPr>
        <p:spPr>
          <a:xfrm xmlns:a="http://schemas.openxmlformats.org/drawingml/2006/main">
            <a:off x="6267450" y="30670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C65DC54-9BE5-4CD9-A70B-71ADA7EF94DB}"/>
              </a:ext>
            </a:extLst>
          </p:cNvPr>
          <p:cNvSpPr>
            <a:spLocks xmlns:a="http://schemas.openxmlformats.org/drawingml/2006/main" noGrp="1"/>
          </p:cNvSpPr>
          <p:nvPr/>
        </p:nvSpPr>
        <p:spPr>
          <a:xfrm xmlns:a="http://schemas.openxmlformats.org/drawingml/2006/main">
            <a:off x="4933950" y="2876550"/>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A65C55"/>
                </a:solidFill>
                <a:latin typeface="Aptos"/>
                <a:ea typeface="Aptos"/>
                <a:cs typeface="Aptos"/>
              </a:defRPr>
            </a:pPr>
            <a:r>
              <a:rPr sz="750" b="1">
                <a:solidFill>
                  <a:srgbClr val="A65C55"/>
                </a:solidFill>
                <a:latin typeface="Aptos"/>
                <a:ea typeface="Aptos"/>
                <a:cs typeface="Aptos"/>
              </a:rPr>
              <a:t>compile + R8</a:t>
            </a:r>
          </a:p>
        </p:txBody>
      </p:sp>
      <p:sp>
        <p:nvSpPr>
          <p:cNvPr id="21" name="">
            <a:extLst xmlns:a="http://schemas.openxmlformats.org/drawingml/2006/main">
              <a:ext uri="{FF2B5EF4-FFF2-40B4-BE49-F238E27FC236}">
                <a16:creationId xmlns:a16="http://schemas.microsoft.com/office/drawing/2014/main" id="{1B402514-73DB-4328-9783-097ACD2CCB04}"/>
              </a:ext>
            </a:extLst>
          </p:cNvPr>
          <p:cNvSpPr>
            <a:spLocks xmlns:a="http://schemas.openxmlformats.org/drawingml/2006/main" noGrp="1"/>
          </p:cNvSpPr>
          <p:nvPr/>
        </p:nvSpPr>
        <p:spPr>
          <a:xfrm xmlns:a="http://schemas.openxmlformats.org/drawingml/2006/main">
            <a:off x="5067300" y="3524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A65C55"/>
                </a:solidFill>
                <a:latin typeface="Aptos"/>
                <a:ea typeface="Aptos"/>
                <a:cs typeface="Aptos"/>
              </a:defRPr>
            </a:pPr>
            <a:r>
              <a:rPr sz="975" b="1">
                <a:solidFill>
                  <a:srgbClr val="A65C55"/>
                </a:solidFill>
                <a:latin typeface="Aptos"/>
                <a:ea typeface="Aptos"/>
                <a:cs typeface="Aptos"/>
              </a:rPr>
              <a:t>metadata lost</a:t>
            </a:r>
          </a:p>
        </p:txBody>
      </p:sp>
      <p:sp>
        <p:nvSpPr>
          <p:cNvPr id="22" name="">
            <a:extLst xmlns:a="http://schemas.openxmlformats.org/drawingml/2006/main">
              <a:ext uri="{FF2B5EF4-FFF2-40B4-BE49-F238E27FC236}">
                <a16:creationId xmlns:a16="http://schemas.microsoft.com/office/drawing/2014/main" id="{7C3A91F4-1607-4B33-8D61-F068B22F576B}"/>
              </a:ext>
            </a:extLst>
          </p:cNvPr>
          <p:cNvSpPr>
            <a:spLocks xmlns:a="http://schemas.openxmlformats.org/drawingml/2006/main" noGrp="1"/>
          </p:cNvSpPr>
          <p:nvPr/>
        </p:nvSpPr>
        <p:spPr>
          <a:xfrm xmlns:a="http://schemas.openxmlformats.org/drawingml/2006/main">
            <a:off x="6667500" y="1504950"/>
            <a:ext cx="47625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3" name="">
            <a:extLst xmlns:a="http://schemas.openxmlformats.org/drawingml/2006/main">
              <a:ext uri="{FF2B5EF4-FFF2-40B4-BE49-F238E27FC236}">
                <a16:creationId xmlns:a16="http://schemas.microsoft.com/office/drawing/2014/main" id="{DC27496D-495B-46FE-8DA3-741BDB0509BE}"/>
              </a:ext>
            </a:extLst>
          </p:cNvPr>
          <p:cNvSpPr>
            <a:spLocks xmlns:a="http://schemas.openxmlformats.org/drawingml/2006/main" noGrp="1"/>
          </p:cNvSpPr>
          <p:nvPr/>
        </p:nvSpPr>
        <p:spPr>
          <a:xfrm xmlns:a="http://schemas.openxmlformats.org/drawingml/2006/main">
            <a:off x="6896100" y="1733550"/>
            <a:ext cx="13525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4" name="">
            <a:extLst xmlns:a="http://schemas.openxmlformats.org/drawingml/2006/main">
              <a:ext uri="{FF2B5EF4-FFF2-40B4-BE49-F238E27FC236}">
                <a16:creationId xmlns:a16="http://schemas.microsoft.com/office/drawing/2014/main" id="{F7618D2E-F62B-42BE-A877-7FAB54D73CC4}"/>
              </a:ext>
            </a:extLst>
          </p:cNvPr>
          <p:cNvSpPr>
            <a:spLocks xmlns:a="http://schemas.openxmlformats.org/drawingml/2006/main" noGrp="1"/>
          </p:cNvSpPr>
          <p:nvPr/>
        </p:nvSpPr>
        <p:spPr>
          <a:xfrm xmlns:a="http://schemas.openxmlformats.org/drawingml/2006/main">
            <a:off x="6962775" y="17907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COMPILED APK</a:t>
            </a:r>
          </a:p>
        </p:txBody>
      </p:sp>
      <p:sp>
        <p:nvSpPr>
          <p:cNvPr id="25" name="">
            <a:extLst xmlns:a="http://schemas.openxmlformats.org/drawingml/2006/main">
              <a:ext uri="{FF2B5EF4-FFF2-40B4-BE49-F238E27FC236}">
                <a16:creationId xmlns:a16="http://schemas.microsoft.com/office/drawing/2014/main" id="{ADE72E14-0A59-4EE9-B217-8DE0AA4ADC03}"/>
              </a:ext>
            </a:extLst>
          </p:cNvPr>
          <p:cNvSpPr>
            <a:spLocks xmlns:a="http://schemas.openxmlformats.org/drawingml/2006/main" noGrp="1"/>
          </p:cNvSpPr>
          <p:nvPr/>
        </p:nvSpPr>
        <p:spPr>
          <a:xfrm xmlns:a="http://schemas.openxmlformats.org/drawingml/2006/main">
            <a:off x="6896100" y="2209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Evidence is indirect</a:t>
            </a:r>
          </a:p>
        </p:txBody>
      </p:sp>
      <p:sp>
        <p:nvSpPr>
          <p:cNvPr id="26" name="">
            <a:extLst xmlns:a="http://schemas.openxmlformats.org/drawingml/2006/main">
              <a:ext uri="{FF2B5EF4-FFF2-40B4-BE49-F238E27FC236}">
                <a16:creationId xmlns:a16="http://schemas.microsoft.com/office/drawing/2014/main" id="{8195F02B-734E-4391-9A95-CB362451CBE0}"/>
              </a:ext>
            </a:extLst>
          </p:cNvPr>
          <p:cNvSpPr>
            <a:spLocks xmlns:a="http://schemas.openxmlformats.org/drawingml/2006/main" noGrp="1"/>
          </p:cNvSpPr>
          <p:nvPr/>
        </p:nvSpPr>
        <p:spPr>
          <a:xfrm xmlns:a="http://schemas.openxmlformats.org/drawingml/2006/main">
            <a:off x="6915150" y="2838450"/>
            <a:ext cx="171450" cy="1714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6BC9DE9-0C8B-4E30-A6E8-86B980857778}"/>
              </a:ext>
            </a:extLst>
          </p:cNvPr>
          <p:cNvSpPr>
            <a:spLocks xmlns:a="http://schemas.openxmlformats.org/drawingml/2006/main" noGrp="1"/>
          </p:cNvSpPr>
          <p:nvPr/>
        </p:nvSpPr>
        <p:spPr>
          <a:xfrm xmlns:a="http://schemas.openxmlformats.org/drawingml/2006/main">
            <a:off x="7219950" y="2800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DEX bytecode</a:t>
            </a:r>
          </a:p>
        </p:txBody>
      </p:sp>
      <p:sp>
        <p:nvSpPr>
          <p:cNvPr id="28" name="">
            <a:extLst xmlns:a="http://schemas.openxmlformats.org/drawingml/2006/main">
              <a:ext uri="{FF2B5EF4-FFF2-40B4-BE49-F238E27FC236}">
                <a16:creationId xmlns:a16="http://schemas.microsoft.com/office/drawing/2014/main" id="{4012004A-8BB1-49DC-9DA6-9067EE65F59D}"/>
              </a:ext>
            </a:extLst>
          </p:cNvPr>
          <p:cNvSpPr>
            <a:spLocks xmlns:a="http://schemas.openxmlformats.org/drawingml/2006/main" noGrp="1"/>
          </p:cNvSpPr>
          <p:nvPr/>
        </p:nvSpPr>
        <p:spPr>
          <a:xfrm xmlns:a="http://schemas.openxmlformats.org/drawingml/2006/main">
            <a:off x="8705850" y="2800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classes mixed and optimized</a:t>
            </a:r>
          </a:p>
        </p:txBody>
      </p:sp>
      <p:sp>
        <p:nvSpPr>
          <p:cNvPr id="29" name="">
            <a:extLst xmlns:a="http://schemas.openxmlformats.org/drawingml/2006/main">
              <a:ext uri="{FF2B5EF4-FFF2-40B4-BE49-F238E27FC236}">
                <a16:creationId xmlns:a16="http://schemas.microsoft.com/office/drawing/2014/main" id="{C766A79A-80E6-4CCF-AC31-3BB5C9C741E8}"/>
              </a:ext>
            </a:extLst>
          </p:cNvPr>
          <p:cNvSpPr>
            <a:spLocks xmlns:a="http://schemas.openxmlformats.org/drawingml/2006/main" noGrp="1"/>
          </p:cNvSpPr>
          <p:nvPr/>
        </p:nvSpPr>
        <p:spPr>
          <a:xfrm xmlns:a="http://schemas.openxmlformats.org/drawingml/2006/main">
            <a:off x="6915150" y="3333750"/>
            <a:ext cx="171450" cy="1714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285D27F-42FF-4174-87C3-7BC07E7D1DC6}"/>
              </a:ext>
            </a:extLst>
          </p:cNvPr>
          <p:cNvSpPr>
            <a:spLocks xmlns:a="http://schemas.openxmlformats.org/drawingml/2006/main" noGrp="1"/>
          </p:cNvSpPr>
          <p:nvPr/>
        </p:nvSpPr>
        <p:spPr>
          <a:xfrm xmlns:a="http://schemas.openxmlformats.org/drawingml/2006/main">
            <a:off x="7219950" y="32956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R8 transforms</a:t>
            </a:r>
          </a:p>
        </p:txBody>
      </p:sp>
      <p:sp>
        <p:nvSpPr>
          <p:cNvPr id="31" name="">
            <a:extLst xmlns:a="http://schemas.openxmlformats.org/drawingml/2006/main">
              <a:ext uri="{FF2B5EF4-FFF2-40B4-BE49-F238E27FC236}">
                <a16:creationId xmlns:a16="http://schemas.microsoft.com/office/drawing/2014/main" id="{45EEE6EE-FAEE-490A-99F5-CC1D0233C097}"/>
              </a:ext>
            </a:extLst>
          </p:cNvPr>
          <p:cNvSpPr>
            <a:spLocks xmlns:a="http://schemas.openxmlformats.org/drawingml/2006/main" noGrp="1"/>
          </p:cNvSpPr>
          <p:nvPr/>
        </p:nvSpPr>
        <p:spPr>
          <a:xfrm xmlns:a="http://schemas.openxmlformats.org/drawingml/2006/main">
            <a:off x="8705850" y="3295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rename, shrink, inline</a:t>
            </a:r>
          </a:p>
        </p:txBody>
      </p:sp>
      <p:sp>
        <p:nvSpPr>
          <p:cNvPr id="32" name="">
            <a:extLst xmlns:a="http://schemas.openxmlformats.org/drawingml/2006/main">
              <a:ext uri="{FF2B5EF4-FFF2-40B4-BE49-F238E27FC236}">
                <a16:creationId xmlns:a16="http://schemas.microsoft.com/office/drawing/2014/main" id="{97DD40BF-219F-416B-895F-C8F21889BAB4}"/>
              </a:ext>
            </a:extLst>
          </p:cNvPr>
          <p:cNvSpPr>
            <a:spLocks xmlns:a="http://schemas.openxmlformats.org/drawingml/2006/main" noGrp="1"/>
          </p:cNvSpPr>
          <p:nvPr/>
        </p:nvSpPr>
        <p:spPr>
          <a:xfrm xmlns:a="http://schemas.openxmlformats.org/drawingml/2006/main">
            <a:off x="6915150" y="3829050"/>
            <a:ext cx="171450" cy="1714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6E8A43B-1B78-45B2-BBD6-A1957B9AA07B}"/>
              </a:ext>
            </a:extLst>
          </p:cNvPr>
          <p:cNvSpPr>
            <a:spLocks xmlns:a="http://schemas.openxmlformats.org/drawingml/2006/main" noGrp="1"/>
          </p:cNvSpPr>
          <p:nvPr/>
        </p:nvSpPr>
        <p:spPr>
          <a:xfrm xmlns:a="http://schemas.openxmlformats.org/drawingml/2006/main">
            <a:off x="7219950" y="3790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Native files</a:t>
            </a:r>
          </a:p>
        </p:txBody>
      </p:sp>
      <p:sp>
        <p:nvSpPr>
          <p:cNvPr id="34" name="">
            <a:extLst xmlns:a="http://schemas.openxmlformats.org/drawingml/2006/main">
              <a:ext uri="{FF2B5EF4-FFF2-40B4-BE49-F238E27FC236}">
                <a16:creationId xmlns:a16="http://schemas.microsoft.com/office/drawing/2014/main" id="{67F29B29-29FE-4692-A1D4-BC883ECACF4F}"/>
              </a:ext>
            </a:extLst>
          </p:cNvPr>
          <p:cNvSpPr>
            <a:spLocks xmlns:a="http://schemas.openxmlformats.org/drawingml/2006/main" noGrp="1"/>
          </p:cNvSpPr>
          <p:nvPr/>
        </p:nvSpPr>
        <p:spPr>
          <a:xfrm xmlns:a="http://schemas.openxmlformats.org/drawingml/2006/main">
            <a:off x="8705850" y="3790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hash evidence only</a:t>
            </a:r>
          </a:p>
        </p:txBody>
      </p:sp>
      <p:sp>
        <p:nvSpPr>
          <p:cNvPr id="35" name="">
            <a:extLst xmlns:a="http://schemas.openxmlformats.org/drawingml/2006/main">
              <a:ext uri="{FF2B5EF4-FFF2-40B4-BE49-F238E27FC236}">
                <a16:creationId xmlns:a16="http://schemas.microsoft.com/office/drawing/2014/main" id="{BA9B256F-2B1C-454D-BD28-67929D61CA97}"/>
              </a:ext>
            </a:extLst>
          </p:cNvPr>
          <p:cNvSpPr>
            <a:spLocks xmlns:a="http://schemas.openxmlformats.org/drawingml/2006/main" noGrp="1"/>
          </p:cNvSpPr>
          <p:nvPr/>
        </p:nvSpPr>
        <p:spPr>
          <a:xfrm xmlns:a="http://schemas.openxmlformats.org/drawingml/2006/main">
            <a:off x="6915150" y="4324350"/>
            <a:ext cx="171450" cy="1714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FD81B24-32E6-4920-AD0F-58285C1EF852}"/>
              </a:ext>
            </a:extLst>
          </p:cNvPr>
          <p:cNvSpPr>
            <a:spLocks xmlns:a="http://schemas.openxmlformats.org/drawingml/2006/main" noGrp="1"/>
          </p:cNvSpPr>
          <p:nvPr/>
        </p:nvSpPr>
        <p:spPr>
          <a:xfrm xmlns:a="http://schemas.openxmlformats.org/drawingml/2006/main">
            <a:off x="7219950" y="4286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No Maven version</a:t>
            </a:r>
          </a:p>
        </p:txBody>
      </p:sp>
      <p:sp>
        <p:nvSpPr>
          <p:cNvPr id="37" name="">
            <a:extLst xmlns:a="http://schemas.openxmlformats.org/drawingml/2006/main">
              <a:ext uri="{FF2B5EF4-FFF2-40B4-BE49-F238E27FC236}">
                <a16:creationId xmlns:a16="http://schemas.microsoft.com/office/drawing/2014/main" id="{97712EDD-C04A-4828-A957-6891F9CC4E72}"/>
              </a:ext>
            </a:extLst>
          </p:cNvPr>
          <p:cNvSpPr>
            <a:spLocks xmlns:a="http://schemas.openxmlformats.org/drawingml/2006/main" noGrp="1"/>
          </p:cNvSpPr>
          <p:nvPr/>
        </p:nvSpPr>
        <p:spPr>
          <a:xfrm xmlns:a="http://schemas.openxmlformats.org/drawingml/2006/main">
            <a:off x="8705850" y="4286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must be inferred</a:t>
            </a:r>
          </a:p>
        </p:txBody>
      </p:sp>
      <p:sp>
        <p:nvSpPr>
          <p:cNvPr id="38" name="">
            <a:extLst xmlns:a="http://schemas.openxmlformats.org/drawingml/2006/main">
              <a:ext uri="{FF2B5EF4-FFF2-40B4-BE49-F238E27FC236}">
                <a16:creationId xmlns:a16="http://schemas.microsoft.com/office/drawing/2014/main" id="{BB09C086-2E95-48D6-845A-57B9345DFC45}"/>
              </a:ext>
            </a:extLst>
          </p:cNvPr>
          <p:cNvSpPr>
            <a:spLocks xmlns:a="http://schemas.openxmlformats.org/drawingml/2006/main" noGrp="1"/>
          </p:cNvSpPr>
          <p:nvPr/>
        </p:nvSpPr>
        <p:spPr>
          <a:xfrm xmlns:a="http://schemas.openxmlformats.org/drawingml/2006/main">
            <a:off x="689610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Aptos"/>
                <a:ea typeface="Aptos"/>
                <a:cs typeface="Aptos"/>
              </a:defRPr>
            </a:pPr>
            <a:r>
              <a:rPr sz="1200" b="1">
                <a:solidFill>
                  <a:srgbClr val="4F7D76"/>
                </a:solidFill>
                <a:latin typeface="Aptos"/>
                <a:ea typeface="Aptos"/>
                <a:cs typeface="Aptos"/>
              </a:rPr>
              <a:t>Reverse-SBOM problem</a:t>
            </a:r>
          </a:p>
        </p:txBody>
      </p:sp>
      <p:sp>
        <p:nvSpPr>
          <p:cNvPr id="39" name="">
            <a:extLst xmlns:a="http://schemas.openxmlformats.org/drawingml/2006/main">
              <a:ext uri="{FF2B5EF4-FFF2-40B4-BE49-F238E27FC236}">
                <a16:creationId xmlns:a16="http://schemas.microsoft.com/office/drawing/2014/main" id="{B8E733F1-1619-416E-A074-48D07D103890}"/>
              </a:ext>
            </a:extLst>
          </p:cNvPr>
          <p:cNvSpPr>
            <a:spLocks xmlns:a="http://schemas.openxmlformats.org/drawingml/2006/main" noGrp="1"/>
          </p:cNvSpPr>
          <p:nvPr/>
        </p:nvSpPr>
        <p:spPr>
          <a:xfrm xmlns:a="http://schemas.openxmlformats.org/drawingml/2006/main">
            <a:off x="1581150" y="57721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The MVP must reconstruct identity and version from what survives compilation.</a:t>
            </a:r>
          </a:p>
        </p:txBody>
      </p:sp>
      <p:sp>
        <p:nvSpPr>
          <p:cNvPr id="40" name="">
            <a:extLst xmlns:a="http://schemas.openxmlformats.org/drawingml/2006/main">
              <a:ext uri="{FF2B5EF4-FFF2-40B4-BE49-F238E27FC236}">
                <a16:creationId xmlns:a16="http://schemas.microsoft.com/office/drawing/2014/main" id="{366B03B9-BA98-4CCD-B03A-F3C9A3B80BB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70955019"/>
      </p:ext>
    </p:extLst>
  </p:cSld>
</p:sld>
</file>

<file path=ppt/slides/slide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E509CB-734B-4660-AA55-08C83C5690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6267A0-C317-49B2-88FA-FE96CCCA222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984C98-F418-4DCD-B641-EA3B04804EB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RESEARCH POSITIONING</a:t>
            </a:r>
          </a:p>
        </p:txBody>
      </p:sp>
      <p:sp>
        <p:nvSpPr>
          <p:cNvPr id="4" name="">
            <a:extLst xmlns:a="http://schemas.openxmlformats.org/drawingml/2006/main">
              <a:ext uri="{FF2B5EF4-FFF2-40B4-BE49-F238E27FC236}">
                <a16:creationId xmlns:a16="http://schemas.microsoft.com/office/drawing/2014/main" id="{6B5E8B50-D25F-4F9A-AD31-A6C489EE2EB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literature converges on hybrid evidence, but not perfect version recovery</a:t>
            </a:r>
          </a:p>
        </p:txBody>
      </p:sp>
      <p:sp>
        <p:nvSpPr>
          <p:cNvPr id="5" name="">
            <a:extLst xmlns:a="http://schemas.openxmlformats.org/drawingml/2006/main">
              <a:ext uri="{FF2B5EF4-FFF2-40B4-BE49-F238E27FC236}">
                <a16:creationId xmlns:a16="http://schemas.microsoft.com/office/drawing/2014/main" id="{13086B67-700E-48EB-8A62-0928A8B0D04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28585E34-8BA0-4DCC-8060-7B9C9563D123}"/>
              </a:ext>
            </a:extLst>
          </p:cNvPr>
          <p:cNvSpPr>
            <a:spLocks xmlns:a="http://schemas.openxmlformats.org/drawingml/2006/main" noGrp="1"/>
          </p:cNvSpPr>
          <p:nvPr/>
        </p:nvSpPr>
        <p:spPr>
          <a:xfrm xmlns:a="http://schemas.openxmlformats.org/drawingml/2006/main">
            <a:off x="6858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7D2952D7-3920-4829-8271-BB166DD2D43C}"/>
              </a:ext>
            </a:extLst>
          </p:cNvPr>
          <p:cNvSpPr>
            <a:spLocks xmlns:a="http://schemas.openxmlformats.org/drawingml/2006/main" noGrp="1"/>
          </p:cNvSpPr>
          <p:nvPr/>
        </p:nvSpPr>
        <p:spPr>
          <a:xfrm xmlns:a="http://schemas.openxmlformats.org/drawingml/2006/main">
            <a:off x="8763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CB8005A0-0068-4BF3-BFA3-F6EE8BFDE9C4}"/>
              </a:ext>
            </a:extLst>
          </p:cNvPr>
          <p:cNvSpPr>
            <a:spLocks xmlns:a="http://schemas.openxmlformats.org/drawingml/2006/main" noGrp="1"/>
          </p:cNvSpPr>
          <p:nvPr/>
        </p:nvSpPr>
        <p:spPr>
          <a:xfrm xmlns:a="http://schemas.openxmlformats.org/drawingml/2006/main">
            <a:off x="9429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GEN 1</a:t>
            </a:r>
          </a:p>
        </p:txBody>
      </p:sp>
      <p:sp>
        <p:nvSpPr>
          <p:cNvPr id="9" name="">
            <a:extLst xmlns:a="http://schemas.openxmlformats.org/drawingml/2006/main">
              <a:ext uri="{FF2B5EF4-FFF2-40B4-BE49-F238E27FC236}">
                <a16:creationId xmlns:a16="http://schemas.microsoft.com/office/drawing/2014/main" id="{080F3ED2-5B8F-43CC-A4AD-5E3973502950}"/>
              </a:ext>
            </a:extLst>
          </p:cNvPr>
          <p:cNvSpPr>
            <a:spLocks xmlns:a="http://schemas.openxmlformats.org/drawingml/2006/main" noGrp="1"/>
          </p:cNvSpPr>
          <p:nvPr/>
        </p:nvSpPr>
        <p:spPr>
          <a:xfrm xmlns:a="http://schemas.openxmlformats.org/drawingml/2006/main">
            <a:off x="8763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Signatures</a:t>
            </a:r>
          </a:p>
        </p:txBody>
      </p:sp>
      <p:sp>
        <p:nvSpPr>
          <p:cNvPr id="10" name="">
            <a:extLst xmlns:a="http://schemas.openxmlformats.org/drawingml/2006/main">
              <a:ext uri="{FF2B5EF4-FFF2-40B4-BE49-F238E27FC236}">
                <a16:creationId xmlns:a16="http://schemas.microsoft.com/office/drawing/2014/main" id="{E8D3DE03-13F4-4332-B2E3-D7710D239EED}"/>
              </a:ext>
            </a:extLst>
          </p:cNvPr>
          <p:cNvSpPr>
            <a:spLocks xmlns:a="http://schemas.openxmlformats.org/drawingml/2006/main" noGrp="1"/>
          </p:cNvSpPr>
          <p:nvPr/>
        </p:nvSpPr>
        <p:spPr>
          <a:xfrm xmlns:a="http://schemas.openxmlformats.org/drawingml/2006/main">
            <a:off x="895350" y="2876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397CD49-B63A-40F8-B681-2C72B9DC1FA9}"/>
              </a:ext>
            </a:extLst>
          </p:cNvPr>
          <p:cNvSpPr>
            <a:spLocks xmlns:a="http://schemas.openxmlformats.org/drawingml/2006/main" noGrp="1"/>
          </p:cNvSpPr>
          <p:nvPr/>
        </p:nvSpPr>
        <p:spPr>
          <a:xfrm xmlns:a="http://schemas.openxmlformats.org/drawingml/2006/main">
            <a:off x="11430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packages</a:t>
            </a:r>
          </a:p>
        </p:txBody>
      </p:sp>
      <p:sp>
        <p:nvSpPr>
          <p:cNvPr id="12" name="">
            <a:extLst xmlns:a="http://schemas.openxmlformats.org/drawingml/2006/main">
              <a:ext uri="{FF2B5EF4-FFF2-40B4-BE49-F238E27FC236}">
                <a16:creationId xmlns:a16="http://schemas.microsoft.com/office/drawing/2014/main" id="{964DE369-772D-4C91-870E-7276D6D917B2}"/>
              </a:ext>
            </a:extLst>
          </p:cNvPr>
          <p:cNvSpPr>
            <a:spLocks xmlns:a="http://schemas.openxmlformats.org/drawingml/2006/main" noGrp="1"/>
          </p:cNvSpPr>
          <p:nvPr/>
        </p:nvSpPr>
        <p:spPr>
          <a:xfrm xmlns:a="http://schemas.openxmlformats.org/drawingml/2006/main">
            <a:off x="895350" y="327660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956AE24-B248-4185-8C4F-3C94408974C1}"/>
              </a:ext>
            </a:extLst>
          </p:cNvPr>
          <p:cNvSpPr>
            <a:spLocks xmlns:a="http://schemas.openxmlformats.org/drawingml/2006/main" noGrp="1"/>
          </p:cNvSpPr>
          <p:nvPr/>
        </p:nvSpPr>
        <p:spPr>
          <a:xfrm xmlns:a="http://schemas.openxmlformats.org/drawingml/2006/main">
            <a:off x="11430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class hashes</a:t>
            </a:r>
          </a:p>
        </p:txBody>
      </p:sp>
      <p:sp>
        <p:nvSpPr>
          <p:cNvPr id="14" name="">
            <a:extLst xmlns:a="http://schemas.openxmlformats.org/drawingml/2006/main">
              <a:ext uri="{FF2B5EF4-FFF2-40B4-BE49-F238E27FC236}">
                <a16:creationId xmlns:a16="http://schemas.microsoft.com/office/drawing/2014/main" id="{3B7B6D58-8EFF-49AF-949A-84098086FD58}"/>
              </a:ext>
            </a:extLst>
          </p:cNvPr>
          <p:cNvSpPr>
            <a:spLocks xmlns:a="http://schemas.openxmlformats.org/drawingml/2006/main" noGrp="1"/>
          </p:cNvSpPr>
          <p:nvPr/>
        </p:nvSpPr>
        <p:spPr>
          <a:xfrm xmlns:a="http://schemas.openxmlformats.org/drawingml/2006/main">
            <a:off x="895350" y="3676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0B4373-23B7-430E-84FA-F34236EDE4FF}"/>
              </a:ext>
            </a:extLst>
          </p:cNvPr>
          <p:cNvSpPr>
            <a:spLocks xmlns:a="http://schemas.openxmlformats.org/drawingml/2006/main" noGrp="1"/>
          </p:cNvSpPr>
          <p:nvPr/>
        </p:nvSpPr>
        <p:spPr>
          <a:xfrm xmlns:a="http://schemas.openxmlformats.org/drawingml/2006/main">
            <a:off x="11430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profiles</a:t>
            </a:r>
          </a:p>
        </p:txBody>
      </p:sp>
      <p:sp>
        <p:nvSpPr>
          <p:cNvPr id="16" name="rule">
            <a:extLst xmlns:a="http://schemas.openxmlformats.org/drawingml/2006/main">
              <a:ext uri="{FF2B5EF4-FFF2-40B4-BE49-F238E27FC236}">
                <a16:creationId xmlns:a16="http://schemas.microsoft.com/office/drawing/2014/main" id="{813A2C2E-D04D-40AC-9320-703A4A2DA14E}"/>
              </a:ext>
            </a:extLst>
          </p:cNvPr>
          <p:cNvSpPr>
            <a:spLocks xmlns:a="http://schemas.openxmlformats.org/drawingml/2006/main" noGrp="1"/>
          </p:cNvSpPr>
          <p:nvPr/>
        </p:nvSpPr>
        <p:spPr>
          <a:xfrm xmlns:a="http://schemas.openxmlformats.org/drawingml/2006/main">
            <a:off x="8763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DFD2890-F1C4-4359-A04C-B0D20D098B6D}"/>
              </a:ext>
            </a:extLst>
          </p:cNvPr>
          <p:cNvSpPr>
            <a:spLocks xmlns:a="http://schemas.openxmlformats.org/drawingml/2006/main" noGrp="1"/>
          </p:cNvSpPr>
          <p:nvPr/>
        </p:nvSpPr>
        <p:spPr>
          <a:xfrm xmlns:a="http://schemas.openxmlformats.org/drawingml/2006/main">
            <a:off x="8763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LibScout  LibRadar</a:t>
            </a:r>
          </a:p>
        </p:txBody>
      </p:sp>
      <p:sp>
        <p:nvSpPr>
          <p:cNvPr id="18" name="">
            <a:extLst xmlns:a="http://schemas.openxmlformats.org/drawingml/2006/main">
              <a:ext uri="{FF2B5EF4-FFF2-40B4-BE49-F238E27FC236}">
                <a16:creationId xmlns:a16="http://schemas.microsoft.com/office/drawing/2014/main" id="{67B8F08F-1703-48C4-97C6-E2495D6A0EB2}"/>
              </a:ext>
            </a:extLst>
          </p:cNvPr>
          <p:cNvSpPr>
            <a:spLocks xmlns:a="http://schemas.openxmlformats.org/drawingml/2006/main" noGrp="1"/>
          </p:cNvSpPr>
          <p:nvPr/>
        </p:nvSpPr>
        <p:spPr>
          <a:xfrm xmlns:a="http://schemas.openxmlformats.org/drawingml/2006/main">
            <a:off x="38481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2470F062-44E1-44CC-AC4C-D1B75391BC44}"/>
              </a:ext>
            </a:extLst>
          </p:cNvPr>
          <p:cNvSpPr>
            <a:spLocks xmlns:a="http://schemas.openxmlformats.org/drawingml/2006/main" noGrp="1"/>
          </p:cNvSpPr>
          <p:nvPr/>
        </p:nvSpPr>
        <p:spPr>
          <a:xfrm xmlns:a="http://schemas.openxmlformats.org/drawingml/2006/main">
            <a:off x="40386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0" name="">
            <a:extLst xmlns:a="http://schemas.openxmlformats.org/drawingml/2006/main">
              <a:ext uri="{FF2B5EF4-FFF2-40B4-BE49-F238E27FC236}">
                <a16:creationId xmlns:a16="http://schemas.microsoft.com/office/drawing/2014/main" id="{8C72AD25-A9F3-4754-B2F7-5EFEBAAB5F94}"/>
              </a:ext>
            </a:extLst>
          </p:cNvPr>
          <p:cNvSpPr>
            <a:spLocks xmlns:a="http://schemas.openxmlformats.org/drawingml/2006/main" noGrp="1"/>
          </p:cNvSpPr>
          <p:nvPr/>
        </p:nvSpPr>
        <p:spPr>
          <a:xfrm xmlns:a="http://schemas.openxmlformats.org/drawingml/2006/main">
            <a:off x="41052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GEN 2</a:t>
            </a:r>
          </a:p>
        </p:txBody>
      </p:sp>
      <p:sp>
        <p:nvSpPr>
          <p:cNvPr id="21" name="">
            <a:extLst xmlns:a="http://schemas.openxmlformats.org/drawingml/2006/main">
              <a:ext uri="{FF2B5EF4-FFF2-40B4-BE49-F238E27FC236}">
                <a16:creationId xmlns:a16="http://schemas.microsoft.com/office/drawing/2014/main" id="{62F6619E-E4F0-46CB-AFFA-95BAD4A822B5}"/>
              </a:ext>
            </a:extLst>
          </p:cNvPr>
          <p:cNvSpPr>
            <a:spLocks xmlns:a="http://schemas.openxmlformats.org/drawingml/2006/main" noGrp="1"/>
          </p:cNvSpPr>
          <p:nvPr/>
        </p:nvSpPr>
        <p:spPr>
          <a:xfrm xmlns:a="http://schemas.openxmlformats.org/drawingml/2006/main">
            <a:off x="40386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Structure</a:t>
            </a:r>
          </a:p>
        </p:txBody>
      </p:sp>
      <p:sp>
        <p:nvSpPr>
          <p:cNvPr id="22" name="">
            <a:extLst xmlns:a="http://schemas.openxmlformats.org/drawingml/2006/main">
              <a:ext uri="{FF2B5EF4-FFF2-40B4-BE49-F238E27FC236}">
                <a16:creationId xmlns:a16="http://schemas.microsoft.com/office/drawing/2014/main" id="{54066577-B35C-4B8E-AE42-2E850763D46A}"/>
              </a:ext>
            </a:extLst>
          </p:cNvPr>
          <p:cNvSpPr>
            <a:spLocks xmlns:a="http://schemas.openxmlformats.org/drawingml/2006/main" noGrp="1"/>
          </p:cNvSpPr>
          <p:nvPr/>
        </p:nvSpPr>
        <p:spPr>
          <a:xfrm xmlns:a="http://schemas.openxmlformats.org/drawingml/2006/main">
            <a:off x="4057650" y="28765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D6B69C1-D8D1-4B84-AABF-85099703DB27}"/>
              </a:ext>
            </a:extLst>
          </p:cNvPr>
          <p:cNvSpPr>
            <a:spLocks xmlns:a="http://schemas.openxmlformats.org/drawingml/2006/main" noGrp="1"/>
          </p:cNvSpPr>
          <p:nvPr/>
        </p:nvSpPr>
        <p:spPr>
          <a:xfrm xmlns:a="http://schemas.openxmlformats.org/drawingml/2006/main">
            <a:off x="43053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graphs</a:t>
            </a:r>
          </a:p>
        </p:txBody>
      </p:sp>
      <p:sp>
        <p:nvSpPr>
          <p:cNvPr id="24" name="">
            <a:extLst xmlns:a="http://schemas.openxmlformats.org/drawingml/2006/main">
              <a:ext uri="{FF2B5EF4-FFF2-40B4-BE49-F238E27FC236}">
                <a16:creationId xmlns:a16="http://schemas.microsoft.com/office/drawing/2014/main" id="{AE51B576-1DC9-4763-A0F1-BCEFD8A0D51F}"/>
              </a:ext>
            </a:extLst>
          </p:cNvPr>
          <p:cNvSpPr>
            <a:spLocks xmlns:a="http://schemas.openxmlformats.org/drawingml/2006/main" noGrp="1"/>
          </p:cNvSpPr>
          <p:nvPr/>
        </p:nvSpPr>
        <p:spPr>
          <a:xfrm xmlns:a="http://schemas.openxmlformats.org/drawingml/2006/main">
            <a:off x="4057650" y="327660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E43A93A-99EB-48F4-B059-471533D3826E}"/>
              </a:ext>
            </a:extLst>
          </p:cNvPr>
          <p:cNvSpPr>
            <a:spLocks xmlns:a="http://schemas.openxmlformats.org/drawingml/2006/main" noGrp="1"/>
          </p:cNvSpPr>
          <p:nvPr/>
        </p:nvSpPr>
        <p:spPr>
          <a:xfrm xmlns:a="http://schemas.openxmlformats.org/drawingml/2006/main">
            <a:off x="43053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opcodes</a:t>
            </a:r>
          </a:p>
        </p:txBody>
      </p:sp>
      <p:sp>
        <p:nvSpPr>
          <p:cNvPr id="26" name="">
            <a:extLst xmlns:a="http://schemas.openxmlformats.org/drawingml/2006/main">
              <a:ext uri="{FF2B5EF4-FFF2-40B4-BE49-F238E27FC236}">
                <a16:creationId xmlns:a16="http://schemas.microsoft.com/office/drawing/2014/main" id="{90458220-BB32-43F1-9D8F-F82F9B285D4F}"/>
              </a:ext>
            </a:extLst>
          </p:cNvPr>
          <p:cNvSpPr>
            <a:spLocks xmlns:a="http://schemas.openxmlformats.org/drawingml/2006/main" noGrp="1"/>
          </p:cNvSpPr>
          <p:nvPr/>
        </p:nvSpPr>
        <p:spPr>
          <a:xfrm xmlns:a="http://schemas.openxmlformats.org/drawingml/2006/main">
            <a:off x="405765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2B56D6B-67AC-48D7-A212-99BDEF22C94E}"/>
              </a:ext>
            </a:extLst>
          </p:cNvPr>
          <p:cNvSpPr>
            <a:spLocks xmlns:a="http://schemas.openxmlformats.org/drawingml/2006/main" noGrp="1"/>
          </p:cNvSpPr>
          <p:nvPr/>
        </p:nvSpPr>
        <p:spPr>
          <a:xfrm xmlns:a="http://schemas.openxmlformats.org/drawingml/2006/main">
            <a:off x="43053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fuzzy similarity</a:t>
            </a:r>
          </a:p>
        </p:txBody>
      </p:sp>
      <p:sp>
        <p:nvSpPr>
          <p:cNvPr id="28" name="rule">
            <a:extLst xmlns:a="http://schemas.openxmlformats.org/drawingml/2006/main">
              <a:ext uri="{FF2B5EF4-FFF2-40B4-BE49-F238E27FC236}">
                <a16:creationId xmlns:a16="http://schemas.microsoft.com/office/drawing/2014/main" id="{A6FDE01E-F764-4118-91CB-8305A58F0698}"/>
              </a:ext>
            </a:extLst>
          </p:cNvPr>
          <p:cNvSpPr>
            <a:spLocks xmlns:a="http://schemas.openxmlformats.org/drawingml/2006/main" noGrp="1"/>
          </p:cNvSpPr>
          <p:nvPr/>
        </p:nvSpPr>
        <p:spPr>
          <a:xfrm xmlns:a="http://schemas.openxmlformats.org/drawingml/2006/main">
            <a:off x="40386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E5A2DD4-5E0A-441E-854B-129BFB0F260D}"/>
              </a:ext>
            </a:extLst>
          </p:cNvPr>
          <p:cNvSpPr>
            <a:spLocks xmlns:a="http://schemas.openxmlformats.org/drawingml/2006/main" noGrp="1"/>
          </p:cNvSpPr>
          <p:nvPr/>
        </p:nvSpPr>
        <p:spPr>
          <a:xfrm xmlns:a="http://schemas.openxmlformats.org/drawingml/2006/main">
            <a:off x="40386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LibPecker  SAD  ATVHunter</a:t>
            </a:r>
          </a:p>
        </p:txBody>
      </p:sp>
      <p:sp>
        <p:nvSpPr>
          <p:cNvPr id="30" name="">
            <a:extLst xmlns:a="http://schemas.openxmlformats.org/drawingml/2006/main">
              <a:ext uri="{FF2B5EF4-FFF2-40B4-BE49-F238E27FC236}">
                <a16:creationId xmlns:a16="http://schemas.microsoft.com/office/drawing/2014/main" id="{0BA80068-62CE-4269-A52A-98C4D4094E69}"/>
              </a:ext>
            </a:extLst>
          </p:cNvPr>
          <p:cNvSpPr>
            <a:spLocks xmlns:a="http://schemas.openxmlformats.org/drawingml/2006/main" noGrp="1"/>
          </p:cNvSpPr>
          <p:nvPr/>
        </p:nvSpPr>
        <p:spPr>
          <a:xfrm xmlns:a="http://schemas.openxmlformats.org/drawingml/2006/main">
            <a:off x="70104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0C7FF1A8-7253-49F2-AD98-C1901C640F0C}"/>
              </a:ext>
            </a:extLst>
          </p:cNvPr>
          <p:cNvSpPr>
            <a:spLocks xmlns:a="http://schemas.openxmlformats.org/drawingml/2006/main" noGrp="1"/>
          </p:cNvSpPr>
          <p:nvPr/>
        </p:nvSpPr>
        <p:spPr>
          <a:xfrm xmlns:a="http://schemas.openxmlformats.org/drawingml/2006/main">
            <a:off x="72009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2" name="">
            <a:extLst xmlns:a="http://schemas.openxmlformats.org/drawingml/2006/main">
              <a:ext uri="{FF2B5EF4-FFF2-40B4-BE49-F238E27FC236}">
                <a16:creationId xmlns:a16="http://schemas.microsoft.com/office/drawing/2014/main" id="{C62E35A1-9CC7-44C5-8881-4E3BD8EABA0B}"/>
              </a:ext>
            </a:extLst>
          </p:cNvPr>
          <p:cNvSpPr>
            <a:spLocks xmlns:a="http://schemas.openxmlformats.org/drawingml/2006/main" noGrp="1"/>
          </p:cNvSpPr>
          <p:nvPr/>
        </p:nvSpPr>
        <p:spPr>
          <a:xfrm xmlns:a="http://schemas.openxmlformats.org/drawingml/2006/main">
            <a:off x="72675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GEN 3</a:t>
            </a:r>
          </a:p>
        </p:txBody>
      </p:sp>
      <p:sp>
        <p:nvSpPr>
          <p:cNvPr id="33" name="">
            <a:extLst xmlns:a="http://schemas.openxmlformats.org/drawingml/2006/main">
              <a:ext uri="{FF2B5EF4-FFF2-40B4-BE49-F238E27FC236}">
                <a16:creationId xmlns:a16="http://schemas.microsoft.com/office/drawing/2014/main" id="{00AF3391-6651-4D7D-8551-EC7413F004B9}"/>
              </a:ext>
            </a:extLst>
          </p:cNvPr>
          <p:cNvSpPr>
            <a:spLocks xmlns:a="http://schemas.openxmlformats.org/drawingml/2006/main" noGrp="1"/>
          </p:cNvSpPr>
          <p:nvPr/>
        </p:nvSpPr>
        <p:spPr>
          <a:xfrm xmlns:a="http://schemas.openxmlformats.org/drawingml/2006/main">
            <a:off x="72009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Learned models</a:t>
            </a:r>
          </a:p>
        </p:txBody>
      </p:sp>
      <p:sp>
        <p:nvSpPr>
          <p:cNvPr id="34" name="">
            <a:extLst xmlns:a="http://schemas.openxmlformats.org/drawingml/2006/main">
              <a:ext uri="{FF2B5EF4-FFF2-40B4-BE49-F238E27FC236}">
                <a16:creationId xmlns:a16="http://schemas.microsoft.com/office/drawing/2014/main" id="{2A6A6814-499F-4547-9366-F260CD713F05}"/>
              </a:ext>
            </a:extLst>
          </p:cNvPr>
          <p:cNvSpPr>
            <a:spLocks xmlns:a="http://schemas.openxmlformats.org/drawingml/2006/main" noGrp="1"/>
          </p:cNvSpPr>
          <p:nvPr/>
        </p:nvSpPr>
        <p:spPr>
          <a:xfrm xmlns:a="http://schemas.openxmlformats.org/drawingml/2006/main">
            <a:off x="7219950" y="28765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A57AD20-5DDC-46BF-87DB-4A8B9DAF97C7}"/>
              </a:ext>
            </a:extLst>
          </p:cNvPr>
          <p:cNvSpPr>
            <a:spLocks xmlns:a="http://schemas.openxmlformats.org/drawingml/2006/main" noGrp="1"/>
          </p:cNvSpPr>
          <p:nvPr/>
        </p:nvSpPr>
        <p:spPr>
          <a:xfrm xmlns:a="http://schemas.openxmlformats.org/drawingml/2006/main">
            <a:off x="74676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token models</a:t>
            </a:r>
          </a:p>
        </p:txBody>
      </p:sp>
      <p:sp>
        <p:nvSpPr>
          <p:cNvPr id="36" name="">
            <a:extLst xmlns:a="http://schemas.openxmlformats.org/drawingml/2006/main">
              <a:ext uri="{FF2B5EF4-FFF2-40B4-BE49-F238E27FC236}">
                <a16:creationId xmlns:a16="http://schemas.microsoft.com/office/drawing/2014/main" id="{775353F5-97E6-4A82-8956-16A176A35ABE}"/>
              </a:ext>
            </a:extLst>
          </p:cNvPr>
          <p:cNvSpPr>
            <a:spLocks xmlns:a="http://schemas.openxmlformats.org/drawingml/2006/main" noGrp="1"/>
          </p:cNvSpPr>
          <p:nvPr/>
        </p:nvSpPr>
        <p:spPr>
          <a:xfrm xmlns:a="http://schemas.openxmlformats.org/drawingml/2006/main">
            <a:off x="721995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8FFBC0B-7F5A-4B4C-A303-5A31076007D4}"/>
              </a:ext>
            </a:extLst>
          </p:cNvPr>
          <p:cNvSpPr>
            <a:spLocks xmlns:a="http://schemas.openxmlformats.org/drawingml/2006/main" noGrp="1"/>
          </p:cNvSpPr>
          <p:nvPr/>
        </p:nvSpPr>
        <p:spPr>
          <a:xfrm xmlns:a="http://schemas.openxmlformats.org/drawingml/2006/main">
            <a:off x="74676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R8 resilience</a:t>
            </a:r>
          </a:p>
        </p:txBody>
      </p:sp>
      <p:sp>
        <p:nvSpPr>
          <p:cNvPr id="38" name="">
            <a:extLst xmlns:a="http://schemas.openxmlformats.org/drawingml/2006/main">
              <a:ext uri="{FF2B5EF4-FFF2-40B4-BE49-F238E27FC236}">
                <a16:creationId xmlns:a16="http://schemas.microsoft.com/office/drawing/2014/main" id="{7D339709-E6C8-4C68-973D-A0BDDB2D1C3C}"/>
              </a:ext>
            </a:extLst>
          </p:cNvPr>
          <p:cNvSpPr>
            <a:spLocks xmlns:a="http://schemas.openxmlformats.org/drawingml/2006/main" noGrp="1"/>
          </p:cNvSpPr>
          <p:nvPr/>
        </p:nvSpPr>
        <p:spPr>
          <a:xfrm xmlns:a="http://schemas.openxmlformats.org/drawingml/2006/main">
            <a:off x="7219950" y="3676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DACB987-BEA8-4030-B57E-B9BC292FC954}"/>
              </a:ext>
            </a:extLst>
          </p:cNvPr>
          <p:cNvSpPr>
            <a:spLocks xmlns:a="http://schemas.openxmlformats.org/drawingml/2006/main" noGrp="1"/>
          </p:cNvSpPr>
          <p:nvPr/>
        </p:nvSpPr>
        <p:spPr>
          <a:xfrm xmlns:a="http://schemas.openxmlformats.org/drawingml/2006/main">
            <a:off x="74676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risk classification</a:t>
            </a:r>
          </a:p>
        </p:txBody>
      </p:sp>
      <p:sp>
        <p:nvSpPr>
          <p:cNvPr id="40" name="rule">
            <a:extLst xmlns:a="http://schemas.openxmlformats.org/drawingml/2006/main">
              <a:ext uri="{FF2B5EF4-FFF2-40B4-BE49-F238E27FC236}">
                <a16:creationId xmlns:a16="http://schemas.microsoft.com/office/drawing/2014/main" id="{41621A4F-8BB6-4049-BC59-D73794C49119}"/>
              </a:ext>
            </a:extLst>
          </p:cNvPr>
          <p:cNvSpPr>
            <a:spLocks xmlns:a="http://schemas.openxmlformats.org/drawingml/2006/main" noGrp="1"/>
          </p:cNvSpPr>
          <p:nvPr/>
        </p:nvSpPr>
        <p:spPr>
          <a:xfrm xmlns:a="http://schemas.openxmlformats.org/drawingml/2006/main">
            <a:off x="72009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3031F22-C2FF-45B4-82FF-C8185FDCA1CA}"/>
              </a:ext>
            </a:extLst>
          </p:cNvPr>
          <p:cNvSpPr>
            <a:spLocks xmlns:a="http://schemas.openxmlformats.org/drawingml/2006/main" noGrp="1"/>
          </p:cNvSpPr>
          <p:nvPr/>
        </p:nvSpPr>
        <p:spPr>
          <a:xfrm xmlns:a="http://schemas.openxmlformats.org/drawingml/2006/main">
            <a:off x="72009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LibAttention  ObfDetector</a:t>
            </a:r>
          </a:p>
        </p:txBody>
      </p:sp>
      <p:sp>
        <p:nvSpPr>
          <p:cNvPr id="42" name="">
            <a:extLst xmlns:a="http://schemas.openxmlformats.org/drawingml/2006/main">
              <a:ext uri="{FF2B5EF4-FFF2-40B4-BE49-F238E27FC236}">
                <a16:creationId xmlns:a16="http://schemas.microsoft.com/office/drawing/2014/main" id="{6C3CB2BD-0555-43B4-B97F-AE65404C58FE}"/>
              </a:ext>
            </a:extLst>
          </p:cNvPr>
          <p:cNvSpPr>
            <a:spLocks xmlns:a="http://schemas.openxmlformats.org/drawingml/2006/main" noGrp="1"/>
          </p:cNvSpPr>
          <p:nvPr/>
        </p:nvSpPr>
        <p:spPr>
          <a:xfrm xmlns:a="http://schemas.openxmlformats.org/drawingml/2006/main">
            <a:off x="10058400" y="1657350"/>
            <a:ext cx="14668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98AF70C8-0845-4506-8859-91B2D0CCC9A7}"/>
              </a:ext>
            </a:extLst>
          </p:cNvPr>
          <p:cNvSpPr>
            <a:spLocks xmlns:a="http://schemas.openxmlformats.org/drawingml/2006/main" noGrp="1"/>
          </p:cNvSpPr>
          <p:nvPr/>
        </p:nvSpPr>
        <p:spPr>
          <a:xfrm xmlns:a="http://schemas.openxmlformats.org/drawingml/2006/main">
            <a:off x="10287000" y="18669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GAP</a:t>
            </a:r>
          </a:p>
        </p:txBody>
      </p:sp>
      <p:sp>
        <p:nvSpPr>
          <p:cNvPr id="44" name="">
            <a:extLst xmlns:a="http://schemas.openxmlformats.org/drawingml/2006/main">
              <a:ext uri="{FF2B5EF4-FFF2-40B4-BE49-F238E27FC236}">
                <a16:creationId xmlns:a16="http://schemas.microsoft.com/office/drawing/2014/main" id="{C65560C8-26AB-4EFA-8779-5CE356E24817}"/>
              </a:ext>
            </a:extLst>
          </p:cNvPr>
          <p:cNvSpPr>
            <a:spLocks xmlns:a="http://schemas.openxmlformats.org/drawingml/2006/main" noGrp="1"/>
          </p:cNvSpPr>
          <p:nvPr/>
        </p:nvSpPr>
        <p:spPr>
          <a:xfrm xmlns:a="http://schemas.openxmlformats.org/drawingml/2006/main">
            <a:off x="10248900" y="2362200"/>
            <a:ext cx="1085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Exact</a:t>
            </a:r>
          </a:p>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versions</a:t>
            </a:r>
          </a:p>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under R8</a:t>
            </a:r>
          </a:p>
        </p:txBody>
      </p:sp>
      <p:sp>
        <p:nvSpPr>
          <p:cNvPr id="45" name="">
            <a:extLst xmlns:a="http://schemas.openxmlformats.org/drawingml/2006/main">
              <a:ext uri="{FF2B5EF4-FFF2-40B4-BE49-F238E27FC236}">
                <a16:creationId xmlns:a16="http://schemas.microsoft.com/office/drawing/2014/main" id="{831EA070-3F2A-4493-A562-F2A03231E5B2}"/>
              </a:ext>
            </a:extLst>
          </p:cNvPr>
          <p:cNvSpPr>
            <a:spLocks xmlns:a="http://schemas.openxmlformats.org/drawingml/2006/main" noGrp="1"/>
          </p:cNvSpPr>
          <p:nvPr/>
        </p:nvSpPr>
        <p:spPr>
          <a:xfrm xmlns:a="http://schemas.openxmlformats.org/drawingml/2006/main">
            <a:off x="10287000" y="35052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5717A"/>
                </a:solidFill>
                <a:latin typeface="Aptos"/>
                <a:ea typeface="Aptos"/>
                <a:cs typeface="Aptos"/>
              </a:defRPr>
            </a:pPr>
            <a:r>
              <a:rPr sz="1050" b="0">
                <a:solidFill>
                  <a:srgbClr val="65717A"/>
                </a:solidFill>
                <a:latin typeface="Aptos"/>
                <a:ea typeface="Aptos"/>
                <a:cs typeface="Aptos"/>
              </a:rPr>
              <a:t>+ standard</a:t>
            </a:r>
          </a:p>
          <a:p xmlns:a="http://schemas.openxmlformats.org/drawingml/2006/main">
            <a:pPr algn="ctr">
              <a:defRPr sz="1050" b="0">
                <a:solidFill>
                  <a:srgbClr val="65717A"/>
                </a:solidFill>
                <a:latin typeface="Aptos"/>
                <a:ea typeface="Aptos"/>
                <a:cs typeface="Aptos"/>
              </a:defRPr>
            </a:pPr>
            <a:r>
              <a:rPr sz="1050" b="0">
                <a:solidFill>
                  <a:srgbClr val="65717A"/>
                </a:solidFill>
                <a:latin typeface="Aptos"/>
                <a:ea typeface="Aptos"/>
                <a:cs typeface="Aptos"/>
              </a:rPr>
              <a:t>SBOM output</a:t>
            </a:r>
          </a:p>
        </p:txBody>
      </p:sp>
      <p:sp>
        <p:nvSpPr>
          <p:cNvPr id="46" name="">
            <a:extLst xmlns:a="http://schemas.openxmlformats.org/drawingml/2006/main">
              <a:ext uri="{FF2B5EF4-FFF2-40B4-BE49-F238E27FC236}">
                <a16:creationId xmlns:a16="http://schemas.microsoft.com/office/drawing/2014/main" id="{EFDEDAA4-2566-49F6-8CAC-0E05BB7BED25}"/>
              </a:ext>
            </a:extLst>
          </p:cNvPr>
          <p:cNvSpPr>
            <a:spLocks xmlns:a="http://schemas.openxmlformats.org/drawingml/2006/main" noGrp="1"/>
          </p:cNvSpPr>
          <p:nvPr/>
        </p:nvSpPr>
        <p:spPr>
          <a:xfrm xmlns:a="http://schemas.openxmlformats.org/drawingml/2006/main">
            <a:off x="685800" y="4857750"/>
            <a:ext cx="10839450" cy="8191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A7CD717-F603-47E0-ACCA-CEF075EB327F}"/>
              </a:ext>
            </a:extLst>
          </p:cNvPr>
          <p:cNvSpPr>
            <a:spLocks xmlns:a="http://schemas.openxmlformats.org/drawingml/2006/main" noGrp="1"/>
          </p:cNvSpPr>
          <p:nvPr/>
        </p:nvSpPr>
        <p:spPr>
          <a:xfrm xmlns:a="http://schemas.openxmlformats.org/drawingml/2006/main">
            <a:off x="914400" y="5067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Project response</a:t>
            </a:r>
          </a:p>
        </p:txBody>
      </p:sp>
      <p:sp>
        <p:nvSpPr>
          <p:cNvPr id="48" name="">
            <a:extLst xmlns:a="http://schemas.openxmlformats.org/drawingml/2006/main">
              <a:ext uri="{FF2B5EF4-FFF2-40B4-BE49-F238E27FC236}">
                <a16:creationId xmlns:a16="http://schemas.microsoft.com/office/drawing/2014/main" id="{FBB0D66A-9B29-473A-AFBF-EF1C73DBE378}"/>
              </a:ext>
            </a:extLst>
          </p:cNvPr>
          <p:cNvSpPr>
            <a:spLocks xmlns:a="http://schemas.openxmlformats.org/drawingml/2006/main" noGrp="1"/>
          </p:cNvSpPr>
          <p:nvPr/>
        </p:nvSpPr>
        <p:spPr>
          <a:xfrm xmlns:a="http://schemas.openxmlformats.org/drawingml/2006/main">
            <a:off x="2781300" y="5048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multi-scale evidence  +  separate identity/version confidence  +  CycloneDX  +  transparent limits</a:t>
            </a:r>
          </a:p>
        </p:txBody>
      </p:sp>
      <p:sp>
        <p:nvSpPr>
          <p:cNvPr id="49" name="">
            <a:extLst xmlns:a="http://schemas.openxmlformats.org/drawingml/2006/main">
              <a:ext uri="{FF2B5EF4-FFF2-40B4-BE49-F238E27FC236}">
                <a16:creationId xmlns:a16="http://schemas.microsoft.com/office/drawing/2014/main" id="{80FF4F23-8699-4034-86CB-51003F8FFF2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65691737"/>
      </p:ext>
    </p:extLst>
  </p:cSld>
</p:sld>
</file>

<file path=ppt/slides/slide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8D1480-9EC3-4A7B-ABB7-AA95D1D4DCE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PROJECT OBJECTIVE</a:t>
            </a:r>
          </a:p>
        </p:txBody>
      </p:sp>
      <p:sp>
        <p:nvSpPr>
          <p:cNvPr id="2" name="">
            <a:extLst xmlns:a="http://schemas.openxmlformats.org/drawingml/2006/main">
              <a:ext uri="{FF2B5EF4-FFF2-40B4-BE49-F238E27FC236}">
                <a16:creationId xmlns:a16="http://schemas.microsoft.com/office/drawing/2014/main" id="{333F00CB-1F26-49B5-904A-70E108FAF3D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objective is a useful security artifact, not forced certainty</a:t>
            </a:r>
          </a:p>
        </p:txBody>
      </p:sp>
      <p:sp>
        <p:nvSpPr>
          <p:cNvPr id="3" name="">
            <a:extLst xmlns:a="http://schemas.openxmlformats.org/drawingml/2006/main">
              <a:ext uri="{FF2B5EF4-FFF2-40B4-BE49-F238E27FC236}">
                <a16:creationId xmlns:a16="http://schemas.microsoft.com/office/drawing/2014/main" id="{7EACDF5E-0365-4875-8389-897D07EDF96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47DD60D6-E997-43FF-B3BC-8DA7C3E95629}"/>
              </a:ext>
            </a:extLst>
          </p:cNvPr>
          <p:cNvSpPr>
            <a:spLocks xmlns:a="http://schemas.openxmlformats.org/drawingml/2006/main" noGrp="1"/>
          </p:cNvSpPr>
          <p:nvPr/>
        </p:nvSpPr>
        <p:spPr>
          <a:xfrm xmlns:a="http://schemas.openxmlformats.org/drawingml/2006/main">
            <a:off x="723900" y="1676400"/>
            <a:ext cx="2247900" cy="3143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9F30882A-F4B2-41F7-825D-A58808F5F9AA}"/>
              </a:ext>
            </a:extLst>
          </p:cNvPr>
          <p:cNvSpPr>
            <a:spLocks xmlns:a="http://schemas.openxmlformats.org/drawingml/2006/main" noGrp="1"/>
          </p:cNvSpPr>
          <p:nvPr/>
        </p:nvSpPr>
        <p:spPr>
          <a:xfrm xmlns:a="http://schemas.openxmlformats.org/drawingml/2006/main">
            <a:off x="933450" y="18859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B0BDADAE-5D1A-48D3-8BC2-82D0700E0728}"/>
              </a:ext>
            </a:extLst>
          </p:cNvPr>
          <p:cNvSpPr>
            <a:spLocks xmlns:a="http://schemas.openxmlformats.org/drawingml/2006/main" noGrp="1"/>
          </p:cNvSpPr>
          <p:nvPr/>
        </p:nvSpPr>
        <p:spPr>
          <a:xfrm xmlns:a="http://schemas.openxmlformats.org/drawingml/2006/main">
            <a:off x="933450" y="23431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APK</a:t>
            </a:r>
          </a:p>
        </p:txBody>
      </p:sp>
      <p:sp>
        <p:nvSpPr>
          <p:cNvPr id="7" name="">
            <a:extLst xmlns:a="http://schemas.openxmlformats.org/drawingml/2006/main">
              <a:ext uri="{FF2B5EF4-FFF2-40B4-BE49-F238E27FC236}">
                <a16:creationId xmlns:a16="http://schemas.microsoft.com/office/drawing/2014/main" id="{03DED3D1-3F75-4032-8D28-2314EC78F7B0}"/>
              </a:ext>
            </a:extLst>
          </p:cNvPr>
          <p:cNvSpPr>
            <a:spLocks xmlns:a="http://schemas.openxmlformats.org/drawingml/2006/main" noGrp="1"/>
          </p:cNvSpPr>
          <p:nvPr/>
        </p:nvSpPr>
        <p:spPr>
          <a:xfrm xmlns:a="http://schemas.openxmlformats.org/drawingml/2006/main">
            <a:off x="933450" y="3143250"/>
            <a:ext cx="9906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32DA06-6985-49EE-AE46-CEE313C07E8E}"/>
              </a:ext>
            </a:extLst>
          </p:cNvPr>
          <p:cNvSpPr>
            <a:spLocks xmlns:a="http://schemas.openxmlformats.org/drawingml/2006/main" noGrp="1"/>
          </p:cNvSpPr>
          <p:nvPr/>
        </p:nvSpPr>
        <p:spPr>
          <a:xfrm xmlns:a="http://schemas.openxmlformats.org/drawingml/2006/main">
            <a:off x="933450" y="3409950"/>
            <a:ext cx="135255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13B5E0-AFFB-458D-B7B5-F35100EA2254}"/>
              </a:ext>
            </a:extLst>
          </p:cNvPr>
          <p:cNvSpPr>
            <a:spLocks xmlns:a="http://schemas.openxmlformats.org/drawingml/2006/main" noGrp="1"/>
          </p:cNvSpPr>
          <p:nvPr/>
        </p:nvSpPr>
        <p:spPr>
          <a:xfrm xmlns:a="http://schemas.openxmlformats.org/drawingml/2006/main">
            <a:off x="933450" y="3676650"/>
            <a:ext cx="781050"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258E38-0322-42CE-B96B-05D2DD956490}"/>
              </a:ext>
            </a:extLst>
          </p:cNvPr>
          <p:cNvSpPr>
            <a:spLocks xmlns:a="http://schemas.openxmlformats.org/drawingml/2006/main" noGrp="1"/>
          </p:cNvSpPr>
          <p:nvPr/>
        </p:nvSpPr>
        <p:spPr>
          <a:xfrm xmlns:a="http://schemas.openxmlformats.org/drawingml/2006/main">
            <a:off x="933450" y="4114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DEX  manifest</a:t>
            </a:r>
          </a:p>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resources  native</a:t>
            </a:r>
          </a:p>
        </p:txBody>
      </p:sp>
      <p:sp>
        <p:nvSpPr>
          <p:cNvPr id="11" name="rule">
            <a:extLst xmlns:a="http://schemas.openxmlformats.org/drawingml/2006/main">
              <a:ext uri="{FF2B5EF4-FFF2-40B4-BE49-F238E27FC236}">
                <a16:creationId xmlns:a16="http://schemas.microsoft.com/office/drawing/2014/main" id="{33D10C3D-0796-41C6-B61C-4DCBB2388D75}"/>
              </a:ext>
            </a:extLst>
          </p:cNvPr>
          <p:cNvSpPr>
            <a:spLocks xmlns:a="http://schemas.openxmlformats.org/drawingml/2006/main" noGrp="1"/>
          </p:cNvSpPr>
          <p:nvPr/>
        </p:nvSpPr>
        <p:spPr>
          <a:xfrm xmlns:a="http://schemas.openxmlformats.org/drawingml/2006/main">
            <a:off x="3086100" y="3228975"/>
            <a:ext cx="12192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097E346-9ED2-42E2-8C9B-6BB2996ED571}"/>
              </a:ext>
            </a:extLst>
          </p:cNvPr>
          <p:cNvSpPr>
            <a:spLocks xmlns:a="http://schemas.openxmlformats.org/drawingml/2006/main" noGrp="1"/>
          </p:cNvSpPr>
          <p:nvPr/>
        </p:nvSpPr>
        <p:spPr>
          <a:xfrm xmlns:a="http://schemas.openxmlformats.org/drawingml/2006/main">
            <a:off x="4229100" y="31432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A0AD04-E6D7-46DC-A94A-BB5992136F15}"/>
              </a:ext>
            </a:extLst>
          </p:cNvPr>
          <p:cNvSpPr>
            <a:spLocks xmlns:a="http://schemas.openxmlformats.org/drawingml/2006/main" noGrp="1"/>
          </p:cNvSpPr>
          <p:nvPr/>
        </p:nvSpPr>
        <p:spPr>
          <a:xfrm xmlns:a="http://schemas.openxmlformats.org/drawingml/2006/main">
            <a:off x="3086100" y="2952750"/>
            <a:ext cx="1371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365F7D"/>
                </a:solidFill>
                <a:latin typeface="Aptos"/>
                <a:ea typeface="Aptos"/>
                <a:cs typeface="Aptos"/>
              </a:defRPr>
            </a:pPr>
            <a:r>
              <a:rPr sz="750" b="1">
                <a:solidFill>
                  <a:srgbClr val="365F7D"/>
                </a:solidFill>
                <a:latin typeface="Aptos"/>
                <a:ea typeface="Aptos"/>
                <a:cs typeface="Aptos"/>
              </a:rPr>
              <a:t>static evidence</a:t>
            </a:r>
          </a:p>
        </p:txBody>
      </p:sp>
      <p:sp>
        <p:nvSpPr>
          <p:cNvPr id="14" name="">
            <a:extLst xmlns:a="http://schemas.openxmlformats.org/drawingml/2006/main">
              <a:ext uri="{FF2B5EF4-FFF2-40B4-BE49-F238E27FC236}">
                <a16:creationId xmlns:a16="http://schemas.microsoft.com/office/drawing/2014/main" id="{A1F6A7AE-7E34-4CE8-9CED-65238DE02B87}"/>
              </a:ext>
            </a:extLst>
          </p:cNvPr>
          <p:cNvSpPr>
            <a:spLocks xmlns:a="http://schemas.openxmlformats.org/drawingml/2006/main" noGrp="1"/>
          </p:cNvSpPr>
          <p:nvPr/>
        </p:nvSpPr>
        <p:spPr>
          <a:xfrm xmlns:a="http://schemas.openxmlformats.org/drawingml/2006/main">
            <a:off x="4572000" y="1676400"/>
            <a:ext cx="28956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5" name="">
            <a:extLst xmlns:a="http://schemas.openxmlformats.org/drawingml/2006/main">
              <a:ext uri="{FF2B5EF4-FFF2-40B4-BE49-F238E27FC236}">
                <a16:creationId xmlns:a16="http://schemas.microsoft.com/office/drawing/2014/main" id="{A7584A02-E3E0-441E-BA9B-3F92F85165D5}"/>
              </a:ext>
            </a:extLst>
          </p:cNvPr>
          <p:cNvSpPr>
            <a:spLocks xmlns:a="http://schemas.openxmlformats.org/drawingml/2006/main" noGrp="1"/>
          </p:cNvSpPr>
          <p:nvPr/>
        </p:nvSpPr>
        <p:spPr>
          <a:xfrm xmlns:a="http://schemas.openxmlformats.org/drawingml/2006/main">
            <a:off x="4819650" y="1885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EVIDENCE ENGINE</a:t>
            </a:r>
          </a:p>
        </p:txBody>
      </p:sp>
      <p:sp>
        <p:nvSpPr>
          <p:cNvPr id="16" name="">
            <a:extLst xmlns:a="http://schemas.openxmlformats.org/drawingml/2006/main">
              <a:ext uri="{FF2B5EF4-FFF2-40B4-BE49-F238E27FC236}">
                <a16:creationId xmlns:a16="http://schemas.microsoft.com/office/drawing/2014/main" id="{A9B87D9C-B1B7-4E01-B475-AA65D2A23EF2}"/>
              </a:ext>
            </a:extLst>
          </p:cNvPr>
          <p:cNvSpPr>
            <a:spLocks xmlns:a="http://schemas.openxmlformats.org/drawingml/2006/main" noGrp="1"/>
          </p:cNvSpPr>
          <p:nvPr/>
        </p:nvSpPr>
        <p:spPr>
          <a:xfrm xmlns:a="http://schemas.openxmlformats.org/drawingml/2006/main">
            <a:off x="4819650" y="23622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2A33"/>
                </a:solidFill>
                <a:latin typeface="Aptos"/>
                <a:ea typeface="Aptos"/>
                <a:cs typeface="Aptos"/>
              </a:defRPr>
            </a:pPr>
            <a:r>
              <a:rPr sz="1650" b="1">
                <a:solidFill>
                  <a:srgbClr val="202A33"/>
                </a:solidFill>
                <a:latin typeface="Aptos"/>
                <a:ea typeface="Aptos"/>
                <a:cs typeface="Aptos"/>
              </a:rPr>
              <a:t>Identity</a:t>
            </a:r>
          </a:p>
        </p:txBody>
      </p:sp>
      <p:sp>
        <p:nvSpPr>
          <p:cNvPr id="17" name="">
            <a:extLst xmlns:a="http://schemas.openxmlformats.org/drawingml/2006/main">
              <a:ext uri="{FF2B5EF4-FFF2-40B4-BE49-F238E27FC236}">
                <a16:creationId xmlns:a16="http://schemas.microsoft.com/office/drawing/2014/main" id="{66FBF85E-8111-41B0-9606-9DCB9ADA991D}"/>
              </a:ext>
            </a:extLst>
          </p:cNvPr>
          <p:cNvSpPr>
            <a:spLocks xmlns:a="http://schemas.openxmlformats.org/drawingml/2006/main" noGrp="1"/>
          </p:cNvSpPr>
          <p:nvPr/>
        </p:nvSpPr>
        <p:spPr>
          <a:xfrm xmlns:a="http://schemas.openxmlformats.org/drawingml/2006/main">
            <a:off x="6076950" y="23622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2A33"/>
                </a:solidFill>
                <a:latin typeface="Aptos"/>
                <a:ea typeface="Aptos"/>
                <a:cs typeface="Aptos"/>
              </a:defRPr>
            </a:pPr>
            <a:r>
              <a:rPr sz="1650" b="1">
                <a:solidFill>
                  <a:srgbClr val="202A33"/>
                </a:solidFill>
                <a:latin typeface="Aptos"/>
                <a:ea typeface="Aptos"/>
                <a:cs typeface="Aptos"/>
              </a:rPr>
              <a:t>Version</a:t>
            </a:r>
          </a:p>
        </p:txBody>
      </p:sp>
      <p:sp>
        <p:nvSpPr>
          <p:cNvPr id="18" name="">
            <a:extLst xmlns:a="http://schemas.openxmlformats.org/drawingml/2006/main">
              <a:ext uri="{FF2B5EF4-FFF2-40B4-BE49-F238E27FC236}">
                <a16:creationId xmlns:a16="http://schemas.microsoft.com/office/drawing/2014/main" id="{4D65F97F-8C79-41E7-974C-64DBEEBAD964}"/>
              </a:ext>
            </a:extLst>
          </p:cNvPr>
          <p:cNvSpPr>
            <a:spLocks xmlns:a="http://schemas.openxmlformats.org/drawingml/2006/main" noGrp="1"/>
          </p:cNvSpPr>
          <p:nvPr/>
        </p:nvSpPr>
        <p:spPr>
          <a:xfrm xmlns:a="http://schemas.openxmlformats.org/drawingml/2006/main">
            <a:off x="4819650" y="29527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class / method</a:t>
            </a:r>
          </a:p>
        </p:txBody>
      </p:sp>
      <p:sp>
        <p:nvSpPr>
          <p:cNvPr id="19" name="">
            <a:extLst xmlns:a="http://schemas.openxmlformats.org/drawingml/2006/main">
              <a:ext uri="{FF2B5EF4-FFF2-40B4-BE49-F238E27FC236}">
                <a16:creationId xmlns:a16="http://schemas.microsoft.com/office/drawing/2014/main" id="{B6FAEBFE-7642-46FF-86D4-DBA5A85CD976}"/>
              </a:ext>
            </a:extLst>
          </p:cNvPr>
          <p:cNvSpPr>
            <a:spLocks xmlns:a="http://schemas.openxmlformats.org/drawingml/2006/main" noGrp="1"/>
          </p:cNvSpPr>
          <p:nvPr/>
        </p:nvSpPr>
        <p:spPr>
          <a:xfrm xmlns:a="http://schemas.openxmlformats.org/drawingml/2006/main">
            <a:off x="6153150" y="29813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471D783-298A-484D-B26E-78A3BDFAC994}"/>
              </a:ext>
            </a:extLst>
          </p:cNvPr>
          <p:cNvSpPr>
            <a:spLocks xmlns:a="http://schemas.openxmlformats.org/drawingml/2006/main" noGrp="1"/>
          </p:cNvSpPr>
          <p:nvPr/>
        </p:nvSpPr>
        <p:spPr>
          <a:xfrm xmlns:a="http://schemas.openxmlformats.org/drawingml/2006/main">
            <a:off x="6153150" y="2981325"/>
            <a:ext cx="687324"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A59823D-3116-48C7-873C-C0F28C085938}"/>
              </a:ext>
            </a:extLst>
          </p:cNvPr>
          <p:cNvSpPr>
            <a:spLocks xmlns:a="http://schemas.openxmlformats.org/drawingml/2006/main" noGrp="1"/>
          </p:cNvSpPr>
          <p:nvPr/>
        </p:nvSpPr>
        <p:spPr>
          <a:xfrm xmlns:a="http://schemas.openxmlformats.org/drawingml/2006/main">
            <a:off x="6915150" y="29432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88/100</a:t>
            </a:r>
          </a:p>
        </p:txBody>
      </p:sp>
      <p:sp>
        <p:nvSpPr>
          <p:cNvPr id="22" name="">
            <a:extLst xmlns:a="http://schemas.openxmlformats.org/drawingml/2006/main">
              <a:ext uri="{FF2B5EF4-FFF2-40B4-BE49-F238E27FC236}">
                <a16:creationId xmlns:a16="http://schemas.microsoft.com/office/drawing/2014/main" id="{8353BCA0-F92E-4DB4-BA76-916337AB5CF3}"/>
              </a:ext>
            </a:extLst>
          </p:cNvPr>
          <p:cNvSpPr>
            <a:spLocks xmlns:a="http://schemas.openxmlformats.org/drawingml/2006/main" noGrp="1"/>
          </p:cNvSpPr>
          <p:nvPr/>
        </p:nvSpPr>
        <p:spPr>
          <a:xfrm xmlns:a="http://schemas.openxmlformats.org/drawingml/2006/main">
            <a:off x="4819650" y="339090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opcode / graph</a:t>
            </a:r>
          </a:p>
        </p:txBody>
      </p:sp>
      <p:sp>
        <p:nvSpPr>
          <p:cNvPr id="23" name="">
            <a:extLst xmlns:a="http://schemas.openxmlformats.org/drawingml/2006/main">
              <a:ext uri="{FF2B5EF4-FFF2-40B4-BE49-F238E27FC236}">
                <a16:creationId xmlns:a16="http://schemas.microsoft.com/office/drawing/2014/main" id="{BAFC231C-4180-4AE8-87FF-338463E7100E}"/>
              </a:ext>
            </a:extLst>
          </p:cNvPr>
          <p:cNvSpPr>
            <a:spLocks xmlns:a="http://schemas.openxmlformats.org/drawingml/2006/main" noGrp="1"/>
          </p:cNvSpPr>
          <p:nvPr/>
        </p:nvSpPr>
        <p:spPr>
          <a:xfrm xmlns:a="http://schemas.openxmlformats.org/drawingml/2006/main">
            <a:off x="6153150" y="341947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2223EC9-A9BF-4D0B-B05F-65D67C2C0986}"/>
              </a:ext>
            </a:extLst>
          </p:cNvPr>
          <p:cNvSpPr>
            <a:spLocks xmlns:a="http://schemas.openxmlformats.org/drawingml/2006/main" noGrp="1"/>
          </p:cNvSpPr>
          <p:nvPr/>
        </p:nvSpPr>
        <p:spPr>
          <a:xfrm xmlns:a="http://schemas.openxmlformats.org/drawingml/2006/main">
            <a:off x="6153150" y="3419475"/>
            <a:ext cx="577977"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2E2BF5-88FF-4279-AB28-41DE12874DD1}"/>
              </a:ext>
            </a:extLst>
          </p:cNvPr>
          <p:cNvSpPr>
            <a:spLocks xmlns:a="http://schemas.openxmlformats.org/drawingml/2006/main" noGrp="1"/>
          </p:cNvSpPr>
          <p:nvPr/>
        </p:nvSpPr>
        <p:spPr>
          <a:xfrm xmlns:a="http://schemas.openxmlformats.org/drawingml/2006/main">
            <a:off x="6915150" y="3381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74/100</a:t>
            </a:r>
          </a:p>
        </p:txBody>
      </p:sp>
      <p:sp>
        <p:nvSpPr>
          <p:cNvPr id="26" name="">
            <a:extLst xmlns:a="http://schemas.openxmlformats.org/drawingml/2006/main">
              <a:ext uri="{FF2B5EF4-FFF2-40B4-BE49-F238E27FC236}">
                <a16:creationId xmlns:a16="http://schemas.microsoft.com/office/drawing/2014/main" id="{C3520724-EAB5-4CB5-92A0-47DC7A1FC8E3}"/>
              </a:ext>
            </a:extLst>
          </p:cNvPr>
          <p:cNvSpPr>
            <a:spLocks xmlns:a="http://schemas.openxmlformats.org/drawingml/2006/main" noGrp="1"/>
          </p:cNvSpPr>
          <p:nvPr/>
        </p:nvSpPr>
        <p:spPr>
          <a:xfrm xmlns:a="http://schemas.openxmlformats.org/drawingml/2006/main">
            <a:off x="4819650" y="38290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literal / unique</a:t>
            </a:r>
          </a:p>
        </p:txBody>
      </p:sp>
      <p:sp>
        <p:nvSpPr>
          <p:cNvPr id="27" name="">
            <a:extLst xmlns:a="http://schemas.openxmlformats.org/drawingml/2006/main">
              <a:ext uri="{FF2B5EF4-FFF2-40B4-BE49-F238E27FC236}">
                <a16:creationId xmlns:a16="http://schemas.microsoft.com/office/drawing/2014/main" id="{D40C55AF-7BF8-4843-9341-7424E52BB6FF}"/>
              </a:ext>
            </a:extLst>
          </p:cNvPr>
          <p:cNvSpPr>
            <a:spLocks xmlns:a="http://schemas.openxmlformats.org/drawingml/2006/main" noGrp="1"/>
          </p:cNvSpPr>
          <p:nvPr/>
        </p:nvSpPr>
        <p:spPr>
          <a:xfrm xmlns:a="http://schemas.openxmlformats.org/drawingml/2006/main">
            <a:off x="6153150" y="38576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8915AA6-999C-46A2-A365-310437346D80}"/>
              </a:ext>
            </a:extLst>
          </p:cNvPr>
          <p:cNvSpPr>
            <a:spLocks xmlns:a="http://schemas.openxmlformats.org/drawingml/2006/main" noGrp="1"/>
          </p:cNvSpPr>
          <p:nvPr/>
        </p:nvSpPr>
        <p:spPr>
          <a:xfrm xmlns:a="http://schemas.openxmlformats.org/drawingml/2006/main">
            <a:off x="6153150" y="3857625"/>
            <a:ext cx="40614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C4E4307-9CC5-493F-BCE6-58EE9A836B85}"/>
              </a:ext>
            </a:extLst>
          </p:cNvPr>
          <p:cNvSpPr>
            <a:spLocks xmlns:a="http://schemas.openxmlformats.org/drawingml/2006/main" noGrp="1"/>
          </p:cNvSpPr>
          <p:nvPr/>
        </p:nvSpPr>
        <p:spPr>
          <a:xfrm xmlns:a="http://schemas.openxmlformats.org/drawingml/2006/main">
            <a:off x="6915150" y="3819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52/100</a:t>
            </a:r>
          </a:p>
        </p:txBody>
      </p:sp>
      <p:sp>
        <p:nvSpPr>
          <p:cNvPr id="30" name="">
            <a:extLst xmlns:a="http://schemas.openxmlformats.org/drawingml/2006/main">
              <a:ext uri="{FF2B5EF4-FFF2-40B4-BE49-F238E27FC236}">
                <a16:creationId xmlns:a16="http://schemas.microsoft.com/office/drawing/2014/main" id="{3C58E116-F8E7-4F8B-9A5F-7244E773AFF2}"/>
              </a:ext>
            </a:extLst>
          </p:cNvPr>
          <p:cNvSpPr>
            <a:spLocks xmlns:a="http://schemas.openxmlformats.org/drawingml/2006/main" noGrp="1"/>
          </p:cNvSpPr>
          <p:nvPr/>
        </p:nvSpPr>
        <p:spPr>
          <a:xfrm xmlns:a="http://schemas.openxmlformats.org/drawingml/2006/main">
            <a:off x="4819650" y="43243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confidence + ambiguity policy</a:t>
            </a:r>
          </a:p>
        </p:txBody>
      </p:sp>
      <p:sp>
        <p:nvSpPr>
          <p:cNvPr id="31" name="rule">
            <a:extLst xmlns:a="http://schemas.openxmlformats.org/drawingml/2006/main">
              <a:ext uri="{FF2B5EF4-FFF2-40B4-BE49-F238E27FC236}">
                <a16:creationId xmlns:a16="http://schemas.microsoft.com/office/drawing/2014/main" id="{8B73BD52-54F6-461A-95BB-6612C21819F1}"/>
              </a:ext>
            </a:extLst>
          </p:cNvPr>
          <p:cNvSpPr>
            <a:spLocks xmlns:a="http://schemas.openxmlformats.org/drawingml/2006/main" noGrp="1"/>
          </p:cNvSpPr>
          <p:nvPr/>
        </p:nvSpPr>
        <p:spPr>
          <a:xfrm xmlns:a="http://schemas.openxmlformats.org/drawingml/2006/main">
            <a:off x="7658100" y="3343275"/>
            <a:ext cx="9525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023660C-4A31-4444-9F0F-EA8B5CF0DE4A}"/>
              </a:ext>
            </a:extLst>
          </p:cNvPr>
          <p:cNvSpPr>
            <a:spLocks xmlns:a="http://schemas.openxmlformats.org/drawingml/2006/main" noGrp="1"/>
          </p:cNvSpPr>
          <p:nvPr/>
        </p:nvSpPr>
        <p:spPr>
          <a:xfrm xmlns:a="http://schemas.openxmlformats.org/drawingml/2006/main">
            <a:off x="8534400" y="32575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7015CB7-8545-441E-9674-02178AEAE931}"/>
              </a:ext>
            </a:extLst>
          </p:cNvPr>
          <p:cNvSpPr>
            <a:spLocks xmlns:a="http://schemas.openxmlformats.org/drawingml/2006/main" noGrp="1"/>
          </p:cNvSpPr>
          <p:nvPr/>
        </p:nvSpPr>
        <p:spPr>
          <a:xfrm xmlns:a="http://schemas.openxmlformats.org/drawingml/2006/main">
            <a:off x="7658100" y="30670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4F7D76"/>
                </a:solidFill>
                <a:latin typeface="Aptos"/>
                <a:ea typeface="Aptos"/>
                <a:cs typeface="Aptos"/>
              </a:defRPr>
            </a:pPr>
            <a:r>
              <a:rPr sz="750" b="1">
                <a:solidFill>
                  <a:srgbClr val="4F7D76"/>
                </a:solidFill>
                <a:latin typeface="Aptos"/>
                <a:ea typeface="Aptos"/>
                <a:cs typeface="Aptos"/>
              </a:rPr>
              <a:t>evidence</a:t>
            </a:r>
          </a:p>
        </p:txBody>
      </p:sp>
      <p:sp>
        <p:nvSpPr>
          <p:cNvPr id="34" name="">
            <a:extLst xmlns:a="http://schemas.openxmlformats.org/drawingml/2006/main">
              <a:ext uri="{FF2B5EF4-FFF2-40B4-BE49-F238E27FC236}">
                <a16:creationId xmlns:a16="http://schemas.microsoft.com/office/drawing/2014/main" id="{C93A6E3F-38C6-48A2-90F8-02227893023B}"/>
              </a:ext>
            </a:extLst>
          </p:cNvPr>
          <p:cNvSpPr>
            <a:spLocks xmlns:a="http://schemas.openxmlformats.org/drawingml/2006/main" noGrp="1"/>
          </p:cNvSpPr>
          <p:nvPr/>
        </p:nvSpPr>
        <p:spPr>
          <a:xfrm xmlns:a="http://schemas.openxmlformats.org/drawingml/2006/main">
            <a:off x="8896350" y="1809750"/>
            <a:ext cx="1200150" cy="12001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35" name="">
            <a:extLst xmlns:a="http://schemas.openxmlformats.org/drawingml/2006/main">
              <a:ext uri="{FF2B5EF4-FFF2-40B4-BE49-F238E27FC236}">
                <a16:creationId xmlns:a16="http://schemas.microsoft.com/office/drawing/2014/main" id="{C7B2D740-576E-44E2-9B53-FFC7B8B78A69}"/>
              </a:ext>
            </a:extLst>
          </p:cNvPr>
          <p:cNvSpPr>
            <a:spLocks xmlns:a="http://schemas.openxmlformats.org/drawingml/2006/main" noGrp="1"/>
          </p:cNvSpPr>
          <p:nvPr/>
        </p:nvSpPr>
        <p:spPr>
          <a:xfrm xmlns:a="http://schemas.openxmlformats.org/drawingml/2006/main">
            <a:off x="899160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365F7D"/>
                </a:solidFill>
                <a:latin typeface="Aptos"/>
                <a:ea typeface="Aptos"/>
                <a:cs typeface="Aptos"/>
              </a:defRPr>
            </a:pPr>
            <a:r>
              <a:rPr sz="1275" b="1">
                <a:solidFill>
                  <a:srgbClr val="365F7D"/>
                </a:solidFill>
                <a:latin typeface="Aptos"/>
                <a:ea typeface="Aptos"/>
                <a:cs typeface="Aptos"/>
              </a:rPr>
              <a:t>CycloneDX</a:t>
            </a:r>
          </a:p>
        </p:txBody>
      </p:sp>
      <p:sp>
        <p:nvSpPr>
          <p:cNvPr id="36" name="">
            <a:extLst xmlns:a="http://schemas.openxmlformats.org/drawingml/2006/main">
              <a:ext uri="{FF2B5EF4-FFF2-40B4-BE49-F238E27FC236}">
                <a16:creationId xmlns:a16="http://schemas.microsoft.com/office/drawing/2014/main" id="{325D87D9-7F46-4485-9DBD-12D5346C2294}"/>
              </a:ext>
            </a:extLst>
          </p:cNvPr>
          <p:cNvSpPr>
            <a:spLocks xmlns:a="http://schemas.openxmlformats.org/drawingml/2006/main" noGrp="1"/>
          </p:cNvSpPr>
          <p:nvPr/>
        </p:nvSpPr>
        <p:spPr>
          <a:xfrm xmlns:a="http://schemas.openxmlformats.org/drawingml/2006/main">
            <a:off x="899160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standard SBOM</a:t>
            </a:r>
          </a:p>
        </p:txBody>
      </p:sp>
      <p:sp>
        <p:nvSpPr>
          <p:cNvPr id="37" name="">
            <a:extLst xmlns:a="http://schemas.openxmlformats.org/drawingml/2006/main">
              <a:ext uri="{FF2B5EF4-FFF2-40B4-BE49-F238E27FC236}">
                <a16:creationId xmlns:a16="http://schemas.microsoft.com/office/drawing/2014/main" id="{53387A38-F937-4386-9EFF-59E3E6614887}"/>
              </a:ext>
            </a:extLst>
          </p:cNvPr>
          <p:cNvSpPr>
            <a:spLocks xmlns:a="http://schemas.openxmlformats.org/drawingml/2006/main" noGrp="1"/>
          </p:cNvSpPr>
          <p:nvPr/>
        </p:nvSpPr>
        <p:spPr>
          <a:xfrm xmlns:a="http://schemas.openxmlformats.org/drawingml/2006/main">
            <a:off x="10248900" y="1809750"/>
            <a:ext cx="1200150" cy="1200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38" name="">
            <a:extLst xmlns:a="http://schemas.openxmlformats.org/drawingml/2006/main">
              <a:ext uri="{FF2B5EF4-FFF2-40B4-BE49-F238E27FC236}">
                <a16:creationId xmlns:a16="http://schemas.microsoft.com/office/drawing/2014/main" id="{3D6DF673-3C72-4306-99C4-1646B57B83A9}"/>
              </a:ext>
            </a:extLst>
          </p:cNvPr>
          <p:cNvSpPr>
            <a:spLocks xmlns:a="http://schemas.openxmlformats.org/drawingml/2006/main" noGrp="1"/>
          </p:cNvSpPr>
          <p:nvPr/>
        </p:nvSpPr>
        <p:spPr>
          <a:xfrm xmlns:a="http://schemas.openxmlformats.org/drawingml/2006/main">
            <a:off x="1034415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4F7D76"/>
                </a:solidFill>
                <a:latin typeface="Aptos"/>
                <a:ea typeface="Aptos"/>
                <a:cs typeface="Aptos"/>
              </a:defRPr>
            </a:pPr>
            <a:r>
              <a:rPr sz="1275" b="1">
                <a:solidFill>
                  <a:srgbClr val="4F7D76"/>
                </a:solidFill>
                <a:latin typeface="Aptos"/>
                <a:ea typeface="Aptos"/>
                <a:cs typeface="Aptos"/>
              </a:rPr>
              <a:t>Confidence</a:t>
            </a:r>
          </a:p>
        </p:txBody>
      </p:sp>
      <p:sp>
        <p:nvSpPr>
          <p:cNvPr id="39" name="">
            <a:extLst xmlns:a="http://schemas.openxmlformats.org/drawingml/2006/main">
              <a:ext uri="{FF2B5EF4-FFF2-40B4-BE49-F238E27FC236}">
                <a16:creationId xmlns:a16="http://schemas.microsoft.com/office/drawing/2014/main" id="{777396CF-615C-4860-AEDA-C75C1C1E1C90}"/>
              </a:ext>
            </a:extLst>
          </p:cNvPr>
          <p:cNvSpPr>
            <a:spLocks xmlns:a="http://schemas.openxmlformats.org/drawingml/2006/main" noGrp="1"/>
          </p:cNvSpPr>
          <p:nvPr/>
        </p:nvSpPr>
        <p:spPr>
          <a:xfrm xmlns:a="http://schemas.openxmlformats.org/drawingml/2006/main">
            <a:off x="1034415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identity + version</a:t>
            </a:r>
          </a:p>
        </p:txBody>
      </p:sp>
      <p:sp>
        <p:nvSpPr>
          <p:cNvPr id="40" name="">
            <a:extLst xmlns:a="http://schemas.openxmlformats.org/drawingml/2006/main">
              <a:ext uri="{FF2B5EF4-FFF2-40B4-BE49-F238E27FC236}">
                <a16:creationId xmlns:a16="http://schemas.microsoft.com/office/drawing/2014/main" id="{E161815D-51AB-4BA4-9EA1-B2C4DB79B0F4}"/>
              </a:ext>
            </a:extLst>
          </p:cNvPr>
          <p:cNvSpPr>
            <a:spLocks xmlns:a="http://schemas.openxmlformats.org/drawingml/2006/main" noGrp="1"/>
          </p:cNvSpPr>
          <p:nvPr/>
        </p:nvSpPr>
        <p:spPr>
          <a:xfrm xmlns:a="http://schemas.openxmlformats.org/drawingml/2006/main">
            <a:off x="8896350" y="3238500"/>
            <a:ext cx="1200150" cy="12001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3B8467B2-2623-4DC4-B983-964B24BC2F6C}"/>
              </a:ext>
            </a:extLst>
          </p:cNvPr>
          <p:cNvSpPr>
            <a:spLocks xmlns:a="http://schemas.openxmlformats.org/drawingml/2006/main" noGrp="1"/>
          </p:cNvSpPr>
          <p:nvPr/>
        </p:nvSpPr>
        <p:spPr>
          <a:xfrm xmlns:a="http://schemas.openxmlformats.org/drawingml/2006/main">
            <a:off x="899160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8D754D"/>
                </a:solidFill>
                <a:latin typeface="Aptos"/>
                <a:ea typeface="Aptos"/>
                <a:cs typeface="Aptos"/>
              </a:defRPr>
            </a:pPr>
            <a:r>
              <a:rPr sz="1275" b="1">
                <a:solidFill>
                  <a:srgbClr val="8D754D"/>
                </a:solidFill>
                <a:latin typeface="Aptos"/>
                <a:ea typeface="Aptos"/>
                <a:cs typeface="Aptos"/>
              </a:rPr>
              <a:t>Ambiguity</a:t>
            </a:r>
          </a:p>
        </p:txBody>
      </p:sp>
      <p:sp>
        <p:nvSpPr>
          <p:cNvPr id="42" name="">
            <a:extLst xmlns:a="http://schemas.openxmlformats.org/drawingml/2006/main">
              <a:ext uri="{FF2B5EF4-FFF2-40B4-BE49-F238E27FC236}">
                <a16:creationId xmlns:a16="http://schemas.microsoft.com/office/drawing/2014/main" id="{CA0C61D7-6C68-489B-BA24-5BF7446D6D9A}"/>
              </a:ext>
            </a:extLst>
          </p:cNvPr>
          <p:cNvSpPr>
            <a:spLocks xmlns:a="http://schemas.openxmlformats.org/drawingml/2006/main" noGrp="1"/>
          </p:cNvSpPr>
          <p:nvPr/>
        </p:nvSpPr>
        <p:spPr>
          <a:xfrm xmlns:a="http://schemas.openxmlformats.org/drawingml/2006/main">
            <a:off x="899160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near versions</a:t>
            </a:r>
          </a:p>
        </p:txBody>
      </p:sp>
      <p:sp>
        <p:nvSpPr>
          <p:cNvPr id="43" name="">
            <a:extLst xmlns:a="http://schemas.openxmlformats.org/drawingml/2006/main">
              <a:ext uri="{FF2B5EF4-FFF2-40B4-BE49-F238E27FC236}">
                <a16:creationId xmlns:a16="http://schemas.microsoft.com/office/drawing/2014/main" id="{01D1680A-73CE-4EA0-A7D2-259F1D6113A7}"/>
              </a:ext>
            </a:extLst>
          </p:cNvPr>
          <p:cNvSpPr>
            <a:spLocks xmlns:a="http://schemas.openxmlformats.org/drawingml/2006/main" noGrp="1"/>
          </p:cNvSpPr>
          <p:nvPr/>
        </p:nvSpPr>
        <p:spPr>
          <a:xfrm xmlns:a="http://schemas.openxmlformats.org/drawingml/2006/main">
            <a:off x="10248900" y="3238500"/>
            <a:ext cx="1200150" cy="12001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4" name="">
            <a:extLst xmlns:a="http://schemas.openxmlformats.org/drawingml/2006/main">
              <a:ext uri="{FF2B5EF4-FFF2-40B4-BE49-F238E27FC236}">
                <a16:creationId xmlns:a16="http://schemas.microsoft.com/office/drawing/2014/main" id="{D2D38870-F184-4657-9D18-B5AE09338E08}"/>
              </a:ext>
            </a:extLst>
          </p:cNvPr>
          <p:cNvSpPr>
            <a:spLocks xmlns:a="http://schemas.openxmlformats.org/drawingml/2006/main" noGrp="1"/>
          </p:cNvSpPr>
          <p:nvPr/>
        </p:nvSpPr>
        <p:spPr>
          <a:xfrm xmlns:a="http://schemas.openxmlformats.org/drawingml/2006/main">
            <a:off x="1034415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A65C55"/>
                </a:solidFill>
                <a:latin typeface="Aptos"/>
                <a:ea typeface="Aptos"/>
                <a:cs typeface="Aptos"/>
              </a:defRPr>
            </a:pPr>
            <a:r>
              <a:rPr sz="1275" b="1">
                <a:solidFill>
                  <a:srgbClr val="A65C55"/>
                </a:solidFill>
                <a:latin typeface="Aptos"/>
                <a:ea typeface="Aptos"/>
                <a:cs typeface="Aptos"/>
              </a:rPr>
              <a:t>OSV</a:t>
            </a:r>
          </a:p>
        </p:txBody>
      </p:sp>
      <p:sp>
        <p:nvSpPr>
          <p:cNvPr id="45" name="">
            <a:extLst xmlns:a="http://schemas.openxmlformats.org/drawingml/2006/main">
              <a:ext uri="{FF2B5EF4-FFF2-40B4-BE49-F238E27FC236}">
                <a16:creationId xmlns:a16="http://schemas.microsoft.com/office/drawing/2014/main" id="{0970FB19-A80F-4901-B618-76F61AF34CCF}"/>
              </a:ext>
            </a:extLst>
          </p:cNvPr>
          <p:cNvSpPr>
            <a:spLocks xmlns:a="http://schemas.openxmlformats.org/drawingml/2006/main" noGrp="1"/>
          </p:cNvSpPr>
          <p:nvPr/>
        </p:nvSpPr>
        <p:spPr>
          <a:xfrm xmlns:a="http://schemas.openxmlformats.org/drawingml/2006/main">
            <a:off x="1034415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CVE evidence</a:t>
            </a:r>
          </a:p>
        </p:txBody>
      </p:sp>
      <p:sp>
        <p:nvSpPr>
          <p:cNvPr id="46" name="">
            <a:extLst xmlns:a="http://schemas.openxmlformats.org/drawingml/2006/main">
              <a:ext uri="{FF2B5EF4-FFF2-40B4-BE49-F238E27FC236}">
                <a16:creationId xmlns:a16="http://schemas.microsoft.com/office/drawing/2014/main" id="{A34A112F-17A1-494F-9EC9-5284B88C665F}"/>
              </a:ext>
            </a:extLst>
          </p:cNvPr>
          <p:cNvSpPr>
            <a:spLocks xmlns:a="http://schemas.openxmlformats.org/drawingml/2006/main" noGrp="1"/>
          </p:cNvSpPr>
          <p:nvPr/>
        </p:nvSpPr>
        <p:spPr>
          <a:xfrm xmlns:a="http://schemas.openxmlformats.org/drawingml/2006/main">
            <a:off x="1352550" y="5353050"/>
            <a:ext cx="9486900" cy="5905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10B2779-6083-4011-A1AC-DB84C76B0621}"/>
              </a:ext>
            </a:extLst>
          </p:cNvPr>
          <p:cNvSpPr>
            <a:spLocks xmlns:a="http://schemas.openxmlformats.org/drawingml/2006/main" noGrp="1"/>
          </p:cNvSpPr>
          <p:nvPr/>
        </p:nvSpPr>
        <p:spPr>
          <a:xfrm xmlns:a="http://schemas.openxmlformats.org/drawingml/2006/main">
            <a:off x="1657350" y="5534025"/>
            <a:ext cx="887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Policy: strong evidence produces strong claims; weak evidence stays uncertain or report-only.</a:t>
            </a:r>
          </a:p>
        </p:txBody>
      </p:sp>
      <p:sp>
        <p:nvSpPr>
          <p:cNvPr id="48" name="">
            <a:extLst xmlns:a="http://schemas.openxmlformats.org/drawingml/2006/main">
              <a:ext uri="{FF2B5EF4-FFF2-40B4-BE49-F238E27FC236}">
                <a16:creationId xmlns:a16="http://schemas.microsoft.com/office/drawing/2014/main" id="{BBCA9832-E3FA-48C8-86C2-C16BDA55CEA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61361700"/>
      </p:ext>
    </p:extLst>
  </p:cSld>
</p:sld>
</file>

<file path=ppt/slides/slide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2ED2A0-FAA8-41DB-9392-C6C51E2F0DF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ARCHITECTURE DECISIONS</a:t>
            </a:r>
          </a:p>
        </p:txBody>
      </p:sp>
      <p:sp>
        <p:nvSpPr>
          <p:cNvPr id="2" name="">
            <a:extLst xmlns:a="http://schemas.openxmlformats.org/drawingml/2006/main">
              <a:ext uri="{FF2B5EF4-FFF2-40B4-BE49-F238E27FC236}">
                <a16:creationId xmlns:a16="http://schemas.microsoft.com/office/drawing/2014/main" id="{04E04247-82F1-422D-A6ED-D3299A913FB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Architecture choices were driven by evidence, scope, and interoperability</a:t>
            </a:r>
          </a:p>
        </p:txBody>
      </p:sp>
      <p:sp>
        <p:nvSpPr>
          <p:cNvPr id="3" name="">
            <a:extLst xmlns:a="http://schemas.openxmlformats.org/drawingml/2006/main">
              <a:ext uri="{FF2B5EF4-FFF2-40B4-BE49-F238E27FC236}">
                <a16:creationId xmlns:a16="http://schemas.microsoft.com/office/drawing/2014/main" id="{1453C89B-AE63-4D08-9E7C-0A14F1C03FC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90523756-3DA0-4476-B4DD-B2062B28B5B4}"/>
              </a:ext>
            </a:extLst>
          </p:cNvPr>
          <p:cNvSpPr>
            <a:spLocks xmlns:a="http://schemas.openxmlformats.org/drawingml/2006/main" noGrp="1"/>
          </p:cNvSpPr>
          <p:nvPr/>
        </p:nvSpPr>
        <p:spPr>
          <a:xfrm xmlns:a="http://schemas.openxmlformats.org/drawingml/2006/main">
            <a:off x="685800" y="1409700"/>
            <a:ext cx="10820400" cy="40005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6D539E0-597C-4ED7-A9DA-B5740F952DA9}"/>
              </a:ext>
            </a:extLst>
          </p:cNvPr>
          <p:cNvSpPr>
            <a:spLocks xmlns:a="http://schemas.openxmlformats.org/drawingml/2006/main" noGrp="1"/>
          </p:cNvSpPr>
          <p:nvPr/>
        </p:nvSpPr>
        <p:spPr>
          <a:xfrm xmlns:a="http://schemas.openxmlformats.org/drawingml/2006/main">
            <a:off x="876300" y="15240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DECISION</a:t>
            </a:r>
          </a:p>
        </p:txBody>
      </p:sp>
      <p:sp>
        <p:nvSpPr>
          <p:cNvPr id="6" name="">
            <a:extLst xmlns:a="http://schemas.openxmlformats.org/drawingml/2006/main">
              <a:ext uri="{FF2B5EF4-FFF2-40B4-BE49-F238E27FC236}">
                <a16:creationId xmlns:a16="http://schemas.microsoft.com/office/drawing/2014/main" id="{7B5D801B-239E-4B56-B9B0-A7B0DD89EBE9}"/>
              </a:ext>
            </a:extLst>
          </p:cNvPr>
          <p:cNvSpPr>
            <a:spLocks xmlns:a="http://schemas.openxmlformats.org/drawingml/2006/main" noGrp="1"/>
          </p:cNvSpPr>
          <p:nvPr/>
        </p:nvSpPr>
        <p:spPr>
          <a:xfrm xmlns:a="http://schemas.openxmlformats.org/drawingml/2006/main">
            <a:off x="2686050" y="1524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CHOSEN DESIGN</a:t>
            </a:r>
          </a:p>
        </p:txBody>
      </p:sp>
      <p:sp>
        <p:nvSpPr>
          <p:cNvPr id="7" name="">
            <a:extLst xmlns:a="http://schemas.openxmlformats.org/drawingml/2006/main">
              <a:ext uri="{FF2B5EF4-FFF2-40B4-BE49-F238E27FC236}">
                <a16:creationId xmlns:a16="http://schemas.microsoft.com/office/drawing/2014/main" id="{BA376AE1-7A22-4FCA-92D3-0C2A9A50B7BE}"/>
              </a:ext>
            </a:extLst>
          </p:cNvPr>
          <p:cNvSpPr>
            <a:spLocks xmlns:a="http://schemas.openxmlformats.org/drawingml/2006/main" noGrp="1"/>
          </p:cNvSpPr>
          <p:nvPr/>
        </p:nvSpPr>
        <p:spPr>
          <a:xfrm xmlns:a="http://schemas.openxmlformats.org/drawingml/2006/main">
            <a:off x="5067300" y="15240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WHY</a:t>
            </a:r>
          </a:p>
        </p:txBody>
      </p:sp>
      <p:sp>
        <p:nvSpPr>
          <p:cNvPr id="8" name="">
            <a:extLst xmlns:a="http://schemas.openxmlformats.org/drawingml/2006/main">
              <a:ext uri="{FF2B5EF4-FFF2-40B4-BE49-F238E27FC236}">
                <a16:creationId xmlns:a16="http://schemas.microsoft.com/office/drawing/2014/main" id="{DF8DA729-441C-4068-A136-B94095B981D6}"/>
              </a:ext>
            </a:extLst>
          </p:cNvPr>
          <p:cNvSpPr>
            <a:spLocks xmlns:a="http://schemas.openxmlformats.org/drawingml/2006/main" noGrp="1"/>
          </p:cNvSpPr>
          <p:nvPr/>
        </p:nvSpPr>
        <p:spPr>
          <a:xfrm xmlns:a="http://schemas.openxmlformats.org/drawingml/2006/main">
            <a:off x="8972550" y="1524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NOT CHOSEN</a:t>
            </a:r>
          </a:p>
        </p:txBody>
      </p:sp>
      <p:sp>
        <p:nvSpPr>
          <p:cNvPr id="9" name="">
            <a:extLst xmlns:a="http://schemas.openxmlformats.org/drawingml/2006/main">
              <a:ext uri="{FF2B5EF4-FFF2-40B4-BE49-F238E27FC236}">
                <a16:creationId xmlns:a16="http://schemas.microsoft.com/office/drawing/2014/main" id="{15145C06-1DFC-4CDE-B508-6793AF11589E}"/>
              </a:ext>
            </a:extLst>
          </p:cNvPr>
          <p:cNvSpPr>
            <a:spLocks xmlns:a="http://schemas.openxmlformats.org/drawingml/2006/main" noGrp="1"/>
          </p:cNvSpPr>
          <p:nvPr/>
        </p:nvSpPr>
        <p:spPr>
          <a:xfrm xmlns:a="http://schemas.openxmlformats.org/drawingml/2006/main">
            <a:off x="685800" y="18097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0" name="">
            <a:extLst xmlns:a="http://schemas.openxmlformats.org/drawingml/2006/main">
              <a:ext uri="{FF2B5EF4-FFF2-40B4-BE49-F238E27FC236}">
                <a16:creationId xmlns:a16="http://schemas.microsoft.com/office/drawing/2014/main" id="{5CC7D6AD-16BD-4857-917B-290494006D66}"/>
              </a:ext>
            </a:extLst>
          </p:cNvPr>
          <p:cNvSpPr>
            <a:spLocks xmlns:a="http://schemas.openxmlformats.org/drawingml/2006/main" noGrp="1"/>
          </p:cNvSpPr>
          <p:nvPr/>
        </p:nvSpPr>
        <p:spPr>
          <a:xfrm xmlns:a="http://schemas.openxmlformats.org/drawingml/2006/main">
            <a:off x="876300" y="2000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Analysis</a:t>
            </a:r>
          </a:p>
        </p:txBody>
      </p:sp>
      <p:sp>
        <p:nvSpPr>
          <p:cNvPr id="11" name="">
            <a:extLst xmlns:a="http://schemas.openxmlformats.org/drawingml/2006/main">
              <a:ext uri="{FF2B5EF4-FFF2-40B4-BE49-F238E27FC236}">
                <a16:creationId xmlns:a16="http://schemas.microsoft.com/office/drawing/2014/main" id="{DE2808A1-46A4-4535-ACC5-1626E010B99B}"/>
              </a:ext>
            </a:extLst>
          </p:cNvPr>
          <p:cNvSpPr>
            <a:spLocks xmlns:a="http://schemas.openxmlformats.org/drawingml/2006/main" noGrp="1"/>
          </p:cNvSpPr>
          <p:nvPr/>
        </p:nvSpPr>
        <p:spPr>
          <a:xfrm xmlns:a="http://schemas.openxmlformats.org/drawingml/2006/main">
            <a:off x="2686050" y="19716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Hybrid static pipeline</a:t>
            </a:r>
          </a:p>
        </p:txBody>
      </p:sp>
      <p:sp>
        <p:nvSpPr>
          <p:cNvPr id="12" name="">
            <a:extLst xmlns:a="http://schemas.openxmlformats.org/drawingml/2006/main">
              <a:ext uri="{FF2B5EF4-FFF2-40B4-BE49-F238E27FC236}">
                <a16:creationId xmlns:a16="http://schemas.microsoft.com/office/drawing/2014/main" id="{5A4EE597-102C-4F84-8E13-887F820B8D72}"/>
              </a:ext>
            </a:extLst>
          </p:cNvPr>
          <p:cNvSpPr>
            <a:spLocks xmlns:a="http://schemas.openxmlformats.org/drawingml/2006/main" noGrp="1"/>
          </p:cNvSpPr>
          <p:nvPr/>
        </p:nvSpPr>
        <p:spPr>
          <a:xfrm xmlns:a="http://schemas.openxmlformats.org/drawingml/2006/main">
            <a:off x="5067300" y="19335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Works from the APK alone; combines name and structural evidence; reproducible for evaluation.</a:t>
            </a:r>
          </a:p>
        </p:txBody>
      </p:sp>
      <p:sp>
        <p:nvSpPr>
          <p:cNvPr id="13" name="">
            <a:extLst xmlns:a="http://schemas.openxmlformats.org/drawingml/2006/main">
              <a:ext uri="{FF2B5EF4-FFF2-40B4-BE49-F238E27FC236}">
                <a16:creationId xmlns:a16="http://schemas.microsoft.com/office/drawing/2014/main" id="{87B9C594-0990-482F-A833-620F6F6E11C7}"/>
              </a:ext>
            </a:extLst>
          </p:cNvPr>
          <p:cNvSpPr>
            <a:spLocks xmlns:a="http://schemas.openxmlformats.org/drawingml/2006/main" noGrp="1"/>
          </p:cNvSpPr>
          <p:nvPr/>
        </p:nvSpPr>
        <p:spPr>
          <a:xfrm xmlns:a="http://schemas.openxmlformats.org/drawingml/2006/main">
            <a:off x="8972550" y="19716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Package/hash-only or dynamic-first</a:t>
            </a:r>
          </a:p>
        </p:txBody>
      </p:sp>
      <p:sp>
        <p:nvSpPr>
          <p:cNvPr id="14" name="">
            <a:extLst xmlns:a="http://schemas.openxmlformats.org/drawingml/2006/main">
              <a:ext uri="{FF2B5EF4-FFF2-40B4-BE49-F238E27FC236}">
                <a16:creationId xmlns:a16="http://schemas.microsoft.com/office/drawing/2014/main" id="{FE4AE1FD-B72C-4A10-AC5D-4726E113BF68}"/>
              </a:ext>
            </a:extLst>
          </p:cNvPr>
          <p:cNvSpPr>
            <a:spLocks xmlns:a="http://schemas.openxmlformats.org/drawingml/2006/main" noGrp="1"/>
          </p:cNvSpPr>
          <p:nvPr/>
        </p:nvSpPr>
        <p:spPr>
          <a:xfrm xmlns:a="http://schemas.openxmlformats.org/drawingml/2006/main">
            <a:off x="685800" y="25527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15" name="">
            <a:extLst xmlns:a="http://schemas.openxmlformats.org/drawingml/2006/main">
              <a:ext uri="{FF2B5EF4-FFF2-40B4-BE49-F238E27FC236}">
                <a16:creationId xmlns:a16="http://schemas.microsoft.com/office/drawing/2014/main" id="{850B2C99-D3A5-4ED5-BC43-7E5691F9D1EC}"/>
              </a:ext>
            </a:extLst>
          </p:cNvPr>
          <p:cNvSpPr>
            <a:spLocks xmlns:a="http://schemas.openxmlformats.org/drawingml/2006/main" noGrp="1"/>
          </p:cNvSpPr>
          <p:nvPr/>
        </p:nvSpPr>
        <p:spPr>
          <a:xfrm xmlns:a="http://schemas.openxmlformats.org/drawingml/2006/main">
            <a:off x="876300" y="2743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Versions</a:t>
            </a:r>
          </a:p>
        </p:txBody>
      </p:sp>
      <p:sp>
        <p:nvSpPr>
          <p:cNvPr id="16" name="">
            <a:extLst xmlns:a="http://schemas.openxmlformats.org/drawingml/2006/main">
              <a:ext uri="{FF2B5EF4-FFF2-40B4-BE49-F238E27FC236}">
                <a16:creationId xmlns:a16="http://schemas.microsoft.com/office/drawing/2014/main" id="{272A3CB6-2657-461D-BCD6-8D5E6B5FF923}"/>
              </a:ext>
            </a:extLst>
          </p:cNvPr>
          <p:cNvSpPr>
            <a:spLocks xmlns:a="http://schemas.openxmlformats.org/drawingml/2006/main" noGrp="1"/>
          </p:cNvSpPr>
          <p:nvPr/>
        </p:nvSpPr>
        <p:spPr>
          <a:xfrm xmlns:a="http://schemas.openxmlformats.org/drawingml/2006/main">
            <a:off x="268605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Local Maven reference DB</a:t>
            </a:r>
          </a:p>
        </p:txBody>
      </p:sp>
      <p:sp>
        <p:nvSpPr>
          <p:cNvPr id="17" name="">
            <a:extLst xmlns:a="http://schemas.openxmlformats.org/drawingml/2006/main">
              <a:ext uri="{FF2B5EF4-FFF2-40B4-BE49-F238E27FC236}">
                <a16:creationId xmlns:a16="http://schemas.microsoft.com/office/drawing/2014/main" id="{B4DDE353-6F68-4EF6-BBB1-060DC9DE923A}"/>
              </a:ext>
            </a:extLst>
          </p:cNvPr>
          <p:cNvSpPr>
            <a:spLocks xmlns:a="http://schemas.openxmlformats.org/drawingml/2006/main" noGrp="1"/>
          </p:cNvSpPr>
          <p:nvPr/>
        </p:nvSpPr>
        <p:spPr>
          <a:xfrm xmlns:a="http://schemas.openxmlformats.org/drawingml/2006/main">
            <a:off x="5067300" y="26765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SBOM and CVE claims require coordinate + version; JAR/AAR profiles are repeatable.</a:t>
            </a:r>
          </a:p>
        </p:txBody>
      </p:sp>
      <p:sp>
        <p:nvSpPr>
          <p:cNvPr id="18" name="">
            <a:extLst xmlns:a="http://schemas.openxmlformats.org/drawingml/2006/main">
              <a:ext uri="{FF2B5EF4-FFF2-40B4-BE49-F238E27FC236}">
                <a16:creationId xmlns:a16="http://schemas.microsoft.com/office/drawing/2014/main" id="{DE162A39-5631-4BAD-B75C-547073511E4D}"/>
              </a:ext>
            </a:extLst>
          </p:cNvPr>
          <p:cNvSpPr>
            <a:spLocks xmlns:a="http://schemas.openxmlformats.org/drawingml/2006/main" noGrp="1"/>
          </p:cNvSpPr>
          <p:nvPr/>
        </p:nvSpPr>
        <p:spPr>
          <a:xfrm xmlns:a="http://schemas.openxmlformats.org/drawingml/2006/main">
            <a:off x="8972550" y="27146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Library-name-only detection</a:t>
            </a:r>
          </a:p>
        </p:txBody>
      </p:sp>
      <p:sp>
        <p:nvSpPr>
          <p:cNvPr id="19" name="">
            <a:extLst xmlns:a="http://schemas.openxmlformats.org/drawingml/2006/main">
              <a:ext uri="{FF2B5EF4-FFF2-40B4-BE49-F238E27FC236}">
                <a16:creationId xmlns:a16="http://schemas.microsoft.com/office/drawing/2014/main" id="{0EB07881-FFAD-4445-9665-F905B76E63C6}"/>
              </a:ext>
            </a:extLst>
          </p:cNvPr>
          <p:cNvSpPr>
            <a:spLocks xmlns:a="http://schemas.openxmlformats.org/drawingml/2006/main" noGrp="1"/>
          </p:cNvSpPr>
          <p:nvPr/>
        </p:nvSpPr>
        <p:spPr>
          <a:xfrm xmlns:a="http://schemas.openxmlformats.org/drawingml/2006/main">
            <a:off x="685800" y="32956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0" name="">
            <a:extLst xmlns:a="http://schemas.openxmlformats.org/drawingml/2006/main">
              <a:ext uri="{FF2B5EF4-FFF2-40B4-BE49-F238E27FC236}">
                <a16:creationId xmlns:a16="http://schemas.microsoft.com/office/drawing/2014/main" id="{8CFD4E51-E32A-48FC-87E1-A6BDA7FEA276}"/>
              </a:ext>
            </a:extLst>
          </p:cNvPr>
          <p:cNvSpPr>
            <a:spLocks xmlns:a="http://schemas.openxmlformats.org/drawingml/2006/main" noGrp="1"/>
          </p:cNvSpPr>
          <p:nvPr/>
        </p:nvSpPr>
        <p:spPr>
          <a:xfrm xmlns:a="http://schemas.openxmlformats.org/drawingml/2006/main">
            <a:off x="876300" y="3486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SBOM</a:t>
            </a:r>
          </a:p>
        </p:txBody>
      </p:sp>
      <p:sp>
        <p:nvSpPr>
          <p:cNvPr id="21" name="">
            <a:extLst xmlns:a="http://schemas.openxmlformats.org/drawingml/2006/main">
              <a:ext uri="{FF2B5EF4-FFF2-40B4-BE49-F238E27FC236}">
                <a16:creationId xmlns:a16="http://schemas.microsoft.com/office/drawing/2014/main" id="{B2DAEA8A-6D84-43D2-B4F6-19531B935BD3}"/>
              </a:ext>
            </a:extLst>
          </p:cNvPr>
          <p:cNvSpPr>
            <a:spLocks xmlns:a="http://schemas.openxmlformats.org/drawingml/2006/main" noGrp="1"/>
          </p:cNvSpPr>
          <p:nvPr/>
        </p:nvSpPr>
        <p:spPr>
          <a:xfrm xmlns:a="http://schemas.openxmlformats.org/drawingml/2006/main">
            <a:off x="2686050" y="34575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CycloneDX + PURL</a:t>
            </a:r>
          </a:p>
        </p:txBody>
      </p:sp>
      <p:sp>
        <p:nvSpPr>
          <p:cNvPr id="22" name="">
            <a:extLst xmlns:a="http://schemas.openxmlformats.org/drawingml/2006/main">
              <a:ext uri="{FF2B5EF4-FFF2-40B4-BE49-F238E27FC236}">
                <a16:creationId xmlns:a16="http://schemas.microsoft.com/office/drawing/2014/main" id="{2142BF46-9B01-4A69-8804-048CA22591A7}"/>
              </a:ext>
            </a:extLst>
          </p:cNvPr>
          <p:cNvSpPr>
            <a:spLocks xmlns:a="http://schemas.openxmlformats.org/drawingml/2006/main" noGrp="1"/>
          </p:cNvSpPr>
          <p:nvPr/>
        </p:nvSpPr>
        <p:spPr>
          <a:xfrm xmlns:a="http://schemas.openxmlformats.org/drawingml/2006/main">
            <a:off x="5067300" y="34194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Standard security artifact with Maven identity, evidence properties, and scanner compatibility.</a:t>
            </a:r>
          </a:p>
        </p:txBody>
      </p:sp>
      <p:sp>
        <p:nvSpPr>
          <p:cNvPr id="23" name="">
            <a:extLst xmlns:a="http://schemas.openxmlformats.org/drawingml/2006/main">
              <a:ext uri="{FF2B5EF4-FFF2-40B4-BE49-F238E27FC236}">
                <a16:creationId xmlns:a16="http://schemas.microsoft.com/office/drawing/2014/main" id="{261400FD-185F-47B4-8F9A-E819C8728F1B}"/>
              </a:ext>
            </a:extLst>
          </p:cNvPr>
          <p:cNvSpPr>
            <a:spLocks xmlns:a="http://schemas.openxmlformats.org/drawingml/2006/main" noGrp="1"/>
          </p:cNvSpPr>
          <p:nvPr/>
        </p:nvSpPr>
        <p:spPr>
          <a:xfrm xmlns:a="http://schemas.openxmlformats.org/drawingml/2006/main">
            <a:off x="8972550" y="3457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Custom JSON as final output</a:t>
            </a:r>
          </a:p>
        </p:txBody>
      </p:sp>
      <p:sp>
        <p:nvSpPr>
          <p:cNvPr id="24" name="">
            <a:extLst xmlns:a="http://schemas.openxmlformats.org/drawingml/2006/main">
              <a:ext uri="{FF2B5EF4-FFF2-40B4-BE49-F238E27FC236}">
                <a16:creationId xmlns:a16="http://schemas.microsoft.com/office/drawing/2014/main" id="{6A6184BC-9330-4941-AB5C-18B0E9D38677}"/>
              </a:ext>
            </a:extLst>
          </p:cNvPr>
          <p:cNvSpPr>
            <a:spLocks xmlns:a="http://schemas.openxmlformats.org/drawingml/2006/main" noGrp="1"/>
          </p:cNvSpPr>
          <p:nvPr/>
        </p:nvSpPr>
        <p:spPr>
          <a:xfrm xmlns:a="http://schemas.openxmlformats.org/drawingml/2006/main">
            <a:off x="685800" y="40386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25" name="">
            <a:extLst xmlns:a="http://schemas.openxmlformats.org/drawingml/2006/main">
              <a:ext uri="{FF2B5EF4-FFF2-40B4-BE49-F238E27FC236}">
                <a16:creationId xmlns:a16="http://schemas.microsoft.com/office/drawing/2014/main" id="{2AD78C75-EF8E-401E-9C31-345517DCAC46}"/>
              </a:ext>
            </a:extLst>
          </p:cNvPr>
          <p:cNvSpPr>
            <a:spLocks xmlns:a="http://schemas.openxmlformats.org/drawingml/2006/main" noGrp="1"/>
          </p:cNvSpPr>
          <p:nvPr/>
        </p:nvSpPr>
        <p:spPr>
          <a:xfrm xmlns:a="http://schemas.openxmlformats.org/drawingml/2006/main">
            <a:off x="876300" y="4229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Vulnerabilities</a:t>
            </a:r>
          </a:p>
        </p:txBody>
      </p:sp>
      <p:sp>
        <p:nvSpPr>
          <p:cNvPr id="26" name="">
            <a:extLst xmlns:a="http://schemas.openxmlformats.org/drawingml/2006/main">
              <a:ext uri="{FF2B5EF4-FFF2-40B4-BE49-F238E27FC236}">
                <a16:creationId xmlns:a16="http://schemas.microsoft.com/office/drawing/2014/main" id="{2DB4A44D-0C20-43FD-B21E-5EA035080E96}"/>
              </a:ext>
            </a:extLst>
          </p:cNvPr>
          <p:cNvSpPr>
            <a:spLocks xmlns:a="http://schemas.openxmlformats.org/drawingml/2006/main" noGrp="1"/>
          </p:cNvSpPr>
          <p:nvPr/>
        </p:nvSpPr>
        <p:spPr>
          <a:xfrm xmlns:a="http://schemas.openxmlformats.org/drawingml/2006/main">
            <a:off x="2686050" y="42005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OSV first</a:t>
            </a:r>
          </a:p>
        </p:txBody>
      </p:sp>
      <p:sp>
        <p:nvSpPr>
          <p:cNvPr id="27" name="">
            <a:extLst xmlns:a="http://schemas.openxmlformats.org/drawingml/2006/main">
              <a:ext uri="{FF2B5EF4-FFF2-40B4-BE49-F238E27FC236}">
                <a16:creationId xmlns:a16="http://schemas.microsoft.com/office/drawing/2014/main" id="{0D515E00-1FB9-493A-9839-F80246702DB0}"/>
              </a:ext>
            </a:extLst>
          </p:cNvPr>
          <p:cNvSpPr>
            <a:spLocks xmlns:a="http://schemas.openxmlformats.org/drawingml/2006/main" noGrp="1"/>
          </p:cNvSpPr>
          <p:nvPr/>
        </p:nvSpPr>
        <p:spPr>
          <a:xfrm xmlns:a="http://schemas.openxmlformats.org/drawingml/2006/main">
            <a:off x="5067300" y="41624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Queries Maven package/version directly and fits PURL-based component evidence.</a:t>
            </a:r>
          </a:p>
        </p:txBody>
      </p:sp>
      <p:sp>
        <p:nvSpPr>
          <p:cNvPr id="28" name="">
            <a:extLst xmlns:a="http://schemas.openxmlformats.org/drawingml/2006/main">
              <a:ext uri="{FF2B5EF4-FFF2-40B4-BE49-F238E27FC236}">
                <a16:creationId xmlns:a16="http://schemas.microsoft.com/office/drawing/2014/main" id="{201C1D5B-08D2-43B0-98B6-94C34D6FB30C}"/>
              </a:ext>
            </a:extLst>
          </p:cNvPr>
          <p:cNvSpPr>
            <a:spLocks xmlns:a="http://schemas.openxmlformats.org/drawingml/2006/main" noGrp="1"/>
          </p:cNvSpPr>
          <p:nvPr/>
        </p:nvSpPr>
        <p:spPr>
          <a:xfrm xmlns:a="http://schemas.openxmlformats.org/drawingml/2006/main">
            <a:off x="8972550" y="42005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NVD/CPE-only mapping</a:t>
            </a:r>
          </a:p>
        </p:txBody>
      </p:sp>
      <p:sp>
        <p:nvSpPr>
          <p:cNvPr id="29" name="">
            <a:extLst xmlns:a="http://schemas.openxmlformats.org/drawingml/2006/main">
              <a:ext uri="{FF2B5EF4-FFF2-40B4-BE49-F238E27FC236}">
                <a16:creationId xmlns:a16="http://schemas.microsoft.com/office/drawing/2014/main" id="{D3EC8933-2076-4645-95E9-2F06463F1CEC}"/>
              </a:ext>
            </a:extLst>
          </p:cNvPr>
          <p:cNvSpPr>
            <a:spLocks xmlns:a="http://schemas.openxmlformats.org/drawingml/2006/main" noGrp="1"/>
          </p:cNvSpPr>
          <p:nvPr/>
        </p:nvSpPr>
        <p:spPr>
          <a:xfrm xmlns:a="http://schemas.openxmlformats.org/drawingml/2006/main">
            <a:off x="685800" y="47815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0" name="">
            <a:extLst xmlns:a="http://schemas.openxmlformats.org/drawingml/2006/main">
              <a:ext uri="{FF2B5EF4-FFF2-40B4-BE49-F238E27FC236}">
                <a16:creationId xmlns:a16="http://schemas.microsoft.com/office/drawing/2014/main" id="{EE8547A0-6556-448B-9946-624DA2E9634A}"/>
              </a:ext>
            </a:extLst>
          </p:cNvPr>
          <p:cNvSpPr>
            <a:spLocks xmlns:a="http://schemas.openxmlformats.org/drawingml/2006/main" noGrp="1"/>
          </p:cNvSpPr>
          <p:nvPr/>
        </p:nvSpPr>
        <p:spPr>
          <a:xfrm xmlns:a="http://schemas.openxmlformats.org/drawingml/2006/main">
            <a:off x="876300" y="4972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Obfuscation</a:t>
            </a:r>
          </a:p>
        </p:txBody>
      </p:sp>
      <p:sp>
        <p:nvSpPr>
          <p:cNvPr id="31" name="">
            <a:extLst xmlns:a="http://schemas.openxmlformats.org/drawingml/2006/main">
              <a:ext uri="{FF2B5EF4-FFF2-40B4-BE49-F238E27FC236}">
                <a16:creationId xmlns:a16="http://schemas.microsoft.com/office/drawing/2014/main" id="{31C6B6F9-FB1C-4CFC-A471-B083B1767092}"/>
              </a:ext>
            </a:extLst>
          </p:cNvPr>
          <p:cNvSpPr>
            <a:spLocks xmlns:a="http://schemas.openxmlformats.org/drawingml/2006/main" noGrp="1"/>
          </p:cNvSpPr>
          <p:nvPr/>
        </p:nvSpPr>
        <p:spPr>
          <a:xfrm xmlns:a="http://schemas.openxmlformats.org/drawingml/2006/main">
            <a:off x="2686050" y="49434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Confidence-affecting policy</a:t>
            </a:r>
          </a:p>
        </p:txBody>
      </p:sp>
      <p:sp>
        <p:nvSpPr>
          <p:cNvPr id="32" name="">
            <a:extLst xmlns:a="http://schemas.openxmlformats.org/drawingml/2006/main">
              <a:ext uri="{FF2B5EF4-FFF2-40B4-BE49-F238E27FC236}">
                <a16:creationId xmlns:a16="http://schemas.microsoft.com/office/drawing/2014/main" id="{9317D98C-706F-4B4B-9F85-C58CC3A530BC}"/>
              </a:ext>
            </a:extLst>
          </p:cNvPr>
          <p:cNvSpPr>
            <a:spLocks xmlns:a="http://schemas.openxmlformats.org/drawingml/2006/main" noGrp="1"/>
          </p:cNvSpPr>
          <p:nvPr/>
        </p:nvSpPr>
        <p:spPr>
          <a:xfrm xmlns:a="http://schemas.openxmlformats.org/drawingml/2006/main">
            <a:off x="5067300" y="49053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R8 can remove or transform evidence, so the system lowers confidence instead of claiming immunity.</a:t>
            </a:r>
          </a:p>
        </p:txBody>
      </p:sp>
      <p:sp>
        <p:nvSpPr>
          <p:cNvPr id="33" name="">
            <a:extLst xmlns:a="http://schemas.openxmlformats.org/drawingml/2006/main">
              <a:ext uri="{FF2B5EF4-FFF2-40B4-BE49-F238E27FC236}">
                <a16:creationId xmlns:a16="http://schemas.microsoft.com/office/drawing/2014/main" id="{870E3AFF-104D-4717-BB8F-FB12337C47DB}"/>
              </a:ext>
            </a:extLst>
          </p:cNvPr>
          <p:cNvSpPr>
            <a:spLocks xmlns:a="http://schemas.openxmlformats.org/drawingml/2006/main" noGrp="1"/>
          </p:cNvSpPr>
          <p:nvPr/>
        </p:nvSpPr>
        <p:spPr>
          <a:xfrm xmlns:a="http://schemas.openxmlformats.org/drawingml/2006/main">
            <a:off x="8972550" y="49434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“Obfuscation-proof” claims</a:t>
            </a:r>
          </a:p>
        </p:txBody>
      </p:sp>
      <p:sp>
        <p:nvSpPr>
          <p:cNvPr id="34" name="">
            <a:extLst xmlns:a="http://schemas.openxmlformats.org/drawingml/2006/main">
              <a:ext uri="{FF2B5EF4-FFF2-40B4-BE49-F238E27FC236}">
                <a16:creationId xmlns:a16="http://schemas.microsoft.com/office/drawing/2014/main" id="{0195386C-33DB-49CC-8B47-4D8AE183EAD8}"/>
              </a:ext>
            </a:extLst>
          </p:cNvPr>
          <p:cNvSpPr>
            <a:spLocks xmlns:a="http://schemas.openxmlformats.org/drawingml/2006/main" noGrp="1"/>
          </p:cNvSpPr>
          <p:nvPr/>
        </p:nvSpPr>
        <p:spPr>
          <a:xfrm xmlns:a="http://schemas.openxmlformats.org/drawingml/2006/main">
            <a:off x="685800" y="57340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F004922-C14E-4246-9781-A3B7460169AA}"/>
              </a:ext>
            </a:extLst>
          </p:cNvPr>
          <p:cNvSpPr>
            <a:spLocks xmlns:a="http://schemas.openxmlformats.org/drawingml/2006/main" noGrp="1"/>
          </p:cNvSpPr>
          <p:nvPr/>
        </p:nvSpPr>
        <p:spPr>
          <a:xfrm xmlns:a="http://schemas.openxmlformats.org/drawingml/2006/main">
            <a:off x="819150" y="58007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Architecture rationale: docs/architecture/DECISIONS_LOG.md  |  docs/architecture/MVP_ARCHITECTURE.md</a:t>
            </a:r>
          </a:p>
        </p:txBody>
      </p:sp>
      <p:sp>
        <p:nvSpPr>
          <p:cNvPr id="36" name="">
            <a:extLst xmlns:a="http://schemas.openxmlformats.org/drawingml/2006/main">
              <a:ext uri="{FF2B5EF4-FFF2-40B4-BE49-F238E27FC236}">
                <a16:creationId xmlns:a16="http://schemas.microsoft.com/office/drawing/2014/main" id="{79E925BB-5AA6-4E8D-9C73-F0BDBC4903C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50270785"/>
      </p:ext>
    </p:extLst>
  </p:cSld>
</p:sld>
</file>

<file path=ppt/slides/slide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165618-DA8D-4E43-A555-D66C2991BD5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SYSTEM ARCHITECTURE</a:t>
            </a:r>
          </a:p>
        </p:txBody>
      </p:sp>
      <p:sp>
        <p:nvSpPr>
          <p:cNvPr id="2" name="">
            <a:extLst xmlns:a="http://schemas.openxmlformats.org/drawingml/2006/main">
              <a:ext uri="{FF2B5EF4-FFF2-40B4-BE49-F238E27FC236}">
                <a16:creationId xmlns:a16="http://schemas.microsoft.com/office/drawing/2014/main" id="{AF94E9E0-3293-4490-8A04-07C51BDDDD6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MVP architecture: APK evidence and Maven references converge at the matcher</a:t>
            </a:r>
          </a:p>
        </p:txBody>
      </p:sp>
      <p:sp>
        <p:nvSpPr>
          <p:cNvPr id="3" name="">
            <a:extLst xmlns:a="http://schemas.openxmlformats.org/drawingml/2006/main">
              <a:ext uri="{FF2B5EF4-FFF2-40B4-BE49-F238E27FC236}">
                <a16:creationId xmlns:a16="http://schemas.microsoft.com/office/drawing/2014/main" id="{0CBF17E5-1DEF-4C96-9BAC-F785967FBBB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CBB90D62-7E43-4E41-92A2-ED7AFCCF5B92}"/>
              </a:ext>
            </a:extLst>
          </p:cNvPr>
          <p:cNvSpPr>
            <a:spLocks xmlns:a="http://schemas.openxmlformats.org/drawingml/2006/main" noGrp="1"/>
          </p:cNvSpPr>
          <p:nvPr/>
        </p:nvSpPr>
        <p:spPr>
          <a:xfrm xmlns:a="http://schemas.openxmlformats.org/drawingml/2006/main">
            <a:off x="6286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70CBDF9A-68FB-4066-94C9-FB454E46641E}"/>
              </a:ext>
            </a:extLst>
          </p:cNvPr>
          <p:cNvSpPr>
            <a:spLocks xmlns:a="http://schemas.openxmlformats.org/drawingml/2006/main" noGrp="1"/>
          </p:cNvSpPr>
          <p:nvPr/>
        </p:nvSpPr>
        <p:spPr>
          <a:xfrm xmlns:a="http://schemas.openxmlformats.org/drawingml/2006/main">
            <a:off x="7620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CB0CD69C-F567-470C-8DD9-E1DD1EF27BF5}"/>
              </a:ext>
            </a:extLst>
          </p:cNvPr>
          <p:cNvSpPr>
            <a:spLocks xmlns:a="http://schemas.openxmlformats.org/drawingml/2006/main" noGrp="1"/>
          </p:cNvSpPr>
          <p:nvPr/>
        </p:nvSpPr>
        <p:spPr>
          <a:xfrm xmlns:a="http://schemas.openxmlformats.org/drawingml/2006/main">
            <a:off x="7620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Compiled APK</a:t>
            </a:r>
          </a:p>
        </p:txBody>
      </p:sp>
      <p:sp>
        <p:nvSpPr>
          <p:cNvPr id="7" name="">
            <a:extLst xmlns:a="http://schemas.openxmlformats.org/drawingml/2006/main">
              <a:ext uri="{FF2B5EF4-FFF2-40B4-BE49-F238E27FC236}">
                <a16:creationId xmlns:a16="http://schemas.microsoft.com/office/drawing/2014/main" id="{F5CF375F-D9FD-4A1E-A30B-86FDF98DB208}"/>
              </a:ext>
            </a:extLst>
          </p:cNvPr>
          <p:cNvSpPr>
            <a:spLocks xmlns:a="http://schemas.openxmlformats.org/drawingml/2006/main" noGrp="1"/>
          </p:cNvSpPr>
          <p:nvPr/>
        </p:nvSpPr>
        <p:spPr>
          <a:xfrm xmlns:a="http://schemas.openxmlformats.org/drawingml/2006/main">
            <a:off x="7620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DEX · manifest · resources · native</a:t>
            </a:r>
          </a:p>
        </p:txBody>
      </p:sp>
      <p:sp>
        <p:nvSpPr>
          <p:cNvPr id="8" name="rule">
            <a:extLst xmlns:a="http://schemas.openxmlformats.org/drawingml/2006/main">
              <a:ext uri="{FF2B5EF4-FFF2-40B4-BE49-F238E27FC236}">
                <a16:creationId xmlns:a16="http://schemas.microsoft.com/office/drawing/2014/main" id="{9853AB2C-5F57-489E-B13D-B2BF34E3BB59}"/>
              </a:ext>
            </a:extLst>
          </p:cNvPr>
          <p:cNvSpPr>
            <a:spLocks xmlns:a="http://schemas.openxmlformats.org/drawingml/2006/main" noGrp="1"/>
          </p:cNvSpPr>
          <p:nvPr/>
        </p:nvSpPr>
        <p:spPr>
          <a:xfrm xmlns:a="http://schemas.openxmlformats.org/drawingml/2006/main">
            <a:off x="22098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8DE150-1410-4E00-9956-5BB7E627A8BD}"/>
              </a:ext>
            </a:extLst>
          </p:cNvPr>
          <p:cNvSpPr>
            <a:spLocks xmlns:a="http://schemas.openxmlformats.org/drawingml/2006/main" noGrp="1"/>
          </p:cNvSpPr>
          <p:nvPr/>
        </p:nvSpPr>
        <p:spPr>
          <a:xfrm xmlns:a="http://schemas.openxmlformats.org/drawingml/2006/main">
            <a:off x="22479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F6C28B-638B-4E37-8C4B-BC1537D59B41}"/>
              </a:ext>
            </a:extLst>
          </p:cNvPr>
          <p:cNvSpPr>
            <a:spLocks xmlns:a="http://schemas.openxmlformats.org/drawingml/2006/main" noGrp="1"/>
          </p:cNvSpPr>
          <p:nvPr/>
        </p:nvSpPr>
        <p:spPr>
          <a:xfrm xmlns:a="http://schemas.openxmlformats.org/drawingml/2006/main">
            <a:off x="24765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1" name="">
            <a:extLst xmlns:a="http://schemas.openxmlformats.org/drawingml/2006/main">
              <a:ext uri="{FF2B5EF4-FFF2-40B4-BE49-F238E27FC236}">
                <a16:creationId xmlns:a16="http://schemas.microsoft.com/office/drawing/2014/main" id="{3222D420-DA66-4DAF-BEA8-E240F9490EF6}"/>
              </a:ext>
            </a:extLst>
          </p:cNvPr>
          <p:cNvSpPr>
            <a:spLocks xmlns:a="http://schemas.openxmlformats.org/drawingml/2006/main" noGrp="1"/>
          </p:cNvSpPr>
          <p:nvPr/>
        </p:nvSpPr>
        <p:spPr>
          <a:xfrm xmlns:a="http://schemas.openxmlformats.org/drawingml/2006/main">
            <a:off x="26098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5EE4FA6E-9AC2-408A-93DA-DAE506EDAEB3}"/>
              </a:ext>
            </a:extLst>
          </p:cNvPr>
          <p:cNvSpPr>
            <a:spLocks xmlns:a="http://schemas.openxmlformats.org/drawingml/2006/main" noGrp="1"/>
          </p:cNvSpPr>
          <p:nvPr/>
        </p:nvSpPr>
        <p:spPr>
          <a:xfrm xmlns:a="http://schemas.openxmlformats.org/drawingml/2006/main">
            <a:off x="26098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APK extraction</a:t>
            </a:r>
          </a:p>
        </p:txBody>
      </p:sp>
      <p:sp>
        <p:nvSpPr>
          <p:cNvPr id="13" name="">
            <a:extLst xmlns:a="http://schemas.openxmlformats.org/drawingml/2006/main">
              <a:ext uri="{FF2B5EF4-FFF2-40B4-BE49-F238E27FC236}">
                <a16:creationId xmlns:a16="http://schemas.microsoft.com/office/drawing/2014/main" id="{671A3256-4438-40DA-B435-73646C5046F8}"/>
              </a:ext>
            </a:extLst>
          </p:cNvPr>
          <p:cNvSpPr>
            <a:spLocks xmlns:a="http://schemas.openxmlformats.org/drawingml/2006/main" noGrp="1"/>
          </p:cNvSpPr>
          <p:nvPr/>
        </p:nvSpPr>
        <p:spPr>
          <a:xfrm xmlns:a="http://schemas.openxmlformats.org/drawingml/2006/main">
            <a:off x="26098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inventory · metadata · forensic risk</a:t>
            </a:r>
          </a:p>
        </p:txBody>
      </p:sp>
      <p:sp>
        <p:nvSpPr>
          <p:cNvPr id="14" name="rule">
            <a:extLst xmlns:a="http://schemas.openxmlformats.org/drawingml/2006/main">
              <a:ext uri="{FF2B5EF4-FFF2-40B4-BE49-F238E27FC236}">
                <a16:creationId xmlns:a16="http://schemas.microsoft.com/office/drawing/2014/main" id="{B6F6CEBA-92BE-4418-A876-E23F3E5D4834}"/>
              </a:ext>
            </a:extLst>
          </p:cNvPr>
          <p:cNvSpPr>
            <a:spLocks xmlns:a="http://schemas.openxmlformats.org/drawingml/2006/main" noGrp="1"/>
          </p:cNvSpPr>
          <p:nvPr/>
        </p:nvSpPr>
        <p:spPr>
          <a:xfrm xmlns:a="http://schemas.openxmlformats.org/drawingml/2006/main">
            <a:off x="40576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69FA1B9-123C-4A5D-B2C0-48605625D160}"/>
              </a:ext>
            </a:extLst>
          </p:cNvPr>
          <p:cNvSpPr>
            <a:spLocks xmlns:a="http://schemas.openxmlformats.org/drawingml/2006/main" noGrp="1"/>
          </p:cNvSpPr>
          <p:nvPr/>
        </p:nvSpPr>
        <p:spPr>
          <a:xfrm xmlns:a="http://schemas.openxmlformats.org/drawingml/2006/main">
            <a:off x="40957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C45EE90-7091-40AB-A37C-8EE55F5CFD91}"/>
              </a:ext>
            </a:extLst>
          </p:cNvPr>
          <p:cNvSpPr>
            <a:spLocks xmlns:a="http://schemas.openxmlformats.org/drawingml/2006/main" noGrp="1"/>
          </p:cNvSpPr>
          <p:nvPr/>
        </p:nvSpPr>
        <p:spPr>
          <a:xfrm xmlns:a="http://schemas.openxmlformats.org/drawingml/2006/main">
            <a:off x="43243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7" name="">
            <a:extLst xmlns:a="http://schemas.openxmlformats.org/drawingml/2006/main">
              <a:ext uri="{FF2B5EF4-FFF2-40B4-BE49-F238E27FC236}">
                <a16:creationId xmlns:a16="http://schemas.microsoft.com/office/drawing/2014/main" id="{5F09E3DC-3D66-49BC-9E84-B540E603347A}"/>
              </a:ext>
            </a:extLst>
          </p:cNvPr>
          <p:cNvSpPr>
            <a:spLocks xmlns:a="http://schemas.openxmlformats.org/drawingml/2006/main" noGrp="1"/>
          </p:cNvSpPr>
          <p:nvPr/>
        </p:nvSpPr>
        <p:spPr>
          <a:xfrm xmlns:a="http://schemas.openxmlformats.org/drawingml/2006/main">
            <a:off x="44577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B70A9091-6A2A-48F7-9C6E-AADDE6DA736F}"/>
              </a:ext>
            </a:extLst>
          </p:cNvPr>
          <p:cNvSpPr>
            <a:spLocks xmlns:a="http://schemas.openxmlformats.org/drawingml/2006/main" noGrp="1"/>
          </p:cNvSpPr>
          <p:nvPr/>
        </p:nvSpPr>
        <p:spPr>
          <a:xfrm xmlns:a="http://schemas.openxmlformats.org/drawingml/2006/main">
            <a:off x="44577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DEX analysis</a:t>
            </a:r>
          </a:p>
        </p:txBody>
      </p:sp>
      <p:sp>
        <p:nvSpPr>
          <p:cNvPr id="19" name="">
            <a:extLst xmlns:a="http://schemas.openxmlformats.org/drawingml/2006/main">
              <a:ext uri="{FF2B5EF4-FFF2-40B4-BE49-F238E27FC236}">
                <a16:creationId xmlns:a16="http://schemas.microsoft.com/office/drawing/2014/main" id="{F2064918-E119-463A-86C0-3C9B9543BED6}"/>
              </a:ext>
            </a:extLst>
          </p:cNvPr>
          <p:cNvSpPr>
            <a:spLocks xmlns:a="http://schemas.openxmlformats.org/drawingml/2006/main" noGrp="1"/>
          </p:cNvSpPr>
          <p:nvPr/>
        </p:nvSpPr>
        <p:spPr>
          <a:xfrm xmlns:a="http://schemas.openxmlformats.org/drawingml/2006/main">
            <a:off x="44577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packages · classes · methods · opcodes · graph</a:t>
            </a:r>
          </a:p>
        </p:txBody>
      </p:sp>
      <p:sp>
        <p:nvSpPr>
          <p:cNvPr id="20" name="rule">
            <a:extLst xmlns:a="http://schemas.openxmlformats.org/drawingml/2006/main">
              <a:ext uri="{FF2B5EF4-FFF2-40B4-BE49-F238E27FC236}">
                <a16:creationId xmlns:a16="http://schemas.microsoft.com/office/drawing/2014/main" id="{B8EE991B-4503-4F6E-A9D4-DC6CF245FB7E}"/>
              </a:ext>
            </a:extLst>
          </p:cNvPr>
          <p:cNvSpPr>
            <a:spLocks xmlns:a="http://schemas.openxmlformats.org/drawingml/2006/main" noGrp="1"/>
          </p:cNvSpPr>
          <p:nvPr/>
        </p:nvSpPr>
        <p:spPr>
          <a:xfrm xmlns:a="http://schemas.openxmlformats.org/drawingml/2006/main">
            <a:off x="59055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7A8164D-0F61-404C-8D71-2738D40AA8B0}"/>
              </a:ext>
            </a:extLst>
          </p:cNvPr>
          <p:cNvSpPr>
            <a:spLocks xmlns:a="http://schemas.openxmlformats.org/drawingml/2006/main" noGrp="1"/>
          </p:cNvSpPr>
          <p:nvPr/>
        </p:nvSpPr>
        <p:spPr>
          <a:xfrm xmlns:a="http://schemas.openxmlformats.org/drawingml/2006/main">
            <a:off x="59436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B4AA698-9355-4B71-A0F8-F2A726A26146}"/>
              </a:ext>
            </a:extLst>
          </p:cNvPr>
          <p:cNvSpPr>
            <a:spLocks xmlns:a="http://schemas.openxmlformats.org/drawingml/2006/main" noGrp="1"/>
          </p:cNvSpPr>
          <p:nvPr/>
        </p:nvSpPr>
        <p:spPr>
          <a:xfrm xmlns:a="http://schemas.openxmlformats.org/drawingml/2006/main">
            <a:off x="61722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23" name="">
            <a:extLst xmlns:a="http://schemas.openxmlformats.org/drawingml/2006/main">
              <a:ext uri="{FF2B5EF4-FFF2-40B4-BE49-F238E27FC236}">
                <a16:creationId xmlns:a16="http://schemas.microsoft.com/office/drawing/2014/main" id="{59EB7B07-42CF-42C3-BF1C-80839CF1C995}"/>
              </a:ext>
            </a:extLst>
          </p:cNvPr>
          <p:cNvSpPr>
            <a:spLocks xmlns:a="http://schemas.openxmlformats.org/drawingml/2006/main" noGrp="1"/>
          </p:cNvSpPr>
          <p:nvPr/>
        </p:nvSpPr>
        <p:spPr>
          <a:xfrm xmlns:a="http://schemas.openxmlformats.org/drawingml/2006/main">
            <a:off x="63055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EA4892EE-3593-4225-ACD9-7AA3CB777D4E}"/>
              </a:ext>
            </a:extLst>
          </p:cNvPr>
          <p:cNvSpPr>
            <a:spLocks xmlns:a="http://schemas.openxmlformats.org/drawingml/2006/main" noGrp="1"/>
          </p:cNvSpPr>
          <p:nvPr/>
        </p:nvSpPr>
        <p:spPr>
          <a:xfrm xmlns:a="http://schemas.openxmlformats.org/drawingml/2006/main">
            <a:off x="63055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Hybrid matcher</a:t>
            </a:r>
          </a:p>
        </p:txBody>
      </p:sp>
      <p:sp>
        <p:nvSpPr>
          <p:cNvPr id="25" name="">
            <a:extLst xmlns:a="http://schemas.openxmlformats.org/drawingml/2006/main">
              <a:ext uri="{FF2B5EF4-FFF2-40B4-BE49-F238E27FC236}">
                <a16:creationId xmlns:a16="http://schemas.microsoft.com/office/drawing/2014/main" id="{D2AE0B64-CC3E-4FE8-B3E9-6E3F00CCAE07}"/>
              </a:ext>
            </a:extLst>
          </p:cNvPr>
          <p:cNvSpPr>
            <a:spLocks xmlns:a="http://schemas.openxmlformats.org/drawingml/2006/main" noGrp="1"/>
          </p:cNvSpPr>
          <p:nvPr/>
        </p:nvSpPr>
        <p:spPr>
          <a:xfrm xmlns:a="http://schemas.openxmlformats.org/drawingml/2006/main">
            <a:off x="63055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candidate shortlist · multi-signal scoring</a:t>
            </a:r>
          </a:p>
        </p:txBody>
      </p:sp>
      <p:sp>
        <p:nvSpPr>
          <p:cNvPr id="26" name="rule">
            <a:extLst xmlns:a="http://schemas.openxmlformats.org/drawingml/2006/main">
              <a:ext uri="{FF2B5EF4-FFF2-40B4-BE49-F238E27FC236}">
                <a16:creationId xmlns:a16="http://schemas.microsoft.com/office/drawing/2014/main" id="{AA10F4AD-D2F6-41AD-88B6-A91E32788980}"/>
              </a:ext>
            </a:extLst>
          </p:cNvPr>
          <p:cNvSpPr>
            <a:spLocks xmlns:a="http://schemas.openxmlformats.org/drawingml/2006/main" noGrp="1"/>
          </p:cNvSpPr>
          <p:nvPr/>
        </p:nvSpPr>
        <p:spPr>
          <a:xfrm xmlns:a="http://schemas.openxmlformats.org/drawingml/2006/main">
            <a:off x="77533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30764C0-759A-4C99-8B78-F21BC3BAEF66}"/>
              </a:ext>
            </a:extLst>
          </p:cNvPr>
          <p:cNvSpPr>
            <a:spLocks xmlns:a="http://schemas.openxmlformats.org/drawingml/2006/main" noGrp="1"/>
          </p:cNvSpPr>
          <p:nvPr/>
        </p:nvSpPr>
        <p:spPr>
          <a:xfrm xmlns:a="http://schemas.openxmlformats.org/drawingml/2006/main">
            <a:off x="77914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FBB1D3-46B7-4D3E-98BC-6101C41812BC}"/>
              </a:ext>
            </a:extLst>
          </p:cNvPr>
          <p:cNvSpPr>
            <a:spLocks xmlns:a="http://schemas.openxmlformats.org/drawingml/2006/main" noGrp="1"/>
          </p:cNvSpPr>
          <p:nvPr/>
        </p:nvSpPr>
        <p:spPr>
          <a:xfrm xmlns:a="http://schemas.openxmlformats.org/drawingml/2006/main">
            <a:off x="80200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9" name="">
            <a:extLst xmlns:a="http://schemas.openxmlformats.org/drawingml/2006/main">
              <a:ext uri="{FF2B5EF4-FFF2-40B4-BE49-F238E27FC236}">
                <a16:creationId xmlns:a16="http://schemas.microsoft.com/office/drawing/2014/main" id="{AF336E09-7811-499A-A73D-1F3090229C90}"/>
              </a:ext>
            </a:extLst>
          </p:cNvPr>
          <p:cNvSpPr>
            <a:spLocks xmlns:a="http://schemas.openxmlformats.org/drawingml/2006/main" noGrp="1"/>
          </p:cNvSpPr>
          <p:nvPr/>
        </p:nvSpPr>
        <p:spPr>
          <a:xfrm xmlns:a="http://schemas.openxmlformats.org/drawingml/2006/main">
            <a:off x="81534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367C5F06-C60C-443B-8039-555E5BB0460D}"/>
              </a:ext>
            </a:extLst>
          </p:cNvPr>
          <p:cNvSpPr>
            <a:spLocks xmlns:a="http://schemas.openxmlformats.org/drawingml/2006/main" noGrp="1"/>
          </p:cNvSpPr>
          <p:nvPr/>
        </p:nvSpPr>
        <p:spPr>
          <a:xfrm xmlns:a="http://schemas.openxmlformats.org/drawingml/2006/main">
            <a:off x="81534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Confidence gate</a:t>
            </a:r>
          </a:p>
        </p:txBody>
      </p:sp>
      <p:sp>
        <p:nvSpPr>
          <p:cNvPr id="31" name="">
            <a:extLst xmlns:a="http://schemas.openxmlformats.org/drawingml/2006/main">
              <a:ext uri="{FF2B5EF4-FFF2-40B4-BE49-F238E27FC236}">
                <a16:creationId xmlns:a16="http://schemas.microsoft.com/office/drawing/2014/main" id="{3A15E5F9-3768-4219-9DF3-57182CC7FB9A}"/>
              </a:ext>
            </a:extLst>
          </p:cNvPr>
          <p:cNvSpPr>
            <a:spLocks xmlns:a="http://schemas.openxmlformats.org/drawingml/2006/main" noGrp="1"/>
          </p:cNvSpPr>
          <p:nvPr/>
        </p:nvSpPr>
        <p:spPr>
          <a:xfrm xmlns:a="http://schemas.openxmlformats.org/drawingml/2006/main">
            <a:off x="81534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identity · version · ambiguity</a:t>
            </a:r>
          </a:p>
        </p:txBody>
      </p:sp>
      <p:sp>
        <p:nvSpPr>
          <p:cNvPr id="32" name="rule">
            <a:extLst xmlns:a="http://schemas.openxmlformats.org/drawingml/2006/main">
              <a:ext uri="{FF2B5EF4-FFF2-40B4-BE49-F238E27FC236}">
                <a16:creationId xmlns:a16="http://schemas.microsoft.com/office/drawing/2014/main" id="{48E73B4B-E923-45EB-B2BB-080AEC6952F6}"/>
              </a:ext>
            </a:extLst>
          </p:cNvPr>
          <p:cNvSpPr>
            <a:spLocks xmlns:a="http://schemas.openxmlformats.org/drawingml/2006/main" noGrp="1"/>
          </p:cNvSpPr>
          <p:nvPr/>
        </p:nvSpPr>
        <p:spPr>
          <a:xfrm xmlns:a="http://schemas.openxmlformats.org/drawingml/2006/main">
            <a:off x="96012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DC31DA6-9E7C-4D38-9773-D0F36FC2B13A}"/>
              </a:ext>
            </a:extLst>
          </p:cNvPr>
          <p:cNvSpPr>
            <a:spLocks xmlns:a="http://schemas.openxmlformats.org/drawingml/2006/main" noGrp="1"/>
          </p:cNvSpPr>
          <p:nvPr/>
        </p:nvSpPr>
        <p:spPr>
          <a:xfrm xmlns:a="http://schemas.openxmlformats.org/drawingml/2006/main">
            <a:off x="96393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B6877DD-CF30-49DF-9A59-74E359288328}"/>
              </a:ext>
            </a:extLst>
          </p:cNvPr>
          <p:cNvSpPr>
            <a:spLocks xmlns:a="http://schemas.openxmlformats.org/drawingml/2006/main" noGrp="1"/>
          </p:cNvSpPr>
          <p:nvPr/>
        </p:nvSpPr>
        <p:spPr>
          <a:xfrm xmlns:a="http://schemas.openxmlformats.org/drawingml/2006/main">
            <a:off x="98679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5" name="">
            <a:extLst xmlns:a="http://schemas.openxmlformats.org/drawingml/2006/main">
              <a:ext uri="{FF2B5EF4-FFF2-40B4-BE49-F238E27FC236}">
                <a16:creationId xmlns:a16="http://schemas.microsoft.com/office/drawing/2014/main" id="{6B59D3E2-ADB1-482B-BB88-D9F16C68B3AA}"/>
              </a:ext>
            </a:extLst>
          </p:cNvPr>
          <p:cNvSpPr>
            <a:spLocks xmlns:a="http://schemas.openxmlformats.org/drawingml/2006/main" noGrp="1"/>
          </p:cNvSpPr>
          <p:nvPr/>
        </p:nvSpPr>
        <p:spPr>
          <a:xfrm xmlns:a="http://schemas.openxmlformats.org/drawingml/2006/main">
            <a:off x="100012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6</a:t>
            </a:r>
          </a:p>
        </p:txBody>
      </p:sp>
      <p:sp>
        <p:nvSpPr>
          <p:cNvPr id="36" name="">
            <a:extLst xmlns:a="http://schemas.openxmlformats.org/drawingml/2006/main">
              <a:ext uri="{FF2B5EF4-FFF2-40B4-BE49-F238E27FC236}">
                <a16:creationId xmlns:a16="http://schemas.microsoft.com/office/drawing/2014/main" id="{4F7666B4-2ABE-49AB-BE3C-623935D1E3D8}"/>
              </a:ext>
            </a:extLst>
          </p:cNvPr>
          <p:cNvSpPr>
            <a:spLocks xmlns:a="http://schemas.openxmlformats.org/drawingml/2006/main" noGrp="1"/>
          </p:cNvSpPr>
          <p:nvPr/>
        </p:nvSpPr>
        <p:spPr>
          <a:xfrm xmlns:a="http://schemas.openxmlformats.org/drawingml/2006/main">
            <a:off x="100012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Security outputs</a:t>
            </a:r>
          </a:p>
        </p:txBody>
      </p:sp>
      <p:sp>
        <p:nvSpPr>
          <p:cNvPr id="37" name="">
            <a:extLst xmlns:a="http://schemas.openxmlformats.org/drawingml/2006/main">
              <a:ext uri="{FF2B5EF4-FFF2-40B4-BE49-F238E27FC236}">
                <a16:creationId xmlns:a16="http://schemas.microsoft.com/office/drawing/2014/main" id="{709C7EC2-CD7B-4E29-92D4-A4BCF46D09DC}"/>
              </a:ext>
            </a:extLst>
          </p:cNvPr>
          <p:cNvSpPr>
            <a:spLocks xmlns:a="http://schemas.openxmlformats.org/drawingml/2006/main" noGrp="1"/>
          </p:cNvSpPr>
          <p:nvPr/>
        </p:nvSpPr>
        <p:spPr>
          <a:xfrm xmlns:a="http://schemas.openxmlformats.org/drawingml/2006/main">
            <a:off x="100012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CycloneDX · OSV · JSON/HTML report</a:t>
            </a:r>
          </a:p>
        </p:txBody>
      </p:sp>
      <p:sp>
        <p:nvSpPr>
          <p:cNvPr id="38" name="">
            <a:extLst xmlns:a="http://schemas.openxmlformats.org/drawingml/2006/main">
              <a:ext uri="{FF2B5EF4-FFF2-40B4-BE49-F238E27FC236}">
                <a16:creationId xmlns:a16="http://schemas.microsoft.com/office/drawing/2014/main" id="{874AFB20-94CB-4BB5-A223-D8FE8086FCE5}"/>
              </a:ext>
            </a:extLst>
          </p:cNvPr>
          <p:cNvSpPr>
            <a:spLocks xmlns:a="http://schemas.openxmlformats.org/drawingml/2006/main" noGrp="1"/>
          </p:cNvSpPr>
          <p:nvPr/>
        </p:nvSpPr>
        <p:spPr>
          <a:xfrm xmlns:a="http://schemas.openxmlformats.org/drawingml/2006/main">
            <a:off x="685800" y="3371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REFERENCE PROFILE PIPELINE</a:t>
            </a:r>
          </a:p>
        </p:txBody>
      </p:sp>
      <p:sp>
        <p:nvSpPr>
          <p:cNvPr id="39" name="">
            <a:extLst xmlns:a="http://schemas.openxmlformats.org/drawingml/2006/main">
              <a:ext uri="{FF2B5EF4-FFF2-40B4-BE49-F238E27FC236}">
                <a16:creationId xmlns:a16="http://schemas.microsoft.com/office/drawing/2014/main" id="{A9527AB8-C32B-4CF3-9B2A-519976488E06}"/>
              </a:ext>
            </a:extLst>
          </p:cNvPr>
          <p:cNvSpPr>
            <a:spLocks xmlns:a="http://schemas.openxmlformats.org/drawingml/2006/main" noGrp="1"/>
          </p:cNvSpPr>
          <p:nvPr/>
        </p:nvSpPr>
        <p:spPr>
          <a:xfrm xmlns:a="http://schemas.openxmlformats.org/drawingml/2006/main">
            <a:off x="6858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0" name="">
            <a:extLst xmlns:a="http://schemas.openxmlformats.org/drawingml/2006/main">
              <a:ext uri="{FF2B5EF4-FFF2-40B4-BE49-F238E27FC236}">
                <a16:creationId xmlns:a16="http://schemas.microsoft.com/office/drawing/2014/main" id="{29AA7FD3-A2E3-43D5-B0F6-5ADBB049532D}"/>
              </a:ext>
            </a:extLst>
          </p:cNvPr>
          <p:cNvSpPr>
            <a:spLocks xmlns:a="http://schemas.openxmlformats.org/drawingml/2006/main" noGrp="1"/>
          </p:cNvSpPr>
          <p:nvPr/>
        </p:nvSpPr>
        <p:spPr>
          <a:xfrm xmlns:a="http://schemas.openxmlformats.org/drawingml/2006/main">
            <a:off x="8191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Maven JAR/AAR</a:t>
            </a:r>
          </a:p>
        </p:txBody>
      </p:sp>
      <p:sp>
        <p:nvSpPr>
          <p:cNvPr id="41" name="">
            <a:extLst xmlns:a="http://schemas.openxmlformats.org/drawingml/2006/main">
              <a:ext uri="{FF2B5EF4-FFF2-40B4-BE49-F238E27FC236}">
                <a16:creationId xmlns:a16="http://schemas.microsoft.com/office/drawing/2014/main" id="{04BB29F4-1F4E-4369-B5FD-1FDA3C85120F}"/>
              </a:ext>
            </a:extLst>
          </p:cNvPr>
          <p:cNvSpPr>
            <a:spLocks xmlns:a="http://schemas.openxmlformats.org/drawingml/2006/main" noGrp="1"/>
          </p:cNvSpPr>
          <p:nvPr/>
        </p:nvSpPr>
        <p:spPr>
          <a:xfrm xmlns:a="http://schemas.openxmlformats.org/drawingml/2006/main">
            <a:off x="8191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coordinate + version + POM</a:t>
            </a:r>
          </a:p>
        </p:txBody>
      </p:sp>
      <p:sp>
        <p:nvSpPr>
          <p:cNvPr id="42" name="rule">
            <a:extLst xmlns:a="http://schemas.openxmlformats.org/drawingml/2006/main">
              <a:ext uri="{FF2B5EF4-FFF2-40B4-BE49-F238E27FC236}">
                <a16:creationId xmlns:a16="http://schemas.microsoft.com/office/drawing/2014/main" id="{976900D0-5565-4E60-B2B1-E0FB8C0E1538}"/>
              </a:ext>
            </a:extLst>
          </p:cNvPr>
          <p:cNvSpPr>
            <a:spLocks xmlns:a="http://schemas.openxmlformats.org/drawingml/2006/main" noGrp="1"/>
          </p:cNvSpPr>
          <p:nvPr/>
        </p:nvSpPr>
        <p:spPr>
          <a:xfrm xmlns:a="http://schemas.openxmlformats.org/drawingml/2006/main">
            <a:off x="25717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22F6B00-5F45-47E0-B497-A83228B396F5}"/>
              </a:ext>
            </a:extLst>
          </p:cNvPr>
          <p:cNvSpPr>
            <a:spLocks xmlns:a="http://schemas.openxmlformats.org/drawingml/2006/main" noGrp="1"/>
          </p:cNvSpPr>
          <p:nvPr/>
        </p:nvSpPr>
        <p:spPr>
          <a:xfrm xmlns:a="http://schemas.openxmlformats.org/drawingml/2006/main">
            <a:off x="26289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347C933-5165-4D06-9046-55056751AC64}"/>
              </a:ext>
            </a:extLst>
          </p:cNvPr>
          <p:cNvSpPr>
            <a:spLocks xmlns:a="http://schemas.openxmlformats.org/drawingml/2006/main" noGrp="1"/>
          </p:cNvSpPr>
          <p:nvPr/>
        </p:nvSpPr>
        <p:spPr>
          <a:xfrm xmlns:a="http://schemas.openxmlformats.org/drawingml/2006/main">
            <a:off x="28575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5" name="">
            <a:extLst xmlns:a="http://schemas.openxmlformats.org/drawingml/2006/main">
              <a:ext uri="{FF2B5EF4-FFF2-40B4-BE49-F238E27FC236}">
                <a16:creationId xmlns:a16="http://schemas.microsoft.com/office/drawing/2014/main" id="{B2AD0CF3-7770-42A5-87B1-FA7A43E536F9}"/>
              </a:ext>
            </a:extLst>
          </p:cNvPr>
          <p:cNvSpPr>
            <a:spLocks xmlns:a="http://schemas.openxmlformats.org/drawingml/2006/main" noGrp="1"/>
          </p:cNvSpPr>
          <p:nvPr/>
        </p:nvSpPr>
        <p:spPr>
          <a:xfrm xmlns:a="http://schemas.openxmlformats.org/drawingml/2006/main">
            <a:off x="29908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D8 normalization</a:t>
            </a:r>
          </a:p>
        </p:txBody>
      </p:sp>
      <p:sp>
        <p:nvSpPr>
          <p:cNvPr id="46" name="">
            <a:extLst xmlns:a="http://schemas.openxmlformats.org/drawingml/2006/main">
              <a:ext uri="{FF2B5EF4-FFF2-40B4-BE49-F238E27FC236}">
                <a16:creationId xmlns:a16="http://schemas.microsoft.com/office/drawing/2014/main" id="{88CF5063-6B1B-4412-B1EE-67CC90E41870}"/>
              </a:ext>
            </a:extLst>
          </p:cNvPr>
          <p:cNvSpPr>
            <a:spLocks xmlns:a="http://schemas.openxmlformats.org/drawingml/2006/main" noGrp="1"/>
          </p:cNvSpPr>
          <p:nvPr/>
        </p:nvSpPr>
        <p:spPr>
          <a:xfrm xmlns:a="http://schemas.openxmlformats.org/drawingml/2006/main">
            <a:off x="29908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JAR/AAR bytecode converted to DEX</a:t>
            </a:r>
          </a:p>
        </p:txBody>
      </p:sp>
      <p:sp>
        <p:nvSpPr>
          <p:cNvPr id="47" name="rule">
            <a:extLst xmlns:a="http://schemas.openxmlformats.org/drawingml/2006/main">
              <a:ext uri="{FF2B5EF4-FFF2-40B4-BE49-F238E27FC236}">
                <a16:creationId xmlns:a16="http://schemas.microsoft.com/office/drawing/2014/main" id="{5AFC8398-FBC4-4D28-AB02-ACCD9C963979}"/>
              </a:ext>
            </a:extLst>
          </p:cNvPr>
          <p:cNvSpPr>
            <a:spLocks xmlns:a="http://schemas.openxmlformats.org/drawingml/2006/main" noGrp="1"/>
          </p:cNvSpPr>
          <p:nvPr/>
        </p:nvSpPr>
        <p:spPr>
          <a:xfrm xmlns:a="http://schemas.openxmlformats.org/drawingml/2006/main">
            <a:off x="47434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085074B-96EF-4C85-B478-4133D9CCCCAB}"/>
              </a:ext>
            </a:extLst>
          </p:cNvPr>
          <p:cNvSpPr>
            <a:spLocks xmlns:a="http://schemas.openxmlformats.org/drawingml/2006/main" noGrp="1"/>
          </p:cNvSpPr>
          <p:nvPr/>
        </p:nvSpPr>
        <p:spPr>
          <a:xfrm xmlns:a="http://schemas.openxmlformats.org/drawingml/2006/main">
            <a:off x="48006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32ACE2E-BE86-4FA1-8C47-14014E3CDAE1}"/>
              </a:ext>
            </a:extLst>
          </p:cNvPr>
          <p:cNvSpPr>
            <a:spLocks xmlns:a="http://schemas.openxmlformats.org/drawingml/2006/main" noGrp="1"/>
          </p:cNvSpPr>
          <p:nvPr/>
        </p:nvSpPr>
        <p:spPr>
          <a:xfrm xmlns:a="http://schemas.openxmlformats.org/drawingml/2006/main">
            <a:off x="50292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0" name="">
            <a:extLst xmlns:a="http://schemas.openxmlformats.org/drawingml/2006/main">
              <a:ext uri="{FF2B5EF4-FFF2-40B4-BE49-F238E27FC236}">
                <a16:creationId xmlns:a16="http://schemas.microsoft.com/office/drawing/2014/main" id="{F25B3952-1A0A-4E5F-8EB5-A95F4530339E}"/>
              </a:ext>
            </a:extLst>
          </p:cNvPr>
          <p:cNvSpPr>
            <a:spLocks xmlns:a="http://schemas.openxmlformats.org/drawingml/2006/main" noGrp="1"/>
          </p:cNvSpPr>
          <p:nvPr/>
        </p:nvSpPr>
        <p:spPr>
          <a:xfrm xmlns:a="http://schemas.openxmlformats.org/drawingml/2006/main">
            <a:off x="51625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Feature extraction</a:t>
            </a:r>
          </a:p>
        </p:txBody>
      </p:sp>
      <p:sp>
        <p:nvSpPr>
          <p:cNvPr id="51" name="">
            <a:extLst xmlns:a="http://schemas.openxmlformats.org/drawingml/2006/main">
              <a:ext uri="{FF2B5EF4-FFF2-40B4-BE49-F238E27FC236}">
                <a16:creationId xmlns:a16="http://schemas.microsoft.com/office/drawing/2014/main" id="{2714659E-B38E-4D88-9AB2-59673A63FFAA}"/>
              </a:ext>
            </a:extLst>
          </p:cNvPr>
          <p:cNvSpPr>
            <a:spLocks xmlns:a="http://schemas.openxmlformats.org/drawingml/2006/main" noGrp="1"/>
          </p:cNvSpPr>
          <p:nvPr/>
        </p:nvSpPr>
        <p:spPr>
          <a:xfrm xmlns:a="http://schemas.openxmlformats.org/drawingml/2006/main">
            <a:off x="51625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same representation as APK evidence</a:t>
            </a:r>
          </a:p>
        </p:txBody>
      </p:sp>
      <p:sp>
        <p:nvSpPr>
          <p:cNvPr id="52" name="rule">
            <a:extLst xmlns:a="http://schemas.openxmlformats.org/drawingml/2006/main">
              <a:ext uri="{FF2B5EF4-FFF2-40B4-BE49-F238E27FC236}">
                <a16:creationId xmlns:a16="http://schemas.microsoft.com/office/drawing/2014/main" id="{8BDEE78F-0F1D-4968-9049-2ED9A9076BBF}"/>
              </a:ext>
            </a:extLst>
          </p:cNvPr>
          <p:cNvSpPr>
            <a:spLocks xmlns:a="http://schemas.openxmlformats.org/drawingml/2006/main" noGrp="1"/>
          </p:cNvSpPr>
          <p:nvPr/>
        </p:nvSpPr>
        <p:spPr>
          <a:xfrm xmlns:a="http://schemas.openxmlformats.org/drawingml/2006/main">
            <a:off x="69151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8DE7AE4-A276-4C29-A068-7D7D738436F8}"/>
              </a:ext>
            </a:extLst>
          </p:cNvPr>
          <p:cNvSpPr>
            <a:spLocks xmlns:a="http://schemas.openxmlformats.org/drawingml/2006/main" noGrp="1"/>
          </p:cNvSpPr>
          <p:nvPr/>
        </p:nvSpPr>
        <p:spPr>
          <a:xfrm xmlns:a="http://schemas.openxmlformats.org/drawingml/2006/main">
            <a:off x="69723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13475B8-64B5-4904-BB82-2F1714DA9156}"/>
              </a:ext>
            </a:extLst>
          </p:cNvPr>
          <p:cNvSpPr>
            <a:spLocks xmlns:a="http://schemas.openxmlformats.org/drawingml/2006/main" noGrp="1"/>
          </p:cNvSpPr>
          <p:nvPr/>
        </p:nvSpPr>
        <p:spPr>
          <a:xfrm xmlns:a="http://schemas.openxmlformats.org/drawingml/2006/main">
            <a:off x="7200900" y="3695700"/>
            <a:ext cx="1885950" cy="819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55" name="">
            <a:extLst xmlns:a="http://schemas.openxmlformats.org/drawingml/2006/main">
              <a:ext uri="{FF2B5EF4-FFF2-40B4-BE49-F238E27FC236}">
                <a16:creationId xmlns:a16="http://schemas.microsoft.com/office/drawing/2014/main" id="{29FED0E8-6D8E-4E3D-A70A-15A21B949724}"/>
              </a:ext>
            </a:extLst>
          </p:cNvPr>
          <p:cNvSpPr>
            <a:spLocks xmlns:a="http://schemas.openxmlformats.org/drawingml/2006/main" noGrp="1"/>
          </p:cNvSpPr>
          <p:nvPr/>
        </p:nvSpPr>
        <p:spPr>
          <a:xfrm xmlns:a="http://schemas.openxmlformats.org/drawingml/2006/main">
            <a:off x="73342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SQLite reference DB</a:t>
            </a:r>
          </a:p>
        </p:txBody>
      </p:sp>
      <p:sp>
        <p:nvSpPr>
          <p:cNvPr id="56" name="">
            <a:extLst xmlns:a="http://schemas.openxmlformats.org/drawingml/2006/main">
              <a:ext uri="{FF2B5EF4-FFF2-40B4-BE49-F238E27FC236}">
                <a16:creationId xmlns:a16="http://schemas.microsoft.com/office/drawing/2014/main" id="{896619F3-9466-4DF5-8DFB-DD2950FFD06E}"/>
              </a:ext>
            </a:extLst>
          </p:cNvPr>
          <p:cNvSpPr>
            <a:spLocks xmlns:a="http://schemas.openxmlformats.org/drawingml/2006/main" noGrp="1"/>
          </p:cNvSpPr>
          <p:nvPr/>
        </p:nvSpPr>
        <p:spPr>
          <a:xfrm xmlns:a="http://schemas.openxmlformats.org/drawingml/2006/main">
            <a:off x="73342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versioned profiles + PURLs</a:t>
            </a:r>
          </a:p>
        </p:txBody>
      </p:sp>
      <p:sp>
        <p:nvSpPr>
          <p:cNvPr id="57" name="rule">
            <a:extLst xmlns:a="http://schemas.openxmlformats.org/drawingml/2006/main">
              <a:ext uri="{FF2B5EF4-FFF2-40B4-BE49-F238E27FC236}">
                <a16:creationId xmlns:a16="http://schemas.microsoft.com/office/drawing/2014/main" id="{C68A7543-C86D-4A78-8A9D-DB8E3ABE3757}"/>
              </a:ext>
            </a:extLst>
          </p:cNvPr>
          <p:cNvSpPr>
            <a:spLocks xmlns:a="http://schemas.openxmlformats.org/drawingml/2006/main" noGrp="1"/>
          </p:cNvSpPr>
          <p:nvPr/>
        </p:nvSpPr>
        <p:spPr>
          <a:xfrm xmlns:a="http://schemas.openxmlformats.org/drawingml/2006/main">
            <a:off x="6962775" y="2781300"/>
            <a:ext cx="19050" cy="495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8" name="rule">
            <a:extLst xmlns:a="http://schemas.openxmlformats.org/drawingml/2006/main">
              <a:ext uri="{FF2B5EF4-FFF2-40B4-BE49-F238E27FC236}">
                <a16:creationId xmlns:a16="http://schemas.microsoft.com/office/drawing/2014/main" id="{BE4B2720-5809-4C06-8220-9E3B1C6D62E0}"/>
              </a:ext>
            </a:extLst>
          </p:cNvPr>
          <p:cNvSpPr>
            <a:spLocks xmlns:a="http://schemas.openxmlformats.org/drawingml/2006/main" noGrp="1"/>
          </p:cNvSpPr>
          <p:nvPr/>
        </p:nvSpPr>
        <p:spPr>
          <a:xfrm xmlns:a="http://schemas.openxmlformats.org/drawingml/2006/main">
            <a:off x="6962775" y="3276600"/>
            <a:ext cx="1209675"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9" name="rule">
            <a:extLst xmlns:a="http://schemas.openxmlformats.org/drawingml/2006/main">
              <a:ext uri="{FF2B5EF4-FFF2-40B4-BE49-F238E27FC236}">
                <a16:creationId xmlns:a16="http://schemas.microsoft.com/office/drawing/2014/main" id="{F20F901E-6647-4405-AF18-0B0695F8A400}"/>
              </a:ext>
            </a:extLst>
          </p:cNvPr>
          <p:cNvSpPr>
            <a:spLocks xmlns:a="http://schemas.openxmlformats.org/drawingml/2006/main" noGrp="1"/>
          </p:cNvSpPr>
          <p:nvPr/>
        </p:nvSpPr>
        <p:spPr>
          <a:xfrm xmlns:a="http://schemas.openxmlformats.org/drawingml/2006/main">
            <a:off x="8172450" y="3276600"/>
            <a:ext cx="19050" cy="4191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00EE9B66-5CB2-499D-9C85-8BF0D5C3FE6F}"/>
              </a:ext>
            </a:extLst>
          </p:cNvPr>
          <p:cNvSpPr>
            <a:spLocks xmlns:a="http://schemas.openxmlformats.org/drawingml/2006/main" noGrp="1"/>
          </p:cNvSpPr>
          <p:nvPr/>
        </p:nvSpPr>
        <p:spPr>
          <a:xfrm xmlns:a="http://schemas.openxmlformats.org/drawingml/2006/main">
            <a:off x="8343900" y="33147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4F7D76"/>
                </a:solidFill>
                <a:latin typeface="Aptos"/>
                <a:ea typeface="Aptos"/>
                <a:cs typeface="Aptos"/>
              </a:defRPr>
            </a:pPr>
            <a:r>
              <a:rPr sz="750" b="1">
                <a:solidFill>
                  <a:srgbClr val="4F7D76"/>
                </a:solidFill>
                <a:latin typeface="Aptos"/>
                <a:ea typeface="Aptos"/>
                <a:cs typeface="Aptos"/>
              </a:rPr>
              <a:t>candidate profiles feed the matcher</a:t>
            </a:r>
          </a:p>
        </p:txBody>
      </p:sp>
      <p:sp>
        <p:nvSpPr>
          <p:cNvPr id="61" name="">
            <a:extLst xmlns:a="http://schemas.openxmlformats.org/drawingml/2006/main">
              <a:ext uri="{FF2B5EF4-FFF2-40B4-BE49-F238E27FC236}">
                <a16:creationId xmlns:a16="http://schemas.microsoft.com/office/drawing/2014/main" id="{4308920A-FC40-4D2F-85BC-255F1CB5C3F4}"/>
              </a:ext>
            </a:extLst>
          </p:cNvPr>
          <p:cNvSpPr>
            <a:spLocks xmlns:a="http://schemas.openxmlformats.org/drawingml/2006/main" noGrp="1"/>
          </p:cNvSpPr>
          <p:nvPr/>
        </p:nvSpPr>
        <p:spPr>
          <a:xfrm xmlns:a="http://schemas.openxmlformats.org/drawingml/2006/main">
            <a:off x="685800" y="4953000"/>
            <a:ext cx="108204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37809EE5-EF51-47B9-B0BD-F47C448DEC0A}"/>
              </a:ext>
            </a:extLst>
          </p:cNvPr>
          <p:cNvSpPr>
            <a:spLocks xmlns:a="http://schemas.openxmlformats.org/drawingml/2006/main" noGrp="1"/>
          </p:cNvSpPr>
          <p:nvPr/>
        </p:nvSpPr>
        <p:spPr>
          <a:xfrm xmlns:a="http://schemas.openxmlformats.org/drawingml/2006/main">
            <a:off x="876300" y="51244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WHY THIS SHAPE</a:t>
            </a:r>
          </a:p>
        </p:txBody>
      </p:sp>
      <p:sp>
        <p:nvSpPr>
          <p:cNvPr id="63" name="">
            <a:extLst xmlns:a="http://schemas.openxmlformats.org/drawingml/2006/main">
              <a:ext uri="{FF2B5EF4-FFF2-40B4-BE49-F238E27FC236}">
                <a16:creationId xmlns:a16="http://schemas.microsoft.com/office/drawing/2014/main" id="{82E252CD-9558-467B-9BF3-B093204FB08F}"/>
              </a:ext>
            </a:extLst>
          </p:cNvPr>
          <p:cNvSpPr>
            <a:spLocks xmlns:a="http://schemas.openxmlformats.org/drawingml/2006/main" noGrp="1"/>
          </p:cNvSpPr>
          <p:nvPr/>
        </p:nvSpPr>
        <p:spPr>
          <a:xfrm xmlns:a="http://schemas.openxmlformats.org/drawingml/2006/main">
            <a:off x="257175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Static and reproducible</a:t>
            </a:r>
          </a:p>
        </p:txBody>
      </p:sp>
      <p:sp>
        <p:nvSpPr>
          <p:cNvPr id="64" name="">
            <a:extLst xmlns:a="http://schemas.openxmlformats.org/drawingml/2006/main">
              <a:ext uri="{FF2B5EF4-FFF2-40B4-BE49-F238E27FC236}">
                <a16:creationId xmlns:a16="http://schemas.microsoft.com/office/drawing/2014/main" id="{D176E160-1FF2-46FE-8242-AE50CB0BEA73}"/>
              </a:ext>
            </a:extLst>
          </p:cNvPr>
          <p:cNvSpPr>
            <a:spLocks xmlns:a="http://schemas.openxmlformats.org/drawingml/2006/main" noGrp="1"/>
          </p:cNvSpPr>
          <p:nvPr/>
        </p:nvSpPr>
        <p:spPr>
          <a:xfrm xmlns:a="http://schemas.openxmlformats.org/drawingml/2006/main">
            <a:off x="5048250" y="5105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Same feature space</a:t>
            </a:r>
          </a:p>
        </p:txBody>
      </p:sp>
      <p:sp>
        <p:nvSpPr>
          <p:cNvPr id="65" name="">
            <a:extLst xmlns:a="http://schemas.openxmlformats.org/drawingml/2006/main">
              <a:ext uri="{FF2B5EF4-FFF2-40B4-BE49-F238E27FC236}">
                <a16:creationId xmlns:a16="http://schemas.microsoft.com/office/drawing/2014/main" id="{A3A2CA04-4BC5-4A4A-AED8-22F48A6B5E89}"/>
              </a:ext>
            </a:extLst>
          </p:cNvPr>
          <p:cNvSpPr>
            <a:spLocks xmlns:a="http://schemas.openxmlformats.org/drawingml/2006/main" noGrp="1"/>
          </p:cNvSpPr>
          <p:nvPr/>
        </p:nvSpPr>
        <p:spPr>
          <a:xfrm xmlns:a="http://schemas.openxmlformats.org/drawingml/2006/main">
            <a:off x="742950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Confidence before CVE</a:t>
            </a:r>
          </a:p>
        </p:txBody>
      </p:sp>
      <p:sp>
        <p:nvSpPr>
          <p:cNvPr id="66" name="">
            <a:extLst xmlns:a="http://schemas.openxmlformats.org/drawingml/2006/main">
              <a:ext uri="{FF2B5EF4-FFF2-40B4-BE49-F238E27FC236}">
                <a16:creationId xmlns:a16="http://schemas.microsoft.com/office/drawing/2014/main" id="{2FD6262C-AB64-4DA4-A150-8C62E4C377A0}"/>
              </a:ext>
            </a:extLst>
          </p:cNvPr>
          <p:cNvSpPr>
            <a:spLocks xmlns:a="http://schemas.openxmlformats.org/drawingml/2006/main" noGrp="1"/>
          </p:cNvSpPr>
          <p:nvPr/>
        </p:nvSpPr>
        <p:spPr>
          <a:xfrm xmlns:a="http://schemas.openxmlformats.org/drawingml/2006/main">
            <a:off x="25717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Every decision can be traced to evidence and replayed.</a:t>
            </a:r>
          </a:p>
        </p:txBody>
      </p:sp>
      <p:sp>
        <p:nvSpPr>
          <p:cNvPr id="67" name="">
            <a:extLst xmlns:a="http://schemas.openxmlformats.org/drawingml/2006/main">
              <a:ext uri="{FF2B5EF4-FFF2-40B4-BE49-F238E27FC236}">
                <a16:creationId xmlns:a16="http://schemas.microsoft.com/office/drawing/2014/main" id="{A02D746D-4324-4377-9B47-A8041C581667}"/>
              </a:ext>
            </a:extLst>
          </p:cNvPr>
          <p:cNvSpPr>
            <a:spLocks xmlns:a="http://schemas.openxmlformats.org/drawingml/2006/main" noGrp="1"/>
          </p:cNvSpPr>
          <p:nvPr/>
        </p:nvSpPr>
        <p:spPr>
          <a:xfrm xmlns:a="http://schemas.openxmlformats.org/drawingml/2006/main">
            <a:off x="50482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APK and Maven artifacts are compared using equivalent DEX features.</a:t>
            </a:r>
          </a:p>
        </p:txBody>
      </p:sp>
      <p:sp>
        <p:nvSpPr>
          <p:cNvPr id="68" name="">
            <a:extLst xmlns:a="http://schemas.openxmlformats.org/drawingml/2006/main">
              <a:ext uri="{FF2B5EF4-FFF2-40B4-BE49-F238E27FC236}">
                <a16:creationId xmlns:a16="http://schemas.microsoft.com/office/drawing/2014/main" id="{7F9A096A-3E8A-4704-B5AD-09471B9D7CA6}"/>
              </a:ext>
            </a:extLst>
          </p:cNvPr>
          <p:cNvSpPr>
            <a:spLocks xmlns:a="http://schemas.openxmlformats.org/drawingml/2006/main" noGrp="1"/>
          </p:cNvSpPr>
          <p:nvPr/>
        </p:nvSpPr>
        <p:spPr>
          <a:xfrm xmlns:a="http://schemas.openxmlformats.org/drawingml/2006/main">
            <a:off x="7429500" y="537210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Weak version evidence cannot become a confirmed vulnerability.</a:t>
            </a:r>
          </a:p>
        </p:txBody>
      </p:sp>
      <p:sp>
        <p:nvSpPr>
          <p:cNvPr id="69" name="">
            <a:extLst xmlns:a="http://schemas.openxmlformats.org/drawingml/2006/main">
              <a:ext uri="{FF2B5EF4-FFF2-40B4-BE49-F238E27FC236}">
                <a16:creationId xmlns:a16="http://schemas.microsoft.com/office/drawing/2014/main" id="{76C60417-D93C-4144-AE95-6C2B63DEEC20}"/>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9C6D7A5D-1446-42B3-92DD-54E935C972B2}"/>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map: src/apk_sbom/apk_extractor.py -&gt; dex_analyzer.py -&gt; matcher.py -&gt; sbom.py / vulnerability.py / report.py</a:t>
            </a:r>
          </a:p>
        </p:txBody>
      </p:sp>
      <p:sp>
        <p:nvSpPr>
          <p:cNvPr id="71" name="">
            <a:extLst xmlns:a="http://schemas.openxmlformats.org/drawingml/2006/main">
              <a:ext uri="{FF2B5EF4-FFF2-40B4-BE49-F238E27FC236}">
                <a16:creationId xmlns:a16="http://schemas.microsoft.com/office/drawing/2014/main" id="{741738F6-36D2-4A08-9266-7687D57C09D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2159509"/>
      </p:ext>
    </p:extLst>
  </p:cSld>
</p:sld>
</file>

<file path=ppt/slides/slide7.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6A2731-339A-44E4-B9E7-FBD57E3255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AC7CE3-7F04-46A7-B95D-1611CE8F12A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7F9483-4E56-4A90-9B8D-C7DB3631755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COMPONENT 1  |  APK EXTRACTOR</a:t>
            </a:r>
          </a:p>
        </p:txBody>
      </p:sp>
      <p:sp>
        <p:nvSpPr>
          <p:cNvPr id="4" name="">
            <a:extLst xmlns:a="http://schemas.openxmlformats.org/drawingml/2006/main">
              <a:ext uri="{FF2B5EF4-FFF2-40B4-BE49-F238E27FC236}">
                <a16:creationId xmlns:a16="http://schemas.microsoft.com/office/drawing/2014/main" id="{E1799E2F-CF28-4F60-93B7-E8FCD0197D1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APK extraction evolved from file listing into a forensic boundary detector</a:t>
            </a:r>
          </a:p>
        </p:txBody>
      </p:sp>
      <p:sp>
        <p:nvSpPr>
          <p:cNvPr id="5" name="">
            <a:extLst xmlns:a="http://schemas.openxmlformats.org/drawingml/2006/main">
              <a:ext uri="{FF2B5EF4-FFF2-40B4-BE49-F238E27FC236}">
                <a16:creationId xmlns:a16="http://schemas.microsoft.com/office/drawing/2014/main" id="{65039FB3-D70A-4E80-9871-17813E69B42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76F194C8-3535-4535-B969-3ED78F0E7EB5}"/>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ED1CCBE0-2047-4C36-AD6F-7D712ADC43C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E36D709-DA9E-4D9C-B22D-22BC7B05639D}"/>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ZIP inventory</a:t>
            </a:r>
          </a:p>
        </p:txBody>
      </p:sp>
      <p:sp>
        <p:nvSpPr>
          <p:cNvPr id="9" name="">
            <a:extLst xmlns:a="http://schemas.openxmlformats.org/drawingml/2006/main">
              <a:ext uri="{FF2B5EF4-FFF2-40B4-BE49-F238E27FC236}">
                <a16:creationId xmlns:a16="http://schemas.microsoft.com/office/drawing/2014/main" id="{0644382A-A9F3-48CD-9720-6E9EFA5A367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List classes.dex and basic APK entries.</a:t>
            </a:r>
          </a:p>
        </p:txBody>
      </p:sp>
      <p:sp>
        <p:nvSpPr>
          <p:cNvPr id="10" name="rule">
            <a:extLst xmlns:a="http://schemas.openxmlformats.org/drawingml/2006/main">
              <a:ext uri="{FF2B5EF4-FFF2-40B4-BE49-F238E27FC236}">
                <a16:creationId xmlns:a16="http://schemas.microsoft.com/office/drawing/2014/main" id="{EEC4FD3E-145F-4781-9F02-A67EAACD1BF8}"/>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C31E29-563A-4F7C-A684-BA56AAA194AA}"/>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F3A738-09E8-47CF-92A8-0AF43228D38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9D8DED6E-91AC-4D66-8EF7-577A50B8DE8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92D1DC26-D17B-4D6E-BB24-C7548F2A122C}"/>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Metadata</a:t>
            </a:r>
          </a:p>
        </p:txBody>
      </p:sp>
      <p:sp>
        <p:nvSpPr>
          <p:cNvPr id="15" name="">
            <a:extLst xmlns:a="http://schemas.openxmlformats.org/drawingml/2006/main">
              <a:ext uri="{FF2B5EF4-FFF2-40B4-BE49-F238E27FC236}">
                <a16:creationId xmlns:a16="http://schemas.microsoft.com/office/drawing/2014/main" id="{58E9A91B-8C2B-4151-A2FC-EB76292B7D8A}"/>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Decode manifest, SDK levels, package and version.</a:t>
            </a:r>
          </a:p>
        </p:txBody>
      </p:sp>
      <p:sp>
        <p:nvSpPr>
          <p:cNvPr id="16" name="rule">
            <a:extLst xmlns:a="http://schemas.openxmlformats.org/drawingml/2006/main">
              <a:ext uri="{FF2B5EF4-FFF2-40B4-BE49-F238E27FC236}">
                <a16:creationId xmlns:a16="http://schemas.microsoft.com/office/drawing/2014/main" id="{87516926-CA51-49A8-A008-7E5FF106F870}"/>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25775F-3033-482F-9D02-C81D73471328}"/>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BA0E29-3F71-4BE5-8E3A-DF97707B9E34}"/>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F869D386-0A72-4AF5-A3FF-A7D29D6F9E30}"/>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809FAEE5-1880-4C12-A246-841810202F61}"/>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Native evidence</a:t>
            </a:r>
          </a:p>
        </p:txBody>
      </p:sp>
      <p:sp>
        <p:nvSpPr>
          <p:cNvPr id="21" name="">
            <a:extLst xmlns:a="http://schemas.openxmlformats.org/drawingml/2006/main">
              <a:ext uri="{FF2B5EF4-FFF2-40B4-BE49-F238E27FC236}">
                <a16:creationId xmlns:a16="http://schemas.microsoft.com/office/drawing/2014/main" id="{A0FA1C88-F649-4226-82A5-2AE221B4BDEB}"/>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Hash every .so file by ABI without inventing identity.</a:t>
            </a:r>
          </a:p>
        </p:txBody>
      </p:sp>
      <p:sp>
        <p:nvSpPr>
          <p:cNvPr id="22" name="rule">
            <a:extLst xmlns:a="http://schemas.openxmlformats.org/drawingml/2006/main">
              <a:ext uri="{FF2B5EF4-FFF2-40B4-BE49-F238E27FC236}">
                <a16:creationId xmlns:a16="http://schemas.microsoft.com/office/drawing/2014/main" id="{86008BFD-114D-4C45-9081-AC3FA839565A}"/>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E71783-FCE3-48C7-83FB-9E2F98AEAA73}"/>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75B1D4-A05F-42E8-94C6-90A6E65A367D}"/>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3F25A7BA-9ADB-408A-9152-CFBDD8CF1116}"/>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33C22517-72A7-4A55-B7C0-87D4676E7B85}"/>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Forensics</a:t>
            </a:r>
          </a:p>
        </p:txBody>
      </p:sp>
      <p:sp>
        <p:nvSpPr>
          <p:cNvPr id="27" name="">
            <a:extLst xmlns:a="http://schemas.openxmlformats.org/drawingml/2006/main">
              <a:ext uri="{FF2B5EF4-FFF2-40B4-BE49-F238E27FC236}">
                <a16:creationId xmlns:a16="http://schemas.microsoft.com/office/drawing/2014/main" id="{1435BF0A-62E0-4690-B5DA-03F1804A5949}"/>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Flag hidden DEX, opaque assets, and protector hints.</a:t>
            </a:r>
          </a:p>
        </p:txBody>
      </p:sp>
      <p:sp>
        <p:nvSpPr>
          <p:cNvPr id="28" name="">
            <a:extLst xmlns:a="http://schemas.openxmlformats.org/drawingml/2006/main">
              <a:ext uri="{FF2B5EF4-FFF2-40B4-BE49-F238E27FC236}">
                <a16:creationId xmlns:a16="http://schemas.microsoft.com/office/drawing/2014/main" id="{6FAB6CA0-3E10-4B7F-AF58-3121DCDC5D3D}"/>
              </a:ext>
            </a:extLst>
          </p:cNvPr>
          <p:cNvSpPr>
            <a:spLocks xmlns:a="http://schemas.openxmlformats.org/drawingml/2006/main" noGrp="1"/>
          </p:cNvSpPr>
          <p:nvPr/>
        </p:nvSpPr>
        <p:spPr>
          <a:xfrm xmlns:a="http://schemas.openxmlformats.org/drawingml/2006/main">
            <a:off x="685800" y="2552700"/>
            <a:ext cx="514350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0724525E-89E6-4D76-A534-B20C63CB188B}"/>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CURRENT OUTPUT</a:t>
            </a:r>
          </a:p>
        </p:txBody>
      </p:sp>
      <p:sp>
        <p:nvSpPr>
          <p:cNvPr id="30" name="">
            <a:extLst xmlns:a="http://schemas.openxmlformats.org/drawingml/2006/main">
              <a:ext uri="{FF2B5EF4-FFF2-40B4-BE49-F238E27FC236}">
                <a16:creationId xmlns:a16="http://schemas.microsoft.com/office/drawing/2014/main" id="{26649A88-4801-4E40-BDE2-923180662F8F}"/>
              </a:ext>
            </a:extLst>
          </p:cNvPr>
          <p:cNvSpPr>
            <a:spLocks xmlns:a="http://schemas.openxmlformats.org/drawingml/2006/main" noGrp="1"/>
          </p:cNvSpPr>
          <p:nvPr/>
        </p:nvSpPr>
        <p:spPr>
          <a:xfrm xmlns:a="http://schemas.openxmlformats.org/drawingml/2006/main">
            <a:off x="933450" y="32385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7668BB6-C85D-45DD-A201-0A6D78D36C3C}"/>
              </a:ext>
            </a:extLst>
          </p:cNvPr>
          <p:cNvSpPr>
            <a:spLocks xmlns:a="http://schemas.openxmlformats.org/drawingml/2006/main" noGrp="1"/>
          </p:cNvSpPr>
          <p:nvPr/>
        </p:nvSpPr>
        <p:spPr>
          <a:xfrm xmlns:a="http://schemas.openxmlformats.org/drawingml/2006/main">
            <a:off x="1162050" y="31623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APK SHA-256 and exact binary identity</a:t>
            </a:r>
          </a:p>
        </p:txBody>
      </p:sp>
      <p:sp>
        <p:nvSpPr>
          <p:cNvPr id="32" name="">
            <a:extLst xmlns:a="http://schemas.openxmlformats.org/drawingml/2006/main">
              <a:ext uri="{FF2B5EF4-FFF2-40B4-BE49-F238E27FC236}">
                <a16:creationId xmlns:a16="http://schemas.microsoft.com/office/drawing/2014/main" id="{B44BA3AE-826F-4126-9F55-8DACD213B00D}"/>
              </a:ext>
            </a:extLst>
          </p:cNvPr>
          <p:cNvSpPr>
            <a:spLocks xmlns:a="http://schemas.openxmlformats.org/drawingml/2006/main" noGrp="1"/>
          </p:cNvSpPr>
          <p:nvPr/>
        </p:nvSpPr>
        <p:spPr>
          <a:xfrm xmlns:a="http://schemas.openxmlformats.org/drawingml/2006/main">
            <a:off x="933450" y="356235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2802061-173C-4DB5-AE4A-C9DE0CA7D5A8}"/>
              </a:ext>
            </a:extLst>
          </p:cNvPr>
          <p:cNvSpPr>
            <a:spLocks xmlns:a="http://schemas.openxmlformats.org/drawingml/2006/main" noGrp="1"/>
          </p:cNvSpPr>
          <p:nvPr/>
        </p:nvSpPr>
        <p:spPr>
          <a:xfrm xmlns:a="http://schemas.openxmlformats.org/drawingml/2006/main">
            <a:off x="1162050" y="3486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standard and nonstandard DEX paths</a:t>
            </a:r>
          </a:p>
        </p:txBody>
      </p:sp>
      <p:sp>
        <p:nvSpPr>
          <p:cNvPr id="34" name="">
            <a:extLst xmlns:a="http://schemas.openxmlformats.org/drawingml/2006/main">
              <a:ext uri="{FF2B5EF4-FFF2-40B4-BE49-F238E27FC236}">
                <a16:creationId xmlns:a16="http://schemas.microsoft.com/office/drawing/2014/main" id="{194D1E43-7F8D-44BE-B96D-57BA6F7AB415}"/>
              </a:ext>
            </a:extLst>
          </p:cNvPr>
          <p:cNvSpPr>
            <a:spLocks xmlns:a="http://schemas.openxmlformats.org/drawingml/2006/main" noGrp="1"/>
          </p:cNvSpPr>
          <p:nvPr/>
        </p:nvSpPr>
        <p:spPr>
          <a:xfrm xmlns:a="http://schemas.openxmlformats.org/drawingml/2006/main">
            <a:off x="933450" y="38862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D05EF90-E6DA-44DB-BC16-EAF9E3B7D092}"/>
              </a:ext>
            </a:extLst>
          </p:cNvPr>
          <p:cNvSpPr>
            <a:spLocks xmlns:a="http://schemas.openxmlformats.org/drawingml/2006/main" noGrp="1"/>
          </p:cNvSpPr>
          <p:nvPr/>
        </p:nvSpPr>
        <p:spPr>
          <a:xfrm xmlns:a="http://schemas.openxmlformats.org/drawingml/2006/main">
            <a:off x="1162050" y="3810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manifest package, version, SDK, permissions</a:t>
            </a:r>
          </a:p>
        </p:txBody>
      </p:sp>
      <p:sp>
        <p:nvSpPr>
          <p:cNvPr id="36" name="">
            <a:extLst xmlns:a="http://schemas.openxmlformats.org/drawingml/2006/main">
              <a:ext uri="{FF2B5EF4-FFF2-40B4-BE49-F238E27FC236}">
                <a16:creationId xmlns:a16="http://schemas.microsoft.com/office/drawing/2014/main" id="{77ACB479-745E-4EFE-8DC8-6A5CB29E0646}"/>
              </a:ext>
            </a:extLst>
          </p:cNvPr>
          <p:cNvSpPr>
            <a:spLocks xmlns:a="http://schemas.openxmlformats.org/drawingml/2006/main" noGrp="1"/>
          </p:cNvSpPr>
          <p:nvPr/>
        </p:nvSpPr>
        <p:spPr>
          <a:xfrm xmlns:a="http://schemas.openxmlformats.org/drawingml/2006/main">
            <a:off x="933450" y="42100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9145DEC-5E3F-4AC6-9268-76D0B371FEA7}"/>
              </a:ext>
            </a:extLst>
          </p:cNvPr>
          <p:cNvSpPr>
            <a:spLocks xmlns:a="http://schemas.openxmlformats.org/drawingml/2006/main" noGrp="1"/>
          </p:cNvSpPr>
          <p:nvPr/>
        </p:nvSpPr>
        <p:spPr>
          <a:xfrm xmlns:a="http://schemas.openxmlformats.org/drawingml/2006/main">
            <a:off x="1162050" y="41338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resources/assets counts</a:t>
            </a:r>
          </a:p>
        </p:txBody>
      </p:sp>
      <p:sp>
        <p:nvSpPr>
          <p:cNvPr id="38" name="">
            <a:extLst xmlns:a="http://schemas.openxmlformats.org/drawingml/2006/main">
              <a:ext uri="{FF2B5EF4-FFF2-40B4-BE49-F238E27FC236}">
                <a16:creationId xmlns:a16="http://schemas.microsoft.com/office/drawing/2014/main" id="{8A522A1A-ECF0-493D-9D6B-9C0760AD9F65}"/>
              </a:ext>
            </a:extLst>
          </p:cNvPr>
          <p:cNvSpPr>
            <a:spLocks xmlns:a="http://schemas.openxmlformats.org/drawingml/2006/main" noGrp="1"/>
          </p:cNvSpPr>
          <p:nvPr/>
        </p:nvSpPr>
        <p:spPr>
          <a:xfrm xmlns:a="http://schemas.openxmlformats.org/drawingml/2006/main">
            <a:off x="933450" y="4533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B508126-4A09-4195-8861-8A9BE1162F92}"/>
              </a:ext>
            </a:extLst>
          </p:cNvPr>
          <p:cNvSpPr>
            <a:spLocks xmlns:a="http://schemas.openxmlformats.org/drawingml/2006/main" noGrp="1"/>
          </p:cNvSpPr>
          <p:nvPr/>
        </p:nvSpPr>
        <p:spPr>
          <a:xfrm xmlns:a="http://schemas.openxmlformats.org/drawingml/2006/main">
            <a:off x="1162050" y="4457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native files, ABI, size, SHA-256</a:t>
            </a:r>
          </a:p>
        </p:txBody>
      </p:sp>
      <p:sp>
        <p:nvSpPr>
          <p:cNvPr id="40" name="">
            <a:extLst xmlns:a="http://schemas.openxmlformats.org/drawingml/2006/main">
              <a:ext uri="{FF2B5EF4-FFF2-40B4-BE49-F238E27FC236}">
                <a16:creationId xmlns:a16="http://schemas.microsoft.com/office/drawing/2014/main" id="{432C5A3F-D6DE-4B95-8A8B-B6EF03D0E89B}"/>
              </a:ext>
            </a:extLst>
          </p:cNvPr>
          <p:cNvSpPr>
            <a:spLocks xmlns:a="http://schemas.openxmlformats.org/drawingml/2006/main" noGrp="1"/>
          </p:cNvSpPr>
          <p:nvPr/>
        </p:nvSpPr>
        <p:spPr>
          <a:xfrm xmlns:a="http://schemas.openxmlformats.org/drawingml/2006/main">
            <a:off x="933450" y="4857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F024999-4B22-45EC-8D6F-CF348F662404}"/>
              </a:ext>
            </a:extLst>
          </p:cNvPr>
          <p:cNvSpPr>
            <a:spLocks xmlns:a="http://schemas.openxmlformats.org/drawingml/2006/main" noGrp="1"/>
          </p:cNvSpPr>
          <p:nvPr/>
        </p:nvSpPr>
        <p:spPr>
          <a:xfrm xmlns:a="http://schemas.openxmlformats.org/drawingml/2006/main">
            <a:off x="1162050" y="4781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extraction-risk indicators</a:t>
            </a:r>
          </a:p>
        </p:txBody>
      </p:sp>
      <p:sp>
        <p:nvSpPr>
          <p:cNvPr id="42" name="">
            <a:extLst xmlns:a="http://schemas.openxmlformats.org/drawingml/2006/main">
              <a:ext uri="{FF2B5EF4-FFF2-40B4-BE49-F238E27FC236}">
                <a16:creationId xmlns:a16="http://schemas.microsoft.com/office/drawing/2014/main" id="{28B631E6-45F2-46BA-B5D1-B8512CB45493}"/>
              </a:ext>
            </a:extLst>
          </p:cNvPr>
          <p:cNvSpPr>
            <a:spLocks xmlns:a="http://schemas.openxmlformats.org/drawingml/2006/main" noGrp="1"/>
          </p:cNvSpPr>
          <p:nvPr/>
        </p:nvSpPr>
        <p:spPr>
          <a:xfrm xmlns:a="http://schemas.openxmlformats.org/drawingml/2006/main">
            <a:off x="6115050" y="2552700"/>
            <a:ext cx="53911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CC773F28-8174-4A11-BDE1-EA06531E41BD}"/>
              </a:ext>
            </a:extLst>
          </p:cNvPr>
          <p:cNvSpPr>
            <a:spLocks xmlns:a="http://schemas.openxmlformats.org/drawingml/2006/main" noGrp="1"/>
          </p:cNvSpPr>
          <p:nvPr/>
        </p:nvSpPr>
        <p:spPr>
          <a:xfrm xmlns:a="http://schemas.openxmlformats.org/drawingml/2006/main">
            <a:off x="63627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WHY THIS CHOICE</a:t>
            </a:r>
          </a:p>
        </p:txBody>
      </p:sp>
      <p:sp>
        <p:nvSpPr>
          <p:cNvPr id="44" name="">
            <a:extLst xmlns:a="http://schemas.openxmlformats.org/drawingml/2006/main">
              <a:ext uri="{FF2B5EF4-FFF2-40B4-BE49-F238E27FC236}">
                <a16:creationId xmlns:a16="http://schemas.microsoft.com/office/drawing/2014/main" id="{7C29FE5E-6C32-4595-B1A8-723744AE2DFC}"/>
              </a:ext>
            </a:extLst>
          </p:cNvPr>
          <p:cNvSpPr>
            <a:spLocks xmlns:a="http://schemas.openxmlformats.org/drawingml/2006/main" noGrp="1"/>
          </p:cNvSpPr>
          <p:nvPr/>
        </p:nvSpPr>
        <p:spPr>
          <a:xfrm xmlns:a="http://schemas.openxmlformats.org/drawingml/2006/main">
            <a:off x="6362700" y="3143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The extractor must establish what evidence is actually present before matching begins.</a:t>
            </a:r>
          </a:p>
        </p:txBody>
      </p:sp>
      <p:sp>
        <p:nvSpPr>
          <p:cNvPr id="45" name="">
            <a:extLst xmlns:a="http://schemas.openxmlformats.org/drawingml/2006/main">
              <a:ext uri="{FF2B5EF4-FFF2-40B4-BE49-F238E27FC236}">
                <a16:creationId xmlns:a16="http://schemas.microsoft.com/office/drawing/2014/main" id="{0013B0A7-D726-4E62-9084-AE7269F38E43}"/>
              </a:ext>
            </a:extLst>
          </p:cNvPr>
          <p:cNvSpPr>
            <a:spLocks xmlns:a="http://schemas.openxmlformats.org/drawingml/2006/main" noGrp="1"/>
          </p:cNvSpPr>
          <p:nvPr/>
        </p:nvSpPr>
        <p:spPr>
          <a:xfrm xmlns:a="http://schemas.openxmlformats.org/drawingml/2006/main">
            <a:off x="6362700" y="38290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46" name="">
            <a:extLst xmlns:a="http://schemas.openxmlformats.org/drawingml/2006/main">
              <a:ext uri="{FF2B5EF4-FFF2-40B4-BE49-F238E27FC236}">
                <a16:creationId xmlns:a16="http://schemas.microsoft.com/office/drawing/2014/main" id="{48D12A5D-FE3E-4894-8C29-B40E15904516}"/>
              </a:ext>
            </a:extLst>
          </p:cNvPr>
          <p:cNvSpPr>
            <a:spLocks xmlns:a="http://schemas.openxmlformats.org/drawingml/2006/main" noGrp="1"/>
          </p:cNvSpPr>
          <p:nvPr/>
        </p:nvSpPr>
        <p:spPr>
          <a:xfrm xmlns:a="http://schemas.openxmlformats.org/drawingml/2006/main">
            <a:off x="6429375" y="38862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No decompiler dependency</a:t>
            </a:r>
          </a:p>
        </p:txBody>
      </p:sp>
      <p:sp>
        <p:nvSpPr>
          <p:cNvPr id="47" name="">
            <a:extLst xmlns:a="http://schemas.openxmlformats.org/drawingml/2006/main">
              <a:ext uri="{FF2B5EF4-FFF2-40B4-BE49-F238E27FC236}">
                <a16:creationId xmlns:a16="http://schemas.microsoft.com/office/drawing/2014/main" id="{9095ACAA-8E30-424D-91E2-09AB7B7EFB87}"/>
              </a:ext>
            </a:extLst>
          </p:cNvPr>
          <p:cNvSpPr>
            <a:spLocks xmlns:a="http://schemas.openxmlformats.org/drawingml/2006/main" noGrp="1"/>
          </p:cNvSpPr>
          <p:nvPr/>
        </p:nvSpPr>
        <p:spPr>
          <a:xfrm xmlns:a="http://schemas.openxmlformats.org/drawingml/2006/main">
            <a:off x="8115300" y="3829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Uses the APK ZIP surface and Androguard only where binary XML/DEX parsing is needed.</a:t>
            </a:r>
          </a:p>
        </p:txBody>
      </p:sp>
      <p:sp>
        <p:nvSpPr>
          <p:cNvPr id="48" name="">
            <a:extLst xmlns:a="http://schemas.openxmlformats.org/drawingml/2006/main">
              <a:ext uri="{FF2B5EF4-FFF2-40B4-BE49-F238E27FC236}">
                <a16:creationId xmlns:a16="http://schemas.microsoft.com/office/drawing/2014/main" id="{7C0D9F98-A0E6-4D43-A47C-7338CD978265}"/>
              </a:ext>
            </a:extLst>
          </p:cNvPr>
          <p:cNvSpPr>
            <a:spLocks xmlns:a="http://schemas.openxmlformats.org/drawingml/2006/main" noGrp="1"/>
          </p:cNvSpPr>
          <p:nvPr/>
        </p:nvSpPr>
        <p:spPr>
          <a:xfrm xmlns:a="http://schemas.openxmlformats.org/drawingml/2006/main">
            <a:off x="6362700" y="4305300"/>
            <a:ext cx="16192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6F118B82-7E01-4E46-B11C-AD3319A2F109}"/>
              </a:ext>
            </a:extLst>
          </p:cNvPr>
          <p:cNvSpPr>
            <a:spLocks xmlns:a="http://schemas.openxmlformats.org/drawingml/2006/main" noGrp="1"/>
          </p:cNvSpPr>
          <p:nvPr/>
        </p:nvSpPr>
        <p:spPr>
          <a:xfrm xmlns:a="http://schemas.openxmlformats.org/drawingml/2006/main">
            <a:off x="6429375" y="436245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Boundary honesty</a:t>
            </a:r>
          </a:p>
        </p:txBody>
      </p:sp>
      <p:sp>
        <p:nvSpPr>
          <p:cNvPr id="50" name="">
            <a:extLst xmlns:a="http://schemas.openxmlformats.org/drawingml/2006/main">
              <a:ext uri="{FF2B5EF4-FFF2-40B4-BE49-F238E27FC236}">
                <a16:creationId xmlns:a16="http://schemas.microsoft.com/office/drawing/2014/main" id="{483E3E75-05DF-40E0-BF3A-5B2E40F5183A}"/>
              </a:ext>
            </a:extLst>
          </p:cNvPr>
          <p:cNvSpPr>
            <a:spLocks xmlns:a="http://schemas.openxmlformats.org/drawingml/2006/main" noGrp="1"/>
          </p:cNvSpPr>
          <p:nvPr/>
        </p:nvSpPr>
        <p:spPr>
          <a:xfrm xmlns:a="http://schemas.openxmlformats.org/drawingml/2006/main">
            <a:off x="8115300" y="43053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Native and hidden-code cases become explicit limitations instead of false Maven claims.</a:t>
            </a:r>
          </a:p>
        </p:txBody>
      </p:sp>
      <p:sp>
        <p:nvSpPr>
          <p:cNvPr id="51" name="">
            <a:extLst xmlns:a="http://schemas.openxmlformats.org/drawingml/2006/main">
              <a:ext uri="{FF2B5EF4-FFF2-40B4-BE49-F238E27FC236}">
                <a16:creationId xmlns:a16="http://schemas.microsoft.com/office/drawing/2014/main" id="{29FE1FD0-B82D-4771-A799-61786C73B054}"/>
              </a:ext>
            </a:extLst>
          </p:cNvPr>
          <p:cNvSpPr>
            <a:spLocks xmlns:a="http://schemas.openxmlformats.org/drawingml/2006/main" noGrp="1"/>
          </p:cNvSpPr>
          <p:nvPr/>
        </p:nvSpPr>
        <p:spPr>
          <a:xfrm xmlns:a="http://schemas.openxmlformats.org/drawingml/2006/main">
            <a:off x="6362700" y="47815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2" name="">
            <a:extLst xmlns:a="http://schemas.openxmlformats.org/drawingml/2006/main">
              <a:ext uri="{FF2B5EF4-FFF2-40B4-BE49-F238E27FC236}">
                <a16:creationId xmlns:a16="http://schemas.microsoft.com/office/drawing/2014/main" id="{D7AAEB1D-AE4D-4DC8-972B-B69AC9703345}"/>
              </a:ext>
            </a:extLst>
          </p:cNvPr>
          <p:cNvSpPr>
            <a:spLocks xmlns:a="http://schemas.openxmlformats.org/drawingml/2006/main" noGrp="1"/>
          </p:cNvSpPr>
          <p:nvPr/>
        </p:nvSpPr>
        <p:spPr>
          <a:xfrm xmlns:a="http://schemas.openxmlformats.org/drawingml/2006/main">
            <a:off x="6429375" y="48387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Multidex first-class</a:t>
            </a:r>
          </a:p>
        </p:txBody>
      </p:sp>
      <p:sp>
        <p:nvSpPr>
          <p:cNvPr id="53" name="">
            <a:extLst xmlns:a="http://schemas.openxmlformats.org/drawingml/2006/main">
              <a:ext uri="{FF2B5EF4-FFF2-40B4-BE49-F238E27FC236}">
                <a16:creationId xmlns:a16="http://schemas.microsoft.com/office/drawing/2014/main" id="{81CC4CFD-EAC1-4147-B571-C64B9ABDA852}"/>
              </a:ext>
            </a:extLst>
          </p:cNvPr>
          <p:cNvSpPr>
            <a:spLocks xmlns:a="http://schemas.openxmlformats.org/drawingml/2006/main" noGrp="1"/>
          </p:cNvSpPr>
          <p:nvPr/>
        </p:nvSpPr>
        <p:spPr>
          <a:xfrm xmlns:a="http://schemas.openxmlformats.org/drawingml/2006/main">
            <a:off x="8115300" y="47815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All standard classes*.dex files are carried into later analysis.</a:t>
            </a:r>
          </a:p>
        </p:txBody>
      </p:sp>
      <p:sp>
        <p:nvSpPr>
          <p:cNvPr id="54" name="">
            <a:extLst xmlns:a="http://schemas.openxmlformats.org/drawingml/2006/main">
              <a:ext uri="{FF2B5EF4-FFF2-40B4-BE49-F238E27FC236}">
                <a16:creationId xmlns:a16="http://schemas.microsoft.com/office/drawing/2014/main" id="{5B60B9E2-2803-4F22-8F6F-4DDF35F79E8D}"/>
              </a:ext>
            </a:extLst>
          </p:cNvPr>
          <p:cNvSpPr>
            <a:spLocks xmlns:a="http://schemas.openxmlformats.org/drawingml/2006/main" noGrp="1"/>
          </p:cNvSpPr>
          <p:nvPr/>
        </p:nvSpPr>
        <p:spPr>
          <a:xfrm xmlns:a="http://schemas.openxmlformats.org/drawingml/2006/main">
            <a:off x="685800" y="55626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99D1CA7A-4F72-4ED0-A1E6-ACF0D5840CBF}"/>
              </a:ext>
            </a:extLst>
          </p:cNvPr>
          <p:cNvSpPr>
            <a:spLocks xmlns:a="http://schemas.openxmlformats.org/drawingml/2006/main" noGrp="1"/>
          </p:cNvSpPr>
          <p:nvPr/>
        </p:nvSpPr>
        <p:spPr>
          <a:xfrm xmlns:a="http://schemas.openxmlformats.org/drawingml/2006/main">
            <a:off x="819150" y="56292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src/apk_sbom/apk_extractor.py  -&gt;  inspect_apk(), build_forensic_summary(), apk_indicators()</a:t>
            </a:r>
          </a:p>
        </p:txBody>
      </p:sp>
      <p:sp>
        <p:nvSpPr>
          <p:cNvPr id="56" name="">
            <a:extLst xmlns:a="http://schemas.openxmlformats.org/drawingml/2006/main">
              <a:ext uri="{FF2B5EF4-FFF2-40B4-BE49-F238E27FC236}">
                <a16:creationId xmlns:a16="http://schemas.microsoft.com/office/drawing/2014/main" id="{91669224-F4A1-4C16-84B6-B2CF96568A6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67564986"/>
      </p:ext>
    </p:extLst>
  </p:cSld>
</p:sld>
</file>

<file path=ppt/slides/slide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CFBB91-D727-421E-8CB3-141D03D0B40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COMPONENT 2  |  DEX ANALYZER</a:t>
            </a:r>
          </a:p>
        </p:txBody>
      </p:sp>
      <p:sp>
        <p:nvSpPr>
          <p:cNvPr id="2" name="">
            <a:extLst xmlns:a="http://schemas.openxmlformats.org/drawingml/2006/main">
              <a:ext uri="{FF2B5EF4-FFF2-40B4-BE49-F238E27FC236}">
                <a16:creationId xmlns:a16="http://schemas.microsoft.com/office/drawing/2014/main" id="{A8A17533-B524-4AED-B759-EF34D09DA27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DEX analysis grew from coarse counts into reusable multi-scale evidence</a:t>
            </a:r>
          </a:p>
        </p:txBody>
      </p:sp>
      <p:sp>
        <p:nvSpPr>
          <p:cNvPr id="3" name="">
            <a:extLst xmlns:a="http://schemas.openxmlformats.org/drawingml/2006/main">
              <a:ext uri="{FF2B5EF4-FFF2-40B4-BE49-F238E27FC236}">
                <a16:creationId xmlns:a16="http://schemas.microsoft.com/office/drawing/2014/main" id="{4DCCF327-16AB-4905-B352-FC458DAF8AE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11CA7271-D3F4-40EF-8C7F-8D4D76F644A1}"/>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41F660A6-B540-415E-B555-03BF6B5DDCB9}"/>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E8716D4-6A1A-45C6-AEDC-77A265A477C1}"/>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Coarse</a:t>
            </a:r>
          </a:p>
        </p:txBody>
      </p:sp>
      <p:sp>
        <p:nvSpPr>
          <p:cNvPr id="7" name="">
            <a:extLst xmlns:a="http://schemas.openxmlformats.org/drawingml/2006/main">
              <a:ext uri="{FF2B5EF4-FFF2-40B4-BE49-F238E27FC236}">
                <a16:creationId xmlns:a16="http://schemas.microsoft.com/office/drawing/2014/main" id="{FF85B655-D3AB-4AF8-9813-A18583717653}"/>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Packages, class counts, method counts, opcode histogram.</a:t>
            </a:r>
          </a:p>
        </p:txBody>
      </p:sp>
      <p:sp>
        <p:nvSpPr>
          <p:cNvPr id="8" name="rule">
            <a:extLst xmlns:a="http://schemas.openxmlformats.org/drawingml/2006/main">
              <a:ext uri="{FF2B5EF4-FFF2-40B4-BE49-F238E27FC236}">
                <a16:creationId xmlns:a16="http://schemas.microsoft.com/office/drawing/2014/main" id="{6DFD0105-1E66-4B32-BB8B-502390987E79}"/>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0B6D51-98E4-4409-827C-1FE1B86A7C40}"/>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1B1E5A8-128E-475F-A954-742A8CABECBA}"/>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0E7ACAB8-6A31-467F-B74B-36527710E300}"/>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5DB82D14-6780-485A-A472-45913B8AC31C}"/>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Identity</a:t>
            </a:r>
          </a:p>
        </p:txBody>
      </p:sp>
      <p:sp>
        <p:nvSpPr>
          <p:cNvPr id="13" name="">
            <a:extLst xmlns:a="http://schemas.openxmlformats.org/drawingml/2006/main">
              <a:ext uri="{FF2B5EF4-FFF2-40B4-BE49-F238E27FC236}">
                <a16:creationId xmlns:a16="http://schemas.microsoft.com/office/drawing/2014/main" id="{3E09FF88-0F60-451C-8ED3-F2C0510084B3}"/>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descriptors, methods, fields, API references.</a:t>
            </a:r>
          </a:p>
        </p:txBody>
      </p:sp>
      <p:sp>
        <p:nvSpPr>
          <p:cNvPr id="14" name="rule">
            <a:extLst xmlns:a="http://schemas.openxmlformats.org/drawingml/2006/main">
              <a:ext uri="{FF2B5EF4-FFF2-40B4-BE49-F238E27FC236}">
                <a16:creationId xmlns:a16="http://schemas.microsoft.com/office/drawing/2014/main" id="{85CEC441-C399-41A2-A63A-0A3581B9B58A}"/>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B05504-584B-454E-9443-E3831750E169}"/>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845ADE-B052-447B-835A-2440A8C6C1B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1C01127D-52F4-40E5-BA66-0B6DD2D57AF6}"/>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D2091769-E74E-4685-8704-A817868828A1}"/>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Structure</a:t>
            </a:r>
          </a:p>
        </p:txBody>
      </p:sp>
      <p:sp>
        <p:nvSpPr>
          <p:cNvPr id="19" name="">
            <a:extLst xmlns:a="http://schemas.openxmlformats.org/drawingml/2006/main">
              <a:ext uri="{FF2B5EF4-FFF2-40B4-BE49-F238E27FC236}">
                <a16:creationId xmlns:a16="http://schemas.microsoft.com/office/drawing/2014/main" id="{A7D536DD-E572-446A-AB96-A426A3010CBD}"/>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dependencies, graph shape, literals and context.</a:t>
            </a:r>
          </a:p>
        </p:txBody>
      </p:sp>
      <p:sp>
        <p:nvSpPr>
          <p:cNvPr id="20" name="rule">
            <a:extLst xmlns:a="http://schemas.openxmlformats.org/drawingml/2006/main">
              <a:ext uri="{FF2B5EF4-FFF2-40B4-BE49-F238E27FC236}">
                <a16:creationId xmlns:a16="http://schemas.microsoft.com/office/drawing/2014/main" id="{D0B39CF6-C719-4352-A1D9-FC2A6DB7DCF1}"/>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FA82864-439F-41BA-A809-C4EC435D22CD}"/>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D77ECB6-9635-41A0-94D4-F32C7AD77AE4}"/>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27499BE7-0AD5-40FB-953D-4A516D5274CF}"/>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A47D25DD-04D5-4E27-8EF1-9A33B9E1071E}"/>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R8 research</a:t>
            </a:r>
          </a:p>
        </p:txBody>
      </p:sp>
      <p:sp>
        <p:nvSpPr>
          <p:cNvPr id="25" name="">
            <a:extLst xmlns:a="http://schemas.openxmlformats.org/drawingml/2006/main">
              <a:ext uri="{FF2B5EF4-FFF2-40B4-BE49-F238E27FC236}">
                <a16:creationId xmlns:a16="http://schemas.microsoft.com/office/drawing/2014/main" id="{18B8A9E6-3A94-421D-95DB-961A0CD3D212}"/>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Basic-block, call-chain, neighbor, field-operation features.</a:t>
            </a:r>
          </a:p>
        </p:txBody>
      </p:sp>
      <p:sp>
        <p:nvSpPr>
          <p:cNvPr id="26" name="">
            <a:extLst xmlns:a="http://schemas.openxmlformats.org/drawingml/2006/main">
              <a:ext uri="{FF2B5EF4-FFF2-40B4-BE49-F238E27FC236}">
                <a16:creationId xmlns:a16="http://schemas.microsoft.com/office/drawing/2014/main" id="{90AE1BFD-1261-437F-A1AC-10AFEB32E5A5}"/>
              </a:ext>
            </a:extLst>
          </p:cNvPr>
          <p:cNvSpPr>
            <a:spLocks xmlns:a="http://schemas.openxmlformats.org/drawingml/2006/main" noGrp="1"/>
          </p:cNvSpPr>
          <p:nvPr/>
        </p:nvSpPr>
        <p:spPr>
          <a:xfrm xmlns:a="http://schemas.openxmlformats.org/drawingml/2006/main">
            <a:off x="685800" y="2552700"/>
            <a:ext cx="6819900" cy="28384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1D933761-CDDB-4D11-A479-C2D6613100BB}"/>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FEATURE LAYERS</a:t>
            </a:r>
          </a:p>
        </p:txBody>
      </p:sp>
      <p:sp>
        <p:nvSpPr>
          <p:cNvPr id="28" name="">
            <a:extLst xmlns:a="http://schemas.openxmlformats.org/drawingml/2006/main">
              <a:ext uri="{FF2B5EF4-FFF2-40B4-BE49-F238E27FC236}">
                <a16:creationId xmlns:a16="http://schemas.microsoft.com/office/drawing/2014/main" id="{082E23C5-55A9-47F9-B836-2132397241F6}"/>
              </a:ext>
            </a:extLst>
          </p:cNvPr>
          <p:cNvSpPr>
            <a:spLocks xmlns:a="http://schemas.openxmlformats.org/drawingml/2006/main" noGrp="1"/>
          </p:cNvSpPr>
          <p:nvPr/>
        </p:nvSpPr>
        <p:spPr>
          <a:xfrm xmlns:a="http://schemas.openxmlformats.org/drawingml/2006/main">
            <a:off x="914400" y="3200400"/>
            <a:ext cx="6286500" cy="495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B1AAE8F0-AD8D-4B31-848F-45ED2586D2E7}"/>
              </a:ext>
            </a:extLst>
          </p:cNvPr>
          <p:cNvSpPr>
            <a:spLocks xmlns:a="http://schemas.openxmlformats.org/drawingml/2006/main" noGrp="1"/>
          </p:cNvSpPr>
          <p:nvPr/>
        </p:nvSpPr>
        <p:spPr>
          <a:xfrm xmlns:a="http://schemas.openxmlformats.org/drawingml/2006/main">
            <a:off x="1066800" y="33432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CORE SCORING</a:t>
            </a:r>
          </a:p>
        </p:txBody>
      </p:sp>
      <p:sp>
        <p:nvSpPr>
          <p:cNvPr id="30" name="">
            <a:extLst xmlns:a="http://schemas.openxmlformats.org/drawingml/2006/main">
              <a:ext uri="{FF2B5EF4-FFF2-40B4-BE49-F238E27FC236}">
                <a16:creationId xmlns:a16="http://schemas.microsoft.com/office/drawing/2014/main" id="{8AB3B8B1-7AE8-436F-A13C-30AA85B29AC7}"/>
              </a:ext>
            </a:extLst>
          </p:cNvPr>
          <p:cNvSpPr>
            <a:spLocks xmlns:a="http://schemas.openxmlformats.org/drawingml/2006/main" noGrp="1"/>
          </p:cNvSpPr>
          <p:nvPr/>
        </p:nvSpPr>
        <p:spPr>
          <a:xfrm xmlns:a="http://schemas.openxmlformats.org/drawingml/2006/main">
            <a:off x="2400300" y="33147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package  class  method  opcode  CDG  literal</a:t>
            </a:r>
          </a:p>
        </p:txBody>
      </p:sp>
      <p:sp>
        <p:nvSpPr>
          <p:cNvPr id="31" name="">
            <a:extLst xmlns:a="http://schemas.openxmlformats.org/drawingml/2006/main">
              <a:ext uri="{FF2B5EF4-FFF2-40B4-BE49-F238E27FC236}">
                <a16:creationId xmlns:a16="http://schemas.microsoft.com/office/drawing/2014/main" id="{4BEA316F-520D-45D2-AF8A-2A80E6940629}"/>
              </a:ext>
            </a:extLst>
          </p:cNvPr>
          <p:cNvSpPr>
            <a:spLocks xmlns:a="http://schemas.openxmlformats.org/drawingml/2006/main" noGrp="1"/>
          </p:cNvSpPr>
          <p:nvPr/>
        </p:nvSpPr>
        <p:spPr>
          <a:xfrm xmlns:a="http://schemas.openxmlformats.org/drawingml/2006/main">
            <a:off x="914400" y="3848100"/>
            <a:ext cx="6286500" cy="495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2" name="">
            <a:extLst xmlns:a="http://schemas.openxmlformats.org/drawingml/2006/main">
              <a:ext uri="{FF2B5EF4-FFF2-40B4-BE49-F238E27FC236}">
                <a16:creationId xmlns:a16="http://schemas.microsoft.com/office/drawing/2014/main" id="{68B4273D-B00B-462A-B0D4-0FB4CC927FA2}"/>
              </a:ext>
            </a:extLst>
          </p:cNvPr>
          <p:cNvSpPr>
            <a:spLocks xmlns:a="http://schemas.openxmlformats.org/drawingml/2006/main" noGrp="1"/>
          </p:cNvSpPr>
          <p:nvPr/>
        </p:nvSpPr>
        <p:spPr>
          <a:xfrm xmlns:a="http://schemas.openxmlformats.org/drawingml/2006/main">
            <a:off x="1066800" y="39909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GUARDED</a:t>
            </a:r>
          </a:p>
        </p:txBody>
      </p:sp>
      <p:sp>
        <p:nvSpPr>
          <p:cNvPr id="33" name="">
            <a:extLst xmlns:a="http://schemas.openxmlformats.org/drawingml/2006/main">
              <a:ext uri="{FF2B5EF4-FFF2-40B4-BE49-F238E27FC236}">
                <a16:creationId xmlns:a16="http://schemas.microsoft.com/office/drawing/2014/main" id="{31AD1BD8-3FCA-4BAE-8A9B-3D4A7D306B19}"/>
              </a:ext>
            </a:extLst>
          </p:cNvPr>
          <p:cNvSpPr>
            <a:spLocks xmlns:a="http://schemas.openxmlformats.org/drawingml/2006/main" noGrp="1"/>
          </p:cNvSpPr>
          <p:nvPr/>
        </p:nvSpPr>
        <p:spPr>
          <a:xfrm xmlns:a="http://schemas.openxmlformats.org/drawingml/2006/main">
            <a:off x="2400300" y="39624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API references  opcode tri-grams  POM coherence</a:t>
            </a:r>
          </a:p>
        </p:txBody>
      </p:sp>
      <p:sp>
        <p:nvSpPr>
          <p:cNvPr id="34" name="">
            <a:extLst xmlns:a="http://schemas.openxmlformats.org/drawingml/2006/main">
              <a:ext uri="{FF2B5EF4-FFF2-40B4-BE49-F238E27FC236}">
                <a16:creationId xmlns:a16="http://schemas.microsoft.com/office/drawing/2014/main" id="{1F127D97-6E5C-4EEB-A581-782576A56009}"/>
              </a:ext>
            </a:extLst>
          </p:cNvPr>
          <p:cNvSpPr>
            <a:spLocks xmlns:a="http://schemas.openxmlformats.org/drawingml/2006/main" noGrp="1"/>
          </p:cNvSpPr>
          <p:nvPr/>
        </p:nvSpPr>
        <p:spPr>
          <a:xfrm xmlns:a="http://schemas.openxmlformats.org/drawingml/2006/main">
            <a:off x="914400" y="4495800"/>
            <a:ext cx="6286500" cy="495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68F86153-C148-4BFE-B717-6E06AD256235}"/>
              </a:ext>
            </a:extLst>
          </p:cNvPr>
          <p:cNvSpPr>
            <a:spLocks xmlns:a="http://schemas.openxmlformats.org/drawingml/2006/main" noGrp="1"/>
          </p:cNvSpPr>
          <p:nvPr/>
        </p:nvSpPr>
        <p:spPr>
          <a:xfrm xmlns:a="http://schemas.openxmlformats.org/drawingml/2006/main">
            <a:off x="1066800" y="46386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INERT / REPORT</a:t>
            </a:r>
          </a:p>
        </p:txBody>
      </p:sp>
      <p:sp>
        <p:nvSpPr>
          <p:cNvPr id="36" name="">
            <a:extLst xmlns:a="http://schemas.openxmlformats.org/drawingml/2006/main">
              <a:ext uri="{FF2B5EF4-FFF2-40B4-BE49-F238E27FC236}">
                <a16:creationId xmlns:a16="http://schemas.microsoft.com/office/drawing/2014/main" id="{A52F4267-AD4A-454A-9091-8FB5B955A95F}"/>
              </a:ext>
            </a:extLst>
          </p:cNvPr>
          <p:cNvSpPr>
            <a:spLocks xmlns:a="http://schemas.openxmlformats.org/drawingml/2006/main" noGrp="1"/>
          </p:cNvSpPr>
          <p:nvPr/>
        </p:nvSpPr>
        <p:spPr>
          <a:xfrm xmlns:a="http://schemas.openxmlformats.org/drawingml/2006/main">
            <a:off x="2400300" y="46101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basic blocks  call chains  class neighbors  field operations</a:t>
            </a:r>
          </a:p>
        </p:txBody>
      </p:sp>
      <p:sp>
        <p:nvSpPr>
          <p:cNvPr id="37" name="">
            <a:extLst xmlns:a="http://schemas.openxmlformats.org/drawingml/2006/main">
              <a:ext uri="{FF2B5EF4-FFF2-40B4-BE49-F238E27FC236}">
                <a16:creationId xmlns:a16="http://schemas.microsoft.com/office/drawing/2014/main" id="{223829D0-0D77-461B-B83F-11023ED65DC6}"/>
              </a:ext>
            </a:extLst>
          </p:cNvPr>
          <p:cNvSpPr>
            <a:spLocks xmlns:a="http://schemas.openxmlformats.org/drawingml/2006/main" noGrp="1"/>
          </p:cNvSpPr>
          <p:nvPr/>
        </p:nvSpPr>
        <p:spPr>
          <a:xfrm xmlns:a="http://schemas.openxmlformats.org/drawingml/2006/main">
            <a:off x="7791450" y="2552700"/>
            <a:ext cx="3714750" cy="28384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8" name="">
            <a:extLst xmlns:a="http://schemas.openxmlformats.org/drawingml/2006/main">
              <a:ext uri="{FF2B5EF4-FFF2-40B4-BE49-F238E27FC236}">
                <a16:creationId xmlns:a16="http://schemas.microsoft.com/office/drawing/2014/main" id="{DC23732F-305C-4943-852A-2AAB411983C1}"/>
              </a:ext>
            </a:extLst>
          </p:cNvPr>
          <p:cNvSpPr>
            <a:spLocks xmlns:a="http://schemas.openxmlformats.org/drawingml/2006/main" noGrp="1"/>
          </p:cNvSpPr>
          <p:nvPr/>
        </p:nvSpPr>
        <p:spPr>
          <a:xfrm xmlns:a="http://schemas.openxmlformats.org/drawingml/2006/main">
            <a:off x="802005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DESIGN RULE</a:t>
            </a:r>
          </a:p>
        </p:txBody>
      </p:sp>
      <p:sp>
        <p:nvSpPr>
          <p:cNvPr id="39" name="">
            <a:extLst xmlns:a="http://schemas.openxmlformats.org/drawingml/2006/main">
              <a:ext uri="{FF2B5EF4-FFF2-40B4-BE49-F238E27FC236}">
                <a16:creationId xmlns:a16="http://schemas.microsoft.com/office/drawing/2014/main" id="{87517FE3-E8BD-40F8-8D5C-C4DAEECEFE93}"/>
              </a:ext>
            </a:extLst>
          </p:cNvPr>
          <p:cNvSpPr>
            <a:spLocks xmlns:a="http://schemas.openxmlformats.org/drawingml/2006/main" noGrp="1"/>
          </p:cNvSpPr>
          <p:nvPr/>
        </p:nvSpPr>
        <p:spPr>
          <a:xfrm xmlns:a="http://schemas.openxmlformats.org/drawingml/2006/main">
            <a:off x="8020050" y="3181350"/>
            <a:ext cx="30289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Extract broadly.</a:t>
            </a:r>
          </a:p>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Score narrowly.</a:t>
            </a:r>
          </a:p>
        </p:txBody>
      </p:sp>
      <p:sp>
        <p:nvSpPr>
          <p:cNvPr id="40" name="">
            <a:extLst xmlns:a="http://schemas.openxmlformats.org/drawingml/2006/main">
              <a:ext uri="{FF2B5EF4-FFF2-40B4-BE49-F238E27FC236}">
                <a16:creationId xmlns:a16="http://schemas.microsoft.com/office/drawing/2014/main" id="{4D0A8570-9886-4388-AA0A-ADED6EB274EF}"/>
              </a:ext>
            </a:extLst>
          </p:cNvPr>
          <p:cNvSpPr>
            <a:spLocks xmlns:a="http://schemas.openxmlformats.org/drawingml/2006/main" noGrp="1"/>
          </p:cNvSpPr>
          <p:nvPr/>
        </p:nvSpPr>
        <p:spPr>
          <a:xfrm xmlns:a="http://schemas.openxmlformats.org/drawingml/2006/main">
            <a:off x="8115300" y="4267200"/>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Promising features remain available for experiments without silently changing production decisions.</a:t>
            </a:r>
          </a:p>
        </p:txBody>
      </p:sp>
      <p:sp>
        <p:nvSpPr>
          <p:cNvPr id="41" name="">
            <a:extLst xmlns:a="http://schemas.openxmlformats.org/drawingml/2006/main">
              <a:ext uri="{FF2B5EF4-FFF2-40B4-BE49-F238E27FC236}">
                <a16:creationId xmlns:a16="http://schemas.microsoft.com/office/drawing/2014/main" id="{3D0AB016-CA50-445C-B8EA-0E85E93A745F}"/>
              </a:ext>
            </a:extLst>
          </p:cNvPr>
          <p:cNvSpPr>
            <a:spLocks xmlns:a="http://schemas.openxmlformats.org/drawingml/2006/main" noGrp="1"/>
          </p:cNvSpPr>
          <p:nvPr/>
        </p:nvSpPr>
        <p:spPr>
          <a:xfrm xmlns:a="http://schemas.openxmlformats.org/drawingml/2006/main">
            <a:off x="685800" y="56007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57952D6-3BA7-4D0D-A21B-CB961AED5C7E}"/>
              </a:ext>
            </a:extLst>
          </p:cNvPr>
          <p:cNvSpPr>
            <a:spLocks xmlns:a="http://schemas.openxmlformats.org/drawingml/2006/main" noGrp="1"/>
          </p:cNvSpPr>
          <p:nvPr/>
        </p:nvSpPr>
        <p:spPr>
          <a:xfrm xmlns:a="http://schemas.openxmlformats.org/drawingml/2006/main">
            <a:off x="819150" y="5667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src/apk_sbom/dex_analyzer.py  -&gt;  analyze_dex_bytes(), analyze_apk_dex()</a:t>
            </a:r>
          </a:p>
        </p:txBody>
      </p:sp>
      <p:sp>
        <p:nvSpPr>
          <p:cNvPr id="43" name="">
            <a:extLst xmlns:a="http://schemas.openxmlformats.org/drawingml/2006/main">
              <a:ext uri="{FF2B5EF4-FFF2-40B4-BE49-F238E27FC236}">
                <a16:creationId xmlns:a16="http://schemas.microsoft.com/office/drawing/2014/main" id="{B578073C-B5DA-4C00-891C-FD04E69CD5E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68826187"/>
      </p:ext>
    </p:extLst>
  </p:cSld>
</p:sld>
</file>

<file path=ppt/slides/slide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148AC0-ECFB-4932-B7EF-56ECD79BE6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1B05E4-585E-46D1-A9E9-9B8AF606550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2ED4A4-7BE9-48BA-BB1E-DD92CEF5419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COMPONENT 3  |  REFERENCE DB</a:t>
            </a:r>
          </a:p>
        </p:txBody>
      </p:sp>
      <p:sp>
        <p:nvSpPr>
          <p:cNvPr id="4" name="">
            <a:extLst xmlns:a="http://schemas.openxmlformats.org/drawingml/2006/main">
              <a:ext uri="{FF2B5EF4-FFF2-40B4-BE49-F238E27FC236}">
                <a16:creationId xmlns:a16="http://schemas.microsoft.com/office/drawing/2014/main" id="{444CF01E-199D-4B4C-A7BE-5A7E26A731E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reference database became a reproducible Maven-to-DEX feature factory</a:t>
            </a:r>
          </a:p>
        </p:txBody>
      </p:sp>
      <p:sp>
        <p:nvSpPr>
          <p:cNvPr id="5" name="">
            <a:extLst xmlns:a="http://schemas.openxmlformats.org/drawingml/2006/main">
              <a:ext uri="{FF2B5EF4-FFF2-40B4-BE49-F238E27FC236}">
                <a16:creationId xmlns:a16="http://schemas.microsoft.com/office/drawing/2014/main" id="{1CF24D5A-A08F-47F0-BD9D-E9226C41369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3B53538E-B095-4A0D-A1A1-4670559DBF3C}"/>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9ADB6D87-5F71-4136-B93A-06DB3B2C683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E4691EB-95C0-4B5B-A23F-8EE86E45BBEA}"/>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Seed list</a:t>
            </a:r>
          </a:p>
        </p:txBody>
      </p:sp>
      <p:sp>
        <p:nvSpPr>
          <p:cNvPr id="9" name="">
            <a:extLst xmlns:a="http://schemas.openxmlformats.org/drawingml/2006/main">
              <a:ext uri="{FF2B5EF4-FFF2-40B4-BE49-F238E27FC236}">
                <a16:creationId xmlns:a16="http://schemas.microsoft.com/office/drawing/2014/main" id="{09959742-C283-4DF0-92E9-3E62E66347B9}"/>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Hand-selected coordinates and versions.</a:t>
            </a:r>
          </a:p>
        </p:txBody>
      </p:sp>
      <p:sp>
        <p:nvSpPr>
          <p:cNvPr id="10" name="rule">
            <a:extLst xmlns:a="http://schemas.openxmlformats.org/drawingml/2006/main">
              <a:ext uri="{FF2B5EF4-FFF2-40B4-BE49-F238E27FC236}">
                <a16:creationId xmlns:a16="http://schemas.microsoft.com/office/drawing/2014/main" id="{1B259667-0EBC-4B3F-9916-01257D6A011C}"/>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2D4BB0-5046-4BD1-B689-24DEF38C548F}"/>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15081DC-5F13-4F6C-AEFA-BBA3F7DFDCA0}"/>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734CEE84-2B3C-4E46-BB31-9C92F954B0E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258686BD-E414-4138-8808-E2E71FB8ADB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Maven fetch</a:t>
            </a:r>
          </a:p>
        </p:txBody>
      </p:sp>
      <p:sp>
        <p:nvSpPr>
          <p:cNvPr id="15" name="">
            <a:extLst xmlns:a="http://schemas.openxmlformats.org/drawingml/2006/main">
              <a:ext uri="{FF2B5EF4-FFF2-40B4-BE49-F238E27FC236}">
                <a16:creationId xmlns:a16="http://schemas.microsoft.com/office/drawing/2014/main" id="{7C06A515-FA95-4A14-9ACE-FE133559CC32}"/>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Download JAR/AAR plus POM metadata and hashes.</a:t>
            </a:r>
          </a:p>
        </p:txBody>
      </p:sp>
      <p:sp>
        <p:nvSpPr>
          <p:cNvPr id="16" name="rule">
            <a:extLst xmlns:a="http://schemas.openxmlformats.org/drawingml/2006/main">
              <a:ext uri="{FF2B5EF4-FFF2-40B4-BE49-F238E27FC236}">
                <a16:creationId xmlns:a16="http://schemas.microsoft.com/office/drawing/2014/main" id="{8C9D140A-4638-4584-8328-BA92A6E24D89}"/>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DE73EB-EF6F-477B-B2E8-AFA2FC4AE770}"/>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49FB221-CAF9-4FAE-99D3-2B57825E2217}"/>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1DEB01AA-10AB-41B0-979B-C38FDB64FF2E}"/>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F7C61"/>
                </a:solidFill>
                <a:latin typeface="Aptos"/>
                <a:ea typeface="Aptos"/>
                <a:cs typeface="Aptos"/>
              </a:defRPr>
            </a:pPr>
            <a:r>
              <a:rPr sz="825" b="1">
                <a:solidFill>
                  <a:srgbClr val="6F7C61"/>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E8FA75CB-6736-45B2-A0EB-B59C59A08647}"/>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DEX normalization</a:t>
            </a:r>
          </a:p>
        </p:txBody>
      </p:sp>
      <p:sp>
        <p:nvSpPr>
          <p:cNvPr id="21" name="">
            <a:extLst xmlns:a="http://schemas.openxmlformats.org/drawingml/2006/main">
              <a:ext uri="{FF2B5EF4-FFF2-40B4-BE49-F238E27FC236}">
                <a16:creationId xmlns:a16="http://schemas.microsoft.com/office/drawing/2014/main" id="{F1E71FD7-43F7-43B0-BDBD-4C448371D1FD}"/>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Convert JAR/classes.jar through D8 for comparable bytecode.</a:t>
            </a:r>
          </a:p>
        </p:txBody>
      </p:sp>
      <p:sp>
        <p:nvSpPr>
          <p:cNvPr id="22" name="rule">
            <a:extLst xmlns:a="http://schemas.openxmlformats.org/drawingml/2006/main">
              <a:ext uri="{FF2B5EF4-FFF2-40B4-BE49-F238E27FC236}">
                <a16:creationId xmlns:a16="http://schemas.microsoft.com/office/drawing/2014/main" id="{9EF7FB81-1B48-46F9-9C8F-92B6260F4F3E}"/>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4E7CB9-AEDB-4913-A8C3-03CE8C9FCAF5}"/>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A641A04-9D8C-4A42-A8DB-C990A5636490}"/>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AAD6609B-19CD-49F8-9169-B468F6D93C4F}"/>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C53F25DA-9178-4E91-988E-532C5FD200F7}"/>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Guarded growth</a:t>
            </a:r>
          </a:p>
        </p:txBody>
      </p:sp>
      <p:sp>
        <p:nvSpPr>
          <p:cNvPr id="27" name="">
            <a:extLst xmlns:a="http://schemas.openxmlformats.org/drawingml/2006/main">
              <a:ext uri="{FF2B5EF4-FFF2-40B4-BE49-F238E27FC236}">
                <a16:creationId xmlns:a16="http://schemas.microsoft.com/office/drawing/2014/main" id="{F2CBB4D9-D0DD-4D6F-8B59-B0402977C05E}"/>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Store rich SQLite features; promote versions only after controls.</a:t>
            </a:r>
          </a:p>
        </p:txBody>
      </p:sp>
      <p:sp>
        <p:nvSpPr>
          <p:cNvPr id="28" name="">
            <a:extLst xmlns:a="http://schemas.openxmlformats.org/drawingml/2006/main">
              <a:ext uri="{FF2B5EF4-FFF2-40B4-BE49-F238E27FC236}">
                <a16:creationId xmlns:a16="http://schemas.microsoft.com/office/drawing/2014/main" id="{79EBC2FD-52E5-4953-9C94-9934DE048181}"/>
              </a:ext>
            </a:extLst>
          </p:cNvPr>
          <p:cNvSpPr>
            <a:spLocks xmlns:a="http://schemas.openxmlformats.org/drawingml/2006/main" noGrp="1"/>
          </p:cNvSpPr>
          <p:nvPr/>
        </p:nvSpPr>
        <p:spPr>
          <a:xfrm xmlns:a="http://schemas.openxmlformats.org/drawingml/2006/main">
            <a:off x="7239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E1445C0B-9B73-438C-8BE1-F230E046DDA4}"/>
              </a:ext>
            </a:extLst>
          </p:cNvPr>
          <p:cNvSpPr>
            <a:spLocks xmlns:a="http://schemas.openxmlformats.org/drawingml/2006/main" noGrp="1"/>
          </p:cNvSpPr>
          <p:nvPr/>
        </p:nvSpPr>
        <p:spPr>
          <a:xfrm xmlns:a="http://schemas.openxmlformats.org/drawingml/2006/main">
            <a:off x="8953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365F7D"/>
                </a:solidFill>
                <a:latin typeface="Aptos"/>
                <a:ea typeface="Aptos"/>
                <a:cs typeface="Aptos"/>
              </a:defRPr>
            </a:pPr>
            <a:r>
              <a:rPr sz="1650" b="1">
                <a:solidFill>
                  <a:srgbClr val="365F7D"/>
                </a:solidFill>
                <a:latin typeface="Aptos"/>
                <a:ea typeface="Aptos"/>
                <a:cs typeface="Aptos"/>
              </a:rPr>
              <a:t>Maven</a:t>
            </a:r>
          </a:p>
        </p:txBody>
      </p:sp>
      <p:sp>
        <p:nvSpPr>
          <p:cNvPr id="30" name="">
            <a:extLst xmlns:a="http://schemas.openxmlformats.org/drawingml/2006/main">
              <a:ext uri="{FF2B5EF4-FFF2-40B4-BE49-F238E27FC236}">
                <a16:creationId xmlns:a16="http://schemas.microsoft.com/office/drawing/2014/main" id="{E82D6589-6260-45F0-B68E-E1D45431A5AA}"/>
              </a:ext>
            </a:extLst>
          </p:cNvPr>
          <p:cNvSpPr>
            <a:spLocks xmlns:a="http://schemas.openxmlformats.org/drawingml/2006/main" noGrp="1"/>
          </p:cNvSpPr>
          <p:nvPr/>
        </p:nvSpPr>
        <p:spPr>
          <a:xfrm xmlns:a="http://schemas.openxmlformats.org/drawingml/2006/main">
            <a:off x="8953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JAR / AAR</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POM</a:t>
            </a:r>
          </a:p>
        </p:txBody>
      </p:sp>
      <p:sp>
        <p:nvSpPr>
          <p:cNvPr id="31" name="rule">
            <a:extLst xmlns:a="http://schemas.openxmlformats.org/drawingml/2006/main">
              <a:ext uri="{FF2B5EF4-FFF2-40B4-BE49-F238E27FC236}">
                <a16:creationId xmlns:a16="http://schemas.microsoft.com/office/drawing/2014/main" id="{B486EF64-B096-4CD4-B1B7-950689930F4F}"/>
              </a:ext>
            </a:extLst>
          </p:cNvPr>
          <p:cNvSpPr>
            <a:spLocks xmlns:a="http://schemas.openxmlformats.org/drawingml/2006/main" noGrp="1"/>
          </p:cNvSpPr>
          <p:nvPr/>
        </p:nvSpPr>
        <p:spPr>
          <a:xfrm xmlns:a="http://schemas.openxmlformats.org/drawingml/2006/main">
            <a:off x="2895600" y="3438525"/>
            <a:ext cx="3048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3E0453-6465-4457-BB38-00496EDB8D82}"/>
              </a:ext>
            </a:extLst>
          </p:cNvPr>
          <p:cNvSpPr>
            <a:spLocks xmlns:a="http://schemas.openxmlformats.org/drawingml/2006/main" noGrp="1"/>
          </p:cNvSpPr>
          <p:nvPr/>
        </p:nvSpPr>
        <p:spPr>
          <a:xfrm xmlns:a="http://schemas.openxmlformats.org/drawingml/2006/main">
            <a:off x="3124200" y="33528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4AFB9EB-7491-4116-9E48-540BBA0EB474}"/>
              </a:ext>
            </a:extLst>
          </p:cNvPr>
          <p:cNvSpPr>
            <a:spLocks xmlns:a="http://schemas.openxmlformats.org/drawingml/2006/main" noGrp="1"/>
          </p:cNvSpPr>
          <p:nvPr/>
        </p:nvSpPr>
        <p:spPr>
          <a:xfrm xmlns:a="http://schemas.openxmlformats.org/drawingml/2006/main">
            <a:off x="33528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DB4A745D-123C-4536-B93D-85117794C907}"/>
              </a:ext>
            </a:extLst>
          </p:cNvPr>
          <p:cNvSpPr>
            <a:spLocks xmlns:a="http://schemas.openxmlformats.org/drawingml/2006/main" noGrp="1"/>
          </p:cNvSpPr>
          <p:nvPr/>
        </p:nvSpPr>
        <p:spPr>
          <a:xfrm xmlns:a="http://schemas.openxmlformats.org/drawingml/2006/main">
            <a:off x="35242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655F73"/>
                </a:solidFill>
                <a:latin typeface="Aptos"/>
                <a:ea typeface="Aptos"/>
                <a:cs typeface="Aptos"/>
              </a:defRPr>
            </a:pPr>
            <a:r>
              <a:rPr sz="1650" b="1">
                <a:solidFill>
                  <a:srgbClr val="655F73"/>
                </a:solidFill>
                <a:latin typeface="Aptos"/>
                <a:ea typeface="Aptos"/>
                <a:cs typeface="Aptos"/>
              </a:rPr>
              <a:t>D8</a:t>
            </a:r>
          </a:p>
        </p:txBody>
      </p:sp>
      <p:sp>
        <p:nvSpPr>
          <p:cNvPr id="35" name="">
            <a:extLst xmlns:a="http://schemas.openxmlformats.org/drawingml/2006/main">
              <a:ext uri="{FF2B5EF4-FFF2-40B4-BE49-F238E27FC236}">
                <a16:creationId xmlns:a16="http://schemas.microsoft.com/office/drawing/2014/main" id="{FC3A6238-4D29-4688-9AE3-F97413268DB0}"/>
              </a:ext>
            </a:extLst>
          </p:cNvPr>
          <p:cNvSpPr>
            <a:spLocks xmlns:a="http://schemas.openxmlformats.org/drawingml/2006/main" noGrp="1"/>
          </p:cNvSpPr>
          <p:nvPr/>
        </p:nvSpPr>
        <p:spPr>
          <a:xfrm xmlns:a="http://schemas.openxmlformats.org/drawingml/2006/main">
            <a:off x="35242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DEX</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normalization</a:t>
            </a:r>
          </a:p>
        </p:txBody>
      </p:sp>
      <p:sp>
        <p:nvSpPr>
          <p:cNvPr id="36" name="rule">
            <a:extLst xmlns:a="http://schemas.openxmlformats.org/drawingml/2006/main">
              <a:ext uri="{FF2B5EF4-FFF2-40B4-BE49-F238E27FC236}">
                <a16:creationId xmlns:a16="http://schemas.microsoft.com/office/drawing/2014/main" id="{83B31879-2E23-4B38-8BE2-9664B3BD0A73}"/>
              </a:ext>
            </a:extLst>
          </p:cNvPr>
          <p:cNvSpPr>
            <a:spLocks xmlns:a="http://schemas.openxmlformats.org/drawingml/2006/main" noGrp="1"/>
          </p:cNvSpPr>
          <p:nvPr/>
        </p:nvSpPr>
        <p:spPr>
          <a:xfrm xmlns:a="http://schemas.openxmlformats.org/drawingml/2006/main">
            <a:off x="5524500" y="3438525"/>
            <a:ext cx="3048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6D9925D-CC2C-4C76-AEA8-8E13BAAAC303}"/>
              </a:ext>
            </a:extLst>
          </p:cNvPr>
          <p:cNvSpPr>
            <a:spLocks xmlns:a="http://schemas.openxmlformats.org/drawingml/2006/main" noGrp="1"/>
          </p:cNvSpPr>
          <p:nvPr/>
        </p:nvSpPr>
        <p:spPr>
          <a:xfrm xmlns:a="http://schemas.openxmlformats.org/drawingml/2006/main">
            <a:off x="5753100" y="33528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C12AAF1-2BA7-4E20-990D-BAEB6232E2D1}"/>
              </a:ext>
            </a:extLst>
          </p:cNvPr>
          <p:cNvSpPr>
            <a:spLocks xmlns:a="http://schemas.openxmlformats.org/drawingml/2006/main" noGrp="1"/>
          </p:cNvSpPr>
          <p:nvPr/>
        </p:nvSpPr>
        <p:spPr>
          <a:xfrm xmlns:a="http://schemas.openxmlformats.org/drawingml/2006/main">
            <a:off x="59817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90215711-1BDF-44A1-AFB0-541FDBB6A69B}"/>
              </a:ext>
            </a:extLst>
          </p:cNvPr>
          <p:cNvSpPr>
            <a:spLocks xmlns:a="http://schemas.openxmlformats.org/drawingml/2006/main" noGrp="1"/>
          </p:cNvSpPr>
          <p:nvPr/>
        </p:nvSpPr>
        <p:spPr>
          <a:xfrm xmlns:a="http://schemas.openxmlformats.org/drawingml/2006/main">
            <a:off x="61531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4F7D76"/>
                </a:solidFill>
                <a:latin typeface="Aptos"/>
                <a:ea typeface="Aptos"/>
                <a:cs typeface="Aptos"/>
              </a:defRPr>
            </a:pPr>
            <a:r>
              <a:rPr sz="1650" b="1">
                <a:solidFill>
                  <a:srgbClr val="4F7D76"/>
                </a:solidFill>
                <a:latin typeface="Aptos"/>
                <a:ea typeface="Aptos"/>
                <a:cs typeface="Aptos"/>
              </a:rPr>
              <a:t>Features</a:t>
            </a:r>
          </a:p>
        </p:txBody>
      </p:sp>
      <p:sp>
        <p:nvSpPr>
          <p:cNvPr id="40" name="">
            <a:extLst xmlns:a="http://schemas.openxmlformats.org/drawingml/2006/main">
              <a:ext uri="{FF2B5EF4-FFF2-40B4-BE49-F238E27FC236}">
                <a16:creationId xmlns:a16="http://schemas.microsoft.com/office/drawing/2014/main" id="{E51161E3-DF95-4B67-BDB6-2072E60C3CA0}"/>
              </a:ext>
            </a:extLst>
          </p:cNvPr>
          <p:cNvSpPr>
            <a:spLocks xmlns:a="http://schemas.openxmlformats.org/drawingml/2006/main" noGrp="1"/>
          </p:cNvSpPr>
          <p:nvPr/>
        </p:nvSpPr>
        <p:spPr>
          <a:xfrm xmlns:a="http://schemas.openxmlformats.org/drawingml/2006/main">
            <a:off x="61531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classes  methods</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opcodes  graph</a:t>
            </a:r>
          </a:p>
        </p:txBody>
      </p:sp>
      <p:sp>
        <p:nvSpPr>
          <p:cNvPr id="41" name="rule">
            <a:extLst xmlns:a="http://schemas.openxmlformats.org/drawingml/2006/main">
              <a:ext uri="{FF2B5EF4-FFF2-40B4-BE49-F238E27FC236}">
                <a16:creationId xmlns:a16="http://schemas.microsoft.com/office/drawing/2014/main" id="{0B8F7601-AB9E-4F4E-A47E-8439C6271372}"/>
              </a:ext>
            </a:extLst>
          </p:cNvPr>
          <p:cNvSpPr>
            <a:spLocks xmlns:a="http://schemas.openxmlformats.org/drawingml/2006/main" noGrp="1"/>
          </p:cNvSpPr>
          <p:nvPr/>
        </p:nvSpPr>
        <p:spPr>
          <a:xfrm xmlns:a="http://schemas.openxmlformats.org/drawingml/2006/main">
            <a:off x="8153400" y="3438525"/>
            <a:ext cx="3048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562C002-73FA-4AC5-9576-D3C652B20F5E}"/>
              </a:ext>
            </a:extLst>
          </p:cNvPr>
          <p:cNvSpPr>
            <a:spLocks xmlns:a="http://schemas.openxmlformats.org/drawingml/2006/main" noGrp="1"/>
          </p:cNvSpPr>
          <p:nvPr/>
        </p:nvSpPr>
        <p:spPr>
          <a:xfrm xmlns:a="http://schemas.openxmlformats.org/drawingml/2006/main">
            <a:off x="8382000" y="33528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239AC5F-3F30-4101-B7A3-9D63940A3BDE}"/>
              </a:ext>
            </a:extLst>
          </p:cNvPr>
          <p:cNvSpPr>
            <a:spLocks xmlns:a="http://schemas.openxmlformats.org/drawingml/2006/main" noGrp="1"/>
          </p:cNvSpPr>
          <p:nvPr/>
        </p:nvSpPr>
        <p:spPr>
          <a:xfrm xmlns:a="http://schemas.openxmlformats.org/drawingml/2006/main">
            <a:off x="86106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8E36B182-0114-4A3E-A4F4-44AD87421E7E}"/>
              </a:ext>
            </a:extLst>
          </p:cNvPr>
          <p:cNvSpPr>
            <a:spLocks xmlns:a="http://schemas.openxmlformats.org/drawingml/2006/main" noGrp="1"/>
          </p:cNvSpPr>
          <p:nvPr/>
        </p:nvSpPr>
        <p:spPr>
          <a:xfrm xmlns:a="http://schemas.openxmlformats.org/drawingml/2006/main">
            <a:off x="87820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6F7C61"/>
                </a:solidFill>
                <a:latin typeface="Aptos"/>
                <a:ea typeface="Aptos"/>
                <a:cs typeface="Aptos"/>
              </a:defRPr>
            </a:pPr>
            <a:r>
              <a:rPr sz="1650" b="1">
                <a:solidFill>
                  <a:srgbClr val="6F7C61"/>
                </a:solidFill>
                <a:latin typeface="Aptos"/>
                <a:ea typeface="Aptos"/>
                <a:cs typeface="Aptos"/>
              </a:rPr>
              <a:t>SQLite</a:t>
            </a:r>
          </a:p>
        </p:txBody>
      </p:sp>
      <p:sp>
        <p:nvSpPr>
          <p:cNvPr id="45" name="">
            <a:extLst xmlns:a="http://schemas.openxmlformats.org/drawingml/2006/main">
              <a:ext uri="{FF2B5EF4-FFF2-40B4-BE49-F238E27FC236}">
                <a16:creationId xmlns:a16="http://schemas.microsoft.com/office/drawing/2014/main" id="{39B75460-8025-490E-9BB9-FB5A2BB10400}"/>
              </a:ext>
            </a:extLst>
          </p:cNvPr>
          <p:cNvSpPr>
            <a:spLocks xmlns:a="http://schemas.openxmlformats.org/drawingml/2006/main" noGrp="1"/>
          </p:cNvSpPr>
          <p:nvPr/>
        </p:nvSpPr>
        <p:spPr>
          <a:xfrm xmlns:a="http://schemas.openxmlformats.org/drawingml/2006/main">
            <a:off x="87820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coordinate + version</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searchable evidence</a:t>
            </a:r>
          </a:p>
        </p:txBody>
      </p:sp>
      <p:sp>
        <p:nvSpPr>
          <p:cNvPr id="46" name="">
            <a:extLst xmlns:a="http://schemas.openxmlformats.org/drawingml/2006/main">
              <a:ext uri="{FF2B5EF4-FFF2-40B4-BE49-F238E27FC236}">
                <a16:creationId xmlns:a16="http://schemas.microsoft.com/office/drawing/2014/main" id="{228BA2CD-5A44-4E2B-8B33-630643D49FC5}"/>
              </a:ext>
            </a:extLst>
          </p:cNvPr>
          <p:cNvSpPr>
            <a:spLocks xmlns:a="http://schemas.openxmlformats.org/drawingml/2006/main" noGrp="1"/>
          </p:cNvSpPr>
          <p:nvPr/>
        </p:nvSpPr>
        <p:spPr>
          <a:xfrm xmlns:a="http://schemas.openxmlformats.org/drawingml/2006/main">
            <a:off x="723900" y="4572000"/>
            <a:ext cx="3143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3EDC7498-8EC2-4D87-A394-6B960279C2AA}"/>
              </a:ext>
            </a:extLst>
          </p:cNvPr>
          <p:cNvSpPr>
            <a:spLocks xmlns:a="http://schemas.openxmlformats.org/drawingml/2006/main" noGrp="1"/>
          </p:cNvSpPr>
          <p:nvPr/>
        </p:nvSpPr>
        <p:spPr>
          <a:xfrm xmlns:a="http://schemas.openxmlformats.org/drawingml/2006/main">
            <a:off x="857250" y="47434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4F7D76"/>
                </a:solidFill>
                <a:latin typeface="Aptos Display"/>
                <a:ea typeface="Aptos Display"/>
                <a:cs typeface="Aptos Display"/>
              </a:defRPr>
            </a:pPr>
            <a:r>
              <a:rPr sz="2250" b="1">
                <a:solidFill>
                  <a:srgbClr val="4F7D76"/>
                </a:solidFill>
                <a:latin typeface="Aptos Display"/>
                <a:ea typeface="Aptos Display"/>
                <a:cs typeface="Aptos Display"/>
              </a:rPr>
              <a:t>10,517</a:t>
            </a:r>
          </a:p>
        </p:txBody>
      </p:sp>
      <p:sp>
        <p:nvSpPr>
          <p:cNvPr id="48" name="">
            <a:extLst xmlns:a="http://schemas.openxmlformats.org/drawingml/2006/main">
              <a:ext uri="{FF2B5EF4-FFF2-40B4-BE49-F238E27FC236}">
                <a16:creationId xmlns:a16="http://schemas.microsoft.com/office/drawing/2014/main" id="{A7078426-491B-46B2-BF2A-0BD29F21C5E4}"/>
              </a:ext>
            </a:extLst>
          </p:cNvPr>
          <p:cNvSpPr>
            <a:spLocks xmlns:a="http://schemas.openxmlformats.org/drawingml/2006/main" noGrp="1"/>
          </p:cNvSpPr>
          <p:nvPr/>
        </p:nvSpPr>
        <p:spPr>
          <a:xfrm xmlns:a="http://schemas.openxmlformats.org/drawingml/2006/main">
            <a:off x="857250" y="51816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coordinate-version components in the final large v2 DB</a:t>
            </a:r>
          </a:p>
        </p:txBody>
      </p:sp>
      <p:sp>
        <p:nvSpPr>
          <p:cNvPr id="49" name="">
            <a:extLst xmlns:a="http://schemas.openxmlformats.org/drawingml/2006/main">
              <a:ext uri="{FF2B5EF4-FFF2-40B4-BE49-F238E27FC236}">
                <a16:creationId xmlns:a16="http://schemas.microsoft.com/office/drawing/2014/main" id="{085519BC-4AE0-4A97-8CD6-ED7C1ED81CFF}"/>
              </a:ext>
            </a:extLst>
          </p:cNvPr>
          <p:cNvSpPr>
            <a:spLocks xmlns:a="http://schemas.openxmlformats.org/drawingml/2006/main" noGrp="1"/>
          </p:cNvSpPr>
          <p:nvPr/>
        </p:nvSpPr>
        <p:spPr>
          <a:xfrm xmlns:a="http://schemas.openxmlformats.org/drawingml/2006/main">
            <a:off x="409575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0" name="">
            <a:extLst xmlns:a="http://schemas.openxmlformats.org/drawingml/2006/main">
              <a:ext uri="{FF2B5EF4-FFF2-40B4-BE49-F238E27FC236}">
                <a16:creationId xmlns:a16="http://schemas.microsoft.com/office/drawing/2014/main" id="{70623A87-CDB3-4673-8F1B-963146F6B0E0}"/>
              </a:ext>
            </a:extLst>
          </p:cNvPr>
          <p:cNvSpPr>
            <a:spLocks xmlns:a="http://schemas.openxmlformats.org/drawingml/2006/main" noGrp="1"/>
          </p:cNvSpPr>
          <p:nvPr/>
        </p:nvSpPr>
        <p:spPr>
          <a:xfrm xmlns:a="http://schemas.openxmlformats.org/drawingml/2006/main">
            <a:off x="422910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55F73"/>
                </a:solidFill>
                <a:latin typeface="Aptos Display"/>
                <a:ea typeface="Aptos Display"/>
                <a:cs typeface="Aptos Display"/>
              </a:defRPr>
            </a:pPr>
            <a:r>
              <a:rPr sz="2250" b="1">
                <a:solidFill>
                  <a:srgbClr val="655F73"/>
                </a:solidFill>
                <a:latin typeface="Aptos Display"/>
                <a:ea typeface="Aptos Display"/>
                <a:cs typeface="Aptos Display"/>
              </a:rPr>
              <a:t>15.8 GB</a:t>
            </a:r>
          </a:p>
        </p:txBody>
      </p:sp>
      <p:sp>
        <p:nvSpPr>
          <p:cNvPr id="51" name="">
            <a:extLst xmlns:a="http://schemas.openxmlformats.org/drawingml/2006/main">
              <a:ext uri="{FF2B5EF4-FFF2-40B4-BE49-F238E27FC236}">
                <a16:creationId xmlns:a16="http://schemas.microsoft.com/office/drawing/2014/main" id="{1042002C-E966-4E32-AC47-180EB000FBF6}"/>
              </a:ext>
            </a:extLst>
          </p:cNvPr>
          <p:cNvSpPr>
            <a:spLocks xmlns:a="http://schemas.openxmlformats.org/drawingml/2006/main" noGrp="1"/>
          </p:cNvSpPr>
          <p:nvPr/>
        </p:nvSpPr>
        <p:spPr>
          <a:xfrm xmlns:a="http://schemas.openxmlformats.org/drawingml/2006/main">
            <a:off x="422910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feature database artifact</a:t>
            </a:r>
          </a:p>
        </p:txBody>
      </p:sp>
      <p:sp>
        <p:nvSpPr>
          <p:cNvPr id="52" name="">
            <a:extLst xmlns:a="http://schemas.openxmlformats.org/drawingml/2006/main">
              <a:ext uri="{FF2B5EF4-FFF2-40B4-BE49-F238E27FC236}">
                <a16:creationId xmlns:a16="http://schemas.microsoft.com/office/drawing/2014/main" id="{FC714BCB-F918-42B9-92C4-8B6DC48EE19E}"/>
              </a:ext>
            </a:extLst>
          </p:cNvPr>
          <p:cNvSpPr>
            <a:spLocks xmlns:a="http://schemas.openxmlformats.org/drawingml/2006/main" noGrp="1"/>
          </p:cNvSpPr>
          <p:nvPr/>
        </p:nvSpPr>
        <p:spPr>
          <a:xfrm xmlns:a="http://schemas.openxmlformats.org/drawingml/2006/main">
            <a:off x="670560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3" name="">
            <a:extLst xmlns:a="http://schemas.openxmlformats.org/drawingml/2006/main">
              <a:ext uri="{FF2B5EF4-FFF2-40B4-BE49-F238E27FC236}">
                <a16:creationId xmlns:a16="http://schemas.microsoft.com/office/drawing/2014/main" id="{3CE5CC25-95DC-485F-8CD9-6832FA3B303C}"/>
              </a:ext>
            </a:extLst>
          </p:cNvPr>
          <p:cNvSpPr>
            <a:spLocks xmlns:a="http://schemas.openxmlformats.org/drawingml/2006/main" noGrp="1"/>
          </p:cNvSpPr>
          <p:nvPr/>
        </p:nvSpPr>
        <p:spPr>
          <a:xfrm xmlns:a="http://schemas.openxmlformats.org/drawingml/2006/main">
            <a:off x="683895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F7C61"/>
                </a:solidFill>
                <a:latin typeface="Aptos Display"/>
                <a:ea typeface="Aptos Display"/>
                <a:cs typeface="Aptos Display"/>
              </a:defRPr>
            </a:pPr>
            <a:r>
              <a:rPr sz="2250" b="1">
                <a:solidFill>
                  <a:srgbClr val="6F7C61"/>
                </a:solidFill>
                <a:latin typeface="Aptos Display"/>
                <a:ea typeface="Aptos Display"/>
                <a:cs typeface="Aptos Display"/>
              </a:rPr>
              <a:t>106 / 106</a:t>
            </a:r>
          </a:p>
        </p:txBody>
      </p:sp>
      <p:sp>
        <p:nvSpPr>
          <p:cNvPr id="54" name="">
            <a:extLst xmlns:a="http://schemas.openxmlformats.org/drawingml/2006/main">
              <a:ext uri="{FF2B5EF4-FFF2-40B4-BE49-F238E27FC236}">
                <a16:creationId xmlns:a16="http://schemas.microsoft.com/office/drawing/2014/main" id="{66347D10-5DA2-41E3-ABFD-0DEDA35B4719}"/>
              </a:ext>
            </a:extLst>
          </p:cNvPr>
          <p:cNvSpPr>
            <a:spLocks xmlns:a="http://schemas.openxmlformats.org/drawingml/2006/main" noGrp="1"/>
          </p:cNvSpPr>
          <p:nvPr/>
        </p:nvSpPr>
        <p:spPr>
          <a:xfrm xmlns:a="http://schemas.openxmlformats.org/drawingml/2006/main">
            <a:off x="683895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source-tree cases rerun in the bounded lane</a:t>
            </a:r>
          </a:p>
        </p:txBody>
      </p:sp>
      <p:sp>
        <p:nvSpPr>
          <p:cNvPr id="55" name="">
            <a:extLst xmlns:a="http://schemas.openxmlformats.org/drawingml/2006/main">
              <a:ext uri="{FF2B5EF4-FFF2-40B4-BE49-F238E27FC236}">
                <a16:creationId xmlns:a16="http://schemas.microsoft.com/office/drawing/2014/main" id="{12B9455D-2707-40E5-BAEB-B529DBB304AF}"/>
              </a:ext>
            </a:extLst>
          </p:cNvPr>
          <p:cNvSpPr>
            <a:spLocks xmlns:a="http://schemas.openxmlformats.org/drawingml/2006/main" noGrp="1"/>
          </p:cNvSpPr>
          <p:nvPr/>
        </p:nvSpPr>
        <p:spPr>
          <a:xfrm xmlns:a="http://schemas.openxmlformats.org/drawingml/2006/main">
            <a:off x="9315450" y="4572000"/>
            <a:ext cx="21907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6" name="">
            <a:extLst xmlns:a="http://schemas.openxmlformats.org/drawingml/2006/main">
              <a:ext uri="{FF2B5EF4-FFF2-40B4-BE49-F238E27FC236}">
                <a16:creationId xmlns:a16="http://schemas.microsoft.com/office/drawing/2014/main" id="{A79E28ED-D8C1-480B-AB74-2008E76513CC}"/>
              </a:ext>
            </a:extLst>
          </p:cNvPr>
          <p:cNvSpPr>
            <a:spLocks xmlns:a="http://schemas.openxmlformats.org/drawingml/2006/main" noGrp="1"/>
          </p:cNvSpPr>
          <p:nvPr/>
        </p:nvSpPr>
        <p:spPr>
          <a:xfrm xmlns:a="http://schemas.openxmlformats.org/drawingml/2006/main">
            <a:off x="9448800" y="47434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8D754D"/>
                </a:solidFill>
                <a:latin typeface="Aptos Display"/>
                <a:ea typeface="Aptos Display"/>
                <a:cs typeface="Aptos Display"/>
              </a:defRPr>
            </a:pPr>
            <a:r>
              <a:rPr sz="1875" b="1">
                <a:solidFill>
                  <a:srgbClr val="8D754D"/>
                </a:solidFill>
                <a:latin typeface="Aptos Display"/>
                <a:ea typeface="Aptos Display"/>
                <a:cs typeface="Aptos Display"/>
              </a:rPr>
              <a:t>Guarded</a:t>
            </a:r>
          </a:p>
        </p:txBody>
      </p:sp>
      <p:sp>
        <p:nvSpPr>
          <p:cNvPr id="57" name="">
            <a:extLst xmlns:a="http://schemas.openxmlformats.org/drawingml/2006/main">
              <a:ext uri="{FF2B5EF4-FFF2-40B4-BE49-F238E27FC236}">
                <a16:creationId xmlns:a16="http://schemas.microsoft.com/office/drawing/2014/main" id="{13BBFA1C-299A-4F92-A11F-9E9D85B13E28}"/>
              </a:ext>
            </a:extLst>
          </p:cNvPr>
          <p:cNvSpPr>
            <a:spLocks xmlns:a="http://schemas.openxmlformats.org/drawingml/2006/main" noGrp="1"/>
          </p:cNvSpPr>
          <p:nvPr/>
        </p:nvSpPr>
        <p:spPr>
          <a:xfrm xmlns:a="http://schemas.openxmlformats.org/drawingml/2006/main">
            <a:off x="9448800" y="51816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reference additions must pass current controls</a:t>
            </a:r>
          </a:p>
        </p:txBody>
      </p:sp>
      <p:sp>
        <p:nvSpPr>
          <p:cNvPr id="58" name="">
            <a:extLst xmlns:a="http://schemas.openxmlformats.org/drawingml/2006/main">
              <a:ext uri="{FF2B5EF4-FFF2-40B4-BE49-F238E27FC236}">
                <a16:creationId xmlns:a16="http://schemas.microsoft.com/office/drawing/2014/main" id="{37BA7B6F-44CA-4C78-97C5-70BA3F9545E4}"/>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F1567441-C001-4F36-AAEE-A8F49225A38B}"/>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Code: maven_downloader.py  -&gt;  reference_converter.py  -&gt;  reference_features.py  |  DB: data/reference_db/reference_features_demo_final_large_v2.sqlite</a:t>
            </a:r>
          </a:p>
        </p:txBody>
      </p:sp>
      <p:sp>
        <p:nvSpPr>
          <p:cNvPr id="60" name="">
            <a:extLst xmlns:a="http://schemas.openxmlformats.org/drawingml/2006/main">
              <a:ext uri="{FF2B5EF4-FFF2-40B4-BE49-F238E27FC236}">
                <a16:creationId xmlns:a16="http://schemas.microsoft.com/office/drawing/2014/main" id="{6C013DD4-3C47-4F4E-AAF3-2D7ADD799CF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49187140"/>
      </p:ext>
    </p:extLst>
  </p:cSld>
</p:sld>
</file>

<file path=ppt/slides/slide1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A08F41-E8B8-4422-AD4F-EAC7F8A2053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COMPONENT 4  |  MATCHER</a:t>
            </a:r>
          </a:p>
        </p:txBody>
      </p:sp>
      <p:sp>
        <p:nvSpPr>
          <p:cNvPr id="2" name="">
            <a:extLst xmlns:a="http://schemas.openxmlformats.org/drawingml/2006/main">
              <a:ext uri="{FF2B5EF4-FFF2-40B4-BE49-F238E27FC236}">
                <a16:creationId xmlns:a16="http://schemas.microsoft.com/office/drawing/2014/main" id="{06E84E82-77AA-4D5E-BF1E-73863F2AF16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Candidate generation and matching evolved toward guarded multi-signal decisions</a:t>
            </a:r>
          </a:p>
        </p:txBody>
      </p:sp>
      <p:sp>
        <p:nvSpPr>
          <p:cNvPr id="3" name="">
            <a:extLst xmlns:a="http://schemas.openxmlformats.org/drawingml/2006/main">
              <a:ext uri="{FF2B5EF4-FFF2-40B4-BE49-F238E27FC236}">
                <a16:creationId xmlns:a16="http://schemas.microsoft.com/office/drawing/2014/main" id="{26D2B7EF-E217-44E8-8F45-A30FE7DA707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28F4FEBF-5387-4CB1-BE04-64377FD417F6}"/>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AD66398B-D481-4F3B-B6C1-2AFF7CCE967B}"/>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B8F7C8B-0370-423E-A440-1E1EA965A9F9}"/>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Package shortlist</a:t>
            </a:r>
          </a:p>
        </p:txBody>
      </p:sp>
      <p:sp>
        <p:nvSpPr>
          <p:cNvPr id="7" name="">
            <a:extLst xmlns:a="http://schemas.openxmlformats.org/drawingml/2006/main">
              <a:ext uri="{FF2B5EF4-FFF2-40B4-BE49-F238E27FC236}">
                <a16:creationId xmlns:a16="http://schemas.microsoft.com/office/drawing/2014/main" id="{0B4B3D50-41E9-4AE4-B7E1-D8A2259D1D3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Fast recall, but fragile under renaming and artifact overlap.</a:t>
            </a:r>
          </a:p>
        </p:txBody>
      </p:sp>
      <p:sp>
        <p:nvSpPr>
          <p:cNvPr id="8" name="rule">
            <a:extLst xmlns:a="http://schemas.openxmlformats.org/drawingml/2006/main">
              <a:ext uri="{FF2B5EF4-FFF2-40B4-BE49-F238E27FC236}">
                <a16:creationId xmlns:a16="http://schemas.microsoft.com/office/drawing/2014/main" id="{B5093DD8-352C-4753-A265-B4D99941F6C3}"/>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A0E315-AFEE-4A75-91A2-EA7334D26AEE}"/>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A58262-DFCB-47B6-931E-0A6A5AB08BF1}"/>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F2CE3173-F386-447B-8BA5-7F4892756D39}"/>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7906ADA0-26DE-49DA-B676-D2287A3A6E31}"/>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Weighted fusion</a:t>
            </a:r>
          </a:p>
        </p:txBody>
      </p:sp>
      <p:sp>
        <p:nvSpPr>
          <p:cNvPr id="13" name="">
            <a:extLst xmlns:a="http://schemas.openxmlformats.org/drawingml/2006/main">
              <a:ext uri="{FF2B5EF4-FFF2-40B4-BE49-F238E27FC236}">
                <a16:creationId xmlns:a16="http://schemas.microsoft.com/office/drawing/2014/main" id="{D56361E7-322B-4A0C-8334-A88BB2BDDD78}"/>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method, opcode, graph, literal evidence.</a:t>
            </a:r>
          </a:p>
        </p:txBody>
      </p:sp>
      <p:sp>
        <p:nvSpPr>
          <p:cNvPr id="14" name="rule">
            <a:extLst xmlns:a="http://schemas.openxmlformats.org/drawingml/2006/main">
              <a:ext uri="{FF2B5EF4-FFF2-40B4-BE49-F238E27FC236}">
                <a16:creationId xmlns:a16="http://schemas.microsoft.com/office/drawing/2014/main" id="{43F51FDB-B6B6-43AD-995D-3E1F0FD361A6}"/>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66D35E0-1D3A-4F6A-B065-48A9549EC299}"/>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2C9998E-D7BB-4C5A-BD79-BC3265609099}"/>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0F2FBD17-9E56-40B6-9080-6EC82A7114A8}"/>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B1EECFB2-2653-47E2-8C87-827E69067176}"/>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Version policy</a:t>
            </a:r>
          </a:p>
        </p:txBody>
      </p:sp>
      <p:sp>
        <p:nvSpPr>
          <p:cNvPr id="19" name="">
            <a:extLst xmlns:a="http://schemas.openxmlformats.org/drawingml/2006/main">
              <a:ext uri="{FF2B5EF4-FFF2-40B4-BE49-F238E27FC236}">
                <a16:creationId xmlns:a16="http://schemas.microsoft.com/office/drawing/2014/main" id="{427A7342-B69F-46E8-A5AF-CAFFC9777100}"/>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Unique evidence, artifact families, ambiguity and near ties.</a:t>
            </a:r>
          </a:p>
        </p:txBody>
      </p:sp>
      <p:sp>
        <p:nvSpPr>
          <p:cNvPr id="20" name="rule">
            <a:extLst xmlns:a="http://schemas.openxmlformats.org/drawingml/2006/main">
              <a:ext uri="{FF2B5EF4-FFF2-40B4-BE49-F238E27FC236}">
                <a16:creationId xmlns:a16="http://schemas.microsoft.com/office/drawing/2014/main" id="{3E4FFDF6-E4A7-4349-AEAB-8C89F47FA62E}"/>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589FD0E-5025-476D-A3B0-F80354C5A964}"/>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24A1702-2C3E-4305-9429-7F8D22D049F1}"/>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4903CFB3-E635-4869-B33C-4C73F8F06781}"/>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FA84B035-E59A-41DD-B421-1FDF9915F7AD}"/>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Evidence gates</a:t>
            </a:r>
          </a:p>
        </p:txBody>
      </p:sp>
      <p:sp>
        <p:nvSpPr>
          <p:cNvPr id="25" name="">
            <a:extLst xmlns:a="http://schemas.openxmlformats.org/drawingml/2006/main">
              <a:ext uri="{FF2B5EF4-FFF2-40B4-BE49-F238E27FC236}">
                <a16:creationId xmlns:a16="http://schemas.microsoft.com/office/drawing/2014/main" id="{48E4205C-5CED-4DC1-84FE-1108A8DBB4E3}"/>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Unsafe global signals stay disabled or report-only.</a:t>
            </a:r>
          </a:p>
        </p:txBody>
      </p:sp>
      <p:sp>
        <p:nvSpPr>
          <p:cNvPr id="26" name="">
            <a:extLst xmlns:a="http://schemas.openxmlformats.org/drawingml/2006/main">
              <a:ext uri="{FF2B5EF4-FFF2-40B4-BE49-F238E27FC236}">
                <a16:creationId xmlns:a16="http://schemas.microsoft.com/office/drawing/2014/main" id="{4300E238-65D8-4EA0-8E50-2DE6EEE19D22}"/>
              </a:ext>
            </a:extLst>
          </p:cNvPr>
          <p:cNvSpPr>
            <a:spLocks xmlns:a="http://schemas.openxmlformats.org/drawingml/2006/main" noGrp="1"/>
          </p:cNvSpPr>
          <p:nvPr/>
        </p:nvSpPr>
        <p:spPr>
          <a:xfrm xmlns:a="http://schemas.openxmlformats.org/drawingml/2006/main">
            <a:off x="685800" y="2590800"/>
            <a:ext cx="48387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7" name="">
            <a:extLst xmlns:a="http://schemas.openxmlformats.org/drawingml/2006/main">
              <a:ext uri="{FF2B5EF4-FFF2-40B4-BE49-F238E27FC236}">
                <a16:creationId xmlns:a16="http://schemas.microsoft.com/office/drawing/2014/main" id="{0055F085-B6AD-4951-AE3C-55D463227FE8}"/>
              </a:ext>
            </a:extLst>
          </p:cNvPr>
          <p:cNvSpPr>
            <a:spLocks xmlns:a="http://schemas.openxmlformats.org/drawingml/2006/main" noGrp="1"/>
          </p:cNvSpPr>
          <p:nvPr/>
        </p:nvSpPr>
        <p:spPr>
          <a:xfrm xmlns:a="http://schemas.openxmlformats.org/drawingml/2006/main">
            <a:off x="914400" y="2819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CANDIDATE FLOW</a:t>
            </a:r>
          </a:p>
        </p:txBody>
      </p:sp>
      <p:sp>
        <p:nvSpPr>
          <p:cNvPr id="28" name="">
            <a:extLst xmlns:a="http://schemas.openxmlformats.org/drawingml/2006/main">
              <a:ext uri="{FF2B5EF4-FFF2-40B4-BE49-F238E27FC236}">
                <a16:creationId xmlns:a16="http://schemas.microsoft.com/office/drawing/2014/main" id="{6F4A4472-07BC-45C1-BEA4-DEEA52F2AE82}"/>
              </a:ext>
            </a:extLst>
          </p:cNvPr>
          <p:cNvSpPr>
            <a:spLocks xmlns:a="http://schemas.openxmlformats.org/drawingml/2006/main" noGrp="1"/>
          </p:cNvSpPr>
          <p:nvPr/>
        </p:nvSpPr>
        <p:spPr>
          <a:xfrm xmlns:a="http://schemas.openxmlformats.org/drawingml/2006/main">
            <a:off x="990600" y="32194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F0205AEA-F80F-4956-9C71-253EF912913E}"/>
              </a:ext>
            </a:extLst>
          </p:cNvPr>
          <p:cNvSpPr>
            <a:spLocks xmlns:a="http://schemas.openxmlformats.org/drawingml/2006/main" noGrp="1"/>
          </p:cNvSpPr>
          <p:nvPr/>
        </p:nvSpPr>
        <p:spPr>
          <a:xfrm xmlns:a="http://schemas.openxmlformats.org/drawingml/2006/main">
            <a:off x="1057275" y="32766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APK feature set</a:t>
            </a:r>
          </a:p>
        </p:txBody>
      </p:sp>
      <p:sp>
        <p:nvSpPr>
          <p:cNvPr id="30" name="rule">
            <a:extLst xmlns:a="http://schemas.openxmlformats.org/drawingml/2006/main">
              <a:ext uri="{FF2B5EF4-FFF2-40B4-BE49-F238E27FC236}">
                <a16:creationId xmlns:a16="http://schemas.microsoft.com/office/drawing/2014/main" id="{59C3CB2E-D484-48CC-A494-B527ADB987FA}"/>
              </a:ext>
            </a:extLst>
          </p:cNvPr>
          <p:cNvSpPr>
            <a:spLocks xmlns:a="http://schemas.openxmlformats.org/drawingml/2006/main" noGrp="1"/>
          </p:cNvSpPr>
          <p:nvPr/>
        </p:nvSpPr>
        <p:spPr>
          <a:xfrm xmlns:a="http://schemas.openxmlformats.org/drawingml/2006/main">
            <a:off x="3676650" y="337185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ADAD610-B224-4C6F-9ADB-6483393FE397}"/>
              </a:ext>
            </a:extLst>
          </p:cNvPr>
          <p:cNvSpPr>
            <a:spLocks xmlns:a="http://schemas.openxmlformats.org/drawingml/2006/main" noGrp="1"/>
          </p:cNvSpPr>
          <p:nvPr/>
        </p:nvSpPr>
        <p:spPr>
          <a:xfrm xmlns:a="http://schemas.openxmlformats.org/drawingml/2006/main">
            <a:off x="4514850" y="328612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458E942-934D-496B-9D51-8BF0EFCCB9D2}"/>
              </a:ext>
            </a:extLst>
          </p:cNvPr>
          <p:cNvSpPr>
            <a:spLocks xmlns:a="http://schemas.openxmlformats.org/drawingml/2006/main" noGrp="1"/>
          </p:cNvSpPr>
          <p:nvPr/>
        </p:nvSpPr>
        <p:spPr>
          <a:xfrm xmlns:a="http://schemas.openxmlformats.org/drawingml/2006/main">
            <a:off x="990600" y="36195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3" name="">
            <a:extLst xmlns:a="http://schemas.openxmlformats.org/drawingml/2006/main">
              <a:ext uri="{FF2B5EF4-FFF2-40B4-BE49-F238E27FC236}">
                <a16:creationId xmlns:a16="http://schemas.microsoft.com/office/drawing/2014/main" id="{C13893B8-52D8-454B-9950-FA15C8BB230E}"/>
              </a:ext>
            </a:extLst>
          </p:cNvPr>
          <p:cNvSpPr>
            <a:spLocks xmlns:a="http://schemas.openxmlformats.org/drawingml/2006/main" noGrp="1"/>
          </p:cNvSpPr>
          <p:nvPr/>
        </p:nvSpPr>
        <p:spPr>
          <a:xfrm xmlns:a="http://schemas.openxmlformats.org/drawingml/2006/main">
            <a:off x="1057275" y="3676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reference package prefilter</a:t>
            </a:r>
          </a:p>
        </p:txBody>
      </p:sp>
      <p:sp>
        <p:nvSpPr>
          <p:cNvPr id="34" name="rule">
            <a:extLst xmlns:a="http://schemas.openxmlformats.org/drawingml/2006/main">
              <a:ext uri="{FF2B5EF4-FFF2-40B4-BE49-F238E27FC236}">
                <a16:creationId xmlns:a16="http://schemas.microsoft.com/office/drawing/2014/main" id="{148F6637-2A04-4AAB-BE2D-35B14864DBA5}"/>
              </a:ext>
            </a:extLst>
          </p:cNvPr>
          <p:cNvSpPr>
            <a:spLocks xmlns:a="http://schemas.openxmlformats.org/drawingml/2006/main" noGrp="1"/>
          </p:cNvSpPr>
          <p:nvPr/>
        </p:nvSpPr>
        <p:spPr>
          <a:xfrm xmlns:a="http://schemas.openxmlformats.org/drawingml/2006/main">
            <a:off x="3676650" y="377190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4C9A8D6-AD57-4473-A88F-FFA5DCC5B7B4}"/>
              </a:ext>
            </a:extLst>
          </p:cNvPr>
          <p:cNvSpPr>
            <a:spLocks xmlns:a="http://schemas.openxmlformats.org/drawingml/2006/main" noGrp="1"/>
          </p:cNvSpPr>
          <p:nvPr/>
        </p:nvSpPr>
        <p:spPr>
          <a:xfrm xmlns:a="http://schemas.openxmlformats.org/drawingml/2006/main">
            <a:off x="4514850" y="36861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DBC5D0D-474D-401E-9667-17637690D144}"/>
              </a:ext>
            </a:extLst>
          </p:cNvPr>
          <p:cNvSpPr>
            <a:spLocks xmlns:a="http://schemas.openxmlformats.org/drawingml/2006/main" noGrp="1"/>
          </p:cNvSpPr>
          <p:nvPr/>
        </p:nvSpPr>
        <p:spPr>
          <a:xfrm xmlns:a="http://schemas.openxmlformats.org/drawingml/2006/main">
            <a:off x="990600" y="40195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37" name="">
            <a:extLst xmlns:a="http://schemas.openxmlformats.org/drawingml/2006/main">
              <a:ext uri="{FF2B5EF4-FFF2-40B4-BE49-F238E27FC236}">
                <a16:creationId xmlns:a16="http://schemas.microsoft.com/office/drawing/2014/main" id="{44B28A0B-67BB-45FC-B003-619B00C66E2C}"/>
              </a:ext>
            </a:extLst>
          </p:cNvPr>
          <p:cNvSpPr>
            <a:spLocks xmlns:a="http://schemas.openxmlformats.org/drawingml/2006/main" noGrp="1"/>
          </p:cNvSpPr>
          <p:nvPr/>
        </p:nvSpPr>
        <p:spPr>
          <a:xfrm xmlns:a="http://schemas.openxmlformats.org/drawingml/2006/main">
            <a:off x="1057275" y="40767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same-coordinate versions</a:t>
            </a:r>
          </a:p>
        </p:txBody>
      </p:sp>
      <p:sp>
        <p:nvSpPr>
          <p:cNvPr id="38" name="rule">
            <a:extLst xmlns:a="http://schemas.openxmlformats.org/drawingml/2006/main">
              <a:ext uri="{FF2B5EF4-FFF2-40B4-BE49-F238E27FC236}">
                <a16:creationId xmlns:a16="http://schemas.microsoft.com/office/drawing/2014/main" id="{1B996A60-FF08-4F99-9D77-17DBE7D566A1}"/>
              </a:ext>
            </a:extLst>
          </p:cNvPr>
          <p:cNvSpPr>
            <a:spLocks xmlns:a="http://schemas.openxmlformats.org/drawingml/2006/main" noGrp="1"/>
          </p:cNvSpPr>
          <p:nvPr/>
        </p:nvSpPr>
        <p:spPr>
          <a:xfrm xmlns:a="http://schemas.openxmlformats.org/drawingml/2006/main">
            <a:off x="3676650" y="417195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44360D5-791D-4CD4-B7E0-26B73D4A3636}"/>
              </a:ext>
            </a:extLst>
          </p:cNvPr>
          <p:cNvSpPr>
            <a:spLocks xmlns:a="http://schemas.openxmlformats.org/drawingml/2006/main" noGrp="1"/>
          </p:cNvSpPr>
          <p:nvPr/>
        </p:nvSpPr>
        <p:spPr>
          <a:xfrm xmlns:a="http://schemas.openxmlformats.org/drawingml/2006/main">
            <a:off x="4514850" y="408622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4AF7E0C-E4AF-4BB8-958A-3EF6A939D8C2}"/>
              </a:ext>
            </a:extLst>
          </p:cNvPr>
          <p:cNvSpPr>
            <a:spLocks xmlns:a="http://schemas.openxmlformats.org/drawingml/2006/main" noGrp="1"/>
          </p:cNvSpPr>
          <p:nvPr/>
        </p:nvSpPr>
        <p:spPr>
          <a:xfrm xmlns:a="http://schemas.openxmlformats.org/drawingml/2006/main">
            <a:off x="990600" y="44196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1" name="">
            <a:extLst xmlns:a="http://schemas.openxmlformats.org/drawingml/2006/main">
              <a:ext uri="{FF2B5EF4-FFF2-40B4-BE49-F238E27FC236}">
                <a16:creationId xmlns:a16="http://schemas.microsoft.com/office/drawing/2014/main" id="{AA245E9D-FA9B-42A3-A6EA-CC0CB31F0052}"/>
              </a:ext>
            </a:extLst>
          </p:cNvPr>
          <p:cNvSpPr>
            <a:spLocks xmlns:a="http://schemas.openxmlformats.org/drawingml/2006/main" noGrp="1"/>
          </p:cNvSpPr>
          <p:nvPr/>
        </p:nvSpPr>
        <p:spPr>
          <a:xfrm xmlns:a="http://schemas.openxmlformats.org/drawingml/2006/main">
            <a:off x="1057275" y="4476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artifact-family rules</a:t>
            </a:r>
          </a:p>
        </p:txBody>
      </p:sp>
      <p:sp>
        <p:nvSpPr>
          <p:cNvPr id="42" name="rule">
            <a:extLst xmlns:a="http://schemas.openxmlformats.org/drawingml/2006/main">
              <a:ext uri="{FF2B5EF4-FFF2-40B4-BE49-F238E27FC236}">
                <a16:creationId xmlns:a16="http://schemas.microsoft.com/office/drawing/2014/main" id="{372DBCE8-1109-4537-B85E-A51051D4E8D5}"/>
              </a:ext>
            </a:extLst>
          </p:cNvPr>
          <p:cNvSpPr>
            <a:spLocks xmlns:a="http://schemas.openxmlformats.org/drawingml/2006/main" noGrp="1"/>
          </p:cNvSpPr>
          <p:nvPr/>
        </p:nvSpPr>
        <p:spPr>
          <a:xfrm xmlns:a="http://schemas.openxmlformats.org/drawingml/2006/main">
            <a:off x="3676650" y="457200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EA9D74A-7874-4DF8-92E5-8732B6EB0621}"/>
              </a:ext>
            </a:extLst>
          </p:cNvPr>
          <p:cNvSpPr>
            <a:spLocks xmlns:a="http://schemas.openxmlformats.org/drawingml/2006/main" noGrp="1"/>
          </p:cNvSpPr>
          <p:nvPr/>
        </p:nvSpPr>
        <p:spPr>
          <a:xfrm xmlns:a="http://schemas.openxmlformats.org/drawingml/2006/main">
            <a:off x="4514850" y="448627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9E21478-6BCF-4450-9435-91E8AFF0F94B}"/>
              </a:ext>
            </a:extLst>
          </p:cNvPr>
          <p:cNvSpPr>
            <a:spLocks xmlns:a="http://schemas.openxmlformats.org/drawingml/2006/main" noGrp="1"/>
          </p:cNvSpPr>
          <p:nvPr/>
        </p:nvSpPr>
        <p:spPr>
          <a:xfrm xmlns:a="http://schemas.openxmlformats.org/drawingml/2006/main">
            <a:off x="990600" y="48196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5" name="">
            <a:extLst xmlns:a="http://schemas.openxmlformats.org/drawingml/2006/main">
              <a:ext uri="{FF2B5EF4-FFF2-40B4-BE49-F238E27FC236}">
                <a16:creationId xmlns:a16="http://schemas.microsoft.com/office/drawing/2014/main" id="{94B2F106-3AD1-44B9-B4CD-016F3452E9E6}"/>
              </a:ext>
            </a:extLst>
          </p:cNvPr>
          <p:cNvSpPr>
            <a:spLocks xmlns:a="http://schemas.openxmlformats.org/drawingml/2006/main" noGrp="1"/>
          </p:cNvSpPr>
          <p:nvPr/>
        </p:nvSpPr>
        <p:spPr>
          <a:xfrm xmlns:a="http://schemas.openxmlformats.org/drawingml/2006/main">
            <a:off x="1057275" y="48768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ranked candidates</a:t>
            </a:r>
          </a:p>
        </p:txBody>
      </p:sp>
      <p:sp>
        <p:nvSpPr>
          <p:cNvPr id="46" name="">
            <a:extLst xmlns:a="http://schemas.openxmlformats.org/drawingml/2006/main">
              <a:ext uri="{FF2B5EF4-FFF2-40B4-BE49-F238E27FC236}">
                <a16:creationId xmlns:a16="http://schemas.microsoft.com/office/drawing/2014/main" id="{B5A13E06-E4CD-418C-9996-CFC86BCD87A0}"/>
              </a:ext>
            </a:extLst>
          </p:cNvPr>
          <p:cNvSpPr>
            <a:spLocks xmlns:a="http://schemas.openxmlformats.org/drawingml/2006/main" noGrp="1"/>
          </p:cNvSpPr>
          <p:nvPr/>
        </p:nvSpPr>
        <p:spPr>
          <a:xfrm xmlns:a="http://schemas.openxmlformats.org/drawingml/2006/main">
            <a:off x="3676650" y="4857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shortlist before deep scoring</a:t>
            </a:r>
          </a:p>
        </p:txBody>
      </p:sp>
      <p:sp>
        <p:nvSpPr>
          <p:cNvPr id="47" name="">
            <a:extLst xmlns:a="http://schemas.openxmlformats.org/drawingml/2006/main">
              <a:ext uri="{FF2B5EF4-FFF2-40B4-BE49-F238E27FC236}">
                <a16:creationId xmlns:a16="http://schemas.microsoft.com/office/drawing/2014/main" id="{0B082422-C295-465A-85FC-6AB2B5CE5D46}"/>
              </a:ext>
            </a:extLst>
          </p:cNvPr>
          <p:cNvSpPr>
            <a:spLocks xmlns:a="http://schemas.openxmlformats.org/drawingml/2006/main" noGrp="1"/>
          </p:cNvSpPr>
          <p:nvPr/>
        </p:nvSpPr>
        <p:spPr>
          <a:xfrm xmlns:a="http://schemas.openxmlformats.org/drawingml/2006/main">
            <a:off x="5810250" y="2590800"/>
            <a:ext cx="56959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8" name="">
            <a:extLst xmlns:a="http://schemas.openxmlformats.org/drawingml/2006/main">
              <a:ext uri="{FF2B5EF4-FFF2-40B4-BE49-F238E27FC236}">
                <a16:creationId xmlns:a16="http://schemas.microsoft.com/office/drawing/2014/main" id="{948EE15F-5463-4AE7-9E6D-17128386543B}"/>
              </a:ext>
            </a:extLst>
          </p:cNvPr>
          <p:cNvSpPr>
            <a:spLocks xmlns:a="http://schemas.openxmlformats.org/drawingml/2006/main" noGrp="1"/>
          </p:cNvSpPr>
          <p:nvPr/>
        </p:nvSpPr>
        <p:spPr>
          <a:xfrm xmlns:a="http://schemas.openxmlformats.org/drawingml/2006/main">
            <a:off x="6057900" y="2819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CURRENT DECISION LOGIC</a:t>
            </a:r>
          </a:p>
        </p:txBody>
      </p:sp>
      <p:sp>
        <p:nvSpPr>
          <p:cNvPr id="49" name="">
            <a:extLst xmlns:a="http://schemas.openxmlformats.org/drawingml/2006/main">
              <a:ext uri="{FF2B5EF4-FFF2-40B4-BE49-F238E27FC236}">
                <a16:creationId xmlns:a16="http://schemas.microsoft.com/office/drawing/2014/main" id="{05309A9C-2BFC-4E6A-A2BF-852F6AC2D59E}"/>
              </a:ext>
            </a:extLst>
          </p:cNvPr>
          <p:cNvSpPr>
            <a:spLocks xmlns:a="http://schemas.openxmlformats.org/drawingml/2006/main" noGrp="1"/>
          </p:cNvSpPr>
          <p:nvPr/>
        </p:nvSpPr>
        <p:spPr>
          <a:xfrm xmlns:a="http://schemas.openxmlformats.org/drawingml/2006/main">
            <a:off x="6096000" y="3238500"/>
            <a:ext cx="133350" cy="133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7174BD3E-A11F-4814-86FD-6E879DDF45CF}"/>
              </a:ext>
            </a:extLst>
          </p:cNvPr>
          <p:cNvSpPr>
            <a:spLocks xmlns:a="http://schemas.openxmlformats.org/drawingml/2006/main" noGrp="1"/>
          </p:cNvSpPr>
          <p:nvPr/>
        </p:nvSpPr>
        <p:spPr>
          <a:xfrm xmlns:a="http://schemas.openxmlformats.org/drawingml/2006/main">
            <a:off x="6362700" y="31813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Identity</a:t>
            </a:r>
          </a:p>
        </p:txBody>
      </p:sp>
      <p:sp>
        <p:nvSpPr>
          <p:cNvPr id="51" name="">
            <a:extLst xmlns:a="http://schemas.openxmlformats.org/drawingml/2006/main">
              <a:ext uri="{FF2B5EF4-FFF2-40B4-BE49-F238E27FC236}">
                <a16:creationId xmlns:a16="http://schemas.microsoft.com/office/drawing/2014/main" id="{008C0AC1-2FDE-41DF-BCA9-B0CE1B5BFE11}"/>
              </a:ext>
            </a:extLst>
          </p:cNvPr>
          <p:cNvSpPr>
            <a:spLocks xmlns:a="http://schemas.openxmlformats.org/drawingml/2006/main" noGrp="1"/>
          </p:cNvSpPr>
          <p:nvPr/>
        </p:nvSpPr>
        <p:spPr>
          <a:xfrm xmlns:a="http://schemas.openxmlformats.org/drawingml/2006/main">
            <a:off x="7334250" y="31623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package, class, method, opcode and graph agreement</a:t>
            </a:r>
          </a:p>
        </p:txBody>
      </p:sp>
      <p:sp>
        <p:nvSpPr>
          <p:cNvPr id="52" name="">
            <a:extLst xmlns:a="http://schemas.openxmlformats.org/drawingml/2006/main">
              <a:ext uri="{FF2B5EF4-FFF2-40B4-BE49-F238E27FC236}">
                <a16:creationId xmlns:a16="http://schemas.microsoft.com/office/drawing/2014/main" id="{21133B2F-7D82-4792-AF99-FA209360D768}"/>
              </a:ext>
            </a:extLst>
          </p:cNvPr>
          <p:cNvSpPr>
            <a:spLocks xmlns:a="http://schemas.openxmlformats.org/drawingml/2006/main" noGrp="1"/>
          </p:cNvSpPr>
          <p:nvPr/>
        </p:nvSpPr>
        <p:spPr>
          <a:xfrm xmlns:a="http://schemas.openxmlformats.org/drawingml/2006/main">
            <a:off x="6096000" y="3695700"/>
            <a:ext cx="133350" cy="133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4CC8A50-5662-43E5-A61E-B0E71285B480}"/>
              </a:ext>
            </a:extLst>
          </p:cNvPr>
          <p:cNvSpPr>
            <a:spLocks xmlns:a="http://schemas.openxmlformats.org/drawingml/2006/main" noGrp="1"/>
          </p:cNvSpPr>
          <p:nvPr/>
        </p:nvSpPr>
        <p:spPr>
          <a:xfrm xmlns:a="http://schemas.openxmlformats.org/drawingml/2006/main">
            <a:off x="6362700" y="36385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Version</a:t>
            </a:r>
          </a:p>
        </p:txBody>
      </p:sp>
      <p:sp>
        <p:nvSpPr>
          <p:cNvPr id="54" name="">
            <a:extLst xmlns:a="http://schemas.openxmlformats.org/drawingml/2006/main">
              <a:ext uri="{FF2B5EF4-FFF2-40B4-BE49-F238E27FC236}">
                <a16:creationId xmlns:a16="http://schemas.microsoft.com/office/drawing/2014/main" id="{3CE2D5E3-91E2-457A-9FD8-DCAE5EF78E48}"/>
              </a:ext>
            </a:extLst>
          </p:cNvPr>
          <p:cNvSpPr>
            <a:spLocks xmlns:a="http://schemas.openxmlformats.org/drawingml/2006/main" noGrp="1"/>
          </p:cNvSpPr>
          <p:nvPr/>
        </p:nvSpPr>
        <p:spPr>
          <a:xfrm xmlns:a="http://schemas.openxmlformats.org/drawingml/2006/main">
            <a:off x="7334250" y="36195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score gap plus version-distinctive literals/context</a:t>
            </a:r>
          </a:p>
        </p:txBody>
      </p:sp>
      <p:sp>
        <p:nvSpPr>
          <p:cNvPr id="55" name="">
            <a:extLst xmlns:a="http://schemas.openxmlformats.org/drawingml/2006/main">
              <a:ext uri="{FF2B5EF4-FFF2-40B4-BE49-F238E27FC236}">
                <a16:creationId xmlns:a16="http://schemas.microsoft.com/office/drawing/2014/main" id="{6746D27B-4498-4C94-8850-6CD080DF6B0F}"/>
              </a:ext>
            </a:extLst>
          </p:cNvPr>
          <p:cNvSpPr>
            <a:spLocks xmlns:a="http://schemas.openxmlformats.org/drawingml/2006/main" noGrp="1"/>
          </p:cNvSpPr>
          <p:nvPr/>
        </p:nvSpPr>
        <p:spPr>
          <a:xfrm xmlns:a="http://schemas.openxmlformats.org/drawingml/2006/main">
            <a:off x="6096000" y="4152900"/>
            <a:ext cx="133350" cy="133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D03BFFE6-A5E4-4D2F-8766-36BD9ED8185E}"/>
              </a:ext>
            </a:extLst>
          </p:cNvPr>
          <p:cNvSpPr>
            <a:spLocks xmlns:a="http://schemas.openxmlformats.org/drawingml/2006/main" noGrp="1"/>
          </p:cNvSpPr>
          <p:nvPr/>
        </p:nvSpPr>
        <p:spPr>
          <a:xfrm xmlns:a="http://schemas.openxmlformats.org/drawingml/2006/main">
            <a:off x="6362700" y="40957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Family</a:t>
            </a:r>
          </a:p>
        </p:txBody>
      </p:sp>
      <p:sp>
        <p:nvSpPr>
          <p:cNvPr id="57" name="">
            <a:extLst xmlns:a="http://schemas.openxmlformats.org/drawingml/2006/main">
              <a:ext uri="{FF2B5EF4-FFF2-40B4-BE49-F238E27FC236}">
                <a16:creationId xmlns:a16="http://schemas.microsoft.com/office/drawing/2014/main" id="{3B1EFBBC-EF46-4900-AC1F-D92C5EF2F01C}"/>
              </a:ext>
            </a:extLst>
          </p:cNvPr>
          <p:cNvSpPr>
            <a:spLocks xmlns:a="http://schemas.openxmlformats.org/drawingml/2006/main" noGrp="1"/>
          </p:cNvSpPr>
          <p:nvPr/>
        </p:nvSpPr>
        <p:spPr>
          <a:xfrm xmlns:a="http://schemas.openxmlformats.org/drawingml/2006/main">
            <a:off x="7334250" y="40767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Okio/OkHttp/Lifecycle target overlap rules</a:t>
            </a:r>
          </a:p>
        </p:txBody>
      </p:sp>
      <p:sp>
        <p:nvSpPr>
          <p:cNvPr id="58" name="">
            <a:extLst xmlns:a="http://schemas.openxmlformats.org/drawingml/2006/main">
              <a:ext uri="{FF2B5EF4-FFF2-40B4-BE49-F238E27FC236}">
                <a16:creationId xmlns:a16="http://schemas.microsoft.com/office/drawing/2014/main" id="{D6376682-C26A-4194-AEE0-45BCB6FF2F38}"/>
              </a:ext>
            </a:extLst>
          </p:cNvPr>
          <p:cNvSpPr>
            <a:spLocks xmlns:a="http://schemas.openxmlformats.org/drawingml/2006/main" noGrp="1"/>
          </p:cNvSpPr>
          <p:nvPr/>
        </p:nvSpPr>
        <p:spPr>
          <a:xfrm xmlns:a="http://schemas.openxmlformats.org/drawingml/2006/main">
            <a:off x="6096000" y="461010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1777E6D-E661-4056-94F1-06B5DB9B00EB}"/>
              </a:ext>
            </a:extLst>
          </p:cNvPr>
          <p:cNvSpPr>
            <a:spLocks xmlns:a="http://schemas.openxmlformats.org/drawingml/2006/main" noGrp="1"/>
          </p:cNvSpPr>
          <p:nvPr/>
        </p:nvSpPr>
        <p:spPr>
          <a:xfrm xmlns:a="http://schemas.openxmlformats.org/drawingml/2006/main">
            <a:off x="6362700" y="45529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Guardrail</a:t>
            </a:r>
          </a:p>
        </p:txBody>
      </p:sp>
      <p:sp>
        <p:nvSpPr>
          <p:cNvPr id="60" name="">
            <a:extLst xmlns:a="http://schemas.openxmlformats.org/drawingml/2006/main">
              <a:ext uri="{FF2B5EF4-FFF2-40B4-BE49-F238E27FC236}">
                <a16:creationId xmlns:a16="http://schemas.microsoft.com/office/drawing/2014/main" id="{BFA25B56-93F0-407E-846C-C2CB5401F10C}"/>
              </a:ext>
            </a:extLst>
          </p:cNvPr>
          <p:cNvSpPr>
            <a:spLocks xmlns:a="http://schemas.openxmlformats.org/drawingml/2006/main" noGrp="1"/>
          </p:cNvSpPr>
          <p:nvPr/>
        </p:nvSpPr>
        <p:spPr>
          <a:xfrm xmlns:a="http://schemas.openxmlformats.org/drawingml/2006/main">
            <a:off x="7334250" y="45339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API-ref and opcode tri-gram weights remain 0.0 globally</a:t>
            </a:r>
          </a:p>
        </p:txBody>
      </p:sp>
      <p:sp>
        <p:nvSpPr>
          <p:cNvPr id="61" name="">
            <a:extLst xmlns:a="http://schemas.openxmlformats.org/drawingml/2006/main">
              <a:ext uri="{FF2B5EF4-FFF2-40B4-BE49-F238E27FC236}">
                <a16:creationId xmlns:a16="http://schemas.microsoft.com/office/drawing/2014/main" id="{20AF50AB-3D29-4AE5-8DB6-6F6B3BC35C16}"/>
              </a:ext>
            </a:extLst>
          </p:cNvPr>
          <p:cNvSpPr>
            <a:spLocks xmlns:a="http://schemas.openxmlformats.org/drawingml/2006/main" noGrp="1"/>
          </p:cNvSpPr>
          <p:nvPr/>
        </p:nvSpPr>
        <p:spPr>
          <a:xfrm xmlns:a="http://schemas.openxmlformats.org/drawingml/2006/main">
            <a:off x="685800" y="5562600"/>
            <a:ext cx="10820400" cy="552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62" name="">
            <a:extLst xmlns:a="http://schemas.openxmlformats.org/drawingml/2006/main">
              <a:ext uri="{FF2B5EF4-FFF2-40B4-BE49-F238E27FC236}">
                <a16:creationId xmlns:a16="http://schemas.microsoft.com/office/drawing/2014/main" id="{498F4E7C-572B-4700-BB85-4E6726D9A500}"/>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WHY</a:t>
            </a:r>
          </a:p>
        </p:txBody>
      </p:sp>
      <p:sp>
        <p:nvSpPr>
          <p:cNvPr id="63" name="">
            <a:extLst xmlns:a="http://schemas.openxmlformats.org/drawingml/2006/main">
              <a:ext uri="{FF2B5EF4-FFF2-40B4-BE49-F238E27FC236}">
                <a16:creationId xmlns:a16="http://schemas.microsoft.com/office/drawing/2014/main" id="{3E9B21B9-3175-4833-81ED-30F55C59D872}"/>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One global improvement is not enough: a target fix is rejected when controlled, clean, partial, or boundary controls regress.</a:t>
            </a:r>
          </a:p>
        </p:txBody>
      </p:sp>
      <p:sp>
        <p:nvSpPr>
          <p:cNvPr id="64" name="">
            <a:extLst xmlns:a="http://schemas.openxmlformats.org/drawingml/2006/main">
              <a:ext uri="{FF2B5EF4-FFF2-40B4-BE49-F238E27FC236}">
                <a16:creationId xmlns:a16="http://schemas.microsoft.com/office/drawing/2014/main" id="{347CF83F-B8CB-45F8-81CE-9DFE00E46E1B}"/>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ACAE4EC-DB20-41A6-8C4C-3775361D3B85}"/>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src/apk_sbom/matcher.py  |  Decision evidence: docs/thesis/EXPERIMENT_DECISION_LEDGER.md</a:t>
            </a:r>
          </a:p>
        </p:txBody>
      </p:sp>
      <p:sp>
        <p:nvSpPr>
          <p:cNvPr id="66" name="">
            <a:extLst xmlns:a="http://schemas.openxmlformats.org/drawingml/2006/main">
              <a:ext uri="{FF2B5EF4-FFF2-40B4-BE49-F238E27FC236}">
                <a16:creationId xmlns:a16="http://schemas.microsoft.com/office/drawing/2014/main" id="{8C58A4B9-4A33-4BFC-8734-C6313DFB7B6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45078501"/>
      </p:ext>
    </p:extLst>
  </p:cSld>
</p:sld>
</file>

<file path=ppt/slides/slide1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C9BCF5-6004-46AE-9050-FEDCC0C86A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608F81-3A84-4E1E-9A4F-43C36BDC6F9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D445B6-633A-4C1A-8165-65F2F572CFE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COMPONENT 5  |  VERSION DECISION</a:t>
            </a:r>
          </a:p>
        </p:txBody>
      </p:sp>
      <p:sp>
        <p:nvSpPr>
          <p:cNvPr id="4" name="">
            <a:extLst xmlns:a="http://schemas.openxmlformats.org/drawingml/2006/main">
              <a:ext uri="{FF2B5EF4-FFF2-40B4-BE49-F238E27FC236}">
                <a16:creationId xmlns:a16="http://schemas.microsoft.com/office/drawing/2014/main" id="{CDCCB6F4-22AD-4454-AB5F-DEE5C5E10A1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Confidence evolved from one score into separate claims and explicit ambiguity</a:t>
            </a:r>
          </a:p>
        </p:txBody>
      </p:sp>
      <p:sp>
        <p:nvSpPr>
          <p:cNvPr id="5" name="">
            <a:extLst xmlns:a="http://schemas.openxmlformats.org/drawingml/2006/main">
              <a:ext uri="{FF2B5EF4-FFF2-40B4-BE49-F238E27FC236}">
                <a16:creationId xmlns:a16="http://schemas.microsoft.com/office/drawing/2014/main" id="{788057F4-FDBE-4F11-BB97-E05E9918E81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C0BEA0D6-D8F1-4F0C-B86F-4C37A769E5B0}"/>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5936286D-BB06-451E-A1DC-DC552ECBCDF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0423FAE9-B926-44AD-896C-08D9D97D5B13}"/>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Single score</a:t>
            </a:r>
          </a:p>
        </p:txBody>
      </p:sp>
      <p:sp>
        <p:nvSpPr>
          <p:cNvPr id="9" name="">
            <a:extLst xmlns:a="http://schemas.openxmlformats.org/drawingml/2006/main">
              <a:ext uri="{FF2B5EF4-FFF2-40B4-BE49-F238E27FC236}">
                <a16:creationId xmlns:a16="http://schemas.microsoft.com/office/drawing/2014/main" id="{EF2B026D-213B-4D70-9582-C6C3321A470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Easy to display, but mixes presence and exact version.</a:t>
            </a:r>
          </a:p>
        </p:txBody>
      </p:sp>
      <p:sp>
        <p:nvSpPr>
          <p:cNvPr id="10" name="rule">
            <a:extLst xmlns:a="http://schemas.openxmlformats.org/drawingml/2006/main">
              <a:ext uri="{FF2B5EF4-FFF2-40B4-BE49-F238E27FC236}">
                <a16:creationId xmlns:a16="http://schemas.microsoft.com/office/drawing/2014/main" id="{E5B3E6A7-319F-4144-9B00-2A0006DCB7CD}"/>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89598C-E249-4E4C-923C-8AB79C76CC59}"/>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27A98F-8E5A-4E9A-A985-2BEAAAEA90C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856BEA29-CEA0-4F2D-AECF-E48138B1783B}"/>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B1FE4922-75BC-45EE-AC50-A5A009740A18}"/>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Identity split</a:t>
            </a:r>
          </a:p>
        </p:txBody>
      </p:sp>
      <p:sp>
        <p:nvSpPr>
          <p:cNvPr id="15" name="">
            <a:extLst xmlns:a="http://schemas.openxmlformats.org/drawingml/2006/main">
              <a:ext uri="{FF2B5EF4-FFF2-40B4-BE49-F238E27FC236}">
                <a16:creationId xmlns:a16="http://schemas.microsoft.com/office/drawing/2014/main" id="{3CAA56C3-11A9-44DC-846A-45B8449A100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First decide whether the library is present.</a:t>
            </a:r>
          </a:p>
        </p:txBody>
      </p:sp>
      <p:sp>
        <p:nvSpPr>
          <p:cNvPr id="16" name="rule">
            <a:extLst xmlns:a="http://schemas.openxmlformats.org/drawingml/2006/main">
              <a:ext uri="{FF2B5EF4-FFF2-40B4-BE49-F238E27FC236}">
                <a16:creationId xmlns:a16="http://schemas.microsoft.com/office/drawing/2014/main" id="{6C883694-0D75-40B3-BF46-5D5EF0D60660}"/>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B44914-C477-4F8D-ABDF-0E25010B7C65}"/>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DF1066B-3EA9-4941-BCF4-5B98BFA9AB0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AB96D0F-2647-44A3-8022-A339F47A27A2}"/>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15FDFA50-C8DC-467D-B774-D7C1EF78EDDD}"/>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Version split</a:t>
            </a:r>
          </a:p>
        </p:txBody>
      </p:sp>
      <p:sp>
        <p:nvSpPr>
          <p:cNvPr id="21" name="">
            <a:extLst xmlns:a="http://schemas.openxmlformats.org/drawingml/2006/main">
              <a:ext uri="{FF2B5EF4-FFF2-40B4-BE49-F238E27FC236}">
                <a16:creationId xmlns:a16="http://schemas.microsoft.com/office/drawing/2014/main" id="{35A8C3C9-884B-475D-8E4F-D4F2DD79510B}"/>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Then measure exact-version support and score gap.</a:t>
            </a:r>
          </a:p>
        </p:txBody>
      </p:sp>
      <p:sp>
        <p:nvSpPr>
          <p:cNvPr id="22" name="rule">
            <a:extLst xmlns:a="http://schemas.openxmlformats.org/drawingml/2006/main">
              <a:ext uri="{FF2B5EF4-FFF2-40B4-BE49-F238E27FC236}">
                <a16:creationId xmlns:a16="http://schemas.microsoft.com/office/drawing/2014/main" id="{B26F6A0A-068C-4967-948F-1F9B7384D87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1CC8404-D239-48C2-8FC0-378B8654387B}"/>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43CDEF8-EB0E-476D-8E3D-4C75B9E1C6D1}"/>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90BB4568-6A49-482E-85B8-FB2FCAF96E6A}"/>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B8DFEBEE-8727-4041-9E80-51302711816F}"/>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Ambiguity</a:t>
            </a:r>
          </a:p>
        </p:txBody>
      </p:sp>
      <p:sp>
        <p:nvSpPr>
          <p:cNvPr id="27" name="">
            <a:extLst xmlns:a="http://schemas.openxmlformats.org/drawingml/2006/main">
              <a:ext uri="{FF2B5EF4-FFF2-40B4-BE49-F238E27FC236}">
                <a16:creationId xmlns:a16="http://schemas.microsoft.com/office/drawing/2014/main" id="{C4875AC6-CB47-4D35-8F57-22EDC44A88CD}"/>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Export near-tie versions and gate CVE confirmation.</a:t>
            </a:r>
          </a:p>
        </p:txBody>
      </p:sp>
      <p:sp>
        <p:nvSpPr>
          <p:cNvPr id="28" name="">
            <a:extLst xmlns:a="http://schemas.openxmlformats.org/drawingml/2006/main">
              <a:ext uri="{FF2B5EF4-FFF2-40B4-BE49-F238E27FC236}">
                <a16:creationId xmlns:a16="http://schemas.microsoft.com/office/drawing/2014/main" id="{35F727EB-D3E8-4962-BA5E-6404569DC706}"/>
              </a:ext>
            </a:extLst>
          </p:cNvPr>
          <p:cNvSpPr>
            <a:spLocks xmlns:a="http://schemas.openxmlformats.org/drawingml/2006/main" noGrp="1"/>
          </p:cNvSpPr>
          <p:nvPr/>
        </p:nvSpPr>
        <p:spPr>
          <a:xfrm xmlns:a="http://schemas.openxmlformats.org/drawingml/2006/main">
            <a:off x="7239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F89B84D0-C57B-4DEA-8A8A-30F24FBCD463}"/>
              </a:ext>
            </a:extLst>
          </p:cNvPr>
          <p:cNvSpPr>
            <a:spLocks xmlns:a="http://schemas.openxmlformats.org/drawingml/2006/main" noGrp="1"/>
          </p:cNvSpPr>
          <p:nvPr/>
        </p:nvSpPr>
        <p:spPr>
          <a:xfrm xmlns:a="http://schemas.openxmlformats.org/drawingml/2006/main">
            <a:off x="9334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365F7D"/>
                </a:solidFill>
                <a:latin typeface="Aptos"/>
                <a:ea typeface="Aptos"/>
                <a:cs typeface="Aptos"/>
              </a:defRPr>
            </a:pPr>
            <a:r>
              <a:rPr sz="900" b="1">
                <a:solidFill>
                  <a:srgbClr val="365F7D"/>
                </a:solidFill>
                <a:latin typeface="Aptos"/>
                <a:ea typeface="Aptos"/>
                <a:cs typeface="Aptos"/>
              </a:rPr>
              <a:t>IDENTITY</a:t>
            </a:r>
          </a:p>
        </p:txBody>
      </p:sp>
      <p:sp>
        <p:nvSpPr>
          <p:cNvPr id="30" name="">
            <a:extLst xmlns:a="http://schemas.openxmlformats.org/drawingml/2006/main">
              <a:ext uri="{FF2B5EF4-FFF2-40B4-BE49-F238E27FC236}">
                <a16:creationId xmlns:a16="http://schemas.microsoft.com/office/drawing/2014/main" id="{3F7843C3-CB57-49F2-AA56-AF1C5038AB3D}"/>
              </a:ext>
            </a:extLst>
          </p:cNvPr>
          <p:cNvSpPr>
            <a:spLocks xmlns:a="http://schemas.openxmlformats.org/drawingml/2006/main" noGrp="1"/>
          </p:cNvSpPr>
          <p:nvPr/>
        </p:nvSpPr>
        <p:spPr>
          <a:xfrm xmlns:a="http://schemas.openxmlformats.org/drawingml/2006/main">
            <a:off x="9334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present?</a:t>
            </a:r>
          </a:p>
        </p:txBody>
      </p:sp>
      <p:sp>
        <p:nvSpPr>
          <p:cNvPr id="31" name="rule">
            <a:extLst xmlns:a="http://schemas.openxmlformats.org/drawingml/2006/main">
              <a:ext uri="{FF2B5EF4-FFF2-40B4-BE49-F238E27FC236}">
                <a16:creationId xmlns:a16="http://schemas.microsoft.com/office/drawing/2014/main" id="{F8C492BC-C2F0-479D-9658-6A85F373921C}"/>
              </a:ext>
            </a:extLst>
          </p:cNvPr>
          <p:cNvSpPr>
            <a:spLocks xmlns:a="http://schemas.openxmlformats.org/drawingml/2006/main" noGrp="1"/>
          </p:cNvSpPr>
          <p:nvPr/>
        </p:nvSpPr>
        <p:spPr>
          <a:xfrm xmlns:a="http://schemas.openxmlformats.org/drawingml/2006/main">
            <a:off x="1028700" y="3867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B7DAE02-5DA2-49CB-BEDE-E0CB02E381A0}"/>
              </a:ext>
            </a:extLst>
          </p:cNvPr>
          <p:cNvSpPr>
            <a:spLocks xmlns:a="http://schemas.openxmlformats.org/drawingml/2006/main" noGrp="1"/>
          </p:cNvSpPr>
          <p:nvPr/>
        </p:nvSpPr>
        <p:spPr>
          <a:xfrm xmlns:a="http://schemas.openxmlformats.org/drawingml/2006/main">
            <a:off x="13716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overlap strength</a:t>
            </a:r>
          </a:p>
        </p:txBody>
      </p:sp>
      <p:sp>
        <p:nvSpPr>
          <p:cNvPr id="33" name="rule">
            <a:extLst xmlns:a="http://schemas.openxmlformats.org/drawingml/2006/main">
              <a:ext uri="{FF2B5EF4-FFF2-40B4-BE49-F238E27FC236}">
                <a16:creationId xmlns:a16="http://schemas.microsoft.com/office/drawing/2014/main" id="{721CAF4A-AC54-4322-9F5C-052679065770}"/>
              </a:ext>
            </a:extLst>
          </p:cNvPr>
          <p:cNvSpPr>
            <a:spLocks xmlns:a="http://schemas.openxmlformats.org/drawingml/2006/main" noGrp="1"/>
          </p:cNvSpPr>
          <p:nvPr/>
        </p:nvSpPr>
        <p:spPr>
          <a:xfrm xmlns:a="http://schemas.openxmlformats.org/drawingml/2006/main">
            <a:off x="1028700" y="4248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D7978C4-5A57-41A7-BA0F-03F5D6833F91}"/>
              </a:ext>
            </a:extLst>
          </p:cNvPr>
          <p:cNvSpPr>
            <a:spLocks xmlns:a="http://schemas.openxmlformats.org/drawingml/2006/main" noGrp="1"/>
          </p:cNvSpPr>
          <p:nvPr/>
        </p:nvSpPr>
        <p:spPr>
          <a:xfrm xmlns:a="http://schemas.openxmlformats.org/drawingml/2006/main">
            <a:off x="13716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structural agreement</a:t>
            </a:r>
          </a:p>
        </p:txBody>
      </p:sp>
      <p:sp>
        <p:nvSpPr>
          <p:cNvPr id="35" name="rule">
            <a:extLst xmlns:a="http://schemas.openxmlformats.org/drawingml/2006/main">
              <a:ext uri="{FF2B5EF4-FFF2-40B4-BE49-F238E27FC236}">
                <a16:creationId xmlns:a16="http://schemas.microsoft.com/office/drawing/2014/main" id="{2CCB0408-DEFB-425E-AE8B-02D46B023EF5}"/>
              </a:ext>
            </a:extLst>
          </p:cNvPr>
          <p:cNvSpPr>
            <a:spLocks xmlns:a="http://schemas.openxmlformats.org/drawingml/2006/main" noGrp="1"/>
          </p:cNvSpPr>
          <p:nvPr/>
        </p:nvSpPr>
        <p:spPr>
          <a:xfrm xmlns:a="http://schemas.openxmlformats.org/drawingml/2006/main">
            <a:off x="1028700" y="4629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B318885-A90E-486D-B77D-E21BF9B00129}"/>
              </a:ext>
            </a:extLst>
          </p:cNvPr>
          <p:cNvSpPr>
            <a:spLocks xmlns:a="http://schemas.openxmlformats.org/drawingml/2006/main" noGrp="1"/>
          </p:cNvSpPr>
          <p:nvPr/>
        </p:nvSpPr>
        <p:spPr>
          <a:xfrm xmlns:a="http://schemas.openxmlformats.org/drawingml/2006/main">
            <a:off x="13716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family coherence</a:t>
            </a:r>
          </a:p>
        </p:txBody>
      </p:sp>
      <p:sp>
        <p:nvSpPr>
          <p:cNvPr id="37" name="">
            <a:extLst xmlns:a="http://schemas.openxmlformats.org/drawingml/2006/main">
              <a:ext uri="{FF2B5EF4-FFF2-40B4-BE49-F238E27FC236}">
                <a16:creationId xmlns:a16="http://schemas.microsoft.com/office/drawing/2014/main" id="{B395AB08-3B8C-4724-B9B0-2C13CF799C9B}"/>
              </a:ext>
            </a:extLst>
          </p:cNvPr>
          <p:cNvSpPr>
            <a:spLocks xmlns:a="http://schemas.openxmlformats.org/drawingml/2006/main" noGrp="1"/>
          </p:cNvSpPr>
          <p:nvPr/>
        </p:nvSpPr>
        <p:spPr>
          <a:xfrm xmlns:a="http://schemas.openxmlformats.org/drawingml/2006/main">
            <a:off x="394335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8" name="">
            <a:extLst xmlns:a="http://schemas.openxmlformats.org/drawingml/2006/main">
              <a:ext uri="{FF2B5EF4-FFF2-40B4-BE49-F238E27FC236}">
                <a16:creationId xmlns:a16="http://schemas.microsoft.com/office/drawing/2014/main" id="{41484649-8AC0-4356-B362-9DAB321FCB0C}"/>
              </a:ext>
            </a:extLst>
          </p:cNvPr>
          <p:cNvSpPr>
            <a:spLocks xmlns:a="http://schemas.openxmlformats.org/drawingml/2006/main" noGrp="1"/>
          </p:cNvSpPr>
          <p:nvPr/>
        </p:nvSpPr>
        <p:spPr>
          <a:xfrm xmlns:a="http://schemas.openxmlformats.org/drawingml/2006/main">
            <a:off x="415290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4F7D76"/>
                </a:solidFill>
                <a:latin typeface="Aptos"/>
                <a:ea typeface="Aptos"/>
                <a:cs typeface="Aptos"/>
              </a:defRPr>
            </a:pPr>
            <a:r>
              <a:rPr sz="900" b="1">
                <a:solidFill>
                  <a:srgbClr val="4F7D76"/>
                </a:solidFill>
                <a:latin typeface="Aptos"/>
                <a:ea typeface="Aptos"/>
                <a:cs typeface="Aptos"/>
              </a:rPr>
              <a:t>VERSION</a:t>
            </a:r>
          </a:p>
        </p:txBody>
      </p:sp>
      <p:sp>
        <p:nvSpPr>
          <p:cNvPr id="39" name="">
            <a:extLst xmlns:a="http://schemas.openxmlformats.org/drawingml/2006/main">
              <a:ext uri="{FF2B5EF4-FFF2-40B4-BE49-F238E27FC236}">
                <a16:creationId xmlns:a16="http://schemas.microsoft.com/office/drawing/2014/main" id="{03C67F37-7AE4-4352-936A-05EC1BA762F5}"/>
              </a:ext>
            </a:extLst>
          </p:cNvPr>
          <p:cNvSpPr>
            <a:spLocks xmlns:a="http://schemas.openxmlformats.org/drawingml/2006/main" noGrp="1"/>
          </p:cNvSpPr>
          <p:nvPr/>
        </p:nvSpPr>
        <p:spPr>
          <a:xfrm xmlns:a="http://schemas.openxmlformats.org/drawingml/2006/main">
            <a:off x="415290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exact?</a:t>
            </a:r>
          </a:p>
        </p:txBody>
      </p:sp>
      <p:sp>
        <p:nvSpPr>
          <p:cNvPr id="40" name="rule">
            <a:extLst xmlns:a="http://schemas.openxmlformats.org/drawingml/2006/main">
              <a:ext uri="{FF2B5EF4-FFF2-40B4-BE49-F238E27FC236}">
                <a16:creationId xmlns:a16="http://schemas.microsoft.com/office/drawing/2014/main" id="{938BE133-DA14-42F7-B9F6-0CD9A7AB81AF}"/>
              </a:ext>
            </a:extLst>
          </p:cNvPr>
          <p:cNvSpPr>
            <a:spLocks xmlns:a="http://schemas.openxmlformats.org/drawingml/2006/main" noGrp="1"/>
          </p:cNvSpPr>
          <p:nvPr/>
        </p:nvSpPr>
        <p:spPr>
          <a:xfrm xmlns:a="http://schemas.openxmlformats.org/drawingml/2006/main">
            <a:off x="4248150" y="3867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8DFD3E2-41D3-4EE0-8419-F46F4DC7F581}"/>
              </a:ext>
            </a:extLst>
          </p:cNvPr>
          <p:cNvSpPr>
            <a:spLocks xmlns:a="http://schemas.openxmlformats.org/drawingml/2006/main" noGrp="1"/>
          </p:cNvSpPr>
          <p:nvPr/>
        </p:nvSpPr>
        <p:spPr>
          <a:xfrm xmlns:a="http://schemas.openxmlformats.org/drawingml/2006/main">
            <a:off x="459105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rank and score gap</a:t>
            </a:r>
          </a:p>
        </p:txBody>
      </p:sp>
      <p:sp>
        <p:nvSpPr>
          <p:cNvPr id="42" name="rule">
            <a:extLst xmlns:a="http://schemas.openxmlformats.org/drawingml/2006/main">
              <a:ext uri="{FF2B5EF4-FFF2-40B4-BE49-F238E27FC236}">
                <a16:creationId xmlns:a16="http://schemas.microsoft.com/office/drawing/2014/main" id="{F4591E9A-B190-47D5-9D72-E4620A5FD379}"/>
              </a:ext>
            </a:extLst>
          </p:cNvPr>
          <p:cNvSpPr>
            <a:spLocks xmlns:a="http://schemas.openxmlformats.org/drawingml/2006/main" noGrp="1"/>
          </p:cNvSpPr>
          <p:nvPr/>
        </p:nvSpPr>
        <p:spPr>
          <a:xfrm xmlns:a="http://schemas.openxmlformats.org/drawingml/2006/main">
            <a:off x="4248150" y="4248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874DB56-B2BC-4082-87FE-D2C17B2E74A7}"/>
              </a:ext>
            </a:extLst>
          </p:cNvPr>
          <p:cNvSpPr>
            <a:spLocks xmlns:a="http://schemas.openxmlformats.org/drawingml/2006/main" noGrp="1"/>
          </p:cNvSpPr>
          <p:nvPr/>
        </p:nvSpPr>
        <p:spPr>
          <a:xfrm xmlns:a="http://schemas.openxmlformats.org/drawingml/2006/main">
            <a:off x="459105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unique evidence</a:t>
            </a:r>
          </a:p>
        </p:txBody>
      </p:sp>
      <p:sp>
        <p:nvSpPr>
          <p:cNvPr id="44" name="rule">
            <a:extLst xmlns:a="http://schemas.openxmlformats.org/drawingml/2006/main">
              <a:ext uri="{FF2B5EF4-FFF2-40B4-BE49-F238E27FC236}">
                <a16:creationId xmlns:a16="http://schemas.microsoft.com/office/drawing/2014/main" id="{35CE1384-3055-4BC1-B371-EF18174F724E}"/>
              </a:ext>
            </a:extLst>
          </p:cNvPr>
          <p:cNvSpPr>
            <a:spLocks xmlns:a="http://schemas.openxmlformats.org/drawingml/2006/main" noGrp="1"/>
          </p:cNvSpPr>
          <p:nvPr/>
        </p:nvSpPr>
        <p:spPr>
          <a:xfrm xmlns:a="http://schemas.openxmlformats.org/drawingml/2006/main">
            <a:off x="4248150" y="4629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2230EAC-9981-4B00-8E01-A782B4719D92}"/>
              </a:ext>
            </a:extLst>
          </p:cNvPr>
          <p:cNvSpPr>
            <a:spLocks xmlns:a="http://schemas.openxmlformats.org/drawingml/2006/main" noGrp="1"/>
          </p:cNvSpPr>
          <p:nvPr/>
        </p:nvSpPr>
        <p:spPr>
          <a:xfrm xmlns:a="http://schemas.openxmlformats.org/drawingml/2006/main">
            <a:off x="459105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near-version competition</a:t>
            </a:r>
          </a:p>
        </p:txBody>
      </p:sp>
      <p:sp>
        <p:nvSpPr>
          <p:cNvPr id="46" name="">
            <a:extLst xmlns:a="http://schemas.openxmlformats.org/drawingml/2006/main">
              <a:ext uri="{FF2B5EF4-FFF2-40B4-BE49-F238E27FC236}">
                <a16:creationId xmlns:a16="http://schemas.microsoft.com/office/drawing/2014/main" id="{7569FF75-A9AE-4D1F-B2AE-06AE2CE48325}"/>
              </a:ext>
            </a:extLst>
          </p:cNvPr>
          <p:cNvSpPr>
            <a:spLocks xmlns:a="http://schemas.openxmlformats.org/drawingml/2006/main" noGrp="1"/>
          </p:cNvSpPr>
          <p:nvPr/>
        </p:nvSpPr>
        <p:spPr>
          <a:xfrm xmlns:a="http://schemas.openxmlformats.org/drawingml/2006/main">
            <a:off x="71628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64881076-138D-4262-8F0F-16D55FF2898F}"/>
              </a:ext>
            </a:extLst>
          </p:cNvPr>
          <p:cNvSpPr>
            <a:spLocks xmlns:a="http://schemas.openxmlformats.org/drawingml/2006/main" noGrp="1"/>
          </p:cNvSpPr>
          <p:nvPr/>
        </p:nvSpPr>
        <p:spPr>
          <a:xfrm xmlns:a="http://schemas.openxmlformats.org/drawingml/2006/main">
            <a:off x="73723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AMBIGUITY</a:t>
            </a:r>
          </a:p>
        </p:txBody>
      </p:sp>
      <p:sp>
        <p:nvSpPr>
          <p:cNvPr id="48" name="">
            <a:extLst xmlns:a="http://schemas.openxmlformats.org/drawingml/2006/main">
              <a:ext uri="{FF2B5EF4-FFF2-40B4-BE49-F238E27FC236}">
                <a16:creationId xmlns:a16="http://schemas.microsoft.com/office/drawing/2014/main" id="{696B789A-6551-4D78-BA43-411C404B5FDD}"/>
              </a:ext>
            </a:extLst>
          </p:cNvPr>
          <p:cNvSpPr>
            <a:spLocks xmlns:a="http://schemas.openxmlformats.org/drawingml/2006/main" noGrp="1"/>
          </p:cNvSpPr>
          <p:nvPr/>
        </p:nvSpPr>
        <p:spPr>
          <a:xfrm xmlns:a="http://schemas.openxmlformats.org/drawingml/2006/main">
            <a:off x="73723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alternatives?</a:t>
            </a:r>
          </a:p>
        </p:txBody>
      </p:sp>
      <p:sp>
        <p:nvSpPr>
          <p:cNvPr id="49" name="rule">
            <a:extLst xmlns:a="http://schemas.openxmlformats.org/drawingml/2006/main">
              <a:ext uri="{FF2B5EF4-FFF2-40B4-BE49-F238E27FC236}">
                <a16:creationId xmlns:a16="http://schemas.microsoft.com/office/drawing/2014/main" id="{B541D7AD-609C-43B6-A196-A713278EFD68}"/>
              </a:ext>
            </a:extLst>
          </p:cNvPr>
          <p:cNvSpPr>
            <a:spLocks xmlns:a="http://schemas.openxmlformats.org/drawingml/2006/main" noGrp="1"/>
          </p:cNvSpPr>
          <p:nvPr/>
        </p:nvSpPr>
        <p:spPr>
          <a:xfrm xmlns:a="http://schemas.openxmlformats.org/drawingml/2006/main">
            <a:off x="7467600" y="3867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E6ED848-E985-4A9A-86ED-D80C0C301E69}"/>
              </a:ext>
            </a:extLst>
          </p:cNvPr>
          <p:cNvSpPr>
            <a:spLocks xmlns:a="http://schemas.openxmlformats.org/drawingml/2006/main" noGrp="1"/>
          </p:cNvSpPr>
          <p:nvPr/>
        </p:nvSpPr>
        <p:spPr>
          <a:xfrm xmlns:a="http://schemas.openxmlformats.org/drawingml/2006/main">
            <a:off x="78105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feature-equivalent tie</a:t>
            </a:r>
          </a:p>
        </p:txBody>
      </p:sp>
      <p:sp>
        <p:nvSpPr>
          <p:cNvPr id="51" name="rule">
            <a:extLst xmlns:a="http://schemas.openxmlformats.org/drawingml/2006/main">
              <a:ext uri="{FF2B5EF4-FFF2-40B4-BE49-F238E27FC236}">
                <a16:creationId xmlns:a16="http://schemas.microsoft.com/office/drawing/2014/main" id="{C458216F-044B-4799-98B1-D6F83440638C}"/>
              </a:ext>
            </a:extLst>
          </p:cNvPr>
          <p:cNvSpPr>
            <a:spLocks xmlns:a="http://schemas.openxmlformats.org/drawingml/2006/main" noGrp="1"/>
          </p:cNvSpPr>
          <p:nvPr/>
        </p:nvSpPr>
        <p:spPr>
          <a:xfrm xmlns:a="http://schemas.openxmlformats.org/drawingml/2006/main">
            <a:off x="7467600" y="4248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6394B91-1123-458E-9E3A-A8002E03647A}"/>
              </a:ext>
            </a:extLst>
          </p:cNvPr>
          <p:cNvSpPr>
            <a:spLocks xmlns:a="http://schemas.openxmlformats.org/drawingml/2006/main" noGrp="1"/>
          </p:cNvSpPr>
          <p:nvPr/>
        </p:nvSpPr>
        <p:spPr>
          <a:xfrm xmlns:a="http://schemas.openxmlformats.org/drawingml/2006/main">
            <a:off x="78105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 tie &lt;= 0.006</a:t>
            </a:r>
          </a:p>
        </p:txBody>
      </p:sp>
      <p:sp>
        <p:nvSpPr>
          <p:cNvPr id="53" name="rule">
            <a:extLst xmlns:a="http://schemas.openxmlformats.org/drawingml/2006/main">
              <a:ext uri="{FF2B5EF4-FFF2-40B4-BE49-F238E27FC236}">
                <a16:creationId xmlns:a16="http://schemas.microsoft.com/office/drawing/2014/main" id="{062084C8-5F04-405F-BA4D-4FC7013DFADD}"/>
              </a:ext>
            </a:extLst>
          </p:cNvPr>
          <p:cNvSpPr>
            <a:spLocks xmlns:a="http://schemas.openxmlformats.org/drawingml/2006/main" noGrp="1"/>
          </p:cNvSpPr>
          <p:nvPr/>
        </p:nvSpPr>
        <p:spPr>
          <a:xfrm xmlns:a="http://schemas.openxmlformats.org/drawingml/2006/main">
            <a:off x="7467600" y="4629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D0EDC7E-98F1-4DC3-8F40-24532F018828}"/>
              </a:ext>
            </a:extLst>
          </p:cNvPr>
          <p:cNvSpPr>
            <a:spLocks xmlns:a="http://schemas.openxmlformats.org/drawingml/2006/main" noGrp="1"/>
          </p:cNvSpPr>
          <p:nvPr/>
        </p:nvSpPr>
        <p:spPr>
          <a:xfrm xmlns:a="http://schemas.openxmlformats.org/drawingml/2006/main">
            <a:off x="78105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structured version set</a:t>
            </a:r>
          </a:p>
        </p:txBody>
      </p:sp>
      <p:sp>
        <p:nvSpPr>
          <p:cNvPr id="55" name="">
            <a:extLst xmlns:a="http://schemas.openxmlformats.org/drawingml/2006/main">
              <a:ext uri="{FF2B5EF4-FFF2-40B4-BE49-F238E27FC236}">
                <a16:creationId xmlns:a16="http://schemas.microsoft.com/office/drawing/2014/main" id="{0A0AAEDA-5A40-4155-8F84-3EAB93ED09D0}"/>
              </a:ext>
            </a:extLst>
          </p:cNvPr>
          <p:cNvSpPr>
            <a:spLocks xmlns:a="http://schemas.openxmlformats.org/drawingml/2006/main" noGrp="1"/>
          </p:cNvSpPr>
          <p:nvPr/>
        </p:nvSpPr>
        <p:spPr>
          <a:xfrm xmlns:a="http://schemas.openxmlformats.org/drawingml/2006/main">
            <a:off x="10191750" y="2590800"/>
            <a:ext cx="131445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283B7EB8-8B8E-4ECE-A585-ADDC7A543FFA}"/>
              </a:ext>
            </a:extLst>
          </p:cNvPr>
          <p:cNvSpPr>
            <a:spLocks xmlns:a="http://schemas.openxmlformats.org/drawingml/2006/main" noGrp="1"/>
          </p:cNvSpPr>
          <p:nvPr/>
        </p:nvSpPr>
        <p:spPr>
          <a:xfrm xmlns:a="http://schemas.openxmlformats.org/drawingml/2006/main">
            <a:off x="10401300" y="289560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A65C55"/>
                </a:solidFill>
                <a:latin typeface="Aptos"/>
                <a:ea typeface="Aptos"/>
                <a:cs typeface="Aptos"/>
              </a:defRPr>
            </a:pPr>
            <a:r>
              <a:rPr sz="1650" b="1">
                <a:solidFill>
                  <a:srgbClr val="A65C55"/>
                </a:solidFill>
                <a:latin typeface="Aptos"/>
                <a:ea typeface="Aptos"/>
                <a:cs typeface="Aptos"/>
              </a:rPr>
              <a:t>CVE</a:t>
            </a:r>
          </a:p>
        </p:txBody>
      </p:sp>
      <p:sp>
        <p:nvSpPr>
          <p:cNvPr id="57" name="">
            <a:extLst xmlns:a="http://schemas.openxmlformats.org/drawingml/2006/main">
              <a:ext uri="{FF2B5EF4-FFF2-40B4-BE49-F238E27FC236}">
                <a16:creationId xmlns:a16="http://schemas.microsoft.com/office/drawing/2014/main" id="{7F1C6153-EFFE-4F8D-8C0D-372441C7C15B}"/>
              </a:ext>
            </a:extLst>
          </p:cNvPr>
          <p:cNvSpPr>
            <a:spLocks xmlns:a="http://schemas.openxmlformats.org/drawingml/2006/main" noGrp="1"/>
          </p:cNvSpPr>
          <p:nvPr/>
        </p:nvSpPr>
        <p:spPr>
          <a:xfrm xmlns:a="http://schemas.openxmlformats.org/drawingml/2006/main">
            <a:off x="10382250" y="3543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A65C55"/>
                </a:solidFill>
                <a:latin typeface="Aptos"/>
                <a:ea typeface="Aptos"/>
                <a:cs typeface="Aptos"/>
              </a:defRPr>
            </a:pPr>
            <a:r>
              <a:rPr sz="1125" b="1">
                <a:solidFill>
                  <a:srgbClr val="A65C55"/>
                </a:solidFill>
                <a:latin typeface="Aptos"/>
                <a:ea typeface="Aptos"/>
                <a:cs typeface="Aptos"/>
              </a:rPr>
              <a:t>confirmed</a:t>
            </a:r>
          </a:p>
        </p:txBody>
      </p:sp>
      <p:sp>
        <p:nvSpPr>
          <p:cNvPr id="58" name="">
            <a:extLst xmlns:a="http://schemas.openxmlformats.org/drawingml/2006/main">
              <a:ext uri="{FF2B5EF4-FFF2-40B4-BE49-F238E27FC236}">
                <a16:creationId xmlns:a16="http://schemas.microsoft.com/office/drawing/2014/main" id="{240EB355-2568-4366-A676-F646FBC9781B}"/>
              </a:ext>
            </a:extLst>
          </p:cNvPr>
          <p:cNvSpPr>
            <a:spLocks xmlns:a="http://schemas.openxmlformats.org/drawingml/2006/main" noGrp="1"/>
          </p:cNvSpPr>
          <p:nvPr/>
        </p:nvSpPr>
        <p:spPr>
          <a:xfrm xmlns:a="http://schemas.openxmlformats.org/drawingml/2006/main">
            <a:off x="10382250" y="3981450"/>
            <a:ext cx="95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only when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identity + version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are strong</a:t>
            </a:r>
          </a:p>
        </p:txBody>
      </p:sp>
      <p:sp>
        <p:nvSpPr>
          <p:cNvPr id="59" name="">
            <a:extLst xmlns:a="http://schemas.openxmlformats.org/drawingml/2006/main">
              <a:ext uri="{FF2B5EF4-FFF2-40B4-BE49-F238E27FC236}">
                <a16:creationId xmlns:a16="http://schemas.microsoft.com/office/drawing/2014/main" id="{FB5EB764-A8C3-471D-9C0F-6452ED7CF241}"/>
              </a:ext>
            </a:extLst>
          </p:cNvPr>
          <p:cNvSpPr>
            <a:spLocks xmlns:a="http://schemas.openxmlformats.org/drawingml/2006/main" noGrp="1"/>
          </p:cNvSpPr>
          <p:nvPr/>
        </p:nvSpPr>
        <p:spPr>
          <a:xfrm xmlns:a="http://schemas.openxmlformats.org/drawingml/2006/main">
            <a:off x="685800" y="550545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60" name="">
            <a:extLst xmlns:a="http://schemas.openxmlformats.org/drawingml/2006/main">
              <a:ext uri="{FF2B5EF4-FFF2-40B4-BE49-F238E27FC236}">
                <a16:creationId xmlns:a16="http://schemas.microsoft.com/office/drawing/2014/main" id="{FD07BF03-509B-4C2F-97CC-EAB83E07A884}"/>
              </a:ext>
            </a:extLst>
          </p:cNvPr>
          <p:cNvSpPr>
            <a:spLocks xmlns:a="http://schemas.openxmlformats.org/drawingml/2006/main" noGrp="1"/>
          </p:cNvSpPr>
          <p:nvPr/>
        </p:nvSpPr>
        <p:spPr>
          <a:xfrm xmlns:a="http://schemas.openxmlformats.org/drawingml/2006/main">
            <a:off x="876300" y="5676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POLICY</a:t>
            </a:r>
          </a:p>
        </p:txBody>
      </p:sp>
      <p:sp>
        <p:nvSpPr>
          <p:cNvPr id="61" name="">
            <a:extLst xmlns:a="http://schemas.openxmlformats.org/drawingml/2006/main">
              <a:ext uri="{FF2B5EF4-FFF2-40B4-BE49-F238E27FC236}">
                <a16:creationId xmlns:a16="http://schemas.microsoft.com/office/drawing/2014/main" id="{E5400EF8-4C25-4EBD-804D-791B57207D45}"/>
              </a:ext>
            </a:extLst>
          </p:cNvPr>
          <p:cNvSpPr>
            <a:spLocks xmlns:a="http://schemas.openxmlformats.org/drawingml/2006/main" noGrp="1"/>
          </p:cNvSpPr>
          <p:nvPr/>
        </p:nvSpPr>
        <p:spPr>
          <a:xfrm xmlns:a="http://schemas.openxmlformats.org/drawingml/2006/main">
            <a:off x="2343150" y="5629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 detected library can be real while its exact version remains uncertain; the output must preserve that distinction.</a:t>
            </a:r>
          </a:p>
        </p:txBody>
      </p:sp>
      <p:sp>
        <p:nvSpPr>
          <p:cNvPr id="62" name="">
            <a:extLst xmlns:a="http://schemas.openxmlformats.org/drawingml/2006/main">
              <a:ext uri="{FF2B5EF4-FFF2-40B4-BE49-F238E27FC236}">
                <a16:creationId xmlns:a16="http://schemas.microsoft.com/office/drawing/2014/main" id="{DFA5ED95-7A5B-41E2-80FE-1B7AB9267546}"/>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945169F9-2014-4D0E-8884-CA0A70C1BD46}"/>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matcher.py  -&gt;  build_version_decisions(), classify_identity_candidate(), classify_version_candidate()</a:t>
            </a:r>
          </a:p>
        </p:txBody>
      </p:sp>
      <p:sp>
        <p:nvSpPr>
          <p:cNvPr id="64" name="">
            <a:extLst xmlns:a="http://schemas.openxmlformats.org/drawingml/2006/main">
              <a:ext uri="{FF2B5EF4-FFF2-40B4-BE49-F238E27FC236}">
                <a16:creationId xmlns:a16="http://schemas.microsoft.com/office/drawing/2014/main" id="{B05B61C2-9185-4162-B573-1FE3075CD3A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22881863"/>
      </p:ext>
    </p:extLst>
  </p:cSld>
</p:sld>
</file>

<file path=ppt/slides/slide1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26110B-73FD-4E93-87AE-BA701C36841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COMPONENT 6  |  SBOM GENERATOR</a:t>
            </a:r>
          </a:p>
        </p:txBody>
      </p:sp>
      <p:sp>
        <p:nvSpPr>
          <p:cNvPr id="2" name="">
            <a:extLst xmlns:a="http://schemas.openxmlformats.org/drawingml/2006/main">
              <a:ext uri="{FF2B5EF4-FFF2-40B4-BE49-F238E27FC236}">
                <a16:creationId xmlns:a16="http://schemas.microsoft.com/office/drawing/2014/main" id="{4E828ADE-15B9-4D9D-BD46-093684E7EC5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SBOM output evolved from internal JSON into evidence-rich CycloneDX 1.5</a:t>
            </a:r>
          </a:p>
        </p:txBody>
      </p:sp>
      <p:sp>
        <p:nvSpPr>
          <p:cNvPr id="3" name="">
            <a:extLst xmlns:a="http://schemas.openxmlformats.org/drawingml/2006/main">
              <a:ext uri="{FF2B5EF4-FFF2-40B4-BE49-F238E27FC236}">
                <a16:creationId xmlns:a16="http://schemas.microsoft.com/office/drawing/2014/main" id="{78B992AA-BE4B-469E-B084-A0DDAE3A49B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46D00AA5-8745-48F7-A78C-8618F1ECCA71}"/>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717A"/>
            </a:solidFill>
            <a:prstDash val="solid"/>
          </a:ln>
        </p:spPr>
      </p:sp>
      <p:sp>
        <p:nvSpPr>
          <p:cNvPr id="5" name="">
            <a:extLst xmlns:a="http://schemas.openxmlformats.org/drawingml/2006/main">
              <a:ext uri="{FF2B5EF4-FFF2-40B4-BE49-F238E27FC236}">
                <a16:creationId xmlns:a16="http://schemas.microsoft.com/office/drawing/2014/main" id="{08E78A54-65FA-4F97-830B-81367C0C547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D5C910CD-2719-45B5-89F8-8CCF882FB6BF}"/>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Internal JSON</a:t>
            </a:r>
          </a:p>
        </p:txBody>
      </p:sp>
      <p:sp>
        <p:nvSpPr>
          <p:cNvPr id="7" name="">
            <a:extLst xmlns:a="http://schemas.openxmlformats.org/drawingml/2006/main">
              <a:ext uri="{FF2B5EF4-FFF2-40B4-BE49-F238E27FC236}">
                <a16:creationId xmlns:a16="http://schemas.microsoft.com/office/drawing/2014/main" id="{7675847E-2B84-4D30-8AEC-51FF480335FC}"/>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Useful for debugging, not interoperable.</a:t>
            </a:r>
          </a:p>
        </p:txBody>
      </p:sp>
      <p:sp>
        <p:nvSpPr>
          <p:cNvPr id="8" name="rule">
            <a:extLst xmlns:a="http://schemas.openxmlformats.org/drawingml/2006/main">
              <a:ext uri="{FF2B5EF4-FFF2-40B4-BE49-F238E27FC236}">
                <a16:creationId xmlns:a16="http://schemas.microsoft.com/office/drawing/2014/main" id="{D8F23E3A-C5B3-42EB-80EF-074BD9986660}"/>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56BB48-E7F9-44DE-AF1F-89F00EFC09AF}"/>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889A19-584B-4D7C-8501-7B8216E17505}"/>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1" name="">
            <a:extLst xmlns:a="http://schemas.openxmlformats.org/drawingml/2006/main">
              <a:ext uri="{FF2B5EF4-FFF2-40B4-BE49-F238E27FC236}">
                <a16:creationId xmlns:a16="http://schemas.microsoft.com/office/drawing/2014/main" id="{1A2BF327-E96D-4509-8643-4642E7DDA1DD}"/>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D21C7718-CD02-4B12-915E-039DE17EA6CF}"/>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CycloneDX</a:t>
            </a:r>
          </a:p>
        </p:txBody>
      </p:sp>
      <p:sp>
        <p:nvSpPr>
          <p:cNvPr id="13" name="">
            <a:extLst xmlns:a="http://schemas.openxmlformats.org/drawingml/2006/main">
              <a:ext uri="{FF2B5EF4-FFF2-40B4-BE49-F238E27FC236}">
                <a16:creationId xmlns:a16="http://schemas.microsoft.com/office/drawing/2014/main" id="{79C31CA7-6B75-4F19-A233-29E2CE9AFA4F}"/>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Standard components, hashes, dependencies and metadata.</a:t>
            </a:r>
          </a:p>
        </p:txBody>
      </p:sp>
      <p:sp>
        <p:nvSpPr>
          <p:cNvPr id="14" name="rule">
            <a:extLst xmlns:a="http://schemas.openxmlformats.org/drawingml/2006/main">
              <a:ext uri="{FF2B5EF4-FFF2-40B4-BE49-F238E27FC236}">
                <a16:creationId xmlns:a16="http://schemas.microsoft.com/office/drawing/2014/main" id="{3F5771B8-ED37-4CA3-BD8B-9387F3D04DB4}"/>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4693E67-A82E-4B73-A350-B99498206148}"/>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8C0E960-709A-4124-8FB3-B5469AE443B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443E0F8E-5FF5-48A7-95C1-FD46896E89E7}"/>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61864A78-CD3C-4AC6-AB2D-54C4998CF993}"/>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PURL + evidence</a:t>
            </a:r>
          </a:p>
        </p:txBody>
      </p:sp>
      <p:sp>
        <p:nvSpPr>
          <p:cNvPr id="19" name="">
            <a:extLst xmlns:a="http://schemas.openxmlformats.org/drawingml/2006/main">
              <a:ext uri="{FF2B5EF4-FFF2-40B4-BE49-F238E27FC236}">
                <a16:creationId xmlns:a16="http://schemas.microsoft.com/office/drawing/2014/main" id="{DF1143FE-3F6A-43C5-880D-942426A48DD4}"/>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Maven identity, confidence properties, ambiguity.</a:t>
            </a:r>
          </a:p>
        </p:txBody>
      </p:sp>
      <p:sp>
        <p:nvSpPr>
          <p:cNvPr id="20" name="rule">
            <a:extLst xmlns:a="http://schemas.openxmlformats.org/drawingml/2006/main">
              <a:ext uri="{FF2B5EF4-FFF2-40B4-BE49-F238E27FC236}">
                <a16:creationId xmlns:a16="http://schemas.microsoft.com/office/drawing/2014/main" id="{C8F2F15E-3AED-499F-9DD8-792898EFD7A1}"/>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8C82A0C-7F80-466B-95C8-54557B5EBE3B}"/>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D16B686-1212-4ADA-BEAC-F43DEA8E15D4}"/>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3" name="">
            <a:extLst xmlns:a="http://schemas.openxmlformats.org/drawingml/2006/main">
              <a:ext uri="{FF2B5EF4-FFF2-40B4-BE49-F238E27FC236}">
                <a16:creationId xmlns:a16="http://schemas.microsoft.com/office/drawing/2014/main" id="{40437AE0-5981-4055-A0F2-A3CB1A448BDE}"/>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DA903426-3BEA-40D6-9AED-F8490DF13364}"/>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Boundary files</a:t>
            </a:r>
          </a:p>
        </p:txBody>
      </p:sp>
      <p:sp>
        <p:nvSpPr>
          <p:cNvPr id="25" name="">
            <a:extLst xmlns:a="http://schemas.openxmlformats.org/drawingml/2006/main">
              <a:ext uri="{FF2B5EF4-FFF2-40B4-BE49-F238E27FC236}">
                <a16:creationId xmlns:a16="http://schemas.microsoft.com/office/drawing/2014/main" id="{66282B0D-8CB6-44E8-B926-81EB5EF509D9}"/>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Native .so entries remain hash-only file components.</a:t>
            </a:r>
          </a:p>
        </p:txBody>
      </p:sp>
      <p:sp>
        <p:nvSpPr>
          <p:cNvPr id="26" name="">
            <a:extLst xmlns:a="http://schemas.openxmlformats.org/drawingml/2006/main">
              <a:ext uri="{FF2B5EF4-FFF2-40B4-BE49-F238E27FC236}">
                <a16:creationId xmlns:a16="http://schemas.microsoft.com/office/drawing/2014/main" id="{E83E19D7-6E94-4408-8D2F-7BB882A49042}"/>
              </a:ext>
            </a:extLst>
          </p:cNvPr>
          <p:cNvSpPr>
            <a:spLocks xmlns:a="http://schemas.openxmlformats.org/drawingml/2006/main" noGrp="1"/>
          </p:cNvSpPr>
          <p:nvPr/>
        </p:nvSpPr>
        <p:spPr>
          <a:xfrm xmlns:a="http://schemas.openxmlformats.org/drawingml/2006/main">
            <a:off x="685800" y="2647950"/>
            <a:ext cx="5924550" cy="27622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5EF3C97E-7370-4336-8755-84FFBBE49DBF}"/>
              </a:ext>
            </a:extLst>
          </p:cNvPr>
          <p:cNvSpPr>
            <a:spLocks xmlns:a="http://schemas.openxmlformats.org/drawingml/2006/main" noGrp="1"/>
          </p:cNvSpPr>
          <p:nvPr/>
        </p:nvSpPr>
        <p:spPr>
          <a:xfrm xmlns:a="http://schemas.openxmlformats.org/drawingml/2006/main">
            <a:off x="685800" y="2647950"/>
            <a:ext cx="5924550" cy="32385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F070724-65D6-4F07-8BCC-74CA21DA5185}"/>
              </a:ext>
            </a:extLst>
          </p:cNvPr>
          <p:cNvSpPr>
            <a:spLocks xmlns:a="http://schemas.openxmlformats.org/drawingml/2006/main" noGrp="1"/>
          </p:cNvSpPr>
          <p:nvPr/>
        </p:nvSpPr>
        <p:spPr>
          <a:xfrm xmlns:a="http://schemas.openxmlformats.org/drawingml/2006/main">
            <a:off x="819150" y="2762250"/>
            <a:ext cx="85725" cy="85725"/>
          </a:xfrm>
          <a:prstGeom xmlns:a="http://schemas.openxmlformats.org/drawingml/2006/main" prst="ellipse">
            <a:avLst/>
          </a:prstGeom>
          <a:solidFill xmlns:a="http://schemas.openxmlformats.org/drawingml/2006/main">
            <a:srgbClr val="7A858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46B5AAC-3D43-4FAB-8334-3D9A56EC9BBA}"/>
              </a:ext>
            </a:extLst>
          </p:cNvPr>
          <p:cNvSpPr>
            <a:spLocks xmlns:a="http://schemas.openxmlformats.org/drawingml/2006/main" noGrp="1"/>
          </p:cNvSpPr>
          <p:nvPr/>
        </p:nvSpPr>
        <p:spPr>
          <a:xfrm xmlns:a="http://schemas.openxmlformats.org/drawingml/2006/main">
            <a:off x="971550" y="2762250"/>
            <a:ext cx="85725" cy="85725"/>
          </a:xfrm>
          <a:prstGeom xmlns:a="http://schemas.openxmlformats.org/drawingml/2006/main" prst="ellipse">
            <a:avLst/>
          </a:prstGeom>
          <a:solidFill xmlns:a="http://schemas.openxmlformats.org/drawingml/2006/main">
            <a:srgbClr val="9BA3A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B573B97-1EF0-401B-BD5C-4E2EAEA119C1}"/>
              </a:ext>
            </a:extLst>
          </p:cNvPr>
          <p:cNvSpPr>
            <a:spLocks xmlns:a="http://schemas.openxmlformats.org/drawingml/2006/main" noGrp="1"/>
          </p:cNvSpPr>
          <p:nvPr/>
        </p:nvSpPr>
        <p:spPr>
          <a:xfrm xmlns:a="http://schemas.openxmlformats.org/drawingml/2006/main">
            <a:off x="1123950" y="2762250"/>
            <a:ext cx="85725" cy="85725"/>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CCCF427-D9F9-45F9-8D83-6F3F5B4C895C}"/>
              </a:ext>
            </a:extLst>
          </p:cNvPr>
          <p:cNvSpPr>
            <a:spLocks xmlns:a="http://schemas.openxmlformats.org/drawingml/2006/main" noGrp="1"/>
          </p:cNvSpPr>
          <p:nvPr/>
        </p:nvSpPr>
        <p:spPr>
          <a:xfrm xmlns:a="http://schemas.openxmlformats.org/drawingml/2006/main">
            <a:off x="1333500" y="2733675"/>
            <a:ext cx="512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sbom.cdx.json</a:t>
            </a:r>
          </a:p>
        </p:txBody>
      </p:sp>
      <p:sp>
        <p:nvSpPr>
          <p:cNvPr id="32" name="">
            <a:extLst xmlns:a="http://schemas.openxmlformats.org/drawingml/2006/main">
              <a:ext uri="{FF2B5EF4-FFF2-40B4-BE49-F238E27FC236}">
                <a16:creationId xmlns:a16="http://schemas.microsoft.com/office/drawing/2014/main" id="{2D0D3F41-6BFB-40E5-8207-7C82B9FCA2D1}"/>
              </a:ext>
            </a:extLst>
          </p:cNvPr>
          <p:cNvSpPr>
            <a:spLocks xmlns:a="http://schemas.openxmlformats.org/drawingml/2006/main" noGrp="1"/>
          </p:cNvSpPr>
          <p:nvPr/>
        </p:nvSpPr>
        <p:spPr>
          <a:xfrm xmlns:a="http://schemas.openxmlformats.org/drawingml/2006/main">
            <a:off x="857250" y="3143250"/>
            <a:ext cx="57150" cy="2076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EBBC79A-65BC-4CCE-A732-B4877580F7AD}"/>
              </a:ext>
            </a:extLst>
          </p:cNvPr>
          <p:cNvSpPr>
            <a:spLocks xmlns:a="http://schemas.openxmlformats.org/drawingml/2006/main" noGrp="1"/>
          </p:cNvSpPr>
          <p:nvPr/>
        </p:nvSpPr>
        <p:spPr>
          <a:xfrm xmlns:a="http://schemas.openxmlformats.org/drawingml/2006/main">
            <a:off x="1066800" y="32956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65F7D"/>
                </a:solidFill>
                <a:latin typeface="Cascadia Mono"/>
                <a:ea typeface="Cascadia Mono"/>
                <a:cs typeface="Cascadia Mono"/>
              </a:defRPr>
            </a:pPr>
            <a:r>
              <a:rPr sz="1050" b="1">
                <a:solidFill>
                  <a:srgbClr val="365F7D"/>
                </a:solidFill>
                <a:latin typeface="Cascadia Mono"/>
                <a:ea typeface="Cascadia Mono"/>
                <a:cs typeface="Cascadia Mono"/>
              </a:rPr>
              <a:t>"type": "library"</a:t>
            </a:r>
          </a:p>
        </p:txBody>
      </p:sp>
      <p:sp>
        <p:nvSpPr>
          <p:cNvPr id="34" name="">
            <a:extLst xmlns:a="http://schemas.openxmlformats.org/drawingml/2006/main">
              <a:ext uri="{FF2B5EF4-FFF2-40B4-BE49-F238E27FC236}">
                <a16:creationId xmlns:a16="http://schemas.microsoft.com/office/drawing/2014/main" id="{D3F134AA-489A-4648-AD9B-438C1A610E4B}"/>
              </a:ext>
            </a:extLst>
          </p:cNvPr>
          <p:cNvSpPr>
            <a:spLocks xmlns:a="http://schemas.openxmlformats.org/drawingml/2006/main" noGrp="1"/>
          </p:cNvSpPr>
          <p:nvPr/>
        </p:nvSpPr>
        <p:spPr>
          <a:xfrm xmlns:a="http://schemas.openxmlformats.org/drawingml/2006/main">
            <a:off x="1066800" y="36576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"purl": "pkg:maven/...@version"</a:t>
            </a:r>
          </a:p>
        </p:txBody>
      </p:sp>
      <p:sp>
        <p:nvSpPr>
          <p:cNvPr id="35" name="">
            <a:extLst xmlns:a="http://schemas.openxmlformats.org/drawingml/2006/main">
              <a:ext uri="{FF2B5EF4-FFF2-40B4-BE49-F238E27FC236}">
                <a16:creationId xmlns:a16="http://schemas.microsoft.com/office/drawing/2014/main" id="{70E5FD0E-D742-4E05-8AC2-E486E1A25B27}"/>
              </a:ext>
            </a:extLst>
          </p:cNvPr>
          <p:cNvSpPr>
            <a:spLocks xmlns:a="http://schemas.openxmlformats.org/drawingml/2006/main" noGrp="1"/>
          </p:cNvSpPr>
          <p:nvPr/>
        </p:nvSpPr>
        <p:spPr>
          <a:xfrm xmlns:a="http://schemas.openxmlformats.org/drawingml/2006/main">
            <a:off x="1066800" y="40195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"identity-confidence": "0.871"</a:t>
            </a:r>
          </a:p>
        </p:txBody>
      </p:sp>
      <p:sp>
        <p:nvSpPr>
          <p:cNvPr id="36" name="">
            <a:extLst xmlns:a="http://schemas.openxmlformats.org/drawingml/2006/main">
              <a:ext uri="{FF2B5EF4-FFF2-40B4-BE49-F238E27FC236}">
                <a16:creationId xmlns:a16="http://schemas.microsoft.com/office/drawing/2014/main" id="{31ED89E8-9688-4E15-B82C-178D6FF48B4E}"/>
              </a:ext>
            </a:extLst>
          </p:cNvPr>
          <p:cNvSpPr>
            <a:spLocks xmlns:a="http://schemas.openxmlformats.org/drawingml/2006/main" noGrp="1"/>
          </p:cNvSpPr>
          <p:nvPr/>
        </p:nvSpPr>
        <p:spPr>
          <a:xfrm xmlns:a="http://schemas.openxmlformats.org/drawingml/2006/main">
            <a:off x="1066800" y="4343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"version-confidence": "0.843"</a:t>
            </a:r>
          </a:p>
        </p:txBody>
      </p:sp>
      <p:sp>
        <p:nvSpPr>
          <p:cNvPr id="37" name="">
            <a:extLst xmlns:a="http://schemas.openxmlformats.org/drawingml/2006/main">
              <a:ext uri="{FF2B5EF4-FFF2-40B4-BE49-F238E27FC236}">
                <a16:creationId xmlns:a16="http://schemas.microsoft.com/office/drawing/2014/main" id="{83352B54-2759-436C-BB80-BCD936B1FB6F}"/>
              </a:ext>
            </a:extLst>
          </p:cNvPr>
          <p:cNvSpPr>
            <a:spLocks xmlns:a="http://schemas.openxmlformats.org/drawingml/2006/main" noGrp="1"/>
          </p:cNvSpPr>
          <p:nvPr/>
        </p:nvSpPr>
        <p:spPr>
          <a:xfrm xmlns:a="http://schemas.openxmlformats.org/drawingml/2006/main">
            <a:off x="1066800" y="46672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8D754D"/>
                </a:solidFill>
                <a:latin typeface="Cascadia Mono"/>
                <a:ea typeface="Cascadia Mono"/>
                <a:cs typeface="Cascadia Mono"/>
              </a:defRPr>
            </a:pPr>
            <a:r>
              <a:rPr sz="975" b="0">
                <a:solidFill>
                  <a:srgbClr val="8D754D"/>
                </a:solidFill>
                <a:latin typeface="Cascadia Mono"/>
                <a:ea typeface="Cascadia Mono"/>
                <a:cs typeface="Cascadia Mono"/>
              </a:rPr>
              <a:t>"ambiguous-versions": [...]</a:t>
            </a:r>
          </a:p>
        </p:txBody>
      </p:sp>
      <p:sp>
        <p:nvSpPr>
          <p:cNvPr id="38" name="">
            <a:extLst xmlns:a="http://schemas.openxmlformats.org/drawingml/2006/main">
              <a:ext uri="{FF2B5EF4-FFF2-40B4-BE49-F238E27FC236}">
                <a16:creationId xmlns:a16="http://schemas.microsoft.com/office/drawing/2014/main" id="{E2968FBD-2486-4D34-86B8-CE7136B70C12}"/>
              </a:ext>
            </a:extLst>
          </p:cNvPr>
          <p:cNvSpPr>
            <a:spLocks xmlns:a="http://schemas.openxmlformats.org/drawingml/2006/main" noGrp="1"/>
          </p:cNvSpPr>
          <p:nvPr/>
        </p:nvSpPr>
        <p:spPr>
          <a:xfrm xmlns:a="http://schemas.openxmlformats.org/drawingml/2006/main">
            <a:off x="6915150" y="2647950"/>
            <a:ext cx="4591050" cy="2762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9" name="">
            <a:extLst xmlns:a="http://schemas.openxmlformats.org/drawingml/2006/main">
              <a:ext uri="{FF2B5EF4-FFF2-40B4-BE49-F238E27FC236}">
                <a16:creationId xmlns:a16="http://schemas.microsoft.com/office/drawing/2014/main" id="{CE8DBB7D-92CC-4F9F-9CCA-3C1ECC2B574C}"/>
              </a:ext>
            </a:extLst>
          </p:cNvPr>
          <p:cNvSpPr>
            <a:spLocks xmlns:a="http://schemas.openxmlformats.org/drawingml/2006/main" noGrp="1"/>
          </p:cNvSpPr>
          <p:nvPr/>
        </p:nvSpPr>
        <p:spPr>
          <a:xfrm xmlns:a="http://schemas.openxmlformats.org/drawingml/2006/main">
            <a:off x="7162800" y="28765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WHY CYCLONEDX</a:t>
            </a:r>
          </a:p>
        </p:txBody>
      </p:sp>
      <p:sp>
        <p:nvSpPr>
          <p:cNvPr id="40" name="">
            <a:extLst xmlns:a="http://schemas.openxmlformats.org/drawingml/2006/main">
              <a:ext uri="{FF2B5EF4-FFF2-40B4-BE49-F238E27FC236}">
                <a16:creationId xmlns:a16="http://schemas.microsoft.com/office/drawing/2014/main" id="{1CFD1982-8E60-40A7-8E9F-1A524CCF864D}"/>
              </a:ext>
            </a:extLst>
          </p:cNvPr>
          <p:cNvSpPr>
            <a:spLocks xmlns:a="http://schemas.openxmlformats.org/drawingml/2006/main" noGrp="1"/>
          </p:cNvSpPr>
          <p:nvPr/>
        </p:nvSpPr>
        <p:spPr>
          <a:xfrm xmlns:a="http://schemas.openxmlformats.org/drawingml/2006/main">
            <a:off x="7181850" y="3371850"/>
            <a:ext cx="152400" cy="1524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21F48C3-4B8A-4E32-BA76-71F41793C313}"/>
              </a:ext>
            </a:extLst>
          </p:cNvPr>
          <p:cNvSpPr>
            <a:spLocks xmlns:a="http://schemas.openxmlformats.org/drawingml/2006/main" noGrp="1"/>
          </p:cNvSpPr>
          <p:nvPr/>
        </p:nvSpPr>
        <p:spPr>
          <a:xfrm xmlns:a="http://schemas.openxmlformats.org/drawingml/2006/main">
            <a:off x="7486650" y="3314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65F7D"/>
                </a:solidFill>
                <a:latin typeface="Aptos"/>
                <a:ea typeface="Aptos"/>
                <a:cs typeface="Aptos"/>
              </a:defRPr>
            </a:pPr>
            <a:r>
              <a:rPr sz="1050" b="1">
                <a:solidFill>
                  <a:srgbClr val="365F7D"/>
                </a:solidFill>
                <a:latin typeface="Aptos"/>
                <a:ea typeface="Aptos"/>
                <a:cs typeface="Aptos"/>
              </a:rPr>
              <a:t>Standard</a:t>
            </a:r>
          </a:p>
        </p:txBody>
      </p:sp>
      <p:sp>
        <p:nvSpPr>
          <p:cNvPr id="42" name="">
            <a:extLst xmlns:a="http://schemas.openxmlformats.org/drawingml/2006/main">
              <a:ext uri="{FF2B5EF4-FFF2-40B4-BE49-F238E27FC236}">
                <a16:creationId xmlns:a16="http://schemas.microsoft.com/office/drawing/2014/main" id="{A0E24E31-A238-4CC2-B062-ED6ECFCCBC5F}"/>
              </a:ext>
            </a:extLst>
          </p:cNvPr>
          <p:cNvSpPr>
            <a:spLocks xmlns:a="http://schemas.openxmlformats.org/drawingml/2006/main" noGrp="1"/>
          </p:cNvSpPr>
          <p:nvPr/>
        </p:nvSpPr>
        <p:spPr>
          <a:xfrm xmlns:a="http://schemas.openxmlformats.org/drawingml/2006/main">
            <a:off x="8572500" y="32766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Can be consumed by other SBOM and security workflows.</a:t>
            </a:r>
          </a:p>
        </p:txBody>
      </p:sp>
      <p:sp>
        <p:nvSpPr>
          <p:cNvPr id="43" name="">
            <a:extLst xmlns:a="http://schemas.openxmlformats.org/drawingml/2006/main">
              <a:ext uri="{FF2B5EF4-FFF2-40B4-BE49-F238E27FC236}">
                <a16:creationId xmlns:a16="http://schemas.microsoft.com/office/drawing/2014/main" id="{FAEEE8A5-F69A-46AF-9F3A-0E71782E84AB}"/>
              </a:ext>
            </a:extLst>
          </p:cNvPr>
          <p:cNvSpPr>
            <a:spLocks xmlns:a="http://schemas.openxmlformats.org/drawingml/2006/main" noGrp="1"/>
          </p:cNvSpPr>
          <p:nvPr/>
        </p:nvSpPr>
        <p:spPr>
          <a:xfrm xmlns:a="http://schemas.openxmlformats.org/drawingml/2006/main">
            <a:off x="7181850" y="3962400"/>
            <a:ext cx="152400" cy="1524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CAD3783-694A-40EB-BD23-076F98881B0E}"/>
              </a:ext>
            </a:extLst>
          </p:cNvPr>
          <p:cNvSpPr>
            <a:spLocks xmlns:a="http://schemas.openxmlformats.org/drawingml/2006/main" noGrp="1"/>
          </p:cNvSpPr>
          <p:nvPr/>
        </p:nvSpPr>
        <p:spPr>
          <a:xfrm xmlns:a="http://schemas.openxmlformats.org/drawingml/2006/main">
            <a:off x="7486650" y="3905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Aptos"/>
                <a:ea typeface="Aptos"/>
                <a:cs typeface="Aptos"/>
              </a:defRPr>
            </a:pPr>
            <a:r>
              <a:rPr sz="1050" b="1">
                <a:solidFill>
                  <a:srgbClr val="4F7D76"/>
                </a:solidFill>
                <a:latin typeface="Aptos"/>
                <a:ea typeface="Aptos"/>
                <a:cs typeface="Aptos"/>
              </a:rPr>
              <a:t>Traceable</a:t>
            </a:r>
          </a:p>
        </p:txBody>
      </p:sp>
      <p:sp>
        <p:nvSpPr>
          <p:cNvPr id="45" name="">
            <a:extLst xmlns:a="http://schemas.openxmlformats.org/drawingml/2006/main">
              <a:ext uri="{FF2B5EF4-FFF2-40B4-BE49-F238E27FC236}">
                <a16:creationId xmlns:a16="http://schemas.microsoft.com/office/drawing/2014/main" id="{A87E0C00-32F5-4B00-BBFD-9E6C817304AC}"/>
              </a:ext>
            </a:extLst>
          </p:cNvPr>
          <p:cNvSpPr>
            <a:spLocks xmlns:a="http://schemas.openxmlformats.org/drawingml/2006/main" noGrp="1"/>
          </p:cNvSpPr>
          <p:nvPr/>
        </p:nvSpPr>
        <p:spPr>
          <a:xfrm xmlns:a="http://schemas.openxmlformats.org/drawingml/2006/main">
            <a:off x="8572500" y="3867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Every component carries PURL, confidence, and evidence.</a:t>
            </a:r>
          </a:p>
        </p:txBody>
      </p:sp>
      <p:sp>
        <p:nvSpPr>
          <p:cNvPr id="46" name="">
            <a:extLst xmlns:a="http://schemas.openxmlformats.org/drawingml/2006/main">
              <a:ext uri="{FF2B5EF4-FFF2-40B4-BE49-F238E27FC236}">
                <a16:creationId xmlns:a16="http://schemas.microsoft.com/office/drawing/2014/main" id="{71C46632-85CB-44CE-AE92-9E57D589A0A9}"/>
              </a:ext>
            </a:extLst>
          </p:cNvPr>
          <p:cNvSpPr>
            <a:spLocks xmlns:a="http://schemas.openxmlformats.org/drawingml/2006/main" noGrp="1"/>
          </p:cNvSpPr>
          <p:nvPr/>
        </p:nvSpPr>
        <p:spPr>
          <a:xfrm xmlns:a="http://schemas.openxmlformats.org/drawingml/2006/main">
            <a:off x="7181850" y="4552950"/>
            <a:ext cx="152400" cy="1524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840A6B3-9183-47C2-A505-7318B83E7651}"/>
              </a:ext>
            </a:extLst>
          </p:cNvPr>
          <p:cNvSpPr>
            <a:spLocks xmlns:a="http://schemas.openxmlformats.org/drawingml/2006/main" noGrp="1"/>
          </p:cNvSpPr>
          <p:nvPr/>
        </p:nvSpPr>
        <p:spPr>
          <a:xfrm xmlns:a="http://schemas.openxmlformats.org/drawingml/2006/main">
            <a:off x="7486650" y="4495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8D754D"/>
                </a:solidFill>
                <a:latin typeface="Aptos"/>
                <a:ea typeface="Aptos"/>
                <a:cs typeface="Aptos"/>
              </a:defRPr>
            </a:pPr>
            <a:r>
              <a:rPr sz="1050" b="1">
                <a:solidFill>
                  <a:srgbClr val="8D754D"/>
                </a:solidFill>
                <a:latin typeface="Aptos"/>
                <a:ea typeface="Aptos"/>
                <a:cs typeface="Aptos"/>
              </a:rPr>
              <a:t>Honest</a:t>
            </a:r>
          </a:p>
        </p:txBody>
      </p:sp>
      <p:sp>
        <p:nvSpPr>
          <p:cNvPr id="48" name="">
            <a:extLst xmlns:a="http://schemas.openxmlformats.org/drawingml/2006/main">
              <a:ext uri="{FF2B5EF4-FFF2-40B4-BE49-F238E27FC236}">
                <a16:creationId xmlns:a16="http://schemas.microsoft.com/office/drawing/2014/main" id="{2D457504-4FC9-4DD8-BB8C-21ACBDA376EC}"/>
              </a:ext>
            </a:extLst>
          </p:cNvPr>
          <p:cNvSpPr>
            <a:spLocks xmlns:a="http://schemas.openxmlformats.org/drawingml/2006/main" noGrp="1"/>
          </p:cNvSpPr>
          <p:nvPr/>
        </p:nvSpPr>
        <p:spPr>
          <a:xfrm xmlns:a="http://schemas.openxmlformats.org/drawingml/2006/main">
            <a:off x="8572500" y="44577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Native files and uncertainty are represented without false package claims.</a:t>
            </a:r>
          </a:p>
        </p:txBody>
      </p:sp>
      <p:sp>
        <p:nvSpPr>
          <p:cNvPr id="49" name="">
            <a:extLst xmlns:a="http://schemas.openxmlformats.org/drawingml/2006/main">
              <a:ext uri="{FF2B5EF4-FFF2-40B4-BE49-F238E27FC236}">
                <a16:creationId xmlns:a16="http://schemas.microsoft.com/office/drawing/2014/main" id="{20EEF49B-02FD-496E-8244-CB17B37D7834}"/>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0524E57-5FC3-4D7A-860A-EFBD2652ABAA}"/>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src/apk_sbom/sbom.py  -&gt;  build_cyclonedx_bom()  |  Spec version: CycloneDX 1.5</a:t>
            </a:r>
          </a:p>
        </p:txBody>
      </p:sp>
      <p:sp>
        <p:nvSpPr>
          <p:cNvPr id="51" name="">
            <a:extLst xmlns:a="http://schemas.openxmlformats.org/drawingml/2006/main">
              <a:ext uri="{FF2B5EF4-FFF2-40B4-BE49-F238E27FC236}">
                <a16:creationId xmlns:a16="http://schemas.microsoft.com/office/drawing/2014/main" id="{1691957D-0ED8-44AC-8F22-49904141C7D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10647652"/>
      </p:ext>
    </p:extLst>
  </p:cSld>
</p:sld>
</file>

<file path=ppt/slides/slide1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30483F-182C-4277-AFDE-07FCAACF24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865755-0D46-42D1-8D77-2543932917A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41DB60-B231-4D11-9858-97DD73CE402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COMPONENT 7  |  CVE / OSV</a:t>
            </a:r>
          </a:p>
        </p:txBody>
      </p:sp>
      <p:sp>
        <p:nvSpPr>
          <p:cNvPr id="4" name="">
            <a:extLst xmlns:a="http://schemas.openxmlformats.org/drawingml/2006/main">
              <a:ext uri="{FF2B5EF4-FFF2-40B4-BE49-F238E27FC236}">
                <a16:creationId xmlns:a16="http://schemas.microsoft.com/office/drawing/2014/main" id="{735B6239-FE0D-48E4-A9A8-B307C110EB6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Vulnerability lookup became package-aware and confidence-aware</a:t>
            </a:r>
          </a:p>
        </p:txBody>
      </p:sp>
      <p:sp>
        <p:nvSpPr>
          <p:cNvPr id="5" name="">
            <a:extLst xmlns:a="http://schemas.openxmlformats.org/drawingml/2006/main">
              <a:ext uri="{FF2B5EF4-FFF2-40B4-BE49-F238E27FC236}">
                <a16:creationId xmlns:a16="http://schemas.microsoft.com/office/drawing/2014/main" id="{CEB83282-6DD4-44FF-AB30-DEDB08D1FD2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A269111D-0229-4CBD-9A77-82CBCBF93C4B}"/>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342FC0E-F6FD-4ED8-B934-964CEB75A499}"/>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DFAD58E-19A2-4AD0-BDA6-F58148F12F27}"/>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NVD idea</a:t>
            </a:r>
          </a:p>
        </p:txBody>
      </p:sp>
      <p:sp>
        <p:nvSpPr>
          <p:cNvPr id="9" name="">
            <a:extLst xmlns:a="http://schemas.openxmlformats.org/drawingml/2006/main">
              <a:ext uri="{FF2B5EF4-FFF2-40B4-BE49-F238E27FC236}">
                <a16:creationId xmlns:a16="http://schemas.microsoft.com/office/drawing/2014/main" id="{2BBC5B3D-91C2-4CAA-8425-6632FB16A12D}"/>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CPE mapping is awkward for Maven coordinates.</a:t>
            </a:r>
          </a:p>
        </p:txBody>
      </p:sp>
      <p:sp>
        <p:nvSpPr>
          <p:cNvPr id="10" name="rule">
            <a:extLst xmlns:a="http://schemas.openxmlformats.org/drawingml/2006/main">
              <a:ext uri="{FF2B5EF4-FFF2-40B4-BE49-F238E27FC236}">
                <a16:creationId xmlns:a16="http://schemas.microsoft.com/office/drawing/2014/main" id="{102C2116-A5F6-49C0-B5C7-9D378600F27A}"/>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82E4D48-341B-4AD7-82F0-E5628BABDA4F}"/>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D6D79C-CE8E-4C40-A4F8-1D90CFDFD580}"/>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998E8A1E-C68C-4307-9326-D7843828CF69}"/>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2CCDC9EF-046C-4242-A187-0F00D0CCC34F}"/>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OSV first</a:t>
            </a:r>
          </a:p>
        </p:txBody>
      </p:sp>
      <p:sp>
        <p:nvSpPr>
          <p:cNvPr id="15" name="">
            <a:extLst xmlns:a="http://schemas.openxmlformats.org/drawingml/2006/main">
              <a:ext uri="{FF2B5EF4-FFF2-40B4-BE49-F238E27FC236}">
                <a16:creationId xmlns:a16="http://schemas.microsoft.com/office/drawing/2014/main" id="{7D12B21D-900A-4307-A123-550D0ED6AF29}"/>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Batch Maven package + version queries.</a:t>
            </a:r>
          </a:p>
        </p:txBody>
      </p:sp>
      <p:sp>
        <p:nvSpPr>
          <p:cNvPr id="16" name="rule">
            <a:extLst xmlns:a="http://schemas.openxmlformats.org/drawingml/2006/main">
              <a:ext uri="{FF2B5EF4-FFF2-40B4-BE49-F238E27FC236}">
                <a16:creationId xmlns:a16="http://schemas.microsoft.com/office/drawing/2014/main" id="{7F8298EA-8C05-4AF9-BF8A-A7EB5CCE2729}"/>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46FEF8-AEF9-4E70-A124-A8825E7F09BA}"/>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D8FA3C-C00F-476A-B7AC-FF708DF77F4B}"/>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5EF124F-E4DE-467D-8F76-F3BCBA92FD25}"/>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5ABFEEA6-1B83-45C4-A322-A8F8A2A28DD6}"/>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Enrichment</a:t>
            </a:r>
          </a:p>
        </p:txBody>
      </p:sp>
      <p:sp>
        <p:nvSpPr>
          <p:cNvPr id="21" name="">
            <a:extLst xmlns:a="http://schemas.openxmlformats.org/drawingml/2006/main">
              <a:ext uri="{FF2B5EF4-FFF2-40B4-BE49-F238E27FC236}">
                <a16:creationId xmlns:a16="http://schemas.microsoft.com/office/drawing/2014/main" id="{8A98A61C-4A6B-48E6-8325-F8A87EF24D90}"/>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Deduplicate CVE/GHSA aliases and retain strongest severity.</a:t>
            </a:r>
          </a:p>
        </p:txBody>
      </p:sp>
      <p:sp>
        <p:nvSpPr>
          <p:cNvPr id="22" name="rule">
            <a:extLst xmlns:a="http://schemas.openxmlformats.org/drawingml/2006/main">
              <a:ext uri="{FF2B5EF4-FFF2-40B4-BE49-F238E27FC236}">
                <a16:creationId xmlns:a16="http://schemas.microsoft.com/office/drawing/2014/main" id="{F66865D9-B85E-4B9A-AB72-BA4E91D96B8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D6AECDA-9284-4965-A358-B76D8845754F}"/>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B4E20EE-8926-4484-BF16-3DA9DB8E01A2}"/>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10CB7FF6-C196-4159-A3E2-5DE9B0F4BE02}"/>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9974A75D-A528-4EA5-80A4-C73C32604E0E}"/>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Claim gate</a:t>
            </a:r>
          </a:p>
        </p:txBody>
      </p:sp>
      <p:sp>
        <p:nvSpPr>
          <p:cNvPr id="27" name="">
            <a:extLst xmlns:a="http://schemas.openxmlformats.org/drawingml/2006/main">
              <a:ext uri="{FF2B5EF4-FFF2-40B4-BE49-F238E27FC236}">
                <a16:creationId xmlns:a16="http://schemas.microsoft.com/office/drawing/2014/main" id="{F919D86B-53EC-4C6D-AB13-D4FB572C9D64}"/>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Confirmed vs potential depends on identity/version/source proof.</a:t>
            </a:r>
          </a:p>
        </p:txBody>
      </p:sp>
      <p:sp>
        <p:nvSpPr>
          <p:cNvPr id="28" name="">
            <a:extLst xmlns:a="http://schemas.openxmlformats.org/drawingml/2006/main">
              <a:ext uri="{FF2B5EF4-FFF2-40B4-BE49-F238E27FC236}">
                <a16:creationId xmlns:a16="http://schemas.microsoft.com/office/drawing/2014/main" id="{22E39C6E-2407-4A38-821E-3050CC197149}"/>
              </a:ext>
            </a:extLst>
          </p:cNvPr>
          <p:cNvSpPr>
            <a:spLocks xmlns:a="http://schemas.openxmlformats.org/drawingml/2006/main" noGrp="1"/>
          </p:cNvSpPr>
          <p:nvPr/>
        </p:nvSpPr>
        <p:spPr>
          <a:xfrm xmlns:a="http://schemas.openxmlformats.org/drawingml/2006/main">
            <a:off x="6858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1761BD6E-4769-4B15-9DA5-B3ABE8EF7866}"/>
              </a:ext>
            </a:extLst>
          </p:cNvPr>
          <p:cNvSpPr>
            <a:spLocks xmlns:a="http://schemas.openxmlformats.org/drawingml/2006/main" noGrp="1"/>
          </p:cNvSpPr>
          <p:nvPr/>
        </p:nvSpPr>
        <p:spPr>
          <a:xfrm xmlns:a="http://schemas.openxmlformats.org/drawingml/2006/main">
            <a:off x="8572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365F7D"/>
                </a:solidFill>
                <a:latin typeface="Aptos"/>
                <a:ea typeface="Aptos"/>
                <a:cs typeface="Aptos"/>
              </a:defRPr>
            </a:pPr>
            <a:r>
              <a:rPr sz="1500" b="1">
                <a:solidFill>
                  <a:srgbClr val="365F7D"/>
                </a:solidFill>
                <a:latin typeface="Aptos"/>
                <a:ea typeface="Aptos"/>
                <a:cs typeface="Aptos"/>
              </a:rPr>
              <a:t>Maven PURL</a:t>
            </a:r>
          </a:p>
        </p:txBody>
      </p:sp>
      <p:sp>
        <p:nvSpPr>
          <p:cNvPr id="30" name="">
            <a:extLst xmlns:a="http://schemas.openxmlformats.org/drawingml/2006/main">
              <a:ext uri="{FF2B5EF4-FFF2-40B4-BE49-F238E27FC236}">
                <a16:creationId xmlns:a16="http://schemas.microsoft.com/office/drawing/2014/main" id="{142230B0-154E-4E9C-8190-F7D5A866DF76}"/>
              </a:ext>
            </a:extLst>
          </p:cNvPr>
          <p:cNvSpPr>
            <a:spLocks xmlns:a="http://schemas.openxmlformats.org/drawingml/2006/main" noGrp="1"/>
          </p:cNvSpPr>
          <p:nvPr/>
        </p:nvSpPr>
        <p:spPr>
          <a:xfrm xmlns:a="http://schemas.openxmlformats.org/drawingml/2006/main">
            <a:off x="8572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pkg:maven/group/artifact@version</a:t>
            </a:r>
          </a:p>
        </p:txBody>
      </p:sp>
      <p:sp>
        <p:nvSpPr>
          <p:cNvPr id="31" name="rule">
            <a:extLst xmlns:a="http://schemas.openxmlformats.org/drawingml/2006/main">
              <a:ext uri="{FF2B5EF4-FFF2-40B4-BE49-F238E27FC236}">
                <a16:creationId xmlns:a16="http://schemas.microsoft.com/office/drawing/2014/main" id="{887AE64B-CF3B-4852-BD28-044A162464A8}"/>
              </a:ext>
            </a:extLst>
          </p:cNvPr>
          <p:cNvSpPr>
            <a:spLocks xmlns:a="http://schemas.openxmlformats.org/drawingml/2006/main" noGrp="1"/>
          </p:cNvSpPr>
          <p:nvPr/>
        </p:nvSpPr>
        <p:spPr>
          <a:xfrm xmlns:a="http://schemas.openxmlformats.org/drawingml/2006/main">
            <a:off x="3028950" y="34766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9726521-E44D-4A30-A0DA-0C13333D1E97}"/>
              </a:ext>
            </a:extLst>
          </p:cNvPr>
          <p:cNvSpPr>
            <a:spLocks xmlns:a="http://schemas.openxmlformats.org/drawingml/2006/main" noGrp="1"/>
          </p:cNvSpPr>
          <p:nvPr/>
        </p:nvSpPr>
        <p:spPr>
          <a:xfrm xmlns:a="http://schemas.openxmlformats.org/drawingml/2006/main">
            <a:off x="3162300" y="33909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835EBDC-7DC7-47B2-8555-08C3F09CC873}"/>
              </a:ext>
            </a:extLst>
          </p:cNvPr>
          <p:cNvSpPr>
            <a:spLocks xmlns:a="http://schemas.openxmlformats.org/drawingml/2006/main" noGrp="1"/>
          </p:cNvSpPr>
          <p:nvPr/>
        </p:nvSpPr>
        <p:spPr>
          <a:xfrm xmlns:a="http://schemas.openxmlformats.org/drawingml/2006/main">
            <a:off x="33909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384287EC-D2F3-4819-8B31-54431A17C3AA}"/>
              </a:ext>
            </a:extLst>
          </p:cNvPr>
          <p:cNvSpPr>
            <a:spLocks xmlns:a="http://schemas.openxmlformats.org/drawingml/2006/main" noGrp="1"/>
          </p:cNvSpPr>
          <p:nvPr/>
        </p:nvSpPr>
        <p:spPr>
          <a:xfrm xmlns:a="http://schemas.openxmlformats.org/drawingml/2006/main">
            <a:off x="35623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4F7D76"/>
                </a:solidFill>
                <a:latin typeface="Aptos"/>
                <a:ea typeface="Aptos"/>
                <a:cs typeface="Aptos"/>
              </a:defRPr>
            </a:pPr>
            <a:r>
              <a:rPr sz="1500" b="1">
                <a:solidFill>
                  <a:srgbClr val="4F7D76"/>
                </a:solidFill>
                <a:latin typeface="Aptos"/>
                <a:ea typeface="Aptos"/>
                <a:cs typeface="Aptos"/>
              </a:rPr>
              <a:t>OSV batch</a:t>
            </a:r>
          </a:p>
        </p:txBody>
      </p:sp>
      <p:sp>
        <p:nvSpPr>
          <p:cNvPr id="35" name="">
            <a:extLst xmlns:a="http://schemas.openxmlformats.org/drawingml/2006/main">
              <a:ext uri="{FF2B5EF4-FFF2-40B4-BE49-F238E27FC236}">
                <a16:creationId xmlns:a16="http://schemas.microsoft.com/office/drawing/2014/main" id="{3431E89C-C970-4E4D-B45B-03321C503BFA}"/>
              </a:ext>
            </a:extLst>
          </p:cNvPr>
          <p:cNvSpPr>
            <a:spLocks xmlns:a="http://schemas.openxmlformats.org/drawingml/2006/main" noGrp="1"/>
          </p:cNvSpPr>
          <p:nvPr/>
        </p:nvSpPr>
        <p:spPr>
          <a:xfrm xmlns:a="http://schemas.openxmlformats.org/drawingml/2006/main">
            <a:off x="35623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query package + version</a:t>
            </a:r>
          </a:p>
        </p:txBody>
      </p:sp>
      <p:sp>
        <p:nvSpPr>
          <p:cNvPr id="36" name="rule">
            <a:extLst xmlns:a="http://schemas.openxmlformats.org/drawingml/2006/main">
              <a:ext uri="{FF2B5EF4-FFF2-40B4-BE49-F238E27FC236}">
                <a16:creationId xmlns:a16="http://schemas.microsoft.com/office/drawing/2014/main" id="{EF7030F1-6964-4C20-8FBD-26030FA3DF93}"/>
              </a:ext>
            </a:extLst>
          </p:cNvPr>
          <p:cNvSpPr>
            <a:spLocks xmlns:a="http://schemas.openxmlformats.org/drawingml/2006/main" noGrp="1"/>
          </p:cNvSpPr>
          <p:nvPr/>
        </p:nvSpPr>
        <p:spPr>
          <a:xfrm xmlns:a="http://schemas.openxmlformats.org/drawingml/2006/main">
            <a:off x="5734050" y="34766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ADAD6D2-ED2E-4438-9CFD-A161807D8A6D}"/>
              </a:ext>
            </a:extLst>
          </p:cNvPr>
          <p:cNvSpPr>
            <a:spLocks xmlns:a="http://schemas.openxmlformats.org/drawingml/2006/main" noGrp="1"/>
          </p:cNvSpPr>
          <p:nvPr/>
        </p:nvSpPr>
        <p:spPr>
          <a:xfrm xmlns:a="http://schemas.openxmlformats.org/drawingml/2006/main">
            <a:off x="5867400" y="33909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DD3E77C-C810-4E2F-B41F-EF5B6BE563CD}"/>
              </a:ext>
            </a:extLst>
          </p:cNvPr>
          <p:cNvSpPr>
            <a:spLocks xmlns:a="http://schemas.openxmlformats.org/drawingml/2006/main" noGrp="1"/>
          </p:cNvSpPr>
          <p:nvPr/>
        </p:nvSpPr>
        <p:spPr>
          <a:xfrm xmlns:a="http://schemas.openxmlformats.org/drawingml/2006/main">
            <a:off x="60960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F2BA098E-BA11-48B0-8B8A-87475FFA223D}"/>
              </a:ext>
            </a:extLst>
          </p:cNvPr>
          <p:cNvSpPr>
            <a:spLocks xmlns:a="http://schemas.openxmlformats.org/drawingml/2006/main" noGrp="1"/>
          </p:cNvSpPr>
          <p:nvPr/>
        </p:nvSpPr>
        <p:spPr>
          <a:xfrm xmlns:a="http://schemas.openxmlformats.org/drawingml/2006/main">
            <a:off x="62674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55F73"/>
                </a:solidFill>
                <a:latin typeface="Aptos"/>
                <a:ea typeface="Aptos"/>
                <a:cs typeface="Aptos"/>
              </a:defRPr>
            </a:pPr>
            <a:r>
              <a:rPr sz="1500" b="1">
                <a:solidFill>
                  <a:srgbClr val="655F73"/>
                </a:solidFill>
                <a:latin typeface="Aptos"/>
                <a:ea typeface="Aptos"/>
                <a:cs typeface="Aptos"/>
              </a:rPr>
              <a:t>Normalize</a:t>
            </a:r>
          </a:p>
        </p:txBody>
      </p:sp>
      <p:sp>
        <p:nvSpPr>
          <p:cNvPr id="40" name="">
            <a:extLst xmlns:a="http://schemas.openxmlformats.org/drawingml/2006/main">
              <a:ext uri="{FF2B5EF4-FFF2-40B4-BE49-F238E27FC236}">
                <a16:creationId xmlns:a16="http://schemas.microsoft.com/office/drawing/2014/main" id="{3C1CCBF4-E36F-486C-AFD8-60973C555C35}"/>
              </a:ext>
            </a:extLst>
          </p:cNvPr>
          <p:cNvSpPr>
            <a:spLocks xmlns:a="http://schemas.openxmlformats.org/drawingml/2006/main" noGrp="1"/>
          </p:cNvSpPr>
          <p:nvPr/>
        </p:nvSpPr>
        <p:spPr>
          <a:xfrm xmlns:a="http://schemas.openxmlformats.org/drawingml/2006/main">
            <a:off x="62674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aliases + severity + duplicates</a:t>
            </a:r>
          </a:p>
        </p:txBody>
      </p:sp>
      <p:sp>
        <p:nvSpPr>
          <p:cNvPr id="41" name="rule">
            <a:extLst xmlns:a="http://schemas.openxmlformats.org/drawingml/2006/main">
              <a:ext uri="{FF2B5EF4-FFF2-40B4-BE49-F238E27FC236}">
                <a16:creationId xmlns:a16="http://schemas.microsoft.com/office/drawing/2014/main" id="{DD84E677-D72F-46ED-84CD-2DD6FCCD54AF}"/>
              </a:ext>
            </a:extLst>
          </p:cNvPr>
          <p:cNvSpPr>
            <a:spLocks xmlns:a="http://schemas.openxmlformats.org/drawingml/2006/main" noGrp="1"/>
          </p:cNvSpPr>
          <p:nvPr/>
        </p:nvSpPr>
        <p:spPr>
          <a:xfrm xmlns:a="http://schemas.openxmlformats.org/drawingml/2006/main">
            <a:off x="8439150" y="34766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6035D3C-FC90-4A0F-8B22-42FE9C08D9E7}"/>
              </a:ext>
            </a:extLst>
          </p:cNvPr>
          <p:cNvSpPr>
            <a:spLocks xmlns:a="http://schemas.openxmlformats.org/drawingml/2006/main" noGrp="1"/>
          </p:cNvSpPr>
          <p:nvPr/>
        </p:nvSpPr>
        <p:spPr>
          <a:xfrm xmlns:a="http://schemas.openxmlformats.org/drawingml/2006/main">
            <a:off x="8572500" y="33909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08FEF7C-1BBA-4190-988F-8C13BDE369A7}"/>
              </a:ext>
            </a:extLst>
          </p:cNvPr>
          <p:cNvSpPr>
            <a:spLocks xmlns:a="http://schemas.openxmlformats.org/drawingml/2006/main" noGrp="1"/>
          </p:cNvSpPr>
          <p:nvPr/>
        </p:nvSpPr>
        <p:spPr>
          <a:xfrm xmlns:a="http://schemas.openxmlformats.org/drawingml/2006/main">
            <a:off x="88011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D8E66BFD-C98B-4CEB-94B6-5BE0B82E0633}"/>
              </a:ext>
            </a:extLst>
          </p:cNvPr>
          <p:cNvSpPr>
            <a:spLocks xmlns:a="http://schemas.openxmlformats.org/drawingml/2006/main" noGrp="1"/>
          </p:cNvSpPr>
          <p:nvPr/>
        </p:nvSpPr>
        <p:spPr>
          <a:xfrm xmlns:a="http://schemas.openxmlformats.org/drawingml/2006/main">
            <a:off x="89725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A65C55"/>
                </a:solidFill>
                <a:latin typeface="Aptos"/>
                <a:ea typeface="Aptos"/>
                <a:cs typeface="Aptos"/>
              </a:defRPr>
            </a:pPr>
            <a:r>
              <a:rPr sz="1500" b="1">
                <a:solidFill>
                  <a:srgbClr val="A65C55"/>
                </a:solidFill>
                <a:latin typeface="Aptos"/>
                <a:ea typeface="Aptos"/>
                <a:cs typeface="Aptos"/>
              </a:rPr>
              <a:t>Classify</a:t>
            </a:r>
          </a:p>
        </p:txBody>
      </p:sp>
      <p:sp>
        <p:nvSpPr>
          <p:cNvPr id="45" name="">
            <a:extLst xmlns:a="http://schemas.openxmlformats.org/drawingml/2006/main">
              <a:ext uri="{FF2B5EF4-FFF2-40B4-BE49-F238E27FC236}">
                <a16:creationId xmlns:a16="http://schemas.microsoft.com/office/drawing/2014/main" id="{B4E134FC-7844-41AF-8B63-8B1053F060C4}"/>
              </a:ext>
            </a:extLst>
          </p:cNvPr>
          <p:cNvSpPr>
            <a:spLocks xmlns:a="http://schemas.openxmlformats.org/drawingml/2006/main" noGrp="1"/>
          </p:cNvSpPr>
          <p:nvPr/>
        </p:nvSpPr>
        <p:spPr>
          <a:xfrm xmlns:a="http://schemas.openxmlformats.org/drawingml/2006/main">
            <a:off x="89725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confirmed / potential / none</a:t>
            </a:r>
          </a:p>
        </p:txBody>
      </p:sp>
      <p:sp>
        <p:nvSpPr>
          <p:cNvPr id="46" name="">
            <a:extLst xmlns:a="http://schemas.openxmlformats.org/drawingml/2006/main">
              <a:ext uri="{FF2B5EF4-FFF2-40B4-BE49-F238E27FC236}">
                <a16:creationId xmlns:a16="http://schemas.microsoft.com/office/drawing/2014/main" id="{9C467A24-8B51-4E99-8391-56D5E45C27ED}"/>
              </a:ext>
            </a:extLst>
          </p:cNvPr>
          <p:cNvSpPr>
            <a:spLocks xmlns:a="http://schemas.openxmlformats.org/drawingml/2006/main" noGrp="1"/>
          </p:cNvSpPr>
          <p:nvPr/>
        </p:nvSpPr>
        <p:spPr>
          <a:xfrm xmlns:a="http://schemas.openxmlformats.org/drawingml/2006/main">
            <a:off x="685800" y="4648200"/>
            <a:ext cx="5238750" cy="9715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B66A8CEC-06A6-4D6A-8FFC-5013BED8540A}"/>
              </a:ext>
            </a:extLst>
          </p:cNvPr>
          <p:cNvSpPr>
            <a:spLocks xmlns:a="http://schemas.openxmlformats.org/drawingml/2006/main" noGrp="1"/>
          </p:cNvSpPr>
          <p:nvPr/>
        </p:nvSpPr>
        <p:spPr>
          <a:xfrm xmlns:a="http://schemas.openxmlformats.org/drawingml/2006/main">
            <a:off x="89535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CONFIRMED</a:t>
            </a:r>
          </a:p>
        </p:txBody>
      </p:sp>
      <p:sp>
        <p:nvSpPr>
          <p:cNvPr id="48" name="">
            <a:extLst xmlns:a="http://schemas.openxmlformats.org/drawingml/2006/main">
              <a:ext uri="{FF2B5EF4-FFF2-40B4-BE49-F238E27FC236}">
                <a16:creationId xmlns:a16="http://schemas.microsoft.com/office/drawing/2014/main" id="{69F939A0-9968-4687-83FE-1D78DCF4FC8B}"/>
              </a:ext>
            </a:extLst>
          </p:cNvPr>
          <p:cNvSpPr>
            <a:spLocks xmlns:a="http://schemas.openxmlformats.org/drawingml/2006/main" noGrp="1"/>
          </p:cNvSpPr>
          <p:nvPr/>
        </p:nvSpPr>
        <p:spPr>
          <a:xfrm xmlns:a="http://schemas.openxmlformats.org/drawingml/2006/main">
            <a:off x="209550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Strong identity + exact/high version confidence + source confirmation when available.</a:t>
            </a:r>
          </a:p>
        </p:txBody>
      </p:sp>
      <p:sp>
        <p:nvSpPr>
          <p:cNvPr id="49" name="">
            <a:extLst xmlns:a="http://schemas.openxmlformats.org/drawingml/2006/main">
              <a:ext uri="{FF2B5EF4-FFF2-40B4-BE49-F238E27FC236}">
                <a16:creationId xmlns:a16="http://schemas.microsoft.com/office/drawing/2014/main" id="{9F8E5728-5DE3-4F1F-A681-BE0E66B954B5}"/>
              </a:ext>
            </a:extLst>
          </p:cNvPr>
          <p:cNvSpPr>
            <a:spLocks xmlns:a="http://schemas.openxmlformats.org/drawingml/2006/main" noGrp="1"/>
          </p:cNvSpPr>
          <p:nvPr/>
        </p:nvSpPr>
        <p:spPr>
          <a:xfrm xmlns:a="http://schemas.openxmlformats.org/drawingml/2006/main">
            <a:off x="6229350" y="4648200"/>
            <a:ext cx="5276850" cy="971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50" name="">
            <a:extLst xmlns:a="http://schemas.openxmlformats.org/drawingml/2006/main">
              <a:ext uri="{FF2B5EF4-FFF2-40B4-BE49-F238E27FC236}">
                <a16:creationId xmlns:a16="http://schemas.microsoft.com/office/drawing/2014/main" id="{87351558-7149-4AA3-B5A0-8B74875DEB2F}"/>
              </a:ext>
            </a:extLst>
          </p:cNvPr>
          <p:cNvSpPr>
            <a:spLocks xmlns:a="http://schemas.openxmlformats.org/drawingml/2006/main" noGrp="1"/>
          </p:cNvSpPr>
          <p:nvPr/>
        </p:nvSpPr>
        <p:spPr>
          <a:xfrm xmlns:a="http://schemas.openxmlformats.org/drawingml/2006/main">
            <a:off x="643890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POTENTIAL</a:t>
            </a:r>
          </a:p>
        </p:txBody>
      </p:sp>
      <p:sp>
        <p:nvSpPr>
          <p:cNvPr id="51" name="">
            <a:extLst xmlns:a="http://schemas.openxmlformats.org/drawingml/2006/main">
              <a:ext uri="{FF2B5EF4-FFF2-40B4-BE49-F238E27FC236}">
                <a16:creationId xmlns:a16="http://schemas.microsoft.com/office/drawing/2014/main" id="{A9BBE01A-85EB-4AB6-86A1-F00161D9675A}"/>
              </a:ext>
            </a:extLst>
          </p:cNvPr>
          <p:cNvSpPr>
            <a:spLocks xmlns:a="http://schemas.openxmlformats.org/drawingml/2006/main" noGrp="1"/>
          </p:cNvSpPr>
          <p:nvPr/>
        </p:nvSpPr>
        <p:spPr>
          <a:xfrm xmlns:a="http://schemas.openxmlformats.org/drawingml/2006/main">
            <a:off x="763905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OSV matched, but version ambiguity or source mismatch blocks a confirmed claim.</a:t>
            </a:r>
          </a:p>
        </p:txBody>
      </p:sp>
      <p:sp>
        <p:nvSpPr>
          <p:cNvPr id="52" name="">
            <a:extLst xmlns:a="http://schemas.openxmlformats.org/drawingml/2006/main">
              <a:ext uri="{FF2B5EF4-FFF2-40B4-BE49-F238E27FC236}">
                <a16:creationId xmlns:a16="http://schemas.microsoft.com/office/drawing/2014/main" id="{B041C296-28D8-42F0-BA56-967D5D4ECC78}"/>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73B1F3E-E970-4E12-AB96-821A1280F404}"/>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Implementation: src/apk_sbom/vulnerability.py  -&gt;  query_osv_for_libraries(), deduplicate_vulnerabilities(), classify_vulnerability_finding()</a:t>
            </a:r>
          </a:p>
        </p:txBody>
      </p:sp>
      <p:sp>
        <p:nvSpPr>
          <p:cNvPr id="54" name="">
            <a:extLst xmlns:a="http://schemas.openxmlformats.org/drawingml/2006/main">
              <a:ext uri="{FF2B5EF4-FFF2-40B4-BE49-F238E27FC236}">
                <a16:creationId xmlns:a16="http://schemas.microsoft.com/office/drawing/2014/main" id="{3DAE7260-A3A6-4D63-8AFE-30AE1979512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35336586"/>
      </p:ext>
    </p:extLst>
  </p:cSld>
</p:sld>
</file>

<file path=ppt/slides/slide1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E033B2-0F8B-44CE-8408-B4C35D25BB2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COMPONENT 8  |  REPORTS</a:t>
            </a:r>
          </a:p>
        </p:txBody>
      </p:sp>
      <p:sp>
        <p:nvSpPr>
          <p:cNvPr id="2" name="">
            <a:extLst xmlns:a="http://schemas.openxmlformats.org/drawingml/2006/main">
              <a:ext uri="{FF2B5EF4-FFF2-40B4-BE49-F238E27FC236}">
                <a16:creationId xmlns:a16="http://schemas.microsoft.com/office/drawing/2014/main" id="{C1129A0D-5807-4DD7-B436-DF6B7A8F1A1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Reporting evolved into the transparency layer of the system</a:t>
            </a:r>
          </a:p>
        </p:txBody>
      </p:sp>
      <p:sp>
        <p:nvSpPr>
          <p:cNvPr id="3" name="">
            <a:extLst xmlns:a="http://schemas.openxmlformats.org/drawingml/2006/main">
              <a:ext uri="{FF2B5EF4-FFF2-40B4-BE49-F238E27FC236}">
                <a16:creationId xmlns:a16="http://schemas.microsoft.com/office/drawing/2014/main" id="{89EF4EE0-7C8A-4169-88A0-0E6E973E5D2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91F6E167-7F17-4B61-AD55-0179B39179B8}"/>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350E4180-E01A-4997-9F59-AAD13D27772C}"/>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143C277B-708F-40CF-A5B8-B0D7CB853D9E}"/>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Raw outputs</a:t>
            </a:r>
          </a:p>
        </p:txBody>
      </p:sp>
      <p:sp>
        <p:nvSpPr>
          <p:cNvPr id="7" name="">
            <a:extLst xmlns:a="http://schemas.openxmlformats.org/drawingml/2006/main">
              <a:ext uri="{FF2B5EF4-FFF2-40B4-BE49-F238E27FC236}">
                <a16:creationId xmlns:a16="http://schemas.microsoft.com/office/drawing/2014/main" id="{E7A556D8-3538-49C3-93E4-1BA9516686A6}"/>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matches.json and sbom.cdx.json.</a:t>
            </a:r>
          </a:p>
        </p:txBody>
      </p:sp>
      <p:sp>
        <p:nvSpPr>
          <p:cNvPr id="8" name="rule">
            <a:extLst xmlns:a="http://schemas.openxmlformats.org/drawingml/2006/main">
              <a:ext uri="{FF2B5EF4-FFF2-40B4-BE49-F238E27FC236}">
                <a16:creationId xmlns:a16="http://schemas.microsoft.com/office/drawing/2014/main" id="{FCB92FDD-4A82-4949-BF42-9689E4624094}"/>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8DD89C-5694-4193-9278-3F9BC8BE4D87}"/>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254C53-B171-474F-BB12-F6628D172E68}"/>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EE10C294-6987-4969-B57D-DB7E4B9E685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10E635AF-62DB-480A-A8EB-C5A181CF051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Human formats</a:t>
            </a:r>
          </a:p>
        </p:txBody>
      </p:sp>
      <p:sp>
        <p:nvSpPr>
          <p:cNvPr id="13" name="">
            <a:extLst xmlns:a="http://schemas.openxmlformats.org/drawingml/2006/main">
              <a:ext uri="{FF2B5EF4-FFF2-40B4-BE49-F238E27FC236}">
                <a16:creationId xmlns:a16="http://schemas.microsoft.com/office/drawing/2014/main" id="{248A801E-7176-4227-A44C-62629BC2EE7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JSON, Markdown, and HTML from one evidence model.</a:t>
            </a:r>
          </a:p>
        </p:txBody>
      </p:sp>
      <p:sp>
        <p:nvSpPr>
          <p:cNvPr id="14" name="rule">
            <a:extLst xmlns:a="http://schemas.openxmlformats.org/drawingml/2006/main">
              <a:ext uri="{FF2B5EF4-FFF2-40B4-BE49-F238E27FC236}">
                <a16:creationId xmlns:a16="http://schemas.microsoft.com/office/drawing/2014/main" id="{8BB4DFBC-F1D4-4BF6-B177-F92774DBE833}"/>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948987-768B-41C2-8918-BF7F1237F457}"/>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B63FCD-AFD4-449F-8805-9C7013D02CB4}"/>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D649CC71-9FEE-4E53-A93F-1A4ECAECAF1D}"/>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4FB6F87B-EBE8-4368-B48D-4DD80B71BB92}"/>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Uncertainty</a:t>
            </a:r>
          </a:p>
        </p:txBody>
      </p:sp>
      <p:sp>
        <p:nvSpPr>
          <p:cNvPr id="19" name="">
            <a:extLst xmlns:a="http://schemas.openxmlformats.org/drawingml/2006/main">
              <a:ext uri="{FF2B5EF4-FFF2-40B4-BE49-F238E27FC236}">
                <a16:creationId xmlns:a16="http://schemas.microsoft.com/office/drawing/2014/main" id="{15904A76-CC0C-4928-A92E-9BC71B44E745}"/>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Identity/version confidence, ambiguity, R8 and extraction risk.</a:t>
            </a:r>
          </a:p>
        </p:txBody>
      </p:sp>
      <p:sp>
        <p:nvSpPr>
          <p:cNvPr id="20" name="rule">
            <a:extLst xmlns:a="http://schemas.openxmlformats.org/drawingml/2006/main">
              <a:ext uri="{FF2B5EF4-FFF2-40B4-BE49-F238E27FC236}">
                <a16:creationId xmlns:a16="http://schemas.microsoft.com/office/drawing/2014/main" id="{4E0BBFE6-5477-4378-A8DA-A84AFF6DF2D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07F02F8-E371-4608-AAF6-14EA125E882E}"/>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A8DBEC3-144A-4694-90D7-AD8082E6B752}"/>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13222BF5-0A8B-41E8-BCBB-EAABC5B5DCAA}"/>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82CEBCD8-C97D-4CEE-8F1C-8467152C8BF3}"/>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Research layers</a:t>
            </a:r>
          </a:p>
        </p:txBody>
      </p:sp>
      <p:sp>
        <p:nvSpPr>
          <p:cNvPr id="25" name="">
            <a:extLst xmlns:a="http://schemas.openxmlformats.org/drawingml/2006/main">
              <a:ext uri="{FF2B5EF4-FFF2-40B4-BE49-F238E27FC236}">
                <a16:creationId xmlns:a16="http://schemas.microsoft.com/office/drawing/2014/main" id="{41152487-ABD1-44FA-AE68-A509776A8B26}"/>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Source validation, Phase 5, router, and AI remain labeled report-only.</a:t>
            </a:r>
          </a:p>
        </p:txBody>
      </p:sp>
      <p:sp>
        <p:nvSpPr>
          <p:cNvPr id="26" name="">
            <a:extLst xmlns:a="http://schemas.openxmlformats.org/drawingml/2006/main">
              <a:ext uri="{FF2B5EF4-FFF2-40B4-BE49-F238E27FC236}">
                <a16:creationId xmlns:a16="http://schemas.microsoft.com/office/drawing/2014/main" id="{A87DBBA3-A210-431A-9647-A103F936C72B}"/>
              </a:ext>
            </a:extLst>
          </p:cNvPr>
          <p:cNvSpPr>
            <a:spLocks xmlns:a="http://schemas.openxmlformats.org/drawingml/2006/main" noGrp="1"/>
          </p:cNvSpPr>
          <p:nvPr/>
        </p:nvSpPr>
        <p:spPr>
          <a:xfrm xmlns:a="http://schemas.openxmlformats.org/drawingml/2006/main">
            <a:off x="6858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7" name="">
            <a:extLst xmlns:a="http://schemas.openxmlformats.org/drawingml/2006/main">
              <a:ext uri="{FF2B5EF4-FFF2-40B4-BE49-F238E27FC236}">
                <a16:creationId xmlns:a16="http://schemas.microsoft.com/office/drawing/2014/main" id="{73E7D7C9-40D4-4F7C-9BEC-16612FD32685}"/>
              </a:ext>
            </a:extLst>
          </p:cNvPr>
          <p:cNvSpPr>
            <a:spLocks xmlns:a="http://schemas.openxmlformats.org/drawingml/2006/main" noGrp="1"/>
          </p:cNvSpPr>
          <p:nvPr/>
        </p:nvSpPr>
        <p:spPr>
          <a:xfrm xmlns:a="http://schemas.openxmlformats.org/drawingml/2006/main">
            <a:off x="8572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65F7D"/>
                </a:solidFill>
                <a:latin typeface="Cascadia Mono"/>
                <a:ea typeface="Cascadia Mono"/>
                <a:cs typeface="Cascadia Mono"/>
              </a:defRPr>
            </a:pPr>
            <a:r>
              <a:rPr sz="1200" b="1">
                <a:solidFill>
                  <a:srgbClr val="365F7D"/>
                </a:solidFill>
                <a:latin typeface="Cascadia Mono"/>
                <a:ea typeface="Cascadia Mono"/>
                <a:cs typeface="Cascadia Mono"/>
              </a:rPr>
              <a:t>matches.json</a:t>
            </a:r>
          </a:p>
        </p:txBody>
      </p:sp>
      <p:sp>
        <p:nvSpPr>
          <p:cNvPr id="28" name="">
            <a:extLst xmlns:a="http://schemas.openxmlformats.org/drawingml/2006/main">
              <a:ext uri="{FF2B5EF4-FFF2-40B4-BE49-F238E27FC236}">
                <a16:creationId xmlns:a16="http://schemas.microsoft.com/office/drawing/2014/main" id="{CB8B629D-905B-4A68-8678-C7490E735F5A}"/>
              </a:ext>
            </a:extLst>
          </p:cNvPr>
          <p:cNvSpPr>
            <a:spLocks xmlns:a="http://schemas.openxmlformats.org/drawingml/2006/main" noGrp="1"/>
          </p:cNvSpPr>
          <p:nvPr/>
        </p:nvSpPr>
        <p:spPr>
          <a:xfrm xmlns:a="http://schemas.openxmlformats.org/drawingml/2006/main">
            <a:off x="8572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ranked candidates and signal breakdown</a:t>
            </a:r>
          </a:p>
        </p:txBody>
      </p:sp>
      <p:sp>
        <p:nvSpPr>
          <p:cNvPr id="29" name="">
            <a:extLst xmlns:a="http://schemas.openxmlformats.org/drawingml/2006/main">
              <a:ext uri="{FF2B5EF4-FFF2-40B4-BE49-F238E27FC236}">
                <a16:creationId xmlns:a16="http://schemas.microsoft.com/office/drawing/2014/main" id="{25B77863-25F8-4E58-A211-F16B41F01044}"/>
              </a:ext>
            </a:extLst>
          </p:cNvPr>
          <p:cNvSpPr>
            <a:spLocks xmlns:a="http://schemas.openxmlformats.org/drawingml/2006/main" noGrp="1"/>
          </p:cNvSpPr>
          <p:nvPr/>
        </p:nvSpPr>
        <p:spPr>
          <a:xfrm xmlns:a="http://schemas.openxmlformats.org/drawingml/2006/main">
            <a:off x="432435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30" name="">
            <a:extLst xmlns:a="http://schemas.openxmlformats.org/drawingml/2006/main">
              <a:ext uri="{FF2B5EF4-FFF2-40B4-BE49-F238E27FC236}">
                <a16:creationId xmlns:a16="http://schemas.microsoft.com/office/drawing/2014/main" id="{659E8C27-6C24-463E-94B5-A46EA5DAE891}"/>
              </a:ext>
            </a:extLst>
          </p:cNvPr>
          <p:cNvSpPr>
            <a:spLocks xmlns:a="http://schemas.openxmlformats.org/drawingml/2006/main" noGrp="1"/>
          </p:cNvSpPr>
          <p:nvPr/>
        </p:nvSpPr>
        <p:spPr>
          <a:xfrm xmlns:a="http://schemas.openxmlformats.org/drawingml/2006/main">
            <a:off x="449580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sbom.cdx.json</a:t>
            </a:r>
          </a:p>
        </p:txBody>
      </p:sp>
      <p:sp>
        <p:nvSpPr>
          <p:cNvPr id="31" name="">
            <a:extLst xmlns:a="http://schemas.openxmlformats.org/drawingml/2006/main">
              <a:ext uri="{FF2B5EF4-FFF2-40B4-BE49-F238E27FC236}">
                <a16:creationId xmlns:a16="http://schemas.microsoft.com/office/drawing/2014/main" id="{2AFF18A2-628E-4AA0-8862-073720611095}"/>
              </a:ext>
            </a:extLst>
          </p:cNvPr>
          <p:cNvSpPr>
            <a:spLocks xmlns:a="http://schemas.openxmlformats.org/drawingml/2006/main" noGrp="1"/>
          </p:cNvSpPr>
          <p:nvPr/>
        </p:nvSpPr>
        <p:spPr>
          <a:xfrm xmlns:a="http://schemas.openxmlformats.org/drawingml/2006/main">
            <a:off x="449580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standard component and evidence output</a:t>
            </a:r>
          </a:p>
        </p:txBody>
      </p:sp>
      <p:sp>
        <p:nvSpPr>
          <p:cNvPr id="32" name="">
            <a:extLst xmlns:a="http://schemas.openxmlformats.org/drawingml/2006/main">
              <a:ext uri="{FF2B5EF4-FFF2-40B4-BE49-F238E27FC236}">
                <a16:creationId xmlns:a16="http://schemas.microsoft.com/office/drawing/2014/main" id="{D5DF0D1F-0635-4ADA-82CE-C9EEDF7E7F77}"/>
              </a:ext>
            </a:extLst>
          </p:cNvPr>
          <p:cNvSpPr>
            <a:spLocks xmlns:a="http://schemas.openxmlformats.org/drawingml/2006/main" noGrp="1"/>
          </p:cNvSpPr>
          <p:nvPr/>
        </p:nvSpPr>
        <p:spPr>
          <a:xfrm xmlns:a="http://schemas.openxmlformats.org/drawingml/2006/main">
            <a:off x="79629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B5C64FA2-9F66-4FC2-84B1-65E526BAC4C8}"/>
              </a:ext>
            </a:extLst>
          </p:cNvPr>
          <p:cNvSpPr>
            <a:spLocks xmlns:a="http://schemas.openxmlformats.org/drawingml/2006/main" noGrp="1"/>
          </p:cNvSpPr>
          <p:nvPr/>
        </p:nvSpPr>
        <p:spPr>
          <a:xfrm xmlns:a="http://schemas.openxmlformats.org/drawingml/2006/main">
            <a:off x="81343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A65C55"/>
                </a:solidFill>
                <a:latin typeface="Cascadia Mono"/>
                <a:ea typeface="Cascadia Mono"/>
                <a:cs typeface="Cascadia Mono"/>
              </a:defRPr>
            </a:pPr>
            <a:r>
              <a:rPr sz="1200" b="1">
                <a:solidFill>
                  <a:srgbClr val="A65C55"/>
                </a:solidFill>
                <a:latin typeface="Cascadia Mono"/>
                <a:ea typeface="Cascadia Mono"/>
                <a:cs typeface="Cascadia Mono"/>
              </a:rPr>
              <a:t>osv-vulnerabilities.json</a:t>
            </a:r>
          </a:p>
        </p:txBody>
      </p:sp>
      <p:sp>
        <p:nvSpPr>
          <p:cNvPr id="34" name="">
            <a:extLst xmlns:a="http://schemas.openxmlformats.org/drawingml/2006/main">
              <a:ext uri="{FF2B5EF4-FFF2-40B4-BE49-F238E27FC236}">
                <a16:creationId xmlns:a16="http://schemas.microsoft.com/office/drawing/2014/main" id="{CAB6FED4-EA3E-45D7-A859-5CF61F42F76C}"/>
              </a:ext>
            </a:extLst>
          </p:cNvPr>
          <p:cNvSpPr>
            <a:spLocks xmlns:a="http://schemas.openxmlformats.org/drawingml/2006/main" noGrp="1"/>
          </p:cNvSpPr>
          <p:nvPr/>
        </p:nvSpPr>
        <p:spPr>
          <a:xfrm xmlns:a="http://schemas.openxmlformats.org/drawingml/2006/main">
            <a:off x="81343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normalized advisory evidence</a:t>
            </a:r>
          </a:p>
        </p:txBody>
      </p:sp>
      <p:sp>
        <p:nvSpPr>
          <p:cNvPr id="35" name="">
            <a:extLst xmlns:a="http://schemas.openxmlformats.org/drawingml/2006/main">
              <a:ext uri="{FF2B5EF4-FFF2-40B4-BE49-F238E27FC236}">
                <a16:creationId xmlns:a16="http://schemas.microsoft.com/office/drawing/2014/main" id="{9E38241A-9454-46CC-B46A-62A53EA25453}"/>
              </a:ext>
            </a:extLst>
          </p:cNvPr>
          <p:cNvSpPr>
            <a:spLocks xmlns:a="http://schemas.openxmlformats.org/drawingml/2006/main" noGrp="1"/>
          </p:cNvSpPr>
          <p:nvPr/>
        </p:nvSpPr>
        <p:spPr>
          <a:xfrm xmlns:a="http://schemas.openxmlformats.org/drawingml/2006/main">
            <a:off x="6858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6" name="">
            <a:extLst xmlns:a="http://schemas.openxmlformats.org/drawingml/2006/main">
              <a:ext uri="{FF2B5EF4-FFF2-40B4-BE49-F238E27FC236}">
                <a16:creationId xmlns:a16="http://schemas.microsoft.com/office/drawing/2014/main" id="{2AF02A14-660A-45EA-BBA9-AB97E559E6FC}"/>
              </a:ext>
            </a:extLst>
          </p:cNvPr>
          <p:cNvSpPr>
            <a:spLocks xmlns:a="http://schemas.openxmlformats.org/drawingml/2006/main" noGrp="1"/>
          </p:cNvSpPr>
          <p:nvPr/>
        </p:nvSpPr>
        <p:spPr>
          <a:xfrm xmlns:a="http://schemas.openxmlformats.org/drawingml/2006/main">
            <a:off x="8572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55F73"/>
                </a:solidFill>
                <a:latin typeface="Cascadia Mono"/>
                <a:ea typeface="Cascadia Mono"/>
                <a:cs typeface="Cascadia Mono"/>
              </a:defRPr>
            </a:pPr>
            <a:r>
              <a:rPr sz="1200" b="1">
                <a:solidFill>
                  <a:srgbClr val="655F73"/>
                </a:solidFill>
                <a:latin typeface="Cascadia Mono"/>
                <a:ea typeface="Cascadia Mono"/>
                <a:cs typeface="Cascadia Mono"/>
              </a:rPr>
              <a:t>report.json</a:t>
            </a:r>
          </a:p>
        </p:txBody>
      </p:sp>
      <p:sp>
        <p:nvSpPr>
          <p:cNvPr id="37" name="">
            <a:extLst xmlns:a="http://schemas.openxmlformats.org/drawingml/2006/main">
              <a:ext uri="{FF2B5EF4-FFF2-40B4-BE49-F238E27FC236}">
                <a16:creationId xmlns:a16="http://schemas.microsoft.com/office/drawing/2014/main" id="{B05669D4-E0FC-4A4F-A0E7-6F357E96302B}"/>
              </a:ext>
            </a:extLst>
          </p:cNvPr>
          <p:cNvSpPr>
            <a:spLocks xmlns:a="http://schemas.openxmlformats.org/drawingml/2006/main" noGrp="1"/>
          </p:cNvSpPr>
          <p:nvPr/>
        </p:nvSpPr>
        <p:spPr>
          <a:xfrm xmlns:a="http://schemas.openxmlformats.org/drawingml/2006/main">
            <a:off x="8572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complete machine-readable package</a:t>
            </a:r>
          </a:p>
        </p:txBody>
      </p:sp>
      <p:sp>
        <p:nvSpPr>
          <p:cNvPr id="38" name="">
            <a:extLst xmlns:a="http://schemas.openxmlformats.org/drawingml/2006/main">
              <a:ext uri="{FF2B5EF4-FFF2-40B4-BE49-F238E27FC236}">
                <a16:creationId xmlns:a16="http://schemas.microsoft.com/office/drawing/2014/main" id="{328174A2-A4C4-4E84-83F9-F0AB930E91BD}"/>
              </a:ext>
            </a:extLst>
          </p:cNvPr>
          <p:cNvSpPr>
            <a:spLocks xmlns:a="http://schemas.openxmlformats.org/drawingml/2006/main" noGrp="1"/>
          </p:cNvSpPr>
          <p:nvPr/>
        </p:nvSpPr>
        <p:spPr>
          <a:xfrm xmlns:a="http://schemas.openxmlformats.org/drawingml/2006/main">
            <a:off x="432435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60EA78D2-8B49-4F07-9ADD-99BF6F319C07}"/>
              </a:ext>
            </a:extLst>
          </p:cNvPr>
          <p:cNvSpPr>
            <a:spLocks xmlns:a="http://schemas.openxmlformats.org/drawingml/2006/main" noGrp="1"/>
          </p:cNvSpPr>
          <p:nvPr/>
        </p:nvSpPr>
        <p:spPr>
          <a:xfrm xmlns:a="http://schemas.openxmlformats.org/drawingml/2006/main">
            <a:off x="449580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8D754D"/>
                </a:solidFill>
                <a:latin typeface="Cascadia Mono"/>
                <a:ea typeface="Cascadia Mono"/>
                <a:cs typeface="Cascadia Mono"/>
              </a:defRPr>
            </a:pPr>
            <a:r>
              <a:rPr sz="1200" b="1">
                <a:solidFill>
                  <a:srgbClr val="8D754D"/>
                </a:solidFill>
                <a:latin typeface="Cascadia Mono"/>
                <a:ea typeface="Cascadia Mono"/>
                <a:cs typeface="Cascadia Mono"/>
              </a:rPr>
              <a:t>report.md</a:t>
            </a:r>
          </a:p>
        </p:txBody>
      </p:sp>
      <p:sp>
        <p:nvSpPr>
          <p:cNvPr id="40" name="">
            <a:extLst xmlns:a="http://schemas.openxmlformats.org/drawingml/2006/main">
              <a:ext uri="{FF2B5EF4-FFF2-40B4-BE49-F238E27FC236}">
                <a16:creationId xmlns:a16="http://schemas.microsoft.com/office/drawing/2014/main" id="{5C1E294E-CA7C-445F-96D6-3B1E1AB99789}"/>
              </a:ext>
            </a:extLst>
          </p:cNvPr>
          <p:cNvSpPr>
            <a:spLocks xmlns:a="http://schemas.openxmlformats.org/drawingml/2006/main" noGrp="1"/>
          </p:cNvSpPr>
          <p:nvPr/>
        </p:nvSpPr>
        <p:spPr>
          <a:xfrm xmlns:a="http://schemas.openxmlformats.org/drawingml/2006/main">
            <a:off x="449580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thesis and review friendly</a:t>
            </a:r>
          </a:p>
        </p:txBody>
      </p:sp>
      <p:sp>
        <p:nvSpPr>
          <p:cNvPr id="41" name="">
            <a:extLst xmlns:a="http://schemas.openxmlformats.org/drawingml/2006/main">
              <a:ext uri="{FF2B5EF4-FFF2-40B4-BE49-F238E27FC236}">
                <a16:creationId xmlns:a16="http://schemas.microsoft.com/office/drawing/2014/main" id="{40DBBBA5-620D-4419-B312-6F27BB9C831E}"/>
              </a:ext>
            </a:extLst>
          </p:cNvPr>
          <p:cNvSpPr>
            <a:spLocks xmlns:a="http://schemas.openxmlformats.org/drawingml/2006/main" noGrp="1"/>
          </p:cNvSpPr>
          <p:nvPr/>
        </p:nvSpPr>
        <p:spPr>
          <a:xfrm xmlns:a="http://schemas.openxmlformats.org/drawingml/2006/main">
            <a:off x="79629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42" name="">
            <a:extLst xmlns:a="http://schemas.openxmlformats.org/drawingml/2006/main">
              <a:ext uri="{FF2B5EF4-FFF2-40B4-BE49-F238E27FC236}">
                <a16:creationId xmlns:a16="http://schemas.microsoft.com/office/drawing/2014/main" id="{8F1FC45D-AAD8-43A3-91C2-D567866442F1}"/>
              </a:ext>
            </a:extLst>
          </p:cNvPr>
          <p:cNvSpPr>
            <a:spLocks xmlns:a="http://schemas.openxmlformats.org/drawingml/2006/main" noGrp="1"/>
          </p:cNvSpPr>
          <p:nvPr/>
        </p:nvSpPr>
        <p:spPr>
          <a:xfrm xmlns:a="http://schemas.openxmlformats.org/drawingml/2006/main">
            <a:off x="81343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F7C61"/>
                </a:solidFill>
                <a:latin typeface="Cascadia Mono"/>
                <a:ea typeface="Cascadia Mono"/>
                <a:cs typeface="Cascadia Mono"/>
              </a:defRPr>
            </a:pPr>
            <a:r>
              <a:rPr sz="1200" b="1">
                <a:solidFill>
                  <a:srgbClr val="6F7C61"/>
                </a:solidFill>
                <a:latin typeface="Cascadia Mono"/>
                <a:ea typeface="Cascadia Mono"/>
                <a:cs typeface="Cascadia Mono"/>
              </a:rPr>
              <a:t>report.html</a:t>
            </a:r>
          </a:p>
        </p:txBody>
      </p:sp>
      <p:sp>
        <p:nvSpPr>
          <p:cNvPr id="43" name="">
            <a:extLst xmlns:a="http://schemas.openxmlformats.org/drawingml/2006/main">
              <a:ext uri="{FF2B5EF4-FFF2-40B4-BE49-F238E27FC236}">
                <a16:creationId xmlns:a16="http://schemas.microsoft.com/office/drawing/2014/main" id="{0E2547F5-4A8D-4632-B954-B283F7769C48}"/>
              </a:ext>
            </a:extLst>
          </p:cNvPr>
          <p:cNvSpPr>
            <a:spLocks xmlns:a="http://schemas.openxmlformats.org/drawingml/2006/main" noGrp="1"/>
          </p:cNvSpPr>
          <p:nvPr/>
        </p:nvSpPr>
        <p:spPr>
          <a:xfrm xmlns:a="http://schemas.openxmlformats.org/drawingml/2006/main">
            <a:off x="81343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demo and analyst friendly</a:t>
            </a:r>
          </a:p>
        </p:txBody>
      </p:sp>
      <p:sp>
        <p:nvSpPr>
          <p:cNvPr id="44" name="">
            <a:extLst xmlns:a="http://schemas.openxmlformats.org/drawingml/2006/main">
              <a:ext uri="{FF2B5EF4-FFF2-40B4-BE49-F238E27FC236}">
                <a16:creationId xmlns:a16="http://schemas.microsoft.com/office/drawing/2014/main" id="{EF524141-14BF-47BA-8AAF-5FBC3001BF73}"/>
              </a:ext>
            </a:extLst>
          </p:cNvPr>
          <p:cNvSpPr>
            <a:spLocks xmlns:a="http://schemas.openxmlformats.org/drawingml/2006/main" noGrp="1"/>
          </p:cNvSpPr>
          <p:nvPr/>
        </p:nvSpPr>
        <p:spPr>
          <a:xfrm xmlns:a="http://schemas.openxmlformats.org/drawingml/2006/main">
            <a:off x="685800" y="5105400"/>
            <a:ext cx="10820400" cy="59055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45" name="">
            <a:extLst xmlns:a="http://schemas.openxmlformats.org/drawingml/2006/main">
              <a:ext uri="{FF2B5EF4-FFF2-40B4-BE49-F238E27FC236}">
                <a16:creationId xmlns:a16="http://schemas.microsoft.com/office/drawing/2014/main" id="{DEEBF8F2-4651-466F-885F-9A04ED4808D0}"/>
              </a:ext>
            </a:extLst>
          </p:cNvPr>
          <p:cNvSpPr>
            <a:spLocks xmlns:a="http://schemas.openxmlformats.org/drawingml/2006/main" noGrp="1"/>
          </p:cNvSpPr>
          <p:nvPr/>
        </p:nvSpPr>
        <p:spPr>
          <a:xfrm xmlns:a="http://schemas.openxmlformats.org/drawingml/2006/main">
            <a:off x="876300" y="5276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WHY</a:t>
            </a:r>
          </a:p>
        </p:txBody>
      </p:sp>
      <p:sp>
        <p:nvSpPr>
          <p:cNvPr id="46" name="">
            <a:extLst xmlns:a="http://schemas.openxmlformats.org/drawingml/2006/main">
              <a:ext uri="{FF2B5EF4-FFF2-40B4-BE49-F238E27FC236}">
                <a16:creationId xmlns:a16="http://schemas.microsoft.com/office/drawing/2014/main" id="{E10F3FC2-15CD-4E63-A9E4-BDD6180AD611}"/>
              </a:ext>
            </a:extLst>
          </p:cNvPr>
          <p:cNvSpPr>
            <a:spLocks xmlns:a="http://schemas.openxmlformats.org/drawingml/2006/main" noGrp="1"/>
          </p:cNvSpPr>
          <p:nvPr/>
        </p:nvSpPr>
        <p:spPr>
          <a:xfrm xmlns:a="http://schemas.openxmlformats.org/drawingml/2006/main">
            <a:off x="2343150" y="52292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report is where experimental evidence can be useful without silently changing selected versions, SBOM components, or CVE labels.</a:t>
            </a:r>
          </a:p>
        </p:txBody>
      </p:sp>
      <p:sp>
        <p:nvSpPr>
          <p:cNvPr id="47" name="">
            <a:extLst xmlns:a="http://schemas.openxmlformats.org/drawingml/2006/main">
              <a:ext uri="{FF2B5EF4-FFF2-40B4-BE49-F238E27FC236}">
                <a16:creationId xmlns:a16="http://schemas.microsoft.com/office/drawing/2014/main" id="{C7CAB2F0-2B85-40B1-800C-9BFD5830A3B4}"/>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CC9589B-CBAD-46FA-A517-97F1697D4070}"/>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src/apk_sbom/report.py  -&gt;  generate_final_report(), build_json_report(), build_markdown_report(), build_html_report()</a:t>
            </a:r>
          </a:p>
        </p:txBody>
      </p:sp>
      <p:sp>
        <p:nvSpPr>
          <p:cNvPr id="49" name="">
            <a:extLst xmlns:a="http://schemas.openxmlformats.org/drawingml/2006/main">
              <a:ext uri="{FF2B5EF4-FFF2-40B4-BE49-F238E27FC236}">
                <a16:creationId xmlns:a16="http://schemas.microsoft.com/office/drawing/2014/main" id="{1D93EAD0-EDFF-4691-B795-9D06EF4FB4E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41298064"/>
      </p:ext>
    </p:extLst>
  </p:cSld>
</p:sld>
</file>

<file path=ppt/slides/slide1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D1C296-5FAB-4DBA-948E-5C17B6CE5C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A30A5C-4221-4C82-B1ED-631E95F14D3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FE8791C-F7D2-4EFE-9B7A-C80E860155C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DATASET DESIGN</a:t>
            </a:r>
          </a:p>
        </p:txBody>
      </p:sp>
      <p:sp>
        <p:nvSpPr>
          <p:cNvPr id="4" name="">
            <a:extLst xmlns:a="http://schemas.openxmlformats.org/drawingml/2006/main">
              <a:ext uri="{FF2B5EF4-FFF2-40B4-BE49-F238E27FC236}">
                <a16:creationId xmlns:a16="http://schemas.microsoft.com/office/drawing/2014/main" id="{4CD9A661-8645-4733-B8A4-902C939BCD7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 layered dataset is necessary because different APKs support different claims</a:t>
            </a:r>
          </a:p>
        </p:txBody>
      </p:sp>
      <p:sp>
        <p:nvSpPr>
          <p:cNvPr id="5" name="">
            <a:extLst xmlns:a="http://schemas.openxmlformats.org/drawingml/2006/main">
              <a:ext uri="{FF2B5EF4-FFF2-40B4-BE49-F238E27FC236}">
                <a16:creationId xmlns:a16="http://schemas.microsoft.com/office/drawing/2014/main" id="{42078B4C-F8A5-4D35-8DF4-051CE94866E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351A1110-6DEF-428B-B8DD-0AA9875195FA}"/>
              </a:ext>
            </a:extLst>
          </p:cNvPr>
          <p:cNvSpPr>
            <a:spLocks xmlns:a="http://schemas.openxmlformats.org/drawingml/2006/main" noGrp="1"/>
          </p:cNvSpPr>
          <p:nvPr/>
        </p:nvSpPr>
        <p:spPr>
          <a:xfrm xmlns:a="http://schemas.openxmlformats.org/drawingml/2006/main">
            <a:off x="952500" y="1524000"/>
            <a:ext cx="102870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F7C61"/>
            </a:solidFill>
            <a:prstDash val="solid"/>
          </a:ln>
        </p:spPr>
      </p:sp>
      <p:sp>
        <p:nvSpPr>
          <p:cNvPr id="7" name="">
            <a:extLst xmlns:a="http://schemas.openxmlformats.org/drawingml/2006/main">
              <a:ext uri="{FF2B5EF4-FFF2-40B4-BE49-F238E27FC236}">
                <a16:creationId xmlns:a16="http://schemas.microsoft.com/office/drawing/2014/main" id="{81FF26E3-0838-413A-AEC7-74B5ABCF94AE}"/>
              </a:ext>
            </a:extLst>
          </p:cNvPr>
          <p:cNvSpPr>
            <a:spLocks xmlns:a="http://schemas.openxmlformats.org/drawingml/2006/main" noGrp="1"/>
          </p:cNvSpPr>
          <p:nvPr/>
        </p:nvSpPr>
        <p:spPr>
          <a:xfrm xmlns:a="http://schemas.openxmlformats.org/drawingml/2006/main">
            <a:off x="1181100" y="16764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L1  CONTROLLED</a:t>
            </a:r>
          </a:p>
        </p:txBody>
      </p:sp>
      <p:sp>
        <p:nvSpPr>
          <p:cNvPr id="8" name="">
            <a:extLst xmlns:a="http://schemas.openxmlformats.org/drawingml/2006/main">
              <a:ext uri="{FF2B5EF4-FFF2-40B4-BE49-F238E27FC236}">
                <a16:creationId xmlns:a16="http://schemas.microsoft.com/office/drawing/2014/main" id="{82E697EB-9D09-481F-AD19-394C64DF51AC}"/>
              </a:ext>
            </a:extLst>
          </p:cNvPr>
          <p:cNvSpPr>
            <a:spLocks xmlns:a="http://schemas.openxmlformats.org/drawingml/2006/main" noGrp="1"/>
          </p:cNvSpPr>
          <p:nvPr/>
        </p:nvSpPr>
        <p:spPr>
          <a:xfrm xmlns:a="http://schemas.openxmlformats.org/drawingml/2006/main">
            <a:off x="3981450" y="1657350"/>
            <a:ext cx="7029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Exact dependencies by construction  |  precision, recall, F1, version correctness</a:t>
            </a:r>
          </a:p>
        </p:txBody>
      </p:sp>
      <p:sp>
        <p:nvSpPr>
          <p:cNvPr id="9" name="">
            <a:extLst xmlns:a="http://schemas.openxmlformats.org/drawingml/2006/main">
              <a:ext uri="{FF2B5EF4-FFF2-40B4-BE49-F238E27FC236}">
                <a16:creationId xmlns:a16="http://schemas.microsoft.com/office/drawing/2014/main" id="{0B2D2C48-D355-41E0-B597-C6CB65CA0B82}"/>
              </a:ext>
            </a:extLst>
          </p:cNvPr>
          <p:cNvSpPr>
            <a:spLocks xmlns:a="http://schemas.openxmlformats.org/drawingml/2006/main" noGrp="1"/>
          </p:cNvSpPr>
          <p:nvPr/>
        </p:nvSpPr>
        <p:spPr>
          <a:xfrm xmlns:a="http://schemas.openxmlformats.org/drawingml/2006/main">
            <a:off x="1666875" y="2381250"/>
            <a:ext cx="88582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0" name="">
            <a:extLst xmlns:a="http://schemas.openxmlformats.org/drawingml/2006/main">
              <a:ext uri="{FF2B5EF4-FFF2-40B4-BE49-F238E27FC236}">
                <a16:creationId xmlns:a16="http://schemas.microsoft.com/office/drawing/2014/main" id="{809B2248-ED89-47C2-9C52-23C9FA5AC1B7}"/>
              </a:ext>
            </a:extLst>
          </p:cNvPr>
          <p:cNvSpPr>
            <a:spLocks xmlns:a="http://schemas.openxmlformats.org/drawingml/2006/main" noGrp="1"/>
          </p:cNvSpPr>
          <p:nvPr/>
        </p:nvSpPr>
        <p:spPr>
          <a:xfrm xmlns:a="http://schemas.openxmlformats.org/drawingml/2006/main">
            <a:off x="1895475" y="25336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L2  SOURCE-VALIDATED REAL</a:t>
            </a:r>
          </a:p>
        </p:txBody>
      </p:sp>
      <p:sp>
        <p:nvSpPr>
          <p:cNvPr id="11" name="">
            <a:extLst xmlns:a="http://schemas.openxmlformats.org/drawingml/2006/main">
              <a:ext uri="{FF2B5EF4-FFF2-40B4-BE49-F238E27FC236}">
                <a16:creationId xmlns:a16="http://schemas.microsoft.com/office/drawing/2014/main" id="{BB9949BB-6A81-40FB-B225-CE68FC7439AD}"/>
              </a:ext>
            </a:extLst>
          </p:cNvPr>
          <p:cNvSpPr>
            <a:spLocks xmlns:a="http://schemas.openxmlformats.org/drawingml/2006/main" noGrp="1"/>
          </p:cNvSpPr>
          <p:nvPr/>
        </p:nvSpPr>
        <p:spPr>
          <a:xfrm xmlns:a="http://schemas.openxmlformats.org/drawingml/2006/main">
            <a:off x="4695825" y="25146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APK + source tag + resolved dependency tree  |  emitted-version confirmation</a:t>
            </a:r>
          </a:p>
        </p:txBody>
      </p:sp>
      <p:sp>
        <p:nvSpPr>
          <p:cNvPr id="12" name="">
            <a:extLst xmlns:a="http://schemas.openxmlformats.org/drawingml/2006/main">
              <a:ext uri="{FF2B5EF4-FFF2-40B4-BE49-F238E27FC236}">
                <a16:creationId xmlns:a16="http://schemas.microsoft.com/office/drawing/2014/main" id="{87F3E76C-3682-43AF-B504-341350873DF8}"/>
              </a:ext>
            </a:extLst>
          </p:cNvPr>
          <p:cNvSpPr>
            <a:spLocks xmlns:a="http://schemas.openxmlformats.org/drawingml/2006/main" noGrp="1"/>
          </p:cNvSpPr>
          <p:nvPr/>
        </p:nvSpPr>
        <p:spPr>
          <a:xfrm xmlns:a="http://schemas.openxmlformats.org/drawingml/2006/main">
            <a:off x="2381250" y="3238500"/>
            <a:ext cx="74295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365F7D"/>
            </a:solidFill>
            <a:prstDash val="solid"/>
          </a:ln>
        </p:spPr>
      </p:sp>
      <p:sp>
        <p:nvSpPr>
          <p:cNvPr id="13" name="">
            <a:extLst xmlns:a="http://schemas.openxmlformats.org/drawingml/2006/main">
              <a:ext uri="{FF2B5EF4-FFF2-40B4-BE49-F238E27FC236}">
                <a16:creationId xmlns:a16="http://schemas.microsoft.com/office/drawing/2014/main" id="{F137846F-5AD3-4DCB-B653-ECB1EDFA7DC9}"/>
              </a:ext>
            </a:extLst>
          </p:cNvPr>
          <p:cNvSpPr>
            <a:spLocks xmlns:a="http://schemas.openxmlformats.org/drawingml/2006/main" noGrp="1"/>
          </p:cNvSpPr>
          <p:nvPr/>
        </p:nvSpPr>
        <p:spPr>
          <a:xfrm xmlns:a="http://schemas.openxmlformats.org/drawingml/2006/main">
            <a:off x="2609850" y="3390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L3 / L4  SOURCE-LINKED OR SMOKE</a:t>
            </a:r>
          </a:p>
        </p:txBody>
      </p:sp>
      <p:sp>
        <p:nvSpPr>
          <p:cNvPr id="14" name="">
            <a:extLst xmlns:a="http://schemas.openxmlformats.org/drawingml/2006/main">
              <a:ext uri="{FF2B5EF4-FFF2-40B4-BE49-F238E27FC236}">
                <a16:creationId xmlns:a16="http://schemas.microsoft.com/office/drawing/2014/main" id="{695FBC34-5EF0-4EEA-8DC6-DB3F832A78EC}"/>
              </a:ext>
            </a:extLst>
          </p:cNvPr>
          <p:cNvSpPr>
            <a:spLocks xmlns:a="http://schemas.openxmlformats.org/drawingml/2006/main" noGrp="1"/>
          </p:cNvSpPr>
          <p:nvPr/>
        </p:nvSpPr>
        <p:spPr>
          <a:xfrm xmlns:a="http://schemas.openxmlformats.org/drawingml/2006/main">
            <a:off x="5410200" y="3371850"/>
            <a:ext cx="417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Qualitative robustness, runtime, parse success, report coverage</a:t>
            </a:r>
          </a:p>
        </p:txBody>
      </p:sp>
      <p:sp>
        <p:nvSpPr>
          <p:cNvPr id="15" name="">
            <a:extLst xmlns:a="http://schemas.openxmlformats.org/drawingml/2006/main">
              <a:ext uri="{FF2B5EF4-FFF2-40B4-BE49-F238E27FC236}">
                <a16:creationId xmlns:a16="http://schemas.microsoft.com/office/drawing/2014/main" id="{3CBC683A-83DF-44A7-A987-64E71372876A}"/>
              </a:ext>
            </a:extLst>
          </p:cNvPr>
          <p:cNvSpPr>
            <a:spLocks xmlns:a="http://schemas.openxmlformats.org/drawingml/2006/main" noGrp="1"/>
          </p:cNvSpPr>
          <p:nvPr/>
        </p:nvSpPr>
        <p:spPr>
          <a:xfrm xmlns:a="http://schemas.openxmlformats.org/drawingml/2006/main">
            <a:off x="3095625" y="4095750"/>
            <a:ext cx="60007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6" name="">
            <a:extLst xmlns:a="http://schemas.openxmlformats.org/drawingml/2006/main">
              <a:ext uri="{FF2B5EF4-FFF2-40B4-BE49-F238E27FC236}">
                <a16:creationId xmlns:a16="http://schemas.microsoft.com/office/drawing/2014/main" id="{8053CC01-9DAD-4F81-8FEB-D7B822756608}"/>
              </a:ext>
            </a:extLst>
          </p:cNvPr>
          <p:cNvSpPr>
            <a:spLocks xmlns:a="http://schemas.openxmlformats.org/drawingml/2006/main" noGrp="1"/>
          </p:cNvSpPr>
          <p:nvPr/>
        </p:nvSpPr>
        <p:spPr>
          <a:xfrm xmlns:a="http://schemas.openxmlformats.org/drawingml/2006/main">
            <a:off x="3324225" y="4248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L5  LIMITATION</a:t>
            </a:r>
          </a:p>
        </p:txBody>
      </p:sp>
      <p:sp>
        <p:nvSpPr>
          <p:cNvPr id="17" name="">
            <a:extLst xmlns:a="http://schemas.openxmlformats.org/drawingml/2006/main">
              <a:ext uri="{FF2B5EF4-FFF2-40B4-BE49-F238E27FC236}">
                <a16:creationId xmlns:a16="http://schemas.microsoft.com/office/drawing/2014/main" id="{E23D5F20-90D7-4CA9-8087-0E44B1E0A228}"/>
              </a:ext>
            </a:extLst>
          </p:cNvPr>
          <p:cNvSpPr>
            <a:spLocks xmlns:a="http://schemas.openxmlformats.org/drawingml/2006/main" noGrp="1"/>
          </p:cNvSpPr>
          <p:nvPr/>
        </p:nvSpPr>
        <p:spPr>
          <a:xfrm xmlns:a="http://schemas.openxmlformats.org/drawingml/2006/main">
            <a:off x="6124575" y="4229100"/>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Native, hidden DEX, protected or framework boundaries</a:t>
            </a:r>
          </a:p>
        </p:txBody>
      </p:sp>
      <p:sp>
        <p:nvSpPr>
          <p:cNvPr id="18" name="">
            <a:extLst xmlns:a="http://schemas.openxmlformats.org/drawingml/2006/main">
              <a:ext uri="{FF2B5EF4-FFF2-40B4-BE49-F238E27FC236}">
                <a16:creationId xmlns:a16="http://schemas.microsoft.com/office/drawing/2014/main" id="{8003573F-B5C9-4219-AC46-D4F6481224B8}"/>
              </a:ext>
            </a:extLst>
          </p:cNvPr>
          <p:cNvSpPr>
            <a:spLocks xmlns:a="http://schemas.openxmlformats.org/drawingml/2006/main" noGrp="1"/>
          </p:cNvSpPr>
          <p:nvPr/>
        </p:nvSpPr>
        <p:spPr>
          <a:xfrm xmlns:a="http://schemas.openxmlformats.org/drawingml/2006/main">
            <a:off x="685800" y="514350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DCF97201-0145-49CF-BDE6-AB5EDB09618A}"/>
              </a:ext>
            </a:extLst>
          </p:cNvPr>
          <p:cNvSpPr>
            <a:spLocks xmlns:a="http://schemas.openxmlformats.org/drawingml/2006/main" noGrp="1"/>
          </p:cNvSpPr>
          <p:nvPr/>
        </p:nvSpPr>
        <p:spPr>
          <a:xfrm xmlns:a="http://schemas.openxmlformats.org/drawingml/2006/main">
            <a:off x="876300" y="5314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RULE</a:t>
            </a:r>
          </a:p>
        </p:txBody>
      </p:sp>
      <p:sp>
        <p:nvSpPr>
          <p:cNvPr id="20" name="">
            <a:extLst xmlns:a="http://schemas.openxmlformats.org/drawingml/2006/main">
              <a:ext uri="{FF2B5EF4-FFF2-40B4-BE49-F238E27FC236}">
                <a16:creationId xmlns:a16="http://schemas.microsoft.com/office/drawing/2014/main" id="{6F5CFFFD-071C-4350-B293-E340BE75C34F}"/>
              </a:ext>
            </a:extLst>
          </p:cNvPr>
          <p:cNvSpPr>
            <a:spLocks xmlns:a="http://schemas.openxmlformats.org/drawingml/2006/main" noGrp="1"/>
          </p:cNvSpPr>
          <p:nvPr/>
        </p:nvSpPr>
        <p:spPr>
          <a:xfrm xmlns:a="http://schemas.openxmlformats.org/drawingml/2006/main">
            <a:off x="2343150" y="5267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Never use a smoke or limitation APK to claim precision, recall, or exact-version accuracy.</a:t>
            </a:r>
          </a:p>
        </p:txBody>
      </p:sp>
      <p:sp>
        <p:nvSpPr>
          <p:cNvPr id="21" name="">
            <a:extLst xmlns:a="http://schemas.openxmlformats.org/drawingml/2006/main">
              <a:ext uri="{FF2B5EF4-FFF2-40B4-BE49-F238E27FC236}">
                <a16:creationId xmlns:a16="http://schemas.microsoft.com/office/drawing/2014/main" id="{B34DDA6A-A084-46C9-80A8-8190052082E3}"/>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D86EF5E-56C3-4929-99EC-7D74B1ACDAFD}"/>
              </a:ext>
            </a:extLst>
          </p:cNvPr>
          <p:cNvSpPr>
            <a:spLocks xmlns:a="http://schemas.openxmlformats.org/drawingml/2006/main" noGrp="1"/>
          </p:cNvSpPr>
          <p:nvPr/>
        </p:nvSpPr>
        <p:spPr>
          <a:xfrm xmlns:a="http://schemas.openxmlformats.org/drawingml/2006/main">
            <a:off x="819150" y="60674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Design source: docs/evaluation/DATASET_DESIGN.md</a:t>
            </a:r>
          </a:p>
        </p:txBody>
      </p:sp>
      <p:sp>
        <p:nvSpPr>
          <p:cNvPr id="23" name="">
            <a:extLst xmlns:a="http://schemas.openxmlformats.org/drawingml/2006/main">
              <a:ext uri="{FF2B5EF4-FFF2-40B4-BE49-F238E27FC236}">
                <a16:creationId xmlns:a16="http://schemas.microsoft.com/office/drawing/2014/main" id="{96857562-E2A6-41FB-A2D8-BC5F9A126B2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14772440"/>
      </p:ext>
    </p:extLst>
  </p:cSld>
</p:sld>
</file>

<file path=ppt/slides/slide1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ADE82C-64C6-42B8-BC60-DF6D12B6335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DATASET COLLECTION</a:t>
            </a:r>
          </a:p>
        </p:txBody>
      </p:sp>
      <p:sp>
        <p:nvSpPr>
          <p:cNvPr id="2" name="">
            <a:extLst xmlns:a="http://schemas.openxmlformats.org/drawingml/2006/main">
              <a:ext uri="{FF2B5EF4-FFF2-40B4-BE49-F238E27FC236}">
                <a16:creationId xmlns:a16="http://schemas.microsoft.com/office/drawing/2014/main" id="{178D1C7E-8028-49F4-BF13-58E9177E863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Every real APK proof bundle connects binary, source, dependency tree, and report</a:t>
            </a:r>
          </a:p>
        </p:txBody>
      </p:sp>
      <p:sp>
        <p:nvSpPr>
          <p:cNvPr id="3" name="">
            <a:extLst xmlns:a="http://schemas.openxmlformats.org/drawingml/2006/main">
              <a:ext uri="{FF2B5EF4-FFF2-40B4-BE49-F238E27FC236}">
                <a16:creationId xmlns:a16="http://schemas.microsoft.com/office/drawing/2014/main" id="{007E5A25-5543-465D-A393-98FE2AB313C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F2C9F15D-1EC7-4E51-9D60-FE2381B8BC02}"/>
              </a:ext>
            </a:extLst>
          </p:cNvPr>
          <p:cNvSpPr>
            <a:spLocks xmlns:a="http://schemas.openxmlformats.org/drawingml/2006/main" noGrp="1"/>
          </p:cNvSpPr>
          <p:nvPr/>
        </p:nvSpPr>
        <p:spPr>
          <a:xfrm xmlns:a="http://schemas.openxmlformats.org/drawingml/2006/main">
            <a:off x="1314450" y="1581150"/>
            <a:ext cx="514350" cy="514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903A997-66B2-4924-8683-362215FA6255}"/>
              </a:ext>
            </a:extLst>
          </p:cNvPr>
          <p:cNvSpPr>
            <a:spLocks xmlns:a="http://schemas.openxmlformats.org/drawingml/2006/main" noGrp="1"/>
          </p:cNvSpPr>
          <p:nvPr/>
        </p:nvSpPr>
        <p:spPr>
          <a:xfrm xmlns:a="http://schemas.openxmlformats.org/drawingml/2006/main">
            <a:off x="13144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ED04C055-A6EE-4F73-9E46-123825857AA7}"/>
              </a:ext>
            </a:extLst>
          </p:cNvPr>
          <p:cNvSpPr>
            <a:spLocks xmlns:a="http://schemas.openxmlformats.org/drawingml/2006/main" noGrp="1"/>
          </p:cNvSpPr>
          <p:nvPr/>
        </p:nvSpPr>
        <p:spPr>
          <a:xfrm xmlns:a="http://schemas.openxmlformats.org/drawingml/2006/main">
            <a:off x="5905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7" name="">
            <a:extLst xmlns:a="http://schemas.openxmlformats.org/drawingml/2006/main">
              <a:ext uri="{FF2B5EF4-FFF2-40B4-BE49-F238E27FC236}">
                <a16:creationId xmlns:a16="http://schemas.microsoft.com/office/drawing/2014/main" id="{EA095C79-0B6C-45AC-8A2E-45E975E81967}"/>
              </a:ext>
            </a:extLst>
          </p:cNvPr>
          <p:cNvSpPr>
            <a:spLocks xmlns:a="http://schemas.openxmlformats.org/drawingml/2006/main" noGrp="1"/>
          </p:cNvSpPr>
          <p:nvPr/>
        </p:nvSpPr>
        <p:spPr>
          <a:xfrm xmlns:a="http://schemas.openxmlformats.org/drawingml/2006/main">
            <a:off x="7620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65F7D"/>
                </a:solidFill>
                <a:latin typeface="Aptos"/>
                <a:ea typeface="Aptos"/>
                <a:cs typeface="Aptos"/>
              </a:defRPr>
            </a:pPr>
            <a:r>
              <a:rPr sz="1425" b="1">
                <a:solidFill>
                  <a:srgbClr val="365F7D"/>
                </a:solidFill>
                <a:latin typeface="Aptos"/>
                <a:ea typeface="Aptos"/>
                <a:cs typeface="Aptos"/>
              </a:rPr>
              <a:t>Acquire APK</a:t>
            </a:r>
          </a:p>
        </p:txBody>
      </p:sp>
      <p:sp>
        <p:nvSpPr>
          <p:cNvPr id="8" name="">
            <a:extLst xmlns:a="http://schemas.openxmlformats.org/drawingml/2006/main">
              <a:ext uri="{FF2B5EF4-FFF2-40B4-BE49-F238E27FC236}">
                <a16:creationId xmlns:a16="http://schemas.microsoft.com/office/drawing/2014/main" id="{BC1118B4-ABBB-4825-9CA5-EE6FF4A7E5DC}"/>
              </a:ext>
            </a:extLst>
          </p:cNvPr>
          <p:cNvSpPr>
            <a:spLocks xmlns:a="http://schemas.openxmlformats.org/drawingml/2006/main" noGrp="1"/>
          </p:cNvSpPr>
          <p:nvPr/>
        </p:nvSpPr>
        <p:spPr>
          <a:xfrm xmlns:a="http://schemas.openxmlformats.org/drawingml/2006/main">
            <a:off x="7620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F-Droid / GitHub release</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record SHA-256</a:t>
            </a:r>
          </a:p>
        </p:txBody>
      </p:sp>
      <p:sp>
        <p:nvSpPr>
          <p:cNvPr id="9" name="rule">
            <a:extLst xmlns:a="http://schemas.openxmlformats.org/drawingml/2006/main">
              <a:ext uri="{FF2B5EF4-FFF2-40B4-BE49-F238E27FC236}">
                <a16:creationId xmlns:a16="http://schemas.microsoft.com/office/drawing/2014/main" id="{22D782A4-E915-42EF-A667-894AB3802377}"/>
              </a:ext>
            </a:extLst>
          </p:cNvPr>
          <p:cNvSpPr>
            <a:spLocks xmlns:a="http://schemas.openxmlformats.org/drawingml/2006/main" noGrp="1"/>
          </p:cNvSpPr>
          <p:nvPr/>
        </p:nvSpPr>
        <p:spPr>
          <a:xfrm xmlns:a="http://schemas.openxmlformats.org/drawingml/2006/main">
            <a:off x="2552700" y="33623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8A1825-6DFD-4FE0-8761-19B123EE9CD2}"/>
              </a:ext>
            </a:extLst>
          </p:cNvPr>
          <p:cNvSpPr>
            <a:spLocks xmlns:a="http://schemas.openxmlformats.org/drawingml/2006/main" noGrp="1"/>
          </p:cNvSpPr>
          <p:nvPr/>
        </p:nvSpPr>
        <p:spPr>
          <a:xfrm xmlns:a="http://schemas.openxmlformats.org/drawingml/2006/main">
            <a:off x="2686050" y="32766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722519-C3B9-4E06-9D8B-CF12E54C7655}"/>
              </a:ext>
            </a:extLst>
          </p:cNvPr>
          <p:cNvSpPr>
            <a:spLocks xmlns:a="http://schemas.openxmlformats.org/drawingml/2006/main" noGrp="1"/>
          </p:cNvSpPr>
          <p:nvPr/>
        </p:nvSpPr>
        <p:spPr>
          <a:xfrm xmlns:a="http://schemas.openxmlformats.org/drawingml/2006/main">
            <a:off x="3638550" y="1581150"/>
            <a:ext cx="514350" cy="514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E582D6-B302-4E9A-B8A4-798A820E8154}"/>
              </a:ext>
            </a:extLst>
          </p:cNvPr>
          <p:cNvSpPr>
            <a:spLocks xmlns:a="http://schemas.openxmlformats.org/drawingml/2006/main" noGrp="1"/>
          </p:cNvSpPr>
          <p:nvPr/>
        </p:nvSpPr>
        <p:spPr>
          <a:xfrm xmlns:a="http://schemas.openxmlformats.org/drawingml/2006/main">
            <a:off x="36385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ACF262F8-3A09-45D1-AA78-E27B99296F3F}"/>
              </a:ext>
            </a:extLst>
          </p:cNvPr>
          <p:cNvSpPr>
            <a:spLocks xmlns:a="http://schemas.openxmlformats.org/drawingml/2006/main" noGrp="1"/>
          </p:cNvSpPr>
          <p:nvPr/>
        </p:nvSpPr>
        <p:spPr>
          <a:xfrm xmlns:a="http://schemas.openxmlformats.org/drawingml/2006/main">
            <a:off x="29146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9C9C5237-71A9-4937-9F9D-39FCBA31D329}"/>
              </a:ext>
            </a:extLst>
          </p:cNvPr>
          <p:cNvSpPr>
            <a:spLocks xmlns:a="http://schemas.openxmlformats.org/drawingml/2006/main" noGrp="1"/>
          </p:cNvSpPr>
          <p:nvPr/>
        </p:nvSpPr>
        <p:spPr>
          <a:xfrm xmlns:a="http://schemas.openxmlformats.org/drawingml/2006/main">
            <a:off x="30861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4F7D76"/>
                </a:solidFill>
                <a:latin typeface="Aptos"/>
                <a:ea typeface="Aptos"/>
                <a:cs typeface="Aptos"/>
              </a:defRPr>
            </a:pPr>
            <a:r>
              <a:rPr sz="1425" b="1">
                <a:solidFill>
                  <a:srgbClr val="4F7D76"/>
                </a:solidFill>
                <a:latin typeface="Aptos"/>
                <a:ea typeface="Aptos"/>
                <a:cs typeface="Aptos"/>
              </a:rPr>
              <a:t>Pin source</a:t>
            </a:r>
          </a:p>
        </p:txBody>
      </p:sp>
      <p:sp>
        <p:nvSpPr>
          <p:cNvPr id="15" name="">
            <a:extLst xmlns:a="http://schemas.openxmlformats.org/drawingml/2006/main">
              <a:ext uri="{FF2B5EF4-FFF2-40B4-BE49-F238E27FC236}">
                <a16:creationId xmlns:a16="http://schemas.microsoft.com/office/drawing/2014/main" id="{10485E5C-E33B-4BC3-B824-485E72EB592E}"/>
              </a:ext>
            </a:extLst>
          </p:cNvPr>
          <p:cNvSpPr>
            <a:spLocks xmlns:a="http://schemas.openxmlformats.org/drawingml/2006/main" noGrp="1"/>
          </p:cNvSpPr>
          <p:nvPr/>
        </p:nvSpPr>
        <p:spPr>
          <a:xfrm xmlns:a="http://schemas.openxmlformats.org/drawingml/2006/main">
            <a:off x="30861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matching tag or commit</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verify versionName/code</a:t>
            </a:r>
          </a:p>
        </p:txBody>
      </p:sp>
      <p:sp>
        <p:nvSpPr>
          <p:cNvPr id="16" name="rule">
            <a:extLst xmlns:a="http://schemas.openxmlformats.org/drawingml/2006/main">
              <a:ext uri="{FF2B5EF4-FFF2-40B4-BE49-F238E27FC236}">
                <a16:creationId xmlns:a16="http://schemas.microsoft.com/office/drawing/2014/main" id="{07353568-7E24-4F81-9620-AD0300F599AB}"/>
              </a:ext>
            </a:extLst>
          </p:cNvPr>
          <p:cNvSpPr>
            <a:spLocks xmlns:a="http://schemas.openxmlformats.org/drawingml/2006/main" noGrp="1"/>
          </p:cNvSpPr>
          <p:nvPr/>
        </p:nvSpPr>
        <p:spPr>
          <a:xfrm xmlns:a="http://schemas.openxmlformats.org/drawingml/2006/main">
            <a:off x="4876800" y="33623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17A2F90-6614-4D46-9FA4-4D8F299894FE}"/>
              </a:ext>
            </a:extLst>
          </p:cNvPr>
          <p:cNvSpPr>
            <a:spLocks xmlns:a="http://schemas.openxmlformats.org/drawingml/2006/main" noGrp="1"/>
          </p:cNvSpPr>
          <p:nvPr/>
        </p:nvSpPr>
        <p:spPr>
          <a:xfrm xmlns:a="http://schemas.openxmlformats.org/drawingml/2006/main">
            <a:off x="5010150" y="32766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296AAFC-5959-4E63-83AC-00062DF4F977}"/>
              </a:ext>
            </a:extLst>
          </p:cNvPr>
          <p:cNvSpPr>
            <a:spLocks xmlns:a="http://schemas.openxmlformats.org/drawingml/2006/main" noGrp="1"/>
          </p:cNvSpPr>
          <p:nvPr/>
        </p:nvSpPr>
        <p:spPr>
          <a:xfrm xmlns:a="http://schemas.openxmlformats.org/drawingml/2006/main">
            <a:off x="5962650" y="1581150"/>
            <a:ext cx="514350" cy="514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FD4F102-064C-4F4D-8263-9F0CFDF5E240}"/>
              </a:ext>
            </a:extLst>
          </p:cNvPr>
          <p:cNvSpPr>
            <a:spLocks xmlns:a="http://schemas.openxmlformats.org/drawingml/2006/main" noGrp="1"/>
          </p:cNvSpPr>
          <p:nvPr/>
        </p:nvSpPr>
        <p:spPr>
          <a:xfrm xmlns:a="http://schemas.openxmlformats.org/drawingml/2006/main">
            <a:off x="59626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C8912A63-2292-44FE-AF39-8933482775C5}"/>
              </a:ext>
            </a:extLst>
          </p:cNvPr>
          <p:cNvSpPr>
            <a:spLocks xmlns:a="http://schemas.openxmlformats.org/drawingml/2006/main" noGrp="1"/>
          </p:cNvSpPr>
          <p:nvPr/>
        </p:nvSpPr>
        <p:spPr>
          <a:xfrm xmlns:a="http://schemas.openxmlformats.org/drawingml/2006/main">
            <a:off x="52387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3A6E57FC-74EB-4CCE-A058-10694C86322C}"/>
              </a:ext>
            </a:extLst>
          </p:cNvPr>
          <p:cNvSpPr>
            <a:spLocks xmlns:a="http://schemas.openxmlformats.org/drawingml/2006/main" noGrp="1"/>
          </p:cNvSpPr>
          <p:nvPr/>
        </p:nvSpPr>
        <p:spPr>
          <a:xfrm xmlns:a="http://schemas.openxmlformats.org/drawingml/2006/main">
            <a:off x="54102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55F73"/>
                </a:solidFill>
                <a:latin typeface="Aptos"/>
                <a:ea typeface="Aptos"/>
                <a:cs typeface="Aptos"/>
              </a:defRPr>
            </a:pPr>
            <a:r>
              <a:rPr sz="1425" b="1">
                <a:solidFill>
                  <a:srgbClr val="655F73"/>
                </a:solidFill>
                <a:latin typeface="Aptos"/>
                <a:ea typeface="Aptos"/>
                <a:cs typeface="Aptos"/>
              </a:rPr>
              <a:t>Resolve tree</a:t>
            </a:r>
          </a:p>
        </p:txBody>
      </p:sp>
      <p:sp>
        <p:nvSpPr>
          <p:cNvPr id="22" name="">
            <a:extLst xmlns:a="http://schemas.openxmlformats.org/drawingml/2006/main">
              <a:ext uri="{FF2B5EF4-FFF2-40B4-BE49-F238E27FC236}">
                <a16:creationId xmlns:a16="http://schemas.microsoft.com/office/drawing/2014/main" id="{83A486AD-314F-4F0A-8148-A750E144AD76}"/>
              </a:ext>
            </a:extLst>
          </p:cNvPr>
          <p:cNvSpPr>
            <a:spLocks xmlns:a="http://schemas.openxmlformats.org/drawingml/2006/main" noGrp="1"/>
          </p:cNvSpPr>
          <p:nvPr/>
        </p:nvSpPr>
        <p:spPr>
          <a:xfrm xmlns:a="http://schemas.openxmlformats.org/drawingml/2006/main">
            <a:off x="54102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exact Gradle module +</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runtime configuration</a:t>
            </a:r>
          </a:p>
        </p:txBody>
      </p:sp>
      <p:sp>
        <p:nvSpPr>
          <p:cNvPr id="23" name="rule">
            <a:extLst xmlns:a="http://schemas.openxmlformats.org/drawingml/2006/main">
              <a:ext uri="{FF2B5EF4-FFF2-40B4-BE49-F238E27FC236}">
                <a16:creationId xmlns:a16="http://schemas.microsoft.com/office/drawing/2014/main" id="{250A621C-F3A2-4C36-9D96-FB332C964F2F}"/>
              </a:ext>
            </a:extLst>
          </p:cNvPr>
          <p:cNvSpPr>
            <a:spLocks xmlns:a="http://schemas.openxmlformats.org/drawingml/2006/main" noGrp="1"/>
          </p:cNvSpPr>
          <p:nvPr/>
        </p:nvSpPr>
        <p:spPr>
          <a:xfrm xmlns:a="http://schemas.openxmlformats.org/drawingml/2006/main">
            <a:off x="7200900" y="33623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6BE99D-FA79-45FF-9FE3-999E5F842550}"/>
              </a:ext>
            </a:extLst>
          </p:cNvPr>
          <p:cNvSpPr>
            <a:spLocks xmlns:a="http://schemas.openxmlformats.org/drawingml/2006/main" noGrp="1"/>
          </p:cNvSpPr>
          <p:nvPr/>
        </p:nvSpPr>
        <p:spPr>
          <a:xfrm xmlns:a="http://schemas.openxmlformats.org/drawingml/2006/main">
            <a:off x="7334250" y="32766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54FB46E-F9F9-4760-8231-7381C35E81EB}"/>
              </a:ext>
            </a:extLst>
          </p:cNvPr>
          <p:cNvSpPr>
            <a:spLocks xmlns:a="http://schemas.openxmlformats.org/drawingml/2006/main" noGrp="1"/>
          </p:cNvSpPr>
          <p:nvPr/>
        </p:nvSpPr>
        <p:spPr>
          <a:xfrm xmlns:a="http://schemas.openxmlformats.org/drawingml/2006/main">
            <a:off x="8286750" y="1581150"/>
            <a:ext cx="514350" cy="51435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B534B32-F923-4F58-881A-FAEEBA740BFE}"/>
              </a:ext>
            </a:extLst>
          </p:cNvPr>
          <p:cNvSpPr>
            <a:spLocks xmlns:a="http://schemas.openxmlformats.org/drawingml/2006/main" noGrp="1"/>
          </p:cNvSpPr>
          <p:nvPr/>
        </p:nvSpPr>
        <p:spPr>
          <a:xfrm xmlns:a="http://schemas.openxmlformats.org/drawingml/2006/main">
            <a:off x="82867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5664B76E-DFD5-4418-A42A-560CD7FB5EAD}"/>
              </a:ext>
            </a:extLst>
          </p:cNvPr>
          <p:cNvSpPr>
            <a:spLocks xmlns:a="http://schemas.openxmlformats.org/drawingml/2006/main" noGrp="1"/>
          </p:cNvSpPr>
          <p:nvPr/>
        </p:nvSpPr>
        <p:spPr>
          <a:xfrm xmlns:a="http://schemas.openxmlformats.org/drawingml/2006/main">
            <a:off x="75628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28" name="">
            <a:extLst xmlns:a="http://schemas.openxmlformats.org/drawingml/2006/main">
              <a:ext uri="{FF2B5EF4-FFF2-40B4-BE49-F238E27FC236}">
                <a16:creationId xmlns:a16="http://schemas.microsoft.com/office/drawing/2014/main" id="{1DD00AFF-C722-4D7D-ADBF-3B238D15B22A}"/>
              </a:ext>
            </a:extLst>
          </p:cNvPr>
          <p:cNvSpPr>
            <a:spLocks xmlns:a="http://schemas.openxmlformats.org/drawingml/2006/main" noGrp="1"/>
          </p:cNvSpPr>
          <p:nvPr/>
        </p:nvSpPr>
        <p:spPr>
          <a:xfrm xmlns:a="http://schemas.openxmlformats.org/drawingml/2006/main">
            <a:off x="77343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F7C61"/>
                </a:solidFill>
                <a:latin typeface="Aptos"/>
                <a:ea typeface="Aptos"/>
                <a:cs typeface="Aptos"/>
              </a:defRPr>
            </a:pPr>
            <a:r>
              <a:rPr sz="1425" b="1">
                <a:solidFill>
                  <a:srgbClr val="6F7C61"/>
                </a:solidFill>
                <a:latin typeface="Aptos"/>
                <a:ea typeface="Aptos"/>
                <a:cs typeface="Aptos"/>
              </a:rPr>
              <a:t>Run MVP</a:t>
            </a:r>
          </a:p>
        </p:txBody>
      </p:sp>
      <p:sp>
        <p:nvSpPr>
          <p:cNvPr id="29" name="">
            <a:extLst xmlns:a="http://schemas.openxmlformats.org/drawingml/2006/main">
              <a:ext uri="{FF2B5EF4-FFF2-40B4-BE49-F238E27FC236}">
                <a16:creationId xmlns:a16="http://schemas.microsoft.com/office/drawing/2014/main" id="{A02140F6-8372-4E27-8EEF-490534D6FD33}"/>
              </a:ext>
            </a:extLst>
          </p:cNvPr>
          <p:cNvSpPr>
            <a:spLocks xmlns:a="http://schemas.openxmlformats.org/drawingml/2006/main" noGrp="1"/>
          </p:cNvSpPr>
          <p:nvPr/>
        </p:nvSpPr>
        <p:spPr>
          <a:xfrm xmlns:a="http://schemas.openxmlformats.org/drawingml/2006/main">
            <a:off x="77343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report + CycloneDX +</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OSV artifacts</a:t>
            </a:r>
          </a:p>
        </p:txBody>
      </p:sp>
      <p:sp>
        <p:nvSpPr>
          <p:cNvPr id="30" name="rule">
            <a:extLst xmlns:a="http://schemas.openxmlformats.org/drawingml/2006/main">
              <a:ext uri="{FF2B5EF4-FFF2-40B4-BE49-F238E27FC236}">
                <a16:creationId xmlns:a16="http://schemas.microsoft.com/office/drawing/2014/main" id="{24BD9384-F3B2-4084-83E2-58DDFCD07823}"/>
              </a:ext>
            </a:extLst>
          </p:cNvPr>
          <p:cNvSpPr>
            <a:spLocks xmlns:a="http://schemas.openxmlformats.org/drawingml/2006/main" noGrp="1"/>
          </p:cNvSpPr>
          <p:nvPr/>
        </p:nvSpPr>
        <p:spPr>
          <a:xfrm xmlns:a="http://schemas.openxmlformats.org/drawingml/2006/main">
            <a:off x="9525000" y="3362325"/>
            <a:ext cx="20955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2F94043-DE68-41B1-8AC7-512FB851C629}"/>
              </a:ext>
            </a:extLst>
          </p:cNvPr>
          <p:cNvSpPr>
            <a:spLocks xmlns:a="http://schemas.openxmlformats.org/drawingml/2006/main" noGrp="1"/>
          </p:cNvSpPr>
          <p:nvPr/>
        </p:nvSpPr>
        <p:spPr>
          <a:xfrm xmlns:a="http://schemas.openxmlformats.org/drawingml/2006/main">
            <a:off x="9658350" y="32766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1BD7E8A-58E5-45F9-9CB4-5F6E33597BA7}"/>
              </a:ext>
            </a:extLst>
          </p:cNvPr>
          <p:cNvSpPr>
            <a:spLocks xmlns:a="http://schemas.openxmlformats.org/drawingml/2006/main" noGrp="1"/>
          </p:cNvSpPr>
          <p:nvPr/>
        </p:nvSpPr>
        <p:spPr>
          <a:xfrm xmlns:a="http://schemas.openxmlformats.org/drawingml/2006/main">
            <a:off x="10610850" y="1581150"/>
            <a:ext cx="514350" cy="514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902B7E-F145-4436-AFB7-AFDD6151962C}"/>
              </a:ext>
            </a:extLst>
          </p:cNvPr>
          <p:cNvSpPr>
            <a:spLocks xmlns:a="http://schemas.openxmlformats.org/drawingml/2006/main" noGrp="1"/>
          </p:cNvSpPr>
          <p:nvPr/>
        </p:nvSpPr>
        <p:spPr>
          <a:xfrm xmlns:a="http://schemas.openxmlformats.org/drawingml/2006/main">
            <a:off x="106108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B807E00E-8A4D-40E1-8EA2-3AEEBC5ED7DC}"/>
              </a:ext>
            </a:extLst>
          </p:cNvPr>
          <p:cNvSpPr>
            <a:spLocks xmlns:a="http://schemas.openxmlformats.org/drawingml/2006/main" noGrp="1"/>
          </p:cNvSpPr>
          <p:nvPr/>
        </p:nvSpPr>
        <p:spPr>
          <a:xfrm xmlns:a="http://schemas.openxmlformats.org/drawingml/2006/main">
            <a:off x="98869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5" name="">
            <a:extLst xmlns:a="http://schemas.openxmlformats.org/drawingml/2006/main">
              <a:ext uri="{FF2B5EF4-FFF2-40B4-BE49-F238E27FC236}">
                <a16:creationId xmlns:a16="http://schemas.microsoft.com/office/drawing/2014/main" id="{8DEF874D-37C6-4B30-BAC5-BFCEE6DFBD62}"/>
              </a:ext>
            </a:extLst>
          </p:cNvPr>
          <p:cNvSpPr>
            <a:spLocks xmlns:a="http://schemas.openxmlformats.org/drawingml/2006/main" noGrp="1"/>
          </p:cNvSpPr>
          <p:nvPr/>
        </p:nvSpPr>
        <p:spPr>
          <a:xfrm xmlns:a="http://schemas.openxmlformats.org/drawingml/2006/main">
            <a:off x="100584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8D754D"/>
                </a:solidFill>
                <a:latin typeface="Aptos"/>
                <a:ea typeface="Aptos"/>
                <a:cs typeface="Aptos"/>
              </a:defRPr>
            </a:pPr>
            <a:r>
              <a:rPr sz="1425" b="1">
                <a:solidFill>
                  <a:srgbClr val="8D754D"/>
                </a:solidFill>
                <a:latin typeface="Aptos"/>
                <a:ea typeface="Aptos"/>
                <a:cs typeface="Aptos"/>
              </a:rPr>
              <a:t>Validate</a:t>
            </a:r>
          </a:p>
        </p:txBody>
      </p:sp>
      <p:sp>
        <p:nvSpPr>
          <p:cNvPr id="36" name="">
            <a:extLst xmlns:a="http://schemas.openxmlformats.org/drawingml/2006/main">
              <a:ext uri="{FF2B5EF4-FFF2-40B4-BE49-F238E27FC236}">
                <a16:creationId xmlns:a16="http://schemas.microsoft.com/office/drawing/2014/main" id="{3D91F9A9-B4FC-462E-A857-ECEDDD476C46}"/>
              </a:ext>
            </a:extLst>
          </p:cNvPr>
          <p:cNvSpPr>
            <a:spLocks xmlns:a="http://schemas.openxmlformats.org/drawingml/2006/main" noGrp="1"/>
          </p:cNvSpPr>
          <p:nvPr/>
        </p:nvSpPr>
        <p:spPr>
          <a:xfrm xmlns:a="http://schemas.openxmlformats.org/drawingml/2006/main">
            <a:off x="100584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coordinate/version comparison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classify clean or partial</a:t>
            </a:r>
          </a:p>
        </p:txBody>
      </p:sp>
      <p:sp>
        <p:nvSpPr>
          <p:cNvPr id="37" name="">
            <a:extLst xmlns:a="http://schemas.openxmlformats.org/drawingml/2006/main">
              <a:ext uri="{FF2B5EF4-FFF2-40B4-BE49-F238E27FC236}">
                <a16:creationId xmlns:a16="http://schemas.microsoft.com/office/drawing/2014/main" id="{BF112707-0CF4-4AA6-BC29-3CB1CB297E19}"/>
              </a:ext>
            </a:extLst>
          </p:cNvPr>
          <p:cNvSpPr>
            <a:spLocks xmlns:a="http://schemas.openxmlformats.org/drawingml/2006/main" noGrp="1"/>
          </p:cNvSpPr>
          <p:nvPr/>
        </p:nvSpPr>
        <p:spPr>
          <a:xfrm xmlns:a="http://schemas.openxmlformats.org/drawingml/2006/main">
            <a:off x="685800" y="4762500"/>
            <a:ext cx="10820400" cy="590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716425F7-2E7D-47D8-A0BB-92B1C8AF6959}"/>
              </a:ext>
            </a:extLst>
          </p:cNvPr>
          <p:cNvSpPr>
            <a:spLocks xmlns:a="http://schemas.openxmlformats.org/drawingml/2006/main" noGrp="1"/>
          </p:cNvSpPr>
          <p:nvPr/>
        </p:nvSpPr>
        <p:spPr>
          <a:xfrm xmlns:a="http://schemas.openxmlformats.org/drawingml/2006/main">
            <a:off x="876300" y="4933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RESCUE LESSON</a:t>
            </a:r>
          </a:p>
        </p:txBody>
      </p:sp>
      <p:sp>
        <p:nvSpPr>
          <p:cNvPr id="39" name="">
            <a:extLst xmlns:a="http://schemas.openxmlformats.org/drawingml/2006/main">
              <a:ext uri="{FF2B5EF4-FFF2-40B4-BE49-F238E27FC236}">
                <a16:creationId xmlns:a16="http://schemas.microsoft.com/office/drawing/2014/main" id="{B4B23A45-E364-48AD-AF17-EC61EB7911A0}"/>
              </a:ext>
            </a:extLst>
          </p:cNvPr>
          <p:cNvSpPr>
            <a:spLocks xmlns:a="http://schemas.openxmlformats.org/drawingml/2006/main" noGrp="1"/>
          </p:cNvSpPr>
          <p:nvPr/>
        </p:nvSpPr>
        <p:spPr>
          <a:xfrm xmlns:a="http://schemas.openxmlformats.org/drawingml/2006/main">
            <a:off x="2343150" y="4886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Old Android projects often require validation-only copies, exact module/flavor probing, and legacy Gradle/JDK lanes.</a:t>
            </a:r>
          </a:p>
        </p:txBody>
      </p:sp>
      <p:sp>
        <p:nvSpPr>
          <p:cNvPr id="40" name="">
            <a:extLst xmlns:a="http://schemas.openxmlformats.org/drawingml/2006/main">
              <a:ext uri="{FF2B5EF4-FFF2-40B4-BE49-F238E27FC236}">
                <a16:creationId xmlns:a16="http://schemas.microsoft.com/office/drawing/2014/main" id="{9580B5CB-5433-4C4B-8ECA-BAE3E0C551E7}"/>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8BF0A10-E0E4-4EC6-999E-DEE36CD0DBC0}"/>
              </a:ext>
            </a:extLst>
          </p:cNvPr>
          <p:cNvSpPr>
            <a:spLocks xmlns:a="http://schemas.openxmlformats.org/drawingml/2006/main" noGrp="1"/>
          </p:cNvSpPr>
          <p:nvPr/>
        </p:nvSpPr>
        <p:spPr>
          <a:xfrm xmlns:a="http://schemas.openxmlformats.org/drawingml/2006/main">
            <a:off x="819150" y="57054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Workflow: scripts/advance_real_apk_batch_proofs.py  |  Rescue profiles: configs/real_apk_blocker_rescue_profiles.json</a:t>
            </a:r>
          </a:p>
        </p:txBody>
      </p:sp>
      <p:sp>
        <p:nvSpPr>
          <p:cNvPr id="42" name="">
            <a:extLst xmlns:a="http://schemas.openxmlformats.org/drawingml/2006/main">
              <a:ext uri="{FF2B5EF4-FFF2-40B4-BE49-F238E27FC236}">
                <a16:creationId xmlns:a16="http://schemas.microsoft.com/office/drawing/2014/main" id="{D8AC2EA1-67B9-4ED6-A475-6B80FA262C31}"/>
              </a:ext>
            </a:extLst>
          </p:cNvPr>
          <p:cNvSpPr>
            <a:spLocks xmlns:a="http://schemas.openxmlformats.org/drawingml/2006/main" noGrp="1"/>
          </p:cNvSpPr>
          <p:nvPr/>
        </p:nvSpPr>
        <p:spPr>
          <a:xfrm xmlns:a="http://schemas.openxmlformats.org/drawingml/2006/main">
            <a:off x="685800" y="60388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29D2C57-DC3A-48F7-A98E-11D59219F93B}"/>
              </a:ext>
            </a:extLst>
          </p:cNvPr>
          <p:cNvSpPr>
            <a:spLocks xmlns:a="http://schemas.openxmlformats.org/drawingml/2006/main" noGrp="1"/>
          </p:cNvSpPr>
          <p:nvPr/>
        </p:nvSpPr>
        <p:spPr>
          <a:xfrm xmlns:a="http://schemas.openxmlformats.org/drawingml/2006/main">
            <a:off x="819150" y="61055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Proof outputs: data/results/source-validation/  |  Classification: data/results/evaluation/apk-type-evaluation.json</a:t>
            </a:r>
          </a:p>
        </p:txBody>
      </p:sp>
      <p:sp>
        <p:nvSpPr>
          <p:cNvPr id="44" name="">
            <a:extLst xmlns:a="http://schemas.openxmlformats.org/drawingml/2006/main">
              <a:ext uri="{FF2B5EF4-FFF2-40B4-BE49-F238E27FC236}">
                <a16:creationId xmlns:a16="http://schemas.microsoft.com/office/drawing/2014/main" id="{CFE18041-DB80-4B9D-9191-F7437221611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12860971"/>
      </p:ext>
    </p:extLst>
  </p:cSld>
</p:sld>
</file>

<file path=ppt/slides/slide1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287FC6-6BCF-4872-B715-D0D7D52C2F5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APK CLASSIFICATION</a:t>
            </a:r>
          </a:p>
        </p:txBody>
      </p:sp>
      <p:sp>
        <p:nvSpPr>
          <p:cNvPr id="2" name="">
            <a:extLst xmlns:a="http://schemas.openxmlformats.org/drawingml/2006/main">
              <a:ext uri="{FF2B5EF4-FFF2-40B4-BE49-F238E27FC236}">
                <a16:creationId xmlns:a16="http://schemas.microsoft.com/office/drawing/2014/main" id="{A2B57A06-60DC-41E5-9B8D-F2FCBED9519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Evaluation keeps hard APK families visible instead of collapsing them into one score</a:t>
            </a:r>
          </a:p>
        </p:txBody>
      </p:sp>
      <p:sp>
        <p:nvSpPr>
          <p:cNvPr id="3" name="">
            <a:extLst xmlns:a="http://schemas.openxmlformats.org/drawingml/2006/main">
              <a:ext uri="{FF2B5EF4-FFF2-40B4-BE49-F238E27FC236}">
                <a16:creationId xmlns:a16="http://schemas.microsoft.com/office/drawing/2014/main" id="{046B88B2-2F0D-4F52-AFE6-2BFACC8BCC5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FB493426-6A7C-49C1-9772-A1433C0FB563}"/>
              </a:ext>
            </a:extLst>
          </p:cNvPr>
          <p:cNvSpPr>
            <a:spLocks xmlns:a="http://schemas.openxmlformats.org/drawingml/2006/main" noGrp="1"/>
          </p:cNvSpPr>
          <p:nvPr/>
        </p:nvSpPr>
        <p:spPr>
          <a:xfrm xmlns:a="http://schemas.openxmlformats.org/drawingml/2006/main">
            <a:off x="704850" y="15430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820E50D1-F65F-4CA1-ADF5-E52DF5FA3CE0}"/>
              </a:ext>
            </a:extLst>
          </p:cNvPr>
          <p:cNvSpPr>
            <a:spLocks xmlns:a="http://schemas.openxmlformats.org/drawingml/2006/main" noGrp="1"/>
          </p:cNvSpPr>
          <p:nvPr/>
        </p:nvSpPr>
        <p:spPr>
          <a:xfrm xmlns:a="http://schemas.openxmlformats.org/drawingml/2006/main">
            <a:off x="704850" y="1543050"/>
            <a:ext cx="114300" cy="6286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A3965B-0287-44DA-84F1-2F9724A362D6}"/>
              </a:ext>
            </a:extLst>
          </p:cNvPr>
          <p:cNvSpPr>
            <a:spLocks xmlns:a="http://schemas.openxmlformats.org/drawingml/2006/main" noGrp="1"/>
          </p:cNvSpPr>
          <p:nvPr/>
        </p:nvSpPr>
        <p:spPr>
          <a:xfrm xmlns:a="http://schemas.openxmlformats.org/drawingml/2006/main">
            <a:off x="1066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Controlled</a:t>
            </a:r>
          </a:p>
        </p:txBody>
      </p:sp>
      <p:sp>
        <p:nvSpPr>
          <p:cNvPr id="7" name="">
            <a:extLst xmlns:a="http://schemas.openxmlformats.org/drawingml/2006/main">
              <a:ext uri="{FF2B5EF4-FFF2-40B4-BE49-F238E27FC236}">
                <a16:creationId xmlns:a16="http://schemas.microsoft.com/office/drawing/2014/main" id="{7DB342CD-0E25-4E57-9988-78DF081E7B9D}"/>
              </a:ext>
            </a:extLst>
          </p:cNvPr>
          <p:cNvSpPr>
            <a:spLocks xmlns:a="http://schemas.openxmlformats.org/drawingml/2006/main" noGrp="1"/>
          </p:cNvSpPr>
          <p:nvPr/>
        </p:nvSpPr>
        <p:spPr>
          <a:xfrm xmlns:a="http://schemas.openxmlformats.org/drawingml/2006/main">
            <a:off x="3467100" y="1714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72 APKs</a:t>
            </a:r>
          </a:p>
        </p:txBody>
      </p:sp>
      <p:sp>
        <p:nvSpPr>
          <p:cNvPr id="8" name="">
            <a:extLst xmlns:a="http://schemas.openxmlformats.org/drawingml/2006/main">
              <a:ext uri="{FF2B5EF4-FFF2-40B4-BE49-F238E27FC236}">
                <a16:creationId xmlns:a16="http://schemas.microsoft.com/office/drawing/2014/main" id="{96D6BA74-60F3-4C7B-A09D-B966C69726AD}"/>
              </a:ext>
            </a:extLst>
          </p:cNvPr>
          <p:cNvSpPr>
            <a:spLocks xmlns:a="http://schemas.openxmlformats.org/drawingml/2006/main" noGrp="1"/>
          </p:cNvSpPr>
          <p:nvPr/>
        </p:nvSpPr>
        <p:spPr>
          <a:xfrm xmlns:a="http://schemas.openxmlformats.org/drawingml/2006/main">
            <a:off x="5257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84 expected versions</a:t>
            </a:r>
          </a:p>
        </p:txBody>
      </p:sp>
      <p:sp>
        <p:nvSpPr>
          <p:cNvPr id="9" name="">
            <a:extLst xmlns:a="http://schemas.openxmlformats.org/drawingml/2006/main">
              <a:ext uri="{FF2B5EF4-FFF2-40B4-BE49-F238E27FC236}">
                <a16:creationId xmlns:a16="http://schemas.microsoft.com/office/drawing/2014/main" id="{9461DDE3-3A8F-410E-86C8-4551D00B62AC}"/>
              </a:ext>
            </a:extLst>
          </p:cNvPr>
          <p:cNvSpPr>
            <a:spLocks xmlns:a="http://schemas.openxmlformats.org/drawingml/2006/main" noGrp="1"/>
          </p:cNvSpPr>
          <p:nvPr/>
        </p:nvSpPr>
        <p:spPr>
          <a:xfrm xmlns:a="http://schemas.openxmlformats.org/drawingml/2006/main">
            <a:off x="8420100" y="17145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10" name="">
            <a:extLst xmlns:a="http://schemas.openxmlformats.org/drawingml/2006/main">
              <a:ext uri="{FF2B5EF4-FFF2-40B4-BE49-F238E27FC236}">
                <a16:creationId xmlns:a16="http://schemas.microsoft.com/office/drawing/2014/main" id="{3357CEF2-0E39-4DC1-9D30-21FB5CC3ED6D}"/>
              </a:ext>
            </a:extLst>
          </p:cNvPr>
          <p:cNvSpPr>
            <a:spLocks xmlns:a="http://schemas.openxmlformats.org/drawingml/2006/main" noGrp="1"/>
          </p:cNvSpPr>
          <p:nvPr/>
        </p:nvSpPr>
        <p:spPr>
          <a:xfrm xmlns:a="http://schemas.openxmlformats.org/drawingml/2006/main">
            <a:off x="8486775" y="1771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known ground truth</a:t>
            </a:r>
          </a:p>
        </p:txBody>
      </p:sp>
      <p:sp>
        <p:nvSpPr>
          <p:cNvPr id="11" name="">
            <a:extLst xmlns:a="http://schemas.openxmlformats.org/drawingml/2006/main">
              <a:ext uri="{FF2B5EF4-FFF2-40B4-BE49-F238E27FC236}">
                <a16:creationId xmlns:a16="http://schemas.microsoft.com/office/drawing/2014/main" id="{F1B965E4-F9E2-4F62-AB13-A0E4B57EB3AD}"/>
              </a:ext>
            </a:extLst>
          </p:cNvPr>
          <p:cNvSpPr>
            <a:spLocks xmlns:a="http://schemas.openxmlformats.org/drawingml/2006/main" noGrp="1"/>
          </p:cNvSpPr>
          <p:nvPr/>
        </p:nvSpPr>
        <p:spPr>
          <a:xfrm xmlns:a="http://schemas.openxmlformats.org/drawingml/2006/main">
            <a:off x="704850" y="23431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2" name="">
            <a:extLst xmlns:a="http://schemas.openxmlformats.org/drawingml/2006/main">
              <a:ext uri="{FF2B5EF4-FFF2-40B4-BE49-F238E27FC236}">
                <a16:creationId xmlns:a16="http://schemas.microsoft.com/office/drawing/2014/main" id="{9A5D44A7-1F24-4AC8-BB12-DDDC62145D20}"/>
              </a:ext>
            </a:extLst>
          </p:cNvPr>
          <p:cNvSpPr>
            <a:spLocks xmlns:a="http://schemas.openxmlformats.org/drawingml/2006/main" noGrp="1"/>
          </p:cNvSpPr>
          <p:nvPr/>
        </p:nvSpPr>
        <p:spPr>
          <a:xfrm xmlns:a="http://schemas.openxmlformats.org/drawingml/2006/main">
            <a:off x="704850" y="2343150"/>
            <a:ext cx="114300" cy="6286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0B4093-E84B-402B-BD0C-3FF3A0123409}"/>
              </a:ext>
            </a:extLst>
          </p:cNvPr>
          <p:cNvSpPr>
            <a:spLocks xmlns:a="http://schemas.openxmlformats.org/drawingml/2006/main" noGrp="1"/>
          </p:cNvSpPr>
          <p:nvPr/>
        </p:nvSpPr>
        <p:spPr>
          <a:xfrm xmlns:a="http://schemas.openxmlformats.org/drawingml/2006/main">
            <a:off x="1066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Clean real</a:t>
            </a:r>
          </a:p>
        </p:txBody>
      </p:sp>
      <p:sp>
        <p:nvSpPr>
          <p:cNvPr id="14" name="">
            <a:extLst xmlns:a="http://schemas.openxmlformats.org/drawingml/2006/main">
              <a:ext uri="{FF2B5EF4-FFF2-40B4-BE49-F238E27FC236}">
                <a16:creationId xmlns:a16="http://schemas.microsoft.com/office/drawing/2014/main" id="{E971C2DA-8493-4AB1-A4CC-AF9F6045E2A1}"/>
              </a:ext>
            </a:extLst>
          </p:cNvPr>
          <p:cNvSpPr>
            <a:spLocks xmlns:a="http://schemas.openxmlformats.org/drawingml/2006/main" noGrp="1"/>
          </p:cNvSpPr>
          <p:nvPr/>
        </p:nvSpPr>
        <p:spPr>
          <a:xfrm xmlns:a="http://schemas.openxmlformats.org/drawingml/2006/main">
            <a:off x="3467100" y="2514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5 APKs</a:t>
            </a:r>
          </a:p>
        </p:txBody>
      </p:sp>
      <p:sp>
        <p:nvSpPr>
          <p:cNvPr id="15" name="">
            <a:extLst xmlns:a="http://schemas.openxmlformats.org/drawingml/2006/main">
              <a:ext uri="{FF2B5EF4-FFF2-40B4-BE49-F238E27FC236}">
                <a16:creationId xmlns:a16="http://schemas.microsoft.com/office/drawing/2014/main" id="{FBE64DEF-023E-4764-A60B-6CF5D9F8891B}"/>
              </a:ext>
            </a:extLst>
          </p:cNvPr>
          <p:cNvSpPr>
            <a:spLocks xmlns:a="http://schemas.openxmlformats.org/drawingml/2006/main" noGrp="1"/>
          </p:cNvSpPr>
          <p:nvPr/>
        </p:nvSpPr>
        <p:spPr>
          <a:xfrm xmlns:a="http://schemas.openxmlformats.org/drawingml/2006/main">
            <a:off x="5257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47 emitted versions</a:t>
            </a:r>
          </a:p>
        </p:txBody>
      </p:sp>
      <p:sp>
        <p:nvSpPr>
          <p:cNvPr id="16" name="">
            <a:extLst xmlns:a="http://schemas.openxmlformats.org/drawingml/2006/main">
              <a:ext uri="{FF2B5EF4-FFF2-40B4-BE49-F238E27FC236}">
                <a16:creationId xmlns:a16="http://schemas.microsoft.com/office/drawing/2014/main" id="{5FA7B4D0-57C6-4375-B640-AF5CF7E0BFC2}"/>
              </a:ext>
            </a:extLst>
          </p:cNvPr>
          <p:cNvSpPr>
            <a:spLocks xmlns:a="http://schemas.openxmlformats.org/drawingml/2006/main" noGrp="1"/>
          </p:cNvSpPr>
          <p:nvPr/>
        </p:nvSpPr>
        <p:spPr>
          <a:xfrm xmlns:a="http://schemas.openxmlformats.org/drawingml/2006/main">
            <a:off x="8420100" y="25146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235164D3-E00F-4AC4-8742-3AEAB2B11A0B}"/>
              </a:ext>
            </a:extLst>
          </p:cNvPr>
          <p:cNvSpPr>
            <a:spLocks xmlns:a="http://schemas.openxmlformats.org/drawingml/2006/main" noGrp="1"/>
          </p:cNvSpPr>
          <p:nvPr/>
        </p:nvSpPr>
        <p:spPr>
          <a:xfrm xmlns:a="http://schemas.openxmlformats.org/drawingml/2006/main">
            <a:off x="8486775" y="2571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strong source proof</a:t>
            </a:r>
          </a:p>
        </p:txBody>
      </p:sp>
      <p:sp>
        <p:nvSpPr>
          <p:cNvPr id="18" name="">
            <a:extLst xmlns:a="http://schemas.openxmlformats.org/drawingml/2006/main">
              <a:ext uri="{FF2B5EF4-FFF2-40B4-BE49-F238E27FC236}">
                <a16:creationId xmlns:a16="http://schemas.microsoft.com/office/drawing/2014/main" id="{66BAE636-9BAC-4066-AC14-E78064F53153}"/>
              </a:ext>
            </a:extLst>
          </p:cNvPr>
          <p:cNvSpPr>
            <a:spLocks xmlns:a="http://schemas.openxmlformats.org/drawingml/2006/main" noGrp="1"/>
          </p:cNvSpPr>
          <p:nvPr/>
        </p:nvSpPr>
        <p:spPr>
          <a:xfrm xmlns:a="http://schemas.openxmlformats.org/drawingml/2006/main">
            <a:off x="704850" y="31432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9" name="">
            <a:extLst xmlns:a="http://schemas.openxmlformats.org/drawingml/2006/main">
              <a:ext uri="{FF2B5EF4-FFF2-40B4-BE49-F238E27FC236}">
                <a16:creationId xmlns:a16="http://schemas.microsoft.com/office/drawing/2014/main" id="{C9745EFB-38C3-4317-94DE-60A3CFB5E8E6}"/>
              </a:ext>
            </a:extLst>
          </p:cNvPr>
          <p:cNvSpPr>
            <a:spLocks xmlns:a="http://schemas.openxmlformats.org/drawingml/2006/main" noGrp="1"/>
          </p:cNvSpPr>
          <p:nvPr/>
        </p:nvSpPr>
        <p:spPr>
          <a:xfrm xmlns:a="http://schemas.openxmlformats.org/drawingml/2006/main">
            <a:off x="704850" y="3143250"/>
            <a:ext cx="114300" cy="6286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9F2D70-6FE3-4C91-933A-223A8DD82802}"/>
              </a:ext>
            </a:extLst>
          </p:cNvPr>
          <p:cNvSpPr>
            <a:spLocks xmlns:a="http://schemas.openxmlformats.org/drawingml/2006/main" noGrp="1"/>
          </p:cNvSpPr>
          <p:nvPr/>
        </p:nvSpPr>
        <p:spPr>
          <a:xfrm xmlns:a="http://schemas.openxmlformats.org/drawingml/2006/main">
            <a:off x="1066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8D2CCC21-1FA5-4577-984E-E26B5BD1E67B}"/>
              </a:ext>
            </a:extLst>
          </p:cNvPr>
          <p:cNvSpPr>
            <a:spLocks xmlns:a="http://schemas.openxmlformats.org/drawingml/2006/main" noGrp="1"/>
          </p:cNvSpPr>
          <p:nvPr/>
        </p:nvSpPr>
        <p:spPr>
          <a:xfrm xmlns:a="http://schemas.openxmlformats.org/drawingml/2006/main">
            <a:off x="3467100" y="3314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D754D"/>
                </a:solidFill>
                <a:latin typeface="Aptos"/>
                <a:ea typeface="Aptos"/>
                <a:cs typeface="Aptos"/>
              </a:defRPr>
            </a:pPr>
            <a:r>
              <a:rPr sz="1275" b="1">
                <a:solidFill>
                  <a:srgbClr val="8D754D"/>
                </a:solidFill>
                <a:latin typeface="Aptos"/>
                <a:ea typeface="Aptos"/>
                <a:cs typeface="Aptos"/>
              </a:rPr>
              <a:t>97 APKs</a:t>
            </a:r>
          </a:p>
        </p:txBody>
      </p:sp>
      <p:sp>
        <p:nvSpPr>
          <p:cNvPr id="22" name="">
            <a:extLst xmlns:a="http://schemas.openxmlformats.org/drawingml/2006/main">
              <a:ext uri="{FF2B5EF4-FFF2-40B4-BE49-F238E27FC236}">
                <a16:creationId xmlns:a16="http://schemas.microsoft.com/office/drawing/2014/main" id="{5F8E2707-2C0A-4B36-BAFB-63F8C7CECDF3}"/>
              </a:ext>
            </a:extLst>
          </p:cNvPr>
          <p:cNvSpPr>
            <a:spLocks xmlns:a="http://schemas.openxmlformats.org/drawingml/2006/main" noGrp="1"/>
          </p:cNvSpPr>
          <p:nvPr/>
        </p:nvSpPr>
        <p:spPr>
          <a:xfrm xmlns:a="http://schemas.openxmlformats.org/drawingml/2006/main">
            <a:off x="5257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1790 emitted versions</a:t>
            </a:r>
          </a:p>
        </p:txBody>
      </p:sp>
      <p:sp>
        <p:nvSpPr>
          <p:cNvPr id="23" name="">
            <a:extLst xmlns:a="http://schemas.openxmlformats.org/drawingml/2006/main">
              <a:ext uri="{FF2B5EF4-FFF2-40B4-BE49-F238E27FC236}">
                <a16:creationId xmlns:a16="http://schemas.microsoft.com/office/drawing/2014/main" id="{77852468-3586-496F-BE7B-6FDF0BFE881A}"/>
              </a:ext>
            </a:extLst>
          </p:cNvPr>
          <p:cNvSpPr>
            <a:spLocks xmlns:a="http://schemas.openxmlformats.org/drawingml/2006/main" noGrp="1"/>
          </p:cNvSpPr>
          <p:nvPr/>
        </p:nvSpPr>
        <p:spPr>
          <a:xfrm xmlns:a="http://schemas.openxmlformats.org/drawingml/2006/main">
            <a:off x="8420100" y="33147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0578BDDF-4DA4-452F-99E0-D93D22AED0B5}"/>
              </a:ext>
            </a:extLst>
          </p:cNvPr>
          <p:cNvSpPr>
            <a:spLocks xmlns:a="http://schemas.openxmlformats.org/drawingml/2006/main" noGrp="1"/>
          </p:cNvSpPr>
          <p:nvPr/>
        </p:nvSpPr>
        <p:spPr>
          <a:xfrm xmlns:a="http://schemas.openxmlformats.org/drawingml/2006/main">
            <a:off x="8486775" y="33718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realistic hard cases</a:t>
            </a:r>
          </a:p>
        </p:txBody>
      </p:sp>
      <p:sp>
        <p:nvSpPr>
          <p:cNvPr id="25" name="">
            <a:extLst xmlns:a="http://schemas.openxmlformats.org/drawingml/2006/main">
              <a:ext uri="{FF2B5EF4-FFF2-40B4-BE49-F238E27FC236}">
                <a16:creationId xmlns:a16="http://schemas.microsoft.com/office/drawing/2014/main" id="{7EEFD98C-988D-4079-811B-33BF7FF004CC}"/>
              </a:ext>
            </a:extLst>
          </p:cNvPr>
          <p:cNvSpPr>
            <a:spLocks xmlns:a="http://schemas.openxmlformats.org/drawingml/2006/main" noGrp="1"/>
          </p:cNvSpPr>
          <p:nvPr/>
        </p:nvSpPr>
        <p:spPr>
          <a:xfrm xmlns:a="http://schemas.openxmlformats.org/drawingml/2006/main">
            <a:off x="704850" y="39433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6" name="">
            <a:extLst xmlns:a="http://schemas.openxmlformats.org/drawingml/2006/main">
              <a:ext uri="{FF2B5EF4-FFF2-40B4-BE49-F238E27FC236}">
                <a16:creationId xmlns:a16="http://schemas.microsoft.com/office/drawing/2014/main" id="{F5B15F2E-8F56-4166-92E5-5C80D35EB6F5}"/>
              </a:ext>
            </a:extLst>
          </p:cNvPr>
          <p:cNvSpPr>
            <a:spLocks xmlns:a="http://schemas.openxmlformats.org/drawingml/2006/main" noGrp="1"/>
          </p:cNvSpPr>
          <p:nvPr/>
        </p:nvSpPr>
        <p:spPr>
          <a:xfrm xmlns:a="http://schemas.openxmlformats.org/drawingml/2006/main">
            <a:off x="704850" y="3943350"/>
            <a:ext cx="114300" cy="6286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644322F-6C1C-4D0E-B26A-36F450A750C0}"/>
              </a:ext>
            </a:extLst>
          </p:cNvPr>
          <p:cNvSpPr>
            <a:spLocks xmlns:a="http://schemas.openxmlformats.org/drawingml/2006/main" noGrp="1"/>
          </p:cNvSpPr>
          <p:nvPr/>
        </p:nvSpPr>
        <p:spPr>
          <a:xfrm xmlns:a="http://schemas.openxmlformats.org/drawingml/2006/main">
            <a:off x="1066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Blocked</a:t>
            </a:r>
          </a:p>
        </p:txBody>
      </p:sp>
      <p:sp>
        <p:nvSpPr>
          <p:cNvPr id="28" name="">
            <a:extLst xmlns:a="http://schemas.openxmlformats.org/drawingml/2006/main">
              <a:ext uri="{FF2B5EF4-FFF2-40B4-BE49-F238E27FC236}">
                <a16:creationId xmlns:a16="http://schemas.microsoft.com/office/drawing/2014/main" id="{1E690E41-9AE7-4E60-8B2C-9D7D10BC464C}"/>
              </a:ext>
            </a:extLst>
          </p:cNvPr>
          <p:cNvSpPr>
            <a:spLocks xmlns:a="http://schemas.openxmlformats.org/drawingml/2006/main" noGrp="1"/>
          </p:cNvSpPr>
          <p:nvPr/>
        </p:nvSpPr>
        <p:spPr>
          <a:xfrm xmlns:a="http://schemas.openxmlformats.org/drawingml/2006/main">
            <a:off x="3467100"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0 APKs</a:t>
            </a:r>
          </a:p>
        </p:txBody>
      </p:sp>
      <p:sp>
        <p:nvSpPr>
          <p:cNvPr id="29" name="">
            <a:extLst xmlns:a="http://schemas.openxmlformats.org/drawingml/2006/main">
              <a:ext uri="{FF2B5EF4-FFF2-40B4-BE49-F238E27FC236}">
                <a16:creationId xmlns:a16="http://schemas.microsoft.com/office/drawing/2014/main" id="{187AA207-31FB-4065-B5C7-4917B3288E10}"/>
              </a:ext>
            </a:extLst>
          </p:cNvPr>
          <p:cNvSpPr>
            <a:spLocks xmlns:a="http://schemas.openxmlformats.org/drawingml/2006/main" noGrp="1"/>
          </p:cNvSpPr>
          <p:nvPr/>
        </p:nvSpPr>
        <p:spPr>
          <a:xfrm xmlns:a="http://schemas.openxmlformats.org/drawingml/2006/main">
            <a:off x="5257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none remaining</a:t>
            </a:r>
          </a:p>
        </p:txBody>
      </p:sp>
      <p:sp>
        <p:nvSpPr>
          <p:cNvPr id="30" name="">
            <a:extLst xmlns:a="http://schemas.openxmlformats.org/drawingml/2006/main">
              <a:ext uri="{FF2B5EF4-FFF2-40B4-BE49-F238E27FC236}">
                <a16:creationId xmlns:a16="http://schemas.microsoft.com/office/drawing/2014/main" id="{881317E9-A36D-456E-8DE4-309264B066EE}"/>
              </a:ext>
            </a:extLst>
          </p:cNvPr>
          <p:cNvSpPr>
            <a:spLocks xmlns:a="http://schemas.openxmlformats.org/drawingml/2006/main" noGrp="1"/>
          </p:cNvSpPr>
          <p:nvPr/>
        </p:nvSpPr>
        <p:spPr>
          <a:xfrm xmlns:a="http://schemas.openxmlformats.org/drawingml/2006/main">
            <a:off x="8420100" y="41148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365F7D"/>
            </a:solidFill>
            <a:prstDash val="solid"/>
          </a:ln>
        </p:spPr>
      </p:sp>
      <p:sp>
        <p:nvSpPr>
          <p:cNvPr id="31" name="">
            <a:extLst xmlns:a="http://schemas.openxmlformats.org/drawingml/2006/main">
              <a:ext uri="{FF2B5EF4-FFF2-40B4-BE49-F238E27FC236}">
                <a16:creationId xmlns:a16="http://schemas.microsoft.com/office/drawing/2014/main" id="{C1790ECA-DA35-4A18-9AE2-67F111DC080A}"/>
              </a:ext>
            </a:extLst>
          </p:cNvPr>
          <p:cNvSpPr>
            <a:spLocks xmlns:a="http://schemas.openxmlformats.org/drawingml/2006/main" noGrp="1"/>
          </p:cNvSpPr>
          <p:nvPr/>
        </p:nvSpPr>
        <p:spPr>
          <a:xfrm xmlns:a="http://schemas.openxmlformats.org/drawingml/2006/main">
            <a:off x="8486775" y="41719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proof gates completed</a:t>
            </a:r>
          </a:p>
        </p:txBody>
      </p:sp>
      <p:sp>
        <p:nvSpPr>
          <p:cNvPr id="32" name="">
            <a:extLst xmlns:a="http://schemas.openxmlformats.org/drawingml/2006/main">
              <a:ext uri="{FF2B5EF4-FFF2-40B4-BE49-F238E27FC236}">
                <a16:creationId xmlns:a16="http://schemas.microsoft.com/office/drawing/2014/main" id="{F7053274-C807-4365-88B4-732196249073}"/>
              </a:ext>
            </a:extLst>
          </p:cNvPr>
          <p:cNvSpPr>
            <a:spLocks xmlns:a="http://schemas.openxmlformats.org/drawingml/2006/main" noGrp="1"/>
          </p:cNvSpPr>
          <p:nvPr/>
        </p:nvSpPr>
        <p:spPr>
          <a:xfrm xmlns:a="http://schemas.openxmlformats.org/drawingml/2006/main">
            <a:off x="704850" y="47434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3" name="">
            <a:extLst xmlns:a="http://schemas.openxmlformats.org/drawingml/2006/main">
              <a:ext uri="{FF2B5EF4-FFF2-40B4-BE49-F238E27FC236}">
                <a16:creationId xmlns:a16="http://schemas.microsoft.com/office/drawing/2014/main" id="{05AE197D-AB7C-4844-9DF8-E4CE880DFC47}"/>
              </a:ext>
            </a:extLst>
          </p:cNvPr>
          <p:cNvSpPr>
            <a:spLocks xmlns:a="http://schemas.openxmlformats.org/drawingml/2006/main" noGrp="1"/>
          </p:cNvSpPr>
          <p:nvPr/>
        </p:nvSpPr>
        <p:spPr>
          <a:xfrm xmlns:a="http://schemas.openxmlformats.org/drawingml/2006/main">
            <a:off x="704850" y="4743450"/>
            <a:ext cx="114300" cy="6286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16E4D02-1E12-4122-A208-47303E913B49}"/>
              </a:ext>
            </a:extLst>
          </p:cNvPr>
          <p:cNvSpPr>
            <a:spLocks xmlns:a="http://schemas.openxmlformats.org/drawingml/2006/main" noGrp="1"/>
          </p:cNvSpPr>
          <p:nvPr/>
        </p:nvSpPr>
        <p:spPr>
          <a:xfrm xmlns:a="http://schemas.openxmlformats.org/drawingml/2006/main">
            <a:off x="1066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Limitations</a:t>
            </a:r>
          </a:p>
        </p:txBody>
      </p:sp>
      <p:sp>
        <p:nvSpPr>
          <p:cNvPr id="35" name="">
            <a:extLst xmlns:a="http://schemas.openxmlformats.org/drawingml/2006/main">
              <a:ext uri="{FF2B5EF4-FFF2-40B4-BE49-F238E27FC236}">
                <a16:creationId xmlns:a16="http://schemas.microsoft.com/office/drawing/2014/main" id="{EECC2C0F-5FBD-46F7-914A-B44CB1557D38}"/>
              </a:ext>
            </a:extLst>
          </p:cNvPr>
          <p:cNvSpPr>
            <a:spLocks xmlns:a="http://schemas.openxmlformats.org/drawingml/2006/main" noGrp="1"/>
          </p:cNvSpPr>
          <p:nvPr/>
        </p:nvSpPr>
        <p:spPr>
          <a:xfrm xmlns:a="http://schemas.openxmlformats.org/drawingml/2006/main">
            <a:off x="3467100" y="49149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4 cases</a:t>
            </a:r>
          </a:p>
        </p:txBody>
      </p:sp>
      <p:sp>
        <p:nvSpPr>
          <p:cNvPr id="36" name="">
            <a:extLst xmlns:a="http://schemas.openxmlformats.org/drawingml/2006/main">
              <a:ext uri="{FF2B5EF4-FFF2-40B4-BE49-F238E27FC236}">
                <a16:creationId xmlns:a16="http://schemas.microsoft.com/office/drawing/2014/main" id="{0829F6C9-A9B1-4AB6-B98B-48866C9C1D5A}"/>
              </a:ext>
            </a:extLst>
          </p:cNvPr>
          <p:cNvSpPr>
            <a:spLocks xmlns:a="http://schemas.openxmlformats.org/drawingml/2006/main" noGrp="1"/>
          </p:cNvSpPr>
          <p:nvPr/>
        </p:nvSpPr>
        <p:spPr>
          <a:xfrm xmlns:a="http://schemas.openxmlformats.org/drawingml/2006/main">
            <a:off x="5257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outside exact metric</a:t>
            </a:r>
          </a:p>
        </p:txBody>
      </p:sp>
      <p:sp>
        <p:nvSpPr>
          <p:cNvPr id="37" name="">
            <a:extLst xmlns:a="http://schemas.openxmlformats.org/drawingml/2006/main">
              <a:ext uri="{FF2B5EF4-FFF2-40B4-BE49-F238E27FC236}">
                <a16:creationId xmlns:a16="http://schemas.microsoft.com/office/drawing/2014/main" id="{BDD34EC2-D376-499A-B703-50FE90584C1B}"/>
              </a:ext>
            </a:extLst>
          </p:cNvPr>
          <p:cNvSpPr>
            <a:spLocks xmlns:a="http://schemas.openxmlformats.org/drawingml/2006/main" noGrp="1"/>
          </p:cNvSpPr>
          <p:nvPr/>
        </p:nvSpPr>
        <p:spPr>
          <a:xfrm xmlns:a="http://schemas.openxmlformats.org/drawingml/2006/main">
            <a:off x="8420100" y="49149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986F614C-BD0D-4855-902D-210BC09AF280}"/>
              </a:ext>
            </a:extLst>
          </p:cNvPr>
          <p:cNvSpPr>
            <a:spLocks xmlns:a="http://schemas.openxmlformats.org/drawingml/2006/main" noGrp="1"/>
          </p:cNvSpPr>
          <p:nvPr/>
        </p:nvSpPr>
        <p:spPr>
          <a:xfrm xmlns:a="http://schemas.openxmlformats.org/drawingml/2006/main">
            <a:off x="8486775" y="4972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native / hidden / protected</a:t>
            </a:r>
          </a:p>
        </p:txBody>
      </p:sp>
      <p:sp>
        <p:nvSpPr>
          <p:cNvPr id="39" name="">
            <a:extLst xmlns:a="http://schemas.openxmlformats.org/drawingml/2006/main">
              <a:ext uri="{FF2B5EF4-FFF2-40B4-BE49-F238E27FC236}">
                <a16:creationId xmlns:a16="http://schemas.microsoft.com/office/drawing/2014/main" id="{68AE117F-114B-4EC5-BE59-BA823B4BEE8F}"/>
              </a:ext>
            </a:extLst>
          </p:cNvPr>
          <p:cNvSpPr>
            <a:spLocks xmlns:a="http://schemas.openxmlformats.org/drawingml/2006/main" noGrp="1"/>
          </p:cNvSpPr>
          <p:nvPr/>
        </p:nvSpPr>
        <p:spPr>
          <a:xfrm xmlns:a="http://schemas.openxmlformats.org/drawingml/2006/main">
            <a:off x="1676400" y="5734050"/>
            <a:ext cx="8839200" cy="4000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8ADE698-3D5E-40B8-81E9-6F8AFAA62B36}"/>
              </a:ext>
            </a:extLst>
          </p:cNvPr>
          <p:cNvSpPr>
            <a:spLocks xmlns:a="http://schemas.openxmlformats.org/drawingml/2006/main" noGrp="1"/>
          </p:cNvSpPr>
          <p:nvPr/>
        </p:nvSpPr>
        <p:spPr>
          <a:xfrm xmlns:a="http://schemas.openxmlformats.org/drawingml/2006/main">
            <a:off x="1885950" y="5829300"/>
            <a:ext cx="842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Scientific rule: preserve the denominator, classify exclusions, and expose every remaining gap.</a:t>
            </a:r>
          </a:p>
        </p:txBody>
      </p:sp>
      <p:sp>
        <p:nvSpPr>
          <p:cNvPr id="41" name="">
            <a:extLst xmlns:a="http://schemas.openxmlformats.org/drawingml/2006/main">
              <a:ext uri="{FF2B5EF4-FFF2-40B4-BE49-F238E27FC236}">
                <a16:creationId xmlns:a16="http://schemas.microsoft.com/office/drawing/2014/main" id="{495BE62A-882D-4F49-9F31-6C4288B22DC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70200373"/>
      </p:ext>
    </p:extLst>
  </p:cSld>
</p:sld>
</file>

<file path=ppt/slides/slide1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A9E57F-BB79-4DBE-8382-AA1B813901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68B095-87B1-4906-9EC8-28143376DFF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7A3EDE4-7EC3-40D1-BCA5-71A5EF70D2B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DATASET COMPOSITION</a:t>
            </a:r>
          </a:p>
        </p:txBody>
      </p:sp>
      <p:sp>
        <p:nvSpPr>
          <p:cNvPr id="4" name="">
            <a:extLst xmlns:a="http://schemas.openxmlformats.org/drawingml/2006/main">
              <a:ext uri="{FF2B5EF4-FFF2-40B4-BE49-F238E27FC236}">
                <a16:creationId xmlns:a16="http://schemas.microsoft.com/office/drawing/2014/main" id="{55F05242-0FB6-40C0-993E-624A037207D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current thesis set combines exact controls, real proof, and explicit boundaries</a:t>
            </a:r>
          </a:p>
        </p:txBody>
      </p:sp>
      <p:sp>
        <p:nvSpPr>
          <p:cNvPr id="5" name="">
            <a:extLst xmlns:a="http://schemas.openxmlformats.org/drawingml/2006/main">
              <a:ext uri="{FF2B5EF4-FFF2-40B4-BE49-F238E27FC236}">
                <a16:creationId xmlns:a16="http://schemas.microsoft.com/office/drawing/2014/main" id="{02C885FD-2249-4473-AD97-BF14DFD0FEB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517B20D5-452F-4E46-A39D-360F085F559B}"/>
              </a:ext>
            </a:extLst>
          </p:cNvPr>
          <p:cNvSpPr>
            <a:spLocks xmlns:a="http://schemas.openxmlformats.org/drawingml/2006/main" noGrp="1"/>
          </p:cNvSpPr>
          <p:nvPr/>
        </p:nvSpPr>
        <p:spPr>
          <a:xfrm xmlns:a="http://schemas.openxmlformats.org/drawingml/2006/main">
            <a:off x="6858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5303464-7C66-4A30-BF4A-F7CDD9152CBA}"/>
              </a:ext>
            </a:extLst>
          </p:cNvPr>
          <p:cNvSpPr>
            <a:spLocks xmlns:a="http://schemas.openxmlformats.org/drawingml/2006/main" noGrp="1"/>
          </p:cNvSpPr>
          <p:nvPr/>
        </p:nvSpPr>
        <p:spPr>
          <a:xfrm xmlns:a="http://schemas.openxmlformats.org/drawingml/2006/main">
            <a:off x="8191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6F7C61"/>
                </a:solidFill>
                <a:latin typeface="Aptos Display"/>
                <a:ea typeface="Aptos Display"/>
                <a:cs typeface="Aptos Display"/>
              </a:defRPr>
            </a:pPr>
            <a:r>
              <a:rPr sz="3150" b="1">
                <a:solidFill>
                  <a:srgbClr val="6F7C61"/>
                </a:solidFill>
                <a:latin typeface="Aptos Display"/>
                <a:ea typeface="Aptos Display"/>
                <a:cs typeface="Aptos Display"/>
              </a:rPr>
              <a:t>72</a:t>
            </a:r>
          </a:p>
        </p:txBody>
      </p:sp>
      <p:sp>
        <p:nvSpPr>
          <p:cNvPr id="8" name="">
            <a:extLst xmlns:a="http://schemas.openxmlformats.org/drawingml/2006/main">
              <a:ext uri="{FF2B5EF4-FFF2-40B4-BE49-F238E27FC236}">
                <a16:creationId xmlns:a16="http://schemas.microsoft.com/office/drawing/2014/main" id="{544940A4-CCA4-47F6-848C-EE6C88728C46}"/>
              </a:ext>
            </a:extLst>
          </p:cNvPr>
          <p:cNvSpPr>
            <a:spLocks xmlns:a="http://schemas.openxmlformats.org/drawingml/2006/main" noGrp="1"/>
          </p:cNvSpPr>
          <p:nvPr/>
        </p:nvSpPr>
        <p:spPr>
          <a:xfrm xmlns:a="http://schemas.openxmlformats.org/drawingml/2006/main">
            <a:off x="8191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controlled fixtures</a:t>
            </a:r>
          </a:p>
        </p:txBody>
      </p:sp>
      <p:sp>
        <p:nvSpPr>
          <p:cNvPr id="9" name="">
            <a:extLst xmlns:a="http://schemas.openxmlformats.org/drawingml/2006/main">
              <a:ext uri="{FF2B5EF4-FFF2-40B4-BE49-F238E27FC236}">
                <a16:creationId xmlns:a16="http://schemas.microsoft.com/office/drawing/2014/main" id="{8C10A337-AB65-45A9-AC44-020858259A50}"/>
              </a:ext>
            </a:extLst>
          </p:cNvPr>
          <p:cNvSpPr>
            <a:spLocks xmlns:a="http://schemas.openxmlformats.org/drawingml/2006/main" noGrp="1"/>
          </p:cNvSpPr>
          <p:nvPr/>
        </p:nvSpPr>
        <p:spPr>
          <a:xfrm xmlns:a="http://schemas.openxmlformats.org/drawingml/2006/main">
            <a:off x="33147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8D8E96D0-8B64-4B0C-93BB-852E0F75FCCE}"/>
              </a:ext>
            </a:extLst>
          </p:cNvPr>
          <p:cNvSpPr>
            <a:spLocks xmlns:a="http://schemas.openxmlformats.org/drawingml/2006/main" noGrp="1"/>
          </p:cNvSpPr>
          <p:nvPr/>
        </p:nvSpPr>
        <p:spPr>
          <a:xfrm xmlns:a="http://schemas.openxmlformats.org/drawingml/2006/main">
            <a:off x="34480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4F7D76"/>
                </a:solidFill>
                <a:latin typeface="Aptos Display"/>
                <a:ea typeface="Aptos Display"/>
                <a:cs typeface="Aptos Display"/>
              </a:defRPr>
            </a:pPr>
            <a:r>
              <a:rPr sz="3150" b="1">
                <a:solidFill>
                  <a:srgbClr val="4F7D76"/>
                </a:solidFill>
                <a:latin typeface="Aptos Display"/>
                <a:ea typeface="Aptos Display"/>
                <a:cs typeface="Aptos Display"/>
              </a:rPr>
              <a:t>102</a:t>
            </a:r>
          </a:p>
        </p:txBody>
      </p:sp>
      <p:sp>
        <p:nvSpPr>
          <p:cNvPr id="11" name="">
            <a:extLst xmlns:a="http://schemas.openxmlformats.org/drawingml/2006/main">
              <a:ext uri="{FF2B5EF4-FFF2-40B4-BE49-F238E27FC236}">
                <a16:creationId xmlns:a16="http://schemas.microsoft.com/office/drawing/2014/main" id="{45D14723-AF74-438D-8BC2-4DCA7AD6FD30}"/>
              </a:ext>
            </a:extLst>
          </p:cNvPr>
          <p:cNvSpPr>
            <a:spLocks xmlns:a="http://schemas.openxmlformats.org/drawingml/2006/main" noGrp="1"/>
          </p:cNvSpPr>
          <p:nvPr/>
        </p:nvSpPr>
        <p:spPr>
          <a:xfrm xmlns:a="http://schemas.openxmlformats.org/drawingml/2006/main">
            <a:off x="34480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source-validated real APKs</a:t>
            </a:r>
          </a:p>
        </p:txBody>
      </p:sp>
      <p:sp>
        <p:nvSpPr>
          <p:cNvPr id="12" name="">
            <a:extLst xmlns:a="http://schemas.openxmlformats.org/drawingml/2006/main">
              <a:ext uri="{FF2B5EF4-FFF2-40B4-BE49-F238E27FC236}">
                <a16:creationId xmlns:a16="http://schemas.microsoft.com/office/drawing/2014/main" id="{71212C62-9823-4158-A078-B6BF00B0FBEB}"/>
              </a:ext>
            </a:extLst>
          </p:cNvPr>
          <p:cNvSpPr>
            <a:spLocks xmlns:a="http://schemas.openxmlformats.org/drawingml/2006/main" noGrp="1"/>
          </p:cNvSpPr>
          <p:nvPr/>
        </p:nvSpPr>
        <p:spPr>
          <a:xfrm xmlns:a="http://schemas.openxmlformats.org/drawingml/2006/main">
            <a:off x="59436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1318FBEC-D295-496F-99A2-C06B0A5E5F3B}"/>
              </a:ext>
            </a:extLst>
          </p:cNvPr>
          <p:cNvSpPr>
            <a:spLocks xmlns:a="http://schemas.openxmlformats.org/drawingml/2006/main" noGrp="1"/>
          </p:cNvSpPr>
          <p:nvPr/>
        </p:nvSpPr>
        <p:spPr>
          <a:xfrm xmlns:a="http://schemas.openxmlformats.org/drawingml/2006/main">
            <a:off x="60769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8D754D"/>
                </a:solidFill>
                <a:latin typeface="Aptos Display"/>
                <a:ea typeface="Aptos Display"/>
                <a:cs typeface="Aptos Display"/>
              </a:defRPr>
            </a:pPr>
            <a:r>
              <a:rPr sz="2850" b="1">
                <a:solidFill>
                  <a:srgbClr val="8D754D"/>
                </a:solidFill>
                <a:latin typeface="Aptos Display"/>
                <a:ea typeface="Aptos Display"/>
                <a:cs typeface="Aptos Display"/>
              </a:rPr>
              <a:t>5 / 97</a:t>
            </a:r>
          </a:p>
        </p:txBody>
      </p:sp>
      <p:sp>
        <p:nvSpPr>
          <p:cNvPr id="14" name="">
            <a:extLst xmlns:a="http://schemas.openxmlformats.org/drawingml/2006/main">
              <a:ext uri="{FF2B5EF4-FFF2-40B4-BE49-F238E27FC236}">
                <a16:creationId xmlns:a16="http://schemas.microsoft.com/office/drawing/2014/main" id="{31D44040-92DA-4A3A-B2B8-67E35EA7FECA}"/>
              </a:ext>
            </a:extLst>
          </p:cNvPr>
          <p:cNvSpPr>
            <a:spLocks xmlns:a="http://schemas.openxmlformats.org/drawingml/2006/main" noGrp="1"/>
          </p:cNvSpPr>
          <p:nvPr/>
        </p:nvSpPr>
        <p:spPr>
          <a:xfrm xmlns:a="http://schemas.openxmlformats.org/drawingml/2006/main">
            <a:off x="60769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clean / partial real APKs</a:t>
            </a:r>
          </a:p>
        </p:txBody>
      </p:sp>
      <p:sp>
        <p:nvSpPr>
          <p:cNvPr id="15" name="">
            <a:extLst xmlns:a="http://schemas.openxmlformats.org/drawingml/2006/main">
              <a:ext uri="{FF2B5EF4-FFF2-40B4-BE49-F238E27FC236}">
                <a16:creationId xmlns:a16="http://schemas.microsoft.com/office/drawing/2014/main" id="{0C7C75BA-DDF6-4EB0-AC28-25885295AAB5}"/>
              </a:ext>
            </a:extLst>
          </p:cNvPr>
          <p:cNvSpPr>
            <a:spLocks xmlns:a="http://schemas.openxmlformats.org/drawingml/2006/main" noGrp="1"/>
          </p:cNvSpPr>
          <p:nvPr/>
        </p:nvSpPr>
        <p:spPr>
          <a:xfrm xmlns:a="http://schemas.openxmlformats.org/drawingml/2006/main">
            <a:off x="85725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E1A99063-CADE-41C1-9185-CD7F6194AC68}"/>
              </a:ext>
            </a:extLst>
          </p:cNvPr>
          <p:cNvSpPr>
            <a:spLocks xmlns:a="http://schemas.openxmlformats.org/drawingml/2006/main" noGrp="1"/>
          </p:cNvSpPr>
          <p:nvPr/>
        </p:nvSpPr>
        <p:spPr>
          <a:xfrm xmlns:a="http://schemas.openxmlformats.org/drawingml/2006/main">
            <a:off x="87058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655F73"/>
                </a:solidFill>
                <a:latin typeface="Aptos Display"/>
                <a:ea typeface="Aptos Display"/>
                <a:cs typeface="Aptos Display"/>
              </a:defRPr>
            </a:pPr>
            <a:r>
              <a:rPr sz="3150" b="1">
                <a:solidFill>
                  <a:srgbClr val="655F73"/>
                </a:solidFill>
                <a:latin typeface="Aptos Display"/>
                <a:ea typeface="Aptos Display"/>
                <a:cs typeface="Aptos Display"/>
              </a:rPr>
              <a:t>4</a:t>
            </a:r>
          </a:p>
        </p:txBody>
      </p:sp>
      <p:sp>
        <p:nvSpPr>
          <p:cNvPr id="17" name="">
            <a:extLst xmlns:a="http://schemas.openxmlformats.org/drawingml/2006/main">
              <a:ext uri="{FF2B5EF4-FFF2-40B4-BE49-F238E27FC236}">
                <a16:creationId xmlns:a16="http://schemas.microsoft.com/office/drawing/2014/main" id="{E3124875-64D7-4312-9133-94077EA7DE2C}"/>
              </a:ext>
            </a:extLst>
          </p:cNvPr>
          <p:cNvSpPr>
            <a:spLocks xmlns:a="http://schemas.openxmlformats.org/drawingml/2006/main" noGrp="1"/>
          </p:cNvSpPr>
          <p:nvPr/>
        </p:nvSpPr>
        <p:spPr>
          <a:xfrm xmlns:a="http://schemas.openxmlformats.org/drawingml/2006/main">
            <a:off x="87058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limitation or boundary cases</a:t>
            </a:r>
          </a:p>
        </p:txBody>
      </p:sp>
      <p:sp>
        <p:nvSpPr>
          <p:cNvPr id="18" name="">
            <a:extLst xmlns:a="http://schemas.openxmlformats.org/drawingml/2006/main">
              <a:ext uri="{FF2B5EF4-FFF2-40B4-BE49-F238E27FC236}">
                <a16:creationId xmlns:a16="http://schemas.microsoft.com/office/drawing/2014/main" id="{42138B64-8AE9-4B03-B0CD-1440BE904940}"/>
              </a:ext>
            </a:extLst>
          </p:cNvPr>
          <p:cNvSpPr>
            <a:spLocks xmlns:a="http://schemas.openxmlformats.org/drawingml/2006/main" noGrp="1"/>
          </p:cNvSpPr>
          <p:nvPr/>
        </p:nvSpPr>
        <p:spPr>
          <a:xfrm xmlns:a="http://schemas.openxmlformats.org/drawingml/2006/main">
            <a:off x="685800" y="3162300"/>
            <a:ext cx="10267950" cy="2095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DC48FBFC-A12F-412B-A1B1-16D3E4377DC0}"/>
              </a:ext>
            </a:extLst>
          </p:cNvPr>
          <p:cNvSpPr>
            <a:spLocks xmlns:a="http://schemas.openxmlformats.org/drawingml/2006/main" noGrp="1"/>
          </p:cNvSpPr>
          <p:nvPr/>
        </p:nvSpPr>
        <p:spPr>
          <a:xfrm xmlns:a="http://schemas.openxmlformats.org/drawingml/2006/main">
            <a:off x="914400" y="3390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COVERAGE DIMENSIONS</a:t>
            </a:r>
          </a:p>
        </p:txBody>
      </p:sp>
      <p:sp>
        <p:nvSpPr>
          <p:cNvPr id="20" name="">
            <a:extLst xmlns:a="http://schemas.openxmlformats.org/drawingml/2006/main">
              <a:ext uri="{FF2B5EF4-FFF2-40B4-BE49-F238E27FC236}">
                <a16:creationId xmlns:a16="http://schemas.microsoft.com/office/drawing/2014/main" id="{F95B42AA-7515-4F5D-8C2A-3A28CF66775C}"/>
              </a:ext>
            </a:extLst>
          </p:cNvPr>
          <p:cNvSpPr>
            <a:spLocks xmlns:a="http://schemas.openxmlformats.org/drawingml/2006/main" noGrp="1"/>
          </p:cNvSpPr>
          <p:nvPr/>
        </p:nvSpPr>
        <p:spPr>
          <a:xfrm xmlns:a="http://schemas.openxmlformats.org/drawingml/2006/main">
            <a:off x="952500" y="38290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Build</a:t>
            </a:r>
          </a:p>
        </p:txBody>
      </p:sp>
      <p:sp>
        <p:nvSpPr>
          <p:cNvPr id="21" name="rule">
            <a:extLst xmlns:a="http://schemas.openxmlformats.org/drawingml/2006/main">
              <a:ext uri="{FF2B5EF4-FFF2-40B4-BE49-F238E27FC236}">
                <a16:creationId xmlns:a16="http://schemas.microsoft.com/office/drawing/2014/main" id="{CDD69AB1-3FA4-4B7E-A152-4A2E39A098A4}"/>
              </a:ext>
            </a:extLst>
          </p:cNvPr>
          <p:cNvSpPr>
            <a:spLocks xmlns:a="http://schemas.openxmlformats.org/drawingml/2006/main" noGrp="1"/>
          </p:cNvSpPr>
          <p:nvPr/>
        </p:nvSpPr>
        <p:spPr>
          <a:xfrm xmlns:a="http://schemas.openxmlformats.org/drawingml/2006/main">
            <a:off x="2171700" y="3924300"/>
            <a:ext cx="38100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1CE753C-AB8E-4B98-A82C-0F3D14D435D2}"/>
              </a:ext>
            </a:extLst>
          </p:cNvPr>
          <p:cNvSpPr>
            <a:spLocks xmlns:a="http://schemas.openxmlformats.org/drawingml/2006/main" noGrp="1"/>
          </p:cNvSpPr>
          <p:nvPr/>
        </p:nvSpPr>
        <p:spPr>
          <a:xfrm xmlns:a="http://schemas.openxmlformats.org/drawingml/2006/main">
            <a:off x="2724150" y="37909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clear  rename  shrink  optimize  repackage  inline stress</a:t>
            </a:r>
          </a:p>
        </p:txBody>
      </p:sp>
      <p:sp>
        <p:nvSpPr>
          <p:cNvPr id="23" name="">
            <a:extLst xmlns:a="http://schemas.openxmlformats.org/drawingml/2006/main">
              <a:ext uri="{FF2B5EF4-FFF2-40B4-BE49-F238E27FC236}">
                <a16:creationId xmlns:a16="http://schemas.microsoft.com/office/drawing/2014/main" id="{9E0B40EF-6A90-42B7-B08B-22A9E1B1FA13}"/>
              </a:ext>
            </a:extLst>
          </p:cNvPr>
          <p:cNvSpPr>
            <a:spLocks xmlns:a="http://schemas.openxmlformats.org/drawingml/2006/main" noGrp="1"/>
          </p:cNvSpPr>
          <p:nvPr/>
        </p:nvSpPr>
        <p:spPr>
          <a:xfrm xmlns:a="http://schemas.openxmlformats.org/drawingml/2006/main">
            <a:off x="952500" y="41910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Packaging</a:t>
            </a:r>
          </a:p>
        </p:txBody>
      </p:sp>
      <p:sp>
        <p:nvSpPr>
          <p:cNvPr id="24" name="rule">
            <a:extLst xmlns:a="http://schemas.openxmlformats.org/drawingml/2006/main">
              <a:ext uri="{FF2B5EF4-FFF2-40B4-BE49-F238E27FC236}">
                <a16:creationId xmlns:a16="http://schemas.microsoft.com/office/drawing/2014/main" id="{CFA9BB9A-6710-406C-B3DB-27886A9A8204}"/>
              </a:ext>
            </a:extLst>
          </p:cNvPr>
          <p:cNvSpPr>
            <a:spLocks xmlns:a="http://schemas.openxmlformats.org/drawingml/2006/main" noGrp="1"/>
          </p:cNvSpPr>
          <p:nvPr/>
        </p:nvSpPr>
        <p:spPr>
          <a:xfrm xmlns:a="http://schemas.openxmlformats.org/drawingml/2006/main">
            <a:off x="2171700" y="4286250"/>
            <a:ext cx="38100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EDBC9BC-FC59-43C8-B78D-F2D8DE0EEA50}"/>
              </a:ext>
            </a:extLst>
          </p:cNvPr>
          <p:cNvSpPr>
            <a:spLocks xmlns:a="http://schemas.openxmlformats.org/drawingml/2006/main" noGrp="1"/>
          </p:cNvSpPr>
          <p:nvPr/>
        </p:nvSpPr>
        <p:spPr>
          <a:xfrm xmlns:a="http://schemas.openxmlformats.org/drawingml/2006/main">
            <a:off x="2724150" y="41529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single DEX  multidex  multi-library  native-heavy</a:t>
            </a:r>
          </a:p>
        </p:txBody>
      </p:sp>
      <p:sp>
        <p:nvSpPr>
          <p:cNvPr id="26" name="">
            <a:extLst xmlns:a="http://schemas.openxmlformats.org/drawingml/2006/main">
              <a:ext uri="{FF2B5EF4-FFF2-40B4-BE49-F238E27FC236}">
                <a16:creationId xmlns:a16="http://schemas.microsoft.com/office/drawing/2014/main" id="{280F805D-1756-4C1E-A34F-C0C91819CF0B}"/>
              </a:ext>
            </a:extLst>
          </p:cNvPr>
          <p:cNvSpPr>
            <a:spLocks xmlns:a="http://schemas.openxmlformats.org/drawingml/2006/main" noGrp="1"/>
          </p:cNvSpPr>
          <p:nvPr/>
        </p:nvSpPr>
        <p:spPr>
          <a:xfrm xmlns:a="http://schemas.openxmlformats.org/drawingml/2006/main">
            <a:off x="952500" y="45529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Ecosystem</a:t>
            </a:r>
          </a:p>
        </p:txBody>
      </p:sp>
      <p:sp>
        <p:nvSpPr>
          <p:cNvPr id="27" name="rule">
            <a:extLst xmlns:a="http://schemas.openxmlformats.org/drawingml/2006/main">
              <a:ext uri="{FF2B5EF4-FFF2-40B4-BE49-F238E27FC236}">
                <a16:creationId xmlns:a16="http://schemas.microsoft.com/office/drawing/2014/main" id="{C0A6A512-AF30-4800-BB27-D2F3BE200504}"/>
              </a:ext>
            </a:extLst>
          </p:cNvPr>
          <p:cNvSpPr>
            <a:spLocks xmlns:a="http://schemas.openxmlformats.org/drawingml/2006/main" noGrp="1"/>
          </p:cNvSpPr>
          <p:nvPr/>
        </p:nvSpPr>
        <p:spPr>
          <a:xfrm xmlns:a="http://schemas.openxmlformats.org/drawingml/2006/main">
            <a:off x="2171700" y="4648200"/>
            <a:ext cx="38100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876D9E2-CAB1-458C-9A13-7C409F742FFA}"/>
              </a:ext>
            </a:extLst>
          </p:cNvPr>
          <p:cNvSpPr>
            <a:spLocks xmlns:a="http://schemas.openxmlformats.org/drawingml/2006/main" noGrp="1"/>
          </p:cNvSpPr>
          <p:nvPr/>
        </p:nvSpPr>
        <p:spPr>
          <a:xfrm xmlns:a="http://schemas.openxmlformats.org/drawingml/2006/main">
            <a:off x="2724150" y="4514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AndroidX  Kotlin  Compose  networking  security  legacy</a:t>
            </a:r>
          </a:p>
        </p:txBody>
      </p:sp>
      <p:sp>
        <p:nvSpPr>
          <p:cNvPr id="29" name="">
            <a:extLst xmlns:a="http://schemas.openxmlformats.org/drawingml/2006/main">
              <a:ext uri="{FF2B5EF4-FFF2-40B4-BE49-F238E27FC236}">
                <a16:creationId xmlns:a16="http://schemas.microsoft.com/office/drawing/2014/main" id="{73DE5F6D-DA5C-4734-8C4A-76102C13FC90}"/>
              </a:ext>
            </a:extLst>
          </p:cNvPr>
          <p:cNvSpPr>
            <a:spLocks xmlns:a="http://schemas.openxmlformats.org/drawingml/2006/main" noGrp="1"/>
          </p:cNvSpPr>
          <p:nvPr/>
        </p:nvSpPr>
        <p:spPr>
          <a:xfrm xmlns:a="http://schemas.openxmlformats.org/drawingml/2006/main">
            <a:off x="952500" y="49149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Boundaries</a:t>
            </a:r>
          </a:p>
        </p:txBody>
      </p:sp>
      <p:sp>
        <p:nvSpPr>
          <p:cNvPr id="30" name="rule">
            <a:extLst xmlns:a="http://schemas.openxmlformats.org/drawingml/2006/main">
              <a:ext uri="{FF2B5EF4-FFF2-40B4-BE49-F238E27FC236}">
                <a16:creationId xmlns:a16="http://schemas.microsoft.com/office/drawing/2014/main" id="{22ECF34D-3CC8-4665-9E76-F9D67C96744E}"/>
              </a:ext>
            </a:extLst>
          </p:cNvPr>
          <p:cNvSpPr>
            <a:spLocks xmlns:a="http://schemas.openxmlformats.org/drawingml/2006/main" noGrp="1"/>
          </p:cNvSpPr>
          <p:nvPr/>
        </p:nvSpPr>
        <p:spPr>
          <a:xfrm xmlns:a="http://schemas.openxmlformats.org/drawingml/2006/main">
            <a:off x="2171700" y="5010150"/>
            <a:ext cx="381000" cy="28575"/>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0F6FB5A-3B7E-4967-894A-6BCF082420F3}"/>
              </a:ext>
            </a:extLst>
          </p:cNvPr>
          <p:cNvSpPr>
            <a:spLocks xmlns:a="http://schemas.openxmlformats.org/drawingml/2006/main" noGrp="1"/>
          </p:cNvSpPr>
          <p:nvPr/>
        </p:nvSpPr>
        <p:spPr>
          <a:xfrm xmlns:a="http://schemas.openxmlformats.org/drawingml/2006/main">
            <a:off x="2724150" y="487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native .so  hidden DEX  protected/obfuscated samples</a:t>
            </a:r>
          </a:p>
        </p:txBody>
      </p:sp>
      <p:sp>
        <p:nvSpPr>
          <p:cNvPr id="32" name="">
            <a:extLst xmlns:a="http://schemas.openxmlformats.org/drawingml/2006/main">
              <a:ext uri="{FF2B5EF4-FFF2-40B4-BE49-F238E27FC236}">
                <a16:creationId xmlns:a16="http://schemas.microsoft.com/office/drawing/2014/main" id="{7DBC26E6-F8AC-4ED0-872D-1741754331BA}"/>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B297445-5AEE-498B-ABB6-CEBD2FDE6468}"/>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Canonical truth: data/results/evaluation/thesis-evaluation-tables.json  |  docs/evaluation/THESIS_EVALUATION_TABLES.md</a:t>
            </a:r>
          </a:p>
        </p:txBody>
      </p:sp>
      <p:sp>
        <p:nvSpPr>
          <p:cNvPr id="34" name="">
            <a:extLst xmlns:a="http://schemas.openxmlformats.org/drawingml/2006/main">
              <a:ext uri="{FF2B5EF4-FFF2-40B4-BE49-F238E27FC236}">
                <a16:creationId xmlns:a16="http://schemas.microsoft.com/office/drawing/2014/main" id="{436DCCAE-2BD7-4C8D-95B8-EA6E60C8B5A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48533242"/>
      </p:ext>
    </p:extLst>
  </p:cSld>
</p:sld>
</file>

<file path=ppt/slides/slide1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945350-373F-4D40-8025-7AC9349082E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EVALUATION METHODOLOGY</a:t>
            </a:r>
          </a:p>
        </p:txBody>
      </p:sp>
      <p:sp>
        <p:nvSpPr>
          <p:cNvPr id="2" name="">
            <a:extLst xmlns:a="http://schemas.openxmlformats.org/drawingml/2006/main">
              <a:ext uri="{FF2B5EF4-FFF2-40B4-BE49-F238E27FC236}">
                <a16:creationId xmlns:a16="http://schemas.microsoft.com/office/drawing/2014/main" id="{5CED2AB0-6670-4516-AAB6-8F61AE19BD3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methodology measures only what each ground-truth layer can support</a:t>
            </a:r>
          </a:p>
        </p:txBody>
      </p:sp>
      <p:sp>
        <p:nvSpPr>
          <p:cNvPr id="3" name="">
            <a:extLst xmlns:a="http://schemas.openxmlformats.org/drawingml/2006/main">
              <a:ext uri="{FF2B5EF4-FFF2-40B4-BE49-F238E27FC236}">
                <a16:creationId xmlns:a16="http://schemas.microsoft.com/office/drawing/2014/main" id="{78471EE9-BB6C-4E55-8B45-1EB2568C0E7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A9E50B64-3B6F-4104-8931-42A5065BA92A}"/>
              </a:ext>
            </a:extLst>
          </p:cNvPr>
          <p:cNvSpPr>
            <a:spLocks xmlns:a="http://schemas.openxmlformats.org/drawingml/2006/main" noGrp="1"/>
          </p:cNvSpPr>
          <p:nvPr/>
        </p:nvSpPr>
        <p:spPr>
          <a:xfrm xmlns:a="http://schemas.openxmlformats.org/drawingml/2006/main">
            <a:off x="685800" y="15240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7EAB8769-AF12-4A71-B85A-7CFBCEEC7047}"/>
              </a:ext>
            </a:extLst>
          </p:cNvPr>
          <p:cNvSpPr>
            <a:spLocks xmlns:a="http://schemas.openxmlformats.org/drawingml/2006/main" noGrp="1"/>
          </p:cNvSpPr>
          <p:nvPr/>
        </p:nvSpPr>
        <p:spPr>
          <a:xfrm xmlns:a="http://schemas.openxmlformats.org/drawingml/2006/main">
            <a:off x="895350" y="1695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F7C61"/>
                </a:solidFill>
                <a:latin typeface="Aptos"/>
                <a:ea typeface="Aptos"/>
                <a:cs typeface="Aptos"/>
              </a:defRPr>
            </a:pPr>
            <a:r>
              <a:rPr sz="1425" b="1">
                <a:solidFill>
                  <a:srgbClr val="6F7C61"/>
                </a:solidFill>
                <a:latin typeface="Aptos"/>
                <a:ea typeface="Aptos"/>
                <a:cs typeface="Aptos"/>
              </a:rPr>
              <a:t>Controlled</a:t>
            </a:r>
          </a:p>
        </p:txBody>
      </p:sp>
      <p:sp>
        <p:nvSpPr>
          <p:cNvPr id="6" name="">
            <a:extLst xmlns:a="http://schemas.openxmlformats.org/drawingml/2006/main">
              <a:ext uri="{FF2B5EF4-FFF2-40B4-BE49-F238E27FC236}">
                <a16:creationId xmlns:a16="http://schemas.microsoft.com/office/drawing/2014/main" id="{5182B6E0-81EC-4789-9CF1-D1907E261A56}"/>
              </a:ext>
            </a:extLst>
          </p:cNvPr>
          <p:cNvSpPr>
            <a:spLocks xmlns:a="http://schemas.openxmlformats.org/drawingml/2006/main" noGrp="1"/>
          </p:cNvSpPr>
          <p:nvPr/>
        </p:nvSpPr>
        <p:spPr>
          <a:xfrm xmlns:a="http://schemas.openxmlformats.org/drawingml/2006/main">
            <a:off x="2609850" y="1676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Expected coordinate + version</a:t>
            </a:r>
          </a:p>
        </p:txBody>
      </p:sp>
      <p:sp>
        <p:nvSpPr>
          <p:cNvPr id="7" name="">
            <a:extLst xmlns:a="http://schemas.openxmlformats.org/drawingml/2006/main">
              <a:ext uri="{FF2B5EF4-FFF2-40B4-BE49-F238E27FC236}">
                <a16:creationId xmlns:a16="http://schemas.microsoft.com/office/drawing/2014/main" id="{A5519011-7525-4E4B-9F06-659E695066DF}"/>
              </a:ext>
            </a:extLst>
          </p:cNvPr>
          <p:cNvSpPr>
            <a:spLocks xmlns:a="http://schemas.openxmlformats.org/drawingml/2006/main" noGrp="1"/>
          </p:cNvSpPr>
          <p:nvPr/>
        </p:nvSpPr>
        <p:spPr>
          <a:xfrm xmlns:a="http://schemas.openxmlformats.org/drawingml/2006/main">
            <a:off x="5410200" y="16764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TP / FP / FN / version mismatch</a:t>
            </a:r>
          </a:p>
        </p:txBody>
      </p:sp>
      <p:sp>
        <p:nvSpPr>
          <p:cNvPr id="8" name="">
            <a:extLst xmlns:a="http://schemas.openxmlformats.org/drawingml/2006/main">
              <a:ext uri="{FF2B5EF4-FFF2-40B4-BE49-F238E27FC236}">
                <a16:creationId xmlns:a16="http://schemas.microsoft.com/office/drawing/2014/main" id="{1E117A50-6024-4C8F-8F73-D80E79A8A003}"/>
              </a:ext>
            </a:extLst>
          </p:cNvPr>
          <p:cNvSpPr>
            <a:spLocks xmlns:a="http://schemas.openxmlformats.org/drawingml/2006/main" noGrp="1"/>
          </p:cNvSpPr>
          <p:nvPr/>
        </p:nvSpPr>
        <p:spPr>
          <a:xfrm xmlns:a="http://schemas.openxmlformats.org/drawingml/2006/main">
            <a:off x="8515350" y="17716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9" name="">
            <a:extLst xmlns:a="http://schemas.openxmlformats.org/drawingml/2006/main">
              <a:ext uri="{FF2B5EF4-FFF2-40B4-BE49-F238E27FC236}">
                <a16:creationId xmlns:a16="http://schemas.microsoft.com/office/drawing/2014/main" id="{CC7198BD-26C4-4D0A-B6F0-7558269516D5}"/>
              </a:ext>
            </a:extLst>
          </p:cNvPr>
          <p:cNvSpPr>
            <a:spLocks xmlns:a="http://schemas.openxmlformats.org/drawingml/2006/main" noGrp="1"/>
          </p:cNvSpPr>
          <p:nvPr/>
        </p:nvSpPr>
        <p:spPr>
          <a:xfrm xmlns:a="http://schemas.openxmlformats.org/drawingml/2006/main">
            <a:off x="8582025" y="18288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Precision, recall, F1, exact version</a:t>
            </a:r>
          </a:p>
        </p:txBody>
      </p:sp>
      <p:sp>
        <p:nvSpPr>
          <p:cNvPr id="10" name="">
            <a:extLst xmlns:a="http://schemas.openxmlformats.org/drawingml/2006/main">
              <a:ext uri="{FF2B5EF4-FFF2-40B4-BE49-F238E27FC236}">
                <a16:creationId xmlns:a16="http://schemas.microsoft.com/office/drawing/2014/main" id="{E3EF4FA4-BDDC-42CD-87E5-CF341AF61047}"/>
              </a:ext>
            </a:extLst>
          </p:cNvPr>
          <p:cNvSpPr>
            <a:spLocks xmlns:a="http://schemas.openxmlformats.org/drawingml/2006/main" noGrp="1"/>
          </p:cNvSpPr>
          <p:nvPr/>
        </p:nvSpPr>
        <p:spPr>
          <a:xfrm xmlns:a="http://schemas.openxmlformats.org/drawingml/2006/main">
            <a:off x="685800" y="276225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B8FD1B79-2F3F-4A57-8BC4-7BDAB45A4FDC}"/>
              </a:ext>
            </a:extLst>
          </p:cNvPr>
          <p:cNvSpPr>
            <a:spLocks xmlns:a="http://schemas.openxmlformats.org/drawingml/2006/main" noGrp="1"/>
          </p:cNvSpPr>
          <p:nvPr/>
        </p:nvSpPr>
        <p:spPr>
          <a:xfrm xmlns:a="http://schemas.openxmlformats.org/drawingml/2006/main">
            <a:off x="895350" y="2933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4F7D76"/>
                </a:solidFill>
                <a:latin typeface="Aptos"/>
                <a:ea typeface="Aptos"/>
                <a:cs typeface="Aptos"/>
              </a:defRPr>
            </a:pPr>
            <a:r>
              <a:rPr sz="1425" b="1">
                <a:solidFill>
                  <a:srgbClr val="4F7D76"/>
                </a:solidFill>
                <a:latin typeface="Aptos"/>
                <a:ea typeface="Aptos"/>
                <a:cs typeface="Aptos"/>
              </a:rPr>
              <a:t>Source-validated</a:t>
            </a:r>
          </a:p>
        </p:txBody>
      </p:sp>
      <p:sp>
        <p:nvSpPr>
          <p:cNvPr id="12" name="">
            <a:extLst xmlns:a="http://schemas.openxmlformats.org/drawingml/2006/main">
              <a:ext uri="{FF2B5EF4-FFF2-40B4-BE49-F238E27FC236}">
                <a16:creationId xmlns:a16="http://schemas.microsoft.com/office/drawing/2014/main" id="{EC23EDFF-E8A9-4FDC-A3DD-EE9751B6A8F4}"/>
              </a:ext>
            </a:extLst>
          </p:cNvPr>
          <p:cNvSpPr>
            <a:spLocks xmlns:a="http://schemas.openxmlformats.org/drawingml/2006/main" noGrp="1"/>
          </p:cNvSpPr>
          <p:nvPr/>
        </p:nvSpPr>
        <p:spPr>
          <a:xfrm xmlns:a="http://schemas.openxmlformats.org/drawingml/2006/main">
            <a:off x="2609850" y="29146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Resolved runtime dependency tree</a:t>
            </a:r>
          </a:p>
        </p:txBody>
      </p:sp>
      <p:sp>
        <p:nvSpPr>
          <p:cNvPr id="13" name="">
            <a:extLst xmlns:a="http://schemas.openxmlformats.org/drawingml/2006/main">
              <a:ext uri="{FF2B5EF4-FFF2-40B4-BE49-F238E27FC236}">
                <a16:creationId xmlns:a16="http://schemas.microsoft.com/office/drawing/2014/main" id="{E5D2AEC4-DE5A-4E47-A002-531D040182F4}"/>
              </a:ext>
            </a:extLst>
          </p:cNvPr>
          <p:cNvSpPr>
            <a:spLocks xmlns:a="http://schemas.openxmlformats.org/drawingml/2006/main" noGrp="1"/>
          </p:cNvSpPr>
          <p:nvPr/>
        </p:nvSpPr>
        <p:spPr>
          <a:xfrm xmlns:a="http://schemas.openxmlformats.org/drawingml/2006/main">
            <a:off x="5410200" y="2914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Confirmed / mismatch / missing or nuance</a:t>
            </a:r>
          </a:p>
        </p:txBody>
      </p:sp>
      <p:sp>
        <p:nvSpPr>
          <p:cNvPr id="14" name="">
            <a:extLst xmlns:a="http://schemas.openxmlformats.org/drawingml/2006/main">
              <a:ext uri="{FF2B5EF4-FFF2-40B4-BE49-F238E27FC236}">
                <a16:creationId xmlns:a16="http://schemas.microsoft.com/office/drawing/2014/main" id="{57F0003C-F541-4559-AAB9-E0745530B8A4}"/>
              </a:ext>
            </a:extLst>
          </p:cNvPr>
          <p:cNvSpPr>
            <a:spLocks xmlns:a="http://schemas.openxmlformats.org/drawingml/2006/main" noGrp="1"/>
          </p:cNvSpPr>
          <p:nvPr/>
        </p:nvSpPr>
        <p:spPr>
          <a:xfrm xmlns:a="http://schemas.openxmlformats.org/drawingml/2006/main">
            <a:off x="8515350" y="300990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BAA80790-08EC-4D49-854B-E40F62B07ED5}"/>
              </a:ext>
            </a:extLst>
          </p:cNvPr>
          <p:cNvSpPr>
            <a:spLocks xmlns:a="http://schemas.openxmlformats.org/drawingml/2006/main" noGrp="1"/>
          </p:cNvSpPr>
          <p:nvPr/>
        </p:nvSpPr>
        <p:spPr>
          <a:xfrm xmlns:a="http://schemas.openxmlformats.org/drawingml/2006/main">
            <a:off x="8582025" y="306705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Emitted Maven version confirmation</a:t>
            </a:r>
          </a:p>
        </p:txBody>
      </p:sp>
      <p:sp>
        <p:nvSpPr>
          <p:cNvPr id="16" name="">
            <a:extLst xmlns:a="http://schemas.openxmlformats.org/drawingml/2006/main">
              <a:ext uri="{FF2B5EF4-FFF2-40B4-BE49-F238E27FC236}">
                <a16:creationId xmlns:a16="http://schemas.microsoft.com/office/drawing/2014/main" id="{9D8ACD3A-79CF-4F0C-9F85-946400E40D72}"/>
              </a:ext>
            </a:extLst>
          </p:cNvPr>
          <p:cNvSpPr>
            <a:spLocks xmlns:a="http://schemas.openxmlformats.org/drawingml/2006/main" noGrp="1"/>
          </p:cNvSpPr>
          <p:nvPr/>
        </p:nvSpPr>
        <p:spPr>
          <a:xfrm xmlns:a="http://schemas.openxmlformats.org/drawingml/2006/main">
            <a:off x="685800" y="40005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A2EC1679-C91E-450F-A96B-F4B4C5E14714}"/>
              </a:ext>
            </a:extLst>
          </p:cNvPr>
          <p:cNvSpPr>
            <a:spLocks xmlns:a="http://schemas.openxmlformats.org/drawingml/2006/main" noGrp="1"/>
          </p:cNvSpPr>
          <p:nvPr/>
        </p:nvSpPr>
        <p:spPr>
          <a:xfrm xmlns:a="http://schemas.openxmlformats.org/drawingml/2006/main">
            <a:off x="895350" y="4171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55F73"/>
                </a:solidFill>
                <a:latin typeface="Aptos"/>
                <a:ea typeface="Aptos"/>
                <a:cs typeface="Aptos"/>
              </a:defRPr>
            </a:pPr>
            <a:r>
              <a:rPr sz="1425" b="1">
                <a:solidFill>
                  <a:srgbClr val="655F73"/>
                </a:solidFill>
                <a:latin typeface="Aptos"/>
                <a:ea typeface="Aptos"/>
                <a:cs typeface="Aptos"/>
              </a:rPr>
              <a:t>Smoke / limitation</a:t>
            </a:r>
          </a:p>
        </p:txBody>
      </p:sp>
      <p:sp>
        <p:nvSpPr>
          <p:cNvPr id="18" name="">
            <a:extLst xmlns:a="http://schemas.openxmlformats.org/drawingml/2006/main">
              <a:ext uri="{FF2B5EF4-FFF2-40B4-BE49-F238E27FC236}">
                <a16:creationId xmlns:a16="http://schemas.microsoft.com/office/drawing/2014/main" id="{F2331D81-821B-4AE4-93D1-9D4D78A16493}"/>
              </a:ext>
            </a:extLst>
          </p:cNvPr>
          <p:cNvSpPr>
            <a:spLocks xmlns:a="http://schemas.openxmlformats.org/drawingml/2006/main" noGrp="1"/>
          </p:cNvSpPr>
          <p:nvPr/>
        </p:nvSpPr>
        <p:spPr>
          <a:xfrm xmlns:a="http://schemas.openxmlformats.org/drawingml/2006/main">
            <a:off x="2609850" y="41529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No complete dependency truth</a:t>
            </a:r>
          </a:p>
        </p:txBody>
      </p:sp>
      <p:sp>
        <p:nvSpPr>
          <p:cNvPr id="19" name="">
            <a:extLst xmlns:a="http://schemas.openxmlformats.org/drawingml/2006/main">
              <a:ext uri="{FF2B5EF4-FFF2-40B4-BE49-F238E27FC236}">
                <a16:creationId xmlns:a16="http://schemas.microsoft.com/office/drawing/2014/main" id="{3E9D73F3-1299-4210-B172-26A47E80985E}"/>
              </a:ext>
            </a:extLst>
          </p:cNvPr>
          <p:cNvSpPr>
            <a:spLocks xmlns:a="http://schemas.openxmlformats.org/drawingml/2006/main" noGrp="1"/>
          </p:cNvSpPr>
          <p:nvPr/>
        </p:nvSpPr>
        <p:spPr>
          <a:xfrm xmlns:a="http://schemas.openxmlformats.org/drawingml/2006/main">
            <a:off x="5410200" y="4152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Parse success, runtime, warnings, outputs</a:t>
            </a:r>
          </a:p>
        </p:txBody>
      </p:sp>
      <p:sp>
        <p:nvSpPr>
          <p:cNvPr id="20" name="">
            <a:extLst xmlns:a="http://schemas.openxmlformats.org/drawingml/2006/main">
              <a:ext uri="{FF2B5EF4-FFF2-40B4-BE49-F238E27FC236}">
                <a16:creationId xmlns:a16="http://schemas.microsoft.com/office/drawing/2014/main" id="{DAAAC3AF-2C3D-4A4B-A903-15FD34B6C621}"/>
              </a:ext>
            </a:extLst>
          </p:cNvPr>
          <p:cNvSpPr>
            <a:spLocks xmlns:a="http://schemas.openxmlformats.org/drawingml/2006/main" noGrp="1"/>
          </p:cNvSpPr>
          <p:nvPr/>
        </p:nvSpPr>
        <p:spPr>
          <a:xfrm xmlns:a="http://schemas.openxmlformats.org/drawingml/2006/main">
            <a:off x="8515350" y="42481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9810AC5C-7A70-457B-9F6E-515F6783C8DF}"/>
              </a:ext>
            </a:extLst>
          </p:cNvPr>
          <p:cNvSpPr>
            <a:spLocks xmlns:a="http://schemas.openxmlformats.org/drawingml/2006/main" noGrp="1"/>
          </p:cNvSpPr>
          <p:nvPr/>
        </p:nvSpPr>
        <p:spPr>
          <a:xfrm xmlns:a="http://schemas.openxmlformats.org/drawingml/2006/main">
            <a:off x="8582025" y="43053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Qualitative behavior only</a:t>
            </a:r>
          </a:p>
        </p:txBody>
      </p:sp>
      <p:sp>
        <p:nvSpPr>
          <p:cNvPr id="22" name="">
            <a:extLst xmlns:a="http://schemas.openxmlformats.org/drawingml/2006/main">
              <a:ext uri="{FF2B5EF4-FFF2-40B4-BE49-F238E27FC236}">
                <a16:creationId xmlns:a16="http://schemas.microsoft.com/office/drawing/2014/main" id="{5540D063-67AD-4074-B546-A68322D28831}"/>
              </a:ext>
            </a:extLst>
          </p:cNvPr>
          <p:cNvSpPr>
            <a:spLocks xmlns:a="http://schemas.openxmlformats.org/drawingml/2006/main" noGrp="1"/>
          </p:cNvSpPr>
          <p:nvPr/>
        </p:nvSpPr>
        <p:spPr>
          <a:xfrm xmlns:a="http://schemas.openxmlformats.org/drawingml/2006/main">
            <a:off x="685800" y="539115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17378DE6-B967-495D-A99C-A165991CB159}"/>
              </a:ext>
            </a:extLst>
          </p:cNvPr>
          <p:cNvSpPr>
            <a:spLocks xmlns:a="http://schemas.openxmlformats.org/drawingml/2006/main" noGrp="1"/>
          </p:cNvSpPr>
          <p:nvPr/>
        </p:nvSpPr>
        <p:spPr>
          <a:xfrm xmlns:a="http://schemas.openxmlformats.org/drawingml/2006/main">
            <a:off x="876300" y="5562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REQUIRED PHRASE</a:t>
            </a:r>
          </a:p>
        </p:txBody>
      </p:sp>
      <p:sp>
        <p:nvSpPr>
          <p:cNvPr id="24" name="">
            <a:extLst xmlns:a="http://schemas.openxmlformats.org/drawingml/2006/main">
              <a:ext uri="{FF2B5EF4-FFF2-40B4-BE49-F238E27FC236}">
                <a16:creationId xmlns:a16="http://schemas.microsoft.com/office/drawing/2014/main" id="{C26534D1-C8FF-4FA1-96CE-CC86B85434E0}"/>
              </a:ext>
            </a:extLst>
          </p:cNvPr>
          <p:cNvSpPr>
            <a:spLocks xmlns:a="http://schemas.openxmlformats.org/drawingml/2006/main" noGrp="1"/>
          </p:cNvSpPr>
          <p:nvPr/>
        </p:nvSpPr>
        <p:spPr>
          <a:xfrm xmlns:a="http://schemas.openxmlformats.org/drawingml/2006/main">
            <a:off x="2343150" y="55149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real-APK metric is emitted Maven version confirmation rate, not full dependency recall.</a:t>
            </a:r>
          </a:p>
        </p:txBody>
      </p:sp>
      <p:sp>
        <p:nvSpPr>
          <p:cNvPr id="25" name="">
            <a:extLst xmlns:a="http://schemas.openxmlformats.org/drawingml/2006/main">
              <a:ext uri="{FF2B5EF4-FFF2-40B4-BE49-F238E27FC236}">
                <a16:creationId xmlns:a16="http://schemas.microsoft.com/office/drawing/2014/main" id="{57F97A48-8E32-46A5-A6D4-77B3A6DB62B0}"/>
              </a:ext>
            </a:extLst>
          </p:cNvPr>
          <p:cNvSpPr>
            <a:spLocks xmlns:a="http://schemas.openxmlformats.org/drawingml/2006/main" noGrp="1"/>
          </p:cNvSpPr>
          <p:nvPr/>
        </p:nvSpPr>
        <p:spPr>
          <a:xfrm xmlns:a="http://schemas.openxmlformats.org/drawingml/2006/main">
            <a:off x="685800" y="61531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AED0A1C-0677-409D-BD27-3BB7B577DC8B}"/>
              </a:ext>
            </a:extLst>
          </p:cNvPr>
          <p:cNvSpPr>
            <a:spLocks xmlns:a="http://schemas.openxmlformats.org/drawingml/2006/main" noGrp="1"/>
          </p:cNvSpPr>
          <p:nvPr/>
        </p:nvSpPr>
        <p:spPr>
          <a:xfrm xmlns:a="http://schemas.openxmlformats.org/drawingml/2006/main">
            <a:off x="819150" y="62198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Generation: scripts/build_apk_type_evaluation.py  -&gt;  scripts/build_thesis_evaluation_tables.py</a:t>
            </a:r>
          </a:p>
        </p:txBody>
      </p:sp>
      <p:sp>
        <p:nvSpPr>
          <p:cNvPr id="27" name="">
            <a:extLst xmlns:a="http://schemas.openxmlformats.org/drawingml/2006/main">
              <a:ext uri="{FF2B5EF4-FFF2-40B4-BE49-F238E27FC236}">
                <a16:creationId xmlns:a16="http://schemas.microsoft.com/office/drawing/2014/main" id="{FA7D216B-8942-4160-905B-58E85A82C12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35098326"/>
      </p:ext>
    </p:extLst>
  </p:cSld>
</p:sld>
</file>

<file path=ppt/slides/slide20.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BDBB69-7CF2-4E2D-86D5-DB1DD47448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1B049E-A052-4996-8D4E-A510E0137EB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11082D-A892-412C-8596-135FA6D6CCF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31563381-E533-486D-8441-9F94406870C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normal real-APK result and the v2 upper-bound answer different questions</a:t>
            </a:r>
          </a:p>
        </p:txBody>
      </p:sp>
      <p:sp>
        <p:nvSpPr>
          <p:cNvPr id="5" name="">
            <a:extLst xmlns:a="http://schemas.openxmlformats.org/drawingml/2006/main">
              <a:ext uri="{FF2B5EF4-FFF2-40B4-BE49-F238E27FC236}">
                <a16:creationId xmlns:a16="http://schemas.microsoft.com/office/drawing/2014/main" id="{E46BB511-7D48-4B91-9640-BE810DF490D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06354D69-A9DA-4727-8406-A51192FFDEB6}"/>
              </a:ext>
            </a:extLst>
          </p:cNvPr>
          <p:cNvSpPr>
            <a:spLocks xmlns:a="http://schemas.openxmlformats.org/drawingml/2006/main" noGrp="1"/>
          </p:cNvSpPr>
          <p:nvPr/>
        </p:nvSpPr>
        <p:spPr>
          <a:xfrm xmlns:a="http://schemas.openxmlformats.org/drawingml/2006/main">
            <a:off x="685800" y="1543050"/>
            <a:ext cx="6324600" cy="4095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24CD1D2A-B982-4DDA-AD2B-0DAB33595646}"/>
              </a:ext>
            </a:extLst>
          </p:cNvPr>
          <p:cNvSpPr>
            <a:spLocks xmlns:a="http://schemas.openxmlformats.org/drawingml/2006/main" noGrp="1"/>
          </p:cNvSpPr>
          <p:nvPr/>
        </p:nvSpPr>
        <p:spPr>
          <a:xfrm xmlns:a="http://schemas.openxmlformats.org/drawingml/2006/main">
            <a:off x="914400" y="1790700"/>
            <a:ext cx="2647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8" name="">
            <a:extLst xmlns:a="http://schemas.openxmlformats.org/drawingml/2006/main">
              <a:ext uri="{FF2B5EF4-FFF2-40B4-BE49-F238E27FC236}">
                <a16:creationId xmlns:a16="http://schemas.microsoft.com/office/drawing/2014/main" id="{0827DFFB-1179-436A-AF54-50F3C4E11707}"/>
              </a:ext>
            </a:extLst>
          </p:cNvPr>
          <p:cNvSpPr>
            <a:spLocks xmlns:a="http://schemas.openxmlformats.org/drawingml/2006/main" noGrp="1"/>
          </p:cNvSpPr>
          <p:nvPr/>
        </p:nvSpPr>
        <p:spPr>
          <a:xfrm xmlns:a="http://schemas.openxmlformats.org/drawingml/2006/main">
            <a:off x="981075" y="184785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NORMAL APK / SOURCE-VALIDATED METRIC</a:t>
            </a:r>
          </a:p>
        </p:txBody>
      </p:sp>
      <p:sp>
        <p:nvSpPr>
          <p:cNvPr id="9" name="">
            <a:extLst xmlns:a="http://schemas.openxmlformats.org/drawingml/2006/main">
              <a:ext uri="{FF2B5EF4-FFF2-40B4-BE49-F238E27FC236}">
                <a16:creationId xmlns:a16="http://schemas.microsoft.com/office/drawing/2014/main" id="{97291AFB-A3BD-4B76-9F55-64C1FC645F4D}"/>
              </a:ext>
            </a:extLst>
          </p:cNvPr>
          <p:cNvSpPr>
            <a:spLocks xmlns:a="http://schemas.openxmlformats.org/drawingml/2006/main" noGrp="1"/>
          </p:cNvSpPr>
          <p:nvPr/>
        </p:nvSpPr>
        <p:spPr>
          <a:xfrm xmlns:a="http://schemas.openxmlformats.org/drawingml/2006/main">
            <a:off x="914400" y="2324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4F7D76"/>
                </a:solidFill>
                <a:latin typeface="Aptos Display"/>
                <a:ea typeface="Aptos Display"/>
                <a:cs typeface="Aptos Display"/>
              </a:defRPr>
            </a:pPr>
            <a:r>
              <a:rPr sz="3750" b="1">
                <a:solidFill>
                  <a:srgbClr val="4F7D76"/>
                </a:solidFill>
                <a:latin typeface="Aptos Display"/>
                <a:ea typeface="Aptos Display"/>
                <a:cs typeface="Aptos Display"/>
              </a:rPr>
              <a:t>50.5%</a:t>
            </a:r>
          </a:p>
        </p:txBody>
      </p:sp>
      <p:sp>
        <p:nvSpPr>
          <p:cNvPr id="10" name="">
            <a:extLst xmlns:a="http://schemas.openxmlformats.org/drawingml/2006/main">
              <a:ext uri="{FF2B5EF4-FFF2-40B4-BE49-F238E27FC236}">
                <a16:creationId xmlns:a16="http://schemas.microsoft.com/office/drawing/2014/main" id="{5A0905CB-DBE8-4400-8416-0C82404CA531}"/>
              </a:ext>
            </a:extLst>
          </p:cNvPr>
          <p:cNvSpPr>
            <a:spLocks xmlns:a="http://schemas.openxmlformats.org/drawingml/2006/main" noGrp="1"/>
          </p:cNvSpPr>
          <p:nvPr/>
        </p:nvSpPr>
        <p:spPr>
          <a:xfrm xmlns:a="http://schemas.openxmlformats.org/drawingml/2006/main">
            <a:off x="914400" y="2990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927 of 1837 emitted Maven versions confirmed</a:t>
            </a:r>
          </a:p>
        </p:txBody>
      </p:sp>
      <p:sp>
        <p:nvSpPr>
          <p:cNvPr id="11" name="">
            <a:extLst xmlns:a="http://schemas.openxmlformats.org/drawingml/2006/main">
              <a:ext uri="{FF2B5EF4-FFF2-40B4-BE49-F238E27FC236}">
                <a16:creationId xmlns:a16="http://schemas.microsoft.com/office/drawing/2014/main" id="{657A53A5-07F1-4CC2-982D-9AD95C2E0362}"/>
              </a:ext>
            </a:extLst>
          </p:cNvPr>
          <p:cNvSpPr>
            <a:spLocks xmlns:a="http://schemas.openxmlformats.org/drawingml/2006/main" noGrp="1"/>
          </p:cNvSpPr>
          <p:nvPr/>
        </p:nvSpPr>
        <p:spPr>
          <a:xfrm xmlns:a="http://schemas.openxmlformats.org/drawingml/2006/main">
            <a:off x="914400" y="36385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Controlled</a:t>
            </a:r>
          </a:p>
        </p:txBody>
      </p:sp>
      <p:sp>
        <p:nvSpPr>
          <p:cNvPr id="12" name="">
            <a:extLst xmlns:a="http://schemas.openxmlformats.org/drawingml/2006/main">
              <a:ext uri="{FF2B5EF4-FFF2-40B4-BE49-F238E27FC236}">
                <a16:creationId xmlns:a16="http://schemas.microsoft.com/office/drawing/2014/main" id="{5CD28015-835D-4A29-BC9C-EAAE944A26A2}"/>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B03DD2-D72E-4C95-8258-8EB51F6DEB42}"/>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858E6F-FE54-4F92-8313-59359A43BC9B}"/>
              </a:ext>
            </a:extLst>
          </p:cNvPr>
          <p:cNvSpPr>
            <a:spLocks xmlns:a="http://schemas.openxmlformats.org/drawingml/2006/main" noGrp="1"/>
          </p:cNvSpPr>
          <p:nvPr/>
        </p:nvSpPr>
        <p:spPr>
          <a:xfrm xmlns:a="http://schemas.openxmlformats.org/drawingml/2006/main">
            <a:off x="5448300" y="3619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F7C61"/>
                </a:solidFill>
                <a:latin typeface="Aptos"/>
                <a:ea typeface="Aptos"/>
                <a:cs typeface="Aptos"/>
              </a:defRPr>
            </a:pPr>
            <a:r>
              <a:rPr sz="975" b="1">
                <a:solidFill>
                  <a:srgbClr val="6F7C61"/>
                </a:solidFill>
                <a:latin typeface="Aptos"/>
                <a:ea typeface="Aptos"/>
                <a:cs typeface="Aptos"/>
              </a:rPr>
              <a:t>84/84</a:t>
            </a:r>
          </a:p>
        </p:txBody>
      </p:sp>
      <p:sp>
        <p:nvSpPr>
          <p:cNvPr id="15" name="">
            <a:extLst xmlns:a="http://schemas.openxmlformats.org/drawingml/2006/main">
              <a:ext uri="{FF2B5EF4-FFF2-40B4-BE49-F238E27FC236}">
                <a16:creationId xmlns:a16="http://schemas.microsoft.com/office/drawing/2014/main" id="{5F627C53-3526-44E5-837E-55C07377E49F}"/>
              </a:ext>
            </a:extLst>
          </p:cNvPr>
          <p:cNvSpPr>
            <a:spLocks xmlns:a="http://schemas.openxmlformats.org/drawingml/2006/main" noGrp="1"/>
          </p:cNvSpPr>
          <p:nvPr/>
        </p:nvSpPr>
        <p:spPr>
          <a:xfrm xmlns:a="http://schemas.openxmlformats.org/drawingml/2006/main">
            <a:off x="914400" y="4076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Clean real</a:t>
            </a:r>
          </a:p>
        </p:txBody>
      </p:sp>
      <p:sp>
        <p:nvSpPr>
          <p:cNvPr id="16" name="">
            <a:extLst xmlns:a="http://schemas.openxmlformats.org/drawingml/2006/main">
              <a:ext uri="{FF2B5EF4-FFF2-40B4-BE49-F238E27FC236}">
                <a16:creationId xmlns:a16="http://schemas.microsoft.com/office/drawing/2014/main" id="{AA0A35D2-65ED-4C57-B6B5-E67DEB474D78}"/>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B7C53D-552B-4B7B-A84F-CB77B9E94568}"/>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7853CF-31EE-4096-A6A9-9C61873677CE}"/>
              </a:ext>
            </a:extLst>
          </p:cNvPr>
          <p:cNvSpPr>
            <a:spLocks xmlns:a="http://schemas.openxmlformats.org/drawingml/2006/main" noGrp="1"/>
          </p:cNvSpPr>
          <p:nvPr/>
        </p:nvSpPr>
        <p:spPr>
          <a:xfrm xmlns:a="http://schemas.openxmlformats.org/drawingml/2006/main">
            <a:off x="5448300" y="40576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47/47</a:t>
            </a:r>
          </a:p>
        </p:txBody>
      </p:sp>
      <p:sp>
        <p:nvSpPr>
          <p:cNvPr id="19" name="">
            <a:extLst xmlns:a="http://schemas.openxmlformats.org/drawingml/2006/main">
              <a:ext uri="{FF2B5EF4-FFF2-40B4-BE49-F238E27FC236}">
                <a16:creationId xmlns:a16="http://schemas.microsoft.com/office/drawing/2014/main" id="{4BCCF490-BCC1-4F6E-991F-57C9BBC1DF0A}"/>
              </a:ext>
            </a:extLst>
          </p:cNvPr>
          <p:cNvSpPr>
            <a:spLocks xmlns:a="http://schemas.openxmlformats.org/drawingml/2006/main" noGrp="1"/>
          </p:cNvSpPr>
          <p:nvPr/>
        </p:nvSpPr>
        <p:spPr>
          <a:xfrm xmlns:a="http://schemas.openxmlformats.org/drawingml/2006/main">
            <a:off x="9144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Partial real</a:t>
            </a:r>
          </a:p>
        </p:txBody>
      </p:sp>
      <p:sp>
        <p:nvSpPr>
          <p:cNvPr id="20" name="">
            <a:extLst xmlns:a="http://schemas.openxmlformats.org/drawingml/2006/main">
              <a:ext uri="{FF2B5EF4-FFF2-40B4-BE49-F238E27FC236}">
                <a16:creationId xmlns:a16="http://schemas.microsoft.com/office/drawing/2014/main" id="{D891A65F-2737-4615-8DAC-69D0AF306952}"/>
              </a:ext>
            </a:extLst>
          </p:cNvPr>
          <p:cNvSpPr>
            <a:spLocks xmlns:a="http://schemas.openxmlformats.org/drawingml/2006/main" noGrp="1"/>
          </p:cNvSpPr>
          <p:nvPr/>
        </p:nvSpPr>
        <p:spPr>
          <a:xfrm xmlns:a="http://schemas.openxmlformats.org/drawingml/2006/main">
            <a:off x="3438525" y="45339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8590EB-5247-4EF3-9FFB-6F2287F4F5AB}"/>
              </a:ext>
            </a:extLst>
          </p:cNvPr>
          <p:cNvSpPr>
            <a:spLocks xmlns:a="http://schemas.openxmlformats.org/drawingml/2006/main" noGrp="1"/>
          </p:cNvSpPr>
          <p:nvPr/>
        </p:nvSpPr>
        <p:spPr>
          <a:xfrm xmlns:a="http://schemas.openxmlformats.org/drawingml/2006/main">
            <a:off x="3438525" y="4533900"/>
            <a:ext cx="917806" cy="1428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1C925CC-076D-4FA6-A78D-AC353AD1188B}"/>
              </a:ext>
            </a:extLst>
          </p:cNvPr>
          <p:cNvSpPr>
            <a:spLocks xmlns:a="http://schemas.openxmlformats.org/drawingml/2006/main" noGrp="1"/>
          </p:cNvSpPr>
          <p:nvPr/>
        </p:nvSpPr>
        <p:spPr>
          <a:xfrm xmlns:a="http://schemas.openxmlformats.org/drawingml/2006/main">
            <a:off x="5448300" y="44958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880/1790</a:t>
            </a:r>
          </a:p>
        </p:txBody>
      </p:sp>
      <p:sp>
        <p:nvSpPr>
          <p:cNvPr id="23" name="">
            <a:extLst xmlns:a="http://schemas.openxmlformats.org/drawingml/2006/main">
              <a:ext uri="{FF2B5EF4-FFF2-40B4-BE49-F238E27FC236}">
                <a16:creationId xmlns:a16="http://schemas.microsoft.com/office/drawing/2014/main" id="{4DB0770F-3CE3-476B-87FA-7908FEF97190}"/>
              </a:ext>
            </a:extLst>
          </p:cNvPr>
          <p:cNvSpPr>
            <a:spLocks xmlns:a="http://schemas.openxmlformats.org/drawingml/2006/main" noGrp="1"/>
          </p:cNvSpPr>
          <p:nvPr/>
        </p:nvSpPr>
        <p:spPr>
          <a:xfrm xmlns:a="http://schemas.openxmlformats.org/drawingml/2006/main">
            <a:off x="914400" y="5105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C"/>
                </a:solidFill>
                <a:latin typeface="Aptos"/>
                <a:ea typeface="Aptos"/>
                <a:cs typeface="Aptos"/>
              </a:defRPr>
            </a:pPr>
            <a:r>
              <a:rPr sz="975" b="0">
                <a:solidFill>
                  <a:srgbClr val="AEBACC"/>
                </a:solidFill>
                <a:latin typeface="Aptos"/>
                <a:ea typeface="Aptos"/>
                <a:cs typeface="Aptos"/>
              </a:rPr>
              <a:t>Measures correctness of what the APK-only tool emitted.</a:t>
            </a:r>
          </a:p>
        </p:txBody>
      </p:sp>
      <p:sp>
        <p:nvSpPr>
          <p:cNvPr id="24" name="">
            <a:extLst xmlns:a="http://schemas.openxmlformats.org/drawingml/2006/main">
              <a:ext uri="{FF2B5EF4-FFF2-40B4-BE49-F238E27FC236}">
                <a16:creationId xmlns:a16="http://schemas.microsoft.com/office/drawing/2014/main" id="{23935417-1E90-4762-8AC3-73F3074C0589}"/>
              </a:ext>
            </a:extLst>
          </p:cNvPr>
          <p:cNvSpPr>
            <a:spLocks xmlns:a="http://schemas.openxmlformats.org/drawingml/2006/main" noGrp="1"/>
          </p:cNvSpPr>
          <p:nvPr/>
        </p:nvSpPr>
        <p:spPr>
          <a:xfrm xmlns:a="http://schemas.openxmlformats.org/drawingml/2006/main">
            <a:off x="7334250" y="1543050"/>
            <a:ext cx="417195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C738AF2D-DE37-49FA-A47D-DDFC82DF0209}"/>
              </a:ext>
            </a:extLst>
          </p:cNvPr>
          <p:cNvSpPr>
            <a:spLocks xmlns:a="http://schemas.openxmlformats.org/drawingml/2006/main" noGrp="1"/>
          </p:cNvSpPr>
          <p:nvPr/>
        </p:nvSpPr>
        <p:spPr>
          <a:xfrm xmlns:a="http://schemas.openxmlformats.org/drawingml/2006/main">
            <a:off x="7600950" y="17907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6" name="">
            <a:extLst xmlns:a="http://schemas.openxmlformats.org/drawingml/2006/main">
              <a:ext uri="{FF2B5EF4-FFF2-40B4-BE49-F238E27FC236}">
                <a16:creationId xmlns:a16="http://schemas.microsoft.com/office/drawing/2014/main" id="{F4FBE409-A660-4E17-AA60-3182B89A0273}"/>
              </a:ext>
            </a:extLst>
          </p:cNvPr>
          <p:cNvSpPr>
            <a:spLocks xmlns:a="http://schemas.openxmlformats.org/drawingml/2006/main" noGrp="1"/>
          </p:cNvSpPr>
          <p:nvPr/>
        </p:nvSpPr>
        <p:spPr>
          <a:xfrm xmlns:a="http://schemas.openxmlformats.org/drawingml/2006/main">
            <a:off x="7667625" y="18478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SOURCE-KNOWN V2 LANE</a:t>
            </a:r>
          </a:p>
        </p:txBody>
      </p:sp>
      <p:sp>
        <p:nvSpPr>
          <p:cNvPr id="27" name="">
            <a:extLst xmlns:a="http://schemas.openxmlformats.org/drawingml/2006/main">
              <a:ext uri="{FF2B5EF4-FFF2-40B4-BE49-F238E27FC236}">
                <a16:creationId xmlns:a16="http://schemas.microsoft.com/office/drawing/2014/main" id="{58A1EBB3-AF38-46C6-80D3-9C94FCC38EDF}"/>
              </a:ext>
            </a:extLst>
          </p:cNvPr>
          <p:cNvSpPr>
            <a:spLocks xmlns:a="http://schemas.openxmlformats.org/drawingml/2006/main" noGrp="1"/>
          </p:cNvSpPr>
          <p:nvPr/>
        </p:nvSpPr>
        <p:spPr>
          <a:xfrm xmlns:a="http://schemas.openxmlformats.org/drawingml/2006/main">
            <a:off x="7600950" y="23622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8D754D"/>
                </a:solidFill>
                <a:latin typeface="Aptos Display"/>
                <a:ea typeface="Aptos Display"/>
                <a:cs typeface="Aptos Display"/>
              </a:defRPr>
            </a:pPr>
            <a:r>
              <a:rPr sz="3375" b="1">
                <a:solidFill>
                  <a:srgbClr val="8D754D"/>
                </a:solidFill>
                <a:latin typeface="Aptos Display"/>
                <a:ea typeface="Aptos Display"/>
                <a:cs typeface="Aptos Display"/>
              </a:rPr>
              <a:t>6772 / 6772</a:t>
            </a:r>
          </a:p>
        </p:txBody>
      </p:sp>
      <p:sp>
        <p:nvSpPr>
          <p:cNvPr id="28" name="">
            <a:extLst xmlns:a="http://schemas.openxmlformats.org/drawingml/2006/main">
              <a:ext uri="{FF2B5EF4-FFF2-40B4-BE49-F238E27FC236}">
                <a16:creationId xmlns:a16="http://schemas.microsoft.com/office/drawing/2014/main" id="{D66CC4A7-76FE-4BCB-BAFE-FD6878C4B9DD}"/>
              </a:ext>
            </a:extLst>
          </p:cNvPr>
          <p:cNvSpPr>
            <a:spLocks xmlns:a="http://schemas.openxmlformats.org/drawingml/2006/main" noGrp="1"/>
          </p:cNvSpPr>
          <p:nvPr/>
        </p:nvSpPr>
        <p:spPr>
          <a:xfrm xmlns:a="http://schemas.openxmlformats.org/drawingml/2006/main">
            <a:off x="7600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exact emitted rows</a:t>
            </a:r>
          </a:p>
        </p:txBody>
      </p:sp>
      <p:sp>
        <p:nvSpPr>
          <p:cNvPr id="29" name="rule">
            <a:extLst xmlns:a="http://schemas.openxmlformats.org/drawingml/2006/main">
              <a:ext uri="{FF2B5EF4-FFF2-40B4-BE49-F238E27FC236}">
                <a16:creationId xmlns:a16="http://schemas.microsoft.com/office/drawing/2014/main" id="{8078E626-8F6F-4CF5-B6F3-A13BA241B3A0}"/>
              </a:ext>
            </a:extLst>
          </p:cNvPr>
          <p:cNvSpPr>
            <a:spLocks xmlns:a="http://schemas.openxmlformats.org/drawingml/2006/main" noGrp="1"/>
          </p:cNvSpPr>
          <p:nvPr/>
        </p:nvSpPr>
        <p:spPr>
          <a:xfrm xmlns:a="http://schemas.openxmlformats.org/drawingml/2006/main">
            <a:off x="7600950" y="35623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F2ECF0F-BE6D-4B76-9120-CAC718469E87}"/>
              </a:ext>
            </a:extLst>
          </p:cNvPr>
          <p:cNvSpPr>
            <a:spLocks xmlns:a="http://schemas.openxmlformats.org/drawingml/2006/main" noGrp="1"/>
          </p:cNvSpPr>
          <p:nvPr/>
        </p:nvSpPr>
        <p:spPr>
          <a:xfrm xmlns:a="http://schemas.openxmlformats.org/drawingml/2006/main">
            <a:off x="7600950" y="3657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Cases</a:t>
            </a:r>
          </a:p>
        </p:txBody>
      </p:sp>
      <p:sp>
        <p:nvSpPr>
          <p:cNvPr id="31" name="">
            <a:extLst xmlns:a="http://schemas.openxmlformats.org/drawingml/2006/main">
              <a:ext uri="{FF2B5EF4-FFF2-40B4-BE49-F238E27FC236}">
                <a16:creationId xmlns:a16="http://schemas.microsoft.com/office/drawing/2014/main" id="{A1607C46-8BC3-479A-8E36-D9D3B0E5A9CB}"/>
              </a:ext>
            </a:extLst>
          </p:cNvPr>
          <p:cNvSpPr>
            <a:spLocks xmlns:a="http://schemas.openxmlformats.org/drawingml/2006/main" noGrp="1"/>
          </p:cNvSpPr>
          <p:nvPr/>
        </p:nvSpPr>
        <p:spPr>
          <a:xfrm xmlns:a="http://schemas.openxmlformats.org/drawingml/2006/main">
            <a:off x="9620250" y="36385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106</a:t>
            </a:r>
          </a:p>
        </p:txBody>
      </p:sp>
      <p:sp>
        <p:nvSpPr>
          <p:cNvPr id="32" name="rule">
            <a:extLst xmlns:a="http://schemas.openxmlformats.org/drawingml/2006/main">
              <a:ext uri="{FF2B5EF4-FFF2-40B4-BE49-F238E27FC236}">
                <a16:creationId xmlns:a16="http://schemas.microsoft.com/office/drawing/2014/main" id="{24DCCDBA-9A6F-470E-BB21-762A6A11404D}"/>
              </a:ext>
            </a:extLst>
          </p:cNvPr>
          <p:cNvSpPr>
            <a:spLocks xmlns:a="http://schemas.openxmlformats.org/drawingml/2006/main" noGrp="1"/>
          </p:cNvSpPr>
          <p:nvPr/>
        </p:nvSpPr>
        <p:spPr>
          <a:xfrm xmlns:a="http://schemas.openxmlformats.org/drawingml/2006/main">
            <a:off x="7600950" y="39624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6DF28F0-9A84-4147-BC50-73D8657128BA}"/>
              </a:ext>
            </a:extLst>
          </p:cNvPr>
          <p:cNvSpPr>
            <a:spLocks xmlns:a="http://schemas.openxmlformats.org/drawingml/2006/main" noGrp="1"/>
          </p:cNvSpPr>
          <p:nvPr/>
        </p:nvSpPr>
        <p:spPr>
          <a:xfrm xmlns:a="http://schemas.openxmlformats.org/drawingml/2006/main">
            <a:off x="7600950" y="4057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Wrong emitted</a:t>
            </a:r>
          </a:p>
        </p:txBody>
      </p:sp>
      <p:sp>
        <p:nvSpPr>
          <p:cNvPr id="34" name="">
            <a:extLst xmlns:a="http://schemas.openxmlformats.org/drawingml/2006/main">
              <a:ext uri="{FF2B5EF4-FFF2-40B4-BE49-F238E27FC236}">
                <a16:creationId xmlns:a16="http://schemas.microsoft.com/office/drawing/2014/main" id="{066F2EFB-A167-4268-BF3B-D9C37D62C9A2}"/>
              </a:ext>
            </a:extLst>
          </p:cNvPr>
          <p:cNvSpPr>
            <a:spLocks xmlns:a="http://schemas.openxmlformats.org/drawingml/2006/main" noGrp="1"/>
          </p:cNvSpPr>
          <p:nvPr/>
        </p:nvSpPr>
        <p:spPr>
          <a:xfrm xmlns:a="http://schemas.openxmlformats.org/drawingml/2006/main">
            <a:off x="9620250" y="4038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5" name="rule">
            <a:extLst xmlns:a="http://schemas.openxmlformats.org/drawingml/2006/main">
              <a:ext uri="{FF2B5EF4-FFF2-40B4-BE49-F238E27FC236}">
                <a16:creationId xmlns:a16="http://schemas.microsoft.com/office/drawing/2014/main" id="{EEDF4222-584B-4FEB-B568-EFAEF9127C94}"/>
              </a:ext>
            </a:extLst>
          </p:cNvPr>
          <p:cNvSpPr>
            <a:spLocks xmlns:a="http://schemas.openxmlformats.org/drawingml/2006/main" noGrp="1"/>
          </p:cNvSpPr>
          <p:nvPr/>
        </p:nvSpPr>
        <p:spPr>
          <a:xfrm xmlns:a="http://schemas.openxmlformats.org/drawingml/2006/main">
            <a:off x="7600950" y="43624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F819D02-0412-45EB-983F-3463E4F7BC09}"/>
              </a:ext>
            </a:extLst>
          </p:cNvPr>
          <p:cNvSpPr>
            <a:spLocks xmlns:a="http://schemas.openxmlformats.org/drawingml/2006/main" noGrp="1"/>
          </p:cNvSpPr>
          <p:nvPr/>
        </p:nvSpPr>
        <p:spPr>
          <a:xfrm xmlns:a="http://schemas.openxmlformats.org/drawingml/2006/main">
            <a:off x="76009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Missing emitted</a:t>
            </a:r>
          </a:p>
        </p:txBody>
      </p:sp>
      <p:sp>
        <p:nvSpPr>
          <p:cNvPr id="37" name="">
            <a:extLst xmlns:a="http://schemas.openxmlformats.org/drawingml/2006/main">
              <a:ext uri="{FF2B5EF4-FFF2-40B4-BE49-F238E27FC236}">
                <a16:creationId xmlns:a16="http://schemas.microsoft.com/office/drawing/2014/main" id="{A071DA21-533A-4D13-A933-BFC990EE1BC2}"/>
              </a:ext>
            </a:extLst>
          </p:cNvPr>
          <p:cNvSpPr>
            <a:spLocks xmlns:a="http://schemas.openxmlformats.org/drawingml/2006/main" noGrp="1"/>
          </p:cNvSpPr>
          <p:nvPr/>
        </p:nvSpPr>
        <p:spPr>
          <a:xfrm xmlns:a="http://schemas.openxmlformats.org/drawingml/2006/main">
            <a:off x="9620250" y="44386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8" name="rule">
            <a:extLst xmlns:a="http://schemas.openxmlformats.org/drawingml/2006/main">
              <a:ext uri="{FF2B5EF4-FFF2-40B4-BE49-F238E27FC236}">
                <a16:creationId xmlns:a16="http://schemas.microsoft.com/office/drawing/2014/main" id="{28C4DF70-EA56-43BD-99D3-BCE8AD57C001}"/>
              </a:ext>
            </a:extLst>
          </p:cNvPr>
          <p:cNvSpPr>
            <a:spLocks xmlns:a="http://schemas.openxmlformats.org/drawingml/2006/main" noGrp="1"/>
          </p:cNvSpPr>
          <p:nvPr/>
        </p:nvSpPr>
        <p:spPr>
          <a:xfrm xmlns:a="http://schemas.openxmlformats.org/drawingml/2006/main">
            <a:off x="7600950" y="47625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5066EC4-ECCB-418C-B89A-C6D123A8C268}"/>
              </a:ext>
            </a:extLst>
          </p:cNvPr>
          <p:cNvSpPr>
            <a:spLocks xmlns:a="http://schemas.openxmlformats.org/drawingml/2006/main" noGrp="1"/>
          </p:cNvSpPr>
          <p:nvPr/>
        </p:nvSpPr>
        <p:spPr>
          <a:xfrm xmlns:a="http://schemas.openxmlformats.org/drawingml/2006/main">
            <a:off x="7600950" y="4857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Source gaps</a:t>
            </a:r>
          </a:p>
        </p:txBody>
      </p:sp>
      <p:sp>
        <p:nvSpPr>
          <p:cNvPr id="40" name="">
            <a:extLst xmlns:a="http://schemas.openxmlformats.org/drawingml/2006/main">
              <a:ext uri="{FF2B5EF4-FFF2-40B4-BE49-F238E27FC236}">
                <a16:creationId xmlns:a16="http://schemas.microsoft.com/office/drawing/2014/main" id="{711DA402-67AF-43AD-899D-747A448D69CC}"/>
              </a:ext>
            </a:extLst>
          </p:cNvPr>
          <p:cNvSpPr>
            <a:spLocks xmlns:a="http://schemas.openxmlformats.org/drawingml/2006/main" noGrp="1"/>
          </p:cNvSpPr>
          <p:nvPr/>
        </p:nvSpPr>
        <p:spPr>
          <a:xfrm xmlns:a="http://schemas.openxmlformats.org/drawingml/2006/main">
            <a:off x="9620250" y="48387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A65C55"/>
                </a:solidFill>
                <a:latin typeface="Aptos"/>
                <a:ea typeface="Aptos"/>
                <a:cs typeface="Aptos"/>
              </a:defRPr>
            </a:pPr>
            <a:r>
              <a:rPr sz="1125" b="1">
                <a:solidFill>
                  <a:srgbClr val="A65C55"/>
                </a:solidFill>
                <a:latin typeface="Aptos"/>
                <a:ea typeface="Aptos"/>
                <a:cs typeface="Aptos"/>
              </a:rPr>
              <a:t>5238</a:t>
            </a:r>
          </a:p>
        </p:txBody>
      </p:sp>
      <p:sp>
        <p:nvSpPr>
          <p:cNvPr id="41" name="">
            <a:extLst xmlns:a="http://schemas.openxmlformats.org/drawingml/2006/main">
              <a:ext uri="{FF2B5EF4-FFF2-40B4-BE49-F238E27FC236}">
                <a16:creationId xmlns:a16="http://schemas.microsoft.com/office/drawing/2014/main" id="{9F8EC5CF-D6E8-45FA-894B-A0E47B5833A1}"/>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BFA9A86-0F16-4CD7-93AC-C8AA88A6597A}"/>
              </a:ext>
            </a:extLst>
          </p:cNvPr>
          <p:cNvSpPr>
            <a:spLocks xmlns:a="http://schemas.openxmlformats.org/drawingml/2006/main" noGrp="1"/>
          </p:cNvSpPr>
          <p:nvPr/>
        </p:nvSpPr>
        <p:spPr>
          <a:xfrm xmlns:a="http://schemas.openxmlformats.org/drawingml/2006/main">
            <a:off x="1562100" y="5981700"/>
            <a:ext cx="906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Do not combine these lanes: v2 proves bounded recognition, not unconstrained APK-only accuracy.</a:t>
            </a:r>
          </a:p>
        </p:txBody>
      </p:sp>
      <p:sp>
        <p:nvSpPr>
          <p:cNvPr id="43" name="">
            <a:extLst xmlns:a="http://schemas.openxmlformats.org/drawingml/2006/main">
              <a:ext uri="{FF2B5EF4-FFF2-40B4-BE49-F238E27FC236}">
                <a16:creationId xmlns:a16="http://schemas.microsoft.com/office/drawing/2014/main" id="{4EBFF3CD-F2D5-4791-B9B4-A879F5357DA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94078507"/>
      </p:ext>
    </p:extLst>
  </p:cSld>
</p:sld>
</file>

<file path=ppt/slides/slide2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4AE606-F799-4F57-A5DB-B47AB3FBB89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UPPER-BOUND EXPERIMENT</a:t>
            </a:r>
          </a:p>
        </p:txBody>
      </p:sp>
      <p:sp>
        <p:nvSpPr>
          <p:cNvPr id="2" name="">
            <a:extLst xmlns:a="http://schemas.openxmlformats.org/drawingml/2006/main">
              <a:ext uri="{FF2B5EF4-FFF2-40B4-BE49-F238E27FC236}">
                <a16:creationId xmlns:a16="http://schemas.microsoft.com/office/drawing/2014/main" id="{1ACD6BCB-1C26-473F-A25B-42DA75857EC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source-known v2 lane isolates recognition from candidate-selection difficulty</a:t>
            </a:r>
          </a:p>
        </p:txBody>
      </p:sp>
      <p:sp>
        <p:nvSpPr>
          <p:cNvPr id="3" name="">
            <a:extLst xmlns:a="http://schemas.openxmlformats.org/drawingml/2006/main">
              <a:ext uri="{FF2B5EF4-FFF2-40B4-BE49-F238E27FC236}">
                <a16:creationId xmlns:a16="http://schemas.microsoft.com/office/drawing/2014/main" id="{E2579F13-7F31-49B4-BF7B-56511058A9D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A049CF53-88BA-4327-98E2-86B748C37796}"/>
              </a:ext>
            </a:extLst>
          </p:cNvPr>
          <p:cNvSpPr>
            <a:spLocks xmlns:a="http://schemas.openxmlformats.org/drawingml/2006/main" noGrp="1"/>
          </p:cNvSpPr>
          <p:nvPr/>
        </p:nvSpPr>
        <p:spPr>
          <a:xfrm xmlns:a="http://schemas.openxmlformats.org/drawingml/2006/main">
            <a:off x="685800" y="1466850"/>
            <a:ext cx="50673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5D2682C3-3CFF-4777-884A-1D686DECF230}"/>
              </a:ext>
            </a:extLst>
          </p:cNvPr>
          <p:cNvSpPr>
            <a:spLocks xmlns:a="http://schemas.openxmlformats.org/drawingml/2006/main" noGrp="1"/>
          </p:cNvSpPr>
          <p:nvPr/>
        </p:nvSpPr>
        <p:spPr>
          <a:xfrm xmlns:a="http://schemas.openxmlformats.org/drawingml/2006/main">
            <a:off x="933450" y="1733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WHAT IS CONSTRAINED</a:t>
            </a:r>
          </a:p>
        </p:txBody>
      </p:sp>
      <p:sp>
        <p:nvSpPr>
          <p:cNvPr id="6" name="">
            <a:extLst xmlns:a="http://schemas.openxmlformats.org/drawingml/2006/main">
              <a:ext uri="{FF2B5EF4-FFF2-40B4-BE49-F238E27FC236}">
                <a16:creationId xmlns:a16="http://schemas.microsoft.com/office/drawing/2014/main" id="{73BB6079-837F-4C32-8332-11545E22854A}"/>
              </a:ext>
            </a:extLst>
          </p:cNvPr>
          <p:cNvSpPr>
            <a:spLocks xmlns:a="http://schemas.openxmlformats.org/drawingml/2006/main" noGrp="1"/>
          </p:cNvSpPr>
          <p:nvPr/>
        </p:nvSpPr>
        <p:spPr>
          <a:xfrm xmlns:a="http://schemas.openxmlformats.org/drawingml/2006/main">
            <a:off x="933450" y="2190750"/>
            <a:ext cx="4324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Each APK is matched only against coordinate-version rows observed in its resolved source tree.</a:t>
            </a:r>
          </a:p>
        </p:txBody>
      </p:sp>
      <p:sp>
        <p:nvSpPr>
          <p:cNvPr id="7" name="">
            <a:extLst xmlns:a="http://schemas.openxmlformats.org/drawingml/2006/main">
              <a:ext uri="{FF2B5EF4-FFF2-40B4-BE49-F238E27FC236}">
                <a16:creationId xmlns:a16="http://schemas.microsoft.com/office/drawing/2014/main" id="{7E6D9199-B4D5-40F5-B217-B80F015C1669}"/>
              </a:ext>
            </a:extLst>
          </p:cNvPr>
          <p:cNvSpPr>
            <a:spLocks xmlns:a="http://schemas.openxmlformats.org/drawingml/2006/main" noGrp="1"/>
          </p:cNvSpPr>
          <p:nvPr/>
        </p:nvSpPr>
        <p:spPr>
          <a:xfrm xmlns:a="http://schemas.openxmlformats.org/drawingml/2006/main">
            <a:off x="971550" y="337185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B9DA350-CDF5-4EEE-B8A0-0FDA8D53D00D}"/>
              </a:ext>
            </a:extLst>
          </p:cNvPr>
          <p:cNvSpPr>
            <a:spLocks xmlns:a="http://schemas.openxmlformats.org/drawingml/2006/main" noGrp="1"/>
          </p:cNvSpPr>
          <p:nvPr/>
        </p:nvSpPr>
        <p:spPr>
          <a:xfrm xmlns:a="http://schemas.openxmlformats.org/drawingml/2006/main">
            <a:off x="1257300" y="32956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removes global version-selection noise</a:t>
            </a:r>
          </a:p>
        </p:txBody>
      </p:sp>
      <p:sp>
        <p:nvSpPr>
          <p:cNvPr id="9" name="">
            <a:extLst xmlns:a="http://schemas.openxmlformats.org/drawingml/2006/main">
              <a:ext uri="{FF2B5EF4-FFF2-40B4-BE49-F238E27FC236}">
                <a16:creationId xmlns:a16="http://schemas.microsoft.com/office/drawing/2014/main" id="{95FFABDE-0843-417F-B9DE-B23FD9FC4194}"/>
              </a:ext>
            </a:extLst>
          </p:cNvPr>
          <p:cNvSpPr>
            <a:spLocks xmlns:a="http://schemas.openxmlformats.org/drawingml/2006/main" noGrp="1"/>
          </p:cNvSpPr>
          <p:nvPr/>
        </p:nvSpPr>
        <p:spPr>
          <a:xfrm xmlns:a="http://schemas.openxmlformats.org/drawingml/2006/main">
            <a:off x="971550" y="388620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2107C9-420B-4EE8-A78F-2A9593B69FE4}"/>
              </a:ext>
            </a:extLst>
          </p:cNvPr>
          <p:cNvSpPr>
            <a:spLocks xmlns:a="http://schemas.openxmlformats.org/drawingml/2006/main" noGrp="1"/>
          </p:cNvSpPr>
          <p:nvPr/>
        </p:nvSpPr>
        <p:spPr>
          <a:xfrm xmlns:a="http://schemas.openxmlformats.org/drawingml/2006/main">
            <a:off x="1257300" y="381000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tests bytecode recognition in the correct slice</a:t>
            </a:r>
          </a:p>
        </p:txBody>
      </p:sp>
      <p:sp>
        <p:nvSpPr>
          <p:cNvPr id="11" name="">
            <a:extLst xmlns:a="http://schemas.openxmlformats.org/drawingml/2006/main">
              <a:ext uri="{FF2B5EF4-FFF2-40B4-BE49-F238E27FC236}">
                <a16:creationId xmlns:a16="http://schemas.microsoft.com/office/drawing/2014/main" id="{93273019-D434-464A-BA6A-2396FCB2C257}"/>
              </a:ext>
            </a:extLst>
          </p:cNvPr>
          <p:cNvSpPr>
            <a:spLocks xmlns:a="http://schemas.openxmlformats.org/drawingml/2006/main" noGrp="1"/>
          </p:cNvSpPr>
          <p:nvPr/>
        </p:nvSpPr>
        <p:spPr>
          <a:xfrm xmlns:a="http://schemas.openxmlformats.org/drawingml/2006/main">
            <a:off x="971550" y="440055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80F6558-D39F-4F17-96AB-E32E11B5EDA7}"/>
              </a:ext>
            </a:extLst>
          </p:cNvPr>
          <p:cNvSpPr>
            <a:spLocks xmlns:a="http://schemas.openxmlformats.org/drawingml/2006/main" noGrp="1"/>
          </p:cNvSpPr>
          <p:nvPr/>
        </p:nvSpPr>
        <p:spPr>
          <a:xfrm xmlns:a="http://schemas.openxmlformats.org/drawingml/2006/main">
            <a:off x="1257300" y="43243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keeps non-emitted source rows as a separate denominator</a:t>
            </a:r>
          </a:p>
        </p:txBody>
      </p:sp>
      <p:sp>
        <p:nvSpPr>
          <p:cNvPr id="13" name="">
            <a:extLst xmlns:a="http://schemas.openxmlformats.org/drawingml/2006/main">
              <a:ext uri="{FF2B5EF4-FFF2-40B4-BE49-F238E27FC236}">
                <a16:creationId xmlns:a16="http://schemas.microsoft.com/office/drawing/2014/main" id="{EFA5287E-4B45-4274-A45F-AC5F8F7ECFFA}"/>
              </a:ext>
            </a:extLst>
          </p:cNvPr>
          <p:cNvSpPr>
            <a:spLocks xmlns:a="http://schemas.openxmlformats.org/drawingml/2006/main" noGrp="1"/>
          </p:cNvSpPr>
          <p:nvPr/>
        </p:nvSpPr>
        <p:spPr>
          <a:xfrm xmlns:a="http://schemas.openxmlformats.org/drawingml/2006/main">
            <a:off x="6076950" y="146685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EA620653-DED6-4C62-8A45-2712951303DD}"/>
              </a:ext>
            </a:extLst>
          </p:cNvPr>
          <p:cNvSpPr>
            <a:spLocks xmlns:a="http://schemas.openxmlformats.org/drawingml/2006/main" noGrp="1"/>
          </p:cNvSpPr>
          <p:nvPr/>
        </p:nvSpPr>
        <p:spPr>
          <a:xfrm xmlns:a="http://schemas.openxmlformats.org/drawingml/2006/main">
            <a:off x="6210300" y="16383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4F7D76"/>
                </a:solidFill>
                <a:latin typeface="Aptos Display"/>
                <a:ea typeface="Aptos Display"/>
                <a:cs typeface="Aptos Display"/>
              </a:defRPr>
            </a:pPr>
            <a:r>
              <a:rPr sz="2700" b="1">
                <a:solidFill>
                  <a:srgbClr val="4F7D76"/>
                </a:solidFill>
                <a:latin typeface="Aptos Display"/>
                <a:ea typeface="Aptos Display"/>
                <a:cs typeface="Aptos Display"/>
              </a:rPr>
              <a:t>106 / 106</a:t>
            </a:r>
          </a:p>
        </p:txBody>
      </p:sp>
      <p:sp>
        <p:nvSpPr>
          <p:cNvPr id="15" name="">
            <a:extLst xmlns:a="http://schemas.openxmlformats.org/drawingml/2006/main">
              <a:ext uri="{FF2B5EF4-FFF2-40B4-BE49-F238E27FC236}">
                <a16:creationId xmlns:a16="http://schemas.microsoft.com/office/drawing/2014/main" id="{A33E586B-B41A-414A-BC64-4BAFF3FE739E}"/>
              </a:ext>
            </a:extLst>
          </p:cNvPr>
          <p:cNvSpPr>
            <a:spLocks xmlns:a="http://schemas.openxmlformats.org/drawingml/2006/main" noGrp="1"/>
          </p:cNvSpPr>
          <p:nvPr/>
        </p:nvSpPr>
        <p:spPr>
          <a:xfrm xmlns:a="http://schemas.openxmlformats.org/drawingml/2006/main">
            <a:off x="6210300" y="20764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source-tree cases completed</a:t>
            </a:r>
          </a:p>
        </p:txBody>
      </p:sp>
      <p:sp>
        <p:nvSpPr>
          <p:cNvPr id="16" name="">
            <a:extLst xmlns:a="http://schemas.openxmlformats.org/drawingml/2006/main">
              <a:ext uri="{FF2B5EF4-FFF2-40B4-BE49-F238E27FC236}">
                <a16:creationId xmlns:a16="http://schemas.microsoft.com/office/drawing/2014/main" id="{829D3900-D42C-4A1B-81CD-92B4625217AD}"/>
              </a:ext>
            </a:extLst>
          </p:cNvPr>
          <p:cNvSpPr>
            <a:spLocks xmlns:a="http://schemas.openxmlformats.org/drawingml/2006/main" noGrp="1"/>
          </p:cNvSpPr>
          <p:nvPr/>
        </p:nvSpPr>
        <p:spPr>
          <a:xfrm xmlns:a="http://schemas.openxmlformats.org/drawingml/2006/main">
            <a:off x="8743950" y="146685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17" name="">
            <a:extLst xmlns:a="http://schemas.openxmlformats.org/drawingml/2006/main">
              <a:ext uri="{FF2B5EF4-FFF2-40B4-BE49-F238E27FC236}">
                <a16:creationId xmlns:a16="http://schemas.microsoft.com/office/drawing/2014/main" id="{FAD323B0-C9E4-42ED-85F3-3651442EE196}"/>
              </a:ext>
            </a:extLst>
          </p:cNvPr>
          <p:cNvSpPr>
            <a:spLocks xmlns:a="http://schemas.openxmlformats.org/drawingml/2006/main" noGrp="1"/>
          </p:cNvSpPr>
          <p:nvPr/>
        </p:nvSpPr>
        <p:spPr>
          <a:xfrm xmlns:a="http://schemas.openxmlformats.org/drawingml/2006/main">
            <a:off x="8877300" y="163830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6772 / 6772</a:t>
            </a:r>
          </a:p>
        </p:txBody>
      </p:sp>
      <p:sp>
        <p:nvSpPr>
          <p:cNvPr id="18" name="">
            <a:extLst xmlns:a="http://schemas.openxmlformats.org/drawingml/2006/main">
              <a:ext uri="{FF2B5EF4-FFF2-40B4-BE49-F238E27FC236}">
                <a16:creationId xmlns:a16="http://schemas.microsoft.com/office/drawing/2014/main" id="{14CACF92-DEC1-4FD3-8620-0819B00E8D4E}"/>
              </a:ext>
            </a:extLst>
          </p:cNvPr>
          <p:cNvSpPr>
            <a:spLocks xmlns:a="http://schemas.openxmlformats.org/drawingml/2006/main" noGrp="1"/>
          </p:cNvSpPr>
          <p:nvPr/>
        </p:nvSpPr>
        <p:spPr>
          <a:xfrm xmlns:a="http://schemas.openxmlformats.org/drawingml/2006/main">
            <a:off x="8877300" y="20764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emitted rows exact</a:t>
            </a:r>
          </a:p>
        </p:txBody>
      </p:sp>
      <p:sp>
        <p:nvSpPr>
          <p:cNvPr id="19" name="">
            <a:extLst xmlns:a="http://schemas.openxmlformats.org/drawingml/2006/main">
              <a:ext uri="{FF2B5EF4-FFF2-40B4-BE49-F238E27FC236}">
                <a16:creationId xmlns:a16="http://schemas.microsoft.com/office/drawing/2014/main" id="{AF260D35-8F8B-4C13-949E-E3F39CAF42CB}"/>
              </a:ext>
            </a:extLst>
          </p:cNvPr>
          <p:cNvSpPr>
            <a:spLocks xmlns:a="http://schemas.openxmlformats.org/drawingml/2006/main" noGrp="1"/>
          </p:cNvSpPr>
          <p:nvPr/>
        </p:nvSpPr>
        <p:spPr>
          <a:xfrm xmlns:a="http://schemas.openxmlformats.org/drawingml/2006/main">
            <a:off x="6076950" y="289560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0" name="">
            <a:extLst xmlns:a="http://schemas.openxmlformats.org/drawingml/2006/main">
              <a:ext uri="{FF2B5EF4-FFF2-40B4-BE49-F238E27FC236}">
                <a16:creationId xmlns:a16="http://schemas.microsoft.com/office/drawing/2014/main" id="{D1D57CD7-3341-4767-8CB4-986A3C165F20}"/>
              </a:ext>
            </a:extLst>
          </p:cNvPr>
          <p:cNvSpPr>
            <a:spLocks xmlns:a="http://schemas.openxmlformats.org/drawingml/2006/main" noGrp="1"/>
          </p:cNvSpPr>
          <p:nvPr/>
        </p:nvSpPr>
        <p:spPr>
          <a:xfrm xmlns:a="http://schemas.openxmlformats.org/drawingml/2006/main">
            <a:off x="6210300" y="3067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a:t>
            </a:r>
          </a:p>
        </p:txBody>
      </p:sp>
      <p:sp>
        <p:nvSpPr>
          <p:cNvPr id="21" name="">
            <a:extLst xmlns:a="http://schemas.openxmlformats.org/drawingml/2006/main">
              <a:ext uri="{FF2B5EF4-FFF2-40B4-BE49-F238E27FC236}">
                <a16:creationId xmlns:a16="http://schemas.microsoft.com/office/drawing/2014/main" id="{246F9052-8748-4026-B776-6CABEB421D73}"/>
              </a:ext>
            </a:extLst>
          </p:cNvPr>
          <p:cNvSpPr>
            <a:spLocks xmlns:a="http://schemas.openxmlformats.org/drawingml/2006/main" noGrp="1"/>
          </p:cNvSpPr>
          <p:nvPr/>
        </p:nvSpPr>
        <p:spPr>
          <a:xfrm xmlns:a="http://schemas.openxmlformats.org/drawingml/2006/main">
            <a:off x="6210300" y="350520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wrong-version emitted rows</a:t>
            </a:r>
          </a:p>
        </p:txBody>
      </p:sp>
      <p:sp>
        <p:nvSpPr>
          <p:cNvPr id="22" name="">
            <a:extLst xmlns:a="http://schemas.openxmlformats.org/drawingml/2006/main">
              <a:ext uri="{FF2B5EF4-FFF2-40B4-BE49-F238E27FC236}">
                <a16:creationId xmlns:a16="http://schemas.microsoft.com/office/drawing/2014/main" id="{F1575F4C-41B9-4A77-A42D-97C2E0649463}"/>
              </a:ext>
            </a:extLst>
          </p:cNvPr>
          <p:cNvSpPr>
            <a:spLocks xmlns:a="http://schemas.openxmlformats.org/drawingml/2006/main" noGrp="1"/>
          </p:cNvSpPr>
          <p:nvPr/>
        </p:nvSpPr>
        <p:spPr>
          <a:xfrm xmlns:a="http://schemas.openxmlformats.org/drawingml/2006/main">
            <a:off x="8743950" y="289560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CA90F4B8-700B-4613-B6D1-8F2B3BCBD74C}"/>
              </a:ext>
            </a:extLst>
          </p:cNvPr>
          <p:cNvSpPr>
            <a:spLocks xmlns:a="http://schemas.openxmlformats.org/drawingml/2006/main" noGrp="1"/>
          </p:cNvSpPr>
          <p:nvPr/>
        </p:nvSpPr>
        <p:spPr>
          <a:xfrm xmlns:a="http://schemas.openxmlformats.org/drawingml/2006/main">
            <a:off x="8877300" y="306705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A65C55"/>
                </a:solidFill>
                <a:latin typeface="Aptos Display"/>
                <a:ea typeface="Aptos Display"/>
                <a:cs typeface="Aptos Display"/>
              </a:defRPr>
            </a:pPr>
            <a:r>
              <a:rPr sz="2850" b="1">
                <a:solidFill>
                  <a:srgbClr val="A65C55"/>
                </a:solidFill>
                <a:latin typeface="Aptos Display"/>
                <a:ea typeface="Aptos Display"/>
                <a:cs typeface="Aptos Display"/>
              </a:rPr>
              <a:t>5238</a:t>
            </a:r>
          </a:p>
        </p:txBody>
      </p:sp>
      <p:sp>
        <p:nvSpPr>
          <p:cNvPr id="24" name="">
            <a:extLst xmlns:a="http://schemas.openxmlformats.org/drawingml/2006/main">
              <a:ext uri="{FF2B5EF4-FFF2-40B4-BE49-F238E27FC236}">
                <a16:creationId xmlns:a16="http://schemas.microsoft.com/office/drawing/2014/main" id="{33AA3FE8-793A-460E-893D-B81F72377D5C}"/>
              </a:ext>
            </a:extLst>
          </p:cNvPr>
          <p:cNvSpPr>
            <a:spLocks xmlns:a="http://schemas.openxmlformats.org/drawingml/2006/main" noGrp="1"/>
          </p:cNvSpPr>
          <p:nvPr/>
        </p:nvSpPr>
        <p:spPr>
          <a:xfrm xmlns:a="http://schemas.openxmlformats.org/drawingml/2006/main">
            <a:off x="8877300" y="350520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source-gap rows remain</a:t>
            </a:r>
          </a:p>
        </p:txBody>
      </p:sp>
      <p:sp>
        <p:nvSpPr>
          <p:cNvPr id="25" name="">
            <a:extLst xmlns:a="http://schemas.openxmlformats.org/drawingml/2006/main">
              <a:ext uri="{FF2B5EF4-FFF2-40B4-BE49-F238E27FC236}">
                <a16:creationId xmlns:a16="http://schemas.microsoft.com/office/drawing/2014/main" id="{D1E12E02-3FF1-49D6-91A6-47DD94931FB3}"/>
              </a:ext>
            </a:extLst>
          </p:cNvPr>
          <p:cNvSpPr>
            <a:spLocks xmlns:a="http://schemas.openxmlformats.org/drawingml/2006/main" noGrp="1"/>
          </p:cNvSpPr>
          <p:nvPr/>
        </p:nvSpPr>
        <p:spPr>
          <a:xfrm xmlns:a="http://schemas.openxmlformats.org/drawingml/2006/main">
            <a:off x="685800" y="4476750"/>
            <a:ext cx="10820400" cy="7239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6" name="">
            <a:extLst xmlns:a="http://schemas.openxmlformats.org/drawingml/2006/main">
              <a:ext uri="{FF2B5EF4-FFF2-40B4-BE49-F238E27FC236}">
                <a16:creationId xmlns:a16="http://schemas.microsoft.com/office/drawing/2014/main" id="{57D5BB96-7C10-4846-A452-ACAC37591972}"/>
              </a:ext>
            </a:extLst>
          </p:cNvPr>
          <p:cNvSpPr>
            <a:spLocks xmlns:a="http://schemas.openxmlformats.org/drawingml/2006/main" noGrp="1"/>
          </p:cNvSpPr>
          <p:nvPr/>
        </p:nvSpPr>
        <p:spPr>
          <a:xfrm xmlns:a="http://schemas.openxmlformats.org/drawingml/2006/main">
            <a:off x="876300" y="46482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INTERPRETATION</a:t>
            </a:r>
          </a:p>
        </p:txBody>
      </p:sp>
      <p:sp>
        <p:nvSpPr>
          <p:cNvPr id="27" name="">
            <a:extLst xmlns:a="http://schemas.openxmlformats.org/drawingml/2006/main">
              <a:ext uri="{FF2B5EF4-FFF2-40B4-BE49-F238E27FC236}">
                <a16:creationId xmlns:a16="http://schemas.microsoft.com/office/drawing/2014/main" id="{4BE5B168-A142-49C1-B612-7D5270EAB6DD}"/>
              </a:ext>
            </a:extLst>
          </p:cNvPr>
          <p:cNvSpPr>
            <a:spLocks xmlns:a="http://schemas.openxmlformats.org/drawingml/2006/main" noGrp="1"/>
          </p:cNvSpPr>
          <p:nvPr/>
        </p:nvSpPr>
        <p:spPr>
          <a:xfrm xmlns:a="http://schemas.openxmlformats.org/drawingml/2006/main">
            <a:off x="2343150" y="46005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This proves bounded recognition when the correct source versions are available; it does not prove unconstrained APK-only accuracy.</a:t>
            </a:r>
          </a:p>
        </p:txBody>
      </p:sp>
      <p:sp>
        <p:nvSpPr>
          <p:cNvPr id="28" name="">
            <a:extLst xmlns:a="http://schemas.openxmlformats.org/drawingml/2006/main">
              <a:ext uri="{FF2B5EF4-FFF2-40B4-BE49-F238E27FC236}">
                <a16:creationId xmlns:a16="http://schemas.microsoft.com/office/drawing/2014/main" id="{3D8C3772-8F66-48ED-B97D-742EB1DB1881}"/>
              </a:ext>
            </a:extLst>
          </p:cNvPr>
          <p:cNvSpPr>
            <a:spLocks xmlns:a="http://schemas.openxmlformats.org/drawingml/2006/main" noGrp="1"/>
          </p:cNvSpPr>
          <p:nvPr/>
        </p:nvSpPr>
        <p:spPr>
          <a:xfrm xmlns:a="http://schemas.openxmlformats.org/drawingml/2006/main">
            <a:off x="685800" y="5524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8664690-FA62-4D7A-9CE6-11F23D0FB8A8}"/>
              </a:ext>
            </a:extLst>
          </p:cNvPr>
          <p:cNvSpPr>
            <a:spLocks xmlns:a="http://schemas.openxmlformats.org/drawingml/2006/main" noGrp="1"/>
          </p:cNvSpPr>
          <p:nvPr/>
        </p:nvSpPr>
        <p:spPr>
          <a:xfrm xmlns:a="http://schemas.openxmlformats.org/drawingml/2006/main">
            <a:off x="819150" y="5591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65717A"/>
                </a:solidFill>
                <a:latin typeface="Cascadia Mono"/>
                <a:ea typeface="Cascadia Mono"/>
                <a:cs typeface="Cascadia Mono"/>
              </a:defRPr>
            </a:pPr>
            <a:r>
              <a:rPr sz="675" b="0">
                <a:solidFill>
                  <a:srgbClr val="65717A"/>
                </a:solidFill>
                <a:latin typeface="Cascadia Mono"/>
                <a:ea typeface="Cascadia Mono"/>
                <a:cs typeface="Cascadia Mono"/>
              </a:rPr>
              <a:t>Evidence: docs/evaluation/DEMO_FINAL_V2_PACKAGE.md  |  data/results/evaluation/real-apk-demo-final-large-v2-source-version-dashboard.json</a:t>
            </a:r>
          </a:p>
        </p:txBody>
      </p:sp>
      <p:sp>
        <p:nvSpPr>
          <p:cNvPr id="30" name="">
            <a:extLst xmlns:a="http://schemas.openxmlformats.org/drawingml/2006/main">
              <a:ext uri="{FF2B5EF4-FFF2-40B4-BE49-F238E27FC236}">
                <a16:creationId xmlns:a16="http://schemas.microsoft.com/office/drawing/2014/main" id="{D00846D1-9448-4213-8D43-543A1AFDB8A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1552324"/>
      </p:ext>
    </p:extLst>
  </p:cSld>
</p:sld>
</file>

<file path=ppt/slides/slide2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B00709-13BF-4858-9674-C9BE65366B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066EC0-D80D-427D-8DD2-7521DDE5B46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8F5CF2C-6D6B-4066-ABCE-67BCD349BC5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CVE RESULTS</a:t>
            </a:r>
          </a:p>
        </p:txBody>
      </p:sp>
      <p:sp>
        <p:nvSpPr>
          <p:cNvPr id="4" name="">
            <a:extLst xmlns:a="http://schemas.openxmlformats.org/drawingml/2006/main">
              <a:ext uri="{FF2B5EF4-FFF2-40B4-BE49-F238E27FC236}">
                <a16:creationId xmlns:a16="http://schemas.microsoft.com/office/drawing/2014/main" id="{794BEF13-ECB5-4F36-B1A8-4CE1B770D39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Generated report screenshots prove both the clean and vulnerable demo lanes</a:t>
            </a:r>
          </a:p>
        </p:txBody>
      </p:sp>
      <p:sp>
        <p:nvSpPr>
          <p:cNvPr id="5" name="">
            <a:extLst xmlns:a="http://schemas.openxmlformats.org/drawingml/2006/main">
              <a:ext uri="{FF2B5EF4-FFF2-40B4-BE49-F238E27FC236}">
                <a16:creationId xmlns:a16="http://schemas.microsoft.com/office/drawing/2014/main" id="{1BE5E248-C2C1-4056-81F6-FBC25C0D83C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296E5D58-B8DE-460C-BA6F-47E0F18EEBF8}"/>
              </a:ext>
            </a:extLst>
          </p:cNvPr>
          <p:cNvSpPr>
            <a:spLocks xmlns:a="http://schemas.openxmlformats.org/drawingml/2006/main" noGrp="1"/>
          </p:cNvSpPr>
          <p:nvPr/>
        </p:nvSpPr>
        <p:spPr>
          <a:xfrm xmlns:a="http://schemas.openxmlformats.org/drawingml/2006/main">
            <a:off x="685800" y="1295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CLEAN REAL APK</a:t>
            </a:r>
          </a:p>
        </p:txBody>
      </p:sp>
      <p:sp>
        <p:nvSpPr>
          <p:cNvPr id="7" name="">
            <a:extLst xmlns:a="http://schemas.openxmlformats.org/drawingml/2006/main">
              <a:ext uri="{FF2B5EF4-FFF2-40B4-BE49-F238E27FC236}">
                <a16:creationId xmlns:a16="http://schemas.microsoft.com/office/drawing/2014/main" id="{689EA220-EEBD-4B96-AEDB-50CFB62FCD57}"/>
              </a:ext>
            </a:extLst>
          </p:cNvPr>
          <p:cNvSpPr>
            <a:spLocks xmlns:a="http://schemas.openxmlformats.org/drawingml/2006/main" noGrp="1"/>
          </p:cNvSpPr>
          <p:nvPr/>
        </p:nvSpPr>
        <p:spPr>
          <a:xfrm xmlns:a="http://schemas.openxmlformats.org/drawingml/2006/main">
            <a:off x="6381750" y="12954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CONTROLLED POSITIVE CVE</a:t>
            </a:r>
          </a:p>
        </p:txBody>
      </p:sp>
      <p:sp>
        <p:nvSpPr>
          <p:cNvPr id="8" name="">
            <a:extLst xmlns:a="http://schemas.openxmlformats.org/drawingml/2006/main">
              <a:ext uri="{FF2B5EF4-FFF2-40B4-BE49-F238E27FC236}">
                <a16:creationId xmlns:a16="http://schemas.microsoft.com/office/drawing/2014/main" id="{BC02C62D-DA9C-419A-9EBB-0C85817CE7E5}"/>
              </a:ext>
            </a:extLst>
          </p:cNvPr>
          <p:cNvSpPr>
            <a:spLocks xmlns:a="http://schemas.openxmlformats.org/drawingml/2006/main" noGrp="1"/>
          </p:cNvSpPr>
          <p:nvPr/>
        </p:nvSpPr>
        <p:spPr>
          <a:xfrm xmlns:a="http://schemas.openxmlformats.org/drawingml/2006/main">
            <a:off x="685800" y="1581150"/>
            <a:ext cx="514350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ad0a2c5a8c94815"/>
          <a:stretch xmlns:a="http://schemas.openxmlformats.org/drawingml/2006/main"/>
        </p:blipFill>
        <p:spPr>
          <a:xfrm xmlns:a="http://schemas.openxmlformats.org/drawingml/2006/main">
            <a:off x="1076706" y="1657350"/>
            <a:ext cx="4361688" cy="3028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4C6F5EC-844D-44C6-BCDC-CAAC7046CB3F}"/>
              </a:ext>
            </a:extLst>
          </p:cNvPr>
          <p:cNvSpPr>
            <a:spLocks xmlns:a="http://schemas.openxmlformats.org/drawingml/2006/main" noGrp="1"/>
          </p:cNvSpPr>
          <p:nvPr/>
        </p:nvSpPr>
        <p:spPr>
          <a:xfrm xmlns:a="http://schemas.openxmlformats.org/drawingml/2006/main">
            <a:off x="6381750" y="1581150"/>
            <a:ext cx="512445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c6d3011b2394d46"/>
          <a:stretch xmlns:a="http://schemas.openxmlformats.org/drawingml/2006/main"/>
        </p:blipFill>
        <p:spPr>
          <a:xfrm xmlns:a="http://schemas.openxmlformats.org/drawingml/2006/main">
            <a:off x="6763131" y="1657350"/>
            <a:ext cx="4361688" cy="30289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0354ACA-37DB-4155-8954-DBF17145F74C}"/>
              </a:ext>
            </a:extLst>
          </p:cNvPr>
          <p:cNvSpPr>
            <a:spLocks xmlns:a="http://schemas.openxmlformats.org/drawingml/2006/main" noGrp="1"/>
          </p:cNvSpPr>
          <p:nvPr/>
        </p:nvSpPr>
        <p:spPr>
          <a:xfrm xmlns:a="http://schemas.openxmlformats.org/drawingml/2006/main">
            <a:off x="895350" y="4953000"/>
            <a:ext cx="47053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548F6D52-C029-49E2-8EEE-8E740E1E8C28}"/>
              </a:ext>
            </a:extLst>
          </p:cNvPr>
          <p:cNvSpPr>
            <a:spLocks xmlns:a="http://schemas.openxmlformats.org/drawingml/2006/main" noGrp="1"/>
          </p:cNvSpPr>
          <p:nvPr/>
        </p:nvSpPr>
        <p:spPr>
          <a:xfrm xmlns:a="http://schemas.openxmlformats.org/drawingml/2006/main">
            <a:off x="962025" y="5010150"/>
            <a:ext cx="457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23 Maven components  |  OSV 0</a:t>
            </a:r>
          </a:p>
        </p:txBody>
      </p:sp>
      <p:sp>
        <p:nvSpPr>
          <p:cNvPr id="14" name="">
            <a:extLst xmlns:a="http://schemas.openxmlformats.org/drawingml/2006/main">
              <a:ext uri="{FF2B5EF4-FFF2-40B4-BE49-F238E27FC236}">
                <a16:creationId xmlns:a16="http://schemas.microsoft.com/office/drawing/2014/main" id="{8B50C9D9-FF5C-435D-825C-29C85C34EAC6}"/>
              </a:ext>
            </a:extLst>
          </p:cNvPr>
          <p:cNvSpPr>
            <a:spLocks xmlns:a="http://schemas.openxmlformats.org/drawingml/2006/main" noGrp="1"/>
          </p:cNvSpPr>
          <p:nvPr/>
        </p:nvSpPr>
        <p:spPr>
          <a:xfrm xmlns:a="http://schemas.openxmlformats.org/drawingml/2006/main">
            <a:off x="6591300" y="4953000"/>
            <a:ext cx="468630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E4C7D32F-BDE5-4E98-9E16-60A4ED85C741}"/>
              </a:ext>
            </a:extLst>
          </p:cNvPr>
          <p:cNvSpPr>
            <a:spLocks xmlns:a="http://schemas.openxmlformats.org/drawingml/2006/main" noGrp="1"/>
          </p:cNvSpPr>
          <p:nvPr/>
        </p:nvSpPr>
        <p:spPr>
          <a:xfrm xmlns:a="http://schemas.openxmlformats.org/drawingml/2006/main">
            <a:off x="6657975" y="5010150"/>
            <a:ext cx="4552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Jackson Databind 2.9.10.8  |  3 HIGH</a:t>
            </a:r>
          </a:p>
        </p:txBody>
      </p:sp>
      <p:sp>
        <p:nvSpPr>
          <p:cNvPr id="16" name="">
            <a:extLst xmlns:a="http://schemas.openxmlformats.org/drawingml/2006/main">
              <a:ext uri="{FF2B5EF4-FFF2-40B4-BE49-F238E27FC236}">
                <a16:creationId xmlns:a16="http://schemas.microsoft.com/office/drawing/2014/main" id="{CDD758D2-BD26-4775-B45D-A1766290F2E0}"/>
              </a:ext>
            </a:extLst>
          </p:cNvPr>
          <p:cNvSpPr>
            <a:spLocks xmlns:a="http://schemas.openxmlformats.org/drawingml/2006/main" noGrp="1"/>
          </p:cNvSpPr>
          <p:nvPr/>
        </p:nvSpPr>
        <p:spPr>
          <a:xfrm xmlns:a="http://schemas.openxmlformats.org/drawingml/2006/main">
            <a:off x="657225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B58579BA-7835-41C9-9DA3-AD4977A297F5}"/>
              </a:ext>
            </a:extLst>
          </p:cNvPr>
          <p:cNvSpPr>
            <a:spLocks xmlns:a="http://schemas.openxmlformats.org/drawingml/2006/main" noGrp="1"/>
          </p:cNvSpPr>
          <p:nvPr/>
        </p:nvSpPr>
        <p:spPr>
          <a:xfrm xmlns:a="http://schemas.openxmlformats.org/drawingml/2006/main">
            <a:off x="663892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CVE-2020-36518</a:t>
            </a:r>
          </a:p>
        </p:txBody>
      </p:sp>
      <p:sp>
        <p:nvSpPr>
          <p:cNvPr id="18" name="">
            <a:extLst xmlns:a="http://schemas.openxmlformats.org/drawingml/2006/main">
              <a:ext uri="{FF2B5EF4-FFF2-40B4-BE49-F238E27FC236}">
                <a16:creationId xmlns:a16="http://schemas.microsoft.com/office/drawing/2014/main" id="{A6DFCB04-AAB4-424A-AB70-F66110C80B6C}"/>
              </a:ext>
            </a:extLst>
          </p:cNvPr>
          <p:cNvSpPr>
            <a:spLocks xmlns:a="http://schemas.openxmlformats.org/drawingml/2006/main" noGrp="1"/>
          </p:cNvSpPr>
          <p:nvPr/>
        </p:nvSpPr>
        <p:spPr>
          <a:xfrm xmlns:a="http://schemas.openxmlformats.org/drawingml/2006/main">
            <a:off x="815340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61EDF7F2-9204-4985-8378-6EA0E8993D91}"/>
              </a:ext>
            </a:extLst>
          </p:cNvPr>
          <p:cNvSpPr>
            <a:spLocks xmlns:a="http://schemas.openxmlformats.org/drawingml/2006/main" noGrp="1"/>
          </p:cNvSpPr>
          <p:nvPr/>
        </p:nvSpPr>
        <p:spPr>
          <a:xfrm xmlns:a="http://schemas.openxmlformats.org/drawingml/2006/main">
            <a:off x="822007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CVE-2022-42003</a:t>
            </a:r>
          </a:p>
        </p:txBody>
      </p:sp>
      <p:sp>
        <p:nvSpPr>
          <p:cNvPr id="20" name="">
            <a:extLst xmlns:a="http://schemas.openxmlformats.org/drawingml/2006/main">
              <a:ext uri="{FF2B5EF4-FFF2-40B4-BE49-F238E27FC236}">
                <a16:creationId xmlns:a16="http://schemas.microsoft.com/office/drawing/2014/main" id="{596A1929-F887-4F4D-A99D-EA0959B97181}"/>
              </a:ext>
            </a:extLst>
          </p:cNvPr>
          <p:cNvSpPr>
            <a:spLocks xmlns:a="http://schemas.openxmlformats.org/drawingml/2006/main" noGrp="1"/>
          </p:cNvSpPr>
          <p:nvPr/>
        </p:nvSpPr>
        <p:spPr>
          <a:xfrm xmlns:a="http://schemas.openxmlformats.org/drawingml/2006/main">
            <a:off x="973455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AD9756F9-20B0-425B-8B31-8A5172913AE5}"/>
              </a:ext>
            </a:extLst>
          </p:cNvPr>
          <p:cNvSpPr>
            <a:spLocks xmlns:a="http://schemas.openxmlformats.org/drawingml/2006/main" noGrp="1"/>
          </p:cNvSpPr>
          <p:nvPr/>
        </p:nvSpPr>
        <p:spPr>
          <a:xfrm xmlns:a="http://schemas.openxmlformats.org/drawingml/2006/main">
            <a:off x="980122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CVE-2022-42004</a:t>
            </a:r>
          </a:p>
        </p:txBody>
      </p:sp>
      <p:sp>
        <p:nvSpPr>
          <p:cNvPr id="22" name="">
            <a:extLst xmlns:a="http://schemas.openxmlformats.org/drawingml/2006/main">
              <a:ext uri="{FF2B5EF4-FFF2-40B4-BE49-F238E27FC236}">
                <a16:creationId xmlns:a16="http://schemas.microsoft.com/office/drawing/2014/main" id="{1824AA8B-7CF1-4260-9D37-0D3FD824B0A7}"/>
              </a:ext>
            </a:extLst>
          </p:cNvPr>
          <p:cNvSpPr>
            <a:spLocks xmlns:a="http://schemas.openxmlformats.org/drawingml/2006/main" noGrp="1"/>
          </p:cNvSpPr>
          <p:nvPr/>
        </p:nvSpPr>
        <p:spPr>
          <a:xfrm xmlns:a="http://schemas.openxmlformats.org/drawingml/2006/main">
            <a:off x="876300" y="594360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Cascadia Mono"/>
                <a:ea typeface="Cascadia Mono"/>
                <a:cs typeface="Cascadia Mono"/>
              </a:defRPr>
            </a:pPr>
            <a:r>
              <a:rPr sz="975" b="1">
                <a:solidFill>
                  <a:srgbClr val="FFFFFF"/>
                </a:solidFill>
                <a:latin typeface="Cascadia Mono"/>
                <a:ea typeface="Cascadia Mono"/>
                <a:cs typeface="Cascadia Mono"/>
              </a:rPr>
              <a:t>Artifacts: report.html + sbom.cdx.json + osv-vulnerabilities.json + source-validation.json</a:t>
            </a:r>
          </a:p>
        </p:txBody>
      </p:sp>
      <p:sp>
        <p:nvSpPr>
          <p:cNvPr id="23" name="">
            <a:extLst xmlns:a="http://schemas.openxmlformats.org/drawingml/2006/main">
              <a:ext uri="{FF2B5EF4-FFF2-40B4-BE49-F238E27FC236}">
                <a16:creationId xmlns:a16="http://schemas.microsoft.com/office/drawing/2014/main" id="{B2C2CB0F-1046-492F-9A41-1518B62C15B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43970178"/>
      </p:ext>
    </p:extLst>
  </p:cSld>
</p:sld>
</file>

<file path=ppt/slides/slide2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729E62-F60B-4FC5-8F28-3301066059D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CONCRETE DEMO INTERPRETATION</a:t>
            </a:r>
          </a:p>
        </p:txBody>
      </p:sp>
      <p:sp>
        <p:nvSpPr>
          <p:cNvPr id="2" name="">
            <a:extLst xmlns:a="http://schemas.openxmlformats.org/drawingml/2006/main">
              <a:ext uri="{FF2B5EF4-FFF2-40B4-BE49-F238E27FC236}">
                <a16:creationId xmlns:a16="http://schemas.microsoft.com/office/drawing/2014/main" id="{96712C9B-200A-4184-ABC3-D0435C885FE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One run separates correct versions from scoring, recall, and reference-DB gaps</a:t>
            </a:r>
          </a:p>
        </p:txBody>
      </p:sp>
      <p:sp>
        <p:nvSpPr>
          <p:cNvPr id="3" name="">
            <a:extLst xmlns:a="http://schemas.openxmlformats.org/drawingml/2006/main">
              <a:ext uri="{FF2B5EF4-FFF2-40B4-BE49-F238E27FC236}">
                <a16:creationId xmlns:a16="http://schemas.microsoft.com/office/drawing/2014/main" id="{7BFBDE18-6D18-4C50-A082-AB919223F63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FEA5A938-D5F3-4F78-AD69-CC7B2D6CD233}"/>
              </a:ext>
            </a:extLst>
          </p:cNvPr>
          <p:cNvSpPr>
            <a:spLocks xmlns:a="http://schemas.openxmlformats.org/drawingml/2006/main" noGrp="1"/>
          </p:cNvSpPr>
          <p:nvPr/>
        </p:nvSpPr>
        <p:spPr>
          <a:xfrm xmlns:a="http://schemas.openxmlformats.org/drawingml/2006/main">
            <a:off x="55245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5" name="">
            <a:extLst xmlns:a="http://schemas.openxmlformats.org/drawingml/2006/main">
              <a:ext uri="{FF2B5EF4-FFF2-40B4-BE49-F238E27FC236}">
                <a16:creationId xmlns:a16="http://schemas.microsoft.com/office/drawing/2014/main" id="{111EB65C-6CD2-43E8-BB96-DC2EB6D90657}"/>
              </a:ext>
            </a:extLst>
          </p:cNvPr>
          <p:cNvSpPr>
            <a:spLocks xmlns:a="http://schemas.openxmlformats.org/drawingml/2006/main" noGrp="1"/>
          </p:cNvSpPr>
          <p:nvPr/>
        </p:nvSpPr>
        <p:spPr>
          <a:xfrm xmlns:a="http://schemas.openxmlformats.org/drawingml/2006/main">
            <a:off x="552450" y="1466850"/>
            <a:ext cx="2609850" cy="6477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031DCE-A80D-4041-82D0-3C788A4AAF23}"/>
              </a:ext>
            </a:extLst>
          </p:cNvPr>
          <p:cNvSpPr>
            <a:spLocks xmlns:a="http://schemas.openxmlformats.org/drawingml/2006/main" noGrp="1"/>
          </p:cNvSpPr>
          <p:nvPr/>
        </p:nvSpPr>
        <p:spPr>
          <a:xfrm xmlns:a="http://schemas.openxmlformats.org/drawingml/2006/main">
            <a:off x="72390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CORRECT</a:t>
            </a:r>
          </a:p>
        </p:txBody>
      </p:sp>
      <p:sp>
        <p:nvSpPr>
          <p:cNvPr id="7" name="">
            <a:extLst xmlns:a="http://schemas.openxmlformats.org/drawingml/2006/main">
              <a:ext uri="{FF2B5EF4-FFF2-40B4-BE49-F238E27FC236}">
                <a16:creationId xmlns:a16="http://schemas.microsoft.com/office/drawing/2014/main" id="{DA9DE584-6CF9-4804-B11F-3E5B9424FAE2}"/>
              </a:ext>
            </a:extLst>
          </p:cNvPr>
          <p:cNvSpPr>
            <a:spLocks xmlns:a="http://schemas.openxmlformats.org/drawingml/2006/main" noGrp="1"/>
          </p:cNvSpPr>
          <p:nvPr/>
        </p:nvSpPr>
        <p:spPr>
          <a:xfrm xmlns:a="http://schemas.openxmlformats.org/drawingml/2006/main">
            <a:off x="72390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4F7D76"/>
                </a:solidFill>
                <a:latin typeface="Aptos"/>
                <a:ea typeface="Aptos"/>
                <a:cs typeface="Aptos"/>
              </a:defRPr>
            </a:pPr>
            <a:r>
              <a:rPr sz="900" b="1">
                <a:solidFill>
                  <a:srgbClr val="4F7D76"/>
                </a:solidFill>
                <a:latin typeface="Aptos"/>
                <a:ea typeface="Aptos"/>
                <a:cs typeface="Aptos"/>
              </a:rPr>
              <a:t>emitted + source-confirmed</a:t>
            </a:r>
          </a:p>
        </p:txBody>
      </p:sp>
      <p:sp>
        <p:nvSpPr>
          <p:cNvPr id="8" name="">
            <a:extLst xmlns:a="http://schemas.openxmlformats.org/drawingml/2006/main">
              <a:ext uri="{FF2B5EF4-FFF2-40B4-BE49-F238E27FC236}">
                <a16:creationId xmlns:a16="http://schemas.microsoft.com/office/drawing/2014/main" id="{93410080-7A4A-4E71-866D-2F24566783ED}"/>
              </a:ext>
            </a:extLst>
          </p:cNvPr>
          <p:cNvSpPr>
            <a:spLocks xmlns:a="http://schemas.openxmlformats.org/drawingml/2006/main" noGrp="1"/>
          </p:cNvSpPr>
          <p:nvPr/>
        </p:nvSpPr>
        <p:spPr>
          <a:xfrm xmlns:a="http://schemas.openxmlformats.org/drawingml/2006/main">
            <a:off x="72390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9" name="">
            <a:extLst xmlns:a="http://schemas.openxmlformats.org/drawingml/2006/main">
              <a:ext uri="{FF2B5EF4-FFF2-40B4-BE49-F238E27FC236}">
                <a16:creationId xmlns:a16="http://schemas.microsoft.com/office/drawing/2014/main" id="{B3F205D7-64A9-4D63-852C-C0B1C3771522}"/>
              </a:ext>
            </a:extLst>
          </p:cNvPr>
          <p:cNvSpPr>
            <a:spLocks xmlns:a="http://schemas.openxmlformats.org/drawingml/2006/main" noGrp="1"/>
          </p:cNvSpPr>
          <p:nvPr/>
        </p:nvSpPr>
        <p:spPr>
          <a:xfrm xmlns:a="http://schemas.openxmlformats.org/drawingml/2006/main">
            <a:off x="79057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okhttp  4.12.0</a:t>
            </a:r>
          </a:p>
        </p:txBody>
      </p:sp>
      <p:sp>
        <p:nvSpPr>
          <p:cNvPr id="10" name="">
            <a:extLst xmlns:a="http://schemas.openxmlformats.org/drawingml/2006/main">
              <a:ext uri="{FF2B5EF4-FFF2-40B4-BE49-F238E27FC236}">
                <a16:creationId xmlns:a16="http://schemas.microsoft.com/office/drawing/2014/main" id="{8B4C5EF5-580A-4E3E-8085-BAFAB2E2677E}"/>
              </a:ext>
            </a:extLst>
          </p:cNvPr>
          <p:cNvSpPr>
            <a:spLocks xmlns:a="http://schemas.openxmlformats.org/drawingml/2006/main" noGrp="1"/>
          </p:cNvSpPr>
          <p:nvPr/>
        </p:nvSpPr>
        <p:spPr>
          <a:xfrm xmlns:a="http://schemas.openxmlformats.org/drawingml/2006/main">
            <a:off x="723900" y="3314700"/>
            <a:ext cx="2266950" cy="2667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BA7A163C-DDC9-406B-940E-DDB3A556506D}"/>
              </a:ext>
            </a:extLst>
          </p:cNvPr>
          <p:cNvSpPr>
            <a:spLocks xmlns:a="http://schemas.openxmlformats.org/drawingml/2006/main" noGrp="1"/>
          </p:cNvSpPr>
          <p:nvPr/>
        </p:nvSpPr>
        <p:spPr>
          <a:xfrm xmlns:a="http://schemas.openxmlformats.org/drawingml/2006/main">
            <a:off x="79057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coroutines-android  1.7.3</a:t>
            </a:r>
          </a:p>
        </p:txBody>
      </p:sp>
      <p:sp>
        <p:nvSpPr>
          <p:cNvPr id="12" name="">
            <a:extLst xmlns:a="http://schemas.openxmlformats.org/drawingml/2006/main">
              <a:ext uri="{FF2B5EF4-FFF2-40B4-BE49-F238E27FC236}">
                <a16:creationId xmlns:a16="http://schemas.microsoft.com/office/drawing/2014/main" id="{C01C552F-44F5-44D6-BC23-4FABEF8261E1}"/>
              </a:ext>
            </a:extLst>
          </p:cNvPr>
          <p:cNvSpPr>
            <a:spLocks xmlns:a="http://schemas.openxmlformats.org/drawingml/2006/main" noGrp="1"/>
          </p:cNvSpPr>
          <p:nvPr/>
        </p:nvSpPr>
        <p:spPr>
          <a:xfrm xmlns:a="http://schemas.openxmlformats.org/drawingml/2006/main">
            <a:off x="723900" y="3810000"/>
            <a:ext cx="2266950" cy="2667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F658058E-F149-4208-B870-08B3B3F4F270}"/>
              </a:ext>
            </a:extLst>
          </p:cNvPr>
          <p:cNvSpPr>
            <a:spLocks xmlns:a="http://schemas.openxmlformats.org/drawingml/2006/main" noGrp="1"/>
          </p:cNvSpPr>
          <p:nvPr/>
        </p:nvSpPr>
        <p:spPr>
          <a:xfrm xmlns:a="http://schemas.openxmlformats.org/drawingml/2006/main">
            <a:off x="79057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activity  1.10.1</a:t>
            </a:r>
          </a:p>
        </p:txBody>
      </p:sp>
      <p:sp>
        <p:nvSpPr>
          <p:cNvPr id="14" name="rule">
            <a:extLst xmlns:a="http://schemas.openxmlformats.org/drawingml/2006/main">
              <a:ext uri="{FF2B5EF4-FFF2-40B4-BE49-F238E27FC236}">
                <a16:creationId xmlns:a16="http://schemas.microsoft.com/office/drawing/2014/main" id="{B3360CB5-99C3-4C4B-A382-D5DACE100EA1}"/>
              </a:ext>
            </a:extLst>
          </p:cNvPr>
          <p:cNvSpPr>
            <a:spLocks xmlns:a="http://schemas.openxmlformats.org/drawingml/2006/main" noGrp="1"/>
          </p:cNvSpPr>
          <p:nvPr/>
        </p:nvSpPr>
        <p:spPr>
          <a:xfrm xmlns:a="http://schemas.openxmlformats.org/drawingml/2006/main">
            <a:off x="74295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D00AD6-7FC7-49DC-BABD-B4388EA57D72}"/>
              </a:ext>
            </a:extLst>
          </p:cNvPr>
          <p:cNvSpPr>
            <a:spLocks xmlns:a="http://schemas.openxmlformats.org/drawingml/2006/main" noGrp="1"/>
          </p:cNvSpPr>
          <p:nvPr/>
        </p:nvSpPr>
        <p:spPr>
          <a:xfrm xmlns:a="http://schemas.openxmlformats.org/drawingml/2006/main">
            <a:off x="76200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The selected Maven version matches the source dependency tree.</a:t>
            </a:r>
          </a:p>
        </p:txBody>
      </p:sp>
      <p:sp>
        <p:nvSpPr>
          <p:cNvPr id="16" name="">
            <a:extLst xmlns:a="http://schemas.openxmlformats.org/drawingml/2006/main">
              <a:ext uri="{FF2B5EF4-FFF2-40B4-BE49-F238E27FC236}">
                <a16:creationId xmlns:a16="http://schemas.microsoft.com/office/drawing/2014/main" id="{6B81E445-DD92-475C-BD6A-84BBADC163FF}"/>
              </a:ext>
            </a:extLst>
          </p:cNvPr>
          <p:cNvSpPr>
            <a:spLocks xmlns:a="http://schemas.openxmlformats.org/drawingml/2006/main" noGrp="1"/>
          </p:cNvSpPr>
          <p:nvPr/>
        </p:nvSpPr>
        <p:spPr>
          <a:xfrm xmlns:a="http://schemas.openxmlformats.org/drawingml/2006/main">
            <a:off x="339090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733592ED-A48E-4991-B758-DDB84ADB397D}"/>
              </a:ext>
            </a:extLst>
          </p:cNvPr>
          <p:cNvSpPr>
            <a:spLocks xmlns:a="http://schemas.openxmlformats.org/drawingml/2006/main" noGrp="1"/>
          </p:cNvSpPr>
          <p:nvPr/>
        </p:nvSpPr>
        <p:spPr>
          <a:xfrm xmlns:a="http://schemas.openxmlformats.org/drawingml/2006/main">
            <a:off x="3390900" y="1466850"/>
            <a:ext cx="2609850" cy="6477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6718707-2AFA-4517-9053-21326B03E832}"/>
              </a:ext>
            </a:extLst>
          </p:cNvPr>
          <p:cNvSpPr>
            <a:spLocks xmlns:a="http://schemas.openxmlformats.org/drawingml/2006/main" noGrp="1"/>
          </p:cNvSpPr>
          <p:nvPr/>
        </p:nvSpPr>
        <p:spPr>
          <a:xfrm xmlns:a="http://schemas.openxmlformats.org/drawingml/2006/main">
            <a:off x="356235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SCORING MISS</a:t>
            </a:r>
          </a:p>
        </p:txBody>
      </p:sp>
      <p:sp>
        <p:nvSpPr>
          <p:cNvPr id="19" name="">
            <a:extLst xmlns:a="http://schemas.openxmlformats.org/drawingml/2006/main">
              <a:ext uri="{FF2B5EF4-FFF2-40B4-BE49-F238E27FC236}">
                <a16:creationId xmlns:a16="http://schemas.microsoft.com/office/drawing/2014/main" id="{B81B42F2-B95C-4E8D-AF6C-D9C8188A08BC}"/>
              </a:ext>
            </a:extLst>
          </p:cNvPr>
          <p:cNvSpPr>
            <a:spLocks xmlns:a="http://schemas.openxmlformats.org/drawingml/2006/main" noGrp="1"/>
          </p:cNvSpPr>
          <p:nvPr/>
        </p:nvSpPr>
        <p:spPr>
          <a:xfrm xmlns:a="http://schemas.openxmlformats.org/drawingml/2006/main">
            <a:off x="356235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candidate version mismatch</a:t>
            </a:r>
          </a:p>
        </p:txBody>
      </p:sp>
      <p:sp>
        <p:nvSpPr>
          <p:cNvPr id="20" name="">
            <a:extLst xmlns:a="http://schemas.openxmlformats.org/drawingml/2006/main">
              <a:ext uri="{FF2B5EF4-FFF2-40B4-BE49-F238E27FC236}">
                <a16:creationId xmlns:a16="http://schemas.microsoft.com/office/drawing/2014/main" id="{589E7C7D-58DE-4B22-86DC-B861CCC2EF44}"/>
              </a:ext>
            </a:extLst>
          </p:cNvPr>
          <p:cNvSpPr>
            <a:spLocks xmlns:a="http://schemas.openxmlformats.org/drawingml/2006/main" noGrp="1"/>
          </p:cNvSpPr>
          <p:nvPr/>
        </p:nvSpPr>
        <p:spPr>
          <a:xfrm xmlns:a="http://schemas.openxmlformats.org/drawingml/2006/main">
            <a:off x="356235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A366DCAA-8A79-401C-AD68-8366239C5332}"/>
              </a:ext>
            </a:extLst>
          </p:cNvPr>
          <p:cNvSpPr>
            <a:spLocks xmlns:a="http://schemas.openxmlformats.org/drawingml/2006/main" noGrp="1"/>
          </p:cNvSpPr>
          <p:nvPr/>
        </p:nvSpPr>
        <p:spPr>
          <a:xfrm xmlns:a="http://schemas.openxmlformats.org/drawingml/2006/main">
            <a:off x="362902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okio selected  2.8.0</a:t>
            </a:r>
          </a:p>
        </p:txBody>
      </p:sp>
      <p:sp>
        <p:nvSpPr>
          <p:cNvPr id="22" name="">
            <a:extLst xmlns:a="http://schemas.openxmlformats.org/drawingml/2006/main">
              <a:ext uri="{FF2B5EF4-FFF2-40B4-BE49-F238E27FC236}">
                <a16:creationId xmlns:a16="http://schemas.microsoft.com/office/drawing/2014/main" id="{008DCF12-89BF-40EF-ABA6-E8356B7757C1}"/>
              </a:ext>
            </a:extLst>
          </p:cNvPr>
          <p:cNvSpPr>
            <a:spLocks xmlns:a="http://schemas.openxmlformats.org/drawingml/2006/main" noGrp="1"/>
          </p:cNvSpPr>
          <p:nvPr/>
        </p:nvSpPr>
        <p:spPr>
          <a:xfrm xmlns:a="http://schemas.openxmlformats.org/drawingml/2006/main">
            <a:off x="3562350" y="3314700"/>
            <a:ext cx="2266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8152D992-08BF-41BF-B719-1AB16EA4CD66}"/>
              </a:ext>
            </a:extLst>
          </p:cNvPr>
          <p:cNvSpPr>
            <a:spLocks xmlns:a="http://schemas.openxmlformats.org/drawingml/2006/main" noGrp="1"/>
          </p:cNvSpPr>
          <p:nvPr/>
        </p:nvSpPr>
        <p:spPr>
          <a:xfrm xmlns:a="http://schemas.openxmlformats.org/drawingml/2006/main">
            <a:off x="362902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source version  3.7.0</a:t>
            </a:r>
          </a:p>
        </p:txBody>
      </p:sp>
      <p:sp>
        <p:nvSpPr>
          <p:cNvPr id="24" name="">
            <a:extLst xmlns:a="http://schemas.openxmlformats.org/drawingml/2006/main">
              <a:ext uri="{FF2B5EF4-FFF2-40B4-BE49-F238E27FC236}">
                <a16:creationId xmlns:a16="http://schemas.microsoft.com/office/drawing/2014/main" id="{38655F77-7CFA-40CF-AC0E-08D608EEEFF2}"/>
              </a:ext>
            </a:extLst>
          </p:cNvPr>
          <p:cNvSpPr>
            <a:spLocks xmlns:a="http://schemas.openxmlformats.org/drawingml/2006/main" noGrp="1"/>
          </p:cNvSpPr>
          <p:nvPr/>
        </p:nvSpPr>
        <p:spPr>
          <a:xfrm xmlns:a="http://schemas.openxmlformats.org/drawingml/2006/main">
            <a:off x="3562350" y="3810000"/>
            <a:ext cx="2266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5" name="">
            <a:extLst xmlns:a="http://schemas.openxmlformats.org/drawingml/2006/main">
              <a:ext uri="{FF2B5EF4-FFF2-40B4-BE49-F238E27FC236}">
                <a16:creationId xmlns:a16="http://schemas.microsoft.com/office/drawing/2014/main" id="{6C81ED5F-C9A6-4AEC-949A-D234C2F2D334}"/>
              </a:ext>
            </a:extLst>
          </p:cNvPr>
          <p:cNvSpPr>
            <a:spLocks xmlns:a="http://schemas.openxmlformats.org/drawingml/2006/main" noGrp="1"/>
          </p:cNvSpPr>
          <p:nvPr/>
        </p:nvSpPr>
        <p:spPr>
          <a:xfrm xmlns:a="http://schemas.openxmlformats.org/drawingml/2006/main">
            <a:off x="362902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status  version-mismatch</a:t>
            </a:r>
          </a:p>
        </p:txBody>
      </p:sp>
      <p:sp>
        <p:nvSpPr>
          <p:cNvPr id="26" name="rule">
            <a:extLst xmlns:a="http://schemas.openxmlformats.org/drawingml/2006/main">
              <a:ext uri="{FF2B5EF4-FFF2-40B4-BE49-F238E27FC236}">
                <a16:creationId xmlns:a16="http://schemas.microsoft.com/office/drawing/2014/main" id="{9958616E-D782-44E1-B5E8-B8DCA0817ED4}"/>
              </a:ext>
            </a:extLst>
          </p:cNvPr>
          <p:cNvSpPr>
            <a:spLocks xmlns:a="http://schemas.openxmlformats.org/drawingml/2006/main" noGrp="1"/>
          </p:cNvSpPr>
          <p:nvPr/>
        </p:nvSpPr>
        <p:spPr>
          <a:xfrm xmlns:a="http://schemas.openxmlformats.org/drawingml/2006/main">
            <a:off x="358140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E36A21-BBB5-42DE-A83B-C9943CB100B0}"/>
              </a:ext>
            </a:extLst>
          </p:cNvPr>
          <p:cNvSpPr>
            <a:spLocks xmlns:a="http://schemas.openxmlformats.org/drawingml/2006/main" noGrp="1"/>
          </p:cNvSpPr>
          <p:nvPr/>
        </p:nvSpPr>
        <p:spPr>
          <a:xfrm xmlns:a="http://schemas.openxmlformats.org/drawingml/2006/main">
            <a:off x="360045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Kept outside the confirmed SBOM instead of becoming a false exact claim.</a:t>
            </a:r>
          </a:p>
        </p:txBody>
      </p:sp>
      <p:sp>
        <p:nvSpPr>
          <p:cNvPr id="28" name="">
            <a:extLst xmlns:a="http://schemas.openxmlformats.org/drawingml/2006/main">
              <a:ext uri="{FF2B5EF4-FFF2-40B4-BE49-F238E27FC236}">
                <a16:creationId xmlns:a16="http://schemas.microsoft.com/office/drawing/2014/main" id="{E63C95E5-96F3-42F4-AC5C-7954167BBA33}"/>
              </a:ext>
            </a:extLst>
          </p:cNvPr>
          <p:cNvSpPr>
            <a:spLocks xmlns:a="http://schemas.openxmlformats.org/drawingml/2006/main" noGrp="1"/>
          </p:cNvSpPr>
          <p:nvPr/>
        </p:nvSpPr>
        <p:spPr>
          <a:xfrm xmlns:a="http://schemas.openxmlformats.org/drawingml/2006/main">
            <a:off x="622935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9" name="">
            <a:extLst xmlns:a="http://schemas.openxmlformats.org/drawingml/2006/main">
              <a:ext uri="{FF2B5EF4-FFF2-40B4-BE49-F238E27FC236}">
                <a16:creationId xmlns:a16="http://schemas.microsoft.com/office/drawing/2014/main" id="{68B91A5A-DE01-4827-8A53-0E50BA1329A1}"/>
              </a:ext>
            </a:extLst>
          </p:cNvPr>
          <p:cNvSpPr>
            <a:spLocks xmlns:a="http://schemas.openxmlformats.org/drawingml/2006/main" noGrp="1"/>
          </p:cNvSpPr>
          <p:nvPr/>
        </p:nvSpPr>
        <p:spPr>
          <a:xfrm xmlns:a="http://schemas.openxmlformats.org/drawingml/2006/main">
            <a:off x="6229350" y="1466850"/>
            <a:ext cx="2609850" cy="6477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E9DA508-F888-4DF6-9EB5-24DC8DDF04F2}"/>
              </a:ext>
            </a:extLst>
          </p:cNvPr>
          <p:cNvSpPr>
            <a:spLocks xmlns:a="http://schemas.openxmlformats.org/drawingml/2006/main" noGrp="1"/>
          </p:cNvSpPr>
          <p:nvPr/>
        </p:nvSpPr>
        <p:spPr>
          <a:xfrm xmlns:a="http://schemas.openxmlformats.org/drawingml/2006/main">
            <a:off x="640080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MATCHER RECALL</a:t>
            </a:r>
          </a:p>
        </p:txBody>
      </p:sp>
      <p:sp>
        <p:nvSpPr>
          <p:cNvPr id="31" name="">
            <a:extLst xmlns:a="http://schemas.openxmlformats.org/drawingml/2006/main">
              <a:ext uri="{FF2B5EF4-FFF2-40B4-BE49-F238E27FC236}">
                <a16:creationId xmlns:a16="http://schemas.microsoft.com/office/drawing/2014/main" id="{F74C3CF1-D26F-4C99-BE19-2D15DC118757}"/>
              </a:ext>
            </a:extLst>
          </p:cNvPr>
          <p:cNvSpPr>
            <a:spLocks xmlns:a="http://schemas.openxmlformats.org/drawingml/2006/main" noGrp="1"/>
          </p:cNvSpPr>
          <p:nvPr/>
        </p:nvSpPr>
        <p:spPr>
          <a:xfrm xmlns:a="http://schemas.openxmlformats.org/drawingml/2006/main">
            <a:off x="640080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reference exists, not emitted</a:t>
            </a:r>
          </a:p>
        </p:txBody>
      </p:sp>
      <p:sp>
        <p:nvSpPr>
          <p:cNvPr id="32" name="">
            <a:extLst xmlns:a="http://schemas.openxmlformats.org/drawingml/2006/main">
              <a:ext uri="{FF2B5EF4-FFF2-40B4-BE49-F238E27FC236}">
                <a16:creationId xmlns:a16="http://schemas.microsoft.com/office/drawing/2014/main" id="{38C52852-B6B6-4695-94E4-EC0CCC67B937}"/>
              </a:ext>
            </a:extLst>
          </p:cNvPr>
          <p:cNvSpPr>
            <a:spLocks xmlns:a="http://schemas.openxmlformats.org/drawingml/2006/main" noGrp="1"/>
          </p:cNvSpPr>
          <p:nvPr/>
        </p:nvSpPr>
        <p:spPr>
          <a:xfrm xmlns:a="http://schemas.openxmlformats.org/drawingml/2006/main">
            <a:off x="640080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3" name="">
            <a:extLst xmlns:a="http://schemas.openxmlformats.org/drawingml/2006/main">
              <a:ext uri="{FF2B5EF4-FFF2-40B4-BE49-F238E27FC236}">
                <a16:creationId xmlns:a16="http://schemas.microsoft.com/office/drawing/2014/main" id="{EB33DA62-22F5-49D3-9DF5-2D3E7D9612D2}"/>
              </a:ext>
            </a:extLst>
          </p:cNvPr>
          <p:cNvSpPr>
            <a:spLocks xmlns:a="http://schemas.openxmlformats.org/drawingml/2006/main" noGrp="1"/>
          </p:cNvSpPr>
          <p:nvPr/>
        </p:nvSpPr>
        <p:spPr>
          <a:xfrm xmlns:a="http://schemas.openxmlformats.org/drawingml/2006/main">
            <a:off x="646747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activity-compose</a:t>
            </a:r>
          </a:p>
        </p:txBody>
      </p:sp>
      <p:sp>
        <p:nvSpPr>
          <p:cNvPr id="34" name="">
            <a:extLst xmlns:a="http://schemas.openxmlformats.org/drawingml/2006/main">
              <a:ext uri="{FF2B5EF4-FFF2-40B4-BE49-F238E27FC236}">
                <a16:creationId xmlns:a16="http://schemas.microsoft.com/office/drawing/2014/main" id="{D664028E-C9E7-4ABD-8E8E-9F6496E964C6}"/>
              </a:ext>
            </a:extLst>
          </p:cNvPr>
          <p:cNvSpPr>
            <a:spLocks xmlns:a="http://schemas.openxmlformats.org/drawingml/2006/main" noGrp="1"/>
          </p:cNvSpPr>
          <p:nvPr/>
        </p:nvSpPr>
        <p:spPr>
          <a:xfrm xmlns:a="http://schemas.openxmlformats.org/drawingml/2006/main">
            <a:off x="6400800" y="3314700"/>
            <a:ext cx="2266950" cy="2667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B0D8B5DE-4D80-42C3-8231-4B690AA0C055}"/>
              </a:ext>
            </a:extLst>
          </p:cNvPr>
          <p:cNvSpPr>
            <a:spLocks xmlns:a="http://schemas.openxmlformats.org/drawingml/2006/main" noGrp="1"/>
          </p:cNvSpPr>
          <p:nvPr/>
        </p:nvSpPr>
        <p:spPr>
          <a:xfrm xmlns:a="http://schemas.openxmlformats.org/drawingml/2006/main">
            <a:off x="646747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source  1.10.1</a:t>
            </a:r>
          </a:p>
        </p:txBody>
      </p:sp>
      <p:sp>
        <p:nvSpPr>
          <p:cNvPr id="36" name="">
            <a:extLst xmlns:a="http://schemas.openxmlformats.org/drawingml/2006/main">
              <a:ext uri="{FF2B5EF4-FFF2-40B4-BE49-F238E27FC236}">
                <a16:creationId xmlns:a16="http://schemas.microsoft.com/office/drawing/2014/main" id="{BCCF2AC1-A793-4856-9FE3-A9DC5C5CE522}"/>
              </a:ext>
            </a:extLst>
          </p:cNvPr>
          <p:cNvSpPr>
            <a:spLocks xmlns:a="http://schemas.openxmlformats.org/drawingml/2006/main" noGrp="1"/>
          </p:cNvSpPr>
          <p:nvPr/>
        </p:nvSpPr>
        <p:spPr>
          <a:xfrm xmlns:a="http://schemas.openxmlformats.org/drawingml/2006/main">
            <a:off x="6400800" y="3810000"/>
            <a:ext cx="2266950" cy="2667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7" name="">
            <a:extLst xmlns:a="http://schemas.openxmlformats.org/drawingml/2006/main">
              <a:ext uri="{FF2B5EF4-FFF2-40B4-BE49-F238E27FC236}">
                <a16:creationId xmlns:a16="http://schemas.microsoft.com/office/drawing/2014/main" id="{9945CC8B-3983-4EC1-AE04-A424A987ACDD}"/>
              </a:ext>
            </a:extLst>
          </p:cNvPr>
          <p:cNvSpPr>
            <a:spLocks xmlns:a="http://schemas.openxmlformats.org/drawingml/2006/main" noGrp="1"/>
          </p:cNvSpPr>
          <p:nvPr/>
        </p:nvSpPr>
        <p:spPr>
          <a:xfrm xmlns:a="http://schemas.openxmlformats.org/drawingml/2006/main">
            <a:off x="646747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exact version is in DB</a:t>
            </a:r>
          </a:p>
        </p:txBody>
      </p:sp>
      <p:sp>
        <p:nvSpPr>
          <p:cNvPr id="38" name="rule">
            <a:extLst xmlns:a="http://schemas.openxmlformats.org/drawingml/2006/main">
              <a:ext uri="{FF2B5EF4-FFF2-40B4-BE49-F238E27FC236}">
                <a16:creationId xmlns:a16="http://schemas.microsoft.com/office/drawing/2014/main" id="{34FE4022-879E-43BE-B947-BFFDAFCBBED0}"/>
              </a:ext>
            </a:extLst>
          </p:cNvPr>
          <p:cNvSpPr>
            <a:spLocks xmlns:a="http://schemas.openxmlformats.org/drawingml/2006/main" noGrp="1"/>
          </p:cNvSpPr>
          <p:nvPr/>
        </p:nvSpPr>
        <p:spPr>
          <a:xfrm xmlns:a="http://schemas.openxmlformats.org/drawingml/2006/main">
            <a:off x="641985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22DE159-85DF-49F3-B528-D0805FC09906}"/>
              </a:ext>
            </a:extLst>
          </p:cNvPr>
          <p:cNvSpPr>
            <a:spLocks xmlns:a="http://schemas.openxmlformats.org/drawingml/2006/main" noGrp="1"/>
          </p:cNvSpPr>
          <p:nvPr/>
        </p:nvSpPr>
        <p:spPr>
          <a:xfrm xmlns:a="http://schemas.openxmlformats.org/drawingml/2006/main">
            <a:off x="643890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The next action is threshold or feature-recall work, not DB growth.</a:t>
            </a:r>
          </a:p>
        </p:txBody>
      </p:sp>
      <p:sp>
        <p:nvSpPr>
          <p:cNvPr id="40" name="">
            <a:extLst xmlns:a="http://schemas.openxmlformats.org/drawingml/2006/main">
              <a:ext uri="{FF2B5EF4-FFF2-40B4-BE49-F238E27FC236}">
                <a16:creationId xmlns:a16="http://schemas.microsoft.com/office/drawing/2014/main" id="{0208D764-3077-4AD6-9842-69C309CB26FD}"/>
              </a:ext>
            </a:extLst>
          </p:cNvPr>
          <p:cNvSpPr>
            <a:spLocks xmlns:a="http://schemas.openxmlformats.org/drawingml/2006/main" noGrp="1"/>
          </p:cNvSpPr>
          <p:nvPr/>
        </p:nvSpPr>
        <p:spPr>
          <a:xfrm xmlns:a="http://schemas.openxmlformats.org/drawingml/2006/main">
            <a:off x="906780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B5FDF1A4-E15C-42CA-92C0-00AA68E3D61E}"/>
              </a:ext>
            </a:extLst>
          </p:cNvPr>
          <p:cNvSpPr>
            <a:spLocks xmlns:a="http://schemas.openxmlformats.org/drawingml/2006/main" noGrp="1"/>
          </p:cNvSpPr>
          <p:nvPr/>
        </p:nvSpPr>
        <p:spPr>
          <a:xfrm xmlns:a="http://schemas.openxmlformats.org/drawingml/2006/main">
            <a:off x="9067800" y="1466850"/>
            <a:ext cx="2609850" cy="6477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8BBFC0D-B0E6-4858-8B09-62A6B6BA5B17}"/>
              </a:ext>
            </a:extLst>
          </p:cNvPr>
          <p:cNvSpPr>
            <a:spLocks xmlns:a="http://schemas.openxmlformats.org/drawingml/2006/main" noGrp="1"/>
          </p:cNvSpPr>
          <p:nvPr/>
        </p:nvSpPr>
        <p:spPr>
          <a:xfrm xmlns:a="http://schemas.openxmlformats.org/drawingml/2006/main">
            <a:off x="923925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REFERENCE GAP</a:t>
            </a:r>
          </a:p>
        </p:txBody>
      </p:sp>
      <p:sp>
        <p:nvSpPr>
          <p:cNvPr id="43" name="">
            <a:extLst xmlns:a="http://schemas.openxmlformats.org/drawingml/2006/main">
              <a:ext uri="{FF2B5EF4-FFF2-40B4-BE49-F238E27FC236}">
                <a16:creationId xmlns:a16="http://schemas.microsoft.com/office/drawing/2014/main" id="{3AFEF2EE-2161-431B-A97F-565D96F62213}"/>
              </a:ext>
            </a:extLst>
          </p:cNvPr>
          <p:cNvSpPr>
            <a:spLocks xmlns:a="http://schemas.openxmlformats.org/drawingml/2006/main" noGrp="1"/>
          </p:cNvSpPr>
          <p:nvPr/>
        </p:nvSpPr>
        <p:spPr>
          <a:xfrm xmlns:a="http://schemas.openxmlformats.org/drawingml/2006/main">
            <a:off x="923925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exact version absent from DB</a:t>
            </a:r>
          </a:p>
        </p:txBody>
      </p:sp>
      <p:sp>
        <p:nvSpPr>
          <p:cNvPr id="44" name="">
            <a:extLst xmlns:a="http://schemas.openxmlformats.org/drawingml/2006/main">
              <a:ext uri="{FF2B5EF4-FFF2-40B4-BE49-F238E27FC236}">
                <a16:creationId xmlns:a16="http://schemas.microsoft.com/office/drawing/2014/main" id="{3E15F5CF-C32F-4FB0-B2D4-908462E73F07}"/>
              </a:ext>
            </a:extLst>
          </p:cNvPr>
          <p:cNvSpPr>
            <a:spLocks xmlns:a="http://schemas.openxmlformats.org/drawingml/2006/main" noGrp="1"/>
          </p:cNvSpPr>
          <p:nvPr/>
        </p:nvSpPr>
        <p:spPr>
          <a:xfrm xmlns:a="http://schemas.openxmlformats.org/drawingml/2006/main">
            <a:off x="923925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45" name="">
            <a:extLst xmlns:a="http://schemas.openxmlformats.org/drawingml/2006/main">
              <a:ext uri="{FF2B5EF4-FFF2-40B4-BE49-F238E27FC236}">
                <a16:creationId xmlns:a16="http://schemas.microsoft.com/office/drawing/2014/main" id="{271C6C89-AC68-4564-812E-0AF02D678449}"/>
              </a:ext>
            </a:extLst>
          </p:cNvPr>
          <p:cNvSpPr>
            <a:spLocks xmlns:a="http://schemas.openxmlformats.org/drawingml/2006/main" noGrp="1"/>
          </p:cNvSpPr>
          <p:nvPr/>
        </p:nvSpPr>
        <p:spPr>
          <a:xfrm xmlns:a="http://schemas.openxmlformats.org/drawingml/2006/main">
            <a:off x="930592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collection-ktx</a:t>
            </a:r>
          </a:p>
        </p:txBody>
      </p:sp>
      <p:sp>
        <p:nvSpPr>
          <p:cNvPr id="46" name="">
            <a:extLst xmlns:a="http://schemas.openxmlformats.org/drawingml/2006/main">
              <a:ext uri="{FF2B5EF4-FFF2-40B4-BE49-F238E27FC236}">
                <a16:creationId xmlns:a16="http://schemas.microsoft.com/office/drawing/2014/main" id="{B53AE638-6190-4A4B-B2EA-CF4F6C50B206}"/>
              </a:ext>
            </a:extLst>
          </p:cNvPr>
          <p:cNvSpPr>
            <a:spLocks xmlns:a="http://schemas.openxmlformats.org/drawingml/2006/main" noGrp="1"/>
          </p:cNvSpPr>
          <p:nvPr/>
        </p:nvSpPr>
        <p:spPr>
          <a:xfrm xmlns:a="http://schemas.openxmlformats.org/drawingml/2006/main">
            <a:off x="9239250" y="3314700"/>
            <a:ext cx="2266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7" name="">
            <a:extLst xmlns:a="http://schemas.openxmlformats.org/drawingml/2006/main">
              <a:ext uri="{FF2B5EF4-FFF2-40B4-BE49-F238E27FC236}">
                <a16:creationId xmlns:a16="http://schemas.microsoft.com/office/drawing/2014/main" id="{CC3E4D2E-9705-4CFC-A185-FB6841BC58CE}"/>
              </a:ext>
            </a:extLst>
          </p:cNvPr>
          <p:cNvSpPr>
            <a:spLocks xmlns:a="http://schemas.openxmlformats.org/drawingml/2006/main" noGrp="1"/>
          </p:cNvSpPr>
          <p:nvPr/>
        </p:nvSpPr>
        <p:spPr>
          <a:xfrm xmlns:a="http://schemas.openxmlformats.org/drawingml/2006/main">
            <a:off x="930592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source  1.4.4</a:t>
            </a:r>
          </a:p>
        </p:txBody>
      </p:sp>
      <p:sp>
        <p:nvSpPr>
          <p:cNvPr id="48" name="">
            <a:extLst xmlns:a="http://schemas.openxmlformats.org/drawingml/2006/main">
              <a:ext uri="{FF2B5EF4-FFF2-40B4-BE49-F238E27FC236}">
                <a16:creationId xmlns:a16="http://schemas.microsoft.com/office/drawing/2014/main" id="{F22A0C02-1485-4776-AE41-254DC99E4394}"/>
              </a:ext>
            </a:extLst>
          </p:cNvPr>
          <p:cNvSpPr>
            <a:spLocks xmlns:a="http://schemas.openxmlformats.org/drawingml/2006/main" noGrp="1"/>
          </p:cNvSpPr>
          <p:nvPr/>
        </p:nvSpPr>
        <p:spPr>
          <a:xfrm xmlns:a="http://schemas.openxmlformats.org/drawingml/2006/main">
            <a:off x="9239250" y="3810000"/>
            <a:ext cx="2266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9" name="">
            <a:extLst xmlns:a="http://schemas.openxmlformats.org/drawingml/2006/main">
              <a:ext uri="{FF2B5EF4-FFF2-40B4-BE49-F238E27FC236}">
                <a16:creationId xmlns:a16="http://schemas.microsoft.com/office/drawing/2014/main" id="{4C80341D-4BDD-4879-BD55-0415500544F7}"/>
              </a:ext>
            </a:extLst>
          </p:cNvPr>
          <p:cNvSpPr>
            <a:spLocks xmlns:a="http://schemas.openxmlformats.org/drawingml/2006/main" noGrp="1"/>
          </p:cNvSpPr>
          <p:nvPr/>
        </p:nvSpPr>
        <p:spPr>
          <a:xfrm xmlns:a="http://schemas.openxmlformats.org/drawingml/2006/main">
            <a:off x="930592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missing-reference-candidate</a:t>
            </a:r>
          </a:p>
        </p:txBody>
      </p:sp>
      <p:sp>
        <p:nvSpPr>
          <p:cNvPr id="50" name="rule">
            <a:extLst xmlns:a="http://schemas.openxmlformats.org/drawingml/2006/main">
              <a:ext uri="{FF2B5EF4-FFF2-40B4-BE49-F238E27FC236}">
                <a16:creationId xmlns:a16="http://schemas.microsoft.com/office/drawing/2014/main" id="{6B2BA385-68DC-4522-98FC-F339C960921F}"/>
              </a:ext>
            </a:extLst>
          </p:cNvPr>
          <p:cNvSpPr>
            <a:spLocks xmlns:a="http://schemas.openxmlformats.org/drawingml/2006/main" noGrp="1"/>
          </p:cNvSpPr>
          <p:nvPr/>
        </p:nvSpPr>
        <p:spPr>
          <a:xfrm xmlns:a="http://schemas.openxmlformats.org/drawingml/2006/main">
            <a:off x="925830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0FFA4324-F6CF-4391-A290-98CE27BA9807}"/>
              </a:ext>
            </a:extLst>
          </p:cNvPr>
          <p:cNvSpPr>
            <a:spLocks xmlns:a="http://schemas.openxmlformats.org/drawingml/2006/main" noGrp="1"/>
          </p:cNvSpPr>
          <p:nvPr/>
        </p:nvSpPr>
        <p:spPr>
          <a:xfrm xmlns:a="http://schemas.openxmlformats.org/drawingml/2006/main">
            <a:off x="927735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The coordinate/version must be added or safely aliased before matching can succeed.</a:t>
            </a:r>
          </a:p>
        </p:txBody>
      </p:sp>
      <p:sp>
        <p:nvSpPr>
          <p:cNvPr id="52" name="">
            <a:extLst xmlns:a="http://schemas.openxmlformats.org/drawingml/2006/main">
              <a:ext uri="{FF2B5EF4-FFF2-40B4-BE49-F238E27FC236}">
                <a16:creationId xmlns:a16="http://schemas.microsoft.com/office/drawing/2014/main" id="{01615BCA-2185-4665-BC67-B1D4877430F6}"/>
              </a:ext>
            </a:extLst>
          </p:cNvPr>
          <p:cNvSpPr>
            <a:spLocks xmlns:a="http://schemas.openxmlformats.org/drawingml/2006/main" noGrp="1"/>
          </p:cNvSpPr>
          <p:nvPr/>
        </p:nvSpPr>
        <p:spPr>
          <a:xfrm xmlns:a="http://schemas.openxmlformats.org/drawingml/2006/main">
            <a:off x="952500" y="57912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202A33"/>
                </a:solidFill>
                <a:latin typeface="Aptos"/>
                <a:ea typeface="Aptos"/>
                <a:cs typeface="Aptos"/>
              </a:defRPr>
            </a:pPr>
            <a:r>
              <a:rPr sz="1200" b="1">
                <a:solidFill>
                  <a:srgbClr val="202A33"/>
                </a:solidFill>
                <a:latin typeface="Aptos"/>
                <a:ea typeface="Aptos"/>
                <a:cs typeface="Aptos"/>
              </a:rPr>
              <a:t>Transparency totals: 442 missing-reference rows  |  2,281 matcher-recall rows  |  5,238 source-gap rows</a:t>
            </a:r>
          </a:p>
        </p:txBody>
      </p:sp>
      <p:sp>
        <p:nvSpPr>
          <p:cNvPr id="53" name="">
            <a:extLst xmlns:a="http://schemas.openxmlformats.org/drawingml/2006/main">
              <a:ext uri="{FF2B5EF4-FFF2-40B4-BE49-F238E27FC236}">
                <a16:creationId xmlns:a16="http://schemas.microsoft.com/office/drawing/2014/main" id="{5566B303-5875-42E9-AFC4-49AC3C334CA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37422541"/>
      </p:ext>
    </p:extLst>
  </p:cSld>
</p:sld>
</file>

<file path=ppt/slides/slide2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93B0A6-0932-4ECF-9760-7C03633B55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E74F78-8047-42DC-BD46-7BF66358ED9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C81BF1-BE30-474D-B6D9-9BC6E6A252C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FAILED EXPERIMENTS</a:t>
            </a:r>
          </a:p>
        </p:txBody>
      </p:sp>
      <p:sp>
        <p:nvSpPr>
          <p:cNvPr id="4" name="">
            <a:extLst xmlns:a="http://schemas.openxmlformats.org/drawingml/2006/main">
              <a:ext uri="{FF2B5EF4-FFF2-40B4-BE49-F238E27FC236}">
                <a16:creationId xmlns:a16="http://schemas.microsoft.com/office/drawing/2014/main" id="{45E990EA-D746-487C-A320-BEB4F8BC5BD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Negative experiments protected the production tool from attractive regressions</a:t>
            </a:r>
          </a:p>
        </p:txBody>
      </p:sp>
      <p:sp>
        <p:nvSpPr>
          <p:cNvPr id="5" name="">
            <a:extLst xmlns:a="http://schemas.openxmlformats.org/drawingml/2006/main">
              <a:ext uri="{FF2B5EF4-FFF2-40B4-BE49-F238E27FC236}">
                <a16:creationId xmlns:a16="http://schemas.microsoft.com/office/drawing/2014/main" id="{867CA9AF-DEF0-4886-B915-B80A70F58FC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23173228-664C-4FE5-AC7A-280E5A40E90C}"/>
              </a:ext>
            </a:extLst>
          </p:cNvPr>
          <p:cNvSpPr>
            <a:spLocks xmlns:a="http://schemas.openxmlformats.org/drawingml/2006/main" noGrp="1"/>
          </p:cNvSpPr>
          <p:nvPr/>
        </p:nvSpPr>
        <p:spPr>
          <a:xfrm xmlns:a="http://schemas.openxmlformats.org/drawingml/2006/main">
            <a:off x="685800" y="13716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8C5CA6E8-D8CE-483A-A78E-BFE6E2347945}"/>
              </a:ext>
            </a:extLst>
          </p:cNvPr>
          <p:cNvSpPr>
            <a:spLocks xmlns:a="http://schemas.openxmlformats.org/drawingml/2006/main" noGrp="1"/>
          </p:cNvSpPr>
          <p:nvPr/>
        </p:nvSpPr>
        <p:spPr>
          <a:xfrm xmlns:a="http://schemas.openxmlformats.org/drawingml/2006/main">
            <a:off x="876300" y="15049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API-reference weight</a:t>
            </a:r>
          </a:p>
        </p:txBody>
      </p:sp>
      <p:sp>
        <p:nvSpPr>
          <p:cNvPr id="8" name="">
            <a:extLst xmlns:a="http://schemas.openxmlformats.org/drawingml/2006/main">
              <a:ext uri="{FF2B5EF4-FFF2-40B4-BE49-F238E27FC236}">
                <a16:creationId xmlns:a16="http://schemas.microsoft.com/office/drawing/2014/main" id="{407C8AF5-1373-4077-83ED-7F4050D68F52}"/>
              </a:ext>
            </a:extLst>
          </p:cNvPr>
          <p:cNvSpPr>
            <a:spLocks xmlns:a="http://schemas.openxmlformats.org/drawingml/2006/main" noGrp="1"/>
          </p:cNvSpPr>
          <p:nvPr/>
        </p:nvSpPr>
        <p:spPr>
          <a:xfrm xmlns:a="http://schemas.openxmlformats.org/drawingml/2006/main">
            <a:off x="3714750" y="1476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No metric change</a:t>
            </a:r>
          </a:p>
        </p:txBody>
      </p:sp>
      <p:sp>
        <p:nvSpPr>
          <p:cNvPr id="9" name="">
            <a:extLst xmlns:a="http://schemas.openxmlformats.org/drawingml/2006/main">
              <a:ext uri="{FF2B5EF4-FFF2-40B4-BE49-F238E27FC236}">
                <a16:creationId xmlns:a16="http://schemas.microsoft.com/office/drawing/2014/main" id="{96B54706-D38C-4B3E-8A3F-B5180A5C0D45}"/>
              </a:ext>
            </a:extLst>
          </p:cNvPr>
          <p:cNvSpPr>
            <a:spLocks xmlns:a="http://schemas.openxmlformats.org/drawingml/2006/main" noGrp="1"/>
          </p:cNvSpPr>
          <p:nvPr/>
        </p:nvSpPr>
        <p:spPr>
          <a:xfrm xmlns:a="http://schemas.openxmlformats.org/drawingml/2006/main">
            <a:off x="8953500" y="14763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717A"/>
            </a:solidFill>
            <a:prstDash val="solid"/>
          </a:ln>
        </p:spPr>
      </p:sp>
      <p:sp>
        <p:nvSpPr>
          <p:cNvPr id="10" name="">
            <a:extLst xmlns:a="http://schemas.openxmlformats.org/drawingml/2006/main">
              <a:ext uri="{FF2B5EF4-FFF2-40B4-BE49-F238E27FC236}">
                <a16:creationId xmlns:a16="http://schemas.microsoft.com/office/drawing/2014/main" id="{08B674D7-E771-499D-B5AD-2E5B09A9FAB9}"/>
              </a:ext>
            </a:extLst>
          </p:cNvPr>
          <p:cNvSpPr>
            <a:spLocks xmlns:a="http://schemas.openxmlformats.org/drawingml/2006/main" noGrp="1"/>
          </p:cNvSpPr>
          <p:nvPr/>
        </p:nvSpPr>
        <p:spPr>
          <a:xfrm xmlns:a="http://schemas.openxmlformats.org/drawingml/2006/main">
            <a:off x="9020175" y="15335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717A"/>
                </a:solidFill>
                <a:latin typeface="Aptos"/>
                <a:ea typeface="Aptos"/>
                <a:cs typeface="Aptos"/>
              </a:defRPr>
            </a:pPr>
            <a:r>
              <a:rPr sz="825" b="1">
                <a:solidFill>
                  <a:srgbClr val="65717A"/>
                </a:solidFill>
                <a:latin typeface="Aptos"/>
                <a:ea typeface="Aptos"/>
                <a:cs typeface="Aptos"/>
              </a:rPr>
              <a:t>Keep disabled</a:t>
            </a:r>
          </a:p>
        </p:txBody>
      </p:sp>
      <p:sp>
        <p:nvSpPr>
          <p:cNvPr id="11" name="">
            <a:extLst xmlns:a="http://schemas.openxmlformats.org/drawingml/2006/main">
              <a:ext uri="{FF2B5EF4-FFF2-40B4-BE49-F238E27FC236}">
                <a16:creationId xmlns:a16="http://schemas.microsoft.com/office/drawing/2014/main" id="{5F2B6832-8F82-4932-94E1-7E58E816799E}"/>
              </a:ext>
            </a:extLst>
          </p:cNvPr>
          <p:cNvSpPr>
            <a:spLocks xmlns:a="http://schemas.openxmlformats.org/drawingml/2006/main" noGrp="1"/>
          </p:cNvSpPr>
          <p:nvPr/>
        </p:nvSpPr>
        <p:spPr>
          <a:xfrm xmlns:a="http://schemas.openxmlformats.org/drawingml/2006/main">
            <a:off x="685800" y="20002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2" name="">
            <a:extLst xmlns:a="http://schemas.openxmlformats.org/drawingml/2006/main">
              <a:ext uri="{FF2B5EF4-FFF2-40B4-BE49-F238E27FC236}">
                <a16:creationId xmlns:a16="http://schemas.microsoft.com/office/drawing/2014/main" id="{EF9CEA9B-7026-4B11-8CD7-52EB877AEFFC}"/>
              </a:ext>
            </a:extLst>
          </p:cNvPr>
          <p:cNvSpPr>
            <a:spLocks xmlns:a="http://schemas.openxmlformats.org/drawingml/2006/main" noGrp="1"/>
          </p:cNvSpPr>
          <p:nvPr/>
        </p:nvSpPr>
        <p:spPr>
          <a:xfrm xmlns:a="http://schemas.openxmlformats.org/drawingml/2006/main">
            <a:off x="876300" y="21336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Opcode tri-grams</a:t>
            </a:r>
          </a:p>
        </p:txBody>
      </p:sp>
      <p:sp>
        <p:nvSpPr>
          <p:cNvPr id="13" name="">
            <a:extLst xmlns:a="http://schemas.openxmlformats.org/drawingml/2006/main">
              <a:ext uri="{FF2B5EF4-FFF2-40B4-BE49-F238E27FC236}">
                <a16:creationId xmlns:a16="http://schemas.microsoft.com/office/drawing/2014/main" id="{181F51D2-6F90-4190-ABCE-161ABFA43F8D}"/>
              </a:ext>
            </a:extLst>
          </p:cNvPr>
          <p:cNvSpPr>
            <a:spLocks xmlns:a="http://schemas.openxmlformats.org/drawingml/2006/main" noGrp="1"/>
          </p:cNvSpPr>
          <p:nvPr/>
        </p:nvSpPr>
        <p:spPr>
          <a:xfrm xmlns:a="http://schemas.openxmlformats.org/drawingml/2006/main">
            <a:off x="3714750" y="21050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Regressed OpenTracks + Conversations</a:t>
            </a:r>
          </a:p>
        </p:txBody>
      </p:sp>
      <p:sp>
        <p:nvSpPr>
          <p:cNvPr id="14" name="">
            <a:extLst xmlns:a="http://schemas.openxmlformats.org/drawingml/2006/main">
              <a:ext uri="{FF2B5EF4-FFF2-40B4-BE49-F238E27FC236}">
                <a16:creationId xmlns:a16="http://schemas.microsoft.com/office/drawing/2014/main" id="{469CE51C-36EA-47B2-9638-6BA9DC530FC2}"/>
              </a:ext>
            </a:extLst>
          </p:cNvPr>
          <p:cNvSpPr>
            <a:spLocks xmlns:a="http://schemas.openxmlformats.org/drawingml/2006/main" noGrp="1"/>
          </p:cNvSpPr>
          <p:nvPr/>
        </p:nvSpPr>
        <p:spPr>
          <a:xfrm xmlns:a="http://schemas.openxmlformats.org/drawingml/2006/main">
            <a:off x="8953500" y="21050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3B30EF93-97CC-45F5-B1BE-1DACE0171B3B}"/>
              </a:ext>
            </a:extLst>
          </p:cNvPr>
          <p:cNvSpPr>
            <a:spLocks xmlns:a="http://schemas.openxmlformats.org/drawingml/2006/main" noGrp="1"/>
          </p:cNvSpPr>
          <p:nvPr/>
        </p:nvSpPr>
        <p:spPr>
          <a:xfrm xmlns:a="http://schemas.openxmlformats.org/drawingml/2006/main">
            <a:off x="9020175" y="21621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Keep disabled</a:t>
            </a:r>
          </a:p>
        </p:txBody>
      </p:sp>
      <p:sp>
        <p:nvSpPr>
          <p:cNvPr id="16" name="">
            <a:extLst xmlns:a="http://schemas.openxmlformats.org/drawingml/2006/main">
              <a:ext uri="{FF2B5EF4-FFF2-40B4-BE49-F238E27FC236}">
                <a16:creationId xmlns:a16="http://schemas.microsoft.com/office/drawing/2014/main" id="{2409BF15-57F4-40D4-AE34-42B95D1FC070}"/>
              </a:ext>
            </a:extLst>
          </p:cNvPr>
          <p:cNvSpPr>
            <a:spLocks xmlns:a="http://schemas.openxmlformats.org/drawingml/2006/main" noGrp="1"/>
          </p:cNvSpPr>
          <p:nvPr/>
        </p:nvSpPr>
        <p:spPr>
          <a:xfrm xmlns:a="http://schemas.openxmlformats.org/drawingml/2006/main">
            <a:off x="685800" y="26289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7" name="">
            <a:extLst xmlns:a="http://schemas.openxmlformats.org/drawingml/2006/main">
              <a:ext uri="{FF2B5EF4-FFF2-40B4-BE49-F238E27FC236}">
                <a16:creationId xmlns:a16="http://schemas.microsoft.com/office/drawing/2014/main" id="{18F24BEC-6DFE-4657-88AB-ECDC598AA29B}"/>
              </a:ext>
            </a:extLst>
          </p:cNvPr>
          <p:cNvSpPr>
            <a:spLocks xmlns:a="http://schemas.openxmlformats.org/drawingml/2006/main" noGrp="1"/>
          </p:cNvSpPr>
          <p:nvPr/>
        </p:nvSpPr>
        <p:spPr>
          <a:xfrm xmlns:a="http://schemas.openxmlformats.org/drawingml/2006/main">
            <a:off x="876300" y="27622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Global multi-scale blend</a:t>
            </a:r>
          </a:p>
        </p:txBody>
      </p:sp>
      <p:sp>
        <p:nvSpPr>
          <p:cNvPr id="18" name="">
            <a:extLst xmlns:a="http://schemas.openxmlformats.org/drawingml/2006/main">
              <a:ext uri="{FF2B5EF4-FFF2-40B4-BE49-F238E27FC236}">
                <a16:creationId xmlns:a16="http://schemas.microsoft.com/office/drawing/2014/main" id="{1B6C9B74-A2BA-4714-BC3D-CC0E908187B6}"/>
              </a:ext>
            </a:extLst>
          </p:cNvPr>
          <p:cNvSpPr>
            <a:spLocks xmlns:a="http://schemas.openxmlformats.org/drawingml/2006/main" noGrp="1"/>
          </p:cNvSpPr>
          <p:nvPr/>
        </p:nvSpPr>
        <p:spPr>
          <a:xfrm xmlns:a="http://schemas.openxmlformats.org/drawingml/2006/main">
            <a:off x="3714750" y="27336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10 target gains; 6 controlled + 121 real blockers</a:t>
            </a:r>
          </a:p>
        </p:txBody>
      </p:sp>
      <p:sp>
        <p:nvSpPr>
          <p:cNvPr id="19" name="">
            <a:extLst xmlns:a="http://schemas.openxmlformats.org/drawingml/2006/main">
              <a:ext uri="{FF2B5EF4-FFF2-40B4-BE49-F238E27FC236}">
                <a16:creationId xmlns:a16="http://schemas.microsoft.com/office/drawing/2014/main" id="{444D653C-FC42-47E2-9CAB-42DF5C2D80AE}"/>
              </a:ext>
            </a:extLst>
          </p:cNvPr>
          <p:cNvSpPr>
            <a:spLocks xmlns:a="http://schemas.openxmlformats.org/drawingml/2006/main" noGrp="1"/>
          </p:cNvSpPr>
          <p:nvPr/>
        </p:nvSpPr>
        <p:spPr>
          <a:xfrm xmlns:a="http://schemas.openxmlformats.org/drawingml/2006/main">
            <a:off x="8953500" y="27336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0" name="">
            <a:extLst xmlns:a="http://schemas.openxmlformats.org/drawingml/2006/main">
              <a:ext uri="{FF2B5EF4-FFF2-40B4-BE49-F238E27FC236}">
                <a16:creationId xmlns:a16="http://schemas.microsoft.com/office/drawing/2014/main" id="{C37BF94D-ED49-4B16-88FB-2FD9530E0A47}"/>
              </a:ext>
            </a:extLst>
          </p:cNvPr>
          <p:cNvSpPr>
            <a:spLocks xmlns:a="http://schemas.openxmlformats.org/drawingml/2006/main" noGrp="1"/>
          </p:cNvSpPr>
          <p:nvPr/>
        </p:nvSpPr>
        <p:spPr>
          <a:xfrm xmlns:a="http://schemas.openxmlformats.org/drawingml/2006/main">
            <a:off x="9020175" y="27908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globally</a:t>
            </a:r>
          </a:p>
        </p:txBody>
      </p:sp>
      <p:sp>
        <p:nvSpPr>
          <p:cNvPr id="21" name="">
            <a:extLst xmlns:a="http://schemas.openxmlformats.org/drawingml/2006/main">
              <a:ext uri="{FF2B5EF4-FFF2-40B4-BE49-F238E27FC236}">
                <a16:creationId xmlns:a16="http://schemas.microsoft.com/office/drawing/2014/main" id="{9F1E3329-8C14-4658-A487-607C6BC8D0C9}"/>
              </a:ext>
            </a:extLst>
          </p:cNvPr>
          <p:cNvSpPr>
            <a:spLocks xmlns:a="http://schemas.openxmlformats.org/drawingml/2006/main" noGrp="1"/>
          </p:cNvSpPr>
          <p:nvPr/>
        </p:nvSpPr>
        <p:spPr>
          <a:xfrm xmlns:a="http://schemas.openxmlformats.org/drawingml/2006/main">
            <a:off x="685800" y="32575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F7296F89-69B1-4B99-846E-861C2443EA22}"/>
              </a:ext>
            </a:extLst>
          </p:cNvPr>
          <p:cNvSpPr>
            <a:spLocks xmlns:a="http://schemas.openxmlformats.org/drawingml/2006/main" noGrp="1"/>
          </p:cNvSpPr>
          <p:nvPr/>
        </p:nvSpPr>
        <p:spPr>
          <a:xfrm xmlns:a="http://schemas.openxmlformats.org/drawingml/2006/main">
            <a:off x="876300" y="33909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Coroutines 1.6.4 reference</a:t>
            </a:r>
          </a:p>
        </p:txBody>
      </p:sp>
      <p:sp>
        <p:nvSpPr>
          <p:cNvPr id="23" name="">
            <a:extLst xmlns:a="http://schemas.openxmlformats.org/drawingml/2006/main">
              <a:ext uri="{FF2B5EF4-FFF2-40B4-BE49-F238E27FC236}">
                <a16:creationId xmlns:a16="http://schemas.microsoft.com/office/drawing/2014/main" id="{9F595174-9514-4D1C-9849-FA6301915EF8}"/>
              </a:ext>
            </a:extLst>
          </p:cNvPr>
          <p:cNvSpPr>
            <a:spLocks xmlns:a="http://schemas.openxmlformats.org/drawingml/2006/main" noGrp="1"/>
          </p:cNvSpPr>
          <p:nvPr/>
        </p:nvSpPr>
        <p:spPr>
          <a:xfrm xmlns:a="http://schemas.openxmlformats.org/drawingml/2006/main">
            <a:off x="3714750" y="33623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20/20 targets fixed; 3 controls regressed</a:t>
            </a:r>
          </a:p>
        </p:txBody>
      </p:sp>
      <p:sp>
        <p:nvSpPr>
          <p:cNvPr id="24" name="">
            <a:extLst xmlns:a="http://schemas.openxmlformats.org/drawingml/2006/main">
              <a:ext uri="{FF2B5EF4-FFF2-40B4-BE49-F238E27FC236}">
                <a16:creationId xmlns:a16="http://schemas.microsoft.com/office/drawing/2014/main" id="{E27B80F4-8D82-4C7A-A800-B0801C273DE0}"/>
              </a:ext>
            </a:extLst>
          </p:cNvPr>
          <p:cNvSpPr>
            <a:spLocks xmlns:a="http://schemas.openxmlformats.org/drawingml/2006/main" noGrp="1"/>
          </p:cNvSpPr>
          <p:nvPr/>
        </p:nvSpPr>
        <p:spPr>
          <a:xfrm xmlns:a="http://schemas.openxmlformats.org/drawingml/2006/main">
            <a:off x="8953500" y="33623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5" name="">
            <a:extLst xmlns:a="http://schemas.openxmlformats.org/drawingml/2006/main">
              <a:ext uri="{FF2B5EF4-FFF2-40B4-BE49-F238E27FC236}">
                <a16:creationId xmlns:a16="http://schemas.microsoft.com/office/drawing/2014/main" id="{5099CABE-814B-43B3-837D-83C2B35BF8BE}"/>
              </a:ext>
            </a:extLst>
          </p:cNvPr>
          <p:cNvSpPr>
            <a:spLocks xmlns:a="http://schemas.openxmlformats.org/drawingml/2006/main" noGrp="1"/>
          </p:cNvSpPr>
          <p:nvPr/>
        </p:nvSpPr>
        <p:spPr>
          <a:xfrm xmlns:a="http://schemas.openxmlformats.org/drawingml/2006/main">
            <a:off x="9020175" y="34194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26" name="">
            <a:extLst xmlns:a="http://schemas.openxmlformats.org/drawingml/2006/main">
              <a:ext uri="{FF2B5EF4-FFF2-40B4-BE49-F238E27FC236}">
                <a16:creationId xmlns:a16="http://schemas.microsoft.com/office/drawing/2014/main" id="{F3CEE499-DB45-4F1A-9A72-8DF1F9A700B6}"/>
              </a:ext>
            </a:extLst>
          </p:cNvPr>
          <p:cNvSpPr>
            <a:spLocks xmlns:a="http://schemas.openxmlformats.org/drawingml/2006/main" noGrp="1"/>
          </p:cNvSpPr>
          <p:nvPr/>
        </p:nvSpPr>
        <p:spPr>
          <a:xfrm xmlns:a="http://schemas.openxmlformats.org/drawingml/2006/main">
            <a:off x="685800" y="38862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77138459-BEEF-4FD0-A2BC-CCA1B91E1ED3}"/>
              </a:ext>
            </a:extLst>
          </p:cNvPr>
          <p:cNvSpPr>
            <a:spLocks xmlns:a="http://schemas.openxmlformats.org/drawingml/2006/main" noGrp="1"/>
          </p:cNvSpPr>
          <p:nvPr/>
        </p:nvSpPr>
        <p:spPr>
          <a:xfrm xmlns:a="http://schemas.openxmlformats.org/drawingml/2006/main">
            <a:off x="876300" y="40195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APK-only reranker</a:t>
            </a:r>
          </a:p>
        </p:txBody>
      </p:sp>
      <p:sp>
        <p:nvSpPr>
          <p:cNvPr id="28" name="">
            <a:extLst xmlns:a="http://schemas.openxmlformats.org/drawingml/2006/main">
              <a:ext uri="{FF2B5EF4-FFF2-40B4-BE49-F238E27FC236}">
                <a16:creationId xmlns:a16="http://schemas.microsoft.com/office/drawing/2014/main" id="{4CF164E5-EC99-45C4-9971-2FF28DC2F6D7}"/>
              </a:ext>
            </a:extLst>
          </p:cNvPr>
          <p:cNvSpPr>
            <a:spLocks xmlns:a="http://schemas.openxmlformats.org/drawingml/2006/main" noGrp="1"/>
          </p:cNvSpPr>
          <p:nvPr/>
        </p:nvSpPr>
        <p:spPr>
          <a:xfrm xmlns:a="http://schemas.openxmlformats.org/drawingml/2006/main">
            <a:off x="3714750" y="39909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 safe fixes across 582 wrong-version rows</a:t>
            </a:r>
          </a:p>
        </p:txBody>
      </p:sp>
      <p:sp>
        <p:nvSpPr>
          <p:cNvPr id="29" name="">
            <a:extLst xmlns:a="http://schemas.openxmlformats.org/drawingml/2006/main">
              <a:ext uri="{FF2B5EF4-FFF2-40B4-BE49-F238E27FC236}">
                <a16:creationId xmlns:a16="http://schemas.microsoft.com/office/drawing/2014/main" id="{2AEBB5E9-7F86-4EFC-AAB3-5456F2161D80}"/>
              </a:ext>
            </a:extLst>
          </p:cNvPr>
          <p:cNvSpPr>
            <a:spLocks xmlns:a="http://schemas.openxmlformats.org/drawingml/2006/main" noGrp="1"/>
          </p:cNvSpPr>
          <p:nvPr/>
        </p:nvSpPr>
        <p:spPr>
          <a:xfrm xmlns:a="http://schemas.openxmlformats.org/drawingml/2006/main">
            <a:off x="8953500" y="39909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0" name="">
            <a:extLst xmlns:a="http://schemas.openxmlformats.org/drawingml/2006/main">
              <a:ext uri="{FF2B5EF4-FFF2-40B4-BE49-F238E27FC236}">
                <a16:creationId xmlns:a16="http://schemas.microsoft.com/office/drawing/2014/main" id="{5A6A8D2E-F612-47EB-9156-58B09DC4A8E8}"/>
              </a:ext>
            </a:extLst>
          </p:cNvPr>
          <p:cNvSpPr>
            <a:spLocks xmlns:a="http://schemas.openxmlformats.org/drawingml/2006/main" noGrp="1"/>
          </p:cNvSpPr>
          <p:nvPr/>
        </p:nvSpPr>
        <p:spPr>
          <a:xfrm xmlns:a="http://schemas.openxmlformats.org/drawingml/2006/main">
            <a:off x="9020175" y="40481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31" name="">
            <a:extLst xmlns:a="http://schemas.openxmlformats.org/drawingml/2006/main">
              <a:ext uri="{FF2B5EF4-FFF2-40B4-BE49-F238E27FC236}">
                <a16:creationId xmlns:a16="http://schemas.microsoft.com/office/drawing/2014/main" id="{4AC202CE-931A-4188-B0D8-DD39C3D613C1}"/>
              </a:ext>
            </a:extLst>
          </p:cNvPr>
          <p:cNvSpPr>
            <a:spLocks xmlns:a="http://schemas.openxmlformats.org/drawingml/2006/main" noGrp="1"/>
          </p:cNvSpPr>
          <p:nvPr/>
        </p:nvSpPr>
        <p:spPr>
          <a:xfrm xmlns:a="http://schemas.openxmlformats.org/drawingml/2006/main">
            <a:off x="685800" y="45148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2" name="">
            <a:extLst xmlns:a="http://schemas.openxmlformats.org/drawingml/2006/main">
              <a:ext uri="{FF2B5EF4-FFF2-40B4-BE49-F238E27FC236}">
                <a16:creationId xmlns:a16="http://schemas.microsoft.com/office/drawing/2014/main" id="{2DF80562-5AD4-4654-BBA5-867405717FD5}"/>
              </a:ext>
            </a:extLst>
          </p:cNvPr>
          <p:cNvSpPr>
            <a:spLocks xmlns:a="http://schemas.openxmlformats.org/drawingml/2006/main" noGrp="1"/>
          </p:cNvSpPr>
          <p:nvPr/>
        </p:nvSpPr>
        <p:spPr>
          <a:xfrm xmlns:a="http://schemas.openxmlformats.org/drawingml/2006/main">
            <a:off x="87630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Candidate expansion</a:t>
            </a:r>
          </a:p>
        </p:txBody>
      </p:sp>
      <p:sp>
        <p:nvSpPr>
          <p:cNvPr id="33" name="">
            <a:extLst xmlns:a="http://schemas.openxmlformats.org/drawingml/2006/main">
              <a:ext uri="{FF2B5EF4-FFF2-40B4-BE49-F238E27FC236}">
                <a16:creationId xmlns:a16="http://schemas.microsoft.com/office/drawing/2014/main" id="{5F173C6D-E38B-444E-8D9A-FE247614658F}"/>
              </a:ext>
            </a:extLst>
          </p:cNvPr>
          <p:cNvSpPr>
            <a:spLocks xmlns:a="http://schemas.openxmlformats.org/drawingml/2006/main" noGrp="1"/>
          </p:cNvSpPr>
          <p:nvPr/>
        </p:nvSpPr>
        <p:spPr>
          <a:xfrm xmlns:a="http://schemas.openxmlformats.org/drawingml/2006/main">
            <a:off x="3714750" y="46196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134 refs selected wrong old Activity version</a:t>
            </a:r>
          </a:p>
        </p:txBody>
      </p:sp>
      <p:sp>
        <p:nvSpPr>
          <p:cNvPr id="34" name="">
            <a:extLst xmlns:a="http://schemas.openxmlformats.org/drawingml/2006/main">
              <a:ext uri="{FF2B5EF4-FFF2-40B4-BE49-F238E27FC236}">
                <a16:creationId xmlns:a16="http://schemas.microsoft.com/office/drawing/2014/main" id="{C78F13B6-8D8F-4870-A5E7-6E1BD3674D78}"/>
              </a:ext>
            </a:extLst>
          </p:cNvPr>
          <p:cNvSpPr>
            <a:spLocks xmlns:a="http://schemas.openxmlformats.org/drawingml/2006/main" noGrp="1"/>
          </p:cNvSpPr>
          <p:nvPr/>
        </p:nvSpPr>
        <p:spPr>
          <a:xfrm xmlns:a="http://schemas.openxmlformats.org/drawingml/2006/main">
            <a:off x="8953500" y="46196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8C0A105A-B5F1-4871-9970-63649BB66339}"/>
              </a:ext>
            </a:extLst>
          </p:cNvPr>
          <p:cNvSpPr>
            <a:spLocks xmlns:a="http://schemas.openxmlformats.org/drawingml/2006/main" noGrp="1"/>
          </p:cNvSpPr>
          <p:nvPr/>
        </p:nvSpPr>
        <p:spPr>
          <a:xfrm xmlns:a="http://schemas.openxmlformats.org/drawingml/2006/main">
            <a:off x="9020175" y="46767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Do not promote</a:t>
            </a:r>
          </a:p>
        </p:txBody>
      </p:sp>
      <p:sp>
        <p:nvSpPr>
          <p:cNvPr id="36" name="">
            <a:extLst xmlns:a="http://schemas.openxmlformats.org/drawingml/2006/main">
              <a:ext uri="{FF2B5EF4-FFF2-40B4-BE49-F238E27FC236}">
                <a16:creationId xmlns:a16="http://schemas.microsoft.com/office/drawing/2014/main" id="{E4D9C6A6-9771-45B0-8359-1AD12A1AAB1C}"/>
              </a:ext>
            </a:extLst>
          </p:cNvPr>
          <p:cNvSpPr>
            <a:spLocks xmlns:a="http://schemas.openxmlformats.org/drawingml/2006/main" noGrp="1"/>
          </p:cNvSpPr>
          <p:nvPr/>
        </p:nvSpPr>
        <p:spPr>
          <a:xfrm xmlns:a="http://schemas.openxmlformats.org/drawingml/2006/main">
            <a:off x="685800" y="51435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7" name="">
            <a:extLst xmlns:a="http://schemas.openxmlformats.org/drawingml/2006/main">
              <a:ext uri="{FF2B5EF4-FFF2-40B4-BE49-F238E27FC236}">
                <a16:creationId xmlns:a16="http://schemas.microsoft.com/office/drawing/2014/main" id="{4BCA758E-647B-460D-BAE3-CF9F60EB31F2}"/>
              </a:ext>
            </a:extLst>
          </p:cNvPr>
          <p:cNvSpPr>
            <a:spLocks xmlns:a="http://schemas.openxmlformats.org/drawingml/2006/main" noGrp="1"/>
          </p:cNvSpPr>
          <p:nvPr/>
        </p:nvSpPr>
        <p:spPr>
          <a:xfrm xmlns:a="http://schemas.openxmlformats.org/drawingml/2006/main">
            <a:off x="876300" y="52768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Raw opcode Transformer</a:t>
            </a:r>
          </a:p>
        </p:txBody>
      </p:sp>
      <p:sp>
        <p:nvSpPr>
          <p:cNvPr id="38" name="">
            <a:extLst xmlns:a="http://schemas.openxmlformats.org/drawingml/2006/main">
              <a:ext uri="{FF2B5EF4-FFF2-40B4-BE49-F238E27FC236}">
                <a16:creationId xmlns:a16="http://schemas.microsoft.com/office/drawing/2014/main" id="{ADDEDCB7-69F2-4776-93D4-CC2B7306760C}"/>
              </a:ext>
            </a:extLst>
          </p:cNvPr>
          <p:cNvSpPr>
            <a:spLocks xmlns:a="http://schemas.openxmlformats.org/drawingml/2006/main" noGrp="1"/>
          </p:cNvSpPr>
          <p:nvPr/>
        </p:nvSpPr>
        <p:spPr>
          <a:xfrm xmlns:a="http://schemas.openxmlformats.org/drawingml/2006/main">
            <a:off x="3714750" y="5248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0.110 macro-F1 &lt; 0.128 baseline</a:t>
            </a:r>
          </a:p>
        </p:txBody>
      </p:sp>
      <p:sp>
        <p:nvSpPr>
          <p:cNvPr id="39" name="">
            <a:extLst xmlns:a="http://schemas.openxmlformats.org/drawingml/2006/main">
              <a:ext uri="{FF2B5EF4-FFF2-40B4-BE49-F238E27FC236}">
                <a16:creationId xmlns:a16="http://schemas.microsoft.com/office/drawing/2014/main" id="{AD46EE8C-B046-4B17-933C-8D4E6F9B796B}"/>
              </a:ext>
            </a:extLst>
          </p:cNvPr>
          <p:cNvSpPr>
            <a:spLocks xmlns:a="http://schemas.openxmlformats.org/drawingml/2006/main" noGrp="1"/>
          </p:cNvSpPr>
          <p:nvPr/>
        </p:nvSpPr>
        <p:spPr>
          <a:xfrm xmlns:a="http://schemas.openxmlformats.org/drawingml/2006/main">
            <a:off x="8953500" y="52482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0" name="">
            <a:extLst xmlns:a="http://schemas.openxmlformats.org/drawingml/2006/main">
              <a:ext uri="{FF2B5EF4-FFF2-40B4-BE49-F238E27FC236}">
                <a16:creationId xmlns:a16="http://schemas.microsoft.com/office/drawing/2014/main" id="{37B497AC-9B7C-47E2-B83C-C20F9B599732}"/>
              </a:ext>
            </a:extLst>
          </p:cNvPr>
          <p:cNvSpPr>
            <a:spLocks xmlns:a="http://schemas.openxmlformats.org/drawingml/2006/main" noGrp="1"/>
          </p:cNvSpPr>
          <p:nvPr/>
        </p:nvSpPr>
        <p:spPr>
          <a:xfrm xmlns:a="http://schemas.openxmlformats.org/drawingml/2006/main">
            <a:off x="9020175" y="53054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Research only</a:t>
            </a:r>
          </a:p>
        </p:txBody>
      </p:sp>
      <p:sp>
        <p:nvSpPr>
          <p:cNvPr id="41" name="">
            <a:extLst xmlns:a="http://schemas.openxmlformats.org/drawingml/2006/main">
              <a:ext uri="{FF2B5EF4-FFF2-40B4-BE49-F238E27FC236}">
                <a16:creationId xmlns:a16="http://schemas.microsoft.com/office/drawing/2014/main" id="{FF04EB68-FD55-4376-BB3B-A381B5BC4A07}"/>
              </a:ext>
            </a:extLst>
          </p:cNvPr>
          <p:cNvSpPr>
            <a:spLocks xmlns:a="http://schemas.openxmlformats.org/drawingml/2006/main" noGrp="1"/>
          </p:cNvSpPr>
          <p:nvPr/>
        </p:nvSpPr>
        <p:spPr>
          <a:xfrm xmlns:a="http://schemas.openxmlformats.org/drawingml/2006/main">
            <a:off x="685800" y="5905500"/>
            <a:ext cx="10820400" cy="4381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42" name="">
            <a:extLst xmlns:a="http://schemas.openxmlformats.org/drawingml/2006/main">
              <a:ext uri="{FF2B5EF4-FFF2-40B4-BE49-F238E27FC236}">
                <a16:creationId xmlns:a16="http://schemas.microsoft.com/office/drawing/2014/main" id="{63724687-FEA7-43AE-BFFB-2969CD8357AB}"/>
              </a:ext>
            </a:extLst>
          </p:cNvPr>
          <p:cNvSpPr>
            <a:spLocks xmlns:a="http://schemas.openxmlformats.org/drawingml/2006/main" noGrp="1"/>
          </p:cNvSpPr>
          <p:nvPr/>
        </p:nvSpPr>
        <p:spPr>
          <a:xfrm xmlns:a="http://schemas.openxmlformats.org/drawingml/2006/main">
            <a:off x="876300" y="6076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LESSON</a:t>
            </a:r>
          </a:p>
        </p:txBody>
      </p:sp>
      <p:sp>
        <p:nvSpPr>
          <p:cNvPr id="43" name="">
            <a:extLst xmlns:a="http://schemas.openxmlformats.org/drawingml/2006/main">
              <a:ext uri="{FF2B5EF4-FFF2-40B4-BE49-F238E27FC236}">
                <a16:creationId xmlns:a16="http://schemas.microsoft.com/office/drawing/2014/main" id="{88B2572B-C53A-4459-861E-7D42781E45A3}"/>
              </a:ext>
            </a:extLst>
          </p:cNvPr>
          <p:cNvSpPr>
            <a:spLocks xmlns:a="http://schemas.openxmlformats.org/drawingml/2006/main" noGrp="1"/>
          </p:cNvSpPr>
          <p:nvPr/>
        </p:nvSpPr>
        <p:spPr>
          <a:xfrm xmlns:a="http://schemas.openxmlformats.org/drawingml/2006/main">
            <a:off x="2343150" y="6029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Promotion requires target improvement and a clean current-control matrix; novelty alone is not enough.</a:t>
            </a:r>
          </a:p>
        </p:txBody>
      </p:sp>
      <p:sp>
        <p:nvSpPr>
          <p:cNvPr id="44" name="">
            <a:extLst xmlns:a="http://schemas.openxmlformats.org/drawingml/2006/main">
              <a:ext uri="{FF2B5EF4-FFF2-40B4-BE49-F238E27FC236}">
                <a16:creationId xmlns:a16="http://schemas.microsoft.com/office/drawing/2014/main" id="{428E8779-EB80-496D-82AA-4923DE45E81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35643244"/>
      </p:ext>
    </p:extLst>
  </p:cSld>
</p:sld>
</file>

<file path=ppt/slides/slide2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17CAFA-0D51-4D16-9A9A-E79E3FDB141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AI PROBLEM FORMULATION</a:t>
            </a:r>
          </a:p>
        </p:txBody>
      </p:sp>
      <p:sp>
        <p:nvSpPr>
          <p:cNvPr id="2" name="">
            <a:extLst xmlns:a="http://schemas.openxmlformats.org/drawingml/2006/main">
              <a:ext uri="{FF2B5EF4-FFF2-40B4-BE49-F238E27FC236}">
                <a16:creationId xmlns:a16="http://schemas.microsoft.com/office/drawing/2014/main" id="{CF934DCE-5D3C-491F-B367-51919C18460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predicts evidence roles and risk states, not final Maven versions</a:t>
            </a:r>
          </a:p>
        </p:txBody>
      </p:sp>
      <p:sp>
        <p:nvSpPr>
          <p:cNvPr id="3" name="">
            <a:extLst xmlns:a="http://schemas.openxmlformats.org/drawingml/2006/main">
              <a:ext uri="{FF2B5EF4-FFF2-40B4-BE49-F238E27FC236}">
                <a16:creationId xmlns:a16="http://schemas.microsoft.com/office/drawing/2014/main" id="{CF35C881-DB75-42F3-8A2F-C051F7FEE35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ACD2E8D7-E784-4C59-876F-8A9BBF3ED3B9}"/>
              </a:ext>
            </a:extLst>
          </p:cNvPr>
          <p:cNvSpPr>
            <a:spLocks xmlns:a="http://schemas.openxmlformats.org/drawingml/2006/main" noGrp="1"/>
          </p:cNvSpPr>
          <p:nvPr/>
        </p:nvSpPr>
        <p:spPr>
          <a:xfrm xmlns:a="http://schemas.openxmlformats.org/drawingml/2006/main">
            <a:off x="685800" y="1466850"/>
            <a:ext cx="4953000" cy="38481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28C18D3C-0F25-4BBB-AFE1-D5CFCBF0768F}"/>
              </a:ext>
            </a:extLst>
          </p:cNvPr>
          <p:cNvSpPr>
            <a:spLocks xmlns:a="http://schemas.openxmlformats.org/drawingml/2006/main" noGrp="1"/>
          </p:cNvSpPr>
          <p:nvPr/>
        </p:nvSpPr>
        <p:spPr>
          <a:xfrm xmlns:a="http://schemas.openxmlformats.org/drawingml/2006/main">
            <a:off x="9334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TRAINING UNIT</a:t>
            </a:r>
          </a:p>
        </p:txBody>
      </p:sp>
      <p:sp>
        <p:nvSpPr>
          <p:cNvPr id="6" name="">
            <a:extLst xmlns:a="http://schemas.openxmlformats.org/drawingml/2006/main">
              <a:ext uri="{FF2B5EF4-FFF2-40B4-BE49-F238E27FC236}">
                <a16:creationId xmlns:a16="http://schemas.microsoft.com/office/drawing/2014/main" id="{F8CB73EB-8262-4A54-ABB8-352372CE9D93}"/>
              </a:ext>
            </a:extLst>
          </p:cNvPr>
          <p:cNvSpPr>
            <a:spLocks xmlns:a="http://schemas.openxmlformats.org/drawingml/2006/main" noGrp="1"/>
          </p:cNvSpPr>
          <p:nvPr/>
        </p:nvSpPr>
        <p:spPr>
          <a:xfrm xmlns:a="http://schemas.openxmlformats.org/drawingml/2006/main">
            <a:off x="933450" y="20764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02A33"/>
                </a:solidFill>
                <a:latin typeface="Aptos"/>
                <a:ea typeface="Aptos"/>
                <a:cs typeface="Aptos"/>
              </a:defRPr>
            </a:pPr>
            <a:r>
              <a:rPr sz="1800" b="1">
                <a:solidFill>
                  <a:srgbClr val="202A33"/>
                </a:solidFill>
                <a:latin typeface="Aptos"/>
                <a:ea typeface="Aptos"/>
                <a:cs typeface="Aptos"/>
              </a:rPr>
              <a:t>One matcher / transparency evidence row</a:t>
            </a:r>
          </a:p>
        </p:txBody>
      </p:sp>
      <p:sp>
        <p:nvSpPr>
          <p:cNvPr id="7" name="">
            <a:extLst xmlns:a="http://schemas.openxmlformats.org/drawingml/2006/main">
              <a:ext uri="{FF2B5EF4-FFF2-40B4-BE49-F238E27FC236}">
                <a16:creationId xmlns:a16="http://schemas.microsoft.com/office/drawing/2014/main" id="{5C5C3832-E7F7-4A08-A4CD-9EA93E8E2F70}"/>
              </a:ext>
            </a:extLst>
          </p:cNvPr>
          <p:cNvSpPr>
            <a:spLocks xmlns:a="http://schemas.openxmlformats.org/drawingml/2006/main" noGrp="1"/>
          </p:cNvSpPr>
          <p:nvPr/>
        </p:nvSpPr>
        <p:spPr>
          <a:xfrm xmlns:a="http://schemas.openxmlformats.org/drawingml/2006/main">
            <a:off x="952500" y="28194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Rows</a:t>
            </a:r>
          </a:p>
        </p:txBody>
      </p:sp>
      <p:sp>
        <p:nvSpPr>
          <p:cNvPr id="8" name="">
            <a:extLst xmlns:a="http://schemas.openxmlformats.org/drawingml/2006/main">
              <a:ext uri="{FF2B5EF4-FFF2-40B4-BE49-F238E27FC236}">
                <a16:creationId xmlns:a16="http://schemas.microsoft.com/office/drawing/2014/main" id="{CB036B8C-AA00-421D-AEEE-3150DA88CD21}"/>
              </a:ext>
            </a:extLst>
          </p:cNvPr>
          <p:cNvSpPr>
            <a:spLocks xmlns:a="http://schemas.openxmlformats.org/drawingml/2006/main" noGrp="1"/>
          </p:cNvSpPr>
          <p:nvPr/>
        </p:nvSpPr>
        <p:spPr>
          <a:xfrm xmlns:a="http://schemas.openxmlformats.org/drawingml/2006/main">
            <a:off x="2133600" y="2781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20,523 training eligible</a:t>
            </a:r>
          </a:p>
        </p:txBody>
      </p:sp>
      <p:sp>
        <p:nvSpPr>
          <p:cNvPr id="9" name="">
            <a:extLst xmlns:a="http://schemas.openxmlformats.org/drawingml/2006/main">
              <a:ext uri="{FF2B5EF4-FFF2-40B4-BE49-F238E27FC236}">
                <a16:creationId xmlns:a16="http://schemas.microsoft.com/office/drawing/2014/main" id="{4D07F145-A156-4646-B328-1BB89F345FF1}"/>
              </a:ext>
            </a:extLst>
          </p:cNvPr>
          <p:cNvSpPr>
            <a:spLocks xmlns:a="http://schemas.openxmlformats.org/drawingml/2006/main" noGrp="1"/>
          </p:cNvSpPr>
          <p:nvPr/>
        </p:nvSpPr>
        <p:spPr>
          <a:xfrm xmlns:a="http://schemas.openxmlformats.org/drawingml/2006/main">
            <a:off x="952500" y="32385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Cases</a:t>
            </a:r>
          </a:p>
        </p:txBody>
      </p:sp>
      <p:sp>
        <p:nvSpPr>
          <p:cNvPr id="10" name="">
            <a:extLst xmlns:a="http://schemas.openxmlformats.org/drawingml/2006/main">
              <a:ext uri="{FF2B5EF4-FFF2-40B4-BE49-F238E27FC236}">
                <a16:creationId xmlns:a16="http://schemas.microsoft.com/office/drawing/2014/main" id="{F19DF296-906F-44AD-924A-D36E566CE9FB}"/>
              </a:ext>
            </a:extLst>
          </p:cNvPr>
          <p:cNvSpPr>
            <a:spLocks xmlns:a="http://schemas.openxmlformats.org/drawingml/2006/main" noGrp="1"/>
          </p:cNvSpPr>
          <p:nvPr/>
        </p:nvSpPr>
        <p:spPr>
          <a:xfrm xmlns:a="http://schemas.openxmlformats.org/drawingml/2006/main">
            <a:off x="2133600" y="3200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149 grouped case IDs</a:t>
            </a:r>
          </a:p>
        </p:txBody>
      </p:sp>
      <p:sp>
        <p:nvSpPr>
          <p:cNvPr id="11" name="">
            <a:extLst xmlns:a="http://schemas.openxmlformats.org/drawingml/2006/main">
              <a:ext uri="{FF2B5EF4-FFF2-40B4-BE49-F238E27FC236}">
                <a16:creationId xmlns:a16="http://schemas.microsoft.com/office/drawing/2014/main" id="{86DC1671-1490-46EE-9788-7D61C5430E0E}"/>
              </a:ext>
            </a:extLst>
          </p:cNvPr>
          <p:cNvSpPr>
            <a:spLocks xmlns:a="http://schemas.openxmlformats.org/drawingml/2006/main" noGrp="1"/>
          </p:cNvSpPr>
          <p:nvPr/>
        </p:nvSpPr>
        <p:spPr>
          <a:xfrm xmlns:a="http://schemas.openxmlformats.org/drawingml/2006/main">
            <a:off x="952500" y="36576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Coordinates</a:t>
            </a:r>
          </a:p>
        </p:txBody>
      </p:sp>
      <p:sp>
        <p:nvSpPr>
          <p:cNvPr id="12" name="">
            <a:extLst xmlns:a="http://schemas.openxmlformats.org/drawingml/2006/main">
              <a:ext uri="{FF2B5EF4-FFF2-40B4-BE49-F238E27FC236}">
                <a16:creationId xmlns:a16="http://schemas.microsoft.com/office/drawing/2014/main" id="{3000AC7C-616B-4487-A9A0-30EFD9826CF4}"/>
              </a:ext>
            </a:extLst>
          </p:cNvPr>
          <p:cNvSpPr>
            <a:spLocks xmlns:a="http://schemas.openxmlformats.org/drawingml/2006/main" noGrp="1"/>
          </p:cNvSpPr>
          <p:nvPr/>
        </p:nvSpPr>
        <p:spPr>
          <a:xfrm xmlns:a="http://schemas.openxmlformats.org/drawingml/2006/main">
            <a:off x="2133600" y="3619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1,370 Maven coordinates</a:t>
            </a:r>
          </a:p>
        </p:txBody>
      </p:sp>
      <p:sp>
        <p:nvSpPr>
          <p:cNvPr id="13" name="">
            <a:extLst xmlns:a="http://schemas.openxmlformats.org/drawingml/2006/main">
              <a:ext uri="{FF2B5EF4-FFF2-40B4-BE49-F238E27FC236}">
                <a16:creationId xmlns:a16="http://schemas.microsoft.com/office/drawing/2014/main" id="{3DB2ACAD-C963-4506-874D-3CFE7244DFE9}"/>
              </a:ext>
            </a:extLst>
          </p:cNvPr>
          <p:cNvSpPr>
            <a:spLocks xmlns:a="http://schemas.openxmlformats.org/drawingml/2006/main" noGrp="1"/>
          </p:cNvSpPr>
          <p:nvPr/>
        </p:nvSpPr>
        <p:spPr>
          <a:xfrm xmlns:a="http://schemas.openxmlformats.org/drawingml/2006/main">
            <a:off x="952500" y="40767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Split</a:t>
            </a:r>
          </a:p>
        </p:txBody>
      </p:sp>
      <p:sp>
        <p:nvSpPr>
          <p:cNvPr id="14" name="">
            <a:extLst xmlns:a="http://schemas.openxmlformats.org/drawingml/2006/main">
              <a:ext uri="{FF2B5EF4-FFF2-40B4-BE49-F238E27FC236}">
                <a16:creationId xmlns:a16="http://schemas.microsoft.com/office/drawing/2014/main" id="{EC4D6733-BB30-4032-B485-3B25483C1683}"/>
              </a:ext>
            </a:extLst>
          </p:cNvPr>
          <p:cNvSpPr>
            <a:spLocks xmlns:a="http://schemas.openxmlformats.org/drawingml/2006/main" noGrp="1"/>
          </p:cNvSpPr>
          <p:nvPr/>
        </p:nvSpPr>
        <p:spPr>
          <a:xfrm xmlns:a="http://schemas.openxmlformats.org/drawingml/2006/main">
            <a:off x="21336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104 train / 15 validation / 30 test cases</a:t>
            </a:r>
          </a:p>
        </p:txBody>
      </p:sp>
      <p:sp>
        <p:nvSpPr>
          <p:cNvPr id="15" name="">
            <a:extLst xmlns:a="http://schemas.openxmlformats.org/drawingml/2006/main">
              <a:ext uri="{FF2B5EF4-FFF2-40B4-BE49-F238E27FC236}">
                <a16:creationId xmlns:a16="http://schemas.microsoft.com/office/drawing/2014/main" id="{BCBC58C5-0279-4BD0-A794-55DC1447FBFB}"/>
              </a:ext>
            </a:extLst>
          </p:cNvPr>
          <p:cNvSpPr>
            <a:spLocks xmlns:a="http://schemas.openxmlformats.org/drawingml/2006/main" noGrp="1"/>
          </p:cNvSpPr>
          <p:nvPr/>
        </p:nvSpPr>
        <p:spPr>
          <a:xfrm xmlns:a="http://schemas.openxmlformats.org/drawingml/2006/main">
            <a:off x="952500" y="44958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Features</a:t>
            </a:r>
          </a:p>
        </p:txBody>
      </p:sp>
      <p:sp>
        <p:nvSpPr>
          <p:cNvPr id="16" name="">
            <a:extLst xmlns:a="http://schemas.openxmlformats.org/drawingml/2006/main">
              <a:ext uri="{FF2B5EF4-FFF2-40B4-BE49-F238E27FC236}">
                <a16:creationId xmlns:a16="http://schemas.microsoft.com/office/drawing/2014/main" id="{F24734A7-A238-4389-88C8-4D55A991DDF4}"/>
              </a:ext>
            </a:extLst>
          </p:cNvPr>
          <p:cNvSpPr>
            <a:spLocks xmlns:a="http://schemas.openxmlformats.org/drawingml/2006/main" noGrp="1"/>
          </p:cNvSpPr>
          <p:nvPr/>
        </p:nvSpPr>
        <p:spPr>
          <a:xfrm xmlns:a="http://schemas.openxmlformats.org/drawingml/2006/main">
            <a:off x="2133600" y="44577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scores, overlap counts, context flags</a:t>
            </a:r>
          </a:p>
        </p:txBody>
      </p:sp>
      <p:sp>
        <p:nvSpPr>
          <p:cNvPr id="17" name="">
            <a:extLst xmlns:a="http://schemas.openxmlformats.org/drawingml/2006/main">
              <a:ext uri="{FF2B5EF4-FFF2-40B4-BE49-F238E27FC236}">
                <a16:creationId xmlns:a16="http://schemas.microsoft.com/office/drawing/2014/main" id="{497C86E6-3BAC-4571-A4C1-5083518C0FD8}"/>
              </a:ext>
            </a:extLst>
          </p:cNvPr>
          <p:cNvSpPr>
            <a:spLocks xmlns:a="http://schemas.openxmlformats.org/drawingml/2006/main" noGrp="1"/>
          </p:cNvSpPr>
          <p:nvPr/>
        </p:nvSpPr>
        <p:spPr>
          <a:xfrm xmlns:a="http://schemas.openxmlformats.org/drawingml/2006/main">
            <a:off x="5943600" y="1466850"/>
            <a:ext cx="5562600" cy="38481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8" name="">
            <a:extLst xmlns:a="http://schemas.openxmlformats.org/drawingml/2006/main">
              <a:ext uri="{FF2B5EF4-FFF2-40B4-BE49-F238E27FC236}">
                <a16:creationId xmlns:a16="http://schemas.microsoft.com/office/drawing/2014/main" id="{239EA5BB-8BC8-4F8C-A08D-2CA09A08510F}"/>
              </a:ext>
            </a:extLst>
          </p:cNvPr>
          <p:cNvSpPr>
            <a:spLocks xmlns:a="http://schemas.openxmlformats.org/drawingml/2006/main" noGrp="1"/>
          </p:cNvSpPr>
          <p:nvPr/>
        </p:nvSpPr>
        <p:spPr>
          <a:xfrm xmlns:a="http://schemas.openxmlformats.org/drawingml/2006/main">
            <a:off x="61912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SIX LABELS</a:t>
            </a:r>
          </a:p>
        </p:txBody>
      </p:sp>
      <p:sp>
        <p:nvSpPr>
          <p:cNvPr id="19" name="">
            <a:extLst xmlns:a="http://schemas.openxmlformats.org/drawingml/2006/main">
              <a:ext uri="{FF2B5EF4-FFF2-40B4-BE49-F238E27FC236}">
                <a16:creationId xmlns:a16="http://schemas.microsoft.com/office/drawing/2014/main" id="{BA41E78B-F39F-4C8B-8A7E-ED600B7A2939}"/>
              </a:ext>
            </a:extLst>
          </p:cNvPr>
          <p:cNvSpPr>
            <a:spLocks xmlns:a="http://schemas.openxmlformats.org/drawingml/2006/main" noGrp="1"/>
          </p:cNvSpPr>
          <p:nvPr/>
        </p:nvSpPr>
        <p:spPr>
          <a:xfrm xmlns:a="http://schemas.openxmlformats.org/drawingml/2006/main">
            <a:off x="619125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20" name="">
            <a:extLst xmlns:a="http://schemas.openxmlformats.org/drawingml/2006/main">
              <a:ext uri="{FF2B5EF4-FFF2-40B4-BE49-F238E27FC236}">
                <a16:creationId xmlns:a16="http://schemas.microsoft.com/office/drawing/2014/main" id="{8AC785E8-1DCD-4E60-809B-DEA0C9A18C28}"/>
              </a:ext>
            </a:extLst>
          </p:cNvPr>
          <p:cNvSpPr>
            <a:spLocks xmlns:a="http://schemas.openxmlformats.org/drawingml/2006/main" noGrp="1"/>
          </p:cNvSpPr>
          <p:nvPr/>
        </p:nvSpPr>
        <p:spPr>
          <a:xfrm xmlns:a="http://schemas.openxmlformats.org/drawingml/2006/main">
            <a:off x="625792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confirmed_exact</a:t>
            </a:r>
          </a:p>
        </p:txBody>
      </p:sp>
      <p:sp>
        <p:nvSpPr>
          <p:cNvPr id="21" name="">
            <a:extLst xmlns:a="http://schemas.openxmlformats.org/drawingml/2006/main">
              <a:ext uri="{FF2B5EF4-FFF2-40B4-BE49-F238E27FC236}">
                <a16:creationId xmlns:a16="http://schemas.microsoft.com/office/drawing/2014/main" id="{E9A89E0C-0370-4139-8508-E0AB4321E0EC}"/>
              </a:ext>
            </a:extLst>
          </p:cNvPr>
          <p:cNvSpPr>
            <a:spLocks xmlns:a="http://schemas.openxmlformats.org/drawingml/2006/main" noGrp="1"/>
          </p:cNvSpPr>
          <p:nvPr/>
        </p:nvSpPr>
        <p:spPr>
          <a:xfrm xmlns:a="http://schemas.openxmlformats.org/drawingml/2006/main">
            <a:off x="872490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2" name="">
            <a:extLst xmlns:a="http://schemas.openxmlformats.org/drawingml/2006/main">
              <a:ext uri="{FF2B5EF4-FFF2-40B4-BE49-F238E27FC236}">
                <a16:creationId xmlns:a16="http://schemas.microsoft.com/office/drawing/2014/main" id="{6C0E7BEA-8381-43DF-BC24-744122F4A368}"/>
              </a:ext>
            </a:extLst>
          </p:cNvPr>
          <p:cNvSpPr>
            <a:spLocks xmlns:a="http://schemas.openxmlformats.org/drawingml/2006/main" noGrp="1"/>
          </p:cNvSpPr>
          <p:nvPr/>
        </p:nvSpPr>
        <p:spPr>
          <a:xfrm xmlns:a="http://schemas.openxmlformats.org/drawingml/2006/main">
            <a:off x="879157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suggest_report_only</a:t>
            </a:r>
          </a:p>
        </p:txBody>
      </p:sp>
      <p:sp>
        <p:nvSpPr>
          <p:cNvPr id="23" name="">
            <a:extLst xmlns:a="http://schemas.openxmlformats.org/drawingml/2006/main">
              <a:ext uri="{FF2B5EF4-FFF2-40B4-BE49-F238E27FC236}">
                <a16:creationId xmlns:a16="http://schemas.microsoft.com/office/drawing/2014/main" id="{3656EAA1-C717-4BD7-A386-C5D084ECDC32}"/>
              </a:ext>
            </a:extLst>
          </p:cNvPr>
          <p:cNvSpPr>
            <a:spLocks xmlns:a="http://schemas.openxmlformats.org/drawingml/2006/main" noGrp="1"/>
          </p:cNvSpPr>
          <p:nvPr/>
        </p:nvSpPr>
        <p:spPr>
          <a:xfrm xmlns:a="http://schemas.openxmlformats.org/drawingml/2006/main">
            <a:off x="619125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141EC51F-2F68-4C00-A2DB-F0ABDFD46370}"/>
              </a:ext>
            </a:extLst>
          </p:cNvPr>
          <p:cNvSpPr>
            <a:spLocks xmlns:a="http://schemas.openxmlformats.org/drawingml/2006/main" noGrp="1"/>
          </p:cNvSpPr>
          <p:nvPr/>
        </p:nvSpPr>
        <p:spPr>
          <a:xfrm xmlns:a="http://schemas.openxmlformats.org/drawingml/2006/main">
            <a:off x="625792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suppress_uncertain</a:t>
            </a:r>
          </a:p>
        </p:txBody>
      </p:sp>
      <p:sp>
        <p:nvSpPr>
          <p:cNvPr id="25" name="">
            <a:extLst xmlns:a="http://schemas.openxmlformats.org/drawingml/2006/main">
              <a:ext uri="{FF2B5EF4-FFF2-40B4-BE49-F238E27FC236}">
                <a16:creationId xmlns:a16="http://schemas.microsoft.com/office/drawing/2014/main" id="{95A7B4B4-139C-45AC-8327-04B8D0DB8A36}"/>
              </a:ext>
            </a:extLst>
          </p:cNvPr>
          <p:cNvSpPr>
            <a:spLocks xmlns:a="http://schemas.openxmlformats.org/drawingml/2006/main" noGrp="1"/>
          </p:cNvSpPr>
          <p:nvPr/>
        </p:nvSpPr>
        <p:spPr>
          <a:xfrm xmlns:a="http://schemas.openxmlformats.org/drawingml/2006/main">
            <a:off x="872490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6" name="">
            <a:extLst xmlns:a="http://schemas.openxmlformats.org/drawingml/2006/main">
              <a:ext uri="{FF2B5EF4-FFF2-40B4-BE49-F238E27FC236}">
                <a16:creationId xmlns:a16="http://schemas.microsoft.com/office/drawing/2014/main" id="{06492109-5061-438A-BFC2-3072E1E6DB0F}"/>
              </a:ext>
            </a:extLst>
          </p:cNvPr>
          <p:cNvSpPr>
            <a:spLocks xmlns:a="http://schemas.openxmlformats.org/drawingml/2006/main" noGrp="1"/>
          </p:cNvSpPr>
          <p:nvPr/>
        </p:nvSpPr>
        <p:spPr>
          <a:xfrm xmlns:a="http://schemas.openxmlformats.org/drawingml/2006/main">
            <a:off x="879157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risk_only</a:t>
            </a:r>
          </a:p>
        </p:txBody>
      </p:sp>
      <p:sp>
        <p:nvSpPr>
          <p:cNvPr id="27" name="">
            <a:extLst xmlns:a="http://schemas.openxmlformats.org/drawingml/2006/main">
              <a:ext uri="{FF2B5EF4-FFF2-40B4-BE49-F238E27FC236}">
                <a16:creationId xmlns:a16="http://schemas.microsoft.com/office/drawing/2014/main" id="{EBC45BBE-4BE1-42BE-B926-247C3D6FB513}"/>
              </a:ext>
            </a:extLst>
          </p:cNvPr>
          <p:cNvSpPr>
            <a:spLocks xmlns:a="http://schemas.openxmlformats.org/drawingml/2006/main" noGrp="1"/>
          </p:cNvSpPr>
          <p:nvPr/>
        </p:nvSpPr>
        <p:spPr>
          <a:xfrm xmlns:a="http://schemas.openxmlformats.org/drawingml/2006/main">
            <a:off x="619125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8" name="">
            <a:extLst xmlns:a="http://schemas.openxmlformats.org/drawingml/2006/main">
              <a:ext uri="{FF2B5EF4-FFF2-40B4-BE49-F238E27FC236}">
                <a16:creationId xmlns:a16="http://schemas.microsoft.com/office/drawing/2014/main" id="{2ADE85AE-A2A0-421A-A850-8A5FDE5723A3}"/>
              </a:ext>
            </a:extLst>
          </p:cNvPr>
          <p:cNvSpPr>
            <a:spLocks xmlns:a="http://schemas.openxmlformats.org/drawingml/2006/main" noGrp="1"/>
          </p:cNvSpPr>
          <p:nvPr/>
        </p:nvSpPr>
        <p:spPr>
          <a:xfrm xmlns:a="http://schemas.openxmlformats.org/drawingml/2006/main">
            <a:off x="625792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6F2AA970-585B-4402-AB2A-146C25081369}"/>
              </a:ext>
            </a:extLst>
          </p:cNvPr>
          <p:cNvSpPr>
            <a:spLocks xmlns:a="http://schemas.openxmlformats.org/drawingml/2006/main" noGrp="1"/>
          </p:cNvSpPr>
          <p:nvPr/>
        </p:nvSpPr>
        <p:spPr>
          <a:xfrm xmlns:a="http://schemas.openxmlformats.org/drawingml/2006/main">
            <a:off x="872490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0" name="">
            <a:extLst xmlns:a="http://schemas.openxmlformats.org/drawingml/2006/main">
              <a:ext uri="{FF2B5EF4-FFF2-40B4-BE49-F238E27FC236}">
                <a16:creationId xmlns:a16="http://schemas.microsoft.com/office/drawing/2014/main" id="{478FE675-719A-426A-A7F3-FE08F34D3486}"/>
              </a:ext>
            </a:extLst>
          </p:cNvPr>
          <p:cNvSpPr>
            <a:spLocks xmlns:a="http://schemas.openxmlformats.org/drawingml/2006/main" noGrp="1"/>
          </p:cNvSpPr>
          <p:nvPr/>
        </p:nvSpPr>
        <p:spPr>
          <a:xfrm xmlns:a="http://schemas.openxmlformats.org/drawingml/2006/main">
            <a:off x="879157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boundary_do_not_suggest</a:t>
            </a:r>
          </a:p>
        </p:txBody>
      </p:sp>
      <p:sp>
        <p:nvSpPr>
          <p:cNvPr id="31" name="">
            <a:extLst xmlns:a="http://schemas.openxmlformats.org/drawingml/2006/main">
              <a:ext uri="{FF2B5EF4-FFF2-40B4-BE49-F238E27FC236}">
                <a16:creationId xmlns:a16="http://schemas.microsoft.com/office/drawing/2014/main" id="{8B6BB5F1-CCC1-47FB-9BEB-09814F0ECF02}"/>
              </a:ext>
            </a:extLst>
          </p:cNvPr>
          <p:cNvSpPr>
            <a:spLocks xmlns:a="http://schemas.openxmlformats.org/drawingml/2006/main" noGrp="1"/>
          </p:cNvSpPr>
          <p:nvPr/>
        </p:nvSpPr>
        <p:spPr>
          <a:xfrm xmlns:a="http://schemas.openxmlformats.org/drawingml/2006/main">
            <a:off x="6305550" y="45339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Grouped splitting by APK case reduces row-level leakage.</a:t>
            </a:r>
          </a:p>
        </p:txBody>
      </p:sp>
      <p:sp>
        <p:nvSpPr>
          <p:cNvPr id="32" name="">
            <a:extLst xmlns:a="http://schemas.openxmlformats.org/drawingml/2006/main">
              <a:ext uri="{FF2B5EF4-FFF2-40B4-BE49-F238E27FC236}">
                <a16:creationId xmlns:a16="http://schemas.microsoft.com/office/drawing/2014/main" id="{8F7936B0-16FA-4BBF-A4DE-326AA3CF1CB0}"/>
              </a:ext>
            </a:extLst>
          </p:cNvPr>
          <p:cNvSpPr>
            <a:spLocks xmlns:a="http://schemas.openxmlformats.org/drawingml/2006/main" noGrp="1"/>
          </p:cNvSpPr>
          <p:nvPr/>
        </p:nvSpPr>
        <p:spPr>
          <a:xfrm xmlns:a="http://schemas.openxmlformats.org/drawingml/2006/main">
            <a:off x="685800" y="56007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FD55683-2F6C-4241-9F06-BC63DD43D0CF}"/>
              </a:ext>
            </a:extLst>
          </p:cNvPr>
          <p:cNvSpPr>
            <a:spLocks xmlns:a="http://schemas.openxmlformats.org/drawingml/2006/main" noGrp="1"/>
          </p:cNvSpPr>
          <p:nvPr/>
        </p:nvSpPr>
        <p:spPr>
          <a:xfrm xmlns:a="http://schemas.openxmlformats.org/drawingml/2006/main">
            <a:off x="876300" y="57721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AUTHORITY</a:t>
            </a:r>
          </a:p>
        </p:txBody>
      </p:sp>
      <p:sp>
        <p:nvSpPr>
          <p:cNvPr id="34" name="">
            <a:extLst xmlns:a="http://schemas.openxmlformats.org/drawingml/2006/main">
              <a:ext uri="{FF2B5EF4-FFF2-40B4-BE49-F238E27FC236}">
                <a16:creationId xmlns:a16="http://schemas.microsoft.com/office/drawing/2014/main" id="{C6FA22BF-377C-4C9E-B250-6AB0B26C896D}"/>
              </a:ext>
            </a:extLst>
          </p:cNvPr>
          <p:cNvSpPr>
            <a:spLocks xmlns:a="http://schemas.openxmlformats.org/drawingml/2006/main" noGrp="1"/>
          </p:cNvSpPr>
          <p:nvPr/>
        </p:nvSpPr>
        <p:spPr>
          <a:xfrm xmlns:a="http://schemas.openxmlformats.org/drawingml/2006/main">
            <a:off x="2343150" y="57245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task is report-only identity/risk triage. Selected versions, SBOM components, and CVE labels remain deterministic.</a:t>
            </a:r>
          </a:p>
        </p:txBody>
      </p:sp>
      <p:sp>
        <p:nvSpPr>
          <p:cNvPr id="35" name="">
            <a:extLst xmlns:a="http://schemas.openxmlformats.org/drawingml/2006/main">
              <a:ext uri="{FF2B5EF4-FFF2-40B4-BE49-F238E27FC236}">
                <a16:creationId xmlns:a16="http://schemas.microsoft.com/office/drawing/2014/main" id="{AA838F55-F69E-4EB3-885E-66FB968D560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01868776"/>
      </p:ext>
    </p:extLst>
  </p:cSld>
</p:sld>
</file>

<file path=ppt/slides/slide2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01116F-DEF3-4FF1-BEFA-CEB7C3C5A2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8A4DA1-9AE7-4394-87EF-C157ABACE08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5A80AA-B14D-4D7F-BDD5-35B8F9526EC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CLASSICAL ML</a:t>
            </a:r>
          </a:p>
        </p:txBody>
      </p:sp>
      <p:sp>
        <p:nvSpPr>
          <p:cNvPr id="4" name="">
            <a:extLst xmlns:a="http://schemas.openxmlformats.org/drawingml/2006/main">
              <a:ext uri="{FF2B5EF4-FFF2-40B4-BE49-F238E27FC236}">
                <a16:creationId xmlns:a16="http://schemas.microsoft.com/office/drawing/2014/main" id="{AE7D0E4D-A5BB-48EF-A00C-A1A696AA987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was selected for explainable, structured, report-only assistance</a:t>
            </a:r>
          </a:p>
        </p:txBody>
      </p:sp>
      <p:sp>
        <p:nvSpPr>
          <p:cNvPr id="5" name="">
            <a:extLst xmlns:a="http://schemas.openxmlformats.org/drawingml/2006/main">
              <a:ext uri="{FF2B5EF4-FFF2-40B4-BE49-F238E27FC236}">
                <a16:creationId xmlns:a16="http://schemas.microsoft.com/office/drawing/2014/main" id="{66239A48-7B90-4434-8498-D6622BD8731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552F0C67-1E4A-4438-B2E9-8F4A5A32F34A}"/>
              </a:ext>
            </a:extLst>
          </p:cNvPr>
          <p:cNvSpPr>
            <a:spLocks xmlns:a="http://schemas.openxmlformats.org/drawingml/2006/main" noGrp="1"/>
          </p:cNvSpPr>
          <p:nvPr/>
        </p:nvSpPr>
        <p:spPr>
          <a:xfrm xmlns:a="http://schemas.openxmlformats.org/drawingml/2006/main">
            <a:off x="68580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FAA48141-C1CE-49E1-9888-6E7CD8EACD7B}"/>
              </a:ext>
            </a:extLst>
          </p:cNvPr>
          <p:cNvSpPr>
            <a:spLocks xmlns:a="http://schemas.openxmlformats.org/drawingml/2006/main" noGrp="1"/>
          </p:cNvSpPr>
          <p:nvPr/>
        </p:nvSpPr>
        <p:spPr>
          <a:xfrm xmlns:a="http://schemas.openxmlformats.org/drawingml/2006/main">
            <a:off x="81915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0.708</a:t>
            </a:r>
          </a:p>
        </p:txBody>
      </p:sp>
      <p:sp>
        <p:nvSpPr>
          <p:cNvPr id="8" name="">
            <a:extLst xmlns:a="http://schemas.openxmlformats.org/drawingml/2006/main">
              <a:ext uri="{FF2B5EF4-FFF2-40B4-BE49-F238E27FC236}">
                <a16:creationId xmlns:a16="http://schemas.microsoft.com/office/drawing/2014/main" id="{513DE52A-1404-4E1F-B4D1-2A05DD5C7EF9}"/>
              </a:ext>
            </a:extLst>
          </p:cNvPr>
          <p:cNvSpPr>
            <a:spLocks xmlns:a="http://schemas.openxmlformats.org/drawingml/2006/main" noGrp="1"/>
          </p:cNvSpPr>
          <p:nvPr/>
        </p:nvSpPr>
        <p:spPr>
          <a:xfrm xmlns:a="http://schemas.openxmlformats.org/drawingml/2006/main">
            <a:off x="81915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macro-F1</a:t>
            </a:r>
          </a:p>
        </p:txBody>
      </p:sp>
      <p:sp>
        <p:nvSpPr>
          <p:cNvPr id="9" name="">
            <a:extLst xmlns:a="http://schemas.openxmlformats.org/drawingml/2006/main">
              <a:ext uri="{FF2B5EF4-FFF2-40B4-BE49-F238E27FC236}">
                <a16:creationId xmlns:a16="http://schemas.microsoft.com/office/drawing/2014/main" id="{C36CBD70-36A5-48B8-BFA0-3CAB8C5C7D0A}"/>
              </a:ext>
            </a:extLst>
          </p:cNvPr>
          <p:cNvSpPr>
            <a:spLocks xmlns:a="http://schemas.openxmlformats.org/drawingml/2006/main" noGrp="1"/>
          </p:cNvSpPr>
          <p:nvPr/>
        </p:nvSpPr>
        <p:spPr>
          <a:xfrm xmlns:a="http://schemas.openxmlformats.org/drawingml/2006/main">
            <a:off x="310515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3DBD09A8-94FD-45CE-B2B0-AC71D2A6CD17}"/>
              </a:ext>
            </a:extLst>
          </p:cNvPr>
          <p:cNvSpPr>
            <a:spLocks xmlns:a="http://schemas.openxmlformats.org/drawingml/2006/main" noGrp="1"/>
          </p:cNvSpPr>
          <p:nvPr/>
        </p:nvSpPr>
        <p:spPr>
          <a:xfrm xmlns:a="http://schemas.openxmlformats.org/drawingml/2006/main">
            <a:off x="323850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4F7D76"/>
                </a:solidFill>
                <a:latin typeface="Aptos Display"/>
                <a:ea typeface="Aptos Display"/>
                <a:cs typeface="Aptos Display"/>
              </a:defRPr>
            </a:pPr>
            <a:r>
              <a:rPr sz="3000" b="1">
                <a:solidFill>
                  <a:srgbClr val="4F7D76"/>
                </a:solidFill>
                <a:latin typeface="Aptos Display"/>
                <a:ea typeface="Aptos Display"/>
                <a:cs typeface="Aptos Display"/>
              </a:rPr>
              <a:t>0.690</a:t>
            </a:r>
          </a:p>
        </p:txBody>
      </p:sp>
      <p:sp>
        <p:nvSpPr>
          <p:cNvPr id="11" name="">
            <a:extLst xmlns:a="http://schemas.openxmlformats.org/drawingml/2006/main">
              <a:ext uri="{FF2B5EF4-FFF2-40B4-BE49-F238E27FC236}">
                <a16:creationId xmlns:a16="http://schemas.microsoft.com/office/drawing/2014/main" id="{77A38748-FB42-4305-8841-EFBC4BEA2E0A}"/>
              </a:ext>
            </a:extLst>
          </p:cNvPr>
          <p:cNvSpPr>
            <a:spLocks xmlns:a="http://schemas.openxmlformats.org/drawingml/2006/main" noGrp="1"/>
          </p:cNvSpPr>
          <p:nvPr/>
        </p:nvSpPr>
        <p:spPr>
          <a:xfrm xmlns:a="http://schemas.openxmlformats.org/drawingml/2006/main">
            <a:off x="323850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accuracy</a:t>
            </a:r>
          </a:p>
        </p:txBody>
      </p:sp>
      <p:sp>
        <p:nvSpPr>
          <p:cNvPr id="12" name="">
            <a:extLst xmlns:a="http://schemas.openxmlformats.org/drawingml/2006/main">
              <a:ext uri="{FF2B5EF4-FFF2-40B4-BE49-F238E27FC236}">
                <a16:creationId xmlns:a16="http://schemas.microsoft.com/office/drawing/2014/main" id="{453946D6-31AC-44FF-BE69-39B05570654A}"/>
              </a:ext>
            </a:extLst>
          </p:cNvPr>
          <p:cNvSpPr>
            <a:spLocks xmlns:a="http://schemas.openxmlformats.org/drawingml/2006/main" noGrp="1"/>
          </p:cNvSpPr>
          <p:nvPr/>
        </p:nvSpPr>
        <p:spPr>
          <a:xfrm xmlns:a="http://schemas.openxmlformats.org/drawingml/2006/main">
            <a:off x="5524500" y="1466850"/>
            <a:ext cx="247650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013F9F4C-581D-4A2B-82BC-5DF462C123C8}"/>
              </a:ext>
            </a:extLst>
          </p:cNvPr>
          <p:cNvSpPr>
            <a:spLocks xmlns:a="http://schemas.openxmlformats.org/drawingml/2006/main" noGrp="1"/>
          </p:cNvSpPr>
          <p:nvPr/>
        </p:nvSpPr>
        <p:spPr>
          <a:xfrm xmlns:a="http://schemas.openxmlformats.org/drawingml/2006/main">
            <a:off x="5657850" y="163830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0.383</a:t>
            </a:r>
          </a:p>
        </p:txBody>
      </p:sp>
      <p:sp>
        <p:nvSpPr>
          <p:cNvPr id="14" name="">
            <a:extLst xmlns:a="http://schemas.openxmlformats.org/drawingml/2006/main">
              <a:ext uri="{FF2B5EF4-FFF2-40B4-BE49-F238E27FC236}">
                <a16:creationId xmlns:a16="http://schemas.microsoft.com/office/drawing/2014/main" id="{93A7E0DE-96A9-4C79-A28A-D23A5A777C4F}"/>
              </a:ext>
            </a:extLst>
          </p:cNvPr>
          <p:cNvSpPr>
            <a:spLocks xmlns:a="http://schemas.openxmlformats.org/drawingml/2006/main" noGrp="1"/>
          </p:cNvSpPr>
          <p:nvPr/>
        </p:nvSpPr>
        <p:spPr>
          <a:xfrm xmlns:a="http://schemas.openxmlformats.org/drawingml/2006/main">
            <a:off x="5657850" y="20764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majority baseline accuracy</a:t>
            </a:r>
          </a:p>
        </p:txBody>
      </p:sp>
      <p:sp>
        <p:nvSpPr>
          <p:cNvPr id="15" name="">
            <a:extLst xmlns:a="http://schemas.openxmlformats.org/drawingml/2006/main">
              <a:ext uri="{FF2B5EF4-FFF2-40B4-BE49-F238E27FC236}">
                <a16:creationId xmlns:a16="http://schemas.microsoft.com/office/drawing/2014/main" id="{44901E81-A0C9-45D8-BEBD-350B00D24754}"/>
              </a:ext>
            </a:extLst>
          </p:cNvPr>
          <p:cNvSpPr>
            <a:spLocks xmlns:a="http://schemas.openxmlformats.org/drawingml/2006/main" noGrp="1"/>
          </p:cNvSpPr>
          <p:nvPr/>
        </p:nvSpPr>
        <p:spPr>
          <a:xfrm xmlns:a="http://schemas.openxmlformats.org/drawingml/2006/main">
            <a:off x="8229600" y="1466850"/>
            <a:ext cx="27241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86BFFD74-5445-4786-A0F6-0BFC7E0F9F42}"/>
              </a:ext>
            </a:extLst>
          </p:cNvPr>
          <p:cNvSpPr>
            <a:spLocks xmlns:a="http://schemas.openxmlformats.org/drawingml/2006/main" noGrp="1"/>
          </p:cNvSpPr>
          <p:nvPr/>
        </p:nvSpPr>
        <p:spPr>
          <a:xfrm xmlns:a="http://schemas.openxmlformats.org/drawingml/2006/main">
            <a:off x="8362950" y="1638300"/>
            <a:ext cx="2457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13,736</a:t>
            </a:r>
          </a:p>
        </p:txBody>
      </p:sp>
      <p:sp>
        <p:nvSpPr>
          <p:cNvPr id="17" name="">
            <a:extLst xmlns:a="http://schemas.openxmlformats.org/drawingml/2006/main">
              <a:ext uri="{FF2B5EF4-FFF2-40B4-BE49-F238E27FC236}">
                <a16:creationId xmlns:a16="http://schemas.microsoft.com/office/drawing/2014/main" id="{E8CB6827-7BAF-48AB-88CF-497A7B0B8670}"/>
              </a:ext>
            </a:extLst>
          </p:cNvPr>
          <p:cNvSpPr>
            <a:spLocks xmlns:a="http://schemas.openxmlformats.org/drawingml/2006/main" noGrp="1"/>
          </p:cNvSpPr>
          <p:nvPr/>
        </p:nvSpPr>
        <p:spPr>
          <a:xfrm xmlns:a="http://schemas.openxmlformats.org/drawingml/2006/main">
            <a:off x="8362950" y="207645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report-only suggestions</a:t>
            </a:r>
          </a:p>
        </p:txBody>
      </p:sp>
      <p:sp>
        <p:nvSpPr>
          <p:cNvPr id="18" name="">
            <a:extLst xmlns:a="http://schemas.openxmlformats.org/drawingml/2006/main">
              <a:ext uri="{FF2B5EF4-FFF2-40B4-BE49-F238E27FC236}">
                <a16:creationId xmlns:a16="http://schemas.microsoft.com/office/drawing/2014/main" id="{133F1BC3-A16D-4E16-994E-F2F14947A344}"/>
              </a:ext>
            </a:extLst>
          </p:cNvPr>
          <p:cNvSpPr>
            <a:spLocks xmlns:a="http://schemas.openxmlformats.org/drawingml/2006/main" noGrp="1"/>
          </p:cNvSpPr>
          <p:nvPr/>
        </p:nvSpPr>
        <p:spPr>
          <a:xfrm xmlns:a="http://schemas.openxmlformats.org/drawingml/2006/main">
            <a:off x="685800" y="2952750"/>
            <a:ext cx="5067300" cy="2571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2BBE04AD-81B7-46FD-8B4A-98EC8BB8B1A1}"/>
              </a:ext>
            </a:extLst>
          </p:cNvPr>
          <p:cNvSpPr>
            <a:spLocks xmlns:a="http://schemas.openxmlformats.org/drawingml/2006/main" noGrp="1"/>
          </p:cNvSpPr>
          <p:nvPr/>
        </p:nvSpPr>
        <p:spPr>
          <a:xfrm xmlns:a="http://schemas.openxmlformats.org/drawingml/2006/main">
            <a:off x="914400" y="3181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WHY RANDOM FOREST</a:t>
            </a:r>
          </a:p>
        </p:txBody>
      </p:sp>
      <p:sp>
        <p:nvSpPr>
          <p:cNvPr id="20" name="">
            <a:extLst xmlns:a="http://schemas.openxmlformats.org/drawingml/2006/main">
              <a:ext uri="{FF2B5EF4-FFF2-40B4-BE49-F238E27FC236}">
                <a16:creationId xmlns:a16="http://schemas.microsoft.com/office/drawing/2014/main" id="{ACC50204-CD5F-4BAD-866C-662828A0CAFA}"/>
              </a:ext>
            </a:extLst>
          </p:cNvPr>
          <p:cNvSpPr>
            <a:spLocks xmlns:a="http://schemas.openxmlformats.org/drawingml/2006/main" noGrp="1"/>
          </p:cNvSpPr>
          <p:nvPr/>
        </p:nvSpPr>
        <p:spPr>
          <a:xfrm xmlns:a="http://schemas.openxmlformats.org/drawingml/2006/main">
            <a:off x="952500" y="3600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EB0E8D-AB16-4ABD-B2ED-1AA6E23890C2}"/>
              </a:ext>
            </a:extLst>
          </p:cNvPr>
          <p:cNvSpPr>
            <a:spLocks xmlns:a="http://schemas.openxmlformats.org/drawingml/2006/main" noGrp="1"/>
          </p:cNvSpPr>
          <p:nvPr/>
        </p:nvSpPr>
        <p:spPr>
          <a:xfrm xmlns:a="http://schemas.openxmlformats.org/drawingml/2006/main">
            <a:off x="1200150" y="35242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fits the structured numeric evidence already produced</a:t>
            </a:r>
          </a:p>
        </p:txBody>
      </p:sp>
      <p:sp>
        <p:nvSpPr>
          <p:cNvPr id="22" name="">
            <a:extLst xmlns:a="http://schemas.openxmlformats.org/drawingml/2006/main">
              <a:ext uri="{FF2B5EF4-FFF2-40B4-BE49-F238E27FC236}">
                <a16:creationId xmlns:a16="http://schemas.microsoft.com/office/drawing/2014/main" id="{141978F8-52D6-4203-8D9B-896960FB4E1D}"/>
              </a:ext>
            </a:extLst>
          </p:cNvPr>
          <p:cNvSpPr>
            <a:spLocks xmlns:a="http://schemas.openxmlformats.org/drawingml/2006/main" noGrp="1"/>
          </p:cNvSpPr>
          <p:nvPr/>
        </p:nvSpPr>
        <p:spPr>
          <a:xfrm xmlns:a="http://schemas.openxmlformats.org/drawingml/2006/main">
            <a:off x="952500" y="4019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0033AF8-6ECB-4607-936C-5E54E147F82F}"/>
              </a:ext>
            </a:extLst>
          </p:cNvPr>
          <p:cNvSpPr>
            <a:spLocks xmlns:a="http://schemas.openxmlformats.org/drawingml/2006/main" noGrp="1"/>
          </p:cNvSpPr>
          <p:nvPr/>
        </p:nvSpPr>
        <p:spPr>
          <a:xfrm xmlns:a="http://schemas.openxmlformats.org/drawingml/2006/main">
            <a:off x="1200150" y="39433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class weighting handles imbalanced labels</a:t>
            </a:r>
          </a:p>
        </p:txBody>
      </p:sp>
      <p:sp>
        <p:nvSpPr>
          <p:cNvPr id="24" name="">
            <a:extLst xmlns:a="http://schemas.openxmlformats.org/drawingml/2006/main">
              <a:ext uri="{FF2B5EF4-FFF2-40B4-BE49-F238E27FC236}">
                <a16:creationId xmlns:a16="http://schemas.microsoft.com/office/drawing/2014/main" id="{6E5FE8A4-8E3C-4D75-A2BF-1515A4F46F24}"/>
              </a:ext>
            </a:extLst>
          </p:cNvPr>
          <p:cNvSpPr>
            <a:spLocks xmlns:a="http://schemas.openxmlformats.org/drawingml/2006/main" noGrp="1"/>
          </p:cNvSpPr>
          <p:nvPr/>
        </p:nvSpPr>
        <p:spPr>
          <a:xfrm xmlns:a="http://schemas.openxmlformats.org/drawingml/2006/main">
            <a:off x="9525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75DB893-7717-4E4F-A46A-DD35C5FBF8CA}"/>
              </a:ext>
            </a:extLst>
          </p:cNvPr>
          <p:cNvSpPr>
            <a:spLocks xmlns:a="http://schemas.openxmlformats.org/drawingml/2006/main" noGrp="1"/>
          </p:cNvSpPr>
          <p:nvPr/>
        </p:nvSpPr>
        <p:spPr>
          <a:xfrm xmlns:a="http://schemas.openxmlformats.org/drawingml/2006/main">
            <a:off x="1200150" y="43624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feature importance supports defense explanations</a:t>
            </a:r>
          </a:p>
        </p:txBody>
      </p:sp>
      <p:sp>
        <p:nvSpPr>
          <p:cNvPr id="26" name="">
            <a:extLst xmlns:a="http://schemas.openxmlformats.org/drawingml/2006/main">
              <a:ext uri="{FF2B5EF4-FFF2-40B4-BE49-F238E27FC236}">
                <a16:creationId xmlns:a16="http://schemas.microsoft.com/office/drawing/2014/main" id="{40AACC16-E5B3-42CA-833C-A50D30ED5BAE}"/>
              </a:ext>
            </a:extLst>
          </p:cNvPr>
          <p:cNvSpPr>
            <a:spLocks xmlns:a="http://schemas.openxmlformats.org/drawingml/2006/main" noGrp="1"/>
          </p:cNvSpPr>
          <p:nvPr/>
        </p:nvSpPr>
        <p:spPr>
          <a:xfrm xmlns:a="http://schemas.openxmlformats.org/drawingml/2006/main">
            <a:off x="952500" y="48577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43904E4-9B4B-46BF-B014-EC1CDD9AAB8D}"/>
              </a:ext>
            </a:extLst>
          </p:cNvPr>
          <p:cNvSpPr>
            <a:spLocks xmlns:a="http://schemas.openxmlformats.org/drawingml/2006/main" noGrp="1"/>
          </p:cNvSpPr>
          <p:nvPr/>
        </p:nvSpPr>
        <p:spPr>
          <a:xfrm xmlns:a="http://schemas.openxmlformats.org/drawingml/2006/main">
            <a:off x="1200150" y="47815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fast local training and deterministic grouped split</a:t>
            </a:r>
          </a:p>
        </p:txBody>
      </p:sp>
      <p:sp>
        <p:nvSpPr>
          <p:cNvPr id="28" name="">
            <a:extLst xmlns:a="http://schemas.openxmlformats.org/drawingml/2006/main">
              <a:ext uri="{FF2B5EF4-FFF2-40B4-BE49-F238E27FC236}">
                <a16:creationId xmlns:a16="http://schemas.microsoft.com/office/drawing/2014/main" id="{EC6DDB93-68C9-4E78-8056-2289712A4741}"/>
              </a:ext>
            </a:extLst>
          </p:cNvPr>
          <p:cNvSpPr>
            <a:spLocks xmlns:a="http://schemas.openxmlformats.org/drawingml/2006/main" noGrp="1"/>
          </p:cNvSpPr>
          <p:nvPr/>
        </p:nvSpPr>
        <p:spPr>
          <a:xfrm xmlns:a="http://schemas.openxmlformats.org/drawingml/2006/main">
            <a:off x="6057900" y="2952750"/>
            <a:ext cx="48958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F663AB4E-DAC7-4D08-89A3-09538C78E0D6}"/>
              </a:ext>
            </a:extLst>
          </p:cNvPr>
          <p:cNvSpPr>
            <a:spLocks xmlns:a="http://schemas.openxmlformats.org/drawingml/2006/main" noGrp="1"/>
          </p:cNvSpPr>
          <p:nvPr/>
        </p:nvSpPr>
        <p:spPr>
          <a:xfrm xmlns:a="http://schemas.openxmlformats.org/drawingml/2006/main">
            <a:off x="6286500" y="31813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TOP FEATURES</a:t>
            </a:r>
          </a:p>
        </p:txBody>
      </p:sp>
      <p:sp>
        <p:nvSpPr>
          <p:cNvPr id="30" name="">
            <a:extLst xmlns:a="http://schemas.openxmlformats.org/drawingml/2006/main">
              <a:ext uri="{FF2B5EF4-FFF2-40B4-BE49-F238E27FC236}">
                <a16:creationId xmlns:a16="http://schemas.microsoft.com/office/drawing/2014/main" id="{EE0BA370-15F3-4724-85C1-B3026294C87E}"/>
              </a:ext>
            </a:extLst>
          </p:cNvPr>
          <p:cNvSpPr>
            <a:spLocks xmlns:a="http://schemas.openxmlformats.org/drawingml/2006/main" noGrp="1"/>
          </p:cNvSpPr>
          <p:nvPr/>
        </p:nvSpPr>
        <p:spPr>
          <a:xfrm xmlns:a="http://schemas.openxmlformats.org/drawingml/2006/main">
            <a:off x="6286500" y="3581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identity confidence</a:t>
            </a:r>
          </a:p>
        </p:txBody>
      </p:sp>
      <p:sp>
        <p:nvSpPr>
          <p:cNvPr id="31" name="">
            <a:extLst xmlns:a="http://schemas.openxmlformats.org/drawingml/2006/main">
              <a:ext uri="{FF2B5EF4-FFF2-40B4-BE49-F238E27FC236}">
                <a16:creationId xmlns:a16="http://schemas.microsoft.com/office/drawing/2014/main" id="{A0F48B3E-5D54-44B4-A673-C302EF737C7C}"/>
              </a:ext>
            </a:extLst>
          </p:cNvPr>
          <p:cNvSpPr>
            <a:spLocks xmlns:a="http://schemas.openxmlformats.org/drawingml/2006/main" noGrp="1"/>
          </p:cNvSpPr>
          <p:nvPr/>
        </p:nvSpPr>
        <p:spPr>
          <a:xfrm xmlns:a="http://schemas.openxmlformats.org/drawingml/2006/main">
            <a:off x="8058150" y="36195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BF6B2EB-D808-4012-BC3C-A09DF105D960}"/>
              </a:ext>
            </a:extLst>
          </p:cNvPr>
          <p:cNvSpPr>
            <a:spLocks xmlns:a="http://schemas.openxmlformats.org/drawingml/2006/main" noGrp="1"/>
          </p:cNvSpPr>
          <p:nvPr/>
        </p:nvSpPr>
        <p:spPr>
          <a:xfrm xmlns:a="http://schemas.openxmlformats.org/drawingml/2006/main">
            <a:off x="8058150" y="3619500"/>
            <a:ext cx="1936242"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EBD8009-96B4-4D7A-9531-BAE1AFBDBECE}"/>
              </a:ext>
            </a:extLst>
          </p:cNvPr>
          <p:cNvSpPr>
            <a:spLocks xmlns:a="http://schemas.openxmlformats.org/drawingml/2006/main" noGrp="1"/>
          </p:cNvSpPr>
          <p:nvPr/>
        </p:nvSpPr>
        <p:spPr>
          <a:xfrm xmlns:a="http://schemas.openxmlformats.org/drawingml/2006/main">
            <a:off x="10229850" y="3562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365F7D"/>
                </a:solidFill>
                <a:latin typeface="Aptos"/>
                <a:ea typeface="Aptos"/>
                <a:cs typeface="Aptos"/>
              </a:defRPr>
            </a:pPr>
            <a:r>
              <a:rPr sz="825" b="1">
                <a:solidFill>
                  <a:srgbClr val="365F7D"/>
                </a:solidFill>
                <a:latin typeface="Aptos"/>
                <a:ea typeface="Aptos"/>
                <a:cs typeface="Aptos"/>
              </a:rPr>
              <a:t>0.231</a:t>
            </a:r>
          </a:p>
        </p:txBody>
      </p:sp>
      <p:sp>
        <p:nvSpPr>
          <p:cNvPr id="34" name="">
            <a:extLst xmlns:a="http://schemas.openxmlformats.org/drawingml/2006/main">
              <a:ext uri="{FF2B5EF4-FFF2-40B4-BE49-F238E27FC236}">
                <a16:creationId xmlns:a16="http://schemas.microsoft.com/office/drawing/2014/main" id="{0B22E17F-52B6-4E2A-AF62-E57F35DCD8C3}"/>
              </a:ext>
            </a:extLst>
          </p:cNvPr>
          <p:cNvSpPr>
            <a:spLocks xmlns:a="http://schemas.openxmlformats.org/drawingml/2006/main" noGrp="1"/>
          </p:cNvSpPr>
          <p:nvPr/>
        </p:nvSpPr>
        <p:spPr>
          <a:xfrm xmlns:a="http://schemas.openxmlformats.org/drawingml/2006/main">
            <a:off x="628650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boundary flag</a:t>
            </a:r>
          </a:p>
        </p:txBody>
      </p:sp>
      <p:sp>
        <p:nvSpPr>
          <p:cNvPr id="35" name="">
            <a:extLst xmlns:a="http://schemas.openxmlformats.org/drawingml/2006/main">
              <a:ext uri="{FF2B5EF4-FFF2-40B4-BE49-F238E27FC236}">
                <a16:creationId xmlns:a16="http://schemas.microsoft.com/office/drawing/2014/main" id="{B7FE0EAE-55B4-437B-81BC-AEE62A4E167F}"/>
              </a:ext>
            </a:extLst>
          </p:cNvPr>
          <p:cNvSpPr>
            <a:spLocks xmlns:a="http://schemas.openxmlformats.org/drawingml/2006/main" noGrp="1"/>
          </p:cNvSpPr>
          <p:nvPr/>
        </p:nvSpPr>
        <p:spPr>
          <a:xfrm xmlns:a="http://schemas.openxmlformats.org/drawingml/2006/main">
            <a:off x="8058150" y="39814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00CF4F9-0B50-42A8-8599-A08A8017D452}"/>
              </a:ext>
            </a:extLst>
          </p:cNvPr>
          <p:cNvSpPr>
            <a:spLocks xmlns:a="http://schemas.openxmlformats.org/drawingml/2006/main" noGrp="1"/>
          </p:cNvSpPr>
          <p:nvPr/>
        </p:nvSpPr>
        <p:spPr>
          <a:xfrm xmlns:a="http://schemas.openxmlformats.org/drawingml/2006/main">
            <a:off x="8058150" y="3981450"/>
            <a:ext cx="18188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6A9925F-3D5A-45D4-B8A9-6604601D8D71}"/>
              </a:ext>
            </a:extLst>
          </p:cNvPr>
          <p:cNvSpPr>
            <a:spLocks xmlns:a="http://schemas.openxmlformats.org/drawingml/2006/main" noGrp="1"/>
          </p:cNvSpPr>
          <p:nvPr/>
        </p:nvSpPr>
        <p:spPr>
          <a:xfrm xmlns:a="http://schemas.openxmlformats.org/drawingml/2006/main">
            <a:off x="10229850" y="39243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A65C55"/>
                </a:solidFill>
                <a:latin typeface="Aptos"/>
                <a:ea typeface="Aptos"/>
                <a:cs typeface="Aptos"/>
              </a:defRPr>
            </a:pPr>
            <a:r>
              <a:rPr sz="825" b="1">
                <a:solidFill>
                  <a:srgbClr val="A65C55"/>
                </a:solidFill>
                <a:latin typeface="Aptos"/>
                <a:ea typeface="Aptos"/>
                <a:cs typeface="Aptos"/>
              </a:rPr>
              <a:t>0.217</a:t>
            </a:r>
          </a:p>
        </p:txBody>
      </p:sp>
      <p:sp>
        <p:nvSpPr>
          <p:cNvPr id="38" name="">
            <a:extLst xmlns:a="http://schemas.openxmlformats.org/drawingml/2006/main">
              <a:ext uri="{FF2B5EF4-FFF2-40B4-BE49-F238E27FC236}">
                <a16:creationId xmlns:a16="http://schemas.microsoft.com/office/drawing/2014/main" id="{70A13023-9C0F-4EA7-B5EC-D7EB9A083781}"/>
              </a:ext>
            </a:extLst>
          </p:cNvPr>
          <p:cNvSpPr>
            <a:spLocks xmlns:a="http://schemas.openxmlformats.org/drawingml/2006/main" noGrp="1"/>
          </p:cNvSpPr>
          <p:nvPr/>
        </p:nvSpPr>
        <p:spPr>
          <a:xfrm xmlns:a="http://schemas.openxmlformats.org/drawingml/2006/main">
            <a:off x="6286500" y="4305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best score</a:t>
            </a:r>
          </a:p>
        </p:txBody>
      </p:sp>
      <p:sp>
        <p:nvSpPr>
          <p:cNvPr id="39" name="">
            <a:extLst xmlns:a="http://schemas.openxmlformats.org/drawingml/2006/main">
              <a:ext uri="{FF2B5EF4-FFF2-40B4-BE49-F238E27FC236}">
                <a16:creationId xmlns:a16="http://schemas.microsoft.com/office/drawing/2014/main" id="{02964FC2-E7EF-48D2-B866-EEABC9493188}"/>
              </a:ext>
            </a:extLst>
          </p:cNvPr>
          <p:cNvSpPr>
            <a:spLocks xmlns:a="http://schemas.openxmlformats.org/drawingml/2006/main" noGrp="1"/>
          </p:cNvSpPr>
          <p:nvPr/>
        </p:nvSpPr>
        <p:spPr>
          <a:xfrm xmlns:a="http://schemas.openxmlformats.org/drawingml/2006/main">
            <a:off x="8058150" y="43434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DA1B76A-7909-4595-B1EB-101162FD1195}"/>
              </a:ext>
            </a:extLst>
          </p:cNvPr>
          <p:cNvSpPr>
            <a:spLocks xmlns:a="http://schemas.openxmlformats.org/drawingml/2006/main" noGrp="1"/>
          </p:cNvSpPr>
          <p:nvPr/>
        </p:nvSpPr>
        <p:spPr>
          <a:xfrm xmlns:a="http://schemas.openxmlformats.org/drawingml/2006/main">
            <a:off x="8058150" y="4343400"/>
            <a:ext cx="1726692"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52A6086-4D11-4937-A372-8974AA4F0A03}"/>
              </a:ext>
            </a:extLst>
          </p:cNvPr>
          <p:cNvSpPr>
            <a:spLocks xmlns:a="http://schemas.openxmlformats.org/drawingml/2006/main" noGrp="1"/>
          </p:cNvSpPr>
          <p:nvPr/>
        </p:nvSpPr>
        <p:spPr>
          <a:xfrm xmlns:a="http://schemas.openxmlformats.org/drawingml/2006/main">
            <a:off x="10229850" y="42862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4F7D76"/>
                </a:solidFill>
                <a:latin typeface="Aptos"/>
                <a:ea typeface="Aptos"/>
                <a:cs typeface="Aptos"/>
              </a:defRPr>
            </a:pPr>
            <a:r>
              <a:rPr sz="825" b="1">
                <a:solidFill>
                  <a:srgbClr val="4F7D76"/>
                </a:solidFill>
                <a:latin typeface="Aptos"/>
                <a:ea typeface="Aptos"/>
                <a:cs typeface="Aptos"/>
              </a:rPr>
              <a:t>0.206</a:t>
            </a:r>
          </a:p>
        </p:txBody>
      </p:sp>
      <p:sp>
        <p:nvSpPr>
          <p:cNvPr id="42" name="">
            <a:extLst xmlns:a="http://schemas.openxmlformats.org/drawingml/2006/main">
              <a:ext uri="{FF2B5EF4-FFF2-40B4-BE49-F238E27FC236}">
                <a16:creationId xmlns:a16="http://schemas.microsoft.com/office/drawing/2014/main" id="{1417E24F-6385-42FD-9131-69FF11DCD643}"/>
              </a:ext>
            </a:extLst>
          </p:cNvPr>
          <p:cNvSpPr>
            <a:spLocks xmlns:a="http://schemas.openxmlformats.org/drawingml/2006/main" noGrp="1"/>
          </p:cNvSpPr>
          <p:nvPr/>
        </p:nvSpPr>
        <p:spPr>
          <a:xfrm xmlns:a="http://schemas.openxmlformats.org/drawingml/2006/main">
            <a:off x="6286500" y="4667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source rank</a:t>
            </a:r>
          </a:p>
        </p:txBody>
      </p:sp>
      <p:sp>
        <p:nvSpPr>
          <p:cNvPr id="43" name="">
            <a:extLst xmlns:a="http://schemas.openxmlformats.org/drawingml/2006/main">
              <a:ext uri="{FF2B5EF4-FFF2-40B4-BE49-F238E27FC236}">
                <a16:creationId xmlns:a16="http://schemas.microsoft.com/office/drawing/2014/main" id="{35D3DA05-62DB-4013-99A4-85279C61BB1F}"/>
              </a:ext>
            </a:extLst>
          </p:cNvPr>
          <p:cNvSpPr>
            <a:spLocks xmlns:a="http://schemas.openxmlformats.org/drawingml/2006/main" noGrp="1"/>
          </p:cNvSpPr>
          <p:nvPr/>
        </p:nvSpPr>
        <p:spPr>
          <a:xfrm xmlns:a="http://schemas.openxmlformats.org/drawingml/2006/main">
            <a:off x="8058150" y="47053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76B4EBC-92BA-4312-A25E-FA1C3DDA0ABB}"/>
              </a:ext>
            </a:extLst>
          </p:cNvPr>
          <p:cNvSpPr>
            <a:spLocks xmlns:a="http://schemas.openxmlformats.org/drawingml/2006/main" noGrp="1"/>
          </p:cNvSpPr>
          <p:nvPr/>
        </p:nvSpPr>
        <p:spPr>
          <a:xfrm xmlns:a="http://schemas.openxmlformats.org/drawingml/2006/main">
            <a:off x="8058150" y="4705350"/>
            <a:ext cx="720852"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3D785C7-45BC-418D-A686-FD868D3AABC6}"/>
              </a:ext>
            </a:extLst>
          </p:cNvPr>
          <p:cNvSpPr>
            <a:spLocks xmlns:a="http://schemas.openxmlformats.org/drawingml/2006/main" noGrp="1"/>
          </p:cNvSpPr>
          <p:nvPr/>
        </p:nvSpPr>
        <p:spPr>
          <a:xfrm xmlns:a="http://schemas.openxmlformats.org/drawingml/2006/main">
            <a:off x="10229850" y="46482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8D754D"/>
                </a:solidFill>
                <a:latin typeface="Aptos"/>
                <a:ea typeface="Aptos"/>
                <a:cs typeface="Aptos"/>
              </a:defRPr>
            </a:pPr>
            <a:r>
              <a:rPr sz="825" b="1">
                <a:solidFill>
                  <a:srgbClr val="8D754D"/>
                </a:solidFill>
                <a:latin typeface="Aptos"/>
                <a:ea typeface="Aptos"/>
                <a:cs typeface="Aptos"/>
              </a:rPr>
              <a:t>0.086</a:t>
            </a:r>
          </a:p>
        </p:txBody>
      </p:sp>
      <p:sp>
        <p:nvSpPr>
          <p:cNvPr id="46" name="">
            <a:extLst xmlns:a="http://schemas.openxmlformats.org/drawingml/2006/main">
              <a:ext uri="{FF2B5EF4-FFF2-40B4-BE49-F238E27FC236}">
                <a16:creationId xmlns:a16="http://schemas.microsoft.com/office/drawing/2014/main" id="{984BED98-767E-4093-BEC4-81C6F45C5B1C}"/>
              </a:ext>
            </a:extLst>
          </p:cNvPr>
          <p:cNvSpPr>
            <a:spLocks xmlns:a="http://schemas.openxmlformats.org/drawingml/2006/main" noGrp="1"/>
          </p:cNvSpPr>
          <p:nvPr/>
        </p:nvSpPr>
        <p:spPr>
          <a:xfrm xmlns:a="http://schemas.openxmlformats.org/drawingml/2006/main">
            <a:off x="6286500" y="5029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dependency score</a:t>
            </a:r>
          </a:p>
        </p:txBody>
      </p:sp>
      <p:sp>
        <p:nvSpPr>
          <p:cNvPr id="47" name="">
            <a:extLst xmlns:a="http://schemas.openxmlformats.org/drawingml/2006/main">
              <a:ext uri="{FF2B5EF4-FFF2-40B4-BE49-F238E27FC236}">
                <a16:creationId xmlns:a16="http://schemas.microsoft.com/office/drawing/2014/main" id="{F6AB42F9-DEC0-40E5-BB04-94408C3405FB}"/>
              </a:ext>
            </a:extLst>
          </p:cNvPr>
          <p:cNvSpPr>
            <a:spLocks xmlns:a="http://schemas.openxmlformats.org/drawingml/2006/main" noGrp="1"/>
          </p:cNvSpPr>
          <p:nvPr/>
        </p:nvSpPr>
        <p:spPr>
          <a:xfrm xmlns:a="http://schemas.openxmlformats.org/drawingml/2006/main">
            <a:off x="8058150" y="50673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BA9E191-966C-4C6D-A44A-E9F5C9C263F0}"/>
              </a:ext>
            </a:extLst>
          </p:cNvPr>
          <p:cNvSpPr>
            <a:spLocks xmlns:a="http://schemas.openxmlformats.org/drawingml/2006/main" noGrp="1"/>
          </p:cNvSpPr>
          <p:nvPr/>
        </p:nvSpPr>
        <p:spPr>
          <a:xfrm xmlns:a="http://schemas.openxmlformats.org/drawingml/2006/main">
            <a:off x="8058150" y="5067300"/>
            <a:ext cx="569976"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52BF3A8-B35B-4E18-A268-51026FAB6094}"/>
              </a:ext>
            </a:extLst>
          </p:cNvPr>
          <p:cNvSpPr>
            <a:spLocks xmlns:a="http://schemas.openxmlformats.org/drawingml/2006/main" noGrp="1"/>
          </p:cNvSpPr>
          <p:nvPr/>
        </p:nvSpPr>
        <p:spPr>
          <a:xfrm xmlns:a="http://schemas.openxmlformats.org/drawingml/2006/main">
            <a:off x="10229850" y="50101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655F73"/>
                </a:solidFill>
                <a:latin typeface="Aptos"/>
                <a:ea typeface="Aptos"/>
                <a:cs typeface="Aptos"/>
              </a:defRPr>
            </a:pPr>
            <a:r>
              <a:rPr sz="825" b="1">
                <a:solidFill>
                  <a:srgbClr val="655F73"/>
                </a:solidFill>
                <a:latin typeface="Aptos"/>
                <a:ea typeface="Aptos"/>
                <a:cs typeface="Aptos"/>
              </a:rPr>
              <a:t>0.068</a:t>
            </a:r>
          </a:p>
        </p:txBody>
      </p:sp>
      <p:sp>
        <p:nvSpPr>
          <p:cNvPr id="50" name="">
            <a:extLst xmlns:a="http://schemas.openxmlformats.org/drawingml/2006/main">
              <a:ext uri="{FF2B5EF4-FFF2-40B4-BE49-F238E27FC236}">
                <a16:creationId xmlns:a16="http://schemas.microsoft.com/office/drawing/2014/main" id="{A8A89961-1EF0-48C4-B67B-CEECA20D9729}"/>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9FED4E81-C519-437D-9947-BF8C8A3D8372}"/>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src/apk_sbom/ai_r8_assistant.py  |  Metrics: data/results/experiments/ai-r8-assistant/metrics.json</a:t>
            </a:r>
          </a:p>
        </p:txBody>
      </p:sp>
      <p:sp>
        <p:nvSpPr>
          <p:cNvPr id="52" name="">
            <a:extLst xmlns:a="http://schemas.openxmlformats.org/drawingml/2006/main">
              <a:ext uri="{FF2B5EF4-FFF2-40B4-BE49-F238E27FC236}">
                <a16:creationId xmlns:a16="http://schemas.microsoft.com/office/drawing/2014/main" id="{796F729B-C77F-4B70-A1DD-F087C6C203D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12985920"/>
      </p:ext>
    </p:extLst>
  </p:cSld>
</p:sld>
</file>

<file path=ppt/slides/slide2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BEED1D1-B4CA-4D8C-A296-2BED6F2EF6B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DEEP LEARNING</a:t>
            </a:r>
          </a:p>
        </p:txBody>
      </p:sp>
      <p:sp>
        <p:nvSpPr>
          <p:cNvPr id="2" name="">
            <a:extLst xmlns:a="http://schemas.openxmlformats.org/drawingml/2006/main">
              <a:ext uri="{FF2B5EF4-FFF2-40B4-BE49-F238E27FC236}">
                <a16:creationId xmlns:a16="http://schemas.microsoft.com/office/drawing/2014/main" id="{29721F82-F5BF-4974-A13C-BEF6C10B7B5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DL lane separates a strong structured-token result from a weak raw-opcode result</a:t>
            </a:r>
          </a:p>
        </p:txBody>
      </p:sp>
      <p:sp>
        <p:nvSpPr>
          <p:cNvPr id="3" name="">
            <a:extLst xmlns:a="http://schemas.openxmlformats.org/drawingml/2006/main">
              <a:ext uri="{FF2B5EF4-FFF2-40B4-BE49-F238E27FC236}">
                <a16:creationId xmlns:a16="http://schemas.microsoft.com/office/drawing/2014/main" id="{ABFB2D8B-D64A-4D70-83EF-BAB194F54B2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27</a:t>
            </a:r>
          </a:p>
        </p:txBody>
      </p:sp>
      <p:sp>
        <p:nvSpPr>
          <p:cNvPr id="4" name="">
            <a:extLst xmlns:a="http://schemas.openxmlformats.org/drawingml/2006/main">
              <a:ext uri="{FF2B5EF4-FFF2-40B4-BE49-F238E27FC236}">
                <a16:creationId xmlns:a16="http://schemas.microsoft.com/office/drawing/2014/main" id="{8E17F8AB-08C6-4045-8FB0-CBA143D99963}"/>
              </a:ext>
            </a:extLst>
          </p:cNvPr>
          <p:cNvSpPr>
            <a:spLocks xmlns:a="http://schemas.openxmlformats.org/drawingml/2006/main" noGrp="1"/>
          </p:cNvSpPr>
          <p:nvPr/>
        </p:nvSpPr>
        <p:spPr>
          <a:xfrm xmlns:a="http://schemas.openxmlformats.org/drawingml/2006/main">
            <a:off x="685800" y="1466850"/>
            <a:ext cx="5143500" cy="39624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5609AEDB-B6C3-49A0-ACA2-A14FB087EE40}"/>
              </a:ext>
            </a:extLst>
          </p:cNvPr>
          <p:cNvSpPr>
            <a:spLocks xmlns:a="http://schemas.openxmlformats.org/drawingml/2006/main" noGrp="1"/>
          </p:cNvSpPr>
          <p:nvPr/>
        </p:nvSpPr>
        <p:spPr>
          <a:xfrm xmlns:a="http://schemas.openxmlformats.org/drawingml/2006/main">
            <a:off x="91440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MVP-SAFE STRUCTURED TOKENS</a:t>
            </a:r>
          </a:p>
        </p:txBody>
      </p:sp>
      <p:sp>
        <p:nvSpPr>
          <p:cNvPr id="6" name="">
            <a:extLst xmlns:a="http://schemas.openxmlformats.org/drawingml/2006/main">
              <a:ext uri="{FF2B5EF4-FFF2-40B4-BE49-F238E27FC236}">
                <a16:creationId xmlns:a16="http://schemas.microsoft.com/office/drawing/2014/main" id="{892A2B22-76E9-4384-842A-687893E5F786}"/>
              </a:ext>
            </a:extLst>
          </p:cNvPr>
          <p:cNvSpPr>
            <a:spLocks xmlns:a="http://schemas.openxmlformats.org/drawingml/2006/main" noGrp="1"/>
          </p:cNvSpPr>
          <p:nvPr/>
        </p:nvSpPr>
        <p:spPr>
          <a:xfrm xmlns:a="http://schemas.openxmlformats.org/drawingml/2006/main">
            <a:off x="9144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655F73"/>
                </a:solidFill>
                <a:latin typeface="Aptos Display"/>
                <a:ea typeface="Aptos Display"/>
                <a:cs typeface="Aptos Display"/>
              </a:defRPr>
            </a:pPr>
            <a:r>
              <a:rPr sz="3450" b="1">
                <a:solidFill>
                  <a:srgbClr val="655F73"/>
                </a:solidFill>
                <a:latin typeface="Aptos Display"/>
                <a:ea typeface="Aptos Display"/>
                <a:cs typeface="Aptos Display"/>
              </a:rPr>
              <a:t>0.882</a:t>
            </a:r>
          </a:p>
        </p:txBody>
      </p:sp>
      <p:sp>
        <p:nvSpPr>
          <p:cNvPr id="7" name="">
            <a:extLst xmlns:a="http://schemas.openxmlformats.org/drawingml/2006/main">
              <a:ext uri="{FF2B5EF4-FFF2-40B4-BE49-F238E27FC236}">
                <a16:creationId xmlns:a16="http://schemas.microsoft.com/office/drawing/2014/main" id="{5201E06A-EEE0-46B5-8456-160E79EFD568}"/>
              </a:ext>
            </a:extLst>
          </p:cNvPr>
          <p:cNvSpPr>
            <a:spLocks xmlns:a="http://schemas.openxmlformats.org/drawingml/2006/main" noGrp="1"/>
          </p:cNvSpPr>
          <p:nvPr/>
        </p:nvSpPr>
        <p:spPr>
          <a:xfrm xmlns:a="http://schemas.openxmlformats.org/drawingml/2006/main">
            <a:off x="914400" y="2724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test macro-F1  |  0.907 accuracy</a:t>
            </a:r>
          </a:p>
        </p:txBody>
      </p:sp>
      <p:sp>
        <p:nvSpPr>
          <p:cNvPr id="8" name="">
            <a:extLst xmlns:a="http://schemas.openxmlformats.org/drawingml/2006/main">
              <a:ext uri="{FF2B5EF4-FFF2-40B4-BE49-F238E27FC236}">
                <a16:creationId xmlns:a16="http://schemas.microsoft.com/office/drawing/2014/main" id="{8ED91713-0720-408B-BF1F-063B64A0E285}"/>
              </a:ext>
            </a:extLst>
          </p:cNvPr>
          <p:cNvSpPr>
            <a:spLocks xmlns:a="http://schemas.openxmlformats.org/drawingml/2006/main" noGrp="1"/>
          </p:cNvSpPr>
          <p:nvPr/>
        </p:nvSpPr>
        <p:spPr>
          <a:xfrm xmlns:a="http://schemas.openxmlformats.org/drawingml/2006/main">
            <a:off x="95250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4EADBB-7336-4C46-A894-45466CFC4CC3}"/>
              </a:ext>
            </a:extLst>
          </p:cNvPr>
          <p:cNvSpPr>
            <a:spLocks xmlns:a="http://schemas.openxmlformats.org/drawingml/2006/main" noGrp="1"/>
          </p:cNvSpPr>
          <p:nvPr/>
        </p:nvSpPr>
        <p:spPr>
          <a:xfrm xmlns:a="http://schemas.openxmlformats.org/drawingml/2006/main">
            <a:off x="1200150" y="32004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20,523 rows; 1,704-token vocabulary</a:t>
            </a:r>
          </a:p>
        </p:txBody>
      </p:sp>
      <p:sp>
        <p:nvSpPr>
          <p:cNvPr id="10" name="">
            <a:extLst xmlns:a="http://schemas.openxmlformats.org/drawingml/2006/main">
              <a:ext uri="{FF2B5EF4-FFF2-40B4-BE49-F238E27FC236}">
                <a16:creationId xmlns:a16="http://schemas.microsoft.com/office/drawing/2014/main" id="{3A9DEE8F-13D0-4A17-8BDA-DFA49D3BAE39}"/>
              </a:ext>
            </a:extLst>
          </p:cNvPr>
          <p:cNvSpPr>
            <a:spLocks xmlns:a="http://schemas.openxmlformats.org/drawingml/2006/main" noGrp="1"/>
          </p:cNvSpPr>
          <p:nvPr/>
        </p:nvSpPr>
        <p:spPr>
          <a:xfrm xmlns:a="http://schemas.openxmlformats.org/drawingml/2006/main">
            <a:off x="952500" y="37338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FED4A8-7311-4A6D-BCD8-541B17D4E0E6}"/>
              </a:ext>
            </a:extLst>
          </p:cNvPr>
          <p:cNvSpPr>
            <a:spLocks xmlns:a="http://schemas.openxmlformats.org/drawingml/2006/main" noGrp="1"/>
          </p:cNvSpPr>
          <p:nvPr/>
        </p:nvSpPr>
        <p:spPr>
          <a:xfrm xmlns:a="http://schemas.openxmlformats.org/drawingml/2006/main">
            <a:off x="1200150" y="36576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1-layer TransformerEncoder, d_model 64, 4 heads</a:t>
            </a:r>
          </a:p>
        </p:txBody>
      </p:sp>
      <p:sp>
        <p:nvSpPr>
          <p:cNvPr id="12" name="">
            <a:extLst xmlns:a="http://schemas.openxmlformats.org/drawingml/2006/main">
              <a:ext uri="{FF2B5EF4-FFF2-40B4-BE49-F238E27FC236}">
                <a16:creationId xmlns:a16="http://schemas.microsoft.com/office/drawing/2014/main" id="{18CA0AE6-534E-407B-869E-E4131A7A0D28}"/>
              </a:ext>
            </a:extLst>
          </p:cNvPr>
          <p:cNvSpPr>
            <a:spLocks xmlns:a="http://schemas.openxmlformats.org/drawingml/2006/main" noGrp="1"/>
          </p:cNvSpPr>
          <p:nvPr/>
        </p:nvSpPr>
        <p:spPr>
          <a:xfrm xmlns:a="http://schemas.openxmlformats.org/drawingml/2006/main">
            <a:off x="952500" y="41910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2CA2E65-38F0-4CFA-B420-17E2C1949E7E}"/>
              </a:ext>
            </a:extLst>
          </p:cNvPr>
          <p:cNvSpPr>
            <a:spLocks xmlns:a="http://schemas.openxmlformats.org/drawingml/2006/main" noGrp="1"/>
          </p:cNvSpPr>
          <p:nvPr/>
        </p:nvSpPr>
        <p:spPr>
          <a:xfrm xmlns:a="http://schemas.openxmlformats.org/drawingml/2006/main">
            <a:off x="1200150" y="41148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removes source version, raw coordinate, source rank, and diagnostic shortcuts</a:t>
            </a:r>
          </a:p>
        </p:txBody>
      </p:sp>
      <p:sp>
        <p:nvSpPr>
          <p:cNvPr id="14" name="">
            <a:extLst xmlns:a="http://schemas.openxmlformats.org/drawingml/2006/main">
              <a:ext uri="{FF2B5EF4-FFF2-40B4-BE49-F238E27FC236}">
                <a16:creationId xmlns:a16="http://schemas.microsoft.com/office/drawing/2014/main" id="{FEADFAEA-8775-4FA0-ABC3-75DDA2F2F522}"/>
              </a:ext>
            </a:extLst>
          </p:cNvPr>
          <p:cNvSpPr>
            <a:spLocks xmlns:a="http://schemas.openxmlformats.org/drawingml/2006/main" noGrp="1"/>
          </p:cNvSpPr>
          <p:nvPr/>
        </p:nvSpPr>
        <p:spPr>
          <a:xfrm xmlns:a="http://schemas.openxmlformats.org/drawingml/2006/main">
            <a:off x="952500" y="46482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8CC91E8-943A-4096-AEA2-FFB20D7D81C0}"/>
              </a:ext>
            </a:extLst>
          </p:cNvPr>
          <p:cNvSpPr>
            <a:spLocks xmlns:a="http://schemas.openxmlformats.org/drawingml/2006/main" noGrp="1"/>
          </p:cNvSpPr>
          <p:nvPr/>
        </p:nvSpPr>
        <p:spPr>
          <a:xfrm xmlns:a="http://schemas.openxmlformats.org/drawingml/2006/main">
            <a:off x="12001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candidate for report-only risk triage</a:t>
            </a:r>
          </a:p>
        </p:txBody>
      </p:sp>
      <p:sp>
        <p:nvSpPr>
          <p:cNvPr id="16" name="">
            <a:extLst xmlns:a="http://schemas.openxmlformats.org/drawingml/2006/main">
              <a:ext uri="{FF2B5EF4-FFF2-40B4-BE49-F238E27FC236}">
                <a16:creationId xmlns:a16="http://schemas.microsoft.com/office/drawing/2014/main" id="{2B5F9E48-8BFC-4F10-B89A-968AA81AEF67}"/>
              </a:ext>
            </a:extLst>
          </p:cNvPr>
          <p:cNvSpPr>
            <a:spLocks xmlns:a="http://schemas.openxmlformats.org/drawingml/2006/main" noGrp="1"/>
          </p:cNvSpPr>
          <p:nvPr/>
        </p:nvSpPr>
        <p:spPr>
          <a:xfrm xmlns:a="http://schemas.openxmlformats.org/drawingml/2006/main">
            <a:off x="6115050" y="1466850"/>
            <a:ext cx="5391150" cy="39624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7" name="">
            <a:extLst xmlns:a="http://schemas.openxmlformats.org/drawingml/2006/main">
              <a:ext uri="{FF2B5EF4-FFF2-40B4-BE49-F238E27FC236}">
                <a16:creationId xmlns:a16="http://schemas.microsoft.com/office/drawing/2014/main" id="{88F062CB-3A40-4DE6-9622-8C138B091242}"/>
              </a:ext>
            </a:extLst>
          </p:cNvPr>
          <p:cNvSpPr>
            <a:spLocks xmlns:a="http://schemas.openxmlformats.org/drawingml/2006/main" noGrp="1"/>
          </p:cNvSpPr>
          <p:nvPr/>
        </p:nvSpPr>
        <p:spPr>
          <a:xfrm xmlns:a="http://schemas.openxmlformats.org/drawingml/2006/main">
            <a:off x="6362700" y="1714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RAW DEX OPCODE TOKENS</a:t>
            </a:r>
          </a:p>
        </p:txBody>
      </p:sp>
      <p:sp>
        <p:nvSpPr>
          <p:cNvPr id="18" name="">
            <a:extLst xmlns:a="http://schemas.openxmlformats.org/drawingml/2006/main">
              <a:ext uri="{FF2B5EF4-FFF2-40B4-BE49-F238E27FC236}">
                <a16:creationId xmlns:a16="http://schemas.microsoft.com/office/drawing/2014/main" id="{5A854D29-7847-482C-AC53-0445E054723E}"/>
              </a:ext>
            </a:extLst>
          </p:cNvPr>
          <p:cNvSpPr>
            <a:spLocks xmlns:a="http://schemas.openxmlformats.org/drawingml/2006/main" noGrp="1"/>
          </p:cNvSpPr>
          <p:nvPr/>
        </p:nvSpPr>
        <p:spPr>
          <a:xfrm xmlns:a="http://schemas.openxmlformats.org/drawingml/2006/main">
            <a:off x="63627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A65C55"/>
                </a:solidFill>
                <a:latin typeface="Aptos Display"/>
                <a:ea typeface="Aptos Display"/>
                <a:cs typeface="Aptos Display"/>
              </a:defRPr>
            </a:pPr>
            <a:r>
              <a:rPr sz="3450" b="1">
                <a:solidFill>
                  <a:srgbClr val="A65C55"/>
                </a:solidFill>
                <a:latin typeface="Aptos Display"/>
                <a:ea typeface="Aptos Display"/>
                <a:cs typeface="Aptos Display"/>
              </a:rPr>
              <a:t>0.110</a:t>
            </a:r>
          </a:p>
        </p:txBody>
      </p:sp>
      <p:sp>
        <p:nvSpPr>
          <p:cNvPr id="19" name="">
            <a:extLst xmlns:a="http://schemas.openxmlformats.org/drawingml/2006/main">
              <a:ext uri="{FF2B5EF4-FFF2-40B4-BE49-F238E27FC236}">
                <a16:creationId xmlns:a16="http://schemas.microsoft.com/office/drawing/2014/main" id="{DE5BA383-FA62-48D5-918D-66F57220766B}"/>
              </a:ext>
            </a:extLst>
          </p:cNvPr>
          <p:cNvSpPr>
            <a:spLocks xmlns:a="http://schemas.openxmlformats.org/drawingml/2006/main" noGrp="1"/>
          </p:cNvSpPr>
          <p:nvPr/>
        </p:nvSpPr>
        <p:spPr>
          <a:xfrm xmlns:a="http://schemas.openxmlformats.org/drawingml/2006/main">
            <a:off x="6362700" y="2724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below 0.128 opcode-count baseline</a:t>
            </a:r>
          </a:p>
        </p:txBody>
      </p:sp>
      <p:sp>
        <p:nvSpPr>
          <p:cNvPr id="20" name="">
            <a:extLst xmlns:a="http://schemas.openxmlformats.org/drawingml/2006/main">
              <a:ext uri="{FF2B5EF4-FFF2-40B4-BE49-F238E27FC236}">
                <a16:creationId xmlns:a16="http://schemas.microsoft.com/office/drawing/2014/main" id="{668E1056-A6CC-4622-AB1A-C0750FEC5EBA}"/>
              </a:ext>
            </a:extLst>
          </p:cNvPr>
          <p:cNvSpPr>
            <a:spLocks xmlns:a="http://schemas.openxmlformats.org/drawingml/2006/main" noGrp="1"/>
          </p:cNvSpPr>
          <p:nvPr/>
        </p:nvSpPr>
        <p:spPr>
          <a:xfrm xmlns:a="http://schemas.openxmlformats.org/drawingml/2006/main">
            <a:off x="6400800" y="32766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A20BA3B-6F60-45A1-83AA-13600EFF2FA4}"/>
              </a:ext>
            </a:extLst>
          </p:cNvPr>
          <p:cNvSpPr>
            <a:spLocks xmlns:a="http://schemas.openxmlformats.org/drawingml/2006/main" noGrp="1"/>
          </p:cNvSpPr>
          <p:nvPr/>
        </p:nvSpPr>
        <p:spPr>
          <a:xfrm xmlns:a="http://schemas.openxmlformats.org/drawingml/2006/main">
            <a:off x="6648450" y="3200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1,680 method sequences from 14 APKs</a:t>
            </a:r>
          </a:p>
        </p:txBody>
      </p:sp>
      <p:sp>
        <p:nvSpPr>
          <p:cNvPr id="22" name="">
            <a:extLst xmlns:a="http://schemas.openxmlformats.org/drawingml/2006/main">
              <a:ext uri="{FF2B5EF4-FFF2-40B4-BE49-F238E27FC236}">
                <a16:creationId xmlns:a16="http://schemas.microsoft.com/office/drawing/2014/main" id="{8A28C445-D516-43B4-93AE-B79D46FBF529}"/>
              </a:ext>
            </a:extLst>
          </p:cNvPr>
          <p:cNvSpPr>
            <a:spLocks xmlns:a="http://schemas.openxmlformats.org/drawingml/2006/main" noGrp="1"/>
          </p:cNvSpPr>
          <p:nvPr/>
        </p:nvSpPr>
        <p:spPr>
          <a:xfrm xmlns:a="http://schemas.openxmlformats.org/drawingml/2006/main">
            <a:off x="6400800" y="37338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F871536-5D61-4355-89AA-1091C0B343F6}"/>
              </a:ext>
            </a:extLst>
          </p:cNvPr>
          <p:cNvSpPr>
            <a:spLocks xmlns:a="http://schemas.openxmlformats.org/drawingml/2006/main" noGrp="1"/>
          </p:cNvSpPr>
          <p:nvPr/>
        </p:nvSpPr>
        <p:spPr>
          <a:xfrm xmlns:a="http://schemas.openxmlformats.org/drawingml/2006/main">
            <a:off x="664845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case-heldout split across seven profile labels</a:t>
            </a:r>
          </a:p>
        </p:txBody>
      </p:sp>
      <p:sp>
        <p:nvSpPr>
          <p:cNvPr id="24" name="">
            <a:extLst xmlns:a="http://schemas.openxmlformats.org/drawingml/2006/main">
              <a:ext uri="{FF2B5EF4-FFF2-40B4-BE49-F238E27FC236}">
                <a16:creationId xmlns:a16="http://schemas.microsoft.com/office/drawing/2014/main" id="{51FDC1F1-B8B7-425D-AAC5-DA164D48FEC7}"/>
              </a:ext>
            </a:extLst>
          </p:cNvPr>
          <p:cNvSpPr>
            <a:spLocks xmlns:a="http://schemas.openxmlformats.org/drawingml/2006/main" noGrp="1"/>
          </p:cNvSpPr>
          <p:nvPr/>
        </p:nvSpPr>
        <p:spPr>
          <a:xfrm xmlns:a="http://schemas.openxmlformats.org/drawingml/2006/main">
            <a:off x="6400800" y="41910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B0A92B0-9F6D-4002-AC7D-7F9EEB78EA30}"/>
              </a:ext>
            </a:extLst>
          </p:cNvPr>
          <p:cNvSpPr>
            <a:spLocks xmlns:a="http://schemas.openxmlformats.org/drawingml/2006/main" noGrp="1"/>
          </p:cNvSpPr>
          <p:nvPr/>
        </p:nvSpPr>
        <p:spPr>
          <a:xfrm xmlns:a="http://schemas.openxmlformats.org/drawingml/2006/main">
            <a:off x="6648450" y="4114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raw sequence alone does not generalize</a:t>
            </a:r>
          </a:p>
        </p:txBody>
      </p:sp>
      <p:sp>
        <p:nvSpPr>
          <p:cNvPr id="26" name="">
            <a:extLst xmlns:a="http://schemas.openxmlformats.org/drawingml/2006/main">
              <a:ext uri="{FF2B5EF4-FFF2-40B4-BE49-F238E27FC236}">
                <a16:creationId xmlns:a16="http://schemas.microsoft.com/office/drawing/2014/main" id="{ADE6BE33-6F08-49E1-A059-9D420CA4F5B6}"/>
              </a:ext>
            </a:extLst>
          </p:cNvPr>
          <p:cNvSpPr>
            <a:spLocks xmlns:a="http://schemas.openxmlformats.org/drawingml/2006/main" noGrp="1"/>
          </p:cNvSpPr>
          <p:nvPr/>
        </p:nvSpPr>
        <p:spPr>
          <a:xfrm xmlns:a="http://schemas.openxmlformats.org/drawingml/2006/main">
            <a:off x="6400800" y="464820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82D79C-181D-46D2-A67C-3EC7D6E318E6}"/>
              </a:ext>
            </a:extLst>
          </p:cNvPr>
          <p:cNvSpPr>
            <a:spLocks xmlns:a="http://schemas.openxmlformats.org/drawingml/2006/main" noGrp="1"/>
          </p:cNvSpPr>
          <p:nvPr/>
        </p:nvSpPr>
        <p:spPr>
          <a:xfrm xmlns:a="http://schemas.openxmlformats.org/drawingml/2006/main">
            <a:off x="6648450" y="4572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needs more APKs, context, and APK-level aggregation</a:t>
            </a:r>
          </a:p>
        </p:txBody>
      </p:sp>
      <p:sp>
        <p:nvSpPr>
          <p:cNvPr id="28" name="">
            <a:extLst xmlns:a="http://schemas.openxmlformats.org/drawingml/2006/main">
              <a:ext uri="{FF2B5EF4-FFF2-40B4-BE49-F238E27FC236}">
                <a16:creationId xmlns:a16="http://schemas.microsoft.com/office/drawing/2014/main" id="{55957332-94EC-42AC-90D0-40024303A34A}"/>
              </a:ext>
            </a:extLst>
          </p:cNvPr>
          <p:cNvSpPr>
            <a:spLocks xmlns:a="http://schemas.openxmlformats.org/drawingml/2006/main" noGrp="1"/>
          </p:cNvSpPr>
          <p:nvPr/>
        </p:nvSpPr>
        <p:spPr>
          <a:xfrm xmlns:a="http://schemas.openxmlformats.org/drawingml/2006/main">
            <a:off x="685800" y="56769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CB5E1FDB-4B42-4EC8-BBBE-35DF1C5BC71B}"/>
              </a:ext>
            </a:extLst>
          </p:cNvPr>
          <p:cNvSpPr>
            <a:spLocks xmlns:a="http://schemas.openxmlformats.org/drawingml/2006/main" noGrp="1"/>
          </p:cNvSpPr>
          <p:nvPr/>
        </p:nvSpPr>
        <p:spPr>
          <a:xfrm xmlns:a="http://schemas.openxmlformats.org/drawingml/2006/main">
            <a:off x="876300" y="5848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DECISION</a:t>
            </a:r>
          </a:p>
        </p:txBody>
      </p:sp>
      <p:sp>
        <p:nvSpPr>
          <p:cNvPr id="30" name="">
            <a:extLst xmlns:a="http://schemas.openxmlformats.org/drawingml/2006/main">
              <a:ext uri="{FF2B5EF4-FFF2-40B4-BE49-F238E27FC236}">
                <a16:creationId xmlns:a16="http://schemas.microsoft.com/office/drawing/2014/main" id="{E4B00B26-20CF-4620-914C-2C4643D7AA56}"/>
              </a:ext>
            </a:extLst>
          </p:cNvPr>
          <p:cNvSpPr>
            <a:spLocks xmlns:a="http://schemas.openxmlformats.org/drawingml/2006/main" noGrp="1"/>
          </p:cNvSpPr>
          <p:nvPr/>
        </p:nvSpPr>
        <p:spPr>
          <a:xfrm xmlns:a="http://schemas.openxmlformats.org/drawingml/2006/main">
            <a:off x="2343150" y="58007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Keep the structured model as report-only evidence; keep the raw-opcode model as an honest negative result.</a:t>
            </a:r>
          </a:p>
        </p:txBody>
      </p:sp>
      <p:sp>
        <p:nvSpPr>
          <p:cNvPr id="31" name="">
            <a:extLst xmlns:a="http://schemas.openxmlformats.org/drawingml/2006/main">
              <a:ext uri="{FF2B5EF4-FFF2-40B4-BE49-F238E27FC236}">
                <a16:creationId xmlns:a16="http://schemas.microsoft.com/office/drawing/2014/main" id="{3BCB6882-953C-4A7A-9B28-B58F2A14388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41146011"/>
      </p:ext>
    </p:extLst>
  </p:cSld>
</p:sld>
</file>

<file path=ppt/slides/slide2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174049-31BB-43F8-B38A-91AAF3C7C67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AI INTEGRATION GATE</a:t>
            </a:r>
          </a:p>
        </p:txBody>
      </p:sp>
      <p:sp>
        <p:nvSpPr>
          <p:cNvPr id="2" name="">
            <a:extLst xmlns:a="http://schemas.openxmlformats.org/drawingml/2006/main">
              <a:ext uri="{FF2B5EF4-FFF2-40B4-BE49-F238E27FC236}">
                <a16:creationId xmlns:a16="http://schemas.microsoft.com/office/drawing/2014/main" id="{669EE4F0-A375-43F6-94BE-FCE44D5CC69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assists hard R8 triage, while the deterministic matcher keeps authority</a:t>
            </a:r>
          </a:p>
        </p:txBody>
      </p:sp>
      <p:sp>
        <p:nvSpPr>
          <p:cNvPr id="3" name="">
            <a:extLst xmlns:a="http://schemas.openxmlformats.org/drawingml/2006/main">
              <a:ext uri="{FF2B5EF4-FFF2-40B4-BE49-F238E27FC236}">
                <a16:creationId xmlns:a16="http://schemas.microsoft.com/office/drawing/2014/main" id="{C7D99B2C-AFFA-4568-886F-E63FA894E7E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775E466C-459F-42BE-8631-6579E854D94B}"/>
              </a:ext>
            </a:extLst>
          </p:cNvPr>
          <p:cNvSpPr>
            <a:spLocks xmlns:a="http://schemas.openxmlformats.org/drawingml/2006/main" noGrp="1"/>
          </p:cNvSpPr>
          <p:nvPr/>
        </p:nvSpPr>
        <p:spPr>
          <a:xfrm xmlns:a="http://schemas.openxmlformats.org/drawingml/2006/main">
            <a:off x="742950" y="16859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RandomForest</a:t>
            </a:r>
          </a:p>
        </p:txBody>
      </p:sp>
      <p:sp>
        <p:nvSpPr>
          <p:cNvPr id="5" name="">
            <a:extLst xmlns:a="http://schemas.openxmlformats.org/drawingml/2006/main">
              <a:ext uri="{FF2B5EF4-FFF2-40B4-BE49-F238E27FC236}">
                <a16:creationId xmlns:a16="http://schemas.microsoft.com/office/drawing/2014/main" id="{7ED21E12-879E-44E1-B32B-F5CC6AA65263}"/>
              </a:ext>
            </a:extLst>
          </p:cNvPr>
          <p:cNvSpPr>
            <a:spLocks xmlns:a="http://schemas.openxmlformats.org/drawingml/2006/main" noGrp="1"/>
          </p:cNvSpPr>
          <p:nvPr/>
        </p:nvSpPr>
        <p:spPr>
          <a:xfrm xmlns:a="http://schemas.openxmlformats.org/drawingml/2006/main">
            <a:off x="3143250" y="17049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AE0578-C38E-4A95-8DB6-4B932BE2D804}"/>
              </a:ext>
            </a:extLst>
          </p:cNvPr>
          <p:cNvSpPr>
            <a:spLocks xmlns:a="http://schemas.openxmlformats.org/drawingml/2006/main" noGrp="1"/>
          </p:cNvSpPr>
          <p:nvPr/>
        </p:nvSpPr>
        <p:spPr>
          <a:xfrm xmlns:a="http://schemas.openxmlformats.org/drawingml/2006/main">
            <a:off x="3143250" y="1704975"/>
            <a:ext cx="2967228" cy="1905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D62973-4939-4C4C-8192-79E4469187F9}"/>
              </a:ext>
            </a:extLst>
          </p:cNvPr>
          <p:cNvSpPr>
            <a:spLocks xmlns:a="http://schemas.openxmlformats.org/drawingml/2006/main" noGrp="1"/>
          </p:cNvSpPr>
          <p:nvPr/>
        </p:nvSpPr>
        <p:spPr>
          <a:xfrm xmlns:a="http://schemas.openxmlformats.org/drawingml/2006/main">
            <a:off x="7505700" y="16478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65F7D"/>
                </a:solidFill>
                <a:latin typeface="Aptos"/>
                <a:ea typeface="Aptos"/>
                <a:cs typeface="Aptos"/>
              </a:defRPr>
            </a:pPr>
            <a:r>
              <a:rPr sz="1350" b="1">
                <a:solidFill>
                  <a:srgbClr val="365F7D"/>
                </a:solidFill>
                <a:latin typeface="Aptos"/>
                <a:ea typeface="Aptos"/>
                <a:cs typeface="Aptos"/>
              </a:rPr>
              <a:t>0.708</a:t>
            </a:r>
          </a:p>
        </p:txBody>
      </p:sp>
      <p:sp>
        <p:nvSpPr>
          <p:cNvPr id="8" name="">
            <a:extLst xmlns:a="http://schemas.openxmlformats.org/drawingml/2006/main">
              <a:ext uri="{FF2B5EF4-FFF2-40B4-BE49-F238E27FC236}">
                <a16:creationId xmlns:a16="http://schemas.microsoft.com/office/drawing/2014/main" id="{79887844-9823-4E64-B8AC-7DA5549A2325}"/>
              </a:ext>
            </a:extLst>
          </p:cNvPr>
          <p:cNvSpPr>
            <a:spLocks xmlns:a="http://schemas.openxmlformats.org/drawingml/2006/main" noGrp="1"/>
          </p:cNvSpPr>
          <p:nvPr/>
        </p:nvSpPr>
        <p:spPr>
          <a:xfrm xmlns:a="http://schemas.openxmlformats.org/drawingml/2006/main">
            <a:off x="8572500" y="16573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80AE3FAC-811A-4EDA-BC3F-7B65FA146025}"/>
              </a:ext>
            </a:extLst>
          </p:cNvPr>
          <p:cNvSpPr>
            <a:spLocks xmlns:a="http://schemas.openxmlformats.org/drawingml/2006/main" noGrp="1"/>
          </p:cNvSpPr>
          <p:nvPr/>
        </p:nvSpPr>
        <p:spPr>
          <a:xfrm xmlns:a="http://schemas.openxmlformats.org/drawingml/2006/main">
            <a:off x="8639175" y="17145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integrated report-only</a:t>
            </a:r>
          </a:p>
        </p:txBody>
      </p:sp>
      <p:sp>
        <p:nvSpPr>
          <p:cNvPr id="10" name="">
            <a:extLst xmlns:a="http://schemas.openxmlformats.org/drawingml/2006/main">
              <a:ext uri="{FF2B5EF4-FFF2-40B4-BE49-F238E27FC236}">
                <a16:creationId xmlns:a16="http://schemas.microsoft.com/office/drawing/2014/main" id="{8962E87E-90B8-4E4B-BEB3-3A24765EF491}"/>
              </a:ext>
            </a:extLst>
          </p:cNvPr>
          <p:cNvSpPr>
            <a:spLocks xmlns:a="http://schemas.openxmlformats.org/drawingml/2006/main" noGrp="1"/>
          </p:cNvSpPr>
          <p:nvPr/>
        </p:nvSpPr>
        <p:spPr>
          <a:xfrm xmlns:a="http://schemas.openxmlformats.org/drawingml/2006/main">
            <a:off x="742950" y="24860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MVP-safe Transformer</a:t>
            </a:r>
          </a:p>
        </p:txBody>
      </p:sp>
      <p:sp>
        <p:nvSpPr>
          <p:cNvPr id="11" name="">
            <a:extLst xmlns:a="http://schemas.openxmlformats.org/drawingml/2006/main">
              <a:ext uri="{FF2B5EF4-FFF2-40B4-BE49-F238E27FC236}">
                <a16:creationId xmlns:a16="http://schemas.microsoft.com/office/drawing/2014/main" id="{13DC7D13-0531-4CBD-BAFB-DC0E49ED9040}"/>
              </a:ext>
            </a:extLst>
          </p:cNvPr>
          <p:cNvSpPr>
            <a:spLocks xmlns:a="http://schemas.openxmlformats.org/drawingml/2006/main" noGrp="1"/>
          </p:cNvSpPr>
          <p:nvPr/>
        </p:nvSpPr>
        <p:spPr>
          <a:xfrm xmlns:a="http://schemas.openxmlformats.org/drawingml/2006/main">
            <a:off x="3143250" y="25050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C50CE0-5C3F-4EB9-9699-6AF194C0CB16}"/>
              </a:ext>
            </a:extLst>
          </p:cNvPr>
          <p:cNvSpPr>
            <a:spLocks xmlns:a="http://schemas.openxmlformats.org/drawingml/2006/main" noGrp="1"/>
          </p:cNvSpPr>
          <p:nvPr/>
        </p:nvSpPr>
        <p:spPr>
          <a:xfrm xmlns:a="http://schemas.openxmlformats.org/drawingml/2006/main">
            <a:off x="3143250" y="2505075"/>
            <a:ext cx="3696462" cy="1905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EA1613-BF7A-4352-82CD-E506AFCFDAE8}"/>
              </a:ext>
            </a:extLst>
          </p:cNvPr>
          <p:cNvSpPr>
            <a:spLocks xmlns:a="http://schemas.openxmlformats.org/drawingml/2006/main" noGrp="1"/>
          </p:cNvSpPr>
          <p:nvPr/>
        </p:nvSpPr>
        <p:spPr>
          <a:xfrm xmlns:a="http://schemas.openxmlformats.org/drawingml/2006/main">
            <a:off x="7505700" y="24479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F7D76"/>
                </a:solidFill>
                <a:latin typeface="Aptos"/>
                <a:ea typeface="Aptos"/>
                <a:cs typeface="Aptos"/>
              </a:defRPr>
            </a:pPr>
            <a:r>
              <a:rPr sz="1350" b="1">
                <a:solidFill>
                  <a:srgbClr val="4F7D76"/>
                </a:solidFill>
                <a:latin typeface="Aptos"/>
                <a:ea typeface="Aptos"/>
                <a:cs typeface="Aptos"/>
              </a:rPr>
              <a:t>0.882</a:t>
            </a:r>
          </a:p>
        </p:txBody>
      </p:sp>
      <p:sp>
        <p:nvSpPr>
          <p:cNvPr id="14" name="">
            <a:extLst xmlns:a="http://schemas.openxmlformats.org/drawingml/2006/main">
              <a:ext uri="{FF2B5EF4-FFF2-40B4-BE49-F238E27FC236}">
                <a16:creationId xmlns:a16="http://schemas.microsoft.com/office/drawing/2014/main" id="{E532FD7B-0BA8-41F0-9CB3-33608924CCFC}"/>
              </a:ext>
            </a:extLst>
          </p:cNvPr>
          <p:cNvSpPr>
            <a:spLocks xmlns:a="http://schemas.openxmlformats.org/drawingml/2006/main" noGrp="1"/>
          </p:cNvSpPr>
          <p:nvPr/>
        </p:nvSpPr>
        <p:spPr>
          <a:xfrm xmlns:a="http://schemas.openxmlformats.org/drawingml/2006/main">
            <a:off x="8572500" y="24574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27AE48CC-E603-4A0E-A9D3-2F4A5D267299}"/>
              </a:ext>
            </a:extLst>
          </p:cNvPr>
          <p:cNvSpPr>
            <a:spLocks xmlns:a="http://schemas.openxmlformats.org/drawingml/2006/main" noGrp="1"/>
          </p:cNvSpPr>
          <p:nvPr/>
        </p:nvSpPr>
        <p:spPr>
          <a:xfrm xmlns:a="http://schemas.openxmlformats.org/drawingml/2006/main">
            <a:off x="8639175" y="25146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risk-triage candidate</a:t>
            </a:r>
          </a:p>
        </p:txBody>
      </p:sp>
      <p:sp>
        <p:nvSpPr>
          <p:cNvPr id="16" name="">
            <a:extLst xmlns:a="http://schemas.openxmlformats.org/drawingml/2006/main">
              <a:ext uri="{FF2B5EF4-FFF2-40B4-BE49-F238E27FC236}">
                <a16:creationId xmlns:a16="http://schemas.microsoft.com/office/drawing/2014/main" id="{84D70F6A-02F8-41CE-A020-D5761FECD0AB}"/>
              </a:ext>
            </a:extLst>
          </p:cNvPr>
          <p:cNvSpPr>
            <a:spLocks xmlns:a="http://schemas.openxmlformats.org/drawingml/2006/main" noGrp="1"/>
          </p:cNvSpPr>
          <p:nvPr/>
        </p:nvSpPr>
        <p:spPr>
          <a:xfrm xmlns:a="http://schemas.openxmlformats.org/drawingml/2006/main">
            <a:off x="742950" y="3286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Structured Transformer</a:t>
            </a:r>
          </a:p>
        </p:txBody>
      </p:sp>
      <p:sp>
        <p:nvSpPr>
          <p:cNvPr id="17" name="">
            <a:extLst xmlns:a="http://schemas.openxmlformats.org/drawingml/2006/main">
              <a:ext uri="{FF2B5EF4-FFF2-40B4-BE49-F238E27FC236}">
                <a16:creationId xmlns:a16="http://schemas.microsoft.com/office/drawing/2014/main" id="{EA6BD81E-0EBF-48FD-8D82-126A4F5F189B}"/>
              </a:ext>
            </a:extLst>
          </p:cNvPr>
          <p:cNvSpPr>
            <a:spLocks xmlns:a="http://schemas.openxmlformats.org/drawingml/2006/main" noGrp="1"/>
          </p:cNvSpPr>
          <p:nvPr/>
        </p:nvSpPr>
        <p:spPr>
          <a:xfrm xmlns:a="http://schemas.openxmlformats.org/drawingml/2006/main">
            <a:off x="3143250" y="33051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E86EAD-E098-4AA3-A4E8-DAAC0305AA7D}"/>
              </a:ext>
            </a:extLst>
          </p:cNvPr>
          <p:cNvSpPr>
            <a:spLocks xmlns:a="http://schemas.openxmlformats.org/drawingml/2006/main" noGrp="1"/>
          </p:cNvSpPr>
          <p:nvPr/>
        </p:nvSpPr>
        <p:spPr>
          <a:xfrm xmlns:a="http://schemas.openxmlformats.org/drawingml/2006/main">
            <a:off x="3143250" y="3305175"/>
            <a:ext cx="4094607" cy="1905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602FC0-F65D-4B37-AFBE-A418FC4F8FF6}"/>
              </a:ext>
            </a:extLst>
          </p:cNvPr>
          <p:cNvSpPr>
            <a:spLocks xmlns:a="http://schemas.openxmlformats.org/drawingml/2006/main" noGrp="1"/>
          </p:cNvSpPr>
          <p:nvPr/>
        </p:nvSpPr>
        <p:spPr>
          <a:xfrm xmlns:a="http://schemas.openxmlformats.org/drawingml/2006/main">
            <a:off x="7505700" y="32480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55F73"/>
                </a:solidFill>
                <a:latin typeface="Aptos"/>
                <a:ea typeface="Aptos"/>
                <a:cs typeface="Aptos"/>
              </a:defRPr>
            </a:pPr>
            <a:r>
              <a:rPr sz="1350" b="1">
                <a:solidFill>
                  <a:srgbClr val="655F73"/>
                </a:solidFill>
                <a:latin typeface="Aptos"/>
                <a:ea typeface="Aptos"/>
                <a:cs typeface="Aptos"/>
              </a:rPr>
              <a:t>0.977</a:t>
            </a:r>
          </a:p>
        </p:txBody>
      </p:sp>
      <p:sp>
        <p:nvSpPr>
          <p:cNvPr id="20" name="">
            <a:extLst xmlns:a="http://schemas.openxmlformats.org/drawingml/2006/main">
              <a:ext uri="{FF2B5EF4-FFF2-40B4-BE49-F238E27FC236}">
                <a16:creationId xmlns:a16="http://schemas.microsoft.com/office/drawing/2014/main" id="{D6EC9F72-D132-4CED-8685-B8FCD0F9085A}"/>
              </a:ext>
            </a:extLst>
          </p:cNvPr>
          <p:cNvSpPr>
            <a:spLocks xmlns:a="http://schemas.openxmlformats.org/drawingml/2006/main" noGrp="1"/>
          </p:cNvSpPr>
          <p:nvPr/>
        </p:nvSpPr>
        <p:spPr>
          <a:xfrm xmlns:a="http://schemas.openxmlformats.org/drawingml/2006/main">
            <a:off x="8572500" y="32575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9FCC54E0-977C-4B05-BCF0-1A132FF5028E}"/>
              </a:ext>
            </a:extLst>
          </p:cNvPr>
          <p:cNvSpPr>
            <a:spLocks xmlns:a="http://schemas.openxmlformats.org/drawingml/2006/main" noGrp="1"/>
          </p:cNvSpPr>
          <p:nvPr/>
        </p:nvSpPr>
        <p:spPr>
          <a:xfrm xmlns:a="http://schemas.openxmlformats.org/drawingml/2006/main">
            <a:off x="8639175" y="33147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research status only</a:t>
            </a:r>
          </a:p>
        </p:txBody>
      </p:sp>
      <p:sp>
        <p:nvSpPr>
          <p:cNvPr id="22" name="">
            <a:extLst xmlns:a="http://schemas.openxmlformats.org/drawingml/2006/main">
              <a:ext uri="{FF2B5EF4-FFF2-40B4-BE49-F238E27FC236}">
                <a16:creationId xmlns:a16="http://schemas.microsoft.com/office/drawing/2014/main" id="{79C4EC73-AE43-4FD1-BB4F-0DAFD0DE36FE}"/>
              </a:ext>
            </a:extLst>
          </p:cNvPr>
          <p:cNvSpPr>
            <a:spLocks xmlns:a="http://schemas.openxmlformats.org/drawingml/2006/main" noGrp="1"/>
          </p:cNvSpPr>
          <p:nvPr/>
        </p:nvSpPr>
        <p:spPr>
          <a:xfrm xmlns:a="http://schemas.openxmlformats.org/drawingml/2006/main">
            <a:off x="742950" y="4086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Raw opcode Transformer</a:t>
            </a:r>
          </a:p>
        </p:txBody>
      </p:sp>
      <p:sp>
        <p:nvSpPr>
          <p:cNvPr id="23" name="">
            <a:extLst xmlns:a="http://schemas.openxmlformats.org/drawingml/2006/main">
              <a:ext uri="{FF2B5EF4-FFF2-40B4-BE49-F238E27FC236}">
                <a16:creationId xmlns:a16="http://schemas.microsoft.com/office/drawing/2014/main" id="{DDA8DD6A-7E47-4B61-95E8-C15F0173E9EF}"/>
              </a:ext>
            </a:extLst>
          </p:cNvPr>
          <p:cNvSpPr>
            <a:spLocks xmlns:a="http://schemas.openxmlformats.org/drawingml/2006/main" noGrp="1"/>
          </p:cNvSpPr>
          <p:nvPr/>
        </p:nvSpPr>
        <p:spPr>
          <a:xfrm xmlns:a="http://schemas.openxmlformats.org/drawingml/2006/main">
            <a:off x="3143250" y="41052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A1C5B3-D58E-4BC6-96B1-152C5D291CCE}"/>
              </a:ext>
            </a:extLst>
          </p:cNvPr>
          <p:cNvSpPr>
            <a:spLocks xmlns:a="http://schemas.openxmlformats.org/drawingml/2006/main" noGrp="1"/>
          </p:cNvSpPr>
          <p:nvPr/>
        </p:nvSpPr>
        <p:spPr>
          <a:xfrm xmlns:a="http://schemas.openxmlformats.org/drawingml/2006/main">
            <a:off x="3143250" y="4105275"/>
            <a:ext cx="461010" cy="1905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49AF454-AB12-4026-AAE4-7D258E172F25}"/>
              </a:ext>
            </a:extLst>
          </p:cNvPr>
          <p:cNvSpPr>
            <a:spLocks xmlns:a="http://schemas.openxmlformats.org/drawingml/2006/main" noGrp="1"/>
          </p:cNvSpPr>
          <p:nvPr/>
        </p:nvSpPr>
        <p:spPr>
          <a:xfrm xmlns:a="http://schemas.openxmlformats.org/drawingml/2006/main">
            <a:off x="7505700" y="40481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A65C55"/>
                </a:solidFill>
                <a:latin typeface="Aptos"/>
                <a:ea typeface="Aptos"/>
                <a:cs typeface="Aptos"/>
              </a:defRPr>
            </a:pPr>
            <a:r>
              <a:rPr sz="1350" b="1">
                <a:solidFill>
                  <a:srgbClr val="A65C55"/>
                </a:solidFill>
                <a:latin typeface="Aptos"/>
                <a:ea typeface="Aptos"/>
                <a:cs typeface="Aptos"/>
              </a:rPr>
              <a:t>0.110</a:t>
            </a:r>
          </a:p>
        </p:txBody>
      </p:sp>
      <p:sp>
        <p:nvSpPr>
          <p:cNvPr id="26" name="">
            <a:extLst xmlns:a="http://schemas.openxmlformats.org/drawingml/2006/main">
              <a:ext uri="{FF2B5EF4-FFF2-40B4-BE49-F238E27FC236}">
                <a16:creationId xmlns:a16="http://schemas.microsoft.com/office/drawing/2014/main" id="{89917D8D-BC06-425A-9948-168F95006845}"/>
              </a:ext>
            </a:extLst>
          </p:cNvPr>
          <p:cNvSpPr>
            <a:spLocks xmlns:a="http://schemas.openxmlformats.org/drawingml/2006/main" noGrp="1"/>
          </p:cNvSpPr>
          <p:nvPr/>
        </p:nvSpPr>
        <p:spPr>
          <a:xfrm xmlns:a="http://schemas.openxmlformats.org/drawingml/2006/main">
            <a:off x="8572500" y="40576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DB72C7EC-AFEB-4AE8-B173-C620E5B1A5AD}"/>
              </a:ext>
            </a:extLst>
          </p:cNvPr>
          <p:cNvSpPr>
            <a:spLocks xmlns:a="http://schemas.openxmlformats.org/drawingml/2006/main" noGrp="1"/>
          </p:cNvSpPr>
          <p:nvPr/>
        </p:nvSpPr>
        <p:spPr>
          <a:xfrm xmlns:a="http://schemas.openxmlformats.org/drawingml/2006/main">
            <a:off x="8639175" y="41148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below 0.128 baseline</a:t>
            </a:r>
          </a:p>
        </p:txBody>
      </p:sp>
      <p:sp>
        <p:nvSpPr>
          <p:cNvPr id="28" name="">
            <a:extLst xmlns:a="http://schemas.openxmlformats.org/drawingml/2006/main">
              <a:ext uri="{FF2B5EF4-FFF2-40B4-BE49-F238E27FC236}">
                <a16:creationId xmlns:a16="http://schemas.microsoft.com/office/drawing/2014/main" id="{A284F4B6-B8DB-4452-BB93-099EAD51F2E8}"/>
              </a:ext>
            </a:extLst>
          </p:cNvPr>
          <p:cNvSpPr>
            <a:spLocks xmlns:a="http://schemas.openxmlformats.org/drawingml/2006/main" noGrp="1"/>
          </p:cNvSpPr>
          <p:nvPr/>
        </p:nvSpPr>
        <p:spPr>
          <a:xfrm xmlns:a="http://schemas.openxmlformats.org/drawingml/2006/main">
            <a:off x="723900" y="4991100"/>
            <a:ext cx="4800600" cy="9906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29" name="">
            <a:extLst xmlns:a="http://schemas.openxmlformats.org/drawingml/2006/main">
              <a:ext uri="{FF2B5EF4-FFF2-40B4-BE49-F238E27FC236}">
                <a16:creationId xmlns:a16="http://schemas.microsoft.com/office/drawing/2014/main" id="{75226393-1280-414D-998C-7E6A5482A6E3}"/>
              </a:ext>
            </a:extLst>
          </p:cNvPr>
          <p:cNvSpPr>
            <a:spLocks xmlns:a="http://schemas.openxmlformats.org/drawingml/2006/main" noGrp="1"/>
          </p:cNvSpPr>
          <p:nvPr/>
        </p:nvSpPr>
        <p:spPr>
          <a:xfrm xmlns:a="http://schemas.openxmlformats.org/drawingml/2006/main">
            <a:off x="933450" y="52197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READY</a:t>
            </a:r>
          </a:p>
        </p:txBody>
      </p:sp>
      <p:sp>
        <p:nvSpPr>
          <p:cNvPr id="30" name="">
            <a:extLst xmlns:a="http://schemas.openxmlformats.org/drawingml/2006/main">
              <a:ext uri="{FF2B5EF4-FFF2-40B4-BE49-F238E27FC236}">
                <a16:creationId xmlns:a16="http://schemas.microsoft.com/office/drawing/2014/main" id="{AE3A38EE-4A66-4337-BEAB-9F9F02BA1F81}"/>
              </a:ext>
            </a:extLst>
          </p:cNvPr>
          <p:cNvSpPr>
            <a:spLocks xmlns:a="http://schemas.openxmlformats.org/drawingml/2006/main" noGrp="1"/>
          </p:cNvSpPr>
          <p:nvPr/>
        </p:nvSpPr>
        <p:spPr>
          <a:xfrm xmlns:a="http://schemas.openxmlformats.org/drawingml/2006/main">
            <a:off x="1885950" y="5181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report wording, prioritization, R8 risk triage</a:t>
            </a:r>
          </a:p>
        </p:txBody>
      </p:sp>
      <p:sp>
        <p:nvSpPr>
          <p:cNvPr id="31" name="">
            <a:extLst xmlns:a="http://schemas.openxmlformats.org/drawingml/2006/main">
              <a:ext uri="{FF2B5EF4-FFF2-40B4-BE49-F238E27FC236}">
                <a16:creationId xmlns:a16="http://schemas.microsoft.com/office/drawing/2014/main" id="{21ECD759-E85E-4DCF-B651-86797A8441A2}"/>
              </a:ext>
            </a:extLst>
          </p:cNvPr>
          <p:cNvSpPr>
            <a:spLocks xmlns:a="http://schemas.openxmlformats.org/drawingml/2006/main" noGrp="1"/>
          </p:cNvSpPr>
          <p:nvPr/>
        </p:nvSpPr>
        <p:spPr>
          <a:xfrm xmlns:a="http://schemas.openxmlformats.org/drawingml/2006/main">
            <a:off x="5943600" y="4991100"/>
            <a:ext cx="5562600" cy="9906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2" name="">
            <a:extLst xmlns:a="http://schemas.openxmlformats.org/drawingml/2006/main">
              <a:ext uri="{FF2B5EF4-FFF2-40B4-BE49-F238E27FC236}">
                <a16:creationId xmlns:a16="http://schemas.microsoft.com/office/drawing/2014/main" id="{F9F9574E-A5BA-4467-BF31-C6E6B9AD891D}"/>
              </a:ext>
            </a:extLst>
          </p:cNvPr>
          <p:cNvSpPr>
            <a:spLocks xmlns:a="http://schemas.openxmlformats.org/drawingml/2006/main" noGrp="1"/>
          </p:cNvSpPr>
          <p:nvPr/>
        </p:nvSpPr>
        <p:spPr>
          <a:xfrm xmlns:a="http://schemas.openxmlformats.org/drawingml/2006/main">
            <a:off x="6153150" y="52197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BLOCKED</a:t>
            </a:r>
          </a:p>
        </p:txBody>
      </p:sp>
      <p:sp>
        <p:nvSpPr>
          <p:cNvPr id="33" name="">
            <a:extLst xmlns:a="http://schemas.openxmlformats.org/drawingml/2006/main">
              <a:ext uri="{FF2B5EF4-FFF2-40B4-BE49-F238E27FC236}">
                <a16:creationId xmlns:a16="http://schemas.microsoft.com/office/drawing/2014/main" id="{B9B34011-0774-4F48-96CF-25B63F7A02B6}"/>
              </a:ext>
            </a:extLst>
          </p:cNvPr>
          <p:cNvSpPr>
            <a:spLocks xmlns:a="http://schemas.openxmlformats.org/drawingml/2006/main" noGrp="1"/>
          </p:cNvSpPr>
          <p:nvPr/>
        </p:nvSpPr>
        <p:spPr>
          <a:xfrm xmlns:a="http://schemas.openxmlformats.org/drawingml/2006/main">
            <a:off x="7277100" y="51816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selected versions, SBOM components, CVE labels</a:t>
            </a:r>
          </a:p>
        </p:txBody>
      </p:sp>
      <p:sp>
        <p:nvSpPr>
          <p:cNvPr id="34" name="">
            <a:extLst xmlns:a="http://schemas.openxmlformats.org/drawingml/2006/main">
              <a:ext uri="{FF2B5EF4-FFF2-40B4-BE49-F238E27FC236}">
                <a16:creationId xmlns:a16="http://schemas.microsoft.com/office/drawing/2014/main" id="{C39CB0D2-8871-4CC4-BF89-26F8D05AA25B}"/>
              </a:ext>
            </a:extLst>
          </p:cNvPr>
          <p:cNvSpPr>
            <a:spLocks xmlns:a="http://schemas.openxmlformats.org/drawingml/2006/main" noGrp="1"/>
          </p:cNvSpPr>
          <p:nvPr/>
        </p:nvSpPr>
        <p:spPr>
          <a:xfrm xmlns:a="http://schemas.openxmlformats.org/drawingml/2006/main">
            <a:off x="200025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65717A"/>
                </a:solidFill>
                <a:latin typeface="Aptos"/>
                <a:ea typeface="Aptos"/>
                <a:cs typeface="Aptos"/>
              </a:defRPr>
            </a:pPr>
            <a:r>
              <a:rPr sz="1050" b="1">
                <a:solidFill>
                  <a:srgbClr val="65717A"/>
                </a:solidFill>
                <a:latin typeface="Aptos"/>
                <a:ea typeface="Aptos"/>
                <a:cs typeface="Aptos"/>
              </a:rPr>
              <a:t>31,589 local evidence rows  |  strict APK promotion candidates: 0</a:t>
            </a:r>
          </a:p>
        </p:txBody>
      </p:sp>
      <p:sp>
        <p:nvSpPr>
          <p:cNvPr id="35" name="">
            <a:extLst xmlns:a="http://schemas.openxmlformats.org/drawingml/2006/main">
              <a:ext uri="{FF2B5EF4-FFF2-40B4-BE49-F238E27FC236}">
                <a16:creationId xmlns:a16="http://schemas.microsoft.com/office/drawing/2014/main" id="{9E43C72B-9E12-4CAA-850E-F0D5E6C3A31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94700694"/>
      </p:ext>
    </p:extLst>
  </p:cSld>
</p:sld>
</file>

<file path=ppt/slides/slide2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BE63F1-83E0-427D-8C87-DE7BC7249F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FD0AF0-A7B9-4F58-97A4-BF84DA35806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549D5FF-7937-4658-BE1B-0D35D060705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LIVE DEMO EVIDENCE</a:t>
            </a:r>
          </a:p>
        </p:txBody>
      </p:sp>
      <p:sp>
        <p:nvSpPr>
          <p:cNvPr id="4" name="">
            <a:extLst xmlns:a="http://schemas.openxmlformats.org/drawingml/2006/main">
              <a:ext uri="{FF2B5EF4-FFF2-40B4-BE49-F238E27FC236}">
                <a16:creationId xmlns:a16="http://schemas.microsoft.com/office/drawing/2014/main" id="{3A07BAAF-3BE7-4DCF-A3FC-E3E46A5C2C4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reproducible demo command returns a 10/10 verdict and keeps AI report-only</a:t>
            </a:r>
          </a:p>
        </p:txBody>
      </p:sp>
      <p:sp>
        <p:nvSpPr>
          <p:cNvPr id="5" name="">
            <a:extLst xmlns:a="http://schemas.openxmlformats.org/drawingml/2006/main">
              <a:ext uri="{FF2B5EF4-FFF2-40B4-BE49-F238E27FC236}">
                <a16:creationId xmlns:a16="http://schemas.microsoft.com/office/drawing/2014/main" id="{18EAE173-E276-47FC-8207-3B89E45D522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F9943671-055F-40B8-AD9D-7A20627552B7}"/>
              </a:ext>
            </a:extLst>
          </p:cNvPr>
          <p:cNvSpPr>
            <a:spLocks xmlns:a="http://schemas.openxmlformats.org/drawingml/2006/main" noGrp="1"/>
          </p:cNvSpPr>
          <p:nvPr/>
        </p:nvSpPr>
        <p:spPr>
          <a:xfrm xmlns:a="http://schemas.openxmlformats.org/drawingml/2006/main">
            <a:off x="609600" y="1428750"/>
            <a:ext cx="5715000" cy="3905250"/>
          </a:xfrm>
          <a:prstGeom xmlns:a="http://schemas.openxmlformats.org/drawingml/2006/main" prst="rect">
            <a:avLst/>
          </a:prstGeom>
          <a:solidFill xmlns:a="http://schemas.openxmlformats.org/drawingml/2006/main">
            <a:srgbClr val="101820"/>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62D848B-5727-486A-B533-41E5FDDB02B9}"/>
              </a:ext>
            </a:extLst>
          </p:cNvPr>
          <p:cNvSpPr>
            <a:spLocks xmlns:a="http://schemas.openxmlformats.org/drawingml/2006/main" noGrp="1"/>
          </p:cNvSpPr>
          <p:nvPr/>
        </p:nvSpPr>
        <p:spPr>
          <a:xfrm xmlns:a="http://schemas.openxmlformats.org/drawingml/2006/main">
            <a:off x="609600" y="1428750"/>
            <a:ext cx="5715000" cy="34290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ED63B9-D024-4F0C-A69B-AA4A30AC639A}"/>
              </a:ext>
            </a:extLst>
          </p:cNvPr>
          <p:cNvSpPr>
            <a:spLocks xmlns:a="http://schemas.openxmlformats.org/drawingml/2006/main" noGrp="1"/>
          </p:cNvSpPr>
          <p:nvPr/>
        </p:nvSpPr>
        <p:spPr>
          <a:xfrm xmlns:a="http://schemas.openxmlformats.org/drawingml/2006/main">
            <a:off x="800100" y="1524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PowerShell  |  project .venv</a:t>
            </a:r>
          </a:p>
        </p:txBody>
      </p:sp>
      <p:sp>
        <p:nvSpPr>
          <p:cNvPr id="9" name="">
            <a:extLst xmlns:a="http://schemas.openxmlformats.org/drawingml/2006/main">
              <a:ext uri="{FF2B5EF4-FFF2-40B4-BE49-F238E27FC236}">
                <a16:creationId xmlns:a16="http://schemas.microsoft.com/office/drawing/2014/main" id="{5AD3CBEC-79E8-43E5-8EA0-39C5045B5DCB}"/>
              </a:ext>
            </a:extLst>
          </p:cNvPr>
          <p:cNvSpPr>
            <a:spLocks xmlns:a="http://schemas.openxmlformats.org/drawingml/2006/main" noGrp="1"/>
          </p:cNvSpPr>
          <p:nvPr/>
        </p:nvSpPr>
        <p:spPr>
          <a:xfrm xmlns:a="http://schemas.openxmlformats.org/drawingml/2006/main">
            <a:off x="819150" y="200025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.\.venv\Scripts\python.exe scripts\run_final_ai_defense_demo.py --refresh</a:t>
            </a:r>
          </a:p>
        </p:txBody>
      </p:sp>
      <p:sp>
        <p:nvSpPr>
          <p:cNvPr id="10" name="">
            <a:extLst xmlns:a="http://schemas.openxmlformats.org/drawingml/2006/main">
              <a:ext uri="{FF2B5EF4-FFF2-40B4-BE49-F238E27FC236}">
                <a16:creationId xmlns:a16="http://schemas.microsoft.com/office/drawing/2014/main" id="{4BD4360B-0E48-4F8D-8CD9-E39B7DB71307}"/>
              </a:ext>
            </a:extLst>
          </p:cNvPr>
          <p:cNvSpPr>
            <a:spLocks xmlns:a="http://schemas.openxmlformats.org/drawingml/2006/main" noGrp="1"/>
          </p:cNvSpPr>
          <p:nvPr/>
        </p:nvSpPr>
        <p:spPr>
          <a:xfrm xmlns:a="http://schemas.openxmlformats.org/drawingml/2006/main">
            <a:off x="819150" y="2628900"/>
            <a:ext cx="52197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"checks_passed": 10,</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"checks_total": 10,</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"ready": true,</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"matcher_authority_ready": false</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a:t>
            </a:r>
          </a:p>
        </p:txBody>
      </p:sp>
      <p:sp>
        <p:nvSpPr>
          <p:cNvPr id="11" name="rule">
            <a:extLst xmlns:a="http://schemas.openxmlformats.org/drawingml/2006/main">
              <a:ext uri="{FF2B5EF4-FFF2-40B4-BE49-F238E27FC236}">
                <a16:creationId xmlns:a16="http://schemas.microsoft.com/office/drawing/2014/main" id="{83603ADB-36D8-40EC-9F3E-D838EC3705FF}"/>
              </a:ext>
            </a:extLst>
          </p:cNvPr>
          <p:cNvSpPr>
            <a:spLocks xmlns:a="http://schemas.openxmlformats.org/drawingml/2006/main" noGrp="1"/>
          </p:cNvSpPr>
          <p:nvPr/>
        </p:nvSpPr>
        <p:spPr>
          <a:xfrm xmlns:a="http://schemas.openxmlformats.org/drawingml/2006/main">
            <a:off x="819150" y="4229100"/>
            <a:ext cx="52197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45A937-30CC-4F1B-A294-113E5F7A1C10}"/>
              </a:ext>
            </a:extLst>
          </p:cNvPr>
          <p:cNvSpPr>
            <a:spLocks xmlns:a="http://schemas.openxmlformats.org/drawingml/2006/main" noGrp="1"/>
          </p:cNvSpPr>
          <p:nvPr/>
        </p:nvSpPr>
        <p:spPr>
          <a:xfrm xmlns:a="http://schemas.openxmlformats.org/drawingml/2006/main">
            <a:off x="819150" y="43815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Model reruns</a:t>
            </a:r>
          </a:p>
        </p:txBody>
      </p:sp>
      <p:sp>
        <p:nvSpPr>
          <p:cNvPr id="13" name="">
            <a:extLst xmlns:a="http://schemas.openxmlformats.org/drawingml/2006/main">
              <a:ext uri="{FF2B5EF4-FFF2-40B4-BE49-F238E27FC236}">
                <a16:creationId xmlns:a16="http://schemas.microsoft.com/office/drawing/2014/main" id="{5DF152A9-43A8-4B1F-9F0A-152053B3BEB6}"/>
              </a:ext>
            </a:extLst>
          </p:cNvPr>
          <p:cNvSpPr>
            <a:spLocks xmlns:a="http://schemas.openxmlformats.org/drawingml/2006/main" noGrp="1"/>
          </p:cNvSpPr>
          <p:nvPr/>
        </p:nvSpPr>
        <p:spPr>
          <a:xfrm xmlns:a="http://schemas.openxmlformats.org/drawingml/2006/main">
            <a:off x="819150" y="468630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C4CEDA"/>
                </a:solidFill>
                <a:latin typeface="Cascadia Mono"/>
                <a:ea typeface="Cascadia Mono"/>
                <a:cs typeface="Cascadia Mono"/>
              </a:defRPr>
            </a:pPr>
            <a:r>
              <a:rPr sz="975" b="1">
                <a:solidFill>
                  <a:srgbClr val="C4CEDA"/>
                </a:solidFill>
                <a:latin typeface="Cascadia Mono"/>
                <a:ea typeface="Cascadia Mono"/>
                <a:cs typeface="Cascadia Mono"/>
              </a:rPr>
              <a:t>RandomForest  0.708   |   MVP-safe Transformer  0.882</a:t>
            </a:r>
          </a:p>
          <a:p xmlns:a="http://schemas.openxmlformats.org/drawingml/2006/main">
            <a:pPr algn="l">
              <a:defRPr sz="975" b="1">
                <a:solidFill>
                  <a:srgbClr val="C4CEDA"/>
                </a:solidFill>
                <a:latin typeface="Cascadia Mono"/>
                <a:ea typeface="Cascadia Mono"/>
                <a:cs typeface="Cascadia Mono"/>
              </a:defRPr>
            </a:pPr>
            <a:r>
              <a:rPr sz="975" b="1">
                <a:solidFill>
                  <a:srgbClr val="C4CEDA"/>
                </a:solidFill>
                <a:latin typeface="Cascadia Mono"/>
                <a:ea typeface="Cascadia Mono"/>
                <a:cs typeface="Cascadia Mono"/>
              </a:rPr>
              <a:t>Raw opcode Transformer  0.110 &lt; 0.128 baseline</a:t>
            </a:r>
          </a:p>
        </p:txBody>
      </p:sp>
      <p:sp>
        <p:nvSpPr>
          <p:cNvPr id="14" name="">
            <a:extLst xmlns:a="http://schemas.openxmlformats.org/drawingml/2006/main">
              <a:ext uri="{FF2B5EF4-FFF2-40B4-BE49-F238E27FC236}">
                <a16:creationId xmlns:a16="http://schemas.microsoft.com/office/drawing/2014/main" id="{194A0FDD-EED6-418D-9D83-56EC745CDD08}"/>
              </a:ext>
            </a:extLst>
          </p:cNvPr>
          <p:cNvSpPr>
            <a:spLocks xmlns:a="http://schemas.openxmlformats.org/drawingml/2006/main" noGrp="1"/>
          </p:cNvSpPr>
          <p:nvPr/>
        </p:nvSpPr>
        <p:spPr>
          <a:xfrm xmlns:a="http://schemas.openxmlformats.org/drawingml/2006/main">
            <a:off x="6629400" y="1428750"/>
            <a:ext cx="48768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cbd87f938394208"/>
          <a:stretch xmlns:a="http://schemas.openxmlformats.org/drawingml/2006/main"/>
        </p:blipFill>
        <p:spPr>
          <a:xfrm xmlns:a="http://schemas.openxmlformats.org/drawingml/2006/main">
            <a:off x="6914388" y="1504950"/>
            <a:ext cx="4306824" cy="29908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569DDEA-9B15-4588-8EAD-18CC6FD69909}"/>
              </a:ext>
            </a:extLst>
          </p:cNvPr>
          <p:cNvSpPr>
            <a:spLocks xmlns:a="http://schemas.openxmlformats.org/drawingml/2006/main" noGrp="1"/>
          </p:cNvSpPr>
          <p:nvPr/>
        </p:nvSpPr>
        <p:spPr>
          <a:xfrm xmlns:a="http://schemas.openxmlformats.org/drawingml/2006/main">
            <a:off x="6838950" y="4743450"/>
            <a:ext cx="445770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E524C978-9068-4866-8EE5-8901282ED3C4}"/>
              </a:ext>
            </a:extLst>
          </p:cNvPr>
          <p:cNvSpPr>
            <a:spLocks xmlns:a="http://schemas.openxmlformats.org/drawingml/2006/main" noGrp="1"/>
          </p:cNvSpPr>
          <p:nvPr/>
        </p:nvSpPr>
        <p:spPr>
          <a:xfrm xmlns:a="http://schemas.openxmlformats.org/drawingml/2006/main">
            <a:off x="6905625" y="4800600"/>
            <a:ext cx="4324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Aegis hard APK  |  7 emitted components</a:t>
            </a:r>
          </a:p>
        </p:txBody>
      </p:sp>
      <p:sp>
        <p:nvSpPr>
          <p:cNvPr id="18" name="">
            <a:extLst xmlns:a="http://schemas.openxmlformats.org/drawingml/2006/main">
              <a:ext uri="{FF2B5EF4-FFF2-40B4-BE49-F238E27FC236}">
                <a16:creationId xmlns:a16="http://schemas.microsoft.com/office/drawing/2014/main" id="{53B616B0-EEB2-4BA5-A24B-EDE9E42E9005}"/>
              </a:ext>
            </a:extLst>
          </p:cNvPr>
          <p:cNvSpPr>
            <a:spLocks xmlns:a="http://schemas.openxmlformats.org/drawingml/2006/main" noGrp="1"/>
          </p:cNvSpPr>
          <p:nvPr/>
        </p:nvSpPr>
        <p:spPr>
          <a:xfrm xmlns:a="http://schemas.openxmlformats.org/drawingml/2006/main">
            <a:off x="6629400" y="5181600"/>
            <a:ext cx="4876800" cy="7810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E02B43E6-B5D1-48FC-8CDC-4BB426C1336D}"/>
              </a:ext>
            </a:extLst>
          </p:cNvPr>
          <p:cNvSpPr>
            <a:spLocks xmlns:a="http://schemas.openxmlformats.org/drawingml/2006/main" noGrp="1"/>
          </p:cNvSpPr>
          <p:nvPr/>
        </p:nvSpPr>
        <p:spPr>
          <a:xfrm xmlns:a="http://schemas.openxmlformats.org/drawingml/2006/main">
            <a:off x="6819900" y="53530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GUARDRAIL</a:t>
            </a:r>
          </a:p>
        </p:txBody>
      </p:sp>
      <p:sp>
        <p:nvSpPr>
          <p:cNvPr id="20" name="">
            <a:extLst xmlns:a="http://schemas.openxmlformats.org/drawingml/2006/main">
              <a:ext uri="{FF2B5EF4-FFF2-40B4-BE49-F238E27FC236}">
                <a16:creationId xmlns:a16="http://schemas.microsoft.com/office/drawing/2014/main" id="{46DEF35D-D7C1-40DC-96DE-3346D8C11073}"/>
              </a:ext>
            </a:extLst>
          </p:cNvPr>
          <p:cNvSpPr>
            <a:spLocks xmlns:a="http://schemas.openxmlformats.org/drawingml/2006/main" noGrp="1"/>
          </p:cNvSpPr>
          <p:nvPr/>
        </p:nvSpPr>
        <p:spPr>
          <a:xfrm xmlns:a="http://schemas.openxmlformats.org/drawingml/2006/main">
            <a:off x="7905750" y="5276850"/>
            <a:ext cx="3371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AI changes report wording and triage only; selected versions, SBOM components, and CVE labels remain deterministic.</a:t>
            </a:r>
          </a:p>
        </p:txBody>
      </p:sp>
      <p:sp>
        <p:nvSpPr>
          <p:cNvPr id="21" name="">
            <a:extLst xmlns:a="http://schemas.openxmlformats.org/drawingml/2006/main">
              <a:ext uri="{FF2B5EF4-FFF2-40B4-BE49-F238E27FC236}">
                <a16:creationId xmlns:a16="http://schemas.microsoft.com/office/drawing/2014/main" id="{2EE4DC88-E427-4291-BC9C-B0FDE5CA2202}"/>
              </a:ext>
            </a:extLst>
          </p:cNvPr>
          <p:cNvSpPr>
            <a:spLocks xmlns:a="http://schemas.openxmlformats.org/drawingml/2006/main" noGrp="1"/>
          </p:cNvSpPr>
          <p:nvPr/>
        </p:nvSpPr>
        <p:spPr>
          <a:xfrm xmlns:a="http://schemas.openxmlformats.org/drawingml/2006/main">
            <a:off x="1143000" y="59817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8D754D"/>
                </a:solidFill>
                <a:latin typeface="Aptos"/>
                <a:ea typeface="Aptos"/>
                <a:cs typeface="Aptos"/>
              </a:defRPr>
            </a:pPr>
            <a:r>
              <a:rPr sz="1125" b="1">
                <a:solidFill>
                  <a:srgbClr val="8D754D"/>
                </a:solidFill>
                <a:latin typeface="Aptos"/>
                <a:ea typeface="Aptos"/>
                <a:cs typeface="Aptos"/>
              </a:rPr>
              <a:t>Present from saved reports; do not rebuild the 15.8 GB DB during the defense.</a:t>
            </a:r>
          </a:p>
        </p:txBody>
      </p:sp>
      <p:sp>
        <p:nvSpPr>
          <p:cNvPr id="22" name="">
            <a:extLst xmlns:a="http://schemas.openxmlformats.org/drawingml/2006/main">
              <a:ext uri="{FF2B5EF4-FFF2-40B4-BE49-F238E27FC236}">
                <a16:creationId xmlns:a16="http://schemas.microsoft.com/office/drawing/2014/main" id="{E6475829-61C9-46D6-90D9-A2950DFCB17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81978809"/>
      </p:ext>
    </p:extLst>
  </p:cSld>
</p:sld>
</file>

<file path=ppt/slides/slide3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1D4F7B-2217-4477-ACF8-69FE1508C00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LIMITATIONS AND FUTURE WORK</a:t>
            </a:r>
          </a:p>
        </p:txBody>
      </p:sp>
      <p:sp>
        <p:nvSpPr>
          <p:cNvPr id="2" name="">
            <a:extLst xmlns:a="http://schemas.openxmlformats.org/drawingml/2006/main">
              <a:ext uri="{FF2B5EF4-FFF2-40B4-BE49-F238E27FC236}">
                <a16:creationId xmlns:a16="http://schemas.microsoft.com/office/drawing/2014/main" id="{A78984BB-D2FE-4015-8847-F42932264A2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next research steps follow directly from the remaining evidence gaps</a:t>
            </a:r>
          </a:p>
        </p:txBody>
      </p:sp>
      <p:sp>
        <p:nvSpPr>
          <p:cNvPr id="3" name="">
            <a:extLst xmlns:a="http://schemas.openxmlformats.org/drawingml/2006/main">
              <a:ext uri="{FF2B5EF4-FFF2-40B4-BE49-F238E27FC236}">
                <a16:creationId xmlns:a16="http://schemas.microsoft.com/office/drawing/2014/main" id="{31B8BFA2-007D-4D04-ADAA-00C5B52B037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797B1AFE-3698-4978-9723-0516EBBBA091}"/>
              </a:ext>
            </a:extLst>
          </p:cNvPr>
          <p:cNvSpPr>
            <a:spLocks xmlns:a="http://schemas.openxmlformats.org/drawingml/2006/main" noGrp="1"/>
          </p:cNvSpPr>
          <p:nvPr/>
        </p:nvSpPr>
        <p:spPr>
          <a:xfrm xmlns:a="http://schemas.openxmlformats.org/drawingml/2006/main">
            <a:off x="6858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6909D60C-A98E-4008-A38C-6F807DF971A6}"/>
              </a:ext>
            </a:extLst>
          </p:cNvPr>
          <p:cNvSpPr>
            <a:spLocks xmlns:a="http://schemas.openxmlformats.org/drawingml/2006/main" noGrp="1"/>
          </p:cNvSpPr>
          <p:nvPr/>
        </p:nvSpPr>
        <p:spPr>
          <a:xfrm xmlns:a="http://schemas.openxmlformats.org/drawingml/2006/main">
            <a:off x="685800" y="1562100"/>
            <a:ext cx="3105150" cy="6667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AED428B-450D-4525-B048-F685229DC39E}"/>
              </a:ext>
            </a:extLst>
          </p:cNvPr>
          <p:cNvSpPr>
            <a:spLocks xmlns:a="http://schemas.openxmlformats.org/drawingml/2006/main" noGrp="1"/>
          </p:cNvSpPr>
          <p:nvPr/>
        </p:nvSpPr>
        <p:spPr>
          <a:xfrm xmlns:a="http://schemas.openxmlformats.org/drawingml/2006/main">
            <a:off x="8572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CURRENT LIMIT</a:t>
            </a:r>
          </a:p>
        </p:txBody>
      </p:sp>
      <p:sp>
        <p:nvSpPr>
          <p:cNvPr id="7" name="">
            <a:extLst xmlns:a="http://schemas.openxmlformats.org/drawingml/2006/main">
              <a:ext uri="{FF2B5EF4-FFF2-40B4-BE49-F238E27FC236}">
                <a16:creationId xmlns:a16="http://schemas.microsoft.com/office/drawing/2014/main" id="{7950E283-AEE8-424D-B649-A534A6B5B7F6}"/>
              </a:ext>
            </a:extLst>
          </p:cNvPr>
          <p:cNvSpPr>
            <a:spLocks xmlns:a="http://schemas.openxmlformats.org/drawingml/2006/main" noGrp="1"/>
          </p:cNvSpPr>
          <p:nvPr/>
        </p:nvSpPr>
        <p:spPr>
          <a:xfrm xmlns:a="http://schemas.openxmlformats.org/drawingml/2006/main">
            <a:off x="933450" y="26098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51B555-48D3-4265-A17D-4F730711AF43}"/>
              </a:ext>
            </a:extLst>
          </p:cNvPr>
          <p:cNvSpPr>
            <a:spLocks xmlns:a="http://schemas.openxmlformats.org/drawingml/2006/main" noGrp="1"/>
          </p:cNvSpPr>
          <p:nvPr/>
        </p:nvSpPr>
        <p:spPr>
          <a:xfrm xmlns:a="http://schemas.openxmlformats.org/drawingml/2006/main">
            <a:off x="11811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adjacent AndroidX/Kotlin versions</a:t>
            </a:r>
          </a:p>
        </p:txBody>
      </p:sp>
      <p:sp>
        <p:nvSpPr>
          <p:cNvPr id="9" name="">
            <a:extLst xmlns:a="http://schemas.openxmlformats.org/drawingml/2006/main">
              <a:ext uri="{FF2B5EF4-FFF2-40B4-BE49-F238E27FC236}">
                <a16:creationId xmlns:a16="http://schemas.microsoft.com/office/drawing/2014/main" id="{9D268B5B-B2C6-47CA-BCA5-6239B0CB8912}"/>
              </a:ext>
            </a:extLst>
          </p:cNvPr>
          <p:cNvSpPr>
            <a:spLocks xmlns:a="http://schemas.openxmlformats.org/drawingml/2006/main" noGrp="1"/>
          </p:cNvSpPr>
          <p:nvPr/>
        </p:nvSpPr>
        <p:spPr>
          <a:xfrm xmlns:a="http://schemas.openxmlformats.org/drawingml/2006/main">
            <a:off x="933450" y="32194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632606-E816-4667-B61D-879109EBBF68}"/>
              </a:ext>
            </a:extLst>
          </p:cNvPr>
          <p:cNvSpPr>
            <a:spLocks xmlns:a="http://schemas.openxmlformats.org/drawingml/2006/main" noGrp="1"/>
          </p:cNvSpPr>
          <p:nvPr/>
        </p:nvSpPr>
        <p:spPr>
          <a:xfrm xmlns:a="http://schemas.openxmlformats.org/drawingml/2006/main">
            <a:off x="11811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reference coverage gaps</a:t>
            </a:r>
          </a:p>
        </p:txBody>
      </p:sp>
      <p:sp>
        <p:nvSpPr>
          <p:cNvPr id="11" name="">
            <a:extLst xmlns:a="http://schemas.openxmlformats.org/drawingml/2006/main">
              <a:ext uri="{FF2B5EF4-FFF2-40B4-BE49-F238E27FC236}">
                <a16:creationId xmlns:a16="http://schemas.microsoft.com/office/drawing/2014/main" id="{73533DC2-4BE8-4DE3-80E1-3AA413E84C6E}"/>
              </a:ext>
            </a:extLst>
          </p:cNvPr>
          <p:cNvSpPr>
            <a:spLocks xmlns:a="http://schemas.openxmlformats.org/drawingml/2006/main" noGrp="1"/>
          </p:cNvSpPr>
          <p:nvPr/>
        </p:nvSpPr>
        <p:spPr>
          <a:xfrm xmlns:a="http://schemas.openxmlformats.org/drawingml/2006/main">
            <a:off x="933450" y="38290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347099-01A1-40A7-923A-9376716D960C}"/>
              </a:ext>
            </a:extLst>
          </p:cNvPr>
          <p:cNvSpPr>
            <a:spLocks xmlns:a="http://schemas.openxmlformats.org/drawingml/2006/main" noGrp="1"/>
          </p:cNvSpPr>
          <p:nvPr/>
        </p:nvSpPr>
        <p:spPr>
          <a:xfrm xmlns:a="http://schemas.openxmlformats.org/drawingml/2006/main">
            <a:off x="11811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R8 inlining and removed evidence</a:t>
            </a:r>
          </a:p>
        </p:txBody>
      </p:sp>
      <p:sp>
        <p:nvSpPr>
          <p:cNvPr id="13" name="">
            <a:extLst xmlns:a="http://schemas.openxmlformats.org/drawingml/2006/main">
              <a:ext uri="{FF2B5EF4-FFF2-40B4-BE49-F238E27FC236}">
                <a16:creationId xmlns:a16="http://schemas.microsoft.com/office/drawing/2014/main" id="{E753DECA-5713-4F71-8D27-4785862BC67D}"/>
              </a:ext>
            </a:extLst>
          </p:cNvPr>
          <p:cNvSpPr>
            <a:spLocks xmlns:a="http://schemas.openxmlformats.org/drawingml/2006/main" noGrp="1"/>
          </p:cNvSpPr>
          <p:nvPr/>
        </p:nvSpPr>
        <p:spPr>
          <a:xfrm xmlns:a="http://schemas.openxmlformats.org/drawingml/2006/main">
            <a:off x="933450" y="44386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FBA0C8-4D63-4EC3-AF5A-79C3219B9087}"/>
              </a:ext>
            </a:extLst>
          </p:cNvPr>
          <p:cNvSpPr>
            <a:spLocks xmlns:a="http://schemas.openxmlformats.org/drawingml/2006/main" noGrp="1"/>
          </p:cNvSpPr>
          <p:nvPr/>
        </p:nvSpPr>
        <p:spPr>
          <a:xfrm xmlns:a="http://schemas.openxmlformats.org/drawingml/2006/main">
            <a:off x="11811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native and hidden-code boundaries</a:t>
            </a:r>
          </a:p>
        </p:txBody>
      </p:sp>
      <p:sp>
        <p:nvSpPr>
          <p:cNvPr id="15" name="">
            <a:extLst xmlns:a="http://schemas.openxmlformats.org/drawingml/2006/main">
              <a:ext uri="{FF2B5EF4-FFF2-40B4-BE49-F238E27FC236}">
                <a16:creationId xmlns:a16="http://schemas.microsoft.com/office/drawing/2014/main" id="{DF7B82EB-7F39-4987-9FF2-2AEC0F1C9035}"/>
              </a:ext>
            </a:extLst>
          </p:cNvPr>
          <p:cNvSpPr>
            <a:spLocks xmlns:a="http://schemas.openxmlformats.org/drawingml/2006/main" noGrp="1"/>
          </p:cNvSpPr>
          <p:nvPr/>
        </p:nvSpPr>
        <p:spPr>
          <a:xfrm xmlns:a="http://schemas.openxmlformats.org/drawingml/2006/main">
            <a:off x="409575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6" name="">
            <a:extLst xmlns:a="http://schemas.openxmlformats.org/drawingml/2006/main">
              <a:ext uri="{FF2B5EF4-FFF2-40B4-BE49-F238E27FC236}">
                <a16:creationId xmlns:a16="http://schemas.microsoft.com/office/drawing/2014/main" id="{D5630D9B-F976-4C33-9D29-961681659013}"/>
              </a:ext>
            </a:extLst>
          </p:cNvPr>
          <p:cNvSpPr>
            <a:spLocks xmlns:a="http://schemas.openxmlformats.org/drawingml/2006/main" noGrp="1"/>
          </p:cNvSpPr>
          <p:nvPr/>
        </p:nvSpPr>
        <p:spPr>
          <a:xfrm xmlns:a="http://schemas.openxmlformats.org/drawingml/2006/main">
            <a:off x="4095750" y="1562100"/>
            <a:ext cx="3105150" cy="6667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B740C4-429D-4B21-B5B4-EA2BA73A3BB4}"/>
              </a:ext>
            </a:extLst>
          </p:cNvPr>
          <p:cNvSpPr>
            <a:spLocks xmlns:a="http://schemas.openxmlformats.org/drawingml/2006/main" noGrp="1"/>
          </p:cNvSpPr>
          <p:nvPr/>
        </p:nvSpPr>
        <p:spPr>
          <a:xfrm xmlns:a="http://schemas.openxmlformats.org/drawingml/2006/main">
            <a:off x="426720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ENGINEERING</a:t>
            </a:r>
          </a:p>
        </p:txBody>
      </p:sp>
      <p:sp>
        <p:nvSpPr>
          <p:cNvPr id="18" name="">
            <a:extLst xmlns:a="http://schemas.openxmlformats.org/drawingml/2006/main">
              <a:ext uri="{FF2B5EF4-FFF2-40B4-BE49-F238E27FC236}">
                <a16:creationId xmlns:a16="http://schemas.microsoft.com/office/drawing/2014/main" id="{AF87018C-4889-4DA3-86B1-1A24772828C6}"/>
              </a:ext>
            </a:extLst>
          </p:cNvPr>
          <p:cNvSpPr>
            <a:spLocks xmlns:a="http://schemas.openxmlformats.org/drawingml/2006/main" noGrp="1"/>
          </p:cNvSpPr>
          <p:nvPr/>
        </p:nvSpPr>
        <p:spPr>
          <a:xfrm xmlns:a="http://schemas.openxmlformats.org/drawingml/2006/main">
            <a:off x="4343400" y="26098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1A1D96D-0257-44F0-84CA-35CA28F35463}"/>
              </a:ext>
            </a:extLst>
          </p:cNvPr>
          <p:cNvSpPr>
            <a:spLocks xmlns:a="http://schemas.openxmlformats.org/drawingml/2006/main" noGrp="1"/>
          </p:cNvSpPr>
          <p:nvPr/>
        </p:nvSpPr>
        <p:spPr>
          <a:xfrm xmlns:a="http://schemas.openxmlformats.org/drawingml/2006/main">
            <a:off x="459105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stronger candidate recall and pruning</a:t>
            </a:r>
          </a:p>
        </p:txBody>
      </p:sp>
      <p:sp>
        <p:nvSpPr>
          <p:cNvPr id="20" name="">
            <a:extLst xmlns:a="http://schemas.openxmlformats.org/drawingml/2006/main">
              <a:ext uri="{FF2B5EF4-FFF2-40B4-BE49-F238E27FC236}">
                <a16:creationId xmlns:a16="http://schemas.microsoft.com/office/drawing/2014/main" id="{7B09C6BA-D2C5-49AC-AECB-1AA81810D105}"/>
              </a:ext>
            </a:extLst>
          </p:cNvPr>
          <p:cNvSpPr>
            <a:spLocks xmlns:a="http://schemas.openxmlformats.org/drawingml/2006/main" noGrp="1"/>
          </p:cNvSpPr>
          <p:nvPr/>
        </p:nvSpPr>
        <p:spPr>
          <a:xfrm xmlns:a="http://schemas.openxmlformats.org/drawingml/2006/main">
            <a:off x="4343400" y="3219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8A6F408-5BB5-48A6-BCF8-CA8C72765029}"/>
              </a:ext>
            </a:extLst>
          </p:cNvPr>
          <p:cNvSpPr>
            <a:spLocks xmlns:a="http://schemas.openxmlformats.org/drawingml/2006/main" noGrp="1"/>
          </p:cNvSpPr>
          <p:nvPr/>
        </p:nvSpPr>
        <p:spPr>
          <a:xfrm xmlns:a="http://schemas.openxmlformats.org/drawingml/2006/main">
            <a:off x="459105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version-unique literal/context evidence</a:t>
            </a:r>
          </a:p>
        </p:txBody>
      </p:sp>
      <p:sp>
        <p:nvSpPr>
          <p:cNvPr id="22" name="">
            <a:extLst xmlns:a="http://schemas.openxmlformats.org/drawingml/2006/main">
              <a:ext uri="{FF2B5EF4-FFF2-40B4-BE49-F238E27FC236}">
                <a16:creationId xmlns:a16="http://schemas.microsoft.com/office/drawing/2014/main" id="{94FF263A-1FCB-4E28-BF0E-DE9AE79F65D2}"/>
              </a:ext>
            </a:extLst>
          </p:cNvPr>
          <p:cNvSpPr>
            <a:spLocks xmlns:a="http://schemas.openxmlformats.org/drawingml/2006/main" noGrp="1"/>
          </p:cNvSpPr>
          <p:nvPr/>
        </p:nvSpPr>
        <p:spPr>
          <a:xfrm xmlns:a="http://schemas.openxmlformats.org/drawingml/2006/main">
            <a:off x="4343400" y="38290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D067469-C3AC-4BF8-834B-9CF8B63B4D3A}"/>
              </a:ext>
            </a:extLst>
          </p:cNvPr>
          <p:cNvSpPr>
            <a:spLocks xmlns:a="http://schemas.openxmlformats.org/drawingml/2006/main" noGrp="1"/>
          </p:cNvSpPr>
          <p:nvPr/>
        </p:nvSpPr>
        <p:spPr>
          <a:xfrm xmlns:a="http://schemas.openxmlformats.org/drawingml/2006/main">
            <a:off x="459105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broader guarded reference growth</a:t>
            </a:r>
          </a:p>
        </p:txBody>
      </p:sp>
      <p:sp>
        <p:nvSpPr>
          <p:cNvPr id="24" name="">
            <a:extLst xmlns:a="http://schemas.openxmlformats.org/drawingml/2006/main">
              <a:ext uri="{FF2B5EF4-FFF2-40B4-BE49-F238E27FC236}">
                <a16:creationId xmlns:a16="http://schemas.microsoft.com/office/drawing/2014/main" id="{1CC837E2-1822-44E9-9410-183F45494017}"/>
              </a:ext>
            </a:extLst>
          </p:cNvPr>
          <p:cNvSpPr>
            <a:spLocks xmlns:a="http://schemas.openxmlformats.org/drawingml/2006/main" noGrp="1"/>
          </p:cNvSpPr>
          <p:nvPr/>
        </p:nvSpPr>
        <p:spPr>
          <a:xfrm xmlns:a="http://schemas.openxmlformats.org/drawingml/2006/main">
            <a:off x="43434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338C4E6-5F61-4CD3-B775-68F12F86BD68}"/>
              </a:ext>
            </a:extLst>
          </p:cNvPr>
          <p:cNvSpPr>
            <a:spLocks xmlns:a="http://schemas.openxmlformats.org/drawingml/2006/main" noGrp="1"/>
          </p:cNvSpPr>
          <p:nvPr/>
        </p:nvSpPr>
        <p:spPr>
          <a:xfrm xmlns:a="http://schemas.openxmlformats.org/drawingml/2006/main">
            <a:off x="459105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faster batch and DB workflows</a:t>
            </a:r>
          </a:p>
        </p:txBody>
      </p:sp>
      <p:sp>
        <p:nvSpPr>
          <p:cNvPr id="26" name="">
            <a:extLst xmlns:a="http://schemas.openxmlformats.org/drawingml/2006/main">
              <a:ext uri="{FF2B5EF4-FFF2-40B4-BE49-F238E27FC236}">
                <a16:creationId xmlns:a16="http://schemas.microsoft.com/office/drawing/2014/main" id="{7A8B9942-B3A7-4230-A724-14A183216D50}"/>
              </a:ext>
            </a:extLst>
          </p:cNvPr>
          <p:cNvSpPr>
            <a:spLocks xmlns:a="http://schemas.openxmlformats.org/drawingml/2006/main" noGrp="1"/>
          </p:cNvSpPr>
          <p:nvPr/>
        </p:nvSpPr>
        <p:spPr>
          <a:xfrm xmlns:a="http://schemas.openxmlformats.org/drawingml/2006/main">
            <a:off x="75057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7" name="">
            <a:extLst xmlns:a="http://schemas.openxmlformats.org/drawingml/2006/main">
              <a:ext uri="{FF2B5EF4-FFF2-40B4-BE49-F238E27FC236}">
                <a16:creationId xmlns:a16="http://schemas.microsoft.com/office/drawing/2014/main" id="{0AAF6D90-94A2-4C8D-BEA8-8D2FA510E6AC}"/>
              </a:ext>
            </a:extLst>
          </p:cNvPr>
          <p:cNvSpPr>
            <a:spLocks xmlns:a="http://schemas.openxmlformats.org/drawingml/2006/main" noGrp="1"/>
          </p:cNvSpPr>
          <p:nvPr/>
        </p:nvSpPr>
        <p:spPr>
          <a:xfrm xmlns:a="http://schemas.openxmlformats.org/drawingml/2006/main">
            <a:off x="7505700" y="1562100"/>
            <a:ext cx="3105150" cy="6667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13EAAF2-3B76-4527-820E-5F3F7E945F12}"/>
              </a:ext>
            </a:extLst>
          </p:cNvPr>
          <p:cNvSpPr>
            <a:spLocks xmlns:a="http://schemas.openxmlformats.org/drawingml/2006/main" noGrp="1"/>
          </p:cNvSpPr>
          <p:nvPr/>
        </p:nvSpPr>
        <p:spPr>
          <a:xfrm xmlns:a="http://schemas.openxmlformats.org/drawingml/2006/main">
            <a:off x="76771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RESEARCH</a:t>
            </a:r>
          </a:p>
        </p:txBody>
      </p:sp>
      <p:sp>
        <p:nvSpPr>
          <p:cNvPr id="29" name="">
            <a:extLst xmlns:a="http://schemas.openxmlformats.org/drawingml/2006/main">
              <a:ext uri="{FF2B5EF4-FFF2-40B4-BE49-F238E27FC236}">
                <a16:creationId xmlns:a16="http://schemas.microsoft.com/office/drawing/2014/main" id="{2C6A8B20-3046-4506-92D9-DBA7D2269B57}"/>
              </a:ext>
            </a:extLst>
          </p:cNvPr>
          <p:cNvSpPr>
            <a:spLocks xmlns:a="http://schemas.openxmlformats.org/drawingml/2006/main" noGrp="1"/>
          </p:cNvSpPr>
          <p:nvPr/>
        </p:nvSpPr>
        <p:spPr>
          <a:xfrm xmlns:a="http://schemas.openxmlformats.org/drawingml/2006/main">
            <a:off x="7753350" y="26098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8C22A0C-C0FC-4388-A76A-CDBC2F37456D}"/>
              </a:ext>
            </a:extLst>
          </p:cNvPr>
          <p:cNvSpPr>
            <a:spLocks xmlns:a="http://schemas.openxmlformats.org/drawingml/2006/main" noGrp="1"/>
          </p:cNvSpPr>
          <p:nvPr/>
        </p:nvSpPr>
        <p:spPr>
          <a:xfrm xmlns:a="http://schemas.openxmlformats.org/drawingml/2006/main">
            <a:off x="80010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larger independent R8 corpora</a:t>
            </a:r>
          </a:p>
        </p:txBody>
      </p:sp>
      <p:sp>
        <p:nvSpPr>
          <p:cNvPr id="31" name="">
            <a:extLst xmlns:a="http://schemas.openxmlformats.org/drawingml/2006/main">
              <a:ext uri="{FF2B5EF4-FFF2-40B4-BE49-F238E27FC236}">
                <a16:creationId xmlns:a16="http://schemas.microsoft.com/office/drawing/2014/main" id="{D9CC40F1-0892-49DC-89C2-942F88E100FC}"/>
              </a:ext>
            </a:extLst>
          </p:cNvPr>
          <p:cNvSpPr>
            <a:spLocks xmlns:a="http://schemas.openxmlformats.org/drawingml/2006/main" noGrp="1"/>
          </p:cNvSpPr>
          <p:nvPr/>
        </p:nvSpPr>
        <p:spPr>
          <a:xfrm xmlns:a="http://schemas.openxmlformats.org/drawingml/2006/main">
            <a:off x="7753350" y="32194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5ABB66-CBEC-4061-B859-0765E083F076}"/>
              </a:ext>
            </a:extLst>
          </p:cNvPr>
          <p:cNvSpPr>
            <a:spLocks xmlns:a="http://schemas.openxmlformats.org/drawingml/2006/main" noGrp="1"/>
          </p:cNvSpPr>
          <p:nvPr/>
        </p:nvSpPr>
        <p:spPr>
          <a:xfrm xmlns:a="http://schemas.openxmlformats.org/drawingml/2006/main">
            <a:off x="80010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class/package-aware opcode aggregation</a:t>
            </a:r>
          </a:p>
        </p:txBody>
      </p:sp>
      <p:sp>
        <p:nvSpPr>
          <p:cNvPr id="33" name="">
            <a:extLst xmlns:a="http://schemas.openxmlformats.org/drawingml/2006/main">
              <a:ext uri="{FF2B5EF4-FFF2-40B4-BE49-F238E27FC236}">
                <a16:creationId xmlns:a16="http://schemas.microsoft.com/office/drawing/2014/main" id="{1E4831FA-9BB3-4ECE-A49E-30328BA82B6F}"/>
              </a:ext>
            </a:extLst>
          </p:cNvPr>
          <p:cNvSpPr>
            <a:spLocks xmlns:a="http://schemas.openxmlformats.org/drawingml/2006/main" noGrp="1"/>
          </p:cNvSpPr>
          <p:nvPr/>
        </p:nvSpPr>
        <p:spPr>
          <a:xfrm xmlns:a="http://schemas.openxmlformats.org/drawingml/2006/main">
            <a:off x="7753350" y="38290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8B45785-E6BA-45A5-B491-FDD480FC5610}"/>
              </a:ext>
            </a:extLst>
          </p:cNvPr>
          <p:cNvSpPr>
            <a:spLocks xmlns:a="http://schemas.openxmlformats.org/drawingml/2006/main" noGrp="1"/>
          </p:cNvSpPr>
          <p:nvPr/>
        </p:nvSpPr>
        <p:spPr>
          <a:xfrm xmlns:a="http://schemas.openxmlformats.org/drawingml/2006/main">
            <a:off x="80010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scoped hybrid structural rerankers</a:t>
            </a:r>
          </a:p>
        </p:txBody>
      </p:sp>
      <p:sp>
        <p:nvSpPr>
          <p:cNvPr id="35" name="">
            <a:extLst xmlns:a="http://schemas.openxmlformats.org/drawingml/2006/main">
              <a:ext uri="{FF2B5EF4-FFF2-40B4-BE49-F238E27FC236}">
                <a16:creationId xmlns:a16="http://schemas.microsoft.com/office/drawing/2014/main" id="{544BC72B-94E4-409E-AF3D-34F57F75A010}"/>
              </a:ext>
            </a:extLst>
          </p:cNvPr>
          <p:cNvSpPr>
            <a:spLocks xmlns:a="http://schemas.openxmlformats.org/drawingml/2006/main" noGrp="1"/>
          </p:cNvSpPr>
          <p:nvPr/>
        </p:nvSpPr>
        <p:spPr>
          <a:xfrm xmlns:a="http://schemas.openxmlformats.org/drawingml/2006/main">
            <a:off x="7753350" y="4438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C807C27-4EF6-47BE-AD65-BFC39B4AAF84}"/>
              </a:ext>
            </a:extLst>
          </p:cNvPr>
          <p:cNvSpPr>
            <a:spLocks xmlns:a="http://schemas.openxmlformats.org/drawingml/2006/main" noGrp="1"/>
          </p:cNvSpPr>
          <p:nvPr/>
        </p:nvSpPr>
        <p:spPr>
          <a:xfrm xmlns:a="http://schemas.openxmlformats.org/drawingml/2006/main">
            <a:off x="80010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strict APK-only promotion controls</a:t>
            </a:r>
          </a:p>
        </p:txBody>
      </p:sp>
      <p:sp>
        <p:nvSpPr>
          <p:cNvPr id="37" name="">
            <a:extLst xmlns:a="http://schemas.openxmlformats.org/drawingml/2006/main">
              <a:ext uri="{FF2B5EF4-FFF2-40B4-BE49-F238E27FC236}">
                <a16:creationId xmlns:a16="http://schemas.microsoft.com/office/drawing/2014/main" id="{6028BAF2-852A-4B71-ABB5-56A609AF3465}"/>
              </a:ext>
            </a:extLst>
          </p:cNvPr>
          <p:cNvSpPr>
            <a:spLocks xmlns:a="http://schemas.openxmlformats.org/drawingml/2006/main" noGrp="1"/>
          </p:cNvSpPr>
          <p:nvPr/>
        </p:nvSpPr>
        <p:spPr>
          <a:xfrm xmlns:a="http://schemas.openxmlformats.org/drawingml/2006/main">
            <a:off x="685800" y="5562600"/>
            <a:ext cx="10820400" cy="6096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7BC62ADA-1C4D-4CD4-B978-56662089BE63}"/>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PROMOTION BAR</a:t>
            </a:r>
          </a:p>
        </p:txBody>
      </p:sp>
      <p:sp>
        <p:nvSpPr>
          <p:cNvPr id="39" name="">
            <a:extLst xmlns:a="http://schemas.openxmlformats.org/drawingml/2006/main">
              <a:ext uri="{FF2B5EF4-FFF2-40B4-BE49-F238E27FC236}">
                <a16:creationId xmlns:a16="http://schemas.microsoft.com/office/drawing/2014/main" id="{1309D27A-E42C-4B0D-BBED-2BAC007C13BE}"/>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A future method becomes authoritative only after nonzero APK-only candidates survive representative exact and boundary controls.</a:t>
            </a:r>
          </a:p>
        </p:txBody>
      </p:sp>
      <p:sp>
        <p:nvSpPr>
          <p:cNvPr id="40" name="">
            <a:extLst xmlns:a="http://schemas.openxmlformats.org/drawingml/2006/main">
              <a:ext uri="{FF2B5EF4-FFF2-40B4-BE49-F238E27FC236}">
                <a16:creationId xmlns:a16="http://schemas.microsoft.com/office/drawing/2014/main" id="{B2E90B6F-A766-47EF-A66C-D9F1C2C3F56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44745489"/>
      </p:ext>
    </p:extLst>
  </p:cSld>
</p:sld>
</file>

<file path=ppt/slides/slide3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DA2754-C88E-4AB5-846D-D775606E25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05A26A-0842-4CF2-8A58-C2880A1AA7F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7E8BF6-09CD-486B-A364-A0B357BDC8A2}"/>
              </a:ext>
            </a:extLst>
          </p:cNvPr>
          <p:cNvSpPr>
            <a:spLocks xmlns:a="http://schemas.openxmlformats.org/drawingml/2006/main" noGrp="1"/>
          </p:cNvSpPr>
          <p:nvPr/>
        </p:nvSpPr>
        <p:spPr>
          <a:xfrm xmlns:a="http://schemas.openxmlformats.org/drawingml/2006/main">
            <a:off x="685800" y="476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4EBD8C65-26CA-404C-A121-5C940EFFA4CE}"/>
              </a:ext>
            </a:extLst>
          </p:cNvPr>
          <p:cNvSpPr>
            <a:spLocks xmlns:a="http://schemas.openxmlformats.org/drawingml/2006/main" noGrp="1"/>
          </p:cNvSpPr>
          <p:nvPr/>
        </p:nvSpPr>
        <p:spPr>
          <a:xfrm xmlns:a="http://schemas.openxmlformats.org/drawingml/2006/main">
            <a:off x="685800" y="9715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 credible reverse-SBOM tool</a:t>
            </a:r>
          </a:p>
        </p:txBody>
      </p:sp>
      <p:sp>
        <p:nvSpPr>
          <p:cNvPr id="5" name="">
            <a:extLst xmlns:a="http://schemas.openxmlformats.org/drawingml/2006/main">
              <a:ext uri="{FF2B5EF4-FFF2-40B4-BE49-F238E27FC236}">
                <a16:creationId xmlns:a16="http://schemas.microsoft.com/office/drawing/2014/main" id="{EFF35240-B8E6-4EE5-AF5C-173ADDBB864A}"/>
              </a:ext>
            </a:extLst>
          </p:cNvPr>
          <p:cNvSpPr>
            <a:spLocks xmlns:a="http://schemas.openxmlformats.org/drawingml/2006/main" noGrp="1"/>
          </p:cNvSpPr>
          <p:nvPr/>
        </p:nvSpPr>
        <p:spPr>
          <a:xfrm xmlns:a="http://schemas.openxmlformats.org/drawingml/2006/main">
            <a:off x="685800" y="1504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B9C4D3"/>
                </a:solidFill>
                <a:latin typeface="Aptos"/>
                <a:ea typeface="Aptos"/>
                <a:cs typeface="Aptos"/>
              </a:defRPr>
            </a:pPr>
            <a:r>
              <a:rPr sz="1875" b="1">
                <a:solidFill>
                  <a:srgbClr val="B9C4D3"/>
                </a:solidFill>
                <a:latin typeface="Aptos"/>
                <a:ea typeface="Aptos"/>
                <a:cs typeface="Aptos"/>
              </a:rPr>
              <a:t>must be useful, measurable, and honest about uncertainty.</a:t>
            </a:r>
          </a:p>
        </p:txBody>
      </p:sp>
      <p:sp>
        <p:nvSpPr>
          <p:cNvPr id="6" name="">
            <a:extLst xmlns:a="http://schemas.openxmlformats.org/drawingml/2006/main">
              <a:ext uri="{FF2B5EF4-FFF2-40B4-BE49-F238E27FC236}">
                <a16:creationId xmlns:a16="http://schemas.microsoft.com/office/drawing/2014/main" id="{1DBAA1F4-8C7A-4F9C-B6B1-C1EFA166ADD5}"/>
              </a:ext>
            </a:extLst>
          </p:cNvPr>
          <p:cNvSpPr>
            <a:spLocks xmlns:a="http://schemas.openxmlformats.org/drawingml/2006/main" noGrp="1"/>
          </p:cNvSpPr>
          <p:nvPr/>
        </p:nvSpPr>
        <p:spPr>
          <a:xfrm xmlns:a="http://schemas.openxmlformats.org/drawingml/2006/main">
            <a:off x="6858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AF60EC98-C3DE-43C9-AC2B-0E10E13C9785}"/>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79D60E-9AAD-4885-B64B-3C615725BE16}"/>
              </a:ext>
            </a:extLst>
          </p:cNvPr>
          <p:cNvSpPr>
            <a:spLocks xmlns:a="http://schemas.openxmlformats.org/drawingml/2006/main" noGrp="1"/>
          </p:cNvSpPr>
          <p:nvPr/>
        </p:nvSpPr>
        <p:spPr>
          <a:xfrm xmlns:a="http://schemas.openxmlformats.org/drawingml/2006/main">
            <a:off x="9144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E93A9F9A-BAD8-48AE-BC7A-2F6DF3377142}"/>
              </a:ext>
            </a:extLst>
          </p:cNvPr>
          <p:cNvSpPr>
            <a:spLocks xmlns:a="http://schemas.openxmlformats.org/drawingml/2006/main" noGrp="1"/>
          </p:cNvSpPr>
          <p:nvPr/>
        </p:nvSpPr>
        <p:spPr>
          <a:xfrm xmlns:a="http://schemas.openxmlformats.org/drawingml/2006/main">
            <a:off x="14668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End-to-end MVP</a:t>
            </a:r>
          </a:p>
        </p:txBody>
      </p:sp>
      <p:sp>
        <p:nvSpPr>
          <p:cNvPr id="10" name="">
            <a:extLst xmlns:a="http://schemas.openxmlformats.org/drawingml/2006/main">
              <a:ext uri="{FF2B5EF4-FFF2-40B4-BE49-F238E27FC236}">
                <a16:creationId xmlns:a16="http://schemas.microsoft.com/office/drawing/2014/main" id="{F2891E4B-9CBA-4B22-B911-961C371B2ACE}"/>
              </a:ext>
            </a:extLst>
          </p:cNvPr>
          <p:cNvSpPr>
            <a:spLocks xmlns:a="http://schemas.openxmlformats.org/drawingml/2006/main" noGrp="1"/>
          </p:cNvSpPr>
          <p:nvPr/>
        </p:nvSpPr>
        <p:spPr>
          <a:xfrm xmlns:a="http://schemas.openxmlformats.org/drawingml/2006/main">
            <a:off x="9144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APK -&gt; evidence -&gt; CycloneDX -&gt; CVE</a:t>
            </a:r>
          </a:p>
        </p:txBody>
      </p:sp>
      <p:sp>
        <p:nvSpPr>
          <p:cNvPr id="11" name="">
            <a:extLst xmlns:a="http://schemas.openxmlformats.org/drawingml/2006/main">
              <a:ext uri="{FF2B5EF4-FFF2-40B4-BE49-F238E27FC236}">
                <a16:creationId xmlns:a16="http://schemas.microsoft.com/office/drawing/2014/main" id="{C78E92D2-82E2-4952-861D-8D7221428238}"/>
              </a:ext>
            </a:extLst>
          </p:cNvPr>
          <p:cNvSpPr>
            <a:spLocks xmlns:a="http://schemas.openxmlformats.org/drawingml/2006/main" noGrp="1"/>
          </p:cNvSpPr>
          <p:nvPr/>
        </p:nvSpPr>
        <p:spPr>
          <a:xfrm xmlns:a="http://schemas.openxmlformats.org/drawingml/2006/main">
            <a:off x="685800" y="4191000"/>
            <a:ext cx="3200400" cy="952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C1E088-012D-4616-9BC0-2E74AD8DF5BD}"/>
              </a:ext>
            </a:extLst>
          </p:cNvPr>
          <p:cNvSpPr>
            <a:spLocks xmlns:a="http://schemas.openxmlformats.org/drawingml/2006/main" noGrp="1"/>
          </p:cNvSpPr>
          <p:nvPr/>
        </p:nvSpPr>
        <p:spPr>
          <a:xfrm xmlns:a="http://schemas.openxmlformats.org/drawingml/2006/main">
            <a:off x="42672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84871CB4-20B1-4F49-95F8-B8E4DB9577B2}"/>
              </a:ext>
            </a:extLst>
          </p:cNvPr>
          <p:cNvSpPr>
            <a:spLocks xmlns:a="http://schemas.openxmlformats.org/drawingml/2006/main" noGrp="1"/>
          </p:cNvSpPr>
          <p:nvPr/>
        </p:nvSpPr>
        <p:spPr>
          <a:xfrm xmlns:a="http://schemas.openxmlformats.org/drawingml/2006/main">
            <a:off x="4495800" y="2705100"/>
            <a:ext cx="400050" cy="4000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FD6F0B-90C3-4744-91DE-DBDA55DEAA78}"/>
              </a:ext>
            </a:extLst>
          </p:cNvPr>
          <p:cNvSpPr>
            <a:spLocks xmlns:a="http://schemas.openxmlformats.org/drawingml/2006/main" noGrp="1"/>
          </p:cNvSpPr>
          <p:nvPr/>
        </p:nvSpPr>
        <p:spPr>
          <a:xfrm xmlns:a="http://schemas.openxmlformats.org/drawingml/2006/main">
            <a:off x="44958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DD4D8395-B857-4828-A482-51ACF7A8CBD8}"/>
              </a:ext>
            </a:extLst>
          </p:cNvPr>
          <p:cNvSpPr>
            <a:spLocks xmlns:a="http://schemas.openxmlformats.org/drawingml/2006/main" noGrp="1"/>
          </p:cNvSpPr>
          <p:nvPr/>
        </p:nvSpPr>
        <p:spPr>
          <a:xfrm xmlns:a="http://schemas.openxmlformats.org/drawingml/2006/main">
            <a:off x="50482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Transparent evaluation</a:t>
            </a:r>
          </a:p>
        </p:txBody>
      </p:sp>
      <p:sp>
        <p:nvSpPr>
          <p:cNvPr id="16" name="">
            <a:extLst xmlns:a="http://schemas.openxmlformats.org/drawingml/2006/main">
              <a:ext uri="{FF2B5EF4-FFF2-40B4-BE49-F238E27FC236}">
                <a16:creationId xmlns:a16="http://schemas.microsoft.com/office/drawing/2014/main" id="{C8F369A1-1EE6-4CAA-B0B9-0EFE932BBADD}"/>
              </a:ext>
            </a:extLst>
          </p:cNvPr>
          <p:cNvSpPr>
            <a:spLocks xmlns:a="http://schemas.openxmlformats.org/drawingml/2006/main" noGrp="1"/>
          </p:cNvSpPr>
          <p:nvPr/>
        </p:nvSpPr>
        <p:spPr>
          <a:xfrm xmlns:a="http://schemas.openxmlformats.org/drawingml/2006/main">
            <a:off x="44958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clean, partial, boundary, and gap exports</a:t>
            </a:r>
          </a:p>
        </p:txBody>
      </p:sp>
      <p:sp>
        <p:nvSpPr>
          <p:cNvPr id="17" name="">
            <a:extLst xmlns:a="http://schemas.openxmlformats.org/drawingml/2006/main">
              <a:ext uri="{FF2B5EF4-FFF2-40B4-BE49-F238E27FC236}">
                <a16:creationId xmlns:a16="http://schemas.microsoft.com/office/drawing/2014/main" id="{392EEC74-6A5E-4BAC-A3EB-4A41969146C1}"/>
              </a:ext>
            </a:extLst>
          </p:cNvPr>
          <p:cNvSpPr>
            <a:spLocks xmlns:a="http://schemas.openxmlformats.org/drawingml/2006/main" noGrp="1"/>
          </p:cNvSpPr>
          <p:nvPr/>
        </p:nvSpPr>
        <p:spPr>
          <a:xfrm xmlns:a="http://schemas.openxmlformats.org/drawingml/2006/main">
            <a:off x="4267200" y="4191000"/>
            <a:ext cx="3200400" cy="952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5DF684-2377-4235-B24E-37CD419B433D}"/>
              </a:ext>
            </a:extLst>
          </p:cNvPr>
          <p:cNvSpPr>
            <a:spLocks xmlns:a="http://schemas.openxmlformats.org/drawingml/2006/main" noGrp="1"/>
          </p:cNvSpPr>
          <p:nvPr/>
        </p:nvSpPr>
        <p:spPr>
          <a:xfrm xmlns:a="http://schemas.openxmlformats.org/drawingml/2006/main">
            <a:off x="78486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4231306E-7758-49CF-925B-880530E598B3}"/>
              </a:ext>
            </a:extLst>
          </p:cNvPr>
          <p:cNvSpPr>
            <a:spLocks xmlns:a="http://schemas.openxmlformats.org/drawingml/2006/main" noGrp="1"/>
          </p:cNvSpPr>
          <p:nvPr/>
        </p:nvSpPr>
        <p:spPr>
          <a:xfrm xmlns:a="http://schemas.openxmlformats.org/drawingml/2006/main">
            <a:off x="8077200" y="2705100"/>
            <a:ext cx="400050" cy="4000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CEB5D9-ED65-4E9D-BC5F-79265B73C83E}"/>
              </a:ext>
            </a:extLst>
          </p:cNvPr>
          <p:cNvSpPr>
            <a:spLocks xmlns:a="http://schemas.openxmlformats.org/drawingml/2006/main" noGrp="1"/>
          </p:cNvSpPr>
          <p:nvPr/>
        </p:nvSpPr>
        <p:spPr>
          <a:xfrm xmlns:a="http://schemas.openxmlformats.org/drawingml/2006/main">
            <a:off x="80772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3630979E-4C45-4B1B-BB81-49C24C378897}"/>
              </a:ext>
            </a:extLst>
          </p:cNvPr>
          <p:cNvSpPr>
            <a:spLocks xmlns:a="http://schemas.openxmlformats.org/drawingml/2006/main" noGrp="1"/>
          </p:cNvSpPr>
          <p:nvPr/>
        </p:nvSpPr>
        <p:spPr>
          <a:xfrm xmlns:a="http://schemas.openxmlformats.org/drawingml/2006/main">
            <a:off x="86296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Guarded innovation</a:t>
            </a:r>
          </a:p>
        </p:txBody>
      </p:sp>
      <p:sp>
        <p:nvSpPr>
          <p:cNvPr id="22" name="">
            <a:extLst xmlns:a="http://schemas.openxmlformats.org/drawingml/2006/main">
              <a:ext uri="{FF2B5EF4-FFF2-40B4-BE49-F238E27FC236}">
                <a16:creationId xmlns:a16="http://schemas.microsoft.com/office/drawing/2014/main" id="{C6DD84B6-80E5-4D8C-B32C-41E562D202F4}"/>
              </a:ext>
            </a:extLst>
          </p:cNvPr>
          <p:cNvSpPr>
            <a:spLocks xmlns:a="http://schemas.openxmlformats.org/drawingml/2006/main" noGrp="1"/>
          </p:cNvSpPr>
          <p:nvPr/>
        </p:nvSpPr>
        <p:spPr>
          <a:xfrm xmlns:a="http://schemas.openxmlformats.org/drawingml/2006/main">
            <a:off x="80772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hybrid matcher research + report-only AI</a:t>
            </a:r>
          </a:p>
        </p:txBody>
      </p:sp>
      <p:sp>
        <p:nvSpPr>
          <p:cNvPr id="23" name="">
            <a:extLst xmlns:a="http://schemas.openxmlformats.org/drawingml/2006/main">
              <a:ext uri="{FF2B5EF4-FFF2-40B4-BE49-F238E27FC236}">
                <a16:creationId xmlns:a16="http://schemas.microsoft.com/office/drawing/2014/main" id="{CC288308-EDBC-4CA8-89D4-9266CF5FDD6C}"/>
              </a:ext>
            </a:extLst>
          </p:cNvPr>
          <p:cNvSpPr>
            <a:spLocks xmlns:a="http://schemas.openxmlformats.org/drawingml/2006/main" noGrp="1"/>
          </p:cNvSpPr>
          <p:nvPr/>
        </p:nvSpPr>
        <p:spPr>
          <a:xfrm xmlns:a="http://schemas.openxmlformats.org/drawingml/2006/main">
            <a:off x="7848600" y="4191000"/>
            <a:ext cx="3200400" cy="952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B9F4C00-8E32-401B-B863-554B33901F23}"/>
              </a:ext>
            </a:extLst>
          </p:cNvPr>
          <p:cNvSpPr>
            <a:spLocks xmlns:a="http://schemas.openxmlformats.org/drawingml/2006/main" noGrp="1"/>
          </p:cNvSpPr>
          <p:nvPr/>
        </p:nvSpPr>
        <p:spPr>
          <a:xfrm xmlns:a="http://schemas.openxmlformats.org/drawingml/2006/main">
            <a:off x="685800" y="4762500"/>
            <a:ext cx="103822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505A3F18-108B-440C-83D4-966BADE3C6A9}"/>
              </a:ext>
            </a:extLst>
          </p:cNvPr>
          <p:cNvSpPr>
            <a:spLocks xmlns:a="http://schemas.openxmlformats.org/drawingml/2006/main" noGrp="1"/>
          </p:cNvSpPr>
          <p:nvPr/>
        </p:nvSpPr>
        <p:spPr>
          <a:xfrm xmlns:a="http://schemas.openxmlformats.org/drawingml/2006/main">
            <a:off x="933450" y="50101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NEXT</a:t>
            </a:r>
          </a:p>
        </p:txBody>
      </p:sp>
      <p:sp>
        <p:nvSpPr>
          <p:cNvPr id="26" name="">
            <a:extLst xmlns:a="http://schemas.openxmlformats.org/drawingml/2006/main">
              <a:ext uri="{FF2B5EF4-FFF2-40B4-BE49-F238E27FC236}">
                <a16:creationId xmlns:a16="http://schemas.microsoft.com/office/drawing/2014/main" id="{B584ADA6-B004-45D6-8035-4C3EE641A30A}"/>
              </a:ext>
            </a:extLst>
          </p:cNvPr>
          <p:cNvSpPr>
            <a:spLocks xmlns:a="http://schemas.openxmlformats.org/drawingml/2006/main" noGrp="1"/>
          </p:cNvSpPr>
          <p:nvPr/>
        </p:nvSpPr>
        <p:spPr>
          <a:xfrm xmlns:a="http://schemas.openxmlformats.org/drawingml/2006/main">
            <a:off x="1752600" y="49339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02A33"/>
                </a:solidFill>
                <a:latin typeface="Aptos"/>
                <a:ea typeface="Aptos"/>
                <a:cs typeface="Aptos"/>
              </a:defRPr>
            </a:pPr>
            <a:r>
              <a:rPr sz="1275" b="1">
                <a:solidFill>
                  <a:srgbClr val="202A33"/>
                </a:solidFill>
                <a:latin typeface="Aptos"/>
                <a:ea typeface="Aptos"/>
                <a:cs typeface="Aptos"/>
              </a:rPr>
              <a:t>stronger version-specific evidence, broader independent R8 corpora, and stricter APK-only promotion controls</a:t>
            </a:r>
          </a:p>
        </p:txBody>
      </p:sp>
      <p:sp>
        <p:nvSpPr>
          <p:cNvPr id="27" name="">
            <a:extLst xmlns:a="http://schemas.openxmlformats.org/drawingml/2006/main">
              <a:ext uri="{FF2B5EF4-FFF2-40B4-BE49-F238E27FC236}">
                <a16:creationId xmlns:a16="http://schemas.microsoft.com/office/drawing/2014/main" id="{58A09DE4-CACD-47C9-9B00-F2D5D5E5358A}"/>
              </a:ext>
            </a:extLst>
          </p:cNvPr>
          <p:cNvSpPr>
            <a:spLocks xmlns:a="http://schemas.openxmlformats.org/drawingml/2006/main" noGrp="1"/>
          </p:cNvSpPr>
          <p:nvPr/>
        </p:nvSpPr>
        <p:spPr>
          <a:xfrm xmlns:a="http://schemas.openxmlformats.org/drawingml/2006/main">
            <a:off x="685800" y="6076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8D754D"/>
                </a:solidFill>
                <a:latin typeface="Aptos Display"/>
                <a:ea typeface="Aptos Display"/>
                <a:cs typeface="Aptos Display"/>
              </a:defRPr>
            </a:pPr>
            <a:r>
              <a:rPr sz="1950" b="1">
                <a:solidFill>
                  <a:srgbClr val="8D754D"/>
                </a:solidFill>
                <a:latin typeface="Aptos Display"/>
                <a:ea typeface="Aptos Display"/>
                <a:cs typeface="Aptos Display"/>
              </a:rPr>
              <a:t>Questions</a:t>
            </a:r>
          </a:p>
        </p:txBody>
      </p:sp>
      <p:sp>
        <p:nvSpPr>
          <p:cNvPr id="28" name="">
            <a:extLst xmlns:a="http://schemas.openxmlformats.org/drawingml/2006/main">
              <a:ext uri="{FF2B5EF4-FFF2-40B4-BE49-F238E27FC236}">
                <a16:creationId xmlns:a16="http://schemas.microsoft.com/office/drawing/2014/main" id="{F509E3D6-7BD0-448B-BC5B-3D1980887788}"/>
              </a:ext>
            </a:extLst>
          </p:cNvPr>
          <p:cNvSpPr>
            <a:spLocks xmlns:a="http://schemas.openxmlformats.org/drawingml/2006/main" noGrp="1"/>
          </p:cNvSpPr>
          <p:nvPr/>
        </p:nvSpPr>
        <p:spPr>
          <a:xfrm xmlns:a="http://schemas.openxmlformats.org/drawingml/2006/main">
            <a:off x="5429250" y="61150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997AA"/>
                </a:solidFill>
                <a:latin typeface="Cascadia Mono"/>
                <a:ea typeface="Cascadia Mono"/>
                <a:cs typeface="Cascadia Mono"/>
              </a:defRPr>
            </a:pPr>
            <a:r>
              <a:rPr sz="900" b="0">
                <a:solidFill>
                  <a:srgbClr val="8997AA"/>
                </a:solidFill>
                <a:latin typeface="Cascadia Mono"/>
                <a:ea typeface="Cascadia Mono"/>
                <a:cs typeface="Cascadia Mono"/>
              </a:rPr>
              <a:t>Demo command: python scripts/run_final_ai_defense_demo.py --refresh</a:t>
            </a:r>
          </a:p>
        </p:txBody>
      </p:sp>
    </p:spTree>
    <p:extLst>
      <p:ext uri="{BB962C8B-B14F-4D97-AF65-F5344CB8AC3E}">
        <p14:creationId xmlns:p14="http://schemas.microsoft.com/office/powerpoint/2010/main" val="1369328095"/>
      </p:ext>
    </p:extLst>
  </p:cSld>
</p:sld>
</file>

<file path=ppt/slides/slide3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C486E4-056F-4B09-BED0-910289B348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D612B8-4518-4D47-A27E-1D7B40BF5A8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25AE2D-D2F3-4B65-846D-14425D21036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BACKUP 1  |  PROJECT STRUCTURE</a:t>
            </a:r>
          </a:p>
        </p:txBody>
      </p:sp>
      <p:sp>
        <p:nvSpPr>
          <p:cNvPr id="4" name="">
            <a:extLst xmlns:a="http://schemas.openxmlformats.org/drawingml/2006/main">
              <a:ext uri="{FF2B5EF4-FFF2-40B4-BE49-F238E27FC236}">
                <a16:creationId xmlns:a16="http://schemas.microsoft.com/office/drawing/2014/main" id="{2A700D13-B947-4FDD-8BB2-3C26EF25E3E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pfe-final repository connects source code, datasets, Docker, databases, and evidence outputs</a:t>
            </a:r>
          </a:p>
        </p:txBody>
      </p:sp>
      <p:sp>
        <p:nvSpPr>
          <p:cNvPr id="5" name="">
            <a:extLst xmlns:a="http://schemas.openxmlformats.org/drawingml/2006/main">
              <a:ext uri="{FF2B5EF4-FFF2-40B4-BE49-F238E27FC236}">
                <a16:creationId xmlns:a16="http://schemas.microsoft.com/office/drawing/2014/main" id="{C86EF1EB-BCD0-4C74-BF05-A0C099C3E31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32</a:t>
            </a:r>
          </a:p>
        </p:txBody>
      </p:sp>
      <p:sp>
        <p:nvSpPr>
          <p:cNvPr id="6" name="">
            <a:extLst xmlns:a="http://schemas.openxmlformats.org/drawingml/2006/main">
              <a:ext uri="{FF2B5EF4-FFF2-40B4-BE49-F238E27FC236}">
                <a16:creationId xmlns:a16="http://schemas.microsoft.com/office/drawing/2014/main" id="{12E14181-3130-4B4C-9F93-BCB7C1E83F85}"/>
              </a:ext>
            </a:extLst>
          </p:cNvPr>
          <p:cNvSpPr>
            <a:spLocks xmlns:a="http://schemas.openxmlformats.org/drawingml/2006/main" noGrp="1"/>
          </p:cNvSpPr>
          <p:nvPr/>
        </p:nvSpPr>
        <p:spPr>
          <a:xfrm xmlns:a="http://schemas.openxmlformats.org/drawingml/2006/main">
            <a:off x="590550" y="1352550"/>
            <a:ext cx="4514850" cy="4438650"/>
          </a:xfrm>
          <a:prstGeom xmlns:a="http://schemas.openxmlformats.org/drawingml/2006/main" prst="rect">
            <a:avLst/>
          </a:prstGeom>
          <a:solidFill xmlns:a="http://schemas.openxmlformats.org/drawingml/2006/main">
            <a:srgbClr val="101820"/>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8DF643EE-5C7F-4114-91BA-C9C13BA322D9}"/>
              </a:ext>
            </a:extLst>
          </p:cNvPr>
          <p:cNvSpPr>
            <a:spLocks xmlns:a="http://schemas.openxmlformats.org/drawingml/2006/main" noGrp="1"/>
          </p:cNvSpPr>
          <p:nvPr/>
        </p:nvSpPr>
        <p:spPr>
          <a:xfrm xmlns:a="http://schemas.openxmlformats.org/drawingml/2006/main">
            <a:off x="819150" y="1581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pfe-final/</a:t>
            </a:r>
          </a:p>
        </p:txBody>
      </p:sp>
      <p:sp>
        <p:nvSpPr>
          <p:cNvPr id="8" name="">
            <a:extLst xmlns:a="http://schemas.openxmlformats.org/drawingml/2006/main">
              <a:ext uri="{FF2B5EF4-FFF2-40B4-BE49-F238E27FC236}">
                <a16:creationId xmlns:a16="http://schemas.microsoft.com/office/drawing/2014/main" id="{8C8F275D-C721-40E3-8934-E0A8262C987C}"/>
              </a:ext>
            </a:extLst>
          </p:cNvPr>
          <p:cNvSpPr>
            <a:spLocks xmlns:a="http://schemas.openxmlformats.org/drawingml/2006/main" noGrp="1"/>
          </p:cNvSpPr>
          <p:nvPr/>
        </p:nvSpPr>
        <p:spPr>
          <a:xfrm xmlns:a="http://schemas.openxmlformats.org/drawingml/2006/main">
            <a:off x="838200" y="1962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Cascadia Mono"/>
                <a:ea typeface="Cascadia Mono"/>
                <a:cs typeface="Cascadia Mono"/>
              </a:defRPr>
            </a:pPr>
            <a:r>
              <a:rPr sz="825" b="1">
                <a:solidFill>
                  <a:srgbClr val="365F7D"/>
                </a:solidFill>
                <a:latin typeface="Cascadia Mono"/>
                <a:ea typeface="Cascadia Mono"/>
                <a:cs typeface="Cascadia Mono"/>
              </a:rPr>
              <a:t>├─ src/apk_sbom/</a:t>
            </a:r>
          </a:p>
        </p:txBody>
      </p:sp>
      <p:sp>
        <p:nvSpPr>
          <p:cNvPr id="9" name="">
            <a:extLst xmlns:a="http://schemas.openxmlformats.org/drawingml/2006/main">
              <a:ext uri="{FF2B5EF4-FFF2-40B4-BE49-F238E27FC236}">
                <a16:creationId xmlns:a16="http://schemas.microsoft.com/office/drawing/2014/main" id="{3CE2C416-7313-473B-A62B-ED9B82F87F15}"/>
              </a:ext>
            </a:extLst>
          </p:cNvPr>
          <p:cNvSpPr>
            <a:spLocks xmlns:a="http://schemas.openxmlformats.org/drawingml/2006/main" noGrp="1"/>
          </p:cNvSpPr>
          <p:nvPr/>
        </p:nvSpPr>
        <p:spPr>
          <a:xfrm xmlns:a="http://schemas.openxmlformats.org/drawingml/2006/main">
            <a:off x="2971800" y="19621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production pipeline modules</a:t>
            </a:r>
          </a:p>
        </p:txBody>
      </p:sp>
      <p:sp>
        <p:nvSpPr>
          <p:cNvPr id="10" name="">
            <a:extLst xmlns:a="http://schemas.openxmlformats.org/drawingml/2006/main">
              <a:ext uri="{FF2B5EF4-FFF2-40B4-BE49-F238E27FC236}">
                <a16:creationId xmlns:a16="http://schemas.microsoft.com/office/drawing/2014/main" id="{0964FE40-74E1-4585-934C-66B1C2C81BA9}"/>
              </a:ext>
            </a:extLst>
          </p:cNvPr>
          <p:cNvSpPr>
            <a:spLocks xmlns:a="http://schemas.openxmlformats.org/drawingml/2006/main" noGrp="1"/>
          </p:cNvSpPr>
          <p:nvPr/>
        </p:nvSpPr>
        <p:spPr>
          <a:xfrm xmlns:a="http://schemas.openxmlformats.org/drawingml/2006/main">
            <a:off x="83820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Cascadia Mono"/>
                <a:ea typeface="Cascadia Mono"/>
                <a:cs typeface="Cascadia Mono"/>
              </a:defRPr>
            </a:pPr>
            <a:r>
              <a:rPr sz="825" b="1">
                <a:solidFill>
                  <a:srgbClr val="4F7D76"/>
                </a:solidFill>
                <a:latin typeface="Cascadia Mono"/>
                <a:ea typeface="Cascadia Mono"/>
                <a:cs typeface="Cascadia Mono"/>
              </a:rPr>
              <a:t>├─ scripts/</a:t>
            </a:r>
          </a:p>
        </p:txBody>
      </p:sp>
      <p:sp>
        <p:nvSpPr>
          <p:cNvPr id="11" name="">
            <a:extLst xmlns:a="http://schemas.openxmlformats.org/drawingml/2006/main">
              <a:ext uri="{FF2B5EF4-FFF2-40B4-BE49-F238E27FC236}">
                <a16:creationId xmlns:a16="http://schemas.microsoft.com/office/drawing/2014/main" id="{21C0686F-9DC1-4E65-8E47-84A98D40387A}"/>
              </a:ext>
            </a:extLst>
          </p:cNvPr>
          <p:cNvSpPr>
            <a:spLocks xmlns:a="http://schemas.openxmlformats.org/drawingml/2006/main" noGrp="1"/>
          </p:cNvSpPr>
          <p:nvPr/>
        </p:nvSpPr>
        <p:spPr>
          <a:xfrm xmlns:a="http://schemas.openxmlformats.org/drawingml/2006/main">
            <a:off x="2971800" y="23050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evaluation, training, demo, DB workflows</a:t>
            </a:r>
          </a:p>
        </p:txBody>
      </p:sp>
      <p:sp>
        <p:nvSpPr>
          <p:cNvPr id="12" name="">
            <a:extLst xmlns:a="http://schemas.openxmlformats.org/drawingml/2006/main">
              <a:ext uri="{FF2B5EF4-FFF2-40B4-BE49-F238E27FC236}">
                <a16:creationId xmlns:a16="http://schemas.microsoft.com/office/drawing/2014/main" id="{6B9ECA95-2559-4588-AB89-2738C89353A8}"/>
              </a:ext>
            </a:extLst>
          </p:cNvPr>
          <p:cNvSpPr>
            <a:spLocks xmlns:a="http://schemas.openxmlformats.org/drawingml/2006/main" noGrp="1"/>
          </p:cNvSpPr>
          <p:nvPr/>
        </p:nvSpPr>
        <p:spPr>
          <a:xfrm xmlns:a="http://schemas.openxmlformats.org/drawingml/2006/main">
            <a:off x="838200" y="2647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F7C61"/>
                </a:solidFill>
                <a:latin typeface="Cascadia Mono"/>
                <a:ea typeface="Cascadia Mono"/>
                <a:cs typeface="Cascadia Mono"/>
              </a:defRPr>
            </a:pPr>
            <a:r>
              <a:rPr sz="825" b="1">
                <a:solidFill>
                  <a:srgbClr val="6F7C61"/>
                </a:solidFill>
                <a:latin typeface="Cascadia Mono"/>
                <a:ea typeface="Cascadia Mono"/>
                <a:cs typeface="Cascadia Mono"/>
              </a:rPr>
              <a:t>├─ datasets/</a:t>
            </a:r>
          </a:p>
        </p:txBody>
      </p:sp>
      <p:sp>
        <p:nvSpPr>
          <p:cNvPr id="13" name="">
            <a:extLst xmlns:a="http://schemas.openxmlformats.org/drawingml/2006/main">
              <a:ext uri="{FF2B5EF4-FFF2-40B4-BE49-F238E27FC236}">
                <a16:creationId xmlns:a16="http://schemas.microsoft.com/office/drawing/2014/main" id="{AC74D7E2-959D-461A-8E63-00978EDEAB6D}"/>
              </a:ext>
            </a:extLst>
          </p:cNvPr>
          <p:cNvSpPr>
            <a:spLocks xmlns:a="http://schemas.openxmlformats.org/drawingml/2006/main" noGrp="1"/>
          </p:cNvSpPr>
          <p:nvPr/>
        </p:nvSpPr>
        <p:spPr>
          <a:xfrm xmlns:a="http://schemas.openxmlformats.org/drawingml/2006/main">
            <a:off x="2971800" y="26479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dataset manifests and ground truth</a:t>
            </a:r>
          </a:p>
        </p:txBody>
      </p:sp>
      <p:sp>
        <p:nvSpPr>
          <p:cNvPr id="14" name="">
            <a:extLst xmlns:a="http://schemas.openxmlformats.org/drawingml/2006/main">
              <a:ext uri="{FF2B5EF4-FFF2-40B4-BE49-F238E27FC236}">
                <a16:creationId xmlns:a16="http://schemas.microsoft.com/office/drawing/2014/main" id="{8A6DB92A-832D-44B6-BD47-EBC84342306A}"/>
              </a:ext>
            </a:extLst>
          </p:cNvPr>
          <p:cNvSpPr>
            <a:spLocks xmlns:a="http://schemas.openxmlformats.org/drawingml/2006/main" noGrp="1"/>
          </p:cNvSpPr>
          <p:nvPr/>
        </p:nvSpPr>
        <p:spPr>
          <a:xfrm xmlns:a="http://schemas.openxmlformats.org/drawingml/2006/main">
            <a:off x="838200" y="29908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Cascadia Mono"/>
                <a:ea typeface="Cascadia Mono"/>
                <a:cs typeface="Cascadia Mono"/>
              </a:defRPr>
            </a:pPr>
            <a:r>
              <a:rPr sz="825" b="1">
                <a:solidFill>
                  <a:srgbClr val="8D754D"/>
                </a:solidFill>
                <a:latin typeface="Cascadia Mono"/>
                <a:ea typeface="Cascadia Mono"/>
                <a:cs typeface="Cascadia Mono"/>
              </a:rPr>
              <a:t>├─ data/test_apks/</a:t>
            </a:r>
          </a:p>
        </p:txBody>
      </p:sp>
      <p:sp>
        <p:nvSpPr>
          <p:cNvPr id="15" name="">
            <a:extLst xmlns:a="http://schemas.openxmlformats.org/drawingml/2006/main">
              <a:ext uri="{FF2B5EF4-FFF2-40B4-BE49-F238E27FC236}">
                <a16:creationId xmlns:a16="http://schemas.microsoft.com/office/drawing/2014/main" id="{A054A81E-86AC-47EF-9408-944E113BE6B2}"/>
              </a:ext>
            </a:extLst>
          </p:cNvPr>
          <p:cNvSpPr>
            <a:spLocks xmlns:a="http://schemas.openxmlformats.org/drawingml/2006/main" noGrp="1"/>
          </p:cNvSpPr>
          <p:nvPr/>
        </p:nvSpPr>
        <p:spPr>
          <a:xfrm xmlns:a="http://schemas.openxmlformats.org/drawingml/2006/main">
            <a:off x="2971800" y="29908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controlled and real APK inputs</a:t>
            </a:r>
          </a:p>
        </p:txBody>
      </p:sp>
      <p:sp>
        <p:nvSpPr>
          <p:cNvPr id="16" name="">
            <a:extLst xmlns:a="http://schemas.openxmlformats.org/drawingml/2006/main">
              <a:ext uri="{FF2B5EF4-FFF2-40B4-BE49-F238E27FC236}">
                <a16:creationId xmlns:a16="http://schemas.microsoft.com/office/drawing/2014/main" id="{07B7C17E-5B81-4259-95AB-2137AA832E2F}"/>
              </a:ext>
            </a:extLst>
          </p:cNvPr>
          <p:cNvSpPr>
            <a:spLocks xmlns:a="http://schemas.openxmlformats.org/drawingml/2006/main" noGrp="1"/>
          </p:cNvSpPr>
          <p:nvPr/>
        </p:nvSpPr>
        <p:spPr>
          <a:xfrm xmlns:a="http://schemas.openxmlformats.org/drawingml/2006/main">
            <a:off x="838200" y="3333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Cascadia Mono"/>
                <a:ea typeface="Cascadia Mono"/>
                <a:cs typeface="Cascadia Mono"/>
              </a:defRPr>
            </a:pPr>
            <a:r>
              <a:rPr sz="825" b="1">
                <a:solidFill>
                  <a:srgbClr val="655F73"/>
                </a:solidFill>
                <a:latin typeface="Cascadia Mono"/>
                <a:ea typeface="Cascadia Mono"/>
                <a:cs typeface="Cascadia Mono"/>
              </a:rPr>
              <a:t>├─ data/reference_db/</a:t>
            </a:r>
          </a:p>
        </p:txBody>
      </p:sp>
      <p:sp>
        <p:nvSpPr>
          <p:cNvPr id="17" name="">
            <a:extLst xmlns:a="http://schemas.openxmlformats.org/drawingml/2006/main">
              <a:ext uri="{FF2B5EF4-FFF2-40B4-BE49-F238E27FC236}">
                <a16:creationId xmlns:a16="http://schemas.microsoft.com/office/drawing/2014/main" id="{0DCD5C73-A958-4531-9E0F-FB37C8F225C0}"/>
              </a:ext>
            </a:extLst>
          </p:cNvPr>
          <p:cNvSpPr>
            <a:spLocks xmlns:a="http://schemas.openxmlformats.org/drawingml/2006/main" noGrp="1"/>
          </p:cNvSpPr>
          <p:nvPr/>
        </p:nvSpPr>
        <p:spPr>
          <a:xfrm xmlns:a="http://schemas.openxmlformats.org/drawingml/2006/main">
            <a:off x="2971800" y="33337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SQLite Maven feature databases</a:t>
            </a:r>
          </a:p>
        </p:txBody>
      </p:sp>
      <p:sp>
        <p:nvSpPr>
          <p:cNvPr id="18" name="">
            <a:extLst xmlns:a="http://schemas.openxmlformats.org/drawingml/2006/main">
              <a:ext uri="{FF2B5EF4-FFF2-40B4-BE49-F238E27FC236}">
                <a16:creationId xmlns:a16="http://schemas.microsoft.com/office/drawing/2014/main" id="{CE3F5C60-0CCA-4915-96E5-0ED0F5704141}"/>
              </a:ext>
            </a:extLst>
          </p:cNvPr>
          <p:cNvSpPr>
            <a:spLocks xmlns:a="http://schemas.openxmlformats.org/drawingml/2006/main" noGrp="1"/>
          </p:cNvSpPr>
          <p:nvPr/>
        </p:nvSpPr>
        <p:spPr>
          <a:xfrm xmlns:a="http://schemas.openxmlformats.org/drawingml/2006/main">
            <a:off x="838200" y="36766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Cascadia Mono"/>
                <a:ea typeface="Cascadia Mono"/>
                <a:cs typeface="Cascadia Mono"/>
              </a:defRPr>
            </a:pPr>
            <a:r>
              <a:rPr sz="825" b="1">
                <a:solidFill>
                  <a:srgbClr val="A65C55"/>
                </a:solidFill>
                <a:latin typeface="Cascadia Mono"/>
                <a:ea typeface="Cascadia Mono"/>
                <a:cs typeface="Cascadia Mono"/>
              </a:rPr>
              <a:t>├─ data/results/</a:t>
            </a:r>
          </a:p>
        </p:txBody>
      </p:sp>
      <p:sp>
        <p:nvSpPr>
          <p:cNvPr id="19" name="">
            <a:extLst xmlns:a="http://schemas.openxmlformats.org/drawingml/2006/main">
              <a:ext uri="{FF2B5EF4-FFF2-40B4-BE49-F238E27FC236}">
                <a16:creationId xmlns:a16="http://schemas.microsoft.com/office/drawing/2014/main" id="{5A697A7E-73AD-4038-972A-3516B62E5773}"/>
              </a:ext>
            </a:extLst>
          </p:cNvPr>
          <p:cNvSpPr>
            <a:spLocks xmlns:a="http://schemas.openxmlformats.org/drawingml/2006/main" noGrp="1"/>
          </p:cNvSpPr>
          <p:nvPr/>
        </p:nvSpPr>
        <p:spPr>
          <a:xfrm xmlns:a="http://schemas.openxmlformats.org/drawingml/2006/main">
            <a:off x="2971800" y="36766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SBOM, reports, metrics, screenshots</a:t>
            </a:r>
          </a:p>
        </p:txBody>
      </p:sp>
      <p:sp>
        <p:nvSpPr>
          <p:cNvPr id="20" name="">
            <a:extLst xmlns:a="http://schemas.openxmlformats.org/drawingml/2006/main">
              <a:ext uri="{FF2B5EF4-FFF2-40B4-BE49-F238E27FC236}">
                <a16:creationId xmlns:a16="http://schemas.microsoft.com/office/drawing/2014/main" id="{2F895C50-F03C-4C32-87ED-2F865537D588}"/>
              </a:ext>
            </a:extLst>
          </p:cNvPr>
          <p:cNvSpPr>
            <a:spLocks xmlns:a="http://schemas.openxmlformats.org/drawingml/2006/main" noGrp="1"/>
          </p:cNvSpPr>
          <p:nvPr/>
        </p:nvSpPr>
        <p:spPr>
          <a:xfrm xmlns:a="http://schemas.openxmlformats.org/drawingml/2006/main">
            <a:off x="838200" y="4019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Cascadia Mono"/>
                <a:ea typeface="Cascadia Mono"/>
                <a:cs typeface="Cascadia Mono"/>
              </a:defRPr>
            </a:pPr>
            <a:r>
              <a:rPr sz="825" b="1">
                <a:solidFill>
                  <a:srgbClr val="365F7D"/>
                </a:solidFill>
                <a:latin typeface="Cascadia Mono"/>
                <a:ea typeface="Cascadia Mono"/>
                <a:cs typeface="Cascadia Mono"/>
              </a:rPr>
              <a:t>├─ tests/</a:t>
            </a:r>
          </a:p>
        </p:txBody>
      </p:sp>
      <p:sp>
        <p:nvSpPr>
          <p:cNvPr id="21" name="">
            <a:extLst xmlns:a="http://schemas.openxmlformats.org/drawingml/2006/main">
              <a:ext uri="{FF2B5EF4-FFF2-40B4-BE49-F238E27FC236}">
                <a16:creationId xmlns:a16="http://schemas.microsoft.com/office/drawing/2014/main" id="{90F3DE3E-AA5C-4E83-A152-719FE0363ACD}"/>
              </a:ext>
            </a:extLst>
          </p:cNvPr>
          <p:cNvSpPr>
            <a:spLocks xmlns:a="http://schemas.openxmlformats.org/drawingml/2006/main" noGrp="1"/>
          </p:cNvSpPr>
          <p:nvPr/>
        </p:nvSpPr>
        <p:spPr>
          <a:xfrm xmlns:a="http://schemas.openxmlformats.org/drawingml/2006/main">
            <a:off x="2971800" y="4019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unit and regression controls</a:t>
            </a:r>
          </a:p>
        </p:txBody>
      </p:sp>
      <p:sp>
        <p:nvSpPr>
          <p:cNvPr id="22" name="">
            <a:extLst xmlns:a="http://schemas.openxmlformats.org/drawingml/2006/main">
              <a:ext uri="{FF2B5EF4-FFF2-40B4-BE49-F238E27FC236}">
                <a16:creationId xmlns:a16="http://schemas.microsoft.com/office/drawing/2014/main" id="{8D636777-456E-43B3-A706-3E833DA9DD2C}"/>
              </a:ext>
            </a:extLst>
          </p:cNvPr>
          <p:cNvSpPr>
            <a:spLocks xmlns:a="http://schemas.openxmlformats.org/drawingml/2006/main" noGrp="1"/>
          </p:cNvSpPr>
          <p:nvPr/>
        </p:nvSpPr>
        <p:spPr>
          <a:xfrm xmlns:a="http://schemas.openxmlformats.org/drawingml/2006/main">
            <a:off x="838200" y="4362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Cascadia Mono"/>
                <a:ea typeface="Cascadia Mono"/>
                <a:cs typeface="Cascadia Mono"/>
              </a:defRPr>
            </a:pPr>
            <a:r>
              <a:rPr sz="825" b="1">
                <a:solidFill>
                  <a:srgbClr val="4F7D76"/>
                </a:solidFill>
                <a:latin typeface="Cascadia Mono"/>
                <a:ea typeface="Cascadia Mono"/>
                <a:cs typeface="Cascadia Mono"/>
              </a:rPr>
              <a:t>├─ docs/</a:t>
            </a:r>
          </a:p>
        </p:txBody>
      </p:sp>
      <p:sp>
        <p:nvSpPr>
          <p:cNvPr id="23" name="">
            <a:extLst xmlns:a="http://schemas.openxmlformats.org/drawingml/2006/main">
              <a:ext uri="{FF2B5EF4-FFF2-40B4-BE49-F238E27FC236}">
                <a16:creationId xmlns:a16="http://schemas.microsoft.com/office/drawing/2014/main" id="{9E9EEE40-61B4-4AE1-A423-6BDAF6EB6D3B}"/>
              </a:ext>
            </a:extLst>
          </p:cNvPr>
          <p:cNvSpPr>
            <a:spLocks xmlns:a="http://schemas.openxmlformats.org/drawingml/2006/main" noGrp="1"/>
          </p:cNvSpPr>
          <p:nvPr/>
        </p:nvSpPr>
        <p:spPr>
          <a:xfrm xmlns:a="http://schemas.openxmlformats.org/drawingml/2006/main">
            <a:off x="2971800" y="43624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architecture, evaluation, thesis evidence</a:t>
            </a:r>
          </a:p>
        </p:txBody>
      </p:sp>
      <p:sp>
        <p:nvSpPr>
          <p:cNvPr id="24" name="">
            <a:extLst xmlns:a="http://schemas.openxmlformats.org/drawingml/2006/main">
              <a:ext uri="{FF2B5EF4-FFF2-40B4-BE49-F238E27FC236}">
                <a16:creationId xmlns:a16="http://schemas.microsoft.com/office/drawing/2014/main" id="{3432A08C-1D4B-469C-A814-F20467E36D57}"/>
              </a:ext>
            </a:extLst>
          </p:cNvPr>
          <p:cNvSpPr>
            <a:spLocks xmlns:a="http://schemas.openxmlformats.org/drawingml/2006/main" noGrp="1"/>
          </p:cNvSpPr>
          <p:nvPr/>
        </p:nvSpPr>
        <p:spPr>
          <a:xfrm xmlns:a="http://schemas.openxmlformats.org/drawingml/2006/main">
            <a:off x="838200" y="4705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Cascadia Mono"/>
                <a:ea typeface="Cascadia Mono"/>
                <a:cs typeface="Cascadia Mono"/>
              </a:defRPr>
            </a:pPr>
            <a:r>
              <a:rPr sz="825" b="1">
                <a:solidFill>
                  <a:srgbClr val="8D754D"/>
                </a:solidFill>
                <a:latin typeface="Cascadia Mono"/>
                <a:ea typeface="Cascadia Mono"/>
                <a:cs typeface="Cascadia Mono"/>
              </a:rPr>
              <a:t>├─ Dockerfile</a:t>
            </a:r>
          </a:p>
        </p:txBody>
      </p:sp>
      <p:sp>
        <p:nvSpPr>
          <p:cNvPr id="25" name="">
            <a:extLst xmlns:a="http://schemas.openxmlformats.org/drawingml/2006/main">
              <a:ext uri="{FF2B5EF4-FFF2-40B4-BE49-F238E27FC236}">
                <a16:creationId xmlns:a16="http://schemas.microsoft.com/office/drawing/2014/main" id="{7C380B8C-DB02-44D7-A3C4-F2626EB99565}"/>
              </a:ext>
            </a:extLst>
          </p:cNvPr>
          <p:cNvSpPr>
            <a:spLocks xmlns:a="http://schemas.openxmlformats.org/drawingml/2006/main" noGrp="1"/>
          </p:cNvSpPr>
          <p:nvPr/>
        </p:nvSpPr>
        <p:spPr>
          <a:xfrm xmlns:a="http://schemas.openxmlformats.org/drawingml/2006/main">
            <a:off x="2971800" y="47053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toolchain image definition</a:t>
            </a:r>
          </a:p>
        </p:txBody>
      </p:sp>
      <p:sp>
        <p:nvSpPr>
          <p:cNvPr id="26" name="">
            <a:extLst xmlns:a="http://schemas.openxmlformats.org/drawingml/2006/main">
              <a:ext uri="{FF2B5EF4-FFF2-40B4-BE49-F238E27FC236}">
                <a16:creationId xmlns:a16="http://schemas.microsoft.com/office/drawing/2014/main" id="{3CFD5724-FC68-41ED-B720-454A96BAE5A9}"/>
              </a:ext>
            </a:extLst>
          </p:cNvPr>
          <p:cNvSpPr>
            <a:spLocks xmlns:a="http://schemas.openxmlformats.org/drawingml/2006/main" noGrp="1"/>
          </p:cNvSpPr>
          <p:nvPr/>
        </p:nvSpPr>
        <p:spPr>
          <a:xfrm xmlns:a="http://schemas.openxmlformats.org/drawingml/2006/main">
            <a:off x="838200" y="5048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Cascadia Mono"/>
                <a:ea typeface="Cascadia Mono"/>
                <a:cs typeface="Cascadia Mono"/>
              </a:defRPr>
            </a:pPr>
            <a:r>
              <a:rPr sz="825" b="1">
                <a:solidFill>
                  <a:srgbClr val="655F73"/>
                </a:solidFill>
                <a:latin typeface="Cascadia Mono"/>
                <a:ea typeface="Cascadia Mono"/>
                <a:cs typeface="Cascadia Mono"/>
              </a:rPr>
              <a:t>└─ docker-compose.yml</a:t>
            </a:r>
          </a:p>
        </p:txBody>
      </p:sp>
      <p:sp>
        <p:nvSpPr>
          <p:cNvPr id="27" name="">
            <a:extLst xmlns:a="http://schemas.openxmlformats.org/drawingml/2006/main">
              <a:ext uri="{FF2B5EF4-FFF2-40B4-BE49-F238E27FC236}">
                <a16:creationId xmlns:a16="http://schemas.microsoft.com/office/drawing/2014/main" id="{EC5801BD-5171-4508-A220-252DFD8179C3}"/>
              </a:ext>
            </a:extLst>
          </p:cNvPr>
          <p:cNvSpPr>
            <a:spLocks xmlns:a="http://schemas.openxmlformats.org/drawingml/2006/main" noGrp="1"/>
          </p:cNvSpPr>
          <p:nvPr/>
        </p:nvSpPr>
        <p:spPr>
          <a:xfrm xmlns:a="http://schemas.openxmlformats.org/drawingml/2006/main">
            <a:off x="2971800" y="50482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bind-mounted reproducible workspace</a:t>
            </a:r>
          </a:p>
        </p:txBody>
      </p:sp>
      <p:sp>
        <p:nvSpPr>
          <p:cNvPr id="28" name="">
            <a:extLst xmlns:a="http://schemas.openxmlformats.org/drawingml/2006/main">
              <a:ext uri="{FF2B5EF4-FFF2-40B4-BE49-F238E27FC236}">
                <a16:creationId xmlns:a16="http://schemas.microsoft.com/office/drawing/2014/main" id="{0E45C0FC-E389-4E76-AB00-B982E1412FF5}"/>
              </a:ext>
            </a:extLst>
          </p:cNvPr>
          <p:cNvSpPr>
            <a:spLocks xmlns:a="http://schemas.openxmlformats.org/drawingml/2006/main" noGrp="1"/>
          </p:cNvSpPr>
          <p:nvPr/>
        </p:nvSpPr>
        <p:spPr>
          <a:xfrm xmlns:a="http://schemas.openxmlformats.org/drawingml/2006/main">
            <a:off x="5429250" y="1352550"/>
            <a:ext cx="6172200" cy="44386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54EC35C1-8E70-49D9-8EDD-C90580E535CF}"/>
              </a:ext>
            </a:extLst>
          </p:cNvPr>
          <p:cNvSpPr>
            <a:spLocks xmlns:a="http://schemas.openxmlformats.org/drawingml/2006/main" noGrp="1"/>
          </p:cNvSpPr>
          <p:nvPr/>
        </p:nvSpPr>
        <p:spPr>
          <a:xfrm xmlns:a="http://schemas.openxmlformats.org/drawingml/2006/main">
            <a:off x="5657850" y="15811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IMPLEMENTATION FLOW</a:t>
            </a:r>
          </a:p>
        </p:txBody>
      </p:sp>
      <p:sp>
        <p:nvSpPr>
          <p:cNvPr id="30" name="">
            <a:extLst xmlns:a="http://schemas.openxmlformats.org/drawingml/2006/main">
              <a:ext uri="{FF2B5EF4-FFF2-40B4-BE49-F238E27FC236}">
                <a16:creationId xmlns:a16="http://schemas.microsoft.com/office/drawing/2014/main" id="{D7088BBF-79E8-440B-8F9D-C6FD1A2B20EF}"/>
              </a:ext>
            </a:extLst>
          </p:cNvPr>
          <p:cNvSpPr>
            <a:spLocks xmlns:a="http://schemas.openxmlformats.org/drawingml/2006/main" noGrp="1"/>
          </p:cNvSpPr>
          <p:nvPr/>
        </p:nvSpPr>
        <p:spPr>
          <a:xfrm xmlns:a="http://schemas.openxmlformats.org/drawingml/2006/main">
            <a:off x="5657850" y="2000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31" name="">
            <a:extLst xmlns:a="http://schemas.openxmlformats.org/drawingml/2006/main">
              <a:ext uri="{FF2B5EF4-FFF2-40B4-BE49-F238E27FC236}">
                <a16:creationId xmlns:a16="http://schemas.microsoft.com/office/drawing/2014/main" id="{9F513470-2279-4E6A-861D-B9874C871C4F}"/>
              </a:ext>
            </a:extLst>
          </p:cNvPr>
          <p:cNvSpPr>
            <a:spLocks xmlns:a="http://schemas.openxmlformats.org/drawingml/2006/main" noGrp="1"/>
          </p:cNvSpPr>
          <p:nvPr/>
        </p:nvSpPr>
        <p:spPr>
          <a:xfrm xmlns:a="http://schemas.openxmlformats.org/drawingml/2006/main">
            <a:off x="5724525" y="2057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APK input</a:t>
            </a:r>
          </a:p>
        </p:txBody>
      </p:sp>
      <p:sp>
        <p:nvSpPr>
          <p:cNvPr id="32" name="rule">
            <a:extLst xmlns:a="http://schemas.openxmlformats.org/drawingml/2006/main">
              <a:ext uri="{FF2B5EF4-FFF2-40B4-BE49-F238E27FC236}">
                <a16:creationId xmlns:a16="http://schemas.microsoft.com/office/drawing/2014/main" id="{B4BEEB53-B905-4206-AA29-571B4EE9E204}"/>
              </a:ext>
            </a:extLst>
          </p:cNvPr>
          <p:cNvSpPr>
            <a:spLocks xmlns:a="http://schemas.openxmlformats.org/drawingml/2006/main" noGrp="1"/>
          </p:cNvSpPr>
          <p:nvPr/>
        </p:nvSpPr>
        <p:spPr>
          <a:xfrm xmlns:a="http://schemas.openxmlformats.org/drawingml/2006/main">
            <a:off x="7200900" y="2124075"/>
            <a:ext cx="2667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8F4C083-3007-44C7-B5ED-8978C972F887}"/>
              </a:ext>
            </a:extLst>
          </p:cNvPr>
          <p:cNvSpPr>
            <a:spLocks xmlns:a="http://schemas.openxmlformats.org/drawingml/2006/main" noGrp="1"/>
          </p:cNvSpPr>
          <p:nvPr/>
        </p:nvSpPr>
        <p:spPr>
          <a:xfrm xmlns:a="http://schemas.openxmlformats.org/drawingml/2006/main">
            <a:off x="7391400" y="203835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3FEC9A6-0148-4532-91A1-E780428940D6}"/>
              </a:ext>
            </a:extLst>
          </p:cNvPr>
          <p:cNvSpPr>
            <a:spLocks xmlns:a="http://schemas.openxmlformats.org/drawingml/2006/main" noGrp="1"/>
          </p:cNvSpPr>
          <p:nvPr/>
        </p:nvSpPr>
        <p:spPr>
          <a:xfrm xmlns:a="http://schemas.openxmlformats.org/drawingml/2006/main">
            <a:off x="7715250" y="2019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data/test_apks or mounted user APK</a:t>
            </a:r>
          </a:p>
        </p:txBody>
      </p:sp>
      <p:sp>
        <p:nvSpPr>
          <p:cNvPr id="35" name="">
            <a:extLst xmlns:a="http://schemas.openxmlformats.org/drawingml/2006/main">
              <a:ext uri="{FF2B5EF4-FFF2-40B4-BE49-F238E27FC236}">
                <a16:creationId xmlns:a16="http://schemas.microsoft.com/office/drawing/2014/main" id="{62FE9341-FB6C-47A8-B3F3-8D627FED505F}"/>
              </a:ext>
            </a:extLst>
          </p:cNvPr>
          <p:cNvSpPr>
            <a:spLocks xmlns:a="http://schemas.openxmlformats.org/drawingml/2006/main" noGrp="1"/>
          </p:cNvSpPr>
          <p:nvPr/>
        </p:nvSpPr>
        <p:spPr>
          <a:xfrm xmlns:a="http://schemas.openxmlformats.org/drawingml/2006/main">
            <a:off x="5657850" y="2571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6" name="">
            <a:extLst xmlns:a="http://schemas.openxmlformats.org/drawingml/2006/main">
              <a:ext uri="{FF2B5EF4-FFF2-40B4-BE49-F238E27FC236}">
                <a16:creationId xmlns:a16="http://schemas.microsoft.com/office/drawing/2014/main" id="{BF3AF73E-E5D3-42BE-A5E4-9F6B81155E65}"/>
              </a:ext>
            </a:extLst>
          </p:cNvPr>
          <p:cNvSpPr>
            <a:spLocks xmlns:a="http://schemas.openxmlformats.org/drawingml/2006/main" noGrp="1"/>
          </p:cNvSpPr>
          <p:nvPr/>
        </p:nvSpPr>
        <p:spPr>
          <a:xfrm xmlns:a="http://schemas.openxmlformats.org/drawingml/2006/main">
            <a:off x="5724525" y="2628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Extract + analyze</a:t>
            </a:r>
          </a:p>
        </p:txBody>
      </p:sp>
      <p:sp>
        <p:nvSpPr>
          <p:cNvPr id="37" name="rule">
            <a:extLst xmlns:a="http://schemas.openxmlformats.org/drawingml/2006/main">
              <a:ext uri="{FF2B5EF4-FFF2-40B4-BE49-F238E27FC236}">
                <a16:creationId xmlns:a16="http://schemas.microsoft.com/office/drawing/2014/main" id="{15557F38-9955-4456-ADE9-F4BCAEC1A6F4}"/>
              </a:ext>
            </a:extLst>
          </p:cNvPr>
          <p:cNvSpPr>
            <a:spLocks xmlns:a="http://schemas.openxmlformats.org/drawingml/2006/main" noGrp="1"/>
          </p:cNvSpPr>
          <p:nvPr/>
        </p:nvSpPr>
        <p:spPr>
          <a:xfrm xmlns:a="http://schemas.openxmlformats.org/drawingml/2006/main">
            <a:off x="7200900" y="2695575"/>
            <a:ext cx="2667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44F8446-7D24-4B75-AC92-C29F047FBC72}"/>
              </a:ext>
            </a:extLst>
          </p:cNvPr>
          <p:cNvSpPr>
            <a:spLocks xmlns:a="http://schemas.openxmlformats.org/drawingml/2006/main" noGrp="1"/>
          </p:cNvSpPr>
          <p:nvPr/>
        </p:nvSpPr>
        <p:spPr>
          <a:xfrm xmlns:a="http://schemas.openxmlformats.org/drawingml/2006/main">
            <a:off x="7391400" y="26098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44835CC-F37C-4BB7-989F-3EFE22C7058C}"/>
              </a:ext>
            </a:extLst>
          </p:cNvPr>
          <p:cNvSpPr>
            <a:spLocks xmlns:a="http://schemas.openxmlformats.org/drawingml/2006/main" noGrp="1"/>
          </p:cNvSpPr>
          <p:nvPr/>
        </p:nvSpPr>
        <p:spPr>
          <a:xfrm xmlns:a="http://schemas.openxmlformats.org/drawingml/2006/main">
            <a:off x="7715250" y="2590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apk_extractor.py + dex_analyzer.py</a:t>
            </a:r>
          </a:p>
        </p:txBody>
      </p:sp>
      <p:sp>
        <p:nvSpPr>
          <p:cNvPr id="40" name="">
            <a:extLst xmlns:a="http://schemas.openxmlformats.org/drawingml/2006/main">
              <a:ext uri="{FF2B5EF4-FFF2-40B4-BE49-F238E27FC236}">
                <a16:creationId xmlns:a16="http://schemas.microsoft.com/office/drawing/2014/main" id="{02C3915C-631F-4067-8E58-A881FAC3BD79}"/>
              </a:ext>
            </a:extLst>
          </p:cNvPr>
          <p:cNvSpPr>
            <a:spLocks xmlns:a="http://schemas.openxmlformats.org/drawingml/2006/main" noGrp="1"/>
          </p:cNvSpPr>
          <p:nvPr/>
        </p:nvSpPr>
        <p:spPr>
          <a:xfrm xmlns:a="http://schemas.openxmlformats.org/drawingml/2006/main">
            <a:off x="5657850" y="3143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1" name="">
            <a:extLst xmlns:a="http://schemas.openxmlformats.org/drawingml/2006/main">
              <a:ext uri="{FF2B5EF4-FFF2-40B4-BE49-F238E27FC236}">
                <a16:creationId xmlns:a16="http://schemas.microsoft.com/office/drawing/2014/main" id="{2F354DE4-A05B-4E12-ADBB-2076C21674E8}"/>
              </a:ext>
            </a:extLst>
          </p:cNvPr>
          <p:cNvSpPr>
            <a:spLocks xmlns:a="http://schemas.openxmlformats.org/drawingml/2006/main" noGrp="1"/>
          </p:cNvSpPr>
          <p:nvPr/>
        </p:nvSpPr>
        <p:spPr>
          <a:xfrm xmlns:a="http://schemas.openxmlformats.org/drawingml/2006/main">
            <a:off x="5724525" y="3200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Match</a:t>
            </a:r>
          </a:p>
        </p:txBody>
      </p:sp>
      <p:sp>
        <p:nvSpPr>
          <p:cNvPr id="42" name="rule">
            <a:extLst xmlns:a="http://schemas.openxmlformats.org/drawingml/2006/main">
              <a:ext uri="{FF2B5EF4-FFF2-40B4-BE49-F238E27FC236}">
                <a16:creationId xmlns:a16="http://schemas.microsoft.com/office/drawing/2014/main" id="{5033435F-2E74-411F-86A7-83919EF173FE}"/>
              </a:ext>
            </a:extLst>
          </p:cNvPr>
          <p:cNvSpPr>
            <a:spLocks xmlns:a="http://schemas.openxmlformats.org/drawingml/2006/main" noGrp="1"/>
          </p:cNvSpPr>
          <p:nvPr/>
        </p:nvSpPr>
        <p:spPr>
          <a:xfrm xmlns:a="http://schemas.openxmlformats.org/drawingml/2006/main">
            <a:off x="7200900" y="3267075"/>
            <a:ext cx="2667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4920A4F-B07F-4677-B606-D3E1A9B359A1}"/>
              </a:ext>
            </a:extLst>
          </p:cNvPr>
          <p:cNvSpPr>
            <a:spLocks xmlns:a="http://schemas.openxmlformats.org/drawingml/2006/main" noGrp="1"/>
          </p:cNvSpPr>
          <p:nvPr/>
        </p:nvSpPr>
        <p:spPr>
          <a:xfrm xmlns:a="http://schemas.openxmlformats.org/drawingml/2006/main">
            <a:off x="7391400" y="318135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6538C02-2618-459E-AF00-F5C1DF6AE7D0}"/>
              </a:ext>
            </a:extLst>
          </p:cNvPr>
          <p:cNvSpPr>
            <a:spLocks xmlns:a="http://schemas.openxmlformats.org/drawingml/2006/main" noGrp="1"/>
          </p:cNvSpPr>
          <p:nvPr/>
        </p:nvSpPr>
        <p:spPr>
          <a:xfrm xmlns:a="http://schemas.openxmlformats.org/drawingml/2006/main">
            <a:off x="7715250" y="3162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matcher.py queries reference_features*.sqlite</a:t>
            </a:r>
          </a:p>
        </p:txBody>
      </p:sp>
      <p:sp>
        <p:nvSpPr>
          <p:cNvPr id="45" name="">
            <a:extLst xmlns:a="http://schemas.openxmlformats.org/drawingml/2006/main">
              <a:ext uri="{FF2B5EF4-FFF2-40B4-BE49-F238E27FC236}">
                <a16:creationId xmlns:a16="http://schemas.microsoft.com/office/drawing/2014/main" id="{35136517-C940-4889-A52C-32BE4904ECCD}"/>
              </a:ext>
            </a:extLst>
          </p:cNvPr>
          <p:cNvSpPr>
            <a:spLocks xmlns:a="http://schemas.openxmlformats.org/drawingml/2006/main" noGrp="1"/>
          </p:cNvSpPr>
          <p:nvPr/>
        </p:nvSpPr>
        <p:spPr>
          <a:xfrm xmlns:a="http://schemas.openxmlformats.org/drawingml/2006/main">
            <a:off x="5657850" y="3714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46" name="">
            <a:extLst xmlns:a="http://schemas.openxmlformats.org/drawingml/2006/main">
              <a:ext uri="{FF2B5EF4-FFF2-40B4-BE49-F238E27FC236}">
                <a16:creationId xmlns:a16="http://schemas.microsoft.com/office/drawing/2014/main" id="{E054A14C-72A3-4F5A-A507-DE8E59957C58}"/>
              </a:ext>
            </a:extLst>
          </p:cNvPr>
          <p:cNvSpPr>
            <a:spLocks xmlns:a="http://schemas.openxmlformats.org/drawingml/2006/main" noGrp="1"/>
          </p:cNvSpPr>
          <p:nvPr/>
        </p:nvSpPr>
        <p:spPr>
          <a:xfrm xmlns:a="http://schemas.openxmlformats.org/drawingml/2006/main">
            <a:off x="5724525" y="3771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Emit</a:t>
            </a:r>
          </a:p>
        </p:txBody>
      </p:sp>
      <p:sp>
        <p:nvSpPr>
          <p:cNvPr id="47" name="rule">
            <a:extLst xmlns:a="http://schemas.openxmlformats.org/drawingml/2006/main">
              <a:ext uri="{FF2B5EF4-FFF2-40B4-BE49-F238E27FC236}">
                <a16:creationId xmlns:a16="http://schemas.microsoft.com/office/drawing/2014/main" id="{30119AB7-C541-41AB-8C29-BA40BF40EC5D}"/>
              </a:ext>
            </a:extLst>
          </p:cNvPr>
          <p:cNvSpPr>
            <a:spLocks xmlns:a="http://schemas.openxmlformats.org/drawingml/2006/main" noGrp="1"/>
          </p:cNvSpPr>
          <p:nvPr/>
        </p:nvSpPr>
        <p:spPr>
          <a:xfrm xmlns:a="http://schemas.openxmlformats.org/drawingml/2006/main">
            <a:off x="7200900" y="3838575"/>
            <a:ext cx="2667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4B31FDF-4AE3-493D-9FA5-9F4ECD1D5FFE}"/>
              </a:ext>
            </a:extLst>
          </p:cNvPr>
          <p:cNvSpPr>
            <a:spLocks xmlns:a="http://schemas.openxmlformats.org/drawingml/2006/main" noGrp="1"/>
          </p:cNvSpPr>
          <p:nvPr/>
        </p:nvSpPr>
        <p:spPr>
          <a:xfrm xmlns:a="http://schemas.openxmlformats.org/drawingml/2006/main">
            <a:off x="7391400" y="37528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5325EAA-F14E-47D0-8092-373F0201D724}"/>
              </a:ext>
            </a:extLst>
          </p:cNvPr>
          <p:cNvSpPr>
            <a:spLocks xmlns:a="http://schemas.openxmlformats.org/drawingml/2006/main" noGrp="1"/>
          </p:cNvSpPr>
          <p:nvPr/>
        </p:nvSpPr>
        <p:spPr>
          <a:xfrm xmlns:a="http://schemas.openxmlformats.org/drawingml/2006/main">
            <a:off x="7715250" y="3733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sbom.py + vulnerability.py + report.py</a:t>
            </a:r>
          </a:p>
        </p:txBody>
      </p:sp>
      <p:sp>
        <p:nvSpPr>
          <p:cNvPr id="50" name="">
            <a:extLst xmlns:a="http://schemas.openxmlformats.org/drawingml/2006/main">
              <a:ext uri="{FF2B5EF4-FFF2-40B4-BE49-F238E27FC236}">
                <a16:creationId xmlns:a16="http://schemas.microsoft.com/office/drawing/2014/main" id="{6D12783D-B919-406C-8B69-1A063CB99EC1}"/>
              </a:ext>
            </a:extLst>
          </p:cNvPr>
          <p:cNvSpPr>
            <a:spLocks xmlns:a="http://schemas.openxmlformats.org/drawingml/2006/main" noGrp="1"/>
          </p:cNvSpPr>
          <p:nvPr/>
        </p:nvSpPr>
        <p:spPr>
          <a:xfrm xmlns:a="http://schemas.openxmlformats.org/drawingml/2006/main">
            <a:off x="5657850" y="4286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51" name="">
            <a:extLst xmlns:a="http://schemas.openxmlformats.org/drawingml/2006/main">
              <a:ext uri="{FF2B5EF4-FFF2-40B4-BE49-F238E27FC236}">
                <a16:creationId xmlns:a16="http://schemas.microsoft.com/office/drawing/2014/main" id="{0610B7BA-90A1-4FE2-8DB1-DBB5785DABC5}"/>
              </a:ext>
            </a:extLst>
          </p:cNvPr>
          <p:cNvSpPr>
            <a:spLocks xmlns:a="http://schemas.openxmlformats.org/drawingml/2006/main" noGrp="1"/>
          </p:cNvSpPr>
          <p:nvPr/>
        </p:nvSpPr>
        <p:spPr>
          <a:xfrm xmlns:a="http://schemas.openxmlformats.org/drawingml/2006/main">
            <a:off x="5724525" y="4343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Validate</a:t>
            </a:r>
          </a:p>
        </p:txBody>
      </p:sp>
      <p:sp>
        <p:nvSpPr>
          <p:cNvPr id="52" name="rule">
            <a:extLst xmlns:a="http://schemas.openxmlformats.org/drawingml/2006/main">
              <a:ext uri="{FF2B5EF4-FFF2-40B4-BE49-F238E27FC236}">
                <a16:creationId xmlns:a16="http://schemas.microsoft.com/office/drawing/2014/main" id="{020FCCBA-F54B-4AB1-92F3-2CA739188BDA}"/>
              </a:ext>
            </a:extLst>
          </p:cNvPr>
          <p:cNvSpPr>
            <a:spLocks xmlns:a="http://schemas.openxmlformats.org/drawingml/2006/main" noGrp="1"/>
          </p:cNvSpPr>
          <p:nvPr/>
        </p:nvSpPr>
        <p:spPr>
          <a:xfrm xmlns:a="http://schemas.openxmlformats.org/drawingml/2006/main">
            <a:off x="7200900" y="4410075"/>
            <a:ext cx="2667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95C74AD5-F3A4-4E9F-8BD5-776B22776294}"/>
              </a:ext>
            </a:extLst>
          </p:cNvPr>
          <p:cNvSpPr>
            <a:spLocks xmlns:a="http://schemas.openxmlformats.org/drawingml/2006/main" noGrp="1"/>
          </p:cNvSpPr>
          <p:nvPr/>
        </p:nvSpPr>
        <p:spPr>
          <a:xfrm xmlns:a="http://schemas.openxmlformats.org/drawingml/2006/main">
            <a:off x="7391400" y="432435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718C1D1-F485-452C-81F2-5C024FE82EBB}"/>
              </a:ext>
            </a:extLst>
          </p:cNvPr>
          <p:cNvSpPr>
            <a:spLocks xmlns:a="http://schemas.openxmlformats.org/drawingml/2006/main" noGrp="1"/>
          </p:cNvSpPr>
          <p:nvPr/>
        </p:nvSpPr>
        <p:spPr>
          <a:xfrm xmlns:a="http://schemas.openxmlformats.org/drawingml/2006/main">
            <a:off x="7715250" y="4305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source-validation JSON + evaluation scripts</a:t>
            </a:r>
          </a:p>
        </p:txBody>
      </p:sp>
      <p:sp>
        <p:nvSpPr>
          <p:cNvPr id="55" name="">
            <a:extLst xmlns:a="http://schemas.openxmlformats.org/drawingml/2006/main">
              <a:ext uri="{FF2B5EF4-FFF2-40B4-BE49-F238E27FC236}">
                <a16:creationId xmlns:a16="http://schemas.microsoft.com/office/drawing/2014/main" id="{3DB83AD6-26F5-4176-BFBE-C8961C420B87}"/>
              </a:ext>
            </a:extLst>
          </p:cNvPr>
          <p:cNvSpPr>
            <a:spLocks xmlns:a="http://schemas.openxmlformats.org/drawingml/2006/main" noGrp="1"/>
          </p:cNvSpPr>
          <p:nvPr/>
        </p:nvSpPr>
        <p:spPr>
          <a:xfrm xmlns:a="http://schemas.openxmlformats.org/drawingml/2006/main">
            <a:off x="5657850" y="4857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56" name="">
            <a:extLst xmlns:a="http://schemas.openxmlformats.org/drawingml/2006/main">
              <a:ext uri="{FF2B5EF4-FFF2-40B4-BE49-F238E27FC236}">
                <a16:creationId xmlns:a16="http://schemas.microsoft.com/office/drawing/2014/main" id="{D17412DE-AF7D-4701-BAE7-1E6AB532554A}"/>
              </a:ext>
            </a:extLst>
          </p:cNvPr>
          <p:cNvSpPr>
            <a:spLocks xmlns:a="http://schemas.openxmlformats.org/drawingml/2006/main" noGrp="1"/>
          </p:cNvSpPr>
          <p:nvPr/>
        </p:nvSpPr>
        <p:spPr>
          <a:xfrm xmlns:a="http://schemas.openxmlformats.org/drawingml/2006/main">
            <a:off x="5724525" y="4914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Preserve evidence</a:t>
            </a:r>
          </a:p>
        </p:txBody>
      </p:sp>
      <p:sp>
        <p:nvSpPr>
          <p:cNvPr id="57" name="rule">
            <a:extLst xmlns:a="http://schemas.openxmlformats.org/drawingml/2006/main">
              <a:ext uri="{FF2B5EF4-FFF2-40B4-BE49-F238E27FC236}">
                <a16:creationId xmlns:a16="http://schemas.microsoft.com/office/drawing/2014/main" id="{57AFE88B-A828-4566-A626-71769DC91625}"/>
              </a:ext>
            </a:extLst>
          </p:cNvPr>
          <p:cNvSpPr>
            <a:spLocks xmlns:a="http://schemas.openxmlformats.org/drawingml/2006/main" noGrp="1"/>
          </p:cNvSpPr>
          <p:nvPr/>
        </p:nvSpPr>
        <p:spPr>
          <a:xfrm xmlns:a="http://schemas.openxmlformats.org/drawingml/2006/main">
            <a:off x="7200900" y="4981575"/>
            <a:ext cx="266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C792249-005F-43BD-AD60-E8F759B99D33}"/>
              </a:ext>
            </a:extLst>
          </p:cNvPr>
          <p:cNvSpPr>
            <a:spLocks xmlns:a="http://schemas.openxmlformats.org/drawingml/2006/main" noGrp="1"/>
          </p:cNvSpPr>
          <p:nvPr/>
        </p:nvSpPr>
        <p:spPr>
          <a:xfrm xmlns:a="http://schemas.openxmlformats.org/drawingml/2006/main">
            <a:off x="7391400" y="48958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D1A0B178-D41F-4C43-8607-65DFE82B375D}"/>
              </a:ext>
            </a:extLst>
          </p:cNvPr>
          <p:cNvSpPr>
            <a:spLocks xmlns:a="http://schemas.openxmlformats.org/drawingml/2006/main" noGrp="1"/>
          </p:cNvSpPr>
          <p:nvPr/>
        </p:nvSpPr>
        <p:spPr>
          <a:xfrm xmlns:a="http://schemas.openxmlformats.org/drawingml/2006/main">
            <a:off x="7715250" y="4876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data/results/... HTML, JSON, CycloneDX, metrics</a:t>
            </a:r>
          </a:p>
        </p:txBody>
      </p:sp>
      <p:sp>
        <p:nvSpPr>
          <p:cNvPr id="60" name="">
            <a:extLst xmlns:a="http://schemas.openxmlformats.org/drawingml/2006/main">
              <a:ext uri="{FF2B5EF4-FFF2-40B4-BE49-F238E27FC236}">
                <a16:creationId xmlns:a16="http://schemas.microsoft.com/office/drawing/2014/main" id="{C020D1C1-210E-41ED-B666-84005D7BCB25}"/>
              </a:ext>
            </a:extLst>
          </p:cNvPr>
          <p:cNvSpPr>
            <a:spLocks xmlns:a="http://schemas.openxmlformats.org/drawingml/2006/main" noGrp="1"/>
          </p:cNvSpPr>
          <p:nvPr/>
        </p:nvSpPr>
        <p:spPr>
          <a:xfrm xmlns:a="http://schemas.openxmlformats.org/drawingml/2006/main">
            <a:off x="685800" y="59817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C8D738F3-0442-488A-8730-A6F5DC413DAE}"/>
              </a:ext>
            </a:extLst>
          </p:cNvPr>
          <p:cNvSpPr>
            <a:spLocks xmlns:a="http://schemas.openxmlformats.org/drawingml/2006/main" noGrp="1"/>
          </p:cNvSpPr>
          <p:nvPr/>
        </p:nvSpPr>
        <p:spPr>
          <a:xfrm xmlns:a="http://schemas.openxmlformats.org/drawingml/2006/main">
            <a:off x="819150" y="6048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Core modules: apk_extractor.py  dex_analyzer.py  reference_features.py  matcher.py  sbom.py  vulnerability.py  report.py</a:t>
            </a:r>
          </a:p>
        </p:txBody>
      </p:sp>
      <p:sp>
        <p:nvSpPr>
          <p:cNvPr id="62" name="">
            <a:extLst xmlns:a="http://schemas.openxmlformats.org/drawingml/2006/main">
              <a:ext uri="{FF2B5EF4-FFF2-40B4-BE49-F238E27FC236}">
                <a16:creationId xmlns:a16="http://schemas.microsoft.com/office/drawing/2014/main" id="{E74A5271-1C62-4087-95CF-BF27B3730CB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27046374"/>
      </p:ext>
    </p:extLst>
  </p:cSld>
</p:sld>
</file>

<file path=ppt/slides/slide3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0E6DAF-5069-4D72-B07E-A391C5DE08D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BACKUP 2</a:t>
            </a:r>
          </a:p>
        </p:txBody>
      </p:sp>
      <p:sp>
        <p:nvSpPr>
          <p:cNvPr id="2" name="">
            <a:extLst xmlns:a="http://schemas.openxmlformats.org/drawingml/2006/main">
              <a:ext uri="{FF2B5EF4-FFF2-40B4-BE49-F238E27FC236}">
                <a16:creationId xmlns:a16="http://schemas.microsoft.com/office/drawing/2014/main" id="{EB6D7D93-1B72-4A6F-A9D8-97E932B68B2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Exact matcher signals, default weights, and guarded signals</a:t>
            </a:r>
          </a:p>
        </p:txBody>
      </p:sp>
      <p:sp>
        <p:nvSpPr>
          <p:cNvPr id="3" name="">
            <a:extLst xmlns:a="http://schemas.openxmlformats.org/drawingml/2006/main">
              <a:ext uri="{FF2B5EF4-FFF2-40B4-BE49-F238E27FC236}">
                <a16:creationId xmlns:a16="http://schemas.microsoft.com/office/drawing/2014/main" id="{2EF58A80-2671-4849-86ED-DD02957650E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35B53836-62B0-4405-B986-6FB146448D20}"/>
              </a:ext>
            </a:extLst>
          </p:cNvPr>
          <p:cNvSpPr>
            <a:spLocks xmlns:a="http://schemas.openxmlformats.org/drawingml/2006/main" noGrp="1"/>
          </p:cNvSpPr>
          <p:nvPr/>
        </p:nvSpPr>
        <p:spPr>
          <a:xfrm xmlns:a="http://schemas.openxmlformats.org/drawingml/2006/main">
            <a:off x="800100" y="1485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Class</a:t>
            </a:r>
          </a:p>
        </p:txBody>
      </p:sp>
      <p:sp>
        <p:nvSpPr>
          <p:cNvPr id="5" name="">
            <a:extLst xmlns:a="http://schemas.openxmlformats.org/drawingml/2006/main">
              <a:ext uri="{FF2B5EF4-FFF2-40B4-BE49-F238E27FC236}">
                <a16:creationId xmlns:a16="http://schemas.microsoft.com/office/drawing/2014/main" id="{6C3F6927-E735-4810-869D-06A306C11CD9}"/>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79B3EB7-662C-448D-BEF7-7B80F17A4378}"/>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052255-2257-4A99-953C-4C1A3101EF83}"/>
              </a:ext>
            </a:extLst>
          </p:cNvPr>
          <p:cNvSpPr>
            <a:spLocks xmlns:a="http://schemas.openxmlformats.org/drawingml/2006/main" noGrp="1"/>
          </p:cNvSpPr>
          <p:nvPr/>
        </p:nvSpPr>
        <p:spPr>
          <a:xfrm xmlns:a="http://schemas.openxmlformats.org/drawingml/2006/main">
            <a:off x="7715250" y="14478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365F7D"/>
                </a:solidFill>
                <a:latin typeface="Aptos"/>
                <a:ea typeface="Aptos"/>
                <a:cs typeface="Aptos"/>
              </a:defRPr>
            </a:pPr>
            <a:r>
              <a:rPr sz="1200" b="1">
                <a:solidFill>
                  <a:srgbClr val="365F7D"/>
                </a:solidFill>
                <a:latin typeface="Aptos"/>
                <a:ea typeface="Aptos"/>
                <a:cs typeface="Aptos"/>
              </a:rPr>
              <a:t>0.45</a:t>
            </a:r>
          </a:p>
        </p:txBody>
      </p:sp>
      <p:sp>
        <p:nvSpPr>
          <p:cNvPr id="8" name="">
            <a:extLst xmlns:a="http://schemas.openxmlformats.org/drawingml/2006/main">
              <a:ext uri="{FF2B5EF4-FFF2-40B4-BE49-F238E27FC236}">
                <a16:creationId xmlns:a16="http://schemas.microsoft.com/office/drawing/2014/main" id="{F8C0CEC9-446A-4075-9A7F-9808F8EE1940}"/>
              </a:ext>
            </a:extLst>
          </p:cNvPr>
          <p:cNvSpPr>
            <a:spLocks xmlns:a="http://schemas.openxmlformats.org/drawingml/2006/main" noGrp="1"/>
          </p:cNvSpPr>
          <p:nvPr/>
        </p:nvSpPr>
        <p:spPr>
          <a:xfrm xmlns:a="http://schemas.openxmlformats.org/drawingml/2006/main">
            <a:off x="800100" y="2038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Method</a:t>
            </a:r>
          </a:p>
        </p:txBody>
      </p:sp>
      <p:sp>
        <p:nvSpPr>
          <p:cNvPr id="9" name="">
            <a:extLst xmlns:a="http://schemas.openxmlformats.org/drawingml/2006/main">
              <a:ext uri="{FF2B5EF4-FFF2-40B4-BE49-F238E27FC236}">
                <a16:creationId xmlns:a16="http://schemas.microsoft.com/office/drawing/2014/main" id="{2CE67DA5-C43C-4D89-B7EB-5953970566F4}"/>
              </a:ext>
            </a:extLst>
          </p:cNvPr>
          <p:cNvSpPr>
            <a:spLocks xmlns:a="http://schemas.openxmlformats.org/drawingml/2006/main" noGrp="1"/>
          </p:cNvSpPr>
          <p:nvPr/>
        </p:nvSpPr>
        <p:spPr>
          <a:xfrm xmlns:a="http://schemas.openxmlformats.org/drawingml/2006/main">
            <a:off x="2590800" y="20669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6C550F-B1E2-4AF9-A218-E6C448D1CE2F}"/>
              </a:ext>
            </a:extLst>
          </p:cNvPr>
          <p:cNvSpPr>
            <a:spLocks xmlns:a="http://schemas.openxmlformats.org/drawingml/2006/main" noGrp="1"/>
          </p:cNvSpPr>
          <p:nvPr/>
        </p:nvSpPr>
        <p:spPr>
          <a:xfrm xmlns:a="http://schemas.openxmlformats.org/drawingml/2006/main">
            <a:off x="2590800" y="2066925"/>
            <a:ext cx="2751667"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7ACF6B-4BE7-4B09-AC41-16F76E45BCCB}"/>
              </a:ext>
            </a:extLst>
          </p:cNvPr>
          <p:cNvSpPr>
            <a:spLocks xmlns:a="http://schemas.openxmlformats.org/drawingml/2006/main" noGrp="1"/>
          </p:cNvSpPr>
          <p:nvPr/>
        </p:nvSpPr>
        <p:spPr>
          <a:xfrm xmlns:a="http://schemas.openxmlformats.org/drawingml/2006/main">
            <a:off x="7715250" y="20002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4F7D76"/>
                </a:solidFill>
                <a:latin typeface="Aptos"/>
                <a:ea typeface="Aptos"/>
                <a:cs typeface="Aptos"/>
              </a:defRPr>
            </a:pPr>
            <a:r>
              <a:rPr sz="1200" b="1">
                <a:solidFill>
                  <a:srgbClr val="4F7D76"/>
                </a:solidFill>
                <a:latin typeface="Aptos"/>
                <a:ea typeface="Aptos"/>
                <a:cs typeface="Aptos"/>
              </a:rPr>
              <a:t>0.25</a:t>
            </a:r>
          </a:p>
        </p:txBody>
      </p:sp>
      <p:sp>
        <p:nvSpPr>
          <p:cNvPr id="12" name="">
            <a:extLst xmlns:a="http://schemas.openxmlformats.org/drawingml/2006/main">
              <a:ext uri="{FF2B5EF4-FFF2-40B4-BE49-F238E27FC236}">
                <a16:creationId xmlns:a16="http://schemas.microsoft.com/office/drawing/2014/main" id="{45A723E4-5D0D-4AB7-A22A-5192328A31F9}"/>
              </a:ext>
            </a:extLst>
          </p:cNvPr>
          <p:cNvSpPr>
            <a:spLocks xmlns:a="http://schemas.openxmlformats.org/drawingml/2006/main" noGrp="1"/>
          </p:cNvSpPr>
          <p:nvPr/>
        </p:nvSpPr>
        <p:spPr>
          <a:xfrm xmlns:a="http://schemas.openxmlformats.org/drawingml/2006/main">
            <a:off x="800100" y="2590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Package</a:t>
            </a:r>
          </a:p>
        </p:txBody>
      </p:sp>
      <p:sp>
        <p:nvSpPr>
          <p:cNvPr id="13" name="">
            <a:extLst xmlns:a="http://schemas.openxmlformats.org/drawingml/2006/main">
              <a:ext uri="{FF2B5EF4-FFF2-40B4-BE49-F238E27FC236}">
                <a16:creationId xmlns:a16="http://schemas.microsoft.com/office/drawing/2014/main" id="{08CC43D3-EFBB-4B33-9947-0A75390D7F71}"/>
              </a:ext>
            </a:extLst>
          </p:cNvPr>
          <p:cNvSpPr>
            <a:spLocks xmlns:a="http://schemas.openxmlformats.org/drawingml/2006/main" noGrp="1"/>
          </p:cNvSpPr>
          <p:nvPr/>
        </p:nvSpPr>
        <p:spPr>
          <a:xfrm xmlns:a="http://schemas.openxmlformats.org/drawingml/2006/main">
            <a:off x="2590800" y="26193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920C00-A5E8-43D0-A804-236F4772FC3C}"/>
              </a:ext>
            </a:extLst>
          </p:cNvPr>
          <p:cNvSpPr>
            <a:spLocks xmlns:a="http://schemas.openxmlformats.org/drawingml/2006/main" noGrp="1"/>
          </p:cNvSpPr>
          <p:nvPr/>
        </p:nvSpPr>
        <p:spPr>
          <a:xfrm xmlns:a="http://schemas.openxmlformats.org/drawingml/2006/main">
            <a:off x="2590800" y="2619375"/>
            <a:ext cx="1651000" cy="1714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7B93E9-ADC8-42FF-B9B6-9BD998D9D7CE}"/>
              </a:ext>
            </a:extLst>
          </p:cNvPr>
          <p:cNvSpPr>
            <a:spLocks xmlns:a="http://schemas.openxmlformats.org/drawingml/2006/main" noGrp="1"/>
          </p:cNvSpPr>
          <p:nvPr/>
        </p:nvSpPr>
        <p:spPr>
          <a:xfrm xmlns:a="http://schemas.openxmlformats.org/drawingml/2006/main">
            <a:off x="7715250" y="2552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6F7C61"/>
                </a:solidFill>
                <a:latin typeface="Aptos"/>
                <a:ea typeface="Aptos"/>
                <a:cs typeface="Aptos"/>
              </a:defRPr>
            </a:pPr>
            <a:r>
              <a:rPr sz="1200" b="1">
                <a:solidFill>
                  <a:srgbClr val="6F7C61"/>
                </a:solidFill>
                <a:latin typeface="Aptos"/>
                <a:ea typeface="Aptos"/>
                <a:cs typeface="Aptos"/>
              </a:rPr>
              <a:t>0.15</a:t>
            </a:r>
          </a:p>
        </p:txBody>
      </p:sp>
      <p:sp>
        <p:nvSpPr>
          <p:cNvPr id="16" name="">
            <a:extLst xmlns:a="http://schemas.openxmlformats.org/drawingml/2006/main">
              <a:ext uri="{FF2B5EF4-FFF2-40B4-BE49-F238E27FC236}">
                <a16:creationId xmlns:a16="http://schemas.microsoft.com/office/drawing/2014/main" id="{CF6F8268-24C8-48A4-9F23-5BB6438E9A30}"/>
              </a:ext>
            </a:extLst>
          </p:cNvPr>
          <p:cNvSpPr>
            <a:spLocks xmlns:a="http://schemas.openxmlformats.org/drawingml/2006/main" noGrp="1"/>
          </p:cNvSpPr>
          <p:nvPr/>
        </p:nvSpPr>
        <p:spPr>
          <a:xfrm xmlns:a="http://schemas.openxmlformats.org/drawingml/2006/main">
            <a:off x="800100" y="3143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Opcode</a:t>
            </a:r>
          </a:p>
        </p:txBody>
      </p:sp>
      <p:sp>
        <p:nvSpPr>
          <p:cNvPr id="17" name="">
            <a:extLst xmlns:a="http://schemas.openxmlformats.org/drawingml/2006/main">
              <a:ext uri="{FF2B5EF4-FFF2-40B4-BE49-F238E27FC236}">
                <a16:creationId xmlns:a16="http://schemas.microsoft.com/office/drawing/2014/main" id="{F797FE8D-6EC8-450F-8B73-A80D85102240}"/>
              </a:ext>
            </a:extLst>
          </p:cNvPr>
          <p:cNvSpPr>
            <a:spLocks xmlns:a="http://schemas.openxmlformats.org/drawingml/2006/main" noGrp="1"/>
          </p:cNvSpPr>
          <p:nvPr/>
        </p:nvSpPr>
        <p:spPr>
          <a:xfrm xmlns:a="http://schemas.openxmlformats.org/drawingml/2006/main">
            <a:off x="2590800" y="31718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71AFF5-835E-4ABB-BB32-A1056970A1BC}"/>
              </a:ext>
            </a:extLst>
          </p:cNvPr>
          <p:cNvSpPr>
            <a:spLocks xmlns:a="http://schemas.openxmlformats.org/drawingml/2006/main" noGrp="1"/>
          </p:cNvSpPr>
          <p:nvPr/>
        </p:nvSpPr>
        <p:spPr>
          <a:xfrm xmlns:a="http://schemas.openxmlformats.org/drawingml/2006/main">
            <a:off x="2590800" y="3171825"/>
            <a:ext cx="165100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BACC2A-0FA1-4A84-96A7-454FA57ADC7F}"/>
              </a:ext>
            </a:extLst>
          </p:cNvPr>
          <p:cNvSpPr>
            <a:spLocks xmlns:a="http://schemas.openxmlformats.org/drawingml/2006/main" noGrp="1"/>
          </p:cNvSpPr>
          <p:nvPr/>
        </p:nvSpPr>
        <p:spPr>
          <a:xfrm xmlns:a="http://schemas.openxmlformats.org/drawingml/2006/main">
            <a:off x="7715250" y="31051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655F73"/>
                </a:solidFill>
                <a:latin typeface="Aptos"/>
                <a:ea typeface="Aptos"/>
                <a:cs typeface="Aptos"/>
              </a:defRPr>
            </a:pPr>
            <a:r>
              <a:rPr sz="1200" b="1">
                <a:solidFill>
                  <a:srgbClr val="655F73"/>
                </a:solidFill>
                <a:latin typeface="Aptos"/>
                <a:ea typeface="Aptos"/>
                <a:cs typeface="Aptos"/>
              </a:rPr>
              <a:t>0.15</a:t>
            </a:r>
          </a:p>
        </p:txBody>
      </p:sp>
      <p:sp>
        <p:nvSpPr>
          <p:cNvPr id="20" name="">
            <a:extLst xmlns:a="http://schemas.openxmlformats.org/drawingml/2006/main">
              <a:ext uri="{FF2B5EF4-FFF2-40B4-BE49-F238E27FC236}">
                <a16:creationId xmlns:a16="http://schemas.microsoft.com/office/drawing/2014/main" id="{7D4C276D-30EC-4F8E-A7E4-7162BD276B33}"/>
              </a:ext>
            </a:extLst>
          </p:cNvPr>
          <p:cNvSpPr>
            <a:spLocks xmlns:a="http://schemas.openxmlformats.org/drawingml/2006/main" noGrp="1"/>
          </p:cNvSpPr>
          <p:nvPr/>
        </p:nvSpPr>
        <p:spPr>
          <a:xfrm xmlns:a="http://schemas.openxmlformats.org/drawingml/2006/main">
            <a:off x="800100" y="3695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Unique version</a:t>
            </a:r>
          </a:p>
        </p:txBody>
      </p:sp>
      <p:sp>
        <p:nvSpPr>
          <p:cNvPr id="21" name="">
            <a:extLst xmlns:a="http://schemas.openxmlformats.org/drawingml/2006/main">
              <a:ext uri="{FF2B5EF4-FFF2-40B4-BE49-F238E27FC236}">
                <a16:creationId xmlns:a16="http://schemas.microsoft.com/office/drawing/2014/main" id="{00573203-14A6-4008-8A57-6B721B9D2F6D}"/>
              </a:ext>
            </a:extLst>
          </p:cNvPr>
          <p:cNvSpPr>
            <a:spLocks xmlns:a="http://schemas.openxmlformats.org/drawingml/2006/main" noGrp="1"/>
          </p:cNvSpPr>
          <p:nvPr/>
        </p:nvSpPr>
        <p:spPr>
          <a:xfrm xmlns:a="http://schemas.openxmlformats.org/drawingml/2006/main">
            <a:off x="2590800" y="37242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8833DB-9182-4238-86C6-555042D897E1}"/>
              </a:ext>
            </a:extLst>
          </p:cNvPr>
          <p:cNvSpPr>
            <a:spLocks xmlns:a="http://schemas.openxmlformats.org/drawingml/2006/main" noGrp="1"/>
          </p:cNvSpPr>
          <p:nvPr/>
        </p:nvSpPr>
        <p:spPr>
          <a:xfrm xmlns:a="http://schemas.openxmlformats.org/drawingml/2006/main">
            <a:off x="2590800" y="3724275"/>
            <a:ext cx="1320800" cy="1714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E50F2-3749-4E51-9E0F-7E3D725846A0}"/>
              </a:ext>
            </a:extLst>
          </p:cNvPr>
          <p:cNvSpPr>
            <a:spLocks xmlns:a="http://schemas.openxmlformats.org/drawingml/2006/main" noGrp="1"/>
          </p:cNvSpPr>
          <p:nvPr/>
        </p:nvSpPr>
        <p:spPr>
          <a:xfrm xmlns:a="http://schemas.openxmlformats.org/drawingml/2006/main">
            <a:off x="7715250" y="36576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8D754D"/>
                </a:solidFill>
                <a:latin typeface="Aptos"/>
                <a:ea typeface="Aptos"/>
                <a:cs typeface="Aptos"/>
              </a:defRPr>
            </a:pPr>
            <a:r>
              <a:rPr sz="1200" b="1">
                <a:solidFill>
                  <a:srgbClr val="8D754D"/>
                </a:solidFill>
                <a:latin typeface="Aptos"/>
                <a:ea typeface="Aptos"/>
                <a:cs typeface="Aptos"/>
              </a:rPr>
              <a:t>0.12</a:t>
            </a:r>
          </a:p>
        </p:txBody>
      </p:sp>
      <p:sp>
        <p:nvSpPr>
          <p:cNvPr id="24" name="">
            <a:extLst xmlns:a="http://schemas.openxmlformats.org/drawingml/2006/main">
              <a:ext uri="{FF2B5EF4-FFF2-40B4-BE49-F238E27FC236}">
                <a16:creationId xmlns:a16="http://schemas.microsoft.com/office/drawing/2014/main" id="{D6C23697-1ED8-450F-9366-3D862FEEBC5B}"/>
              </a:ext>
            </a:extLst>
          </p:cNvPr>
          <p:cNvSpPr>
            <a:spLocks xmlns:a="http://schemas.openxmlformats.org/drawingml/2006/main" noGrp="1"/>
          </p:cNvSpPr>
          <p:nvPr/>
        </p:nvSpPr>
        <p:spPr>
          <a:xfrm xmlns:a="http://schemas.openxmlformats.org/drawingml/2006/main">
            <a:off x="8001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Dependency</a:t>
            </a:r>
          </a:p>
        </p:txBody>
      </p:sp>
      <p:sp>
        <p:nvSpPr>
          <p:cNvPr id="25" name="">
            <a:extLst xmlns:a="http://schemas.openxmlformats.org/drawingml/2006/main">
              <a:ext uri="{FF2B5EF4-FFF2-40B4-BE49-F238E27FC236}">
                <a16:creationId xmlns:a16="http://schemas.microsoft.com/office/drawing/2014/main" id="{8EF935D6-80AD-483C-BACE-095838175035}"/>
              </a:ext>
            </a:extLst>
          </p:cNvPr>
          <p:cNvSpPr>
            <a:spLocks xmlns:a="http://schemas.openxmlformats.org/drawingml/2006/main" noGrp="1"/>
          </p:cNvSpPr>
          <p:nvPr/>
        </p:nvSpPr>
        <p:spPr>
          <a:xfrm xmlns:a="http://schemas.openxmlformats.org/drawingml/2006/main">
            <a:off x="2590800" y="42767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777BD63-4802-482B-AEB3-107A6FE492E8}"/>
              </a:ext>
            </a:extLst>
          </p:cNvPr>
          <p:cNvSpPr>
            <a:spLocks xmlns:a="http://schemas.openxmlformats.org/drawingml/2006/main" noGrp="1"/>
          </p:cNvSpPr>
          <p:nvPr/>
        </p:nvSpPr>
        <p:spPr>
          <a:xfrm xmlns:a="http://schemas.openxmlformats.org/drawingml/2006/main">
            <a:off x="2590800" y="4276725"/>
            <a:ext cx="1100667"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7704C16-9778-4E62-A1AA-7DFF72C39BC3}"/>
              </a:ext>
            </a:extLst>
          </p:cNvPr>
          <p:cNvSpPr>
            <a:spLocks xmlns:a="http://schemas.openxmlformats.org/drawingml/2006/main" noGrp="1"/>
          </p:cNvSpPr>
          <p:nvPr/>
        </p:nvSpPr>
        <p:spPr>
          <a:xfrm xmlns:a="http://schemas.openxmlformats.org/drawingml/2006/main">
            <a:off x="7715250" y="421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365F7D"/>
                </a:solidFill>
                <a:latin typeface="Aptos"/>
                <a:ea typeface="Aptos"/>
                <a:cs typeface="Aptos"/>
              </a:defRPr>
            </a:pPr>
            <a:r>
              <a:rPr sz="1200" b="1">
                <a:solidFill>
                  <a:srgbClr val="365F7D"/>
                </a:solidFill>
                <a:latin typeface="Aptos"/>
                <a:ea typeface="Aptos"/>
                <a:cs typeface="Aptos"/>
              </a:rPr>
              <a:t>0.10</a:t>
            </a:r>
          </a:p>
        </p:txBody>
      </p:sp>
      <p:sp>
        <p:nvSpPr>
          <p:cNvPr id="28" name="">
            <a:extLst xmlns:a="http://schemas.openxmlformats.org/drawingml/2006/main">
              <a:ext uri="{FF2B5EF4-FFF2-40B4-BE49-F238E27FC236}">
                <a16:creationId xmlns:a16="http://schemas.microsoft.com/office/drawing/2014/main" id="{E96038FE-029E-4D22-8818-641A30925B98}"/>
              </a:ext>
            </a:extLst>
          </p:cNvPr>
          <p:cNvSpPr>
            <a:spLocks xmlns:a="http://schemas.openxmlformats.org/drawingml/2006/main" noGrp="1"/>
          </p:cNvSpPr>
          <p:nvPr/>
        </p:nvSpPr>
        <p:spPr>
          <a:xfrm xmlns:a="http://schemas.openxmlformats.org/drawingml/2006/main">
            <a:off x="800100" y="4800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Literal</a:t>
            </a:r>
          </a:p>
        </p:txBody>
      </p:sp>
      <p:sp>
        <p:nvSpPr>
          <p:cNvPr id="29" name="">
            <a:extLst xmlns:a="http://schemas.openxmlformats.org/drawingml/2006/main">
              <a:ext uri="{FF2B5EF4-FFF2-40B4-BE49-F238E27FC236}">
                <a16:creationId xmlns:a16="http://schemas.microsoft.com/office/drawing/2014/main" id="{1A7CA9B2-4CC0-4FC2-B508-3B8AE88A3BDA}"/>
              </a:ext>
            </a:extLst>
          </p:cNvPr>
          <p:cNvSpPr>
            <a:spLocks xmlns:a="http://schemas.openxmlformats.org/drawingml/2006/main" noGrp="1"/>
          </p:cNvSpPr>
          <p:nvPr/>
        </p:nvSpPr>
        <p:spPr>
          <a:xfrm xmlns:a="http://schemas.openxmlformats.org/drawingml/2006/main">
            <a:off x="2590800" y="48291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D745CCC-95CB-473C-946B-4925F8FE0E11}"/>
              </a:ext>
            </a:extLst>
          </p:cNvPr>
          <p:cNvSpPr>
            <a:spLocks xmlns:a="http://schemas.openxmlformats.org/drawingml/2006/main" noGrp="1"/>
          </p:cNvSpPr>
          <p:nvPr/>
        </p:nvSpPr>
        <p:spPr>
          <a:xfrm xmlns:a="http://schemas.openxmlformats.org/drawingml/2006/main">
            <a:off x="2590800" y="4829175"/>
            <a:ext cx="880533" cy="1714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0342C14-DE48-450E-829B-166A913C1293}"/>
              </a:ext>
            </a:extLst>
          </p:cNvPr>
          <p:cNvSpPr>
            <a:spLocks xmlns:a="http://schemas.openxmlformats.org/drawingml/2006/main" noGrp="1"/>
          </p:cNvSpPr>
          <p:nvPr/>
        </p:nvSpPr>
        <p:spPr>
          <a:xfrm xmlns:a="http://schemas.openxmlformats.org/drawingml/2006/main">
            <a:off x="7715250" y="4762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A65C55"/>
                </a:solidFill>
                <a:latin typeface="Aptos"/>
                <a:ea typeface="Aptos"/>
                <a:cs typeface="Aptos"/>
              </a:defRPr>
            </a:pPr>
            <a:r>
              <a:rPr sz="1200" b="1">
                <a:solidFill>
                  <a:srgbClr val="A65C55"/>
                </a:solidFill>
                <a:latin typeface="Aptos"/>
                <a:ea typeface="Aptos"/>
                <a:cs typeface="Aptos"/>
              </a:rPr>
              <a:t>0.08</a:t>
            </a:r>
          </a:p>
        </p:txBody>
      </p:sp>
      <p:sp>
        <p:nvSpPr>
          <p:cNvPr id="32" name="">
            <a:extLst xmlns:a="http://schemas.openxmlformats.org/drawingml/2006/main">
              <a:ext uri="{FF2B5EF4-FFF2-40B4-BE49-F238E27FC236}">
                <a16:creationId xmlns:a16="http://schemas.microsoft.com/office/drawing/2014/main" id="{88EC1243-4C49-428B-AA5E-D93D56E49FA7}"/>
              </a:ext>
            </a:extLst>
          </p:cNvPr>
          <p:cNvSpPr>
            <a:spLocks xmlns:a="http://schemas.openxmlformats.org/drawingml/2006/main" noGrp="1"/>
          </p:cNvSpPr>
          <p:nvPr/>
        </p:nvSpPr>
        <p:spPr>
          <a:xfrm xmlns:a="http://schemas.openxmlformats.org/drawingml/2006/main">
            <a:off x="8591550" y="1447800"/>
            <a:ext cx="2914650" cy="2076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FADC76F-6B69-4FA0-9376-3C8187DC33E4}"/>
              </a:ext>
            </a:extLst>
          </p:cNvPr>
          <p:cNvSpPr>
            <a:spLocks xmlns:a="http://schemas.openxmlformats.org/drawingml/2006/main" noGrp="1"/>
          </p:cNvSpPr>
          <p:nvPr/>
        </p:nvSpPr>
        <p:spPr>
          <a:xfrm xmlns:a="http://schemas.openxmlformats.org/drawingml/2006/main">
            <a:off x="8801100" y="16764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DISABLED GLOBALLY</a:t>
            </a:r>
          </a:p>
        </p:txBody>
      </p:sp>
      <p:sp>
        <p:nvSpPr>
          <p:cNvPr id="34" name="">
            <a:extLst xmlns:a="http://schemas.openxmlformats.org/drawingml/2006/main">
              <a:ext uri="{FF2B5EF4-FFF2-40B4-BE49-F238E27FC236}">
                <a16:creationId xmlns:a16="http://schemas.microsoft.com/office/drawing/2014/main" id="{443B0247-A1A2-4067-B2A6-4A917E70D5A5}"/>
              </a:ext>
            </a:extLst>
          </p:cNvPr>
          <p:cNvSpPr>
            <a:spLocks xmlns:a="http://schemas.openxmlformats.org/drawingml/2006/main" noGrp="1"/>
          </p:cNvSpPr>
          <p:nvPr/>
        </p:nvSpPr>
        <p:spPr>
          <a:xfrm xmlns:a="http://schemas.openxmlformats.org/drawingml/2006/main">
            <a:off x="8801100" y="2152650"/>
            <a:ext cx="2495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02A33"/>
                </a:solidFill>
                <a:latin typeface="Aptos"/>
                <a:ea typeface="Aptos"/>
                <a:cs typeface="Aptos"/>
              </a:defRPr>
            </a:pPr>
            <a:r>
              <a:rPr sz="1275" b="1">
                <a:solidFill>
                  <a:srgbClr val="202A33"/>
                </a:solidFill>
                <a:latin typeface="Aptos"/>
                <a:ea typeface="Aptos"/>
                <a:cs typeface="Aptos"/>
              </a:rPr>
              <a:t>API-reference weight  0.00</a:t>
            </a:r>
          </a:p>
          <a:p xmlns:a="http://schemas.openxmlformats.org/drawingml/2006/main">
            <a:pPr algn="ctr">
              <a:defRPr sz="1275" b="1">
                <a:solidFill>
                  <a:srgbClr val="202A33"/>
                </a:solidFill>
                <a:latin typeface="Aptos"/>
                <a:ea typeface="Aptos"/>
                <a:cs typeface="Aptos"/>
              </a:defRPr>
            </a:pPr>
            <a:r>
              <a:rPr sz="1275" b="1">
                <a:solidFill>
                  <a:srgbClr val="202A33"/>
                </a:solidFill>
                <a:latin typeface="Aptos"/>
                <a:ea typeface="Aptos"/>
                <a:cs typeface="Aptos"/>
              </a:rPr>
              <a:t>Opcode tri-gram weight  0.00</a:t>
            </a:r>
          </a:p>
        </p:txBody>
      </p:sp>
      <p:sp>
        <p:nvSpPr>
          <p:cNvPr id="35" name="">
            <a:extLst xmlns:a="http://schemas.openxmlformats.org/drawingml/2006/main">
              <a:ext uri="{FF2B5EF4-FFF2-40B4-BE49-F238E27FC236}">
                <a16:creationId xmlns:a16="http://schemas.microsoft.com/office/drawing/2014/main" id="{06E6B8B3-3308-4D95-B08F-9997740D411E}"/>
              </a:ext>
            </a:extLst>
          </p:cNvPr>
          <p:cNvSpPr>
            <a:spLocks xmlns:a="http://schemas.openxmlformats.org/drawingml/2006/main" noGrp="1"/>
          </p:cNvSpPr>
          <p:nvPr/>
        </p:nvSpPr>
        <p:spPr>
          <a:xfrm xmlns:a="http://schemas.openxmlformats.org/drawingml/2006/main">
            <a:off x="8858250" y="30099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Implemented for diagnostics, but current controls do not justify global scoring.</a:t>
            </a:r>
          </a:p>
        </p:txBody>
      </p:sp>
      <p:sp>
        <p:nvSpPr>
          <p:cNvPr id="36" name="">
            <a:extLst xmlns:a="http://schemas.openxmlformats.org/drawingml/2006/main">
              <a:ext uri="{FF2B5EF4-FFF2-40B4-BE49-F238E27FC236}">
                <a16:creationId xmlns:a16="http://schemas.microsoft.com/office/drawing/2014/main" id="{2C244FF1-B72B-49BD-99C1-DF4443075C2E}"/>
              </a:ext>
            </a:extLst>
          </p:cNvPr>
          <p:cNvSpPr>
            <a:spLocks xmlns:a="http://schemas.openxmlformats.org/drawingml/2006/main" noGrp="1"/>
          </p:cNvSpPr>
          <p:nvPr/>
        </p:nvSpPr>
        <p:spPr>
          <a:xfrm xmlns:a="http://schemas.openxmlformats.org/drawingml/2006/main">
            <a:off x="8591550" y="3790950"/>
            <a:ext cx="2914650" cy="16002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7" name="">
            <a:extLst xmlns:a="http://schemas.openxmlformats.org/drawingml/2006/main">
              <a:ext uri="{FF2B5EF4-FFF2-40B4-BE49-F238E27FC236}">
                <a16:creationId xmlns:a16="http://schemas.microsoft.com/office/drawing/2014/main" id="{CF8EDB4D-0D19-4F38-B4B0-A6C673831707}"/>
              </a:ext>
            </a:extLst>
          </p:cNvPr>
          <p:cNvSpPr>
            <a:spLocks xmlns:a="http://schemas.openxmlformats.org/drawingml/2006/main" noGrp="1"/>
          </p:cNvSpPr>
          <p:nvPr/>
        </p:nvSpPr>
        <p:spPr>
          <a:xfrm xmlns:a="http://schemas.openxmlformats.org/drawingml/2006/main">
            <a:off x="8801100" y="40005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TIE THRESHOLDS</a:t>
            </a:r>
          </a:p>
        </p:txBody>
      </p:sp>
      <p:sp>
        <p:nvSpPr>
          <p:cNvPr id="38" name="">
            <a:extLst xmlns:a="http://schemas.openxmlformats.org/drawingml/2006/main">
              <a:ext uri="{FF2B5EF4-FFF2-40B4-BE49-F238E27FC236}">
                <a16:creationId xmlns:a16="http://schemas.microsoft.com/office/drawing/2014/main" id="{B6858EB6-E8A5-4ECC-B3E4-E1E48796F071}"/>
              </a:ext>
            </a:extLst>
          </p:cNvPr>
          <p:cNvSpPr>
            <a:spLocks xmlns:a="http://schemas.openxmlformats.org/drawingml/2006/main" noGrp="1"/>
          </p:cNvSpPr>
          <p:nvPr/>
        </p:nvSpPr>
        <p:spPr>
          <a:xfrm xmlns:a="http://schemas.openxmlformats.org/drawingml/2006/main">
            <a:off x="8801100" y="436245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feature-equivalent &lt;= 0.001</a:t>
            </a:r>
          </a:p>
          <a:p xmlns:a="http://schemas.openxmlformats.org/drawingml/2006/main">
            <a:pPr algn="ctr">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near tie &lt;= 0.006</a:t>
            </a:r>
          </a:p>
          <a:p xmlns:a="http://schemas.openxmlformats.org/drawingml/2006/main">
            <a:pPr algn="ctr">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near-tie score floor 0.35</a:t>
            </a:r>
          </a:p>
        </p:txBody>
      </p:sp>
      <p:sp>
        <p:nvSpPr>
          <p:cNvPr id="39" name="">
            <a:extLst xmlns:a="http://schemas.openxmlformats.org/drawingml/2006/main">
              <a:ext uri="{FF2B5EF4-FFF2-40B4-BE49-F238E27FC236}">
                <a16:creationId xmlns:a16="http://schemas.microsoft.com/office/drawing/2014/main" id="{78C49195-D6FF-4E73-9B82-F6C750D8AEB3}"/>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7DB91E7-BD49-4C7E-9425-50BE461F01A7}"/>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Source: src/apk_sbom/matcher.py constants and score_reference_component()</a:t>
            </a:r>
          </a:p>
        </p:txBody>
      </p:sp>
      <p:sp>
        <p:nvSpPr>
          <p:cNvPr id="41" name="">
            <a:extLst xmlns:a="http://schemas.openxmlformats.org/drawingml/2006/main">
              <a:ext uri="{FF2B5EF4-FFF2-40B4-BE49-F238E27FC236}">
                <a16:creationId xmlns:a16="http://schemas.microsoft.com/office/drawing/2014/main" id="{30D3BDA0-50EA-4C33-BCE8-DAF65BFD338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90898559"/>
      </p:ext>
    </p:extLst>
  </p:cSld>
</p:sld>
</file>

<file path=ppt/slides/slide3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C2500F-176B-46A3-9285-2556404E75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BEA8C0-F372-46A9-80D3-06C1BD7D57DC}"/>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0F7D09-699D-4707-B4CD-CDA13314FC7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BACKUP 3  |  DOCKER IMPLEMENTATION</a:t>
            </a:r>
          </a:p>
        </p:txBody>
      </p:sp>
      <p:sp>
        <p:nvSpPr>
          <p:cNvPr id="4" name="">
            <a:extLst xmlns:a="http://schemas.openxmlformats.org/drawingml/2006/main">
              <a:ext uri="{FF2B5EF4-FFF2-40B4-BE49-F238E27FC236}">
                <a16:creationId xmlns:a16="http://schemas.microsoft.com/office/drawing/2014/main" id="{C861D3F4-F68A-4272-AAA6-E82BF270E1C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Docker packages the complete Android analysis toolchain while data and outputs stay reproducible</a:t>
            </a:r>
          </a:p>
        </p:txBody>
      </p:sp>
      <p:sp>
        <p:nvSpPr>
          <p:cNvPr id="5" name="">
            <a:extLst xmlns:a="http://schemas.openxmlformats.org/drawingml/2006/main">
              <a:ext uri="{FF2B5EF4-FFF2-40B4-BE49-F238E27FC236}">
                <a16:creationId xmlns:a16="http://schemas.microsoft.com/office/drawing/2014/main" id="{5C98FAB2-2B0D-463B-901B-FF62B340233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34</a:t>
            </a:r>
          </a:p>
        </p:txBody>
      </p:sp>
      <p:sp>
        <p:nvSpPr>
          <p:cNvPr id="6" name="">
            <a:extLst xmlns:a="http://schemas.openxmlformats.org/drawingml/2006/main">
              <a:ext uri="{FF2B5EF4-FFF2-40B4-BE49-F238E27FC236}">
                <a16:creationId xmlns:a16="http://schemas.microsoft.com/office/drawing/2014/main" id="{3101B259-B347-431F-8BEA-C4A7A904AD88}"/>
              </a:ext>
            </a:extLst>
          </p:cNvPr>
          <p:cNvSpPr>
            <a:spLocks xmlns:a="http://schemas.openxmlformats.org/drawingml/2006/main" noGrp="1"/>
          </p:cNvSpPr>
          <p:nvPr/>
        </p:nvSpPr>
        <p:spPr>
          <a:xfrm xmlns:a="http://schemas.openxmlformats.org/drawingml/2006/main">
            <a:off x="60960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C2D7BC42-FCFB-4951-9E66-297B42A74AEF}"/>
              </a:ext>
            </a:extLst>
          </p:cNvPr>
          <p:cNvSpPr>
            <a:spLocks xmlns:a="http://schemas.openxmlformats.org/drawingml/2006/main" noGrp="1"/>
          </p:cNvSpPr>
          <p:nvPr/>
        </p:nvSpPr>
        <p:spPr>
          <a:xfrm xmlns:a="http://schemas.openxmlformats.org/drawingml/2006/main">
            <a:off x="74295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4F7D76"/>
                </a:solidFill>
                <a:latin typeface="Aptos Display"/>
                <a:ea typeface="Aptos Display"/>
                <a:cs typeface="Aptos Display"/>
              </a:defRPr>
            </a:pPr>
            <a:r>
              <a:rPr sz="2550" b="1">
                <a:solidFill>
                  <a:srgbClr val="4F7D76"/>
                </a:solidFill>
                <a:latin typeface="Aptos Display"/>
                <a:ea typeface="Aptos Display"/>
                <a:cs typeface="Aptos Display"/>
              </a:rPr>
              <a:t>10,517</a:t>
            </a:r>
          </a:p>
        </p:txBody>
      </p:sp>
      <p:sp>
        <p:nvSpPr>
          <p:cNvPr id="8" name="">
            <a:extLst xmlns:a="http://schemas.openxmlformats.org/drawingml/2006/main">
              <a:ext uri="{FF2B5EF4-FFF2-40B4-BE49-F238E27FC236}">
                <a16:creationId xmlns:a16="http://schemas.microsoft.com/office/drawing/2014/main" id="{3CF88706-E808-4007-940E-0445572F3963}"/>
              </a:ext>
            </a:extLst>
          </p:cNvPr>
          <p:cNvSpPr>
            <a:spLocks xmlns:a="http://schemas.openxmlformats.org/drawingml/2006/main" noGrp="1"/>
          </p:cNvSpPr>
          <p:nvPr/>
        </p:nvSpPr>
        <p:spPr>
          <a:xfrm xmlns:a="http://schemas.openxmlformats.org/drawingml/2006/main">
            <a:off x="74295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reference coordinate-version rows</a:t>
            </a:r>
          </a:p>
        </p:txBody>
      </p:sp>
      <p:sp>
        <p:nvSpPr>
          <p:cNvPr id="9" name="">
            <a:extLst xmlns:a="http://schemas.openxmlformats.org/drawingml/2006/main">
              <a:ext uri="{FF2B5EF4-FFF2-40B4-BE49-F238E27FC236}">
                <a16:creationId xmlns:a16="http://schemas.microsoft.com/office/drawing/2014/main" id="{D6D12D77-207A-473D-9340-BDC40B0B467F}"/>
              </a:ext>
            </a:extLst>
          </p:cNvPr>
          <p:cNvSpPr>
            <a:spLocks xmlns:a="http://schemas.openxmlformats.org/drawingml/2006/main" noGrp="1"/>
          </p:cNvSpPr>
          <p:nvPr/>
        </p:nvSpPr>
        <p:spPr>
          <a:xfrm xmlns:a="http://schemas.openxmlformats.org/drawingml/2006/main">
            <a:off x="299085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C01A153F-EDED-404D-9396-D121F8A6D8D7}"/>
              </a:ext>
            </a:extLst>
          </p:cNvPr>
          <p:cNvSpPr>
            <a:spLocks xmlns:a="http://schemas.openxmlformats.org/drawingml/2006/main" noGrp="1"/>
          </p:cNvSpPr>
          <p:nvPr/>
        </p:nvSpPr>
        <p:spPr>
          <a:xfrm xmlns:a="http://schemas.openxmlformats.org/drawingml/2006/main">
            <a:off x="312420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15.8 GB</a:t>
            </a:r>
          </a:p>
        </p:txBody>
      </p:sp>
      <p:sp>
        <p:nvSpPr>
          <p:cNvPr id="11" name="">
            <a:extLst xmlns:a="http://schemas.openxmlformats.org/drawingml/2006/main">
              <a:ext uri="{FF2B5EF4-FFF2-40B4-BE49-F238E27FC236}">
                <a16:creationId xmlns:a16="http://schemas.microsoft.com/office/drawing/2014/main" id="{662136C9-B772-469B-A3DC-A86D27201621}"/>
              </a:ext>
            </a:extLst>
          </p:cNvPr>
          <p:cNvSpPr>
            <a:spLocks xmlns:a="http://schemas.openxmlformats.org/drawingml/2006/main" noGrp="1"/>
          </p:cNvSpPr>
          <p:nvPr/>
        </p:nvSpPr>
        <p:spPr>
          <a:xfrm xmlns:a="http://schemas.openxmlformats.org/drawingml/2006/main">
            <a:off x="312420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final v2 SQLite database</a:t>
            </a:r>
          </a:p>
        </p:txBody>
      </p:sp>
      <p:sp>
        <p:nvSpPr>
          <p:cNvPr id="12" name="">
            <a:extLst xmlns:a="http://schemas.openxmlformats.org/drawingml/2006/main">
              <a:ext uri="{FF2B5EF4-FFF2-40B4-BE49-F238E27FC236}">
                <a16:creationId xmlns:a16="http://schemas.microsoft.com/office/drawing/2014/main" id="{97E2A395-E5FA-479D-AA7A-92EA29D631C7}"/>
              </a:ext>
            </a:extLst>
          </p:cNvPr>
          <p:cNvSpPr>
            <a:spLocks xmlns:a="http://schemas.openxmlformats.org/drawingml/2006/main" noGrp="1"/>
          </p:cNvSpPr>
          <p:nvPr/>
        </p:nvSpPr>
        <p:spPr>
          <a:xfrm xmlns:a="http://schemas.openxmlformats.org/drawingml/2006/main">
            <a:off x="537210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C41256E4-6047-4EF7-8A5D-506F2F12808A}"/>
              </a:ext>
            </a:extLst>
          </p:cNvPr>
          <p:cNvSpPr>
            <a:spLocks xmlns:a="http://schemas.openxmlformats.org/drawingml/2006/main" noGrp="1"/>
          </p:cNvSpPr>
          <p:nvPr/>
        </p:nvSpPr>
        <p:spPr>
          <a:xfrm xmlns:a="http://schemas.openxmlformats.org/drawingml/2006/main">
            <a:off x="550545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8D754D"/>
                </a:solidFill>
                <a:latin typeface="Aptos Display"/>
                <a:ea typeface="Aptos Display"/>
                <a:cs typeface="Aptos Display"/>
              </a:defRPr>
            </a:pPr>
            <a:r>
              <a:rPr sz="2550" b="1">
                <a:solidFill>
                  <a:srgbClr val="8D754D"/>
                </a:solidFill>
                <a:latin typeface="Aptos Display"/>
                <a:ea typeface="Aptos Display"/>
                <a:cs typeface="Aptos Display"/>
              </a:rPr>
              <a:t>/app</a:t>
            </a:r>
          </a:p>
        </p:txBody>
      </p:sp>
      <p:sp>
        <p:nvSpPr>
          <p:cNvPr id="14" name="">
            <a:extLst xmlns:a="http://schemas.openxmlformats.org/drawingml/2006/main">
              <a:ext uri="{FF2B5EF4-FFF2-40B4-BE49-F238E27FC236}">
                <a16:creationId xmlns:a16="http://schemas.microsoft.com/office/drawing/2014/main" id="{D41D65B3-A6F4-402C-9C84-4B535C01B15F}"/>
              </a:ext>
            </a:extLst>
          </p:cNvPr>
          <p:cNvSpPr>
            <a:spLocks xmlns:a="http://schemas.openxmlformats.org/drawingml/2006/main" noGrp="1"/>
          </p:cNvSpPr>
          <p:nvPr/>
        </p:nvSpPr>
        <p:spPr>
          <a:xfrm xmlns:a="http://schemas.openxmlformats.org/drawingml/2006/main">
            <a:off x="550545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container working directory</a:t>
            </a:r>
          </a:p>
        </p:txBody>
      </p:sp>
      <p:sp>
        <p:nvSpPr>
          <p:cNvPr id="15" name="">
            <a:extLst xmlns:a="http://schemas.openxmlformats.org/drawingml/2006/main">
              <a:ext uri="{FF2B5EF4-FFF2-40B4-BE49-F238E27FC236}">
                <a16:creationId xmlns:a16="http://schemas.microsoft.com/office/drawing/2014/main" id="{A9B7548B-7584-47F4-A4EC-EB10C3BA646C}"/>
              </a:ext>
            </a:extLst>
          </p:cNvPr>
          <p:cNvSpPr>
            <a:spLocks xmlns:a="http://schemas.openxmlformats.org/drawingml/2006/main" noGrp="1"/>
          </p:cNvSpPr>
          <p:nvPr/>
        </p:nvSpPr>
        <p:spPr>
          <a:xfrm xmlns:a="http://schemas.openxmlformats.org/drawingml/2006/main">
            <a:off x="775335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80FAD2C9-A0C1-4E0A-B9A6-1F1BFC7FAADD}"/>
              </a:ext>
            </a:extLst>
          </p:cNvPr>
          <p:cNvSpPr>
            <a:spLocks xmlns:a="http://schemas.openxmlformats.org/drawingml/2006/main" noGrp="1"/>
          </p:cNvSpPr>
          <p:nvPr/>
        </p:nvSpPr>
        <p:spPr>
          <a:xfrm xmlns:a="http://schemas.openxmlformats.org/drawingml/2006/main">
            <a:off x="788670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.:/app</a:t>
            </a:r>
          </a:p>
        </p:txBody>
      </p:sp>
      <p:sp>
        <p:nvSpPr>
          <p:cNvPr id="17" name="">
            <a:extLst xmlns:a="http://schemas.openxmlformats.org/drawingml/2006/main">
              <a:ext uri="{FF2B5EF4-FFF2-40B4-BE49-F238E27FC236}">
                <a16:creationId xmlns:a16="http://schemas.microsoft.com/office/drawing/2014/main" id="{00A99938-8BB9-4E1B-BF9F-4E54A6DCB4A3}"/>
              </a:ext>
            </a:extLst>
          </p:cNvPr>
          <p:cNvSpPr>
            <a:spLocks xmlns:a="http://schemas.openxmlformats.org/drawingml/2006/main" noGrp="1"/>
          </p:cNvSpPr>
          <p:nvPr/>
        </p:nvSpPr>
        <p:spPr>
          <a:xfrm xmlns:a="http://schemas.openxmlformats.org/drawingml/2006/main">
            <a:off x="788670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Compose bind mount</a:t>
            </a:r>
          </a:p>
        </p:txBody>
      </p:sp>
      <p:sp>
        <p:nvSpPr>
          <p:cNvPr id="18" name="">
            <a:extLst xmlns:a="http://schemas.openxmlformats.org/drawingml/2006/main">
              <a:ext uri="{FF2B5EF4-FFF2-40B4-BE49-F238E27FC236}">
                <a16:creationId xmlns:a16="http://schemas.microsoft.com/office/drawing/2014/main" id="{35197E3C-852A-4BC7-91DA-0DBC3DCA138C}"/>
              </a:ext>
            </a:extLst>
          </p:cNvPr>
          <p:cNvSpPr>
            <a:spLocks xmlns:a="http://schemas.openxmlformats.org/drawingml/2006/main" noGrp="1"/>
          </p:cNvSpPr>
          <p:nvPr/>
        </p:nvSpPr>
        <p:spPr>
          <a:xfrm xmlns:a="http://schemas.openxmlformats.org/drawingml/2006/main">
            <a:off x="10134600" y="1409700"/>
            <a:ext cx="14668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2444D47D-00B5-4F24-A1B5-1E95ED74E42F}"/>
              </a:ext>
            </a:extLst>
          </p:cNvPr>
          <p:cNvSpPr>
            <a:spLocks xmlns:a="http://schemas.openxmlformats.org/drawingml/2006/main" noGrp="1"/>
          </p:cNvSpPr>
          <p:nvPr/>
        </p:nvSpPr>
        <p:spPr>
          <a:xfrm xmlns:a="http://schemas.openxmlformats.org/drawingml/2006/main">
            <a:off x="10267950" y="15811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365F7D"/>
                </a:solidFill>
                <a:latin typeface="Aptos Display"/>
                <a:ea typeface="Aptos Display"/>
                <a:cs typeface="Aptos Display"/>
              </a:defRPr>
            </a:pPr>
            <a:r>
              <a:rPr sz="1725" b="1">
                <a:solidFill>
                  <a:srgbClr val="365F7D"/>
                </a:solidFill>
                <a:latin typeface="Aptos Display"/>
                <a:ea typeface="Aptos Display"/>
                <a:cs typeface="Aptos Display"/>
              </a:rPr>
              <a:t>/app/src</a:t>
            </a:r>
          </a:p>
        </p:txBody>
      </p:sp>
      <p:sp>
        <p:nvSpPr>
          <p:cNvPr id="20" name="">
            <a:extLst xmlns:a="http://schemas.openxmlformats.org/drawingml/2006/main">
              <a:ext uri="{FF2B5EF4-FFF2-40B4-BE49-F238E27FC236}">
                <a16:creationId xmlns:a16="http://schemas.microsoft.com/office/drawing/2014/main" id="{36EA669F-1AF5-48DC-840D-D42D02389D43}"/>
              </a:ext>
            </a:extLst>
          </p:cNvPr>
          <p:cNvSpPr>
            <a:spLocks xmlns:a="http://schemas.openxmlformats.org/drawingml/2006/main" noGrp="1"/>
          </p:cNvSpPr>
          <p:nvPr/>
        </p:nvSpPr>
        <p:spPr>
          <a:xfrm xmlns:a="http://schemas.openxmlformats.org/drawingml/2006/main">
            <a:off x="10267950" y="2019300"/>
            <a:ext cx="1200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PYTHONPATH</a:t>
            </a:r>
          </a:p>
        </p:txBody>
      </p:sp>
      <p:sp>
        <p:nvSpPr>
          <p:cNvPr id="21" name="">
            <a:extLst xmlns:a="http://schemas.openxmlformats.org/drawingml/2006/main">
              <a:ext uri="{FF2B5EF4-FFF2-40B4-BE49-F238E27FC236}">
                <a16:creationId xmlns:a16="http://schemas.microsoft.com/office/drawing/2014/main" id="{B38FE922-9E2E-49C2-988D-E861D0020AF1}"/>
              </a:ext>
            </a:extLst>
          </p:cNvPr>
          <p:cNvSpPr>
            <a:spLocks xmlns:a="http://schemas.openxmlformats.org/drawingml/2006/main" noGrp="1"/>
          </p:cNvSpPr>
          <p:nvPr/>
        </p:nvSpPr>
        <p:spPr>
          <a:xfrm xmlns:a="http://schemas.openxmlformats.org/drawingml/2006/main">
            <a:off x="609600" y="2743200"/>
            <a:ext cx="523875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658FC29D-163C-4C3B-AC27-80B220E96735}"/>
              </a:ext>
            </a:extLst>
          </p:cNvPr>
          <p:cNvSpPr>
            <a:spLocks xmlns:a="http://schemas.openxmlformats.org/drawingml/2006/main" noGrp="1"/>
          </p:cNvSpPr>
          <p:nvPr/>
        </p:nvSpPr>
        <p:spPr>
          <a:xfrm xmlns:a="http://schemas.openxmlformats.org/drawingml/2006/main">
            <a:off x="838200" y="29718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DOCKERFILE TOOLCHAIN</a:t>
            </a:r>
          </a:p>
        </p:txBody>
      </p:sp>
      <p:sp>
        <p:nvSpPr>
          <p:cNvPr id="23" name="">
            <a:extLst xmlns:a="http://schemas.openxmlformats.org/drawingml/2006/main">
              <a:ext uri="{FF2B5EF4-FFF2-40B4-BE49-F238E27FC236}">
                <a16:creationId xmlns:a16="http://schemas.microsoft.com/office/drawing/2014/main" id="{6B78084E-C1CB-418B-A6EF-7B271B36ED2D}"/>
              </a:ext>
            </a:extLst>
          </p:cNvPr>
          <p:cNvSpPr>
            <a:spLocks xmlns:a="http://schemas.openxmlformats.org/drawingml/2006/main" noGrp="1"/>
          </p:cNvSpPr>
          <p:nvPr/>
        </p:nvSpPr>
        <p:spPr>
          <a:xfrm xmlns:a="http://schemas.openxmlformats.org/drawingml/2006/main">
            <a:off x="876300" y="3390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CDCBABF-3380-4DFB-8457-4F936C6ECAF8}"/>
              </a:ext>
            </a:extLst>
          </p:cNvPr>
          <p:cNvSpPr>
            <a:spLocks xmlns:a="http://schemas.openxmlformats.org/drawingml/2006/main" noGrp="1"/>
          </p:cNvSpPr>
          <p:nvPr/>
        </p:nvSpPr>
        <p:spPr>
          <a:xfrm xmlns:a="http://schemas.openxmlformats.org/drawingml/2006/main">
            <a:off x="1104900" y="3314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Python 3.12 + project requirements</a:t>
            </a:r>
          </a:p>
        </p:txBody>
      </p:sp>
      <p:sp>
        <p:nvSpPr>
          <p:cNvPr id="25" name="">
            <a:extLst xmlns:a="http://schemas.openxmlformats.org/drawingml/2006/main">
              <a:ext uri="{FF2B5EF4-FFF2-40B4-BE49-F238E27FC236}">
                <a16:creationId xmlns:a16="http://schemas.microsoft.com/office/drawing/2014/main" id="{0B3BB29F-0380-4AF7-B126-7A1BD1E98394}"/>
              </a:ext>
            </a:extLst>
          </p:cNvPr>
          <p:cNvSpPr>
            <a:spLocks xmlns:a="http://schemas.openxmlformats.org/drawingml/2006/main" noGrp="1"/>
          </p:cNvSpPr>
          <p:nvPr/>
        </p:nvSpPr>
        <p:spPr>
          <a:xfrm xmlns:a="http://schemas.openxmlformats.org/drawingml/2006/main">
            <a:off x="876300" y="3714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ACF17FA-CB30-4FC5-861E-9B7032A429A0}"/>
              </a:ext>
            </a:extLst>
          </p:cNvPr>
          <p:cNvSpPr>
            <a:spLocks xmlns:a="http://schemas.openxmlformats.org/drawingml/2006/main" noGrp="1"/>
          </p:cNvSpPr>
          <p:nvPr/>
        </p:nvSpPr>
        <p:spPr>
          <a:xfrm xmlns:a="http://schemas.openxmlformats.org/drawingml/2006/main">
            <a:off x="1104900" y="36385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JDK 11 + default JDK</a:t>
            </a:r>
          </a:p>
        </p:txBody>
      </p:sp>
      <p:sp>
        <p:nvSpPr>
          <p:cNvPr id="27" name="">
            <a:extLst xmlns:a="http://schemas.openxmlformats.org/drawingml/2006/main">
              <a:ext uri="{FF2B5EF4-FFF2-40B4-BE49-F238E27FC236}">
                <a16:creationId xmlns:a16="http://schemas.microsoft.com/office/drawing/2014/main" id="{B1DBECC7-7000-4558-9ACB-2C6A514AB674}"/>
              </a:ext>
            </a:extLst>
          </p:cNvPr>
          <p:cNvSpPr>
            <a:spLocks xmlns:a="http://schemas.openxmlformats.org/drawingml/2006/main" noGrp="1"/>
          </p:cNvSpPr>
          <p:nvPr/>
        </p:nvSpPr>
        <p:spPr>
          <a:xfrm xmlns:a="http://schemas.openxmlformats.org/drawingml/2006/main">
            <a:off x="876300" y="40386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233DAA0-95F2-494C-94CE-6B7E46A9F0D0}"/>
              </a:ext>
            </a:extLst>
          </p:cNvPr>
          <p:cNvSpPr>
            <a:spLocks xmlns:a="http://schemas.openxmlformats.org/drawingml/2006/main" noGrp="1"/>
          </p:cNvSpPr>
          <p:nvPr/>
        </p:nvSpPr>
        <p:spPr>
          <a:xfrm xmlns:a="http://schemas.openxmlformats.org/drawingml/2006/main">
            <a:off x="1104900" y="39624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Android SDK, build-tools 36 + legacy 29, D8</a:t>
            </a:r>
          </a:p>
        </p:txBody>
      </p:sp>
      <p:sp>
        <p:nvSpPr>
          <p:cNvPr id="29" name="">
            <a:extLst xmlns:a="http://schemas.openxmlformats.org/drawingml/2006/main">
              <a:ext uri="{FF2B5EF4-FFF2-40B4-BE49-F238E27FC236}">
                <a16:creationId xmlns:a16="http://schemas.microsoft.com/office/drawing/2014/main" id="{5E1F8266-4692-4157-B2DD-6D83E20288C2}"/>
              </a:ext>
            </a:extLst>
          </p:cNvPr>
          <p:cNvSpPr>
            <a:spLocks xmlns:a="http://schemas.openxmlformats.org/drawingml/2006/main" noGrp="1"/>
          </p:cNvSpPr>
          <p:nvPr/>
        </p:nvSpPr>
        <p:spPr>
          <a:xfrm xmlns:a="http://schemas.openxmlformats.org/drawingml/2006/main">
            <a:off x="876300" y="43624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A9A02AC-FE60-4AF4-B280-6D51531A424F}"/>
              </a:ext>
            </a:extLst>
          </p:cNvPr>
          <p:cNvSpPr>
            <a:spLocks xmlns:a="http://schemas.openxmlformats.org/drawingml/2006/main" noGrp="1"/>
          </p:cNvSpPr>
          <p:nvPr/>
        </p:nvSpPr>
        <p:spPr>
          <a:xfrm xmlns:a="http://schemas.openxmlformats.org/drawingml/2006/main">
            <a:off x="1104900" y="42862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Gradle 9.5 plus compatibility versions</a:t>
            </a:r>
          </a:p>
        </p:txBody>
      </p:sp>
      <p:sp>
        <p:nvSpPr>
          <p:cNvPr id="31" name="">
            <a:extLst xmlns:a="http://schemas.openxmlformats.org/drawingml/2006/main">
              <a:ext uri="{FF2B5EF4-FFF2-40B4-BE49-F238E27FC236}">
                <a16:creationId xmlns:a16="http://schemas.microsoft.com/office/drawing/2014/main" id="{78737F0D-C4CB-4140-81CB-B55D410E74A5}"/>
              </a:ext>
            </a:extLst>
          </p:cNvPr>
          <p:cNvSpPr>
            <a:spLocks xmlns:a="http://schemas.openxmlformats.org/drawingml/2006/main" noGrp="1"/>
          </p:cNvSpPr>
          <p:nvPr/>
        </p:nvSpPr>
        <p:spPr>
          <a:xfrm xmlns:a="http://schemas.openxmlformats.org/drawingml/2006/main">
            <a:off x="876300" y="4686300"/>
            <a:ext cx="95250" cy="952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FB6F963-EA7D-4C62-9341-E4D198DC32CD}"/>
              </a:ext>
            </a:extLst>
          </p:cNvPr>
          <p:cNvSpPr>
            <a:spLocks xmlns:a="http://schemas.openxmlformats.org/drawingml/2006/main" noGrp="1"/>
          </p:cNvSpPr>
          <p:nvPr/>
        </p:nvSpPr>
        <p:spPr>
          <a:xfrm xmlns:a="http://schemas.openxmlformats.org/drawingml/2006/main">
            <a:off x="1104900" y="46101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Syft, Grype, Trivy, CycloneDX CLI, cdxgen</a:t>
            </a:r>
          </a:p>
        </p:txBody>
      </p:sp>
      <p:sp>
        <p:nvSpPr>
          <p:cNvPr id="33" name="">
            <a:extLst xmlns:a="http://schemas.openxmlformats.org/drawingml/2006/main">
              <a:ext uri="{FF2B5EF4-FFF2-40B4-BE49-F238E27FC236}">
                <a16:creationId xmlns:a16="http://schemas.microsoft.com/office/drawing/2014/main" id="{309FFC24-EC38-486C-9A5D-05EC0389FBD9}"/>
              </a:ext>
            </a:extLst>
          </p:cNvPr>
          <p:cNvSpPr>
            <a:spLocks xmlns:a="http://schemas.openxmlformats.org/drawingml/2006/main" noGrp="1"/>
          </p:cNvSpPr>
          <p:nvPr/>
        </p:nvSpPr>
        <p:spPr>
          <a:xfrm xmlns:a="http://schemas.openxmlformats.org/drawingml/2006/main">
            <a:off x="876300" y="5010150"/>
            <a:ext cx="95250" cy="952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8019197-5ED3-4930-9143-8E9548CD02BF}"/>
              </a:ext>
            </a:extLst>
          </p:cNvPr>
          <p:cNvSpPr>
            <a:spLocks xmlns:a="http://schemas.openxmlformats.org/drawingml/2006/main" noGrp="1"/>
          </p:cNvSpPr>
          <p:nvPr/>
        </p:nvSpPr>
        <p:spPr>
          <a:xfrm xmlns:a="http://schemas.openxmlformats.org/drawingml/2006/main">
            <a:off x="1104900" y="49339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Source copied to /app; default command checks toolchain</a:t>
            </a:r>
          </a:p>
        </p:txBody>
      </p:sp>
      <p:sp>
        <p:nvSpPr>
          <p:cNvPr id="35" name="">
            <a:extLst xmlns:a="http://schemas.openxmlformats.org/drawingml/2006/main">
              <a:ext uri="{FF2B5EF4-FFF2-40B4-BE49-F238E27FC236}">
                <a16:creationId xmlns:a16="http://schemas.microsoft.com/office/drawing/2014/main" id="{4BA55C25-3E2D-443F-9D90-5D783D02E3A6}"/>
              </a:ext>
            </a:extLst>
          </p:cNvPr>
          <p:cNvSpPr>
            <a:spLocks xmlns:a="http://schemas.openxmlformats.org/drawingml/2006/main" noGrp="1"/>
          </p:cNvSpPr>
          <p:nvPr/>
        </p:nvSpPr>
        <p:spPr>
          <a:xfrm xmlns:a="http://schemas.openxmlformats.org/drawingml/2006/main">
            <a:off x="6134100" y="2743200"/>
            <a:ext cx="54673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5DA7C847-DCB1-44E6-A598-B4F4D1E3D706}"/>
              </a:ext>
            </a:extLst>
          </p:cNvPr>
          <p:cNvSpPr>
            <a:spLocks xmlns:a="http://schemas.openxmlformats.org/drawingml/2006/main" noGrp="1"/>
          </p:cNvSpPr>
          <p:nvPr/>
        </p:nvSpPr>
        <p:spPr>
          <a:xfrm xmlns:a="http://schemas.openxmlformats.org/drawingml/2006/main">
            <a:off x="6381750" y="2971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REPRODUCIBLE ARTIFACT FLOW</a:t>
            </a:r>
          </a:p>
        </p:txBody>
      </p:sp>
      <p:sp>
        <p:nvSpPr>
          <p:cNvPr id="37" name="">
            <a:extLst xmlns:a="http://schemas.openxmlformats.org/drawingml/2006/main">
              <a:ext uri="{FF2B5EF4-FFF2-40B4-BE49-F238E27FC236}">
                <a16:creationId xmlns:a16="http://schemas.microsoft.com/office/drawing/2014/main" id="{9F4FD525-D2E5-4638-99DF-8118D81D813A}"/>
              </a:ext>
            </a:extLst>
          </p:cNvPr>
          <p:cNvSpPr>
            <a:spLocks xmlns:a="http://schemas.openxmlformats.org/drawingml/2006/main" noGrp="1"/>
          </p:cNvSpPr>
          <p:nvPr/>
        </p:nvSpPr>
        <p:spPr>
          <a:xfrm xmlns:a="http://schemas.openxmlformats.org/drawingml/2006/main">
            <a:off x="6381750" y="337185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08A8C139-8480-49CB-8603-3CFCC3487023}"/>
              </a:ext>
            </a:extLst>
          </p:cNvPr>
          <p:cNvSpPr>
            <a:spLocks xmlns:a="http://schemas.openxmlformats.org/drawingml/2006/main" noGrp="1"/>
          </p:cNvSpPr>
          <p:nvPr/>
        </p:nvSpPr>
        <p:spPr>
          <a:xfrm xmlns:a="http://schemas.openxmlformats.org/drawingml/2006/main">
            <a:off x="6448425" y="34290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Host inputs</a:t>
            </a:r>
          </a:p>
        </p:txBody>
      </p:sp>
      <p:sp>
        <p:nvSpPr>
          <p:cNvPr id="39" name="">
            <a:extLst xmlns:a="http://schemas.openxmlformats.org/drawingml/2006/main">
              <a:ext uri="{FF2B5EF4-FFF2-40B4-BE49-F238E27FC236}">
                <a16:creationId xmlns:a16="http://schemas.microsoft.com/office/drawing/2014/main" id="{453FE292-6535-4E28-8C6A-8C89953C5754}"/>
              </a:ext>
            </a:extLst>
          </p:cNvPr>
          <p:cNvSpPr>
            <a:spLocks xmlns:a="http://schemas.openxmlformats.org/drawingml/2006/main" noGrp="1"/>
          </p:cNvSpPr>
          <p:nvPr/>
        </p:nvSpPr>
        <p:spPr>
          <a:xfrm xmlns:a="http://schemas.openxmlformats.org/drawingml/2006/main">
            <a:off x="8020050" y="33909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Aptos"/>
                <a:ea typeface="Aptos"/>
                <a:cs typeface="Aptos"/>
              </a:defRPr>
            </a:pPr>
            <a:r>
              <a:rPr sz="825" b="1">
                <a:solidFill>
                  <a:srgbClr val="202A33"/>
                </a:solidFill>
                <a:latin typeface="Aptos"/>
                <a:ea typeface="Aptos"/>
                <a:cs typeface="Aptos"/>
              </a:rPr>
              <a:t>data/test_apks  +  datasets</a:t>
            </a:r>
          </a:p>
        </p:txBody>
      </p:sp>
      <p:sp>
        <p:nvSpPr>
          <p:cNvPr id="40" name="">
            <a:extLst xmlns:a="http://schemas.openxmlformats.org/drawingml/2006/main">
              <a:ext uri="{FF2B5EF4-FFF2-40B4-BE49-F238E27FC236}">
                <a16:creationId xmlns:a16="http://schemas.microsoft.com/office/drawing/2014/main" id="{63704F5C-7E49-4EBE-BBD7-B7224AB7A9CF}"/>
              </a:ext>
            </a:extLst>
          </p:cNvPr>
          <p:cNvSpPr>
            <a:spLocks xmlns:a="http://schemas.openxmlformats.org/drawingml/2006/main" noGrp="1"/>
          </p:cNvSpPr>
          <p:nvPr/>
        </p:nvSpPr>
        <p:spPr>
          <a:xfrm xmlns:a="http://schemas.openxmlformats.org/drawingml/2006/main">
            <a:off x="6381750" y="3781425"/>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41" name="">
            <a:extLst xmlns:a="http://schemas.openxmlformats.org/drawingml/2006/main">
              <a:ext uri="{FF2B5EF4-FFF2-40B4-BE49-F238E27FC236}">
                <a16:creationId xmlns:a16="http://schemas.microsoft.com/office/drawing/2014/main" id="{4B54A6BE-381F-45E3-86FD-55003E534A47}"/>
              </a:ext>
            </a:extLst>
          </p:cNvPr>
          <p:cNvSpPr>
            <a:spLocks xmlns:a="http://schemas.openxmlformats.org/drawingml/2006/main" noGrp="1"/>
          </p:cNvSpPr>
          <p:nvPr/>
        </p:nvSpPr>
        <p:spPr>
          <a:xfrm xmlns:a="http://schemas.openxmlformats.org/drawingml/2006/main">
            <a:off x="6448425" y="383857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Host reference</a:t>
            </a:r>
          </a:p>
        </p:txBody>
      </p:sp>
      <p:sp>
        <p:nvSpPr>
          <p:cNvPr id="42" name="">
            <a:extLst xmlns:a="http://schemas.openxmlformats.org/drawingml/2006/main">
              <a:ext uri="{FF2B5EF4-FFF2-40B4-BE49-F238E27FC236}">
                <a16:creationId xmlns:a16="http://schemas.microsoft.com/office/drawing/2014/main" id="{2A97990C-8C87-46FA-903D-93A4354C3692}"/>
              </a:ext>
            </a:extLst>
          </p:cNvPr>
          <p:cNvSpPr>
            <a:spLocks xmlns:a="http://schemas.openxmlformats.org/drawingml/2006/main" noGrp="1"/>
          </p:cNvSpPr>
          <p:nvPr/>
        </p:nvSpPr>
        <p:spPr>
          <a:xfrm xmlns:a="http://schemas.openxmlformats.org/drawingml/2006/main">
            <a:off x="8020050" y="3800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Aptos"/>
                <a:ea typeface="Aptos"/>
                <a:cs typeface="Aptos"/>
              </a:defRPr>
            </a:pPr>
            <a:r>
              <a:rPr sz="825" b="1">
                <a:solidFill>
                  <a:srgbClr val="202A33"/>
                </a:solidFill>
                <a:latin typeface="Aptos"/>
                <a:ea typeface="Aptos"/>
                <a:cs typeface="Aptos"/>
              </a:rPr>
              <a:t>data/reference_db/*.sqlite</a:t>
            </a:r>
          </a:p>
        </p:txBody>
      </p:sp>
      <p:sp>
        <p:nvSpPr>
          <p:cNvPr id="43" name="">
            <a:extLst xmlns:a="http://schemas.openxmlformats.org/drawingml/2006/main">
              <a:ext uri="{FF2B5EF4-FFF2-40B4-BE49-F238E27FC236}">
                <a16:creationId xmlns:a16="http://schemas.microsoft.com/office/drawing/2014/main" id="{F7E2DACD-EF16-4454-A2BF-B6FBC1D5174C}"/>
              </a:ext>
            </a:extLst>
          </p:cNvPr>
          <p:cNvSpPr>
            <a:spLocks xmlns:a="http://schemas.openxmlformats.org/drawingml/2006/main" noGrp="1"/>
          </p:cNvSpPr>
          <p:nvPr/>
        </p:nvSpPr>
        <p:spPr>
          <a:xfrm xmlns:a="http://schemas.openxmlformats.org/drawingml/2006/main">
            <a:off x="6381750" y="419100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44" name="">
            <a:extLst xmlns:a="http://schemas.openxmlformats.org/drawingml/2006/main">
              <a:ext uri="{FF2B5EF4-FFF2-40B4-BE49-F238E27FC236}">
                <a16:creationId xmlns:a16="http://schemas.microsoft.com/office/drawing/2014/main" id="{38074C14-8B19-446B-B6C3-12EB3A7F519C}"/>
              </a:ext>
            </a:extLst>
          </p:cNvPr>
          <p:cNvSpPr>
            <a:spLocks xmlns:a="http://schemas.openxmlformats.org/drawingml/2006/main" noGrp="1"/>
          </p:cNvSpPr>
          <p:nvPr/>
        </p:nvSpPr>
        <p:spPr>
          <a:xfrm xmlns:a="http://schemas.openxmlformats.org/drawingml/2006/main">
            <a:off x="6448425" y="42481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Container execution</a:t>
            </a:r>
          </a:p>
        </p:txBody>
      </p:sp>
      <p:sp>
        <p:nvSpPr>
          <p:cNvPr id="45" name="">
            <a:extLst xmlns:a="http://schemas.openxmlformats.org/drawingml/2006/main">
              <a:ext uri="{FF2B5EF4-FFF2-40B4-BE49-F238E27FC236}">
                <a16:creationId xmlns:a16="http://schemas.microsoft.com/office/drawing/2014/main" id="{3DA60977-C873-49EB-BAC9-D7F615AFD412}"/>
              </a:ext>
            </a:extLst>
          </p:cNvPr>
          <p:cNvSpPr>
            <a:spLocks xmlns:a="http://schemas.openxmlformats.org/drawingml/2006/main" noGrp="1"/>
          </p:cNvSpPr>
          <p:nvPr/>
        </p:nvSpPr>
        <p:spPr>
          <a:xfrm xmlns:a="http://schemas.openxmlformats.org/drawingml/2006/main">
            <a:off x="8020050" y="42100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docker compose run --rm apk-sbom ...</a:t>
            </a:r>
          </a:p>
        </p:txBody>
      </p:sp>
      <p:sp>
        <p:nvSpPr>
          <p:cNvPr id="46" name="">
            <a:extLst xmlns:a="http://schemas.openxmlformats.org/drawingml/2006/main">
              <a:ext uri="{FF2B5EF4-FFF2-40B4-BE49-F238E27FC236}">
                <a16:creationId xmlns:a16="http://schemas.microsoft.com/office/drawing/2014/main" id="{9DDAF491-CB29-42B9-B430-04B8A679109F}"/>
              </a:ext>
            </a:extLst>
          </p:cNvPr>
          <p:cNvSpPr>
            <a:spLocks xmlns:a="http://schemas.openxmlformats.org/drawingml/2006/main" noGrp="1"/>
          </p:cNvSpPr>
          <p:nvPr/>
        </p:nvSpPr>
        <p:spPr>
          <a:xfrm xmlns:a="http://schemas.openxmlformats.org/drawingml/2006/main">
            <a:off x="6381750" y="4600575"/>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8DEF7341-D981-4B0B-879B-0810FBBE49B8}"/>
              </a:ext>
            </a:extLst>
          </p:cNvPr>
          <p:cNvSpPr>
            <a:spLocks xmlns:a="http://schemas.openxmlformats.org/drawingml/2006/main" noGrp="1"/>
          </p:cNvSpPr>
          <p:nvPr/>
        </p:nvSpPr>
        <p:spPr>
          <a:xfrm xmlns:a="http://schemas.openxmlformats.org/drawingml/2006/main">
            <a:off x="6448425" y="465772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Host outputs</a:t>
            </a:r>
          </a:p>
        </p:txBody>
      </p:sp>
      <p:sp>
        <p:nvSpPr>
          <p:cNvPr id="48" name="">
            <a:extLst xmlns:a="http://schemas.openxmlformats.org/drawingml/2006/main">
              <a:ext uri="{FF2B5EF4-FFF2-40B4-BE49-F238E27FC236}">
                <a16:creationId xmlns:a16="http://schemas.microsoft.com/office/drawing/2014/main" id="{F4C78464-88FD-4F0B-9774-062A59B4D0E0}"/>
              </a:ext>
            </a:extLst>
          </p:cNvPr>
          <p:cNvSpPr>
            <a:spLocks xmlns:a="http://schemas.openxmlformats.org/drawingml/2006/main" noGrp="1"/>
          </p:cNvSpPr>
          <p:nvPr/>
        </p:nvSpPr>
        <p:spPr>
          <a:xfrm xmlns:a="http://schemas.openxmlformats.org/drawingml/2006/main">
            <a:off x="8020050" y="46196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data/results/... report.html, JSON, SBOM</a:t>
            </a:r>
          </a:p>
        </p:txBody>
      </p:sp>
      <p:sp>
        <p:nvSpPr>
          <p:cNvPr id="49" name="">
            <a:extLst xmlns:a="http://schemas.openxmlformats.org/drawingml/2006/main">
              <a:ext uri="{FF2B5EF4-FFF2-40B4-BE49-F238E27FC236}">
                <a16:creationId xmlns:a16="http://schemas.microsoft.com/office/drawing/2014/main" id="{72D49904-0865-4B3B-9981-841032C209C0}"/>
              </a:ext>
            </a:extLst>
          </p:cNvPr>
          <p:cNvSpPr>
            <a:spLocks xmlns:a="http://schemas.openxmlformats.org/drawingml/2006/main" noGrp="1"/>
          </p:cNvSpPr>
          <p:nvPr/>
        </p:nvSpPr>
        <p:spPr>
          <a:xfrm xmlns:a="http://schemas.openxmlformats.org/drawingml/2006/main">
            <a:off x="6381750" y="501015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0" name="">
            <a:extLst xmlns:a="http://schemas.openxmlformats.org/drawingml/2006/main">
              <a:ext uri="{FF2B5EF4-FFF2-40B4-BE49-F238E27FC236}">
                <a16:creationId xmlns:a16="http://schemas.microsoft.com/office/drawing/2014/main" id="{3D71A51B-2E48-48C7-AC93-269E5E1057E8}"/>
              </a:ext>
            </a:extLst>
          </p:cNvPr>
          <p:cNvSpPr>
            <a:spLocks xmlns:a="http://schemas.openxmlformats.org/drawingml/2006/main" noGrp="1"/>
          </p:cNvSpPr>
          <p:nvPr/>
        </p:nvSpPr>
        <p:spPr>
          <a:xfrm xmlns:a="http://schemas.openxmlformats.org/drawingml/2006/main">
            <a:off x="6448425" y="5067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Regression proof</a:t>
            </a:r>
          </a:p>
        </p:txBody>
      </p:sp>
      <p:sp>
        <p:nvSpPr>
          <p:cNvPr id="51" name="">
            <a:extLst xmlns:a="http://schemas.openxmlformats.org/drawingml/2006/main">
              <a:ext uri="{FF2B5EF4-FFF2-40B4-BE49-F238E27FC236}">
                <a16:creationId xmlns:a16="http://schemas.microsoft.com/office/drawing/2014/main" id="{D7F04154-43C9-4743-B461-3A434C908D2D}"/>
              </a:ext>
            </a:extLst>
          </p:cNvPr>
          <p:cNvSpPr>
            <a:spLocks xmlns:a="http://schemas.openxmlformats.org/drawingml/2006/main" noGrp="1"/>
          </p:cNvSpPr>
          <p:nvPr/>
        </p:nvSpPr>
        <p:spPr>
          <a:xfrm xmlns:a="http://schemas.openxmlformats.org/drawingml/2006/main">
            <a:off x="8020050" y="50292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tests + source-validation + metrics</a:t>
            </a:r>
          </a:p>
        </p:txBody>
      </p:sp>
      <p:sp>
        <p:nvSpPr>
          <p:cNvPr id="52" name="">
            <a:extLst xmlns:a="http://schemas.openxmlformats.org/drawingml/2006/main">
              <a:ext uri="{FF2B5EF4-FFF2-40B4-BE49-F238E27FC236}">
                <a16:creationId xmlns:a16="http://schemas.microsoft.com/office/drawing/2014/main" id="{18AAB49A-CF69-4FDE-8594-A9425D46B18E}"/>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1166D69-4452-4667-B476-29404D6EE956}"/>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Files: Dockerfile  |  docker-compose.yml  |  .dockerignore  |  data/reference_db/  |  data/results/</a:t>
            </a:r>
          </a:p>
        </p:txBody>
      </p:sp>
      <p:sp>
        <p:nvSpPr>
          <p:cNvPr id="54" name="">
            <a:extLst xmlns:a="http://schemas.openxmlformats.org/drawingml/2006/main">
              <a:ext uri="{FF2B5EF4-FFF2-40B4-BE49-F238E27FC236}">
                <a16:creationId xmlns:a16="http://schemas.microsoft.com/office/drawing/2014/main" id="{B8DA97F1-5667-41B0-A86B-BD3114D8DF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30541244"/>
      </p:ext>
    </p:extLst>
  </p:cSld>
</p:sld>
</file>

<file path=ppt/slides/slide3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6A14A4-1726-482C-B06A-243EB226766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BACKUP 4</a:t>
            </a:r>
          </a:p>
        </p:txBody>
      </p:sp>
      <p:sp>
        <p:nvSpPr>
          <p:cNvPr id="2" name="">
            <a:extLst xmlns:a="http://schemas.openxmlformats.org/drawingml/2006/main">
              <a:ext uri="{FF2B5EF4-FFF2-40B4-BE49-F238E27FC236}">
                <a16:creationId xmlns:a16="http://schemas.microsoft.com/office/drawing/2014/main" id="{F17D5D46-62E5-4B3B-8FA5-5ED92074D7C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Detailed APK-family classification</a:t>
            </a:r>
          </a:p>
        </p:txBody>
      </p:sp>
      <p:sp>
        <p:nvSpPr>
          <p:cNvPr id="3" name="">
            <a:extLst xmlns:a="http://schemas.openxmlformats.org/drawingml/2006/main">
              <a:ext uri="{FF2B5EF4-FFF2-40B4-BE49-F238E27FC236}">
                <a16:creationId xmlns:a16="http://schemas.microsoft.com/office/drawing/2014/main" id="{F73C4D9A-EF84-49CE-A38C-AF1F49CEBD2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35</a:t>
            </a:r>
          </a:p>
        </p:txBody>
      </p:sp>
      <p:sp>
        <p:nvSpPr>
          <p:cNvPr id="4" name="">
            <a:extLst xmlns:a="http://schemas.openxmlformats.org/drawingml/2006/main">
              <a:ext uri="{FF2B5EF4-FFF2-40B4-BE49-F238E27FC236}">
                <a16:creationId xmlns:a16="http://schemas.microsoft.com/office/drawing/2014/main" id="{68786DA9-611F-4533-851D-EECE236EF0BC}"/>
              </a:ext>
            </a:extLst>
          </p:cNvPr>
          <p:cNvSpPr>
            <a:spLocks xmlns:a="http://schemas.openxmlformats.org/drawingml/2006/main" noGrp="1"/>
          </p:cNvSpPr>
          <p:nvPr/>
        </p:nvSpPr>
        <p:spPr>
          <a:xfrm xmlns:a="http://schemas.openxmlformats.org/drawingml/2006/main">
            <a:off x="685800" y="13906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1BE4F816-49B6-4CBF-9775-50CC22F80088}"/>
              </a:ext>
            </a:extLst>
          </p:cNvPr>
          <p:cNvSpPr>
            <a:spLocks xmlns:a="http://schemas.openxmlformats.org/drawingml/2006/main" noGrp="1"/>
          </p:cNvSpPr>
          <p:nvPr/>
        </p:nvSpPr>
        <p:spPr>
          <a:xfrm xmlns:a="http://schemas.openxmlformats.org/drawingml/2006/main">
            <a:off x="8572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Clear</a:t>
            </a:r>
          </a:p>
        </p:txBody>
      </p:sp>
      <p:sp>
        <p:nvSpPr>
          <p:cNvPr id="6" name="">
            <a:extLst xmlns:a="http://schemas.openxmlformats.org/drawingml/2006/main">
              <a:ext uri="{FF2B5EF4-FFF2-40B4-BE49-F238E27FC236}">
                <a16:creationId xmlns:a16="http://schemas.microsoft.com/office/drawing/2014/main" id="{C9767072-B8C7-41D3-9BF2-89C172963209}"/>
              </a:ext>
            </a:extLst>
          </p:cNvPr>
          <p:cNvSpPr>
            <a:spLocks xmlns:a="http://schemas.openxmlformats.org/drawingml/2006/main" noGrp="1"/>
          </p:cNvSpPr>
          <p:nvPr/>
        </p:nvSpPr>
        <p:spPr>
          <a:xfrm xmlns:a="http://schemas.openxmlformats.org/drawingml/2006/main">
            <a:off x="21526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names and code preserved</a:t>
            </a:r>
          </a:p>
        </p:txBody>
      </p:sp>
      <p:sp>
        <p:nvSpPr>
          <p:cNvPr id="7" name="">
            <a:extLst xmlns:a="http://schemas.openxmlformats.org/drawingml/2006/main">
              <a:ext uri="{FF2B5EF4-FFF2-40B4-BE49-F238E27FC236}">
                <a16:creationId xmlns:a16="http://schemas.microsoft.com/office/drawing/2014/main" id="{1AAA5260-7D68-4DC4-939D-54B65ECDAF3D}"/>
              </a:ext>
            </a:extLst>
          </p:cNvPr>
          <p:cNvSpPr>
            <a:spLocks xmlns:a="http://schemas.openxmlformats.org/drawingml/2006/main" noGrp="1"/>
          </p:cNvSpPr>
          <p:nvPr/>
        </p:nvSpPr>
        <p:spPr>
          <a:xfrm xmlns:a="http://schemas.openxmlformats.org/drawingml/2006/main">
            <a:off x="39814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exact/high expected</a:t>
            </a:r>
          </a:p>
        </p:txBody>
      </p:sp>
      <p:sp>
        <p:nvSpPr>
          <p:cNvPr id="8" name="">
            <a:extLst xmlns:a="http://schemas.openxmlformats.org/drawingml/2006/main">
              <a:ext uri="{FF2B5EF4-FFF2-40B4-BE49-F238E27FC236}">
                <a16:creationId xmlns:a16="http://schemas.microsoft.com/office/drawing/2014/main" id="{B964199F-B592-4796-A2A4-3A347F6BAD12}"/>
              </a:ext>
            </a:extLst>
          </p:cNvPr>
          <p:cNvSpPr>
            <a:spLocks xmlns:a="http://schemas.openxmlformats.org/drawingml/2006/main" noGrp="1"/>
          </p:cNvSpPr>
          <p:nvPr/>
        </p:nvSpPr>
        <p:spPr>
          <a:xfrm xmlns:a="http://schemas.openxmlformats.org/drawingml/2006/main">
            <a:off x="6134100" y="13906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63723947-EEF1-4450-9460-879E315DCA18}"/>
              </a:ext>
            </a:extLst>
          </p:cNvPr>
          <p:cNvSpPr>
            <a:spLocks xmlns:a="http://schemas.openxmlformats.org/drawingml/2006/main" noGrp="1"/>
          </p:cNvSpPr>
          <p:nvPr/>
        </p:nvSpPr>
        <p:spPr>
          <a:xfrm xmlns:a="http://schemas.openxmlformats.org/drawingml/2006/main">
            <a:off x="63055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R8 rename</a:t>
            </a:r>
          </a:p>
        </p:txBody>
      </p:sp>
      <p:sp>
        <p:nvSpPr>
          <p:cNvPr id="10" name="">
            <a:extLst xmlns:a="http://schemas.openxmlformats.org/drawingml/2006/main">
              <a:ext uri="{FF2B5EF4-FFF2-40B4-BE49-F238E27FC236}">
                <a16:creationId xmlns:a16="http://schemas.microsoft.com/office/drawing/2014/main" id="{95CA1FC0-9AC6-40BE-A7B5-38403F4E6E4C}"/>
              </a:ext>
            </a:extLst>
          </p:cNvPr>
          <p:cNvSpPr>
            <a:spLocks xmlns:a="http://schemas.openxmlformats.org/drawingml/2006/main" noGrp="1"/>
          </p:cNvSpPr>
          <p:nvPr/>
        </p:nvSpPr>
        <p:spPr>
          <a:xfrm xmlns:a="http://schemas.openxmlformats.org/drawingml/2006/main">
            <a:off x="76009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identifiers rewritten</a:t>
            </a:r>
          </a:p>
        </p:txBody>
      </p:sp>
      <p:sp>
        <p:nvSpPr>
          <p:cNvPr id="11" name="">
            <a:extLst xmlns:a="http://schemas.openxmlformats.org/drawingml/2006/main">
              <a:ext uri="{FF2B5EF4-FFF2-40B4-BE49-F238E27FC236}">
                <a16:creationId xmlns:a16="http://schemas.microsoft.com/office/drawing/2014/main" id="{F9F87EB7-12D6-4A06-8431-3470491F62CF}"/>
              </a:ext>
            </a:extLst>
          </p:cNvPr>
          <p:cNvSpPr>
            <a:spLocks xmlns:a="http://schemas.openxmlformats.org/drawingml/2006/main" noGrp="1"/>
          </p:cNvSpPr>
          <p:nvPr/>
        </p:nvSpPr>
        <p:spPr>
          <a:xfrm xmlns:a="http://schemas.openxmlformats.org/drawingml/2006/main">
            <a:off x="94297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structure should survive</a:t>
            </a:r>
          </a:p>
        </p:txBody>
      </p:sp>
      <p:sp>
        <p:nvSpPr>
          <p:cNvPr id="12" name="">
            <a:extLst xmlns:a="http://schemas.openxmlformats.org/drawingml/2006/main">
              <a:ext uri="{FF2B5EF4-FFF2-40B4-BE49-F238E27FC236}">
                <a16:creationId xmlns:a16="http://schemas.microsoft.com/office/drawing/2014/main" id="{72909C3A-0D2B-4649-9D45-AF0FFFA1FF2D}"/>
              </a:ext>
            </a:extLst>
          </p:cNvPr>
          <p:cNvSpPr>
            <a:spLocks xmlns:a="http://schemas.openxmlformats.org/drawingml/2006/main" noGrp="1"/>
          </p:cNvSpPr>
          <p:nvPr/>
        </p:nvSpPr>
        <p:spPr>
          <a:xfrm xmlns:a="http://schemas.openxmlformats.org/drawingml/2006/main">
            <a:off x="685800" y="24574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1AD73D61-53B0-4D53-9483-38BB7DBD0F73}"/>
              </a:ext>
            </a:extLst>
          </p:cNvPr>
          <p:cNvSpPr>
            <a:spLocks xmlns:a="http://schemas.openxmlformats.org/drawingml/2006/main" noGrp="1"/>
          </p:cNvSpPr>
          <p:nvPr/>
        </p:nvSpPr>
        <p:spPr>
          <a:xfrm xmlns:a="http://schemas.openxmlformats.org/drawingml/2006/main">
            <a:off x="8572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R8 shrink</a:t>
            </a:r>
          </a:p>
        </p:txBody>
      </p:sp>
      <p:sp>
        <p:nvSpPr>
          <p:cNvPr id="14" name="">
            <a:extLst xmlns:a="http://schemas.openxmlformats.org/drawingml/2006/main">
              <a:ext uri="{FF2B5EF4-FFF2-40B4-BE49-F238E27FC236}">
                <a16:creationId xmlns:a16="http://schemas.microsoft.com/office/drawing/2014/main" id="{4215281A-D7C9-4BEE-908D-F8701697A2F9}"/>
              </a:ext>
            </a:extLst>
          </p:cNvPr>
          <p:cNvSpPr>
            <a:spLocks xmlns:a="http://schemas.openxmlformats.org/drawingml/2006/main" noGrp="1"/>
          </p:cNvSpPr>
          <p:nvPr/>
        </p:nvSpPr>
        <p:spPr>
          <a:xfrm xmlns:a="http://schemas.openxmlformats.org/drawingml/2006/main">
            <a:off x="21526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unused code removed</a:t>
            </a:r>
          </a:p>
        </p:txBody>
      </p:sp>
      <p:sp>
        <p:nvSpPr>
          <p:cNvPr id="15" name="">
            <a:extLst xmlns:a="http://schemas.openxmlformats.org/drawingml/2006/main">
              <a:ext uri="{FF2B5EF4-FFF2-40B4-BE49-F238E27FC236}">
                <a16:creationId xmlns:a16="http://schemas.microsoft.com/office/drawing/2014/main" id="{5BECD3E2-C129-42B8-AFC3-32B373A1E11F}"/>
              </a:ext>
            </a:extLst>
          </p:cNvPr>
          <p:cNvSpPr>
            <a:spLocks xmlns:a="http://schemas.openxmlformats.org/drawingml/2006/main" noGrp="1"/>
          </p:cNvSpPr>
          <p:nvPr/>
        </p:nvSpPr>
        <p:spPr>
          <a:xfrm xmlns:a="http://schemas.openxmlformats.org/drawingml/2006/main">
            <a:off x="39814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lower evidence volume</a:t>
            </a:r>
          </a:p>
        </p:txBody>
      </p:sp>
      <p:sp>
        <p:nvSpPr>
          <p:cNvPr id="16" name="">
            <a:extLst xmlns:a="http://schemas.openxmlformats.org/drawingml/2006/main">
              <a:ext uri="{FF2B5EF4-FFF2-40B4-BE49-F238E27FC236}">
                <a16:creationId xmlns:a16="http://schemas.microsoft.com/office/drawing/2014/main" id="{F02CDE39-C254-4471-9CEE-044AEA3D752E}"/>
              </a:ext>
            </a:extLst>
          </p:cNvPr>
          <p:cNvSpPr>
            <a:spLocks xmlns:a="http://schemas.openxmlformats.org/drawingml/2006/main" noGrp="1"/>
          </p:cNvSpPr>
          <p:nvPr/>
        </p:nvSpPr>
        <p:spPr>
          <a:xfrm xmlns:a="http://schemas.openxmlformats.org/drawingml/2006/main">
            <a:off x="6134100" y="24574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08AE7AC4-32B2-4853-A0E8-8A54DD6F978C}"/>
              </a:ext>
            </a:extLst>
          </p:cNvPr>
          <p:cNvSpPr>
            <a:spLocks xmlns:a="http://schemas.openxmlformats.org/drawingml/2006/main" noGrp="1"/>
          </p:cNvSpPr>
          <p:nvPr/>
        </p:nvSpPr>
        <p:spPr>
          <a:xfrm xmlns:a="http://schemas.openxmlformats.org/drawingml/2006/main">
            <a:off x="63055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R8 optimize</a:t>
            </a:r>
          </a:p>
        </p:txBody>
      </p:sp>
      <p:sp>
        <p:nvSpPr>
          <p:cNvPr id="18" name="">
            <a:extLst xmlns:a="http://schemas.openxmlformats.org/drawingml/2006/main">
              <a:ext uri="{FF2B5EF4-FFF2-40B4-BE49-F238E27FC236}">
                <a16:creationId xmlns:a16="http://schemas.microsoft.com/office/drawing/2014/main" id="{0BF98525-90EA-4876-8A27-5E37B084E9AC}"/>
              </a:ext>
            </a:extLst>
          </p:cNvPr>
          <p:cNvSpPr>
            <a:spLocks xmlns:a="http://schemas.openxmlformats.org/drawingml/2006/main" noGrp="1"/>
          </p:cNvSpPr>
          <p:nvPr/>
        </p:nvSpPr>
        <p:spPr>
          <a:xfrm xmlns:a="http://schemas.openxmlformats.org/drawingml/2006/main">
            <a:off x="76009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calls and methods rewritten</a:t>
            </a:r>
          </a:p>
        </p:txBody>
      </p:sp>
      <p:sp>
        <p:nvSpPr>
          <p:cNvPr id="19" name="">
            <a:extLst xmlns:a="http://schemas.openxmlformats.org/drawingml/2006/main">
              <a:ext uri="{FF2B5EF4-FFF2-40B4-BE49-F238E27FC236}">
                <a16:creationId xmlns:a16="http://schemas.microsoft.com/office/drawing/2014/main" id="{CD7DFCCB-6F2A-4E34-A4B2-61CC3099AA20}"/>
              </a:ext>
            </a:extLst>
          </p:cNvPr>
          <p:cNvSpPr>
            <a:spLocks xmlns:a="http://schemas.openxmlformats.org/drawingml/2006/main" noGrp="1"/>
          </p:cNvSpPr>
          <p:nvPr/>
        </p:nvSpPr>
        <p:spPr>
          <a:xfrm xmlns:a="http://schemas.openxmlformats.org/drawingml/2006/main">
            <a:off x="94297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version evidence stressed</a:t>
            </a:r>
          </a:p>
        </p:txBody>
      </p:sp>
      <p:sp>
        <p:nvSpPr>
          <p:cNvPr id="20" name="">
            <a:extLst xmlns:a="http://schemas.openxmlformats.org/drawingml/2006/main">
              <a:ext uri="{FF2B5EF4-FFF2-40B4-BE49-F238E27FC236}">
                <a16:creationId xmlns:a16="http://schemas.microsoft.com/office/drawing/2014/main" id="{520ED45B-7BA1-46BE-822E-EFF8676364A5}"/>
              </a:ext>
            </a:extLst>
          </p:cNvPr>
          <p:cNvSpPr>
            <a:spLocks xmlns:a="http://schemas.openxmlformats.org/drawingml/2006/main" noGrp="1"/>
          </p:cNvSpPr>
          <p:nvPr/>
        </p:nvSpPr>
        <p:spPr>
          <a:xfrm xmlns:a="http://schemas.openxmlformats.org/drawingml/2006/main">
            <a:off x="685800" y="35242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21" name="">
            <a:extLst xmlns:a="http://schemas.openxmlformats.org/drawingml/2006/main">
              <a:ext uri="{FF2B5EF4-FFF2-40B4-BE49-F238E27FC236}">
                <a16:creationId xmlns:a16="http://schemas.microsoft.com/office/drawing/2014/main" id="{5207E69A-12A4-4D61-A12A-27A637AC28D6}"/>
              </a:ext>
            </a:extLst>
          </p:cNvPr>
          <p:cNvSpPr>
            <a:spLocks xmlns:a="http://schemas.openxmlformats.org/drawingml/2006/main" noGrp="1"/>
          </p:cNvSpPr>
          <p:nvPr/>
        </p:nvSpPr>
        <p:spPr>
          <a:xfrm xmlns:a="http://schemas.openxmlformats.org/drawingml/2006/main">
            <a:off x="8572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D754D"/>
                </a:solidFill>
                <a:latin typeface="Aptos"/>
                <a:ea typeface="Aptos"/>
                <a:cs typeface="Aptos"/>
              </a:defRPr>
            </a:pPr>
            <a:r>
              <a:rPr sz="1275" b="1">
                <a:solidFill>
                  <a:srgbClr val="8D754D"/>
                </a:solidFill>
                <a:latin typeface="Aptos"/>
                <a:ea typeface="Aptos"/>
                <a:cs typeface="Aptos"/>
              </a:rPr>
              <a:t>Repackage</a:t>
            </a:r>
          </a:p>
        </p:txBody>
      </p:sp>
      <p:sp>
        <p:nvSpPr>
          <p:cNvPr id="22" name="">
            <a:extLst xmlns:a="http://schemas.openxmlformats.org/drawingml/2006/main">
              <a:ext uri="{FF2B5EF4-FFF2-40B4-BE49-F238E27FC236}">
                <a16:creationId xmlns:a16="http://schemas.microsoft.com/office/drawing/2014/main" id="{C03E11C7-0A28-4473-8328-178A219211A4}"/>
              </a:ext>
            </a:extLst>
          </p:cNvPr>
          <p:cNvSpPr>
            <a:spLocks xmlns:a="http://schemas.openxmlformats.org/drawingml/2006/main" noGrp="1"/>
          </p:cNvSpPr>
          <p:nvPr/>
        </p:nvSpPr>
        <p:spPr>
          <a:xfrm xmlns:a="http://schemas.openxmlformats.org/drawingml/2006/main">
            <a:off x="21526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namespace flattened</a:t>
            </a:r>
          </a:p>
        </p:txBody>
      </p:sp>
      <p:sp>
        <p:nvSpPr>
          <p:cNvPr id="23" name="">
            <a:extLst xmlns:a="http://schemas.openxmlformats.org/drawingml/2006/main">
              <a:ext uri="{FF2B5EF4-FFF2-40B4-BE49-F238E27FC236}">
                <a16:creationId xmlns:a16="http://schemas.microsoft.com/office/drawing/2014/main" id="{433BDC56-E753-4A80-BD75-05548C458616}"/>
              </a:ext>
            </a:extLst>
          </p:cNvPr>
          <p:cNvSpPr>
            <a:spLocks xmlns:a="http://schemas.openxmlformats.org/drawingml/2006/main" noGrp="1"/>
          </p:cNvSpPr>
          <p:nvPr/>
        </p:nvSpPr>
        <p:spPr>
          <a:xfrm xmlns:a="http://schemas.openxmlformats.org/drawingml/2006/main">
            <a:off x="39814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package signal weakened</a:t>
            </a:r>
          </a:p>
        </p:txBody>
      </p:sp>
      <p:sp>
        <p:nvSpPr>
          <p:cNvPr id="24" name="">
            <a:extLst xmlns:a="http://schemas.openxmlformats.org/drawingml/2006/main">
              <a:ext uri="{FF2B5EF4-FFF2-40B4-BE49-F238E27FC236}">
                <a16:creationId xmlns:a16="http://schemas.microsoft.com/office/drawing/2014/main" id="{BF8685C2-BCEE-4692-A6DE-472CB7B31552}"/>
              </a:ext>
            </a:extLst>
          </p:cNvPr>
          <p:cNvSpPr>
            <a:spLocks xmlns:a="http://schemas.openxmlformats.org/drawingml/2006/main" noGrp="1"/>
          </p:cNvSpPr>
          <p:nvPr/>
        </p:nvSpPr>
        <p:spPr>
          <a:xfrm xmlns:a="http://schemas.openxmlformats.org/drawingml/2006/main">
            <a:off x="6134100" y="35242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5" name="">
            <a:extLst xmlns:a="http://schemas.openxmlformats.org/drawingml/2006/main">
              <a:ext uri="{FF2B5EF4-FFF2-40B4-BE49-F238E27FC236}">
                <a16:creationId xmlns:a16="http://schemas.microsoft.com/office/drawing/2014/main" id="{CB84F86D-F3BD-4239-A16D-2A36F2C56484}"/>
              </a:ext>
            </a:extLst>
          </p:cNvPr>
          <p:cNvSpPr>
            <a:spLocks xmlns:a="http://schemas.openxmlformats.org/drawingml/2006/main" noGrp="1"/>
          </p:cNvSpPr>
          <p:nvPr/>
        </p:nvSpPr>
        <p:spPr>
          <a:xfrm xmlns:a="http://schemas.openxmlformats.org/drawingml/2006/main">
            <a:off x="63055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Multidex</a:t>
            </a:r>
          </a:p>
        </p:txBody>
      </p:sp>
      <p:sp>
        <p:nvSpPr>
          <p:cNvPr id="26" name="">
            <a:extLst xmlns:a="http://schemas.openxmlformats.org/drawingml/2006/main">
              <a:ext uri="{FF2B5EF4-FFF2-40B4-BE49-F238E27FC236}">
                <a16:creationId xmlns:a16="http://schemas.microsoft.com/office/drawing/2014/main" id="{A56278A4-FB7F-430C-B36F-20701AE29ADC}"/>
              </a:ext>
            </a:extLst>
          </p:cNvPr>
          <p:cNvSpPr>
            <a:spLocks xmlns:a="http://schemas.openxmlformats.org/drawingml/2006/main" noGrp="1"/>
          </p:cNvSpPr>
          <p:nvPr/>
        </p:nvSpPr>
        <p:spPr>
          <a:xfrm xmlns:a="http://schemas.openxmlformats.org/drawingml/2006/main">
            <a:off x="76009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several classes*.dex</a:t>
            </a:r>
          </a:p>
        </p:txBody>
      </p:sp>
      <p:sp>
        <p:nvSpPr>
          <p:cNvPr id="27" name="">
            <a:extLst xmlns:a="http://schemas.openxmlformats.org/drawingml/2006/main">
              <a:ext uri="{FF2B5EF4-FFF2-40B4-BE49-F238E27FC236}">
                <a16:creationId xmlns:a16="http://schemas.microsoft.com/office/drawing/2014/main" id="{C3C8D51C-2861-423C-9940-78416CFB249B}"/>
              </a:ext>
            </a:extLst>
          </p:cNvPr>
          <p:cNvSpPr>
            <a:spLocks xmlns:a="http://schemas.openxmlformats.org/drawingml/2006/main" noGrp="1"/>
          </p:cNvSpPr>
          <p:nvPr/>
        </p:nvSpPr>
        <p:spPr>
          <a:xfrm xmlns:a="http://schemas.openxmlformats.org/drawingml/2006/main">
            <a:off x="94297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all DEX files analyzed</a:t>
            </a:r>
          </a:p>
        </p:txBody>
      </p:sp>
      <p:sp>
        <p:nvSpPr>
          <p:cNvPr id="28" name="">
            <a:extLst xmlns:a="http://schemas.openxmlformats.org/drawingml/2006/main">
              <a:ext uri="{FF2B5EF4-FFF2-40B4-BE49-F238E27FC236}">
                <a16:creationId xmlns:a16="http://schemas.microsoft.com/office/drawing/2014/main" id="{05EC80A0-C3DC-445E-9E78-05DB0A9AEE57}"/>
              </a:ext>
            </a:extLst>
          </p:cNvPr>
          <p:cNvSpPr>
            <a:spLocks xmlns:a="http://schemas.openxmlformats.org/drawingml/2006/main" noGrp="1"/>
          </p:cNvSpPr>
          <p:nvPr/>
        </p:nvSpPr>
        <p:spPr>
          <a:xfrm xmlns:a="http://schemas.openxmlformats.org/drawingml/2006/main">
            <a:off x="685800" y="45910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4143E182-200C-493C-BD17-C2113EDAAF34}"/>
              </a:ext>
            </a:extLst>
          </p:cNvPr>
          <p:cNvSpPr>
            <a:spLocks xmlns:a="http://schemas.openxmlformats.org/drawingml/2006/main" noGrp="1"/>
          </p:cNvSpPr>
          <p:nvPr/>
        </p:nvSpPr>
        <p:spPr>
          <a:xfrm xmlns:a="http://schemas.openxmlformats.org/drawingml/2006/main">
            <a:off x="8572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A65C55"/>
                </a:solidFill>
                <a:latin typeface="Aptos"/>
                <a:ea typeface="Aptos"/>
                <a:cs typeface="Aptos"/>
              </a:defRPr>
            </a:pPr>
            <a:r>
              <a:rPr sz="1275" b="1">
                <a:solidFill>
                  <a:srgbClr val="A65C55"/>
                </a:solidFill>
                <a:latin typeface="Aptos"/>
                <a:ea typeface="Aptos"/>
                <a:cs typeface="Aptos"/>
              </a:rPr>
              <a:t>Native-heavy</a:t>
            </a:r>
          </a:p>
        </p:txBody>
      </p:sp>
      <p:sp>
        <p:nvSpPr>
          <p:cNvPr id="30" name="">
            <a:extLst xmlns:a="http://schemas.openxmlformats.org/drawingml/2006/main">
              <a:ext uri="{FF2B5EF4-FFF2-40B4-BE49-F238E27FC236}">
                <a16:creationId xmlns:a16="http://schemas.microsoft.com/office/drawing/2014/main" id="{22AB333F-E2A2-462E-9A88-3D854D07B947}"/>
              </a:ext>
            </a:extLst>
          </p:cNvPr>
          <p:cNvSpPr>
            <a:spLocks xmlns:a="http://schemas.openxmlformats.org/drawingml/2006/main" noGrp="1"/>
          </p:cNvSpPr>
          <p:nvPr/>
        </p:nvSpPr>
        <p:spPr>
          <a:xfrm xmlns:a="http://schemas.openxmlformats.org/drawingml/2006/main">
            <a:off x="21526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many .so files</a:t>
            </a:r>
          </a:p>
        </p:txBody>
      </p:sp>
      <p:sp>
        <p:nvSpPr>
          <p:cNvPr id="31" name="">
            <a:extLst xmlns:a="http://schemas.openxmlformats.org/drawingml/2006/main">
              <a:ext uri="{FF2B5EF4-FFF2-40B4-BE49-F238E27FC236}">
                <a16:creationId xmlns:a16="http://schemas.microsoft.com/office/drawing/2014/main" id="{056B7F72-9D84-4F8C-BD64-554C8185F6D1}"/>
              </a:ext>
            </a:extLst>
          </p:cNvPr>
          <p:cNvSpPr>
            <a:spLocks xmlns:a="http://schemas.openxmlformats.org/drawingml/2006/main" noGrp="1"/>
          </p:cNvSpPr>
          <p:nvPr/>
        </p:nvSpPr>
        <p:spPr>
          <a:xfrm xmlns:a="http://schemas.openxmlformats.org/drawingml/2006/main">
            <a:off x="39814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hash-only native components</a:t>
            </a:r>
          </a:p>
        </p:txBody>
      </p:sp>
      <p:sp>
        <p:nvSpPr>
          <p:cNvPr id="32" name="">
            <a:extLst xmlns:a="http://schemas.openxmlformats.org/drawingml/2006/main">
              <a:ext uri="{FF2B5EF4-FFF2-40B4-BE49-F238E27FC236}">
                <a16:creationId xmlns:a16="http://schemas.microsoft.com/office/drawing/2014/main" id="{AA642D51-579A-4627-87E8-14A29FAC8BE8}"/>
              </a:ext>
            </a:extLst>
          </p:cNvPr>
          <p:cNvSpPr>
            <a:spLocks xmlns:a="http://schemas.openxmlformats.org/drawingml/2006/main" noGrp="1"/>
          </p:cNvSpPr>
          <p:nvPr/>
        </p:nvSpPr>
        <p:spPr>
          <a:xfrm xmlns:a="http://schemas.openxmlformats.org/drawingml/2006/main">
            <a:off x="6134100" y="45910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EA136833-89E0-4596-A61D-49E8650BB907}"/>
              </a:ext>
            </a:extLst>
          </p:cNvPr>
          <p:cNvSpPr>
            <a:spLocks xmlns:a="http://schemas.openxmlformats.org/drawingml/2006/main" noGrp="1"/>
          </p:cNvSpPr>
          <p:nvPr/>
        </p:nvSpPr>
        <p:spPr>
          <a:xfrm xmlns:a="http://schemas.openxmlformats.org/drawingml/2006/main">
            <a:off x="63055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A65C55"/>
                </a:solidFill>
                <a:latin typeface="Aptos"/>
                <a:ea typeface="Aptos"/>
                <a:cs typeface="Aptos"/>
              </a:defRPr>
            </a:pPr>
            <a:r>
              <a:rPr sz="1275" b="1">
                <a:solidFill>
                  <a:srgbClr val="A65C55"/>
                </a:solidFill>
                <a:latin typeface="Aptos"/>
                <a:ea typeface="Aptos"/>
                <a:cs typeface="Aptos"/>
              </a:rPr>
              <a:t>Hidden/protected</a:t>
            </a:r>
          </a:p>
        </p:txBody>
      </p:sp>
      <p:sp>
        <p:nvSpPr>
          <p:cNvPr id="34" name="">
            <a:extLst xmlns:a="http://schemas.openxmlformats.org/drawingml/2006/main">
              <a:ext uri="{FF2B5EF4-FFF2-40B4-BE49-F238E27FC236}">
                <a16:creationId xmlns:a16="http://schemas.microsoft.com/office/drawing/2014/main" id="{97D243A8-9E1D-4439-9847-8C535A203F5A}"/>
              </a:ext>
            </a:extLst>
          </p:cNvPr>
          <p:cNvSpPr>
            <a:spLocks xmlns:a="http://schemas.openxmlformats.org/drawingml/2006/main" noGrp="1"/>
          </p:cNvSpPr>
          <p:nvPr/>
        </p:nvSpPr>
        <p:spPr>
          <a:xfrm xmlns:a="http://schemas.openxmlformats.org/drawingml/2006/main">
            <a:off x="76009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nonstandard DEX or opaque payload</a:t>
            </a:r>
          </a:p>
        </p:txBody>
      </p:sp>
      <p:sp>
        <p:nvSpPr>
          <p:cNvPr id="35" name="">
            <a:extLst xmlns:a="http://schemas.openxmlformats.org/drawingml/2006/main">
              <a:ext uri="{FF2B5EF4-FFF2-40B4-BE49-F238E27FC236}">
                <a16:creationId xmlns:a16="http://schemas.microsoft.com/office/drawing/2014/main" id="{1D46F1B3-26CF-49CE-AA1D-7480903F6536}"/>
              </a:ext>
            </a:extLst>
          </p:cNvPr>
          <p:cNvSpPr>
            <a:spLocks xmlns:a="http://schemas.openxmlformats.org/drawingml/2006/main" noGrp="1"/>
          </p:cNvSpPr>
          <p:nvPr/>
        </p:nvSpPr>
        <p:spPr>
          <a:xfrm xmlns:a="http://schemas.openxmlformats.org/drawingml/2006/main">
            <a:off x="94297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risk warning, no false Maven claim</a:t>
            </a:r>
          </a:p>
        </p:txBody>
      </p:sp>
      <p:sp>
        <p:nvSpPr>
          <p:cNvPr id="36" name="">
            <a:extLst xmlns:a="http://schemas.openxmlformats.org/drawingml/2006/main">
              <a:ext uri="{FF2B5EF4-FFF2-40B4-BE49-F238E27FC236}">
                <a16:creationId xmlns:a16="http://schemas.microsoft.com/office/drawing/2014/main" id="{7FA8745F-E6AB-4D69-98B3-FC9E7EFA1596}"/>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F05809F-AB32-4055-B76F-56716C6F4A37}"/>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Source: docs/evaluation/APK_TYPE_EVALUATION.md  |  data/results/evaluation/apk-type-evaluation.json</a:t>
            </a:r>
          </a:p>
        </p:txBody>
      </p:sp>
      <p:sp>
        <p:nvSpPr>
          <p:cNvPr id="38" name="">
            <a:extLst xmlns:a="http://schemas.openxmlformats.org/drawingml/2006/main">
              <a:ext uri="{FF2B5EF4-FFF2-40B4-BE49-F238E27FC236}">
                <a16:creationId xmlns:a16="http://schemas.microsoft.com/office/drawing/2014/main" id="{C001B724-01B2-41E1-B9DA-BE290992786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86775934"/>
      </p:ext>
    </p:extLst>
  </p:cSld>
</p:sld>
</file>

<file path=ppt/slides/slide3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F98A29-0CD3-4693-9FD8-AD5A216193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351528-877A-4308-84A5-3BCAD748FBB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5E88A8-6B65-4DC5-AC16-5F9FA4CE4D2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BACKUP 5</a:t>
            </a:r>
          </a:p>
        </p:txBody>
      </p:sp>
      <p:sp>
        <p:nvSpPr>
          <p:cNvPr id="4" name="">
            <a:extLst xmlns:a="http://schemas.openxmlformats.org/drawingml/2006/main">
              <a:ext uri="{FF2B5EF4-FFF2-40B4-BE49-F238E27FC236}">
                <a16:creationId xmlns:a16="http://schemas.microsoft.com/office/drawing/2014/main" id="{D2D18A03-68E8-4AA5-AAC5-9D92D83C0992}"/>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Source-gap taxonomy separates explanation from actionable matcher work</a:t>
            </a:r>
          </a:p>
        </p:txBody>
      </p:sp>
      <p:sp>
        <p:nvSpPr>
          <p:cNvPr id="5" name="">
            <a:extLst xmlns:a="http://schemas.openxmlformats.org/drawingml/2006/main">
              <a:ext uri="{FF2B5EF4-FFF2-40B4-BE49-F238E27FC236}">
                <a16:creationId xmlns:a16="http://schemas.microsoft.com/office/drawing/2014/main" id="{94C4B1D3-08A5-4697-9CD5-07B87440A6F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2AA16226-43BE-45EC-9FB0-259480AE5026}"/>
              </a:ext>
            </a:extLst>
          </p:cNvPr>
          <p:cNvSpPr>
            <a:spLocks xmlns:a="http://schemas.openxmlformats.org/drawingml/2006/main" noGrp="1"/>
          </p:cNvSpPr>
          <p:nvPr/>
        </p:nvSpPr>
        <p:spPr>
          <a:xfrm xmlns:a="http://schemas.openxmlformats.org/drawingml/2006/main">
            <a:off x="685800" y="13335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40D6E2D0-69C4-4756-9583-76860E276FC8}"/>
              </a:ext>
            </a:extLst>
          </p:cNvPr>
          <p:cNvSpPr>
            <a:spLocks xmlns:a="http://schemas.openxmlformats.org/drawingml/2006/main" noGrp="1"/>
          </p:cNvSpPr>
          <p:nvPr/>
        </p:nvSpPr>
        <p:spPr>
          <a:xfrm xmlns:a="http://schemas.openxmlformats.org/drawingml/2006/main">
            <a:off x="876300" y="14382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Exact in DB and emitted</a:t>
            </a:r>
          </a:p>
        </p:txBody>
      </p:sp>
      <p:sp>
        <p:nvSpPr>
          <p:cNvPr id="8" name="">
            <a:extLst xmlns:a="http://schemas.openxmlformats.org/drawingml/2006/main">
              <a:ext uri="{FF2B5EF4-FFF2-40B4-BE49-F238E27FC236}">
                <a16:creationId xmlns:a16="http://schemas.microsoft.com/office/drawing/2014/main" id="{229C2A95-8258-401E-AC97-B202B064ACE0}"/>
              </a:ext>
            </a:extLst>
          </p:cNvPr>
          <p:cNvSpPr>
            <a:spLocks xmlns:a="http://schemas.openxmlformats.org/drawingml/2006/main" noGrp="1"/>
          </p:cNvSpPr>
          <p:nvPr/>
        </p:nvSpPr>
        <p:spPr>
          <a:xfrm xmlns:a="http://schemas.openxmlformats.org/drawingml/2006/main">
            <a:off x="4171950" y="14097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6F7C61"/>
                </a:solidFill>
                <a:latin typeface="Aptos"/>
                <a:ea typeface="Aptos"/>
                <a:cs typeface="Aptos"/>
              </a:defRPr>
            </a:pPr>
            <a:r>
              <a:rPr sz="1275" b="1">
                <a:solidFill>
                  <a:srgbClr val="6F7C61"/>
                </a:solidFill>
                <a:latin typeface="Aptos"/>
                <a:ea typeface="Aptos"/>
                <a:cs typeface="Aptos"/>
              </a:rPr>
              <a:t>898</a:t>
            </a:r>
          </a:p>
        </p:txBody>
      </p:sp>
      <p:sp>
        <p:nvSpPr>
          <p:cNvPr id="9" name="">
            <a:extLst xmlns:a="http://schemas.openxmlformats.org/drawingml/2006/main">
              <a:ext uri="{FF2B5EF4-FFF2-40B4-BE49-F238E27FC236}">
                <a16:creationId xmlns:a16="http://schemas.microsoft.com/office/drawing/2014/main" id="{B662B387-5752-42B0-B1F4-9DB63F951E77}"/>
              </a:ext>
            </a:extLst>
          </p:cNvPr>
          <p:cNvSpPr>
            <a:spLocks xmlns:a="http://schemas.openxmlformats.org/drawingml/2006/main" noGrp="1"/>
          </p:cNvSpPr>
          <p:nvPr/>
        </p:nvSpPr>
        <p:spPr>
          <a:xfrm xmlns:a="http://schemas.openxmlformats.org/drawingml/2006/main">
            <a:off x="5600700" y="14287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recognized output subset</a:t>
            </a:r>
          </a:p>
        </p:txBody>
      </p:sp>
      <p:sp>
        <p:nvSpPr>
          <p:cNvPr id="10" name="">
            <a:extLst xmlns:a="http://schemas.openxmlformats.org/drawingml/2006/main">
              <a:ext uri="{FF2B5EF4-FFF2-40B4-BE49-F238E27FC236}">
                <a16:creationId xmlns:a16="http://schemas.microsoft.com/office/drawing/2014/main" id="{79C22DE6-DE96-41FD-91B5-56A021260EE6}"/>
              </a:ext>
            </a:extLst>
          </p:cNvPr>
          <p:cNvSpPr>
            <a:spLocks xmlns:a="http://schemas.openxmlformats.org/drawingml/2006/main" noGrp="1"/>
          </p:cNvSpPr>
          <p:nvPr/>
        </p:nvSpPr>
        <p:spPr>
          <a:xfrm xmlns:a="http://schemas.openxmlformats.org/drawingml/2006/main">
            <a:off x="685800" y="18859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1" name="">
            <a:extLst xmlns:a="http://schemas.openxmlformats.org/drawingml/2006/main">
              <a:ext uri="{FF2B5EF4-FFF2-40B4-BE49-F238E27FC236}">
                <a16:creationId xmlns:a16="http://schemas.microsoft.com/office/drawing/2014/main" id="{9395B367-6950-4571-A004-C5A7F595D696}"/>
              </a:ext>
            </a:extLst>
          </p:cNvPr>
          <p:cNvSpPr>
            <a:spLocks xmlns:a="http://schemas.openxmlformats.org/drawingml/2006/main" noGrp="1"/>
          </p:cNvSpPr>
          <p:nvPr/>
        </p:nvSpPr>
        <p:spPr>
          <a:xfrm xmlns:a="http://schemas.openxmlformats.org/drawingml/2006/main">
            <a:off x="876300" y="19907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Exact version in DB</a:t>
            </a:r>
          </a:p>
        </p:txBody>
      </p:sp>
      <p:sp>
        <p:nvSpPr>
          <p:cNvPr id="12" name="">
            <a:extLst xmlns:a="http://schemas.openxmlformats.org/drawingml/2006/main">
              <a:ext uri="{FF2B5EF4-FFF2-40B4-BE49-F238E27FC236}">
                <a16:creationId xmlns:a16="http://schemas.microsoft.com/office/drawing/2014/main" id="{43E25901-DC32-40BB-8DB7-7437554FC7A1}"/>
              </a:ext>
            </a:extLst>
          </p:cNvPr>
          <p:cNvSpPr>
            <a:spLocks xmlns:a="http://schemas.openxmlformats.org/drawingml/2006/main" noGrp="1"/>
          </p:cNvSpPr>
          <p:nvPr/>
        </p:nvSpPr>
        <p:spPr>
          <a:xfrm xmlns:a="http://schemas.openxmlformats.org/drawingml/2006/main">
            <a:off x="4171950" y="1962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4F7D76"/>
                </a:solidFill>
                <a:latin typeface="Aptos"/>
                <a:ea typeface="Aptos"/>
                <a:cs typeface="Aptos"/>
              </a:defRPr>
            </a:pPr>
            <a:r>
              <a:rPr sz="1275" b="1">
                <a:solidFill>
                  <a:srgbClr val="4F7D76"/>
                </a:solidFill>
                <a:latin typeface="Aptos"/>
                <a:ea typeface="Aptos"/>
                <a:cs typeface="Aptos"/>
              </a:rPr>
              <a:t>5,874</a:t>
            </a:r>
          </a:p>
        </p:txBody>
      </p:sp>
      <p:sp>
        <p:nvSpPr>
          <p:cNvPr id="13" name="">
            <a:extLst xmlns:a="http://schemas.openxmlformats.org/drawingml/2006/main">
              <a:ext uri="{FF2B5EF4-FFF2-40B4-BE49-F238E27FC236}">
                <a16:creationId xmlns:a16="http://schemas.microsoft.com/office/drawing/2014/main" id="{19D02424-4072-42B5-ABE0-73243078C009}"/>
              </a:ext>
            </a:extLst>
          </p:cNvPr>
          <p:cNvSpPr>
            <a:spLocks xmlns:a="http://schemas.openxmlformats.org/drawingml/2006/main" noGrp="1"/>
          </p:cNvSpPr>
          <p:nvPr/>
        </p:nvSpPr>
        <p:spPr>
          <a:xfrm xmlns:a="http://schemas.openxmlformats.org/drawingml/2006/main">
            <a:off x="5600700" y="19812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exists; not all rows emit</a:t>
            </a:r>
          </a:p>
        </p:txBody>
      </p:sp>
      <p:sp>
        <p:nvSpPr>
          <p:cNvPr id="14" name="">
            <a:extLst xmlns:a="http://schemas.openxmlformats.org/drawingml/2006/main">
              <a:ext uri="{FF2B5EF4-FFF2-40B4-BE49-F238E27FC236}">
                <a16:creationId xmlns:a16="http://schemas.microsoft.com/office/drawing/2014/main" id="{88A35E0A-8677-428B-A9EE-731860CBEA68}"/>
              </a:ext>
            </a:extLst>
          </p:cNvPr>
          <p:cNvSpPr>
            <a:spLocks xmlns:a="http://schemas.openxmlformats.org/drawingml/2006/main" noGrp="1"/>
          </p:cNvSpPr>
          <p:nvPr/>
        </p:nvSpPr>
        <p:spPr>
          <a:xfrm xmlns:a="http://schemas.openxmlformats.org/drawingml/2006/main">
            <a:off x="685800" y="24384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5" name="">
            <a:extLst xmlns:a="http://schemas.openxmlformats.org/drawingml/2006/main">
              <a:ext uri="{FF2B5EF4-FFF2-40B4-BE49-F238E27FC236}">
                <a16:creationId xmlns:a16="http://schemas.microsoft.com/office/drawing/2014/main" id="{D5B36A05-377C-40F7-AA79-A9C00B14116B}"/>
              </a:ext>
            </a:extLst>
          </p:cNvPr>
          <p:cNvSpPr>
            <a:spLocks xmlns:a="http://schemas.openxmlformats.org/drawingml/2006/main" noGrp="1"/>
          </p:cNvSpPr>
          <p:nvPr/>
        </p:nvSpPr>
        <p:spPr>
          <a:xfrm xmlns:a="http://schemas.openxmlformats.org/drawingml/2006/main">
            <a:off x="876300" y="25431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Artifact-family alias</a:t>
            </a:r>
          </a:p>
        </p:txBody>
      </p:sp>
      <p:sp>
        <p:nvSpPr>
          <p:cNvPr id="16" name="">
            <a:extLst xmlns:a="http://schemas.openxmlformats.org/drawingml/2006/main">
              <a:ext uri="{FF2B5EF4-FFF2-40B4-BE49-F238E27FC236}">
                <a16:creationId xmlns:a16="http://schemas.microsoft.com/office/drawing/2014/main" id="{FBA57A47-BCBF-4D2E-9B4D-26B1A81BFAE4}"/>
              </a:ext>
            </a:extLst>
          </p:cNvPr>
          <p:cNvSpPr>
            <a:spLocks xmlns:a="http://schemas.openxmlformats.org/drawingml/2006/main" noGrp="1"/>
          </p:cNvSpPr>
          <p:nvPr/>
        </p:nvSpPr>
        <p:spPr>
          <a:xfrm xmlns:a="http://schemas.openxmlformats.org/drawingml/2006/main">
            <a:off x="4171950" y="25146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365F7D"/>
                </a:solidFill>
                <a:latin typeface="Aptos"/>
                <a:ea typeface="Aptos"/>
                <a:cs typeface="Aptos"/>
              </a:defRPr>
            </a:pPr>
            <a:r>
              <a:rPr sz="1275" b="1">
                <a:solidFill>
                  <a:srgbClr val="365F7D"/>
                </a:solidFill>
                <a:latin typeface="Aptos"/>
                <a:ea typeface="Aptos"/>
                <a:cs typeface="Aptos"/>
              </a:rPr>
              <a:t>1,504</a:t>
            </a:r>
          </a:p>
        </p:txBody>
      </p:sp>
      <p:sp>
        <p:nvSpPr>
          <p:cNvPr id="17" name="">
            <a:extLst xmlns:a="http://schemas.openxmlformats.org/drawingml/2006/main">
              <a:ext uri="{FF2B5EF4-FFF2-40B4-BE49-F238E27FC236}">
                <a16:creationId xmlns:a16="http://schemas.microsoft.com/office/drawing/2014/main" id="{53E22F8C-6D9F-4D64-801C-9E7219DF6553}"/>
              </a:ext>
            </a:extLst>
          </p:cNvPr>
          <p:cNvSpPr>
            <a:spLocks xmlns:a="http://schemas.openxmlformats.org/drawingml/2006/main" noGrp="1"/>
          </p:cNvSpPr>
          <p:nvPr/>
        </p:nvSpPr>
        <p:spPr>
          <a:xfrm xmlns:a="http://schemas.openxmlformats.org/drawingml/2006/main">
            <a:off x="5600700" y="25336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public/target coordinate overlap</a:t>
            </a:r>
          </a:p>
        </p:txBody>
      </p:sp>
      <p:sp>
        <p:nvSpPr>
          <p:cNvPr id="18" name="">
            <a:extLst xmlns:a="http://schemas.openxmlformats.org/drawingml/2006/main">
              <a:ext uri="{FF2B5EF4-FFF2-40B4-BE49-F238E27FC236}">
                <a16:creationId xmlns:a16="http://schemas.microsoft.com/office/drawing/2014/main" id="{BA314D69-E3EE-4704-ACA0-9E5D44FDD2CF}"/>
              </a:ext>
            </a:extLst>
          </p:cNvPr>
          <p:cNvSpPr>
            <a:spLocks xmlns:a="http://schemas.openxmlformats.org/drawingml/2006/main" noGrp="1"/>
          </p:cNvSpPr>
          <p:nvPr/>
        </p:nvSpPr>
        <p:spPr>
          <a:xfrm xmlns:a="http://schemas.openxmlformats.org/drawingml/2006/main">
            <a:off x="685800" y="29908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138FDE5B-0F47-4CBD-9C7C-CFB6BC8A01E9}"/>
              </a:ext>
            </a:extLst>
          </p:cNvPr>
          <p:cNvSpPr>
            <a:spLocks xmlns:a="http://schemas.openxmlformats.org/drawingml/2006/main" noGrp="1"/>
          </p:cNvSpPr>
          <p:nvPr/>
        </p:nvSpPr>
        <p:spPr>
          <a:xfrm xmlns:a="http://schemas.openxmlformats.org/drawingml/2006/main">
            <a:off x="876300" y="30956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Metadata-only</a:t>
            </a:r>
          </a:p>
        </p:txBody>
      </p:sp>
      <p:sp>
        <p:nvSpPr>
          <p:cNvPr id="20" name="">
            <a:extLst xmlns:a="http://schemas.openxmlformats.org/drawingml/2006/main">
              <a:ext uri="{FF2B5EF4-FFF2-40B4-BE49-F238E27FC236}">
                <a16:creationId xmlns:a16="http://schemas.microsoft.com/office/drawing/2014/main" id="{FED6C084-D451-4F04-9E89-3E55182BBC5E}"/>
              </a:ext>
            </a:extLst>
          </p:cNvPr>
          <p:cNvSpPr>
            <a:spLocks xmlns:a="http://schemas.openxmlformats.org/drawingml/2006/main" noGrp="1"/>
          </p:cNvSpPr>
          <p:nvPr/>
        </p:nvSpPr>
        <p:spPr>
          <a:xfrm xmlns:a="http://schemas.openxmlformats.org/drawingml/2006/main">
            <a:off x="4171950" y="30670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65717A"/>
                </a:solidFill>
                <a:latin typeface="Aptos"/>
                <a:ea typeface="Aptos"/>
                <a:cs typeface="Aptos"/>
              </a:defRPr>
            </a:pPr>
            <a:r>
              <a:rPr sz="1275" b="1">
                <a:solidFill>
                  <a:srgbClr val="65717A"/>
                </a:solidFill>
                <a:latin typeface="Aptos"/>
                <a:ea typeface="Aptos"/>
                <a:cs typeface="Aptos"/>
              </a:rPr>
              <a:t>734</a:t>
            </a:r>
          </a:p>
        </p:txBody>
      </p:sp>
      <p:sp>
        <p:nvSpPr>
          <p:cNvPr id="21" name="">
            <a:extLst xmlns:a="http://schemas.openxmlformats.org/drawingml/2006/main">
              <a:ext uri="{FF2B5EF4-FFF2-40B4-BE49-F238E27FC236}">
                <a16:creationId xmlns:a16="http://schemas.microsoft.com/office/drawing/2014/main" id="{4C73FE83-0023-4F41-9333-37503869D392}"/>
              </a:ext>
            </a:extLst>
          </p:cNvPr>
          <p:cNvSpPr>
            <a:spLocks xmlns:a="http://schemas.openxmlformats.org/drawingml/2006/main" noGrp="1"/>
          </p:cNvSpPr>
          <p:nvPr/>
        </p:nvSpPr>
        <p:spPr>
          <a:xfrm xmlns:a="http://schemas.openxmlformats.org/drawingml/2006/main">
            <a:off x="5600700" y="30861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BOM or source metadata without bytecode</a:t>
            </a:r>
          </a:p>
        </p:txBody>
      </p:sp>
      <p:sp>
        <p:nvSpPr>
          <p:cNvPr id="22" name="">
            <a:extLst xmlns:a="http://schemas.openxmlformats.org/drawingml/2006/main">
              <a:ext uri="{FF2B5EF4-FFF2-40B4-BE49-F238E27FC236}">
                <a16:creationId xmlns:a16="http://schemas.microsoft.com/office/drawing/2014/main" id="{79272083-E13F-489E-8A32-EE3B04B9329F}"/>
              </a:ext>
            </a:extLst>
          </p:cNvPr>
          <p:cNvSpPr>
            <a:spLocks xmlns:a="http://schemas.openxmlformats.org/drawingml/2006/main" noGrp="1"/>
          </p:cNvSpPr>
          <p:nvPr/>
        </p:nvSpPr>
        <p:spPr>
          <a:xfrm xmlns:a="http://schemas.openxmlformats.org/drawingml/2006/main">
            <a:off x="685800" y="35433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3" name="">
            <a:extLst xmlns:a="http://schemas.openxmlformats.org/drawingml/2006/main">
              <a:ext uri="{FF2B5EF4-FFF2-40B4-BE49-F238E27FC236}">
                <a16:creationId xmlns:a16="http://schemas.microsoft.com/office/drawing/2014/main" id="{5FFC78FD-B6C3-4534-A5CF-5B4FFF616B0B}"/>
              </a:ext>
            </a:extLst>
          </p:cNvPr>
          <p:cNvSpPr>
            <a:spLocks xmlns:a="http://schemas.openxmlformats.org/drawingml/2006/main" noGrp="1"/>
          </p:cNvSpPr>
          <p:nvPr/>
        </p:nvSpPr>
        <p:spPr>
          <a:xfrm xmlns:a="http://schemas.openxmlformats.org/drawingml/2006/main">
            <a:off x="876300" y="36480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Source boundary</a:t>
            </a:r>
          </a:p>
        </p:txBody>
      </p:sp>
      <p:sp>
        <p:nvSpPr>
          <p:cNvPr id="24" name="">
            <a:extLst xmlns:a="http://schemas.openxmlformats.org/drawingml/2006/main">
              <a:ext uri="{FF2B5EF4-FFF2-40B4-BE49-F238E27FC236}">
                <a16:creationId xmlns:a16="http://schemas.microsoft.com/office/drawing/2014/main" id="{AE94A367-5E6F-406E-BBA1-D82DDDE5ADB1}"/>
              </a:ext>
            </a:extLst>
          </p:cNvPr>
          <p:cNvSpPr>
            <a:spLocks xmlns:a="http://schemas.openxmlformats.org/drawingml/2006/main" noGrp="1"/>
          </p:cNvSpPr>
          <p:nvPr/>
        </p:nvSpPr>
        <p:spPr>
          <a:xfrm xmlns:a="http://schemas.openxmlformats.org/drawingml/2006/main">
            <a:off x="4171950" y="36195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655F73"/>
                </a:solidFill>
                <a:latin typeface="Aptos"/>
                <a:ea typeface="Aptos"/>
                <a:cs typeface="Aptos"/>
              </a:defRPr>
            </a:pPr>
            <a:r>
              <a:rPr sz="1275" b="1">
                <a:solidFill>
                  <a:srgbClr val="655F73"/>
                </a:solidFill>
                <a:latin typeface="Aptos"/>
                <a:ea typeface="Aptos"/>
                <a:cs typeface="Aptos"/>
              </a:rPr>
              <a:t>277</a:t>
            </a:r>
          </a:p>
        </p:txBody>
      </p:sp>
      <p:sp>
        <p:nvSpPr>
          <p:cNvPr id="25" name="">
            <a:extLst xmlns:a="http://schemas.openxmlformats.org/drawingml/2006/main">
              <a:ext uri="{FF2B5EF4-FFF2-40B4-BE49-F238E27FC236}">
                <a16:creationId xmlns:a16="http://schemas.microsoft.com/office/drawing/2014/main" id="{4A073B62-948B-431E-B203-87E23C859894}"/>
              </a:ext>
            </a:extLst>
          </p:cNvPr>
          <p:cNvSpPr>
            <a:spLocks xmlns:a="http://schemas.openxmlformats.org/drawingml/2006/main" noGrp="1"/>
          </p:cNvSpPr>
          <p:nvPr/>
        </p:nvSpPr>
        <p:spPr>
          <a:xfrm xmlns:a="http://schemas.openxmlformats.org/drawingml/2006/main">
            <a:off x="5600700" y="36385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native/framework/build-only boundary</a:t>
            </a:r>
          </a:p>
        </p:txBody>
      </p:sp>
      <p:sp>
        <p:nvSpPr>
          <p:cNvPr id="26" name="">
            <a:extLst xmlns:a="http://schemas.openxmlformats.org/drawingml/2006/main">
              <a:ext uri="{FF2B5EF4-FFF2-40B4-BE49-F238E27FC236}">
                <a16:creationId xmlns:a16="http://schemas.microsoft.com/office/drawing/2014/main" id="{E2A0988A-0857-4D22-8B90-79746422661F}"/>
              </a:ext>
            </a:extLst>
          </p:cNvPr>
          <p:cNvSpPr>
            <a:spLocks xmlns:a="http://schemas.openxmlformats.org/drawingml/2006/main" noGrp="1"/>
          </p:cNvSpPr>
          <p:nvPr/>
        </p:nvSpPr>
        <p:spPr>
          <a:xfrm xmlns:a="http://schemas.openxmlformats.org/drawingml/2006/main">
            <a:off x="685800" y="40957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8EAE46B5-6A49-4A5D-9D7E-011BDCD9063F}"/>
              </a:ext>
            </a:extLst>
          </p:cNvPr>
          <p:cNvSpPr>
            <a:spLocks xmlns:a="http://schemas.openxmlformats.org/drawingml/2006/main" noGrp="1"/>
          </p:cNvSpPr>
          <p:nvPr/>
        </p:nvSpPr>
        <p:spPr>
          <a:xfrm xmlns:a="http://schemas.openxmlformats.org/drawingml/2006/main">
            <a:off x="876300" y="42005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Matcher-recall gap</a:t>
            </a:r>
          </a:p>
        </p:txBody>
      </p:sp>
      <p:sp>
        <p:nvSpPr>
          <p:cNvPr id="28" name="">
            <a:extLst xmlns:a="http://schemas.openxmlformats.org/drawingml/2006/main">
              <a:ext uri="{FF2B5EF4-FFF2-40B4-BE49-F238E27FC236}">
                <a16:creationId xmlns:a16="http://schemas.microsoft.com/office/drawing/2014/main" id="{EDE27245-8488-49AD-92BB-AC791A65EF35}"/>
              </a:ext>
            </a:extLst>
          </p:cNvPr>
          <p:cNvSpPr>
            <a:spLocks xmlns:a="http://schemas.openxmlformats.org/drawingml/2006/main" noGrp="1"/>
          </p:cNvSpPr>
          <p:nvPr/>
        </p:nvSpPr>
        <p:spPr>
          <a:xfrm xmlns:a="http://schemas.openxmlformats.org/drawingml/2006/main">
            <a:off x="4171950" y="41719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8D754D"/>
                </a:solidFill>
                <a:latin typeface="Aptos"/>
                <a:ea typeface="Aptos"/>
                <a:cs typeface="Aptos"/>
              </a:defRPr>
            </a:pPr>
            <a:r>
              <a:rPr sz="1275" b="1">
                <a:solidFill>
                  <a:srgbClr val="8D754D"/>
                </a:solidFill>
                <a:latin typeface="Aptos"/>
                <a:ea typeface="Aptos"/>
                <a:cs typeface="Aptos"/>
              </a:rPr>
              <a:t>2,281</a:t>
            </a:r>
          </a:p>
        </p:txBody>
      </p:sp>
      <p:sp>
        <p:nvSpPr>
          <p:cNvPr id="29" name="">
            <a:extLst xmlns:a="http://schemas.openxmlformats.org/drawingml/2006/main">
              <a:ext uri="{FF2B5EF4-FFF2-40B4-BE49-F238E27FC236}">
                <a16:creationId xmlns:a16="http://schemas.microsoft.com/office/drawing/2014/main" id="{EBEAD532-3BD8-44C4-B1DB-B1B2F79CA7BB}"/>
              </a:ext>
            </a:extLst>
          </p:cNvPr>
          <p:cNvSpPr>
            <a:spLocks xmlns:a="http://schemas.openxmlformats.org/drawingml/2006/main" noGrp="1"/>
          </p:cNvSpPr>
          <p:nvPr/>
        </p:nvSpPr>
        <p:spPr>
          <a:xfrm xmlns:a="http://schemas.openxmlformats.org/drawingml/2006/main">
            <a:off x="5600700" y="41910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exists; matcher did not emit</a:t>
            </a:r>
          </a:p>
        </p:txBody>
      </p:sp>
      <p:sp>
        <p:nvSpPr>
          <p:cNvPr id="30" name="">
            <a:extLst xmlns:a="http://schemas.openxmlformats.org/drawingml/2006/main">
              <a:ext uri="{FF2B5EF4-FFF2-40B4-BE49-F238E27FC236}">
                <a16:creationId xmlns:a16="http://schemas.microsoft.com/office/drawing/2014/main" id="{DFC4EAFE-6F09-43F2-B874-C810BF11C526}"/>
              </a:ext>
            </a:extLst>
          </p:cNvPr>
          <p:cNvSpPr>
            <a:spLocks xmlns:a="http://schemas.openxmlformats.org/drawingml/2006/main" noGrp="1"/>
          </p:cNvSpPr>
          <p:nvPr/>
        </p:nvSpPr>
        <p:spPr>
          <a:xfrm xmlns:a="http://schemas.openxmlformats.org/drawingml/2006/main">
            <a:off x="685800" y="46482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9A0C46AA-3C06-4168-BC5F-3A0829A7A25B}"/>
              </a:ext>
            </a:extLst>
          </p:cNvPr>
          <p:cNvSpPr>
            <a:spLocks xmlns:a="http://schemas.openxmlformats.org/drawingml/2006/main" noGrp="1"/>
          </p:cNvSpPr>
          <p:nvPr/>
        </p:nvSpPr>
        <p:spPr>
          <a:xfrm xmlns:a="http://schemas.openxmlformats.org/drawingml/2006/main">
            <a:off x="876300" y="47529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Missing coordinate/version</a:t>
            </a:r>
          </a:p>
        </p:txBody>
      </p:sp>
      <p:sp>
        <p:nvSpPr>
          <p:cNvPr id="32" name="">
            <a:extLst xmlns:a="http://schemas.openxmlformats.org/drawingml/2006/main">
              <a:ext uri="{FF2B5EF4-FFF2-40B4-BE49-F238E27FC236}">
                <a16:creationId xmlns:a16="http://schemas.microsoft.com/office/drawing/2014/main" id="{F50FB8E0-09F6-45C6-A964-AC952872C543}"/>
              </a:ext>
            </a:extLst>
          </p:cNvPr>
          <p:cNvSpPr>
            <a:spLocks xmlns:a="http://schemas.openxmlformats.org/drawingml/2006/main" noGrp="1"/>
          </p:cNvSpPr>
          <p:nvPr/>
        </p:nvSpPr>
        <p:spPr>
          <a:xfrm xmlns:a="http://schemas.openxmlformats.org/drawingml/2006/main">
            <a:off x="4171950" y="47244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A65C55"/>
                </a:solidFill>
                <a:latin typeface="Aptos"/>
                <a:ea typeface="Aptos"/>
                <a:cs typeface="Aptos"/>
              </a:defRPr>
            </a:pPr>
            <a:r>
              <a:rPr sz="1275" b="1">
                <a:solidFill>
                  <a:srgbClr val="A65C55"/>
                </a:solidFill>
                <a:latin typeface="Aptos"/>
                <a:ea typeface="Aptos"/>
                <a:cs typeface="Aptos"/>
              </a:rPr>
              <a:t>442</a:t>
            </a:r>
          </a:p>
        </p:txBody>
      </p:sp>
      <p:sp>
        <p:nvSpPr>
          <p:cNvPr id="33" name="">
            <a:extLst xmlns:a="http://schemas.openxmlformats.org/drawingml/2006/main">
              <a:ext uri="{FF2B5EF4-FFF2-40B4-BE49-F238E27FC236}">
                <a16:creationId xmlns:a16="http://schemas.microsoft.com/office/drawing/2014/main" id="{C3B46B59-A87E-4C59-A29F-4C12AC8DF663}"/>
              </a:ext>
            </a:extLst>
          </p:cNvPr>
          <p:cNvSpPr>
            <a:spLocks xmlns:a="http://schemas.openxmlformats.org/drawingml/2006/main" noGrp="1"/>
          </p:cNvSpPr>
          <p:nvPr/>
        </p:nvSpPr>
        <p:spPr>
          <a:xfrm xmlns:a="http://schemas.openxmlformats.org/drawingml/2006/main">
            <a:off x="5600700" y="47434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growth candidate</a:t>
            </a:r>
          </a:p>
        </p:txBody>
      </p:sp>
      <p:sp>
        <p:nvSpPr>
          <p:cNvPr id="34" name="">
            <a:extLst xmlns:a="http://schemas.openxmlformats.org/drawingml/2006/main">
              <a:ext uri="{FF2B5EF4-FFF2-40B4-BE49-F238E27FC236}">
                <a16:creationId xmlns:a16="http://schemas.microsoft.com/office/drawing/2014/main" id="{0725AA30-0929-4A8E-AB62-FE7933D3BC93}"/>
              </a:ext>
            </a:extLst>
          </p:cNvPr>
          <p:cNvSpPr>
            <a:spLocks xmlns:a="http://schemas.openxmlformats.org/drawingml/2006/main" noGrp="1"/>
          </p:cNvSpPr>
          <p:nvPr/>
        </p:nvSpPr>
        <p:spPr>
          <a:xfrm xmlns:a="http://schemas.openxmlformats.org/drawingml/2006/main">
            <a:off x="685800" y="52006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5" name="">
            <a:extLst xmlns:a="http://schemas.openxmlformats.org/drawingml/2006/main">
              <a:ext uri="{FF2B5EF4-FFF2-40B4-BE49-F238E27FC236}">
                <a16:creationId xmlns:a16="http://schemas.microsoft.com/office/drawing/2014/main" id="{28DD43F3-4933-4D44-91DB-620D275C6AF0}"/>
              </a:ext>
            </a:extLst>
          </p:cNvPr>
          <p:cNvSpPr>
            <a:spLocks xmlns:a="http://schemas.openxmlformats.org/drawingml/2006/main" noGrp="1"/>
          </p:cNvSpPr>
          <p:nvPr/>
        </p:nvSpPr>
        <p:spPr>
          <a:xfrm xmlns:a="http://schemas.openxmlformats.org/drawingml/2006/main">
            <a:off x="876300" y="53054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Missing coordinate</a:t>
            </a:r>
          </a:p>
        </p:txBody>
      </p:sp>
      <p:sp>
        <p:nvSpPr>
          <p:cNvPr id="36" name="">
            <a:extLst xmlns:a="http://schemas.openxmlformats.org/drawingml/2006/main">
              <a:ext uri="{FF2B5EF4-FFF2-40B4-BE49-F238E27FC236}">
                <a16:creationId xmlns:a16="http://schemas.microsoft.com/office/drawing/2014/main" id="{5B95BB44-0B55-4D69-B58D-397C54C673BA}"/>
              </a:ext>
            </a:extLst>
          </p:cNvPr>
          <p:cNvSpPr>
            <a:spLocks xmlns:a="http://schemas.openxmlformats.org/drawingml/2006/main" noGrp="1"/>
          </p:cNvSpPr>
          <p:nvPr/>
        </p:nvSpPr>
        <p:spPr>
          <a:xfrm xmlns:a="http://schemas.openxmlformats.org/drawingml/2006/main">
            <a:off x="4171950" y="52768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A65C55"/>
                </a:solidFill>
                <a:latin typeface="Aptos"/>
                <a:ea typeface="Aptos"/>
                <a:cs typeface="Aptos"/>
              </a:defRPr>
            </a:pPr>
            <a:r>
              <a:rPr sz="1275" b="1">
                <a:solidFill>
                  <a:srgbClr val="A65C55"/>
                </a:solidFill>
                <a:latin typeface="Aptos"/>
                <a:ea typeface="Aptos"/>
                <a:cs typeface="Aptos"/>
              </a:rPr>
              <a:t>72</a:t>
            </a:r>
          </a:p>
        </p:txBody>
      </p:sp>
      <p:sp>
        <p:nvSpPr>
          <p:cNvPr id="37" name="">
            <a:extLst xmlns:a="http://schemas.openxmlformats.org/drawingml/2006/main">
              <a:ext uri="{FF2B5EF4-FFF2-40B4-BE49-F238E27FC236}">
                <a16:creationId xmlns:a16="http://schemas.microsoft.com/office/drawing/2014/main" id="{1ABEEAFC-C9AF-461D-9343-01C75CA137F1}"/>
              </a:ext>
            </a:extLst>
          </p:cNvPr>
          <p:cNvSpPr>
            <a:spLocks xmlns:a="http://schemas.openxmlformats.org/drawingml/2006/main" noGrp="1"/>
          </p:cNvSpPr>
          <p:nvPr/>
        </p:nvSpPr>
        <p:spPr>
          <a:xfrm xmlns:a="http://schemas.openxmlformats.org/drawingml/2006/main">
            <a:off x="5600700" y="52959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coordinate absent entirely</a:t>
            </a:r>
          </a:p>
        </p:txBody>
      </p:sp>
      <p:sp>
        <p:nvSpPr>
          <p:cNvPr id="38" name="">
            <a:extLst xmlns:a="http://schemas.openxmlformats.org/drawingml/2006/main">
              <a:ext uri="{FF2B5EF4-FFF2-40B4-BE49-F238E27FC236}">
                <a16:creationId xmlns:a16="http://schemas.microsoft.com/office/drawing/2014/main" id="{76A427DA-B600-4011-87C0-F6A238230158}"/>
              </a:ext>
            </a:extLst>
          </p:cNvPr>
          <p:cNvSpPr>
            <a:spLocks xmlns:a="http://schemas.openxmlformats.org/drawingml/2006/main" noGrp="1"/>
          </p:cNvSpPr>
          <p:nvPr/>
        </p:nvSpPr>
        <p:spPr>
          <a:xfrm xmlns:a="http://schemas.openxmlformats.org/drawingml/2006/main">
            <a:off x="685800" y="5886450"/>
            <a:ext cx="10820400" cy="45720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14AF462E-D2BD-4A20-BF26-7BA42579C8D2}"/>
              </a:ext>
            </a:extLst>
          </p:cNvPr>
          <p:cNvSpPr>
            <a:spLocks xmlns:a="http://schemas.openxmlformats.org/drawingml/2006/main" noGrp="1"/>
          </p:cNvSpPr>
          <p:nvPr/>
        </p:nvSpPr>
        <p:spPr>
          <a:xfrm xmlns:a="http://schemas.openxmlformats.org/drawingml/2006/main">
            <a:off x="876300" y="6057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ACTIONABLE</a:t>
            </a:r>
          </a:p>
        </p:txBody>
      </p:sp>
      <p:sp>
        <p:nvSpPr>
          <p:cNvPr id="40" name="">
            <a:extLst xmlns:a="http://schemas.openxmlformats.org/drawingml/2006/main">
              <a:ext uri="{FF2B5EF4-FFF2-40B4-BE49-F238E27FC236}">
                <a16:creationId xmlns:a16="http://schemas.microsoft.com/office/drawing/2014/main" id="{ACCCE70A-70A3-4470-8429-C7946559DBBF}"/>
              </a:ext>
            </a:extLst>
          </p:cNvPr>
          <p:cNvSpPr>
            <a:spLocks xmlns:a="http://schemas.openxmlformats.org/drawingml/2006/main" noGrp="1"/>
          </p:cNvSpPr>
          <p:nvPr/>
        </p:nvSpPr>
        <p:spPr>
          <a:xfrm xmlns:a="http://schemas.openxmlformats.org/drawingml/2006/main">
            <a:off x="2343150" y="6010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2,281 matcher-recall rows and 442 missing-reference rows require different engineering responses.</a:t>
            </a:r>
          </a:p>
        </p:txBody>
      </p:sp>
      <p:sp>
        <p:nvSpPr>
          <p:cNvPr id="41" name="">
            <a:extLst xmlns:a="http://schemas.openxmlformats.org/drawingml/2006/main">
              <a:ext uri="{FF2B5EF4-FFF2-40B4-BE49-F238E27FC236}">
                <a16:creationId xmlns:a16="http://schemas.microsoft.com/office/drawing/2014/main" id="{C6E2B5B2-DC39-4248-A853-9543589F39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91449401"/>
      </p:ext>
    </p:extLst>
  </p:cSld>
</p:sld>
</file>

<file path=ppt/slides/slide3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E76A55-2C0D-4935-B97F-73A4C1753D1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BACKUP 6</a:t>
            </a:r>
          </a:p>
        </p:txBody>
      </p:sp>
      <p:sp>
        <p:nvSpPr>
          <p:cNvPr id="2" name="">
            <a:extLst xmlns:a="http://schemas.openxmlformats.org/drawingml/2006/main">
              <a:ext uri="{FF2B5EF4-FFF2-40B4-BE49-F238E27FC236}">
                <a16:creationId xmlns:a16="http://schemas.microsoft.com/office/drawing/2014/main" id="{FD44F7A2-C90B-462E-A2E1-7E921D4F9A1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Failed-experiment regression matrix</a:t>
            </a:r>
          </a:p>
        </p:txBody>
      </p:sp>
      <p:sp>
        <p:nvSpPr>
          <p:cNvPr id="3" name="">
            <a:extLst xmlns:a="http://schemas.openxmlformats.org/drawingml/2006/main">
              <a:ext uri="{FF2B5EF4-FFF2-40B4-BE49-F238E27FC236}">
                <a16:creationId xmlns:a16="http://schemas.microsoft.com/office/drawing/2014/main" id="{7A40B729-1CCE-49D2-A72A-6B402BCD473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37</a:t>
            </a:r>
          </a:p>
        </p:txBody>
      </p:sp>
      <p:sp>
        <p:nvSpPr>
          <p:cNvPr id="4" name="">
            <a:extLst xmlns:a="http://schemas.openxmlformats.org/drawingml/2006/main">
              <a:ext uri="{FF2B5EF4-FFF2-40B4-BE49-F238E27FC236}">
                <a16:creationId xmlns:a16="http://schemas.microsoft.com/office/drawing/2014/main" id="{A9D1062B-EAA6-4C8D-A02B-635127C7CFBE}"/>
              </a:ext>
            </a:extLst>
          </p:cNvPr>
          <p:cNvSpPr>
            <a:spLocks xmlns:a="http://schemas.openxmlformats.org/drawingml/2006/main" noGrp="1"/>
          </p:cNvSpPr>
          <p:nvPr/>
        </p:nvSpPr>
        <p:spPr>
          <a:xfrm xmlns:a="http://schemas.openxmlformats.org/drawingml/2006/main">
            <a:off x="685800" y="13525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3E4E3D69-E46F-4640-BB6E-45ABB4CFB464}"/>
              </a:ext>
            </a:extLst>
          </p:cNvPr>
          <p:cNvSpPr>
            <a:spLocks xmlns:a="http://schemas.openxmlformats.org/drawingml/2006/main" noGrp="1"/>
          </p:cNvSpPr>
          <p:nvPr/>
        </p:nvSpPr>
        <p:spPr>
          <a:xfrm xmlns:a="http://schemas.openxmlformats.org/drawingml/2006/main">
            <a:off x="857250" y="14954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Global Phase 4 blend</a:t>
            </a:r>
          </a:p>
        </p:txBody>
      </p:sp>
      <p:sp>
        <p:nvSpPr>
          <p:cNvPr id="6" name="">
            <a:extLst xmlns:a="http://schemas.openxmlformats.org/drawingml/2006/main">
              <a:ext uri="{FF2B5EF4-FFF2-40B4-BE49-F238E27FC236}">
                <a16:creationId xmlns:a16="http://schemas.microsoft.com/office/drawing/2014/main" id="{3909D012-A1E0-4AEA-AA50-6C4FA928920B}"/>
              </a:ext>
            </a:extLst>
          </p:cNvPr>
          <p:cNvSpPr>
            <a:spLocks xmlns:a="http://schemas.openxmlformats.org/drawingml/2006/main" noGrp="1"/>
          </p:cNvSpPr>
          <p:nvPr/>
        </p:nvSpPr>
        <p:spPr>
          <a:xfrm xmlns:a="http://schemas.openxmlformats.org/drawingml/2006/main">
            <a:off x="3295650" y="1466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+10 target opportunities</a:t>
            </a:r>
          </a:p>
        </p:txBody>
      </p:sp>
      <p:sp>
        <p:nvSpPr>
          <p:cNvPr id="7" name="">
            <a:extLst xmlns:a="http://schemas.openxmlformats.org/drawingml/2006/main">
              <a:ext uri="{FF2B5EF4-FFF2-40B4-BE49-F238E27FC236}">
                <a16:creationId xmlns:a16="http://schemas.microsoft.com/office/drawing/2014/main" id="{5BEE7305-12C9-4C07-B791-136B292035F8}"/>
              </a:ext>
            </a:extLst>
          </p:cNvPr>
          <p:cNvSpPr>
            <a:spLocks xmlns:a="http://schemas.openxmlformats.org/drawingml/2006/main" noGrp="1"/>
          </p:cNvSpPr>
          <p:nvPr/>
        </p:nvSpPr>
        <p:spPr>
          <a:xfrm xmlns:a="http://schemas.openxmlformats.org/drawingml/2006/main">
            <a:off x="5943600" y="14478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6 controlled, 121 real, 10 clean blockers</a:t>
            </a:r>
          </a:p>
        </p:txBody>
      </p:sp>
      <p:sp>
        <p:nvSpPr>
          <p:cNvPr id="8" name="">
            <a:extLst xmlns:a="http://schemas.openxmlformats.org/drawingml/2006/main">
              <a:ext uri="{FF2B5EF4-FFF2-40B4-BE49-F238E27FC236}">
                <a16:creationId xmlns:a16="http://schemas.microsoft.com/office/drawing/2014/main" id="{B6A4F455-884F-4F9F-AB14-B6847E27C335}"/>
              </a:ext>
            </a:extLst>
          </p:cNvPr>
          <p:cNvSpPr>
            <a:spLocks xmlns:a="http://schemas.openxmlformats.org/drawingml/2006/main" noGrp="1"/>
          </p:cNvSpPr>
          <p:nvPr/>
        </p:nvSpPr>
        <p:spPr>
          <a:xfrm xmlns:a="http://schemas.openxmlformats.org/drawingml/2006/main">
            <a:off x="9410700" y="14668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9" name="">
            <a:extLst xmlns:a="http://schemas.openxmlformats.org/drawingml/2006/main">
              <a:ext uri="{FF2B5EF4-FFF2-40B4-BE49-F238E27FC236}">
                <a16:creationId xmlns:a16="http://schemas.microsoft.com/office/drawing/2014/main" id="{8B133E7E-3FA5-4FCD-96A0-8207481DA326}"/>
              </a:ext>
            </a:extLst>
          </p:cNvPr>
          <p:cNvSpPr>
            <a:spLocks xmlns:a="http://schemas.openxmlformats.org/drawingml/2006/main" noGrp="1"/>
          </p:cNvSpPr>
          <p:nvPr/>
        </p:nvSpPr>
        <p:spPr>
          <a:xfrm xmlns:a="http://schemas.openxmlformats.org/drawingml/2006/main">
            <a:off x="9477375" y="15240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global</a:t>
            </a:r>
          </a:p>
        </p:txBody>
      </p:sp>
      <p:sp>
        <p:nvSpPr>
          <p:cNvPr id="10" name="">
            <a:extLst xmlns:a="http://schemas.openxmlformats.org/drawingml/2006/main">
              <a:ext uri="{FF2B5EF4-FFF2-40B4-BE49-F238E27FC236}">
                <a16:creationId xmlns:a16="http://schemas.microsoft.com/office/drawing/2014/main" id="{C2B7CB05-D669-4AED-AC0C-7E988914F0A5}"/>
              </a:ext>
            </a:extLst>
          </p:cNvPr>
          <p:cNvSpPr>
            <a:spLocks xmlns:a="http://schemas.openxmlformats.org/drawingml/2006/main" noGrp="1"/>
          </p:cNvSpPr>
          <p:nvPr/>
        </p:nvSpPr>
        <p:spPr>
          <a:xfrm xmlns:a="http://schemas.openxmlformats.org/drawingml/2006/main">
            <a:off x="685800" y="19812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11" name="">
            <a:extLst xmlns:a="http://schemas.openxmlformats.org/drawingml/2006/main">
              <a:ext uri="{FF2B5EF4-FFF2-40B4-BE49-F238E27FC236}">
                <a16:creationId xmlns:a16="http://schemas.microsoft.com/office/drawing/2014/main" id="{DAC8D890-0C09-4105-8FD5-7BA512FB6A77}"/>
              </a:ext>
            </a:extLst>
          </p:cNvPr>
          <p:cNvSpPr>
            <a:spLocks xmlns:a="http://schemas.openxmlformats.org/drawingml/2006/main" noGrp="1"/>
          </p:cNvSpPr>
          <p:nvPr/>
        </p:nvSpPr>
        <p:spPr>
          <a:xfrm xmlns:a="http://schemas.openxmlformats.org/drawingml/2006/main">
            <a:off x="857250" y="21240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Phase 5 scoped trigger</a:t>
            </a:r>
          </a:p>
        </p:txBody>
      </p:sp>
      <p:sp>
        <p:nvSpPr>
          <p:cNvPr id="12" name="">
            <a:extLst xmlns:a="http://schemas.openxmlformats.org/drawingml/2006/main">
              <a:ext uri="{FF2B5EF4-FFF2-40B4-BE49-F238E27FC236}">
                <a16:creationId xmlns:a16="http://schemas.microsoft.com/office/drawing/2014/main" id="{D5BC8DEC-31CA-4C61-899F-54BDE8B8887F}"/>
              </a:ext>
            </a:extLst>
          </p:cNvPr>
          <p:cNvSpPr>
            <a:spLocks xmlns:a="http://schemas.openxmlformats.org/drawingml/2006/main" noGrp="1"/>
          </p:cNvSpPr>
          <p:nvPr/>
        </p:nvSpPr>
        <p:spPr>
          <a:xfrm xmlns:a="http://schemas.openxmlformats.org/drawingml/2006/main">
            <a:off x="3295650" y="2095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4 target improvements</a:t>
            </a:r>
          </a:p>
        </p:txBody>
      </p:sp>
      <p:sp>
        <p:nvSpPr>
          <p:cNvPr id="13" name="">
            <a:extLst xmlns:a="http://schemas.openxmlformats.org/drawingml/2006/main">
              <a:ext uri="{FF2B5EF4-FFF2-40B4-BE49-F238E27FC236}">
                <a16:creationId xmlns:a16="http://schemas.microsoft.com/office/drawing/2014/main" id="{45757365-DE56-4309-B79E-6DDAC5ECC8C5}"/>
              </a:ext>
            </a:extLst>
          </p:cNvPr>
          <p:cNvSpPr>
            <a:spLocks xmlns:a="http://schemas.openxmlformats.org/drawingml/2006/main" noGrp="1"/>
          </p:cNvSpPr>
          <p:nvPr/>
        </p:nvSpPr>
        <p:spPr>
          <a:xfrm xmlns:a="http://schemas.openxmlformats.org/drawingml/2006/main">
            <a:off x="5943600" y="20764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0 triggered regression/conflict</a:t>
            </a:r>
          </a:p>
        </p:txBody>
      </p:sp>
      <p:sp>
        <p:nvSpPr>
          <p:cNvPr id="14" name="">
            <a:extLst xmlns:a="http://schemas.openxmlformats.org/drawingml/2006/main">
              <a:ext uri="{FF2B5EF4-FFF2-40B4-BE49-F238E27FC236}">
                <a16:creationId xmlns:a16="http://schemas.microsoft.com/office/drawing/2014/main" id="{86904C7C-C3F0-4FA1-AAB3-9FFE4C38A99B}"/>
              </a:ext>
            </a:extLst>
          </p:cNvPr>
          <p:cNvSpPr>
            <a:spLocks xmlns:a="http://schemas.openxmlformats.org/drawingml/2006/main" noGrp="1"/>
          </p:cNvSpPr>
          <p:nvPr/>
        </p:nvSpPr>
        <p:spPr>
          <a:xfrm xmlns:a="http://schemas.openxmlformats.org/drawingml/2006/main">
            <a:off x="9410700" y="20955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5" name="">
            <a:extLst xmlns:a="http://schemas.openxmlformats.org/drawingml/2006/main">
              <a:ext uri="{FF2B5EF4-FFF2-40B4-BE49-F238E27FC236}">
                <a16:creationId xmlns:a16="http://schemas.microsoft.com/office/drawing/2014/main" id="{C86205FA-B82D-48FC-BBB6-898F12461BAF}"/>
              </a:ext>
            </a:extLst>
          </p:cNvPr>
          <p:cNvSpPr>
            <a:spLocks xmlns:a="http://schemas.openxmlformats.org/drawingml/2006/main" noGrp="1"/>
          </p:cNvSpPr>
          <p:nvPr/>
        </p:nvSpPr>
        <p:spPr>
          <a:xfrm xmlns:a="http://schemas.openxmlformats.org/drawingml/2006/main">
            <a:off x="9477375" y="21526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16" name="">
            <a:extLst xmlns:a="http://schemas.openxmlformats.org/drawingml/2006/main">
              <a:ext uri="{FF2B5EF4-FFF2-40B4-BE49-F238E27FC236}">
                <a16:creationId xmlns:a16="http://schemas.microsoft.com/office/drawing/2014/main" id="{1EDF89D4-CADA-44AE-B98E-573757A63270}"/>
              </a:ext>
            </a:extLst>
          </p:cNvPr>
          <p:cNvSpPr>
            <a:spLocks xmlns:a="http://schemas.openxmlformats.org/drawingml/2006/main" noGrp="1"/>
          </p:cNvSpPr>
          <p:nvPr/>
        </p:nvSpPr>
        <p:spPr>
          <a:xfrm xmlns:a="http://schemas.openxmlformats.org/drawingml/2006/main">
            <a:off x="685800" y="26098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7FED0780-DF44-4D0C-B05E-BECF7C6DEFCD}"/>
              </a:ext>
            </a:extLst>
          </p:cNvPr>
          <p:cNvSpPr>
            <a:spLocks xmlns:a="http://schemas.openxmlformats.org/drawingml/2006/main" noGrp="1"/>
          </p:cNvSpPr>
          <p:nvPr/>
        </p:nvSpPr>
        <p:spPr>
          <a:xfrm xmlns:a="http://schemas.openxmlformats.org/drawingml/2006/main">
            <a:off x="857250" y="27527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Coroutines 1.6.4</a:t>
            </a:r>
          </a:p>
        </p:txBody>
      </p:sp>
      <p:sp>
        <p:nvSpPr>
          <p:cNvPr id="18" name="">
            <a:extLst xmlns:a="http://schemas.openxmlformats.org/drawingml/2006/main">
              <a:ext uri="{FF2B5EF4-FFF2-40B4-BE49-F238E27FC236}">
                <a16:creationId xmlns:a16="http://schemas.microsoft.com/office/drawing/2014/main" id="{148FBCB5-7148-4B41-9669-81B7D374C51A}"/>
              </a:ext>
            </a:extLst>
          </p:cNvPr>
          <p:cNvSpPr>
            <a:spLocks xmlns:a="http://schemas.openxmlformats.org/drawingml/2006/main" noGrp="1"/>
          </p:cNvSpPr>
          <p:nvPr/>
        </p:nvSpPr>
        <p:spPr>
          <a:xfrm xmlns:a="http://schemas.openxmlformats.org/drawingml/2006/main">
            <a:off x="3295650"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20/20 targets fixed</a:t>
            </a:r>
          </a:p>
        </p:txBody>
      </p:sp>
      <p:sp>
        <p:nvSpPr>
          <p:cNvPr id="19" name="">
            <a:extLst xmlns:a="http://schemas.openxmlformats.org/drawingml/2006/main">
              <a:ext uri="{FF2B5EF4-FFF2-40B4-BE49-F238E27FC236}">
                <a16:creationId xmlns:a16="http://schemas.microsoft.com/office/drawing/2014/main" id="{DB65912F-6E7E-4396-89D1-2A291F3C6CE5}"/>
              </a:ext>
            </a:extLst>
          </p:cNvPr>
          <p:cNvSpPr>
            <a:spLocks xmlns:a="http://schemas.openxmlformats.org/drawingml/2006/main" noGrp="1"/>
          </p:cNvSpPr>
          <p:nvPr/>
        </p:nvSpPr>
        <p:spPr>
          <a:xfrm xmlns:a="http://schemas.openxmlformats.org/drawingml/2006/main">
            <a:off x="5943600" y="27051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1 clean + 2 boundary regressions</a:t>
            </a:r>
          </a:p>
        </p:txBody>
      </p:sp>
      <p:sp>
        <p:nvSpPr>
          <p:cNvPr id="20" name="">
            <a:extLst xmlns:a="http://schemas.openxmlformats.org/drawingml/2006/main">
              <a:ext uri="{FF2B5EF4-FFF2-40B4-BE49-F238E27FC236}">
                <a16:creationId xmlns:a16="http://schemas.microsoft.com/office/drawing/2014/main" id="{07D1A7A0-399C-4477-B189-2C03E7A78F69}"/>
              </a:ext>
            </a:extLst>
          </p:cNvPr>
          <p:cNvSpPr>
            <a:spLocks xmlns:a="http://schemas.openxmlformats.org/drawingml/2006/main" noGrp="1"/>
          </p:cNvSpPr>
          <p:nvPr/>
        </p:nvSpPr>
        <p:spPr>
          <a:xfrm xmlns:a="http://schemas.openxmlformats.org/drawingml/2006/main">
            <a:off x="9410700" y="27241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E3415D04-FF7F-4E28-BBD9-0F48B31921E4}"/>
              </a:ext>
            </a:extLst>
          </p:cNvPr>
          <p:cNvSpPr>
            <a:spLocks xmlns:a="http://schemas.openxmlformats.org/drawingml/2006/main" noGrp="1"/>
          </p:cNvSpPr>
          <p:nvPr/>
        </p:nvSpPr>
        <p:spPr>
          <a:xfrm xmlns:a="http://schemas.openxmlformats.org/drawingml/2006/main">
            <a:off x="9477375" y="27813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shared DB</a:t>
            </a:r>
          </a:p>
        </p:txBody>
      </p:sp>
      <p:sp>
        <p:nvSpPr>
          <p:cNvPr id="22" name="">
            <a:extLst xmlns:a="http://schemas.openxmlformats.org/drawingml/2006/main">
              <a:ext uri="{FF2B5EF4-FFF2-40B4-BE49-F238E27FC236}">
                <a16:creationId xmlns:a16="http://schemas.microsoft.com/office/drawing/2014/main" id="{D67E463E-54DD-4CB1-BED8-11C6B1D95030}"/>
              </a:ext>
            </a:extLst>
          </p:cNvPr>
          <p:cNvSpPr>
            <a:spLocks xmlns:a="http://schemas.openxmlformats.org/drawingml/2006/main" noGrp="1"/>
          </p:cNvSpPr>
          <p:nvPr/>
        </p:nvSpPr>
        <p:spPr>
          <a:xfrm xmlns:a="http://schemas.openxmlformats.org/drawingml/2006/main">
            <a:off x="685800" y="32385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1FE3A4BE-FF80-44E6-A77E-398FBCD2F0FB}"/>
              </a:ext>
            </a:extLst>
          </p:cNvPr>
          <p:cNvSpPr>
            <a:spLocks xmlns:a="http://schemas.openxmlformats.org/drawingml/2006/main" noGrp="1"/>
          </p:cNvSpPr>
          <p:nvPr/>
        </p:nvSpPr>
        <p:spPr>
          <a:xfrm xmlns:a="http://schemas.openxmlformats.org/drawingml/2006/main">
            <a:off x="857250" y="3381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API ref weight 0.05</a:t>
            </a:r>
          </a:p>
        </p:txBody>
      </p:sp>
      <p:sp>
        <p:nvSpPr>
          <p:cNvPr id="24" name="">
            <a:extLst xmlns:a="http://schemas.openxmlformats.org/drawingml/2006/main">
              <a:ext uri="{FF2B5EF4-FFF2-40B4-BE49-F238E27FC236}">
                <a16:creationId xmlns:a16="http://schemas.microsoft.com/office/drawing/2014/main" id="{F717E87F-C6E9-4186-A347-6F21439E24EE}"/>
              </a:ext>
            </a:extLst>
          </p:cNvPr>
          <p:cNvSpPr>
            <a:spLocks xmlns:a="http://schemas.openxmlformats.org/drawingml/2006/main" noGrp="1"/>
          </p:cNvSpPr>
          <p:nvPr/>
        </p:nvSpPr>
        <p:spPr>
          <a:xfrm xmlns:a="http://schemas.openxmlformats.org/drawingml/2006/main">
            <a:off x="3295650" y="3352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No measured benefit</a:t>
            </a:r>
          </a:p>
        </p:txBody>
      </p:sp>
      <p:sp>
        <p:nvSpPr>
          <p:cNvPr id="25" name="">
            <a:extLst xmlns:a="http://schemas.openxmlformats.org/drawingml/2006/main">
              <a:ext uri="{FF2B5EF4-FFF2-40B4-BE49-F238E27FC236}">
                <a16:creationId xmlns:a16="http://schemas.microsoft.com/office/drawing/2014/main" id="{171C60C2-7FB5-4F5F-93F5-47F5C7C584FE}"/>
              </a:ext>
            </a:extLst>
          </p:cNvPr>
          <p:cNvSpPr>
            <a:spLocks xmlns:a="http://schemas.openxmlformats.org/drawingml/2006/main" noGrp="1"/>
          </p:cNvSpPr>
          <p:nvPr/>
        </p:nvSpPr>
        <p:spPr>
          <a:xfrm xmlns:a="http://schemas.openxmlformats.org/drawingml/2006/main">
            <a:off x="5943600" y="33337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No metric change</a:t>
            </a:r>
          </a:p>
        </p:txBody>
      </p:sp>
      <p:sp>
        <p:nvSpPr>
          <p:cNvPr id="26" name="">
            <a:extLst xmlns:a="http://schemas.openxmlformats.org/drawingml/2006/main">
              <a:ext uri="{FF2B5EF4-FFF2-40B4-BE49-F238E27FC236}">
                <a16:creationId xmlns:a16="http://schemas.microsoft.com/office/drawing/2014/main" id="{0CF024F7-F49E-48AA-B8D4-7C376203011B}"/>
              </a:ext>
            </a:extLst>
          </p:cNvPr>
          <p:cNvSpPr>
            <a:spLocks xmlns:a="http://schemas.openxmlformats.org/drawingml/2006/main" noGrp="1"/>
          </p:cNvSpPr>
          <p:nvPr/>
        </p:nvSpPr>
        <p:spPr>
          <a:xfrm xmlns:a="http://schemas.openxmlformats.org/drawingml/2006/main">
            <a:off x="9410700" y="335280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78F86C68-C678-40F3-BF72-F083794D494B}"/>
              </a:ext>
            </a:extLst>
          </p:cNvPr>
          <p:cNvSpPr>
            <a:spLocks xmlns:a="http://schemas.openxmlformats.org/drawingml/2006/main" noGrp="1"/>
          </p:cNvSpPr>
          <p:nvPr/>
        </p:nvSpPr>
        <p:spPr>
          <a:xfrm xmlns:a="http://schemas.openxmlformats.org/drawingml/2006/main">
            <a:off x="9477375" y="34099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Disabled</a:t>
            </a:r>
          </a:p>
        </p:txBody>
      </p:sp>
      <p:sp>
        <p:nvSpPr>
          <p:cNvPr id="28" name="">
            <a:extLst xmlns:a="http://schemas.openxmlformats.org/drawingml/2006/main">
              <a:ext uri="{FF2B5EF4-FFF2-40B4-BE49-F238E27FC236}">
                <a16:creationId xmlns:a16="http://schemas.microsoft.com/office/drawing/2014/main" id="{8DB001FE-89BF-4F97-895F-7E7CD1F18352}"/>
              </a:ext>
            </a:extLst>
          </p:cNvPr>
          <p:cNvSpPr>
            <a:spLocks xmlns:a="http://schemas.openxmlformats.org/drawingml/2006/main" noGrp="1"/>
          </p:cNvSpPr>
          <p:nvPr/>
        </p:nvSpPr>
        <p:spPr>
          <a:xfrm xmlns:a="http://schemas.openxmlformats.org/drawingml/2006/main">
            <a:off x="685800" y="38671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FD464591-6852-4CCD-919B-A0DC96A9FC80}"/>
              </a:ext>
            </a:extLst>
          </p:cNvPr>
          <p:cNvSpPr>
            <a:spLocks xmlns:a="http://schemas.openxmlformats.org/drawingml/2006/main" noGrp="1"/>
          </p:cNvSpPr>
          <p:nvPr/>
        </p:nvSpPr>
        <p:spPr>
          <a:xfrm xmlns:a="http://schemas.openxmlformats.org/drawingml/2006/main">
            <a:off x="857250" y="40100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Opcode tri-gram 0.02</a:t>
            </a:r>
          </a:p>
        </p:txBody>
      </p:sp>
      <p:sp>
        <p:nvSpPr>
          <p:cNvPr id="30" name="">
            <a:extLst xmlns:a="http://schemas.openxmlformats.org/drawingml/2006/main">
              <a:ext uri="{FF2B5EF4-FFF2-40B4-BE49-F238E27FC236}">
                <a16:creationId xmlns:a16="http://schemas.microsoft.com/office/drawing/2014/main" id="{146B2985-5360-42A4-B917-CAE2ECC81E8B}"/>
              </a:ext>
            </a:extLst>
          </p:cNvPr>
          <p:cNvSpPr>
            <a:spLocks xmlns:a="http://schemas.openxmlformats.org/drawingml/2006/main" noGrp="1"/>
          </p:cNvSpPr>
          <p:nvPr/>
        </p:nvSpPr>
        <p:spPr>
          <a:xfrm xmlns:a="http://schemas.openxmlformats.org/drawingml/2006/main">
            <a:off x="3295650" y="3981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No confirmed improvement</a:t>
            </a:r>
          </a:p>
        </p:txBody>
      </p:sp>
      <p:sp>
        <p:nvSpPr>
          <p:cNvPr id="31" name="">
            <a:extLst xmlns:a="http://schemas.openxmlformats.org/drawingml/2006/main">
              <a:ext uri="{FF2B5EF4-FFF2-40B4-BE49-F238E27FC236}">
                <a16:creationId xmlns:a16="http://schemas.microsoft.com/office/drawing/2014/main" id="{B9DB6628-3130-4DC9-BAE0-C7B453126B5F}"/>
              </a:ext>
            </a:extLst>
          </p:cNvPr>
          <p:cNvSpPr>
            <a:spLocks xmlns:a="http://schemas.openxmlformats.org/drawingml/2006/main" noGrp="1"/>
          </p:cNvSpPr>
          <p:nvPr/>
        </p:nvSpPr>
        <p:spPr>
          <a:xfrm xmlns:a="http://schemas.openxmlformats.org/drawingml/2006/main">
            <a:off x="5943600" y="39624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OpenTracks + Conversations regress</a:t>
            </a:r>
          </a:p>
        </p:txBody>
      </p:sp>
      <p:sp>
        <p:nvSpPr>
          <p:cNvPr id="32" name="">
            <a:extLst xmlns:a="http://schemas.openxmlformats.org/drawingml/2006/main">
              <a:ext uri="{FF2B5EF4-FFF2-40B4-BE49-F238E27FC236}">
                <a16:creationId xmlns:a16="http://schemas.microsoft.com/office/drawing/2014/main" id="{24F74207-5384-4E24-9774-E18CAAE5FE86}"/>
              </a:ext>
            </a:extLst>
          </p:cNvPr>
          <p:cNvSpPr>
            <a:spLocks xmlns:a="http://schemas.openxmlformats.org/drawingml/2006/main" noGrp="1"/>
          </p:cNvSpPr>
          <p:nvPr/>
        </p:nvSpPr>
        <p:spPr>
          <a:xfrm xmlns:a="http://schemas.openxmlformats.org/drawingml/2006/main">
            <a:off x="9410700" y="39814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732AD71-ACD6-4BAE-8C85-76E4789935A2}"/>
              </a:ext>
            </a:extLst>
          </p:cNvPr>
          <p:cNvSpPr>
            <a:spLocks xmlns:a="http://schemas.openxmlformats.org/drawingml/2006/main" noGrp="1"/>
          </p:cNvSpPr>
          <p:nvPr/>
        </p:nvSpPr>
        <p:spPr>
          <a:xfrm xmlns:a="http://schemas.openxmlformats.org/drawingml/2006/main">
            <a:off x="9477375" y="40386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Disabled</a:t>
            </a:r>
          </a:p>
        </p:txBody>
      </p:sp>
      <p:sp>
        <p:nvSpPr>
          <p:cNvPr id="34" name="">
            <a:extLst xmlns:a="http://schemas.openxmlformats.org/drawingml/2006/main">
              <a:ext uri="{FF2B5EF4-FFF2-40B4-BE49-F238E27FC236}">
                <a16:creationId xmlns:a16="http://schemas.microsoft.com/office/drawing/2014/main" id="{87BAC58E-ADDE-4413-BAED-422B7FD51E37}"/>
              </a:ext>
            </a:extLst>
          </p:cNvPr>
          <p:cNvSpPr>
            <a:spLocks xmlns:a="http://schemas.openxmlformats.org/drawingml/2006/main" noGrp="1"/>
          </p:cNvSpPr>
          <p:nvPr/>
        </p:nvSpPr>
        <p:spPr>
          <a:xfrm xmlns:a="http://schemas.openxmlformats.org/drawingml/2006/main">
            <a:off x="685800" y="44958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6FD84CE2-2197-4326-A661-276FBEFDF813}"/>
              </a:ext>
            </a:extLst>
          </p:cNvPr>
          <p:cNvSpPr>
            <a:spLocks xmlns:a="http://schemas.openxmlformats.org/drawingml/2006/main" noGrp="1"/>
          </p:cNvSpPr>
          <p:nvPr/>
        </p:nvSpPr>
        <p:spPr>
          <a:xfrm xmlns:a="http://schemas.openxmlformats.org/drawingml/2006/main">
            <a:off x="857250" y="46386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APK-only reranker</a:t>
            </a:r>
          </a:p>
        </p:txBody>
      </p:sp>
      <p:sp>
        <p:nvSpPr>
          <p:cNvPr id="36" name="">
            <a:extLst xmlns:a="http://schemas.openxmlformats.org/drawingml/2006/main">
              <a:ext uri="{FF2B5EF4-FFF2-40B4-BE49-F238E27FC236}">
                <a16:creationId xmlns:a16="http://schemas.microsoft.com/office/drawing/2014/main" id="{F52B76A1-37D8-416A-99A6-07711112D6EF}"/>
              </a:ext>
            </a:extLst>
          </p:cNvPr>
          <p:cNvSpPr>
            <a:spLocks xmlns:a="http://schemas.openxmlformats.org/drawingml/2006/main" noGrp="1"/>
          </p:cNvSpPr>
          <p:nvPr/>
        </p:nvSpPr>
        <p:spPr>
          <a:xfrm xmlns:a="http://schemas.openxmlformats.org/drawingml/2006/main">
            <a:off x="3295650" y="4610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 changes</a:t>
            </a:r>
          </a:p>
        </p:txBody>
      </p:sp>
      <p:sp>
        <p:nvSpPr>
          <p:cNvPr id="37" name="">
            <a:extLst xmlns:a="http://schemas.openxmlformats.org/drawingml/2006/main">
              <a:ext uri="{FF2B5EF4-FFF2-40B4-BE49-F238E27FC236}">
                <a16:creationId xmlns:a16="http://schemas.microsoft.com/office/drawing/2014/main" id="{045B1E94-3815-4E75-863F-D3B752E09496}"/>
              </a:ext>
            </a:extLst>
          </p:cNvPr>
          <p:cNvSpPr>
            <a:spLocks xmlns:a="http://schemas.openxmlformats.org/drawingml/2006/main" noGrp="1"/>
          </p:cNvSpPr>
          <p:nvPr/>
        </p:nvSpPr>
        <p:spPr>
          <a:xfrm xmlns:a="http://schemas.openxmlformats.org/drawingml/2006/main">
            <a:off x="5943600" y="45910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0 fixes; source alternative visible 7.6%</a:t>
            </a:r>
          </a:p>
        </p:txBody>
      </p:sp>
      <p:sp>
        <p:nvSpPr>
          <p:cNvPr id="38" name="">
            <a:extLst xmlns:a="http://schemas.openxmlformats.org/drawingml/2006/main">
              <a:ext uri="{FF2B5EF4-FFF2-40B4-BE49-F238E27FC236}">
                <a16:creationId xmlns:a16="http://schemas.microsoft.com/office/drawing/2014/main" id="{141F1E74-C2EC-49FB-80A1-036065CB8144}"/>
              </a:ext>
            </a:extLst>
          </p:cNvPr>
          <p:cNvSpPr>
            <a:spLocks xmlns:a="http://schemas.openxmlformats.org/drawingml/2006/main" noGrp="1"/>
          </p:cNvSpPr>
          <p:nvPr/>
        </p:nvSpPr>
        <p:spPr>
          <a:xfrm xmlns:a="http://schemas.openxmlformats.org/drawingml/2006/main">
            <a:off x="9410700" y="461010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9" name="">
            <a:extLst xmlns:a="http://schemas.openxmlformats.org/drawingml/2006/main">
              <a:ext uri="{FF2B5EF4-FFF2-40B4-BE49-F238E27FC236}">
                <a16:creationId xmlns:a16="http://schemas.microsoft.com/office/drawing/2014/main" id="{8CF975D3-1047-4F73-B3B8-64976E7413D6}"/>
              </a:ext>
            </a:extLst>
          </p:cNvPr>
          <p:cNvSpPr>
            <a:spLocks xmlns:a="http://schemas.openxmlformats.org/drawingml/2006/main" noGrp="1"/>
          </p:cNvSpPr>
          <p:nvPr/>
        </p:nvSpPr>
        <p:spPr>
          <a:xfrm xmlns:a="http://schemas.openxmlformats.org/drawingml/2006/main">
            <a:off x="9477375" y="46672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40" name="">
            <a:extLst xmlns:a="http://schemas.openxmlformats.org/drawingml/2006/main">
              <a:ext uri="{FF2B5EF4-FFF2-40B4-BE49-F238E27FC236}">
                <a16:creationId xmlns:a16="http://schemas.microsoft.com/office/drawing/2014/main" id="{3F41FD1A-B513-497F-8C93-3FC77C6F3A30}"/>
              </a:ext>
            </a:extLst>
          </p:cNvPr>
          <p:cNvSpPr>
            <a:spLocks xmlns:a="http://schemas.openxmlformats.org/drawingml/2006/main" noGrp="1"/>
          </p:cNvSpPr>
          <p:nvPr/>
        </p:nvSpPr>
        <p:spPr>
          <a:xfrm xmlns:a="http://schemas.openxmlformats.org/drawingml/2006/main">
            <a:off x="685800" y="51244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41" name="">
            <a:extLst xmlns:a="http://schemas.openxmlformats.org/drawingml/2006/main">
              <a:ext uri="{FF2B5EF4-FFF2-40B4-BE49-F238E27FC236}">
                <a16:creationId xmlns:a16="http://schemas.microsoft.com/office/drawing/2014/main" id="{23A57402-5285-4AF8-AF66-11413A4CC873}"/>
              </a:ext>
            </a:extLst>
          </p:cNvPr>
          <p:cNvSpPr>
            <a:spLocks xmlns:a="http://schemas.openxmlformats.org/drawingml/2006/main" noGrp="1"/>
          </p:cNvSpPr>
          <p:nvPr/>
        </p:nvSpPr>
        <p:spPr>
          <a:xfrm xmlns:a="http://schemas.openxmlformats.org/drawingml/2006/main">
            <a:off x="857250" y="5267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Candidate expansion</a:t>
            </a:r>
          </a:p>
        </p:txBody>
      </p:sp>
      <p:sp>
        <p:nvSpPr>
          <p:cNvPr id="42" name="">
            <a:extLst xmlns:a="http://schemas.openxmlformats.org/drawingml/2006/main">
              <a:ext uri="{FF2B5EF4-FFF2-40B4-BE49-F238E27FC236}">
                <a16:creationId xmlns:a16="http://schemas.microsoft.com/office/drawing/2014/main" id="{93D3D25E-F0A8-4514-B752-A418131E29E6}"/>
              </a:ext>
            </a:extLst>
          </p:cNvPr>
          <p:cNvSpPr>
            <a:spLocks xmlns:a="http://schemas.openxmlformats.org/drawingml/2006/main" noGrp="1"/>
          </p:cNvSpPr>
          <p:nvPr/>
        </p:nvSpPr>
        <p:spPr>
          <a:xfrm xmlns:a="http://schemas.openxmlformats.org/drawingml/2006/main">
            <a:off x="3295650" y="5238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134 same-coordinate refs</a:t>
            </a:r>
          </a:p>
        </p:txBody>
      </p:sp>
      <p:sp>
        <p:nvSpPr>
          <p:cNvPr id="43" name="">
            <a:extLst xmlns:a="http://schemas.openxmlformats.org/drawingml/2006/main">
              <a:ext uri="{FF2B5EF4-FFF2-40B4-BE49-F238E27FC236}">
                <a16:creationId xmlns:a16="http://schemas.microsoft.com/office/drawing/2014/main" id="{080D0AE7-1960-46D5-86D6-E37F5C20E9A6}"/>
              </a:ext>
            </a:extLst>
          </p:cNvPr>
          <p:cNvSpPr>
            <a:spLocks xmlns:a="http://schemas.openxmlformats.org/drawingml/2006/main" noGrp="1"/>
          </p:cNvSpPr>
          <p:nvPr/>
        </p:nvSpPr>
        <p:spPr>
          <a:xfrm xmlns:a="http://schemas.openxmlformats.org/drawingml/2006/main">
            <a:off x="5943600" y="52197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selected 1.2.0-alpha01 vs source 1.8.1</a:t>
            </a:r>
          </a:p>
        </p:txBody>
      </p:sp>
      <p:sp>
        <p:nvSpPr>
          <p:cNvPr id="44" name="">
            <a:extLst xmlns:a="http://schemas.openxmlformats.org/drawingml/2006/main">
              <a:ext uri="{FF2B5EF4-FFF2-40B4-BE49-F238E27FC236}">
                <a16:creationId xmlns:a16="http://schemas.microsoft.com/office/drawing/2014/main" id="{776D392A-E0DD-4E49-9909-3AD889478BF4}"/>
              </a:ext>
            </a:extLst>
          </p:cNvPr>
          <p:cNvSpPr>
            <a:spLocks xmlns:a="http://schemas.openxmlformats.org/drawingml/2006/main" noGrp="1"/>
          </p:cNvSpPr>
          <p:nvPr/>
        </p:nvSpPr>
        <p:spPr>
          <a:xfrm xmlns:a="http://schemas.openxmlformats.org/drawingml/2006/main">
            <a:off x="9410700" y="52387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5" name="">
            <a:extLst xmlns:a="http://schemas.openxmlformats.org/drawingml/2006/main">
              <a:ext uri="{FF2B5EF4-FFF2-40B4-BE49-F238E27FC236}">
                <a16:creationId xmlns:a16="http://schemas.microsoft.com/office/drawing/2014/main" id="{32D4F11D-CB0B-47E8-82B6-619A3C777A26}"/>
              </a:ext>
            </a:extLst>
          </p:cNvPr>
          <p:cNvSpPr>
            <a:spLocks xmlns:a="http://schemas.openxmlformats.org/drawingml/2006/main" noGrp="1"/>
          </p:cNvSpPr>
          <p:nvPr/>
        </p:nvSpPr>
        <p:spPr>
          <a:xfrm xmlns:a="http://schemas.openxmlformats.org/drawingml/2006/main">
            <a:off x="9477375" y="52959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46" name="">
            <a:extLst xmlns:a="http://schemas.openxmlformats.org/drawingml/2006/main">
              <a:ext uri="{FF2B5EF4-FFF2-40B4-BE49-F238E27FC236}">
                <a16:creationId xmlns:a16="http://schemas.microsoft.com/office/drawing/2014/main" id="{4A326A5F-4A32-4ACF-B140-53E90CFC65C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51983112"/>
      </p:ext>
    </p:extLst>
  </p:cSld>
</p:sld>
</file>

<file path=ppt/slides/slide3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B1C3BB-2403-49CC-9A0C-A22AFB5FC1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E9FC7D-7B54-4B67-8A0F-7D4B2A5E4FE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6FC5AC-8DE5-4878-9E61-D14EB44450F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BACKUP 7</a:t>
            </a:r>
          </a:p>
        </p:txBody>
      </p:sp>
      <p:sp>
        <p:nvSpPr>
          <p:cNvPr id="4" name="">
            <a:extLst xmlns:a="http://schemas.openxmlformats.org/drawingml/2006/main">
              <a:ext uri="{FF2B5EF4-FFF2-40B4-BE49-F238E27FC236}">
                <a16:creationId xmlns:a16="http://schemas.microsoft.com/office/drawing/2014/main" id="{24928F27-A014-47F7-8C8A-41D15BD08FF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confusion and ablation evidence</a:t>
            </a:r>
          </a:p>
        </p:txBody>
      </p:sp>
      <p:sp>
        <p:nvSpPr>
          <p:cNvPr id="5" name="">
            <a:extLst xmlns:a="http://schemas.openxmlformats.org/drawingml/2006/main">
              <a:ext uri="{FF2B5EF4-FFF2-40B4-BE49-F238E27FC236}">
                <a16:creationId xmlns:a16="http://schemas.microsoft.com/office/drawing/2014/main" id="{8269AE28-8915-4A36-9BDF-DB3DF33A84C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38</a:t>
            </a:r>
          </a:p>
        </p:txBody>
      </p:sp>
      <p:sp>
        <p:nvSpPr>
          <p:cNvPr id="6" name="">
            <a:extLst xmlns:a="http://schemas.openxmlformats.org/drawingml/2006/main">
              <a:ext uri="{FF2B5EF4-FFF2-40B4-BE49-F238E27FC236}">
                <a16:creationId xmlns:a16="http://schemas.microsoft.com/office/drawing/2014/main" id="{9B6F9891-51BB-41C7-916D-9A3D2D0F94FD}"/>
              </a:ext>
            </a:extLst>
          </p:cNvPr>
          <p:cNvSpPr>
            <a:spLocks xmlns:a="http://schemas.openxmlformats.org/drawingml/2006/main" noGrp="1"/>
          </p:cNvSpPr>
          <p:nvPr/>
        </p:nvSpPr>
        <p:spPr>
          <a:xfrm xmlns:a="http://schemas.openxmlformats.org/drawingml/2006/main">
            <a:off x="685800" y="1390650"/>
            <a:ext cx="5219700" cy="4171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B37244A6-EA98-4837-B7E0-8668FCDFB57A}"/>
              </a:ext>
            </a:extLst>
          </p:cNvPr>
          <p:cNvSpPr>
            <a:spLocks xmlns:a="http://schemas.openxmlformats.org/drawingml/2006/main" noGrp="1"/>
          </p:cNvSpPr>
          <p:nvPr/>
        </p:nvSpPr>
        <p:spPr>
          <a:xfrm xmlns:a="http://schemas.openxmlformats.org/drawingml/2006/main">
            <a:off x="91440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TEST PER-CLASS F1</a:t>
            </a:r>
          </a:p>
        </p:txBody>
      </p:sp>
      <p:sp>
        <p:nvSpPr>
          <p:cNvPr id="8" name="">
            <a:extLst xmlns:a="http://schemas.openxmlformats.org/drawingml/2006/main">
              <a:ext uri="{FF2B5EF4-FFF2-40B4-BE49-F238E27FC236}">
                <a16:creationId xmlns:a16="http://schemas.microsoft.com/office/drawing/2014/main" id="{A3C96F1F-BC3C-48A9-A966-B0F0FB028D4A}"/>
              </a:ext>
            </a:extLst>
          </p:cNvPr>
          <p:cNvSpPr>
            <a:spLocks xmlns:a="http://schemas.openxmlformats.org/drawingml/2006/main" noGrp="1"/>
          </p:cNvSpPr>
          <p:nvPr/>
        </p:nvSpPr>
        <p:spPr>
          <a:xfrm xmlns:a="http://schemas.openxmlformats.org/drawingml/2006/main">
            <a:off x="933450" y="2057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confirmed_exact</a:t>
            </a:r>
          </a:p>
        </p:txBody>
      </p:sp>
      <p:sp>
        <p:nvSpPr>
          <p:cNvPr id="9" name="">
            <a:extLst xmlns:a="http://schemas.openxmlformats.org/drawingml/2006/main">
              <a:ext uri="{FF2B5EF4-FFF2-40B4-BE49-F238E27FC236}">
                <a16:creationId xmlns:a16="http://schemas.microsoft.com/office/drawing/2014/main" id="{C6E30CB6-072A-4C84-9F75-0C2F01A2E194}"/>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3F283F-53C9-4110-8A5C-518EC3B08AEC}"/>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A976D2-F3B6-49D1-A4B2-F22190C9013B}"/>
              </a:ext>
            </a:extLst>
          </p:cNvPr>
          <p:cNvSpPr>
            <a:spLocks xmlns:a="http://schemas.openxmlformats.org/drawingml/2006/main" noGrp="1"/>
          </p:cNvSpPr>
          <p:nvPr/>
        </p:nvSpPr>
        <p:spPr>
          <a:xfrm xmlns:a="http://schemas.openxmlformats.org/drawingml/2006/main">
            <a:off x="5219700" y="2038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6F7C61"/>
                </a:solidFill>
                <a:latin typeface="Aptos"/>
                <a:ea typeface="Aptos"/>
                <a:cs typeface="Aptos"/>
              </a:defRPr>
            </a:pPr>
            <a:r>
              <a:rPr sz="750" b="1">
                <a:solidFill>
                  <a:srgbClr val="6F7C61"/>
                </a:solidFill>
                <a:latin typeface="Aptos"/>
                <a:ea typeface="Aptos"/>
                <a:cs typeface="Aptos"/>
              </a:rPr>
              <a:t>1.000</a:t>
            </a:r>
          </a:p>
        </p:txBody>
      </p:sp>
      <p:sp>
        <p:nvSpPr>
          <p:cNvPr id="12" name="">
            <a:extLst xmlns:a="http://schemas.openxmlformats.org/drawingml/2006/main">
              <a:ext uri="{FF2B5EF4-FFF2-40B4-BE49-F238E27FC236}">
                <a16:creationId xmlns:a16="http://schemas.microsoft.com/office/drawing/2014/main" id="{348428E3-AB64-49C5-8BE9-D0C500BBABE4}"/>
              </a:ext>
            </a:extLst>
          </p:cNvPr>
          <p:cNvSpPr>
            <a:spLocks xmlns:a="http://schemas.openxmlformats.org/drawingml/2006/main" noGrp="1"/>
          </p:cNvSpPr>
          <p:nvPr/>
        </p:nvSpPr>
        <p:spPr>
          <a:xfrm xmlns:a="http://schemas.openxmlformats.org/drawingml/2006/main">
            <a:off x="933450" y="2533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suggest_report_only</a:t>
            </a:r>
          </a:p>
        </p:txBody>
      </p:sp>
      <p:sp>
        <p:nvSpPr>
          <p:cNvPr id="13" name="">
            <a:extLst xmlns:a="http://schemas.openxmlformats.org/drawingml/2006/main">
              <a:ext uri="{FF2B5EF4-FFF2-40B4-BE49-F238E27FC236}">
                <a16:creationId xmlns:a16="http://schemas.microsoft.com/office/drawing/2014/main" id="{A1E5CE0E-9373-4BDD-978A-9E54F14CADAC}"/>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EE7F21-7317-4144-9AA6-4ABB90C2FF6D}"/>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693CDC-6BDD-44EC-A829-860237E1B874}"/>
              </a:ext>
            </a:extLst>
          </p:cNvPr>
          <p:cNvSpPr>
            <a:spLocks xmlns:a="http://schemas.openxmlformats.org/drawingml/2006/main" noGrp="1"/>
          </p:cNvSpPr>
          <p:nvPr/>
        </p:nvSpPr>
        <p:spPr>
          <a:xfrm xmlns:a="http://schemas.openxmlformats.org/drawingml/2006/main">
            <a:off x="5219700" y="251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1.000</a:t>
            </a:r>
          </a:p>
        </p:txBody>
      </p:sp>
      <p:sp>
        <p:nvSpPr>
          <p:cNvPr id="16" name="">
            <a:extLst xmlns:a="http://schemas.openxmlformats.org/drawingml/2006/main">
              <a:ext uri="{FF2B5EF4-FFF2-40B4-BE49-F238E27FC236}">
                <a16:creationId xmlns:a16="http://schemas.microsoft.com/office/drawing/2014/main" id="{96ABCE7D-7DD2-48F4-80E1-FF9212A05519}"/>
              </a:ext>
            </a:extLst>
          </p:cNvPr>
          <p:cNvSpPr>
            <a:spLocks xmlns:a="http://schemas.openxmlformats.org/drawingml/2006/main" noGrp="1"/>
          </p:cNvSpPr>
          <p:nvPr/>
        </p:nvSpPr>
        <p:spPr>
          <a:xfrm xmlns:a="http://schemas.openxmlformats.org/drawingml/2006/main">
            <a:off x="933450" y="3009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suppress_uncertain</a:t>
            </a:r>
          </a:p>
        </p:txBody>
      </p:sp>
      <p:sp>
        <p:nvSpPr>
          <p:cNvPr id="17" name="">
            <a:extLst xmlns:a="http://schemas.openxmlformats.org/drawingml/2006/main">
              <a:ext uri="{FF2B5EF4-FFF2-40B4-BE49-F238E27FC236}">
                <a16:creationId xmlns:a16="http://schemas.microsoft.com/office/drawing/2014/main" id="{FAB0677E-595D-4204-9644-D237114D0F0F}"/>
              </a:ext>
            </a:extLst>
          </p:cNvPr>
          <p:cNvSpPr>
            <a:spLocks xmlns:a="http://schemas.openxmlformats.org/drawingml/2006/main" noGrp="1"/>
          </p:cNvSpPr>
          <p:nvPr/>
        </p:nvSpPr>
        <p:spPr>
          <a:xfrm xmlns:a="http://schemas.openxmlformats.org/drawingml/2006/main">
            <a:off x="3028950" y="30480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560EBC8-DE08-44B3-A633-660B962355C2}"/>
              </a:ext>
            </a:extLst>
          </p:cNvPr>
          <p:cNvSpPr>
            <a:spLocks xmlns:a="http://schemas.openxmlformats.org/drawingml/2006/main" noGrp="1"/>
          </p:cNvSpPr>
          <p:nvPr/>
        </p:nvSpPr>
        <p:spPr>
          <a:xfrm xmlns:a="http://schemas.openxmlformats.org/drawingml/2006/main">
            <a:off x="3028950" y="3048000"/>
            <a:ext cx="191109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659F5A-36EB-425A-BA3C-F7CA2FA09C31}"/>
              </a:ext>
            </a:extLst>
          </p:cNvPr>
          <p:cNvSpPr>
            <a:spLocks xmlns:a="http://schemas.openxmlformats.org/drawingml/2006/main" noGrp="1"/>
          </p:cNvSpPr>
          <p:nvPr/>
        </p:nvSpPr>
        <p:spPr>
          <a:xfrm xmlns:a="http://schemas.openxmlformats.org/drawingml/2006/main">
            <a:off x="5219700" y="2990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0.912</a:t>
            </a:r>
          </a:p>
        </p:txBody>
      </p:sp>
      <p:sp>
        <p:nvSpPr>
          <p:cNvPr id="20" name="">
            <a:extLst xmlns:a="http://schemas.openxmlformats.org/drawingml/2006/main">
              <a:ext uri="{FF2B5EF4-FFF2-40B4-BE49-F238E27FC236}">
                <a16:creationId xmlns:a16="http://schemas.microsoft.com/office/drawing/2014/main" id="{FEFEEF02-77FA-45B9-BD95-C9E42E44E49F}"/>
              </a:ext>
            </a:extLst>
          </p:cNvPr>
          <p:cNvSpPr>
            <a:spLocks xmlns:a="http://schemas.openxmlformats.org/drawingml/2006/main" noGrp="1"/>
          </p:cNvSpPr>
          <p:nvPr/>
        </p:nvSpPr>
        <p:spPr>
          <a:xfrm xmlns:a="http://schemas.openxmlformats.org/drawingml/2006/main">
            <a:off x="933450" y="3486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boundary_do_not_suggest</a:t>
            </a:r>
          </a:p>
        </p:txBody>
      </p:sp>
      <p:sp>
        <p:nvSpPr>
          <p:cNvPr id="21" name="">
            <a:extLst xmlns:a="http://schemas.openxmlformats.org/drawingml/2006/main">
              <a:ext uri="{FF2B5EF4-FFF2-40B4-BE49-F238E27FC236}">
                <a16:creationId xmlns:a16="http://schemas.microsoft.com/office/drawing/2014/main" id="{08E2939E-F3A3-4D61-A75F-3BE1025FF737}"/>
              </a:ext>
            </a:extLst>
          </p:cNvPr>
          <p:cNvSpPr>
            <a:spLocks xmlns:a="http://schemas.openxmlformats.org/drawingml/2006/main" noGrp="1"/>
          </p:cNvSpPr>
          <p:nvPr/>
        </p:nvSpPr>
        <p:spPr>
          <a:xfrm xmlns:a="http://schemas.openxmlformats.org/drawingml/2006/main">
            <a:off x="3028950" y="35242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25B9D74-193B-4AF7-A43F-F793DA081294}"/>
              </a:ext>
            </a:extLst>
          </p:cNvPr>
          <p:cNvSpPr>
            <a:spLocks xmlns:a="http://schemas.openxmlformats.org/drawingml/2006/main" noGrp="1"/>
          </p:cNvSpPr>
          <p:nvPr/>
        </p:nvSpPr>
        <p:spPr>
          <a:xfrm xmlns:a="http://schemas.openxmlformats.org/drawingml/2006/main">
            <a:off x="3028950" y="3524250"/>
            <a:ext cx="1682687"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0155FA-0332-400B-AAF7-DF3DCF00CDCF}"/>
              </a:ext>
            </a:extLst>
          </p:cNvPr>
          <p:cNvSpPr>
            <a:spLocks xmlns:a="http://schemas.openxmlformats.org/drawingml/2006/main" noGrp="1"/>
          </p:cNvSpPr>
          <p:nvPr/>
        </p:nvSpPr>
        <p:spPr>
          <a:xfrm xmlns:a="http://schemas.openxmlformats.org/drawingml/2006/main">
            <a:off x="5219700" y="34671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655F73"/>
                </a:solidFill>
                <a:latin typeface="Aptos"/>
                <a:ea typeface="Aptos"/>
                <a:cs typeface="Aptos"/>
              </a:defRPr>
            </a:pPr>
            <a:r>
              <a:rPr sz="750" b="1">
                <a:solidFill>
                  <a:srgbClr val="655F73"/>
                </a:solidFill>
                <a:latin typeface="Aptos"/>
                <a:ea typeface="Aptos"/>
                <a:cs typeface="Aptos"/>
              </a:rPr>
              <a:t>0.803</a:t>
            </a:r>
          </a:p>
        </p:txBody>
      </p:sp>
      <p:sp>
        <p:nvSpPr>
          <p:cNvPr id="24" name="">
            <a:extLst xmlns:a="http://schemas.openxmlformats.org/drawingml/2006/main">
              <a:ext uri="{FF2B5EF4-FFF2-40B4-BE49-F238E27FC236}">
                <a16:creationId xmlns:a16="http://schemas.microsoft.com/office/drawing/2014/main" id="{A57DFFD2-5931-4602-85F6-D34D91A78685}"/>
              </a:ext>
            </a:extLst>
          </p:cNvPr>
          <p:cNvSpPr>
            <a:spLocks xmlns:a="http://schemas.openxmlformats.org/drawingml/2006/main" noGrp="1"/>
          </p:cNvSpPr>
          <p:nvPr/>
        </p:nvSpPr>
        <p:spPr>
          <a:xfrm xmlns:a="http://schemas.openxmlformats.org/drawingml/2006/main">
            <a:off x="933450" y="3962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risk_only</a:t>
            </a:r>
          </a:p>
        </p:txBody>
      </p:sp>
      <p:sp>
        <p:nvSpPr>
          <p:cNvPr id="25" name="">
            <a:extLst xmlns:a="http://schemas.openxmlformats.org/drawingml/2006/main">
              <a:ext uri="{FF2B5EF4-FFF2-40B4-BE49-F238E27FC236}">
                <a16:creationId xmlns:a16="http://schemas.microsoft.com/office/drawing/2014/main" id="{2D206700-35A4-4BCD-824E-56369C62E1D7}"/>
              </a:ext>
            </a:extLst>
          </p:cNvPr>
          <p:cNvSpPr>
            <a:spLocks xmlns:a="http://schemas.openxmlformats.org/drawingml/2006/main" noGrp="1"/>
          </p:cNvSpPr>
          <p:nvPr/>
        </p:nvSpPr>
        <p:spPr>
          <a:xfrm xmlns:a="http://schemas.openxmlformats.org/drawingml/2006/main">
            <a:off x="3028950" y="4000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98C0FE-84A7-4BEC-A0EB-B297A0356B4B}"/>
              </a:ext>
            </a:extLst>
          </p:cNvPr>
          <p:cNvSpPr>
            <a:spLocks xmlns:a="http://schemas.openxmlformats.org/drawingml/2006/main" noGrp="1"/>
          </p:cNvSpPr>
          <p:nvPr/>
        </p:nvSpPr>
        <p:spPr>
          <a:xfrm xmlns:a="http://schemas.openxmlformats.org/drawingml/2006/main">
            <a:off x="3028950" y="4000500"/>
            <a:ext cx="737616"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8D495FE-E5D8-4B46-8B0B-5F8CE2C4F32D}"/>
              </a:ext>
            </a:extLst>
          </p:cNvPr>
          <p:cNvSpPr>
            <a:spLocks xmlns:a="http://schemas.openxmlformats.org/drawingml/2006/main" noGrp="1"/>
          </p:cNvSpPr>
          <p:nvPr/>
        </p:nvSpPr>
        <p:spPr>
          <a:xfrm xmlns:a="http://schemas.openxmlformats.org/drawingml/2006/main">
            <a:off x="5219700" y="3943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0.352</a:t>
            </a:r>
          </a:p>
        </p:txBody>
      </p:sp>
      <p:sp>
        <p:nvSpPr>
          <p:cNvPr id="28" name="">
            <a:extLst xmlns:a="http://schemas.openxmlformats.org/drawingml/2006/main">
              <a:ext uri="{FF2B5EF4-FFF2-40B4-BE49-F238E27FC236}">
                <a16:creationId xmlns:a16="http://schemas.microsoft.com/office/drawing/2014/main" id="{BB14986E-3D44-43AF-8FCB-30F00E7CFD09}"/>
              </a:ext>
            </a:extLst>
          </p:cNvPr>
          <p:cNvSpPr>
            <a:spLocks xmlns:a="http://schemas.openxmlformats.org/drawingml/2006/main" noGrp="1"/>
          </p:cNvSpPr>
          <p:nvPr/>
        </p:nvSpPr>
        <p:spPr>
          <a:xfrm xmlns:a="http://schemas.openxmlformats.org/drawingml/2006/main">
            <a:off x="93345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2D1DB920-0DD0-4FE2-8DED-6ABFC0772177}"/>
              </a:ext>
            </a:extLst>
          </p:cNvPr>
          <p:cNvSpPr>
            <a:spLocks xmlns:a="http://schemas.openxmlformats.org/drawingml/2006/main" noGrp="1"/>
          </p:cNvSpPr>
          <p:nvPr/>
        </p:nvSpPr>
        <p:spPr>
          <a:xfrm xmlns:a="http://schemas.openxmlformats.org/drawingml/2006/main">
            <a:off x="3028950" y="4476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5FECBBF-73F3-4287-B7CE-C806C578D023}"/>
              </a:ext>
            </a:extLst>
          </p:cNvPr>
          <p:cNvSpPr>
            <a:spLocks xmlns:a="http://schemas.openxmlformats.org/drawingml/2006/main" noGrp="1"/>
          </p:cNvSpPr>
          <p:nvPr/>
        </p:nvSpPr>
        <p:spPr>
          <a:xfrm xmlns:a="http://schemas.openxmlformats.org/drawingml/2006/main">
            <a:off x="3028950" y="4476750"/>
            <a:ext cx="3750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BEBA1D5-1696-43D0-9862-6220372AE4BF}"/>
              </a:ext>
            </a:extLst>
          </p:cNvPr>
          <p:cNvSpPr>
            <a:spLocks xmlns:a="http://schemas.openxmlformats.org/drawingml/2006/main" noGrp="1"/>
          </p:cNvSpPr>
          <p:nvPr/>
        </p:nvSpPr>
        <p:spPr>
          <a:xfrm xmlns:a="http://schemas.openxmlformats.org/drawingml/2006/main">
            <a:off x="5219700" y="4419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A65C55"/>
                </a:solidFill>
                <a:latin typeface="Aptos"/>
                <a:ea typeface="Aptos"/>
                <a:cs typeface="Aptos"/>
              </a:defRPr>
            </a:pPr>
            <a:r>
              <a:rPr sz="750" b="1">
                <a:solidFill>
                  <a:srgbClr val="A65C55"/>
                </a:solidFill>
                <a:latin typeface="Aptos"/>
                <a:ea typeface="Aptos"/>
                <a:cs typeface="Aptos"/>
              </a:rPr>
              <a:t>0.179</a:t>
            </a:r>
          </a:p>
        </p:txBody>
      </p:sp>
      <p:sp>
        <p:nvSpPr>
          <p:cNvPr id="32" name="">
            <a:extLst xmlns:a="http://schemas.openxmlformats.org/drawingml/2006/main">
              <a:ext uri="{FF2B5EF4-FFF2-40B4-BE49-F238E27FC236}">
                <a16:creationId xmlns:a16="http://schemas.microsoft.com/office/drawing/2014/main" id="{CEA2A655-C978-4C51-945E-08484BE5F316}"/>
              </a:ext>
            </a:extLst>
          </p:cNvPr>
          <p:cNvSpPr>
            <a:spLocks xmlns:a="http://schemas.openxmlformats.org/drawingml/2006/main" noGrp="1"/>
          </p:cNvSpPr>
          <p:nvPr/>
        </p:nvSpPr>
        <p:spPr>
          <a:xfrm xmlns:a="http://schemas.openxmlformats.org/drawingml/2006/main">
            <a:off x="6191250" y="1390650"/>
            <a:ext cx="531495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CFFBC31B-52C2-4E4D-99AD-46696D127149}"/>
              </a:ext>
            </a:extLst>
          </p:cNvPr>
          <p:cNvSpPr>
            <a:spLocks xmlns:a="http://schemas.openxmlformats.org/drawingml/2006/main" noGrp="1"/>
          </p:cNvSpPr>
          <p:nvPr/>
        </p:nvSpPr>
        <p:spPr>
          <a:xfrm xmlns:a="http://schemas.openxmlformats.org/drawingml/2006/main">
            <a:off x="641985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ABLATION MACRO-F1</a:t>
            </a:r>
          </a:p>
        </p:txBody>
      </p:sp>
      <p:sp>
        <p:nvSpPr>
          <p:cNvPr id="34" name="">
            <a:extLst xmlns:a="http://schemas.openxmlformats.org/drawingml/2006/main">
              <a:ext uri="{FF2B5EF4-FFF2-40B4-BE49-F238E27FC236}">
                <a16:creationId xmlns:a16="http://schemas.microsoft.com/office/drawing/2014/main" id="{C3BB7AEF-A496-4F42-8FC7-6AA8043E2DC1}"/>
              </a:ext>
            </a:extLst>
          </p:cNvPr>
          <p:cNvSpPr>
            <a:spLocks xmlns:a="http://schemas.openxmlformats.org/drawingml/2006/main" noGrp="1"/>
          </p:cNvSpPr>
          <p:nvPr/>
        </p:nvSpPr>
        <p:spPr>
          <a:xfrm xmlns:a="http://schemas.openxmlformats.org/drawingml/2006/main">
            <a:off x="6419850" y="2057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all features</a:t>
            </a:r>
          </a:p>
        </p:txBody>
      </p:sp>
      <p:sp>
        <p:nvSpPr>
          <p:cNvPr id="35" name="">
            <a:extLst xmlns:a="http://schemas.openxmlformats.org/drawingml/2006/main">
              <a:ext uri="{FF2B5EF4-FFF2-40B4-BE49-F238E27FC236}">
                <a16:creationId xmlns:a16="http://schemas.microsoft.com/office/drawing/2014/main" id="{77313F94-B364-4C38-BCF4-D65E16218639}"/>
              </a:ext>
            </a:extLst>
          </p:cNvPr>
          <p:cNvSpPr>
            <a:spLocks xmlns:a="http://schemas.openxmlformats.org/drawingml/2006/main" noGrp="1"/>
          </p:cNvSpPr>
          <p:nvPr/>
        </p:nvSpPr>
        <p:spPr>
          <a:xfrm xmlns:a="http://schemas.openxmlformats.org/drawingml/2006/main">
            <a:off x="8191500" y="2095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9823B69-32B5-48E0-B13A-887C0938A7BF}"/>
              </a:ext>
            </a:extLst>
          </p:cNvPr>
          <p:cNvSpPr>
            <a:spLocks xmlns:a="http://schemas.openxmlformats.org/drawingml/2006/main" noGrp="1"/>
          </p:cNvSpPr>
          <p:nvPr/>
        </p:nvSpPr>
        <p:spPr>
          <a:xfrm xmlns:a="http://schemas.openxmlformats.org/drawingml/2006/main">
            <a:off x="8191500" y="2095500"/>
            <a:ext cx="1685925"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D6C50F7-062F-4F73-B57C-67247DEEE20E}"/>
              </a:ext>
            </a:extLst>
          </p:cNvPr>
          <p:cNvSpPr>
            <a:spLocks xmlns:a="http://schemas.openxmlformats.org/drawingml/2006/main" noGrp="1"/>
          </p:cNvSpPr>
          <p:nvPr/>
        </p:nvSpPr>
        <p:spPr>
          <a:xfrm xmlns:a="http://schemas.openxmlformats.org/drawingml/2006/main">
            <a:off x="10668000" y="2038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0.708</a:t>
            </a:r>
          </a:p>
        </p:txBody>
      </p:sp>
      <p:sp>
        <p:nvSpPr>
          <p:cNvPr id="38" name="">
            <a:extLst xmlns:a="http://schemas.openxmlformats.org/drawingml/2006/main">
              <a:ext uri="{FF2B5EF4-FFF2-40B4-BE49-F238E27FC236}">
                <a16:creationId xmlns:a16="http://schemas.microsoft.com/office/drawing/2014/main" id="{79A4444D-8F7F-43E1-94B5-A5C44C435139}"/>
              </a:ext>
            </a:extLst>
          </p:cNvPr>
          <p:cNvSpPr>
            <a:spLocks xmlns:a="http://schemas.openxmlformats.org/drawingml/2006/main" noGrp="1"/>
          </p:cNvSpPr>
          <p:nvPr/>
        </p:nvSpPr>
        <p:spPr>
          <a:xfrm xmlns:a="http://schemas.openxmlformats.org/drawingml/2006/main">
            <a:off x="6419850" y="2533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no overlap counts</a:t>
            </a:r>
          </a:p>
        </p:txBody>
      </p:sp>
      <p:sp>
        <p:nvSpPr>
          <p:cNvPr id="39" name="">
            <a:extLst xmlns:a="http://schemas.openxmlformats.org/drawingml/2006/main">
              <a:ext uri="{FF2B5EF4-FFF2-40B4-BE49-F238E27FC236}">
                <a16:creationId xmlns:a16="http://schemas.microsoft.com/office/drawing/2014/main" id="{2A54183C-AF27-45A1-A830-437F707ACC22}"/>
              </a:ext>
            </a:extLst>
          </p:cNvPr>
          <p:cNvSpPr>
            <a:spLocks xmlns:a="http://schemas.openxmlformats.org/drawingml/2006/main" noGrp="1"/>
          </p:cNvSpPr>
          <p:nvPr/>
        </p:nvSpPr>
        <p:spPr>
          <a:xfrm xmlns:a="http://schemas.openxmlformats.org/drawingml/2006/main">
            <a:off x="8191500" y="2571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10F6BDD-ABC4-42E1-8F9C-A4B9EEF08CF4}"/>
              </a:ext>
            </a:extLst>
          </p:cNvPr>
          <p:cNvSpPr>
            <a:spLocks xmlns:a="http://schemas.openxmlformats.org/drawingml/2006/main" noGrp="1"/>
          </p:cNvSpPr>
          <p:nvPr/>
        </p:nvSpPr>
        <p:spPr>
          <a:xfrm xmlns:a="http://schemas.openxmlformats.org/drawingml/2006/main">
            <a:off x="8191500" y="2571750"/>
            <a:ext cx="1690688"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EA85BD6-344C-4A5A-B06A-CA053DE618CD}"/>
              </a:ext>
            </a:extLst>
          </p:cNvPr>
          <p:cNvSpPr>
            <a:spLocks xmlns:a="http://schemas.openxmlformats.org/drawingml/2006/main" noGrp="1"/>
          </p:cNvSpPr>
          <p:nvPr/>
        </p:nvSpPr>
        <p:spPr>
          <a:xfrm xmlns:a="http://schemas.openxmlformats.org/drawingml/2006/main">
            <a:off x="10668000" y="2514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0.710</a:t>
            </a:r>
          </a:p>
        </p:txBody>
      </p:sp>
      <p:sp>
        <p:nvSpPr>
          <p:cNvPr id="42" name="">
            <a:extLst xmlns:a="http://schemas.openxmlformats.org/drawingml/2006/main">
              <a:ext uri="{FF2B5EF4-FFF2-40B4-BE49-F238E27FC236}">
                <a16:creationId xmlns:a16="http://schemas.microsoft.com/office/drawing/2014/main" id="{D6D35D31-63E1-4A24-8BF1-969256511619}"/>
              </a:ext>
            </a:extLst>
          </p:cNvPr>
          <p:cNvSpPr>
            <a:spLocks xmlns:a="http://schemas.openxmlformats.org/drawingml/2006/main" noGrp="1"/>
          </p:cNvSpPr>
          <p:nvPr/>
        </p:nvSpPr>
        <p:spPr>
          <a:xfrm xmlns:a="http://schemas.openxmlformats.org/drawingml/2006/main">
            <a:off x="6419850" y="3009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no context flags</a:t>
            </a:r>
          </a:p>
        </p:txBody>
      </p:sp>
      <p:sp>
        <p:nvSpPr>
          <p:cNvPr id="43" name="">
            <a:extLst xmlns:a="http://schemas.openxmlformats.org/drawingml/2006/main">
              <a:ext uri="{FF2B5EF4-FFF2-40B4-BE49-F238E27FC236}">
                <a16:creationId xmlns:a16="http://schemas.microsoft.com/office/drawing/2014/main" id="{DD2EC499-4533-40D0-9735-E61C1B587C90}"/>
              </a:ext>
            </a:extLst>
          </p:cNvPr>
          <p:cNvSpPr>
            <a:spLocks xmlns:a="http://schemas.openxmlformats.org/drawingml/2006/main" noGrp="1"/>
          </p:cNvSpPr>
          <p:nvPr/>
        </p:nvSpPr>
        <p:spPr>
          <a:xfrm xmlns:a="http://schemas.openxmlformats.org/drawingml/2006/main">
            <a:off x="8191500" y="30480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110F186-3B9E-494B-A9A6-0B3D198BCF62}"/>
              </a:ext>
            </a:extLst>
          </p:cNvPr>
          <p:cNvSpPr>
            <a:spLocks xmlns:a="http://schemas.openxmlformats.org/drawingml/2006/main" noGrp="1"/>
          </p:cNvSpPr>
          <p:nvPr/>
        </p:nvSpPr>
        <p:spPr>
          <a:xfrm xmlns:a="http://schemas.openxmlformats.org/drawingml/2006/main">
            <a:off x="8191500" y="3048000"/>
            <a:ext cx="1343025"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D56BF63-E9ED-47FF-BBB9-8B47AF71F56C}"/>
              </a:ext>
            </a:extLst>
          </p:cNvPr>
          <p:cNvSpPr>
            <a:spLocks xmlns:a="http://schemas.openxmlformats.org/drawingml/2006/main" noGrp="1"/>
          </p:cNvSpPr>
          <p:nvPr/>
        </p:nvSpPr>
        <p:spPr>
          <a:xfrm xmlns:a="http://schemas.openxmlformats.org/drawingml/2006/main">
            <a:off x="10668000" y="2990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0.564</a:t>
            </a:r>
          </a:p>
        </p:txBody>
      </p:sp>
      <p:sp>
        <p:nvSpPr>
          <p:cNvPr id="46" name="">
            <a:extLst xmlns:a="http://schemas.openxmlformats.org/drawingml/2006/main">
              <a:ext uri="{FF2B5EF4-FFF2-40B4-BE49-F238E27FC236}">
                <a16:creationId xmlns:a16="http://schemas.microsoft.com/office/drawing/2014/main" id="{BCC860D3-EEF1-4182-A02A-EEB0A1DEDF2B}"/>
              </a:ext>
            </a:extLst>
          </p:cNvPr>
          <p:cNvSpPr>
            <a:spLocks xmlns:a="http://schemas.openxmlformats.org/drawingml/2006/main" noGrp="1"/>
          </p:cNvSpPr>
          <p:nvPr/>
        </p:nvSpPr>
        <p:spPr>
          <a:xfrm xmlns:a="http://schemas.openxmlformats.org/drawingml/2006/main">
            <a:off x="6419850" y="3486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scores only</a:t>
            </a:r>
          </a:p>
        </p:txBody>
      </p:sp>
      <p:sp>
        <p:nvSpPr>
          <p:cNvPr id="47" name="">
            <a:extLst xmlns:a="http://schemas.openxmlformats.org/drawingml/2006/main">
              <a:ext uri="{FF2B5EF4-FFF2-40B4-BE49-F238E27FC236}">
                <a16:creationId xmlns:a16="http://schemas.microsoft.com/office/drawing/2014/main" id="{1CE4E2D2-583D-4E23-B514-38C0087430CA}"/>
              </a:ext>
            </a:extLst>
          </p:cNvPr>
          <p:cNvSpPr>
            <a:spLocks xmlns:a="http://schemas.openxmlformats.org/drawingml/2006/main" noGrp="1"/>
          </p:cNvSpPr>
          <p:nvPr/>
        </p:nvSpPr>
        <p:spPr>
          <a:xfrm xmlns:a="http://schemas.openxmlformats.org/drawingml/2006/main">
            <a:off x="8191500" y="35242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537426A-C171-4597-AD85-8E21F80C04E4}"/>
              </a:ext>
            </a:extLst>
          </p:cNvPr>
          <p:cNvSpPr>
            <a:spLocks xmlns:a="http://schemas.openxmlformats.org/drawingml/2006/main" noGrp="1"/>
          </p:cNvSpPr>
          <p:nvPr/>
        </p:nvSpPr>
        <p:spPr>
          <a:xfrm xmlns:a="http://schemas.openxmlformats.org/drawingml/2006/main">
            <a:off x="8191500" y="3524250"/>
            <a:ext cx="1328738"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D881EB2-0ADC-43B2-B40E-91CCDDA96541}"/>
              </a:ext>
            </a:extLst>
          </p:cNvPr>
          <p:cNvSpPr>
            <a:spLocks xmlns:a="http://schemas.openxmlformats.org/drawingml/2006/main" noGrp="1"/>
          </p:cNvSpPr>
          <p:nvPr/>
        </p:nvSpPr>
        <p:spPr>
          <a:xfrm xmlns:a="http://schemas.openxmlformats.org/drawingml/2006/main">
            <a:off x="10668000" y="34671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655F73"/>
                </a:solidFill>
                <a:latin typeface="Aptos"/>
                <a:ea typeface="Aptos"/>
                <a:cs typeface="Aptos"/>
              </a:defRPr>
            </a:pPr>
            <a:r>
              <a:rPr sz="750" b="1">
                <a:solidFill>
                  <a:srgbClr val="655F73"/>
                </a:solidFill>
                <a:latin typeface="Aptos"/>
                <a:ea typeface="Aptos"/>
                <a:cs typeface="Aptos"/>
              </a:rPr>
              <a:t>0.558</a:t>
            </a:r>
          </a:p>
        </p:txBody>
      </p:sp>
      <p:sp>
        <p:nvSpPr>
          <p:cNvPr id="50" name="">
            <a:extLst xmlns:a="http://schemas.openxmlformats.org/drawingml/2006/main">
              <a:ext uri="{FF2B5EF4-FFF2-40B4-BE49-F238E27FC236}">
                <a16:creationId xmlns:a16="http://schemas.microsoft.com/office/drawing/2014/main" id="{A70E4AEE-B0BB-45D2-9908-0B4EA0B79A7A}"/>
              </a:ext>
            </a:extLst>
          </p:cNvPr>
          <p:cNvSpPr>
            <a:spLocks xmlns:a="http://schemas.openxmlformats.org/drawingml/2006/main" noGrp="1"/>
          </p:cNvSpPr>
          <p:nvPr/>
        </p:nvSpPr>
        <p:spPr>
          <a:xfrm xmlns:a="http://schemas.openxmlformats.org/drawingml/2006/main">
            <a:off x="6419850" y="3962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overlap counts only</a:t>
            </a:r>
          </a:p>
        </p:txBody>
      </p:sp>
      <p:sp>
        <p:nvSpPr>
          <p:cNvPr id="51" name="">
            <a:extLst xmlns:a="http://schemas.openxmlformats.org/drawingml/2006/main">
              <a:ext uri="{FF2B5EF4-FFF2-40B4-BE49-F238E27FC236}">
                <a16:creationId xmlns:a16="http://schemas.microsoft.com/office/drawing/2014/main" id="{EE77EEBF-498F-4555-9A5B-A1EF96D1448B}"/>
              </a:ext>
            </a:extLst>
          </p:cNvPr>
          <p:cNvSpPr>
            <a:spLocks xmlns:a="http://schemas.openxmlformats.org/drawingml/2006/main" noGrp="1"/>
          </p:cNvSpPr>
          <p:nvPr/>
        </p:nvSpPr>
        <p:spPr>
          <a:xfrm xmlns:a="http://schemas.openxmlformats.org/drawingml/2006/main">
            <a:off x="8191500" y="4000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02E56F3-21AD-40A5-928C-8881BE6422A0}"/>
              </a:ext>
            </a:extLst>
          </p:cNvPr>
          <p:cNvSpPr>
            <a:spLocks xmlns:a="http://schemas.openxmlformats.org/drawingml/2006/main" noGrp="1"/>
          </p:cNvSpPr>
          <p:nvPr/>
        </p:nvSpPr>
        <p:spPr>
          <a:xfrm xmlns:a="http://schemas.openxmlformats.org/drawingml/2006/main">
            <a:off x="8191500" y="4000500"/>
            <a:ext cx="419100"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16BC487-B31F-4D11-9D8D-FD1880E0DABB}"/>
              </a:ext>
            </a:extLst>
          </p:cNvPr>
          <p:cNvSpPr>
            <a:spLocks xmlns:a="http://schemas.openxmlformats.org/drawingml/2006/main" noGrp="1"/>
          </p:cNvSpPr>
          <p:nvPr/>
        </p:nvSpPr>
        <p:spPr>
          <a:xfrm xmlns:a="http://schemas.openxmlformats.org/drawingml/2006/main">
            <a:off x="10668000" y="3943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A65C55"/>
                </a:solidFill>
                <a:latin typeface="Aptos"/>
                <a:ea typeface="Aptos"/>
                <a:cs typeface="Aptos"/>
              </a:defRPr>
            </a:pPr>
            <a:r>
              <a:rPr sz="750" b="1">
                <a:solidFill>
                  <a:srgbClr val="A65C55"/>
                </a:solidFill>
                <a:latin typeface="Aptos"/>
                <a:ea typeface="Aptos"/>
                <a:cs typeface="Aptos"/>
              </a:rPr>
              <a:t>0.176</a:t>
            </a:r>
          </a:p>
        </p:txBody>
      </p:sp>
      <p:sp>
        <p:nvSpPr>
          <p:cNvPr id="54" name="">
            <a:extLst xmlns:a="http://schemas.openxmlformats.org/drawingml/2006/main">
              <a:ext uri="{FF2B5EF4-FFF2-40B4-BE49-F238E27FC236}">
                <a16:creationId xmlns:a16="http://schemas.microsoft.com/office/drawing/2014/main" id="{51D50FE0-BBDF-48A6-A256-2C2BF02C5020}"/>
              </a:ext>
            </a:extLst>
          </p:cNvPr>
          <p:cNvSpPr>
            <a:spLocks xmlns:a="http://schemas.openxmlformats.org/drawingml/2006/main" noGrp="1"/>
          </p:cNvSpPr>
          <p:nvPr/>
        </p:nvSpPr>
        <p:spPr>
          <a:xfrm xmlns:a="http://schemas.openxmlformats.org/drawingml/2006/main">
            <a:off x="6419850" y="4438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context flags only</a:t>
            </a:r>
          </a:p>
        </p:txBody>
      </p:sp>
      <p:sp>
        <p:nvSpPr>
          <p:cNvPr id="55" name="">
            <a:extLst xmlns:a="http://schemas.openxmlformats.org/drawingml/2006/main">
              <a:ext uri="{FF2B5EF4-FFF2-40B4-BE49-F238E27FC236}">
                <a16:creationId xmlns:a16="http://schemas.microsoft.com/office/drawing/2014/main" id="{6CC832E8-D8C5-4138-B250-7F24CA49BC16}"/>
              </a:ext>
            </a:extLst>
          </p:cNvPr>
          <p:cNvSpPr>
            <a:spLocks xmlns:a="http://schemas.openxmlformats.org/drawingml/2006/main" noGrp="1"/>
          </p:cNvSpPr>
          <p:nvPr/>
        </p:nvSpPr>
        <p:spPr>
          <a:xfrm xmlns:a="http://schemas.openxmlformats.org/drawingml/2006/main">
            <a:off x="8191500" y="4476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64E2B6D-DED0-47C0-89B3-BAFF105BF610}"/>
              </a:ext>
            </a:extLst>
          </p:cNvPr>
          <p:cNvSpPr>
            <a:spLocks xmlns:a="http://schemas.openxmlformats.org/drawingml/2006/main" noGrp="1"/>
          </p:cNvSpPr>
          <p:nvPr/>
        </p:nvSpPr>
        <p:spPr>
          <a:xfrm xmlns:a="http://schemas.openxmlformats.org/drawingml/2006/main">
            <a:off x="8191500" y="4476750"/>
            <a:ext cx="385763"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E13CC1D7-EFB0-4EA7-B114-52B6E9A8D3C9}"/>
              </a:ext>
            </a:extLst>
          </p:cNvPr>
          <p:cNvSpPr>
            <a:spLocks xmlns:a="http://schemas.openxmlformats.org/drawingml/2006/main" noGrp="1"/>
          </p:cNvSpPr>
          <p:nvPr/>
        </p:nvSpPr>
        <p:spPr>
          <a:xfrm xmlns:a="http://schemas.openxmlformats.org/drawingml/2006/main">
            <a:off x="10668000" y="4419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A65C55"/>
                </a:solidFill>
                <a:latin typeface="Aptos"/>
                <a:ea typeface="Aptos"/>
                <a:cs typeface="Aptos"/>
              </a:defRPr>
            </a:pPr>
            <a:r>
              <a:rPr sz="750" b="1">
                <a:solidFill>
                  <a:srgbClr val="A65C55"/>
                </a:solidFill>
                <a:latin typeface="Aptos"/>
                <a:ea typeface="Aptos"/>
                <a:cs typeface="Aptos"/>
              </a:rPr>
              <a:t>0.162</a:t>
            </a:r>
          </a:p>
        </p:txBody>
      </p:sp>
      <p:sp>
        <p:nvSpPr>
          <p:cNvPr id="58" name="">
            <a:extLst xmlns:a="http://schemas.openxmlformats.org/drawingml/2006/main">
              <a:ext uri="{FF2B5EF4-FFF2-40B4-BE49-F238E27FC236}">
                <a16:creationId xmlns:a16="http://schemas.microsoft.com/office/drawing/2014/main" id="{A47A775D-5F7C-4B70-9132-17B1F18D3707}"/>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1A51929-FAAC-4EC3-84BA-E5C07B093F19}"/>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Metrics: data/results/experiments/ai-r8-assistant/metrics.json</a:t>
            </a:r>
          </a:p>
        </p:txBody>
      </p:sp>
      <p:sp>
        <p:nvSpPr>
          <p:cNvPr id="60" name="">
            <a:extLst xmlns:a="http://schemas.openxmlformats.org/drawingml/2006/main">
              <a:ext uri="{FF2B5EF4-FFF2-40B4-BE49-F238E27FC236}">
                <a16:creationId xmlns:a16="http://schemas.microsoft.com/office/drawing/2014/main" id="{EA390933-D712-4ECA-9B3A-8B77408A9AD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71895969"/>
      </p:ext>
    </p:extLst>
  </p:cSld>
</p:sld>
</file>

<file path=ppt/slides/slide3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F311C6-F461-4965-80B9-99E16D7833C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BACKUP 8</a:t>
            </a:r>
          </a:p>
        </p:txBody>
      </p:sp>
      <p:sp>
        <p:nvSpPr>
          <p:cNvPr id="2" name="">
            <a:extLst xmlns:a="http://schemas.openxmlformats.org/drawingml/2006/main">
              <a:ext uri="{FF2B5EF4-FFF2-40B4-BE49-F238E27FC236}">
                <a16:creationId xmlns:a16="http://schemas.microsoft.com/office/drawing/2014/main" id="{9166668D-9C34-46C4-AEA1-C936538AB5D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Transformer corpus, split, and per-class results</a:t>
            </a:r>
          </a:p>
        </p:txBody>
      </p:sp>
      <p:sp>
        <p:nvSpPr>
          <p:cNvPr id="3" name="">
            <a:extLst xmlns:a="http://schemas.openxmlformats.org/drawingml/2006/main">
              <a:ext uri="{FF2B5EF4-FFF2-40B4-BE49-F238E27FC236}">
                <a16:creationId xmlns:a16="http://schemas.microsoft.com/office/drawing/2014/main" id="{761282DF-00E1-4DF8-A785-310093744C9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276F7A41-60F0-4201-AAE6-66544F9EE55F}"/>
              </a:ext>
            </a:extLst>
          </p:cNvPr>
          <p:cNvSpPr>
            <a:spLocks xmlns:a="http://schemas.openxmlformats.org/drawingml/2006/main" noGrp="1"/>
          </p:cNvSpPr>
          <p:nvPr/>
        </p:nvSpPr>
        <p:spPr>
          <a:xfrm xmlns:a="http://schemas.openxmlformats.org/drawingml/2006/main">
            <a:off x="68580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1998B933-C27A-4A89-942E-14511E21B6FD}"/>
              </a:ext>
            </a:extLst>
          </p:cNvPr>
          <p:cNvSpPr>
            <a:spLocks xmlns:a="http://schemas.openxmlformats.org/drawingml/2006/main" noGrp="1"/>
          </p:cNvSpPr>
          <p:nvPr/>
        </p:nvSpPr>
        <p:spPr>
          <a:xfrm xmlns:a="http://schemas.openxmlformats.org/drawingml/2006/main">
            <a:off x="8191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655F73"/>
                </a:solidFill>
                <a:latin typeface="Aptos Display"/>
                <a:ea typeface="Aptos Display"/>
                <a:cs typeface="Aptos Display"/>
              </a:defRPr>
            </a:pPr>
            <a:r>
              <a:rPr sz="2700" b="1">
                <a:solidFill>
                  <a:srgbClr val="655F73"/>
                </a:solidFill>
                <a:latin typeface="Aptos Display"/>
                <a:ea typeface="Aptos Display"/>
                <a:cs typeface="Aptos Display"/>
              </a:rPr>
              <a:t>20,523</a:t>
            </a:r>
          </a:p>
        </p:txBody>
      </p:sp>
      <p:sp>
        <p:nvSpPr>
          <p:cNvPr id="6" name="">
            <a:extLst xmlns:a="http://schemas.openxmlformats.org/drawingml/2006/main">
              <a:ext uri="{FF2B5EF4-FFF2-40B4-BE49-F238E27FC236}">
                <a16:creationId xmlns:a16="http://schemas.microsoft.com/office/drawing/2014/main" id="{E64BA399-CA62-4D68-86AF-1462C54DD823}"/>
              </a:ext>
            </a:extLst>
          </p:cNvPr>
          <p:cNvSpPr>
            <a:spLocks xmlns:a="http://schemas.openxmlformats.org/drawingml/2006/main" noGrp="1"/>
          </p:cNvSpPr>
          <p:nvPr/>
        </p:nvSpPr>
        <p:spPr>
          <a:xfrm xmlns:a="http://schemas.openxmlformats.org/drawingml/2006/main">
            <a:off x="8191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MVP-safe structured rows</a:t>
            </a:r>
          </a:p>
        </p:txBody>
      </p:sp>
      <p:sp>
        <p:nvSpPr>
          <p:cNvPr id="7" name="">
            <a:extLst xmlns:a="http://schemas.openxmlformats.org/drawingml/2006/main">
              <a:ext uri="{FF2B5EF4-FFF2-40B4-BE49-F238E27FC236}">
                <a16:creationId xmlns:a16="http://schemas.microsoft.com/office/drawing/2014/main" id="{37130EAB-652C-4B0B-B315-0CABEF7E6C8B}"/>
              </a:ext>
            </a:extLst>
          </p:cNvPr>
          <p:cNvSpPr>
            <a:spLocks xmlns:a="http://schemas.openxmlformats.org/drawingml/2006/main" noGrp="1"/>
          </p:cNvSpPr>
          <p:nvPr/>
        </p:nvSpPr>
        <p:spPr>
          <a:xfrm xmlns:a="http://schemas.openxmlformats.org/drawingml/2006/main">
            <a:off x="325755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DC6CF1ED-BF1F-4A38-B315-D827C6DC41DD}"/>
              </a:ext>
            </a:extLst>
          </p:cNvPr>
          <p:cNvSpPr>
            <a:spLocks xmlns:a="http://schemas.openxmlformats.org/drawingml/2006/main" noGrp="1"/>
          </p:cNvSpPr>
          <p:nvPr/>
        </p:nvSpPr>
        <p:spPr>
          <a:xfrm xmlns:a="http://schemas.openxmlformats.org/drawingml/2006/main">
            <a:off x="33909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365F7D"/>
                </a:solidFill>
                <a:latin typeface="Aptos Display"/>
                <a:ea typeface="Aptos Display"/>
                <a:cs typeface="Aptos Display"/>
              </a:defRPr>
            </a:pPr>
            <a:r>
              <a:rPr sz="2700" b="1">
                <a:solidFill>
                  <a:srgbClr val="365F7D"/>
                </a:solidFill>
                <a:latin typeface="Aptos Display"/>
                <a:ea typeface="Aptos Display"/>
                <a:cs typeface="Aptos Display"/>
              </a:rPr>
              <a:t>1,704</a:t>
            </a:r>
          </a:p>
        </p:txBody>
      </p:sp>
      <p:sp>
        <p:nvSpPr>
          <p:cNvPr id="9" name="">
            <a:extLst xmlns:a="http://schemas.openxmlformats.org/drawingml/2006/main">
              <a:ext uri="{FF2B5EF4-FFF2-40B4-BE49-F238E27FC236}">
                <a16:creationId xmlns:a16="http://schemas.microsoft.com/office/drawing/2014/main" id="{0563809D-8257-47AA-8586-F9306161ABB0}"/>
              </a:ext>
            </a:extLst>
          </p:cNvPr>
          <p:cNvSpPr>
            <a:spLocks xmlns:a="http://schemas.openxmlformats.org/drawingml/2006/main" noGrp="1"/>
          </p:cNvSpPr>
          <p:nvPr/>
        </p:nvSpPr>
        <p:spPr>
          <a:xfrm xmlns:a="http://schemas.openxmlformats.org/drawingml/2006/main">
            <a:off x="33909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structured-token vocabulary</a:t>
            </a:r>
          </a:p>
        </p:txBody>
      </p:sp>
      <p:sp>
        <p:nvSpPr>
          <p:cNvPr id="10" name="">
            <a:extLst xmlns:a="http://schemas.openxmlformats.org/drawingml/2006/main">
              <a:ext uri="{FF2B5EF4-FFF2-40B4-BE49-F238E27FC236}">
                <a16:creationId xmlns:a16="http://schemas.microsoft.com/office/drawing/2014/main" id="{4F564517-E279-4EC3-97AC-DF659B73C0F3}"/>
              </a:ext>
            </a:extLst>
          </p:cNvPr>
          <p:cNvSpPr>
            <a:spLocks xmlns:a="http://schemas.openxmlformats.org/drawingml/2006/main" noGrp="1"/>
          </p:cNvSpPr>
          <p:nvPr/>
        </p:nvSpPr>
        <p:spPr>
          <a:xfrm xmlns:a="http://schemas.openxmlformats.org/drawingml/2006/main">
            <a:off x="582930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1" name="">
            <a:extLst xmlns:a="http://schemas.openxmlformats.org/drawingml/2006/main">
              <a:ext uri="{FF2B5EF4-FFF2-40B4-BE49-F238E27FC236}">
                <a16:creationId xmlns:a16="http://schemas.microsoft.com/office/drawing/2014/main" id="{AAA1DD91-CDF0-4A2E-B484-D0C12F7261F4}"/>
              </a:ext>
            </a:extLst>
          </p:cNvPr>
          <p:cNvSpPr>
            <a:spLocks xmlns:a="http://schemas.openxmlformats.org/drawingml/2006/main" noGrp="1"/>
          </p:cNvSpPr>
          <p:nvPr/>
        </p:nvSpPr>
        <p:spPr>
          <a:xfrm xmlns:a="http://schemas.openxmlformats.org/drawingml/2006/main">
            <a:off x="59626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A65C55"/>
                </a:solidFill>
                <a:latin typeface="Aptos Display"/>
                <a:ea typeface="Aptos Display"/>
                <a:cs typeface="Aptos Display"/>
              </a:defRPr>
            </a:pPr>
            <a:r>
              <a:rPr sz="2700" b="1">
                <a:solidFill>
                  <a:srgbClr val="A65C55"/>
                </a:solidFill>
                <a:latin typeface="Aptos Display"/>
                <a:ea typeface="Aptos Display"/>
                <a:cs typeface="Aptos Display"/>
              </a:rPr>
              <a:t>1,680</a:t>
            </a:r>
          </a:p>
        </p:txBody>
      </p:sp>
      <p:sp>
        <p:nvSpPr>
          <p:cNvPr id="12" name="">
            <a:extLst xmlns:a="http://schemas.openxmlformats.org/drawingml/2006/main">
              <a:ext uri="{FF2B5EF4-FFF2-40B4-BE49-F238E27FC236}">
                <a16:creationId xmlns:a16="http://schemas.microsoft.com/office/drawing/2014/main" id="{8A8582F4-90A2-4207-94B3-ACFBC322C20F}"/>
              </a:ext>
            </a:extLst>
          </p:cNvPr>
          <p:cNvSpPr>
            <a:spLocks xmlns:a="http://schemas.openxmlformats.org/drawingml/2006/main" noGrp="1"/>
          </p:cNvSpPr>
          <p:nvPr/>
        </p:nvSpPr>
        <p:spPr>
          <a:xfrm xmlns:a="http://schemas.openxmlformats.org/drawingml/2006/main">
            <a:off x="59626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raw method opcode sequences</a:t>
            </a:r>
          </a:p>
        </p:txBody>
      </p:sp>
      <p:sp>
        <p:nvSpPr>
          <p:cNvPr id="13" name="">
            <a:extLst xmlns:a="http://schemas.openxmlformats.org/drawingml/2006/main">
              <a:ext uri="{FF2B5EF4-FFF2-40B4-BE49-F238E27FC236}">
                <a16:creationId xmlns:a16="http://schemas.microsoft.com/office/drawing/2014/main" id="{DA2DC9EA-53F3-4DDA-8141-6E67FD22EF01}"/>
              </a:ext>
            </a:extLst>
          </p:cNvPr>
          <p:cNvSpPr>
            <a:spLocks xmlns:a="http://schemas.openxmlformats.org/drawingml/2006/main" noGrp="1"/>
          </p:cNvSpPr>
          <p:nvPr/>
        </p:nvSpPr>
        <p:spPr>
          <a:xfrm xmlns:a="http://schemas.openxmlformats.org/drawingml/2006/main">
            <a:off x="840105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14" name="">
            <a:extLst xmlns:a="http://schemas.openxmlformats.org/drawingml/2006/main">
              <a:ext uri="{FF2B5EF4-FFF2-40B4-BE49-F238E27FC236}">
                <a16:creationId xmlns:a16="http://schemas.microsoft.com/office/drawing/2014/main" id="{A519BE45-4644-47D8-8989-3F7809AFA9FF}"/>
              </a:ext>
            </a:extLst>
          </p:cNvPr>
          <p:cNvSpPr>
            <a:spLocks xmlns:a="http://schemas.openxmlformats.org/drawingml/2006/main" noGrp="1"/>
          </p:cNvSpPr>
          <p:nvPr/>
        </p:nvSpPr>
        <p:spPr>
          <a:xfrm xmlns:a="http://schemas.openxmlformats.org/drawingml/2006/main">
            <a:off x="85344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14</a:t>
            </a:r>
          </a:p>
        </p:txBody>
      </p:sp>
      <p:sp>
        <p:nvSpPr>
          <p:cNvPr id="15" name="">
            <a:extLst xmlns:a="http://schemas.openxmlformats.org/drawingml/2006/main">
              <a:ext uri="{FF2B5EF4-FFF2-40B4-BE49-F238E27FC236}">
                <a16:creationId xmlns:a16="http://schemas.microsoft.com/office/drawing/2014/main" id="{BEB84308-9B69-488A-9EC8-A7AA61A35E64}"/>
              </a:ext>
            </a:extLst>
          </p:cNvPr>
          <p:cNvSpPr>
            <a:spLocks xmlns:a="http://schemas.openxmlformats.org/drawingml/2006/main" noGrp="1"/>
          </p:cNvSpPr>
          <p:nvPr/>
        </p:nvSpPr>
        <p:spPr>
          <a:xfrm xmlns:a="http://schemas.openxmlformats.org/drawingml/2006/main">
            <a:off x="85344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APKs in raw-opcode corpus</a:t>
            </a:r>
          </a:p>
        </p:txBody>
      </p:sp>
      <p:sp>
        <p:nvSpPr>
          <p:cNvPr id="16" name="">
            <a:extLst xmlns:a="http://schemas.openxmlformats.org/drawingml/2006/main">
              <a:ext uri="{FF2B5EF4-FFF2-40B4-BE49-F238E27FC236}">
                <a16:creationId xmlns:a16="http://schemas.microsoft.com/office/drawing/2014/main" id="{342A7E2A-4B98-421D-9F81-AD83889F2A36}"/>
              </a:ext>
            </a:extLst>
          </p:cNvPr>
          <p:cNvSpPr>
            <a:spLocks xmlns:a="http://schemas.openxmlformats.org/drawingml/2006/main" noGrp="1"/>
          </p:cNvSpPr>
          <p:nvPr/>
        </p:nvSpPr>
        <p:spPr>
          <a:xfrm xmlns:a="http://schemas.openxmlformats.org/drawingml/2006/main">
            <a:off x="685800" y="2781300"/>
            <a:ext cx="514350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D569F465-1CEB-475E-95AA-A0DB4AF69B8B}"/>
              </a:ext>
            </a:extLst>
          </p:cNvPr>
          <p:cNvSpPr>
            <a:spLocks xmlns:a="http://schemas.openxmlformats.org/drawingml/2006/main" noGrp="1"/>
          </p:cNvSpPr>
          <p:nvPr/>
        </p:nvSpPr>
        <p:spPr>
          <a:xfrm xmlns:a="http://schemas.openxmlformats.org/drawingml/2006/main">
            <a:off x="9144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MVP-SAFE TEST F1</a:t>
            </a:r>
          </a:p>
        </p:txBody>
      </p:sp>
      <p:sp>
        <p:nvSpPr>
          <p:cNvPr id="18" name="">
            <a:extLst xmlns:a="http://schemas.openxmlformats.org/drawingml/2006/main">
              <a:ext uri="{FF2B5EF4-FFF2-40B4-BE49-F238E27FC236}">
                <a16:creationId xmlns:a16="http://schemas.microsoft.com/office/drawing/2014/main" id="{D30CCFE0-FCEF-43E3-BDEF-933032202CF9}"/>
              </a:ext>
            </a:extLst>
          </p:cNvPr>
          <p:cNvSpPr>
            <a:spLocks xmlns:a="http://schemas.openxmlformats.org/drawingml/2006/main" noGrp="1"/>
          </p:cNvSpPr>
          <p:nvPr/>
        </p:nvSpPr>
        <p:spPr>
          <a:xfrm xmlns:a="http://schemas.openxmlformats.org/drawingml/2006/main">
            <a:off x="933450" y="3409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confirmed exact</a:t>
            </a:r>
          </a:p>
        </p:txBody>
      </p:sp>
      <p:sp>
        <p:nvSpPr>
          <p:cNvPr id="19" name="">
            <a:extLst xmlns:a="http://schemas.openxmlformats.org/drawingml/2006/main">
              <a:ext uri="{FF2B5EF4-FFF2-40B4-BE49-F238E27FC236}">
                <a16:creationId xmlns:a16="http://schemas.microsoft.com/office/drawing/2014/main" id="{CE7E7D41-E34B-4D0B-95BB-C97604B5FBA5}"/>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2274CB0-09D6-4EB2-8E11-A06851E19DE1}"/>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DBBFAB-2F18-4B62-A229-2910198548D8}"/>
              </a:ext>
            </a:extLst>
          </p:cNvPr>
          <p:cNvSpPr>
            <a:spLocks xmlns:a="http://schemas.openxmlformats.org/drawingml/2006/main" noGrp="1"/>
          </p:cNvSpPr>
          <p:nvPr/>
        </p:nvSpPr>
        <p:spPr>
          <a:xfrm xmlns:a="http://schemas.openxmlformats.org/drawingml/2006/main">
            <a:off x="5010150" y="3371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6F7C61"/>
                </a:solidFill>
                <a:latin typeface="Aptos"/>
                <a:ea typeface="Aptos"/>
                <a:cs typeface="Aptos"/>
              </a:defRPr>
            </a:pPr>
            <a:r>
              <a:rPr sz="675" b="1">
                <a:solidFill>
                  <a:srgbClr val="6F7C61"/>
                </a:solidFill>
                <a:latin typeface="Aptos"/>
                <a:ea typeface="Aptos"/>
                <a:cs typeface="Aptos"/>
              </a:rPr>
              <a:t>1.000</a:t>
            </a:r>
          </a:p>
        </p:txBody>
      </p:sp>
      <p:sp>
        <p:nvSpPr>
          <p:cNvPr id="22" name="">
            <a:extLst xmlns:a="http://schemas.openxmlformats.org/drawingml/2006/main">
              <a:ext uri="{FF2B5EF4-FFF2-40B4-BE49-F238E27FC236}">
                <a16:creationId xmlns:a16="http://schemas.microsoft.com/office/drawing/2014/main" id="{F3EC80D1-F602-4032-A52C-BE6ED7496695}"/>
              </a:ext>
            </a:extLst>
          </p:cNvPr>
          <p:cNvSpPr>
            <a:spLocks xmlns:a="http://schemas.openxmlformats.org/drawingml/2006/main" noGrp="1"/>
          </p:cNvSpPr>
          <p:nvPr/>
        </p:nvSpPr>
        <p:spPr>
          <a:xfrm xmlns:a="http://schemas.openxmlformats.org/drawingml/2006/main">
            <a:off x="933450" y="37147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suggest report-only</a:t>
            </a:r>
          </a:p>
        </p:txBody>
      </p:sp>
      <p:sp>
        <p:nvSpPr>
          <p:cNvPr id="23" name="">
            <a:extLst xmlns:a="http://schemas.openxmlformats.org/drawingml/2006/main">
              <a:ext uri="{FF2B5EF4-FFF2-40B4-BE49-F238E27FC236}">
                <a16:creationId xmlns:a16="http://schemas.microsoft.com/office/drawing/2014/main" id="{9AF27B57-5655-4D55-948D-896744AB3A49}"/>
              </a:ext>
            </a:extLst>
          </p:cNvPr>
          <p:cNvSpPr>
            <a:spLocks xmlns:a="http://schemas.openxmlformats.org/drawingml/2006/main" noGrp="1"/>
          </p:cNvSpPr>
          <p:nvPr/>
        </p:nvSpPr>
        <p:spPr>
          <a:xfrm xmlns:a="http://schemas.openxmlformats.org/drawingml/2006/main">
            <a:off x="2609850" y="37528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322A3CD-1BC4-4927-B1F5-B2628DC3C45A}"/>
              </a:ext>
            </a:extLst>
          </p:cNvPr>
          <p:cNvSpPr>
            <a:spLocks xmlns:a="http://schemas.openxmlformats.org/drawingml/2006/main" noGrp="1"/>
          </p:cNvSpPr>
          <p:nvPr/>
        </p:nvSpPr>
        <p:spPr>
          <a:xfrm xmlns:a="http://schemas.openxmlformats.org/drawingml/2006/main">
            <a:off x="2609850" y="3752850"/>
            <a:ext cx="2282228"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4B086E-2C93-4871-8C1F-15112CFCB095}"/>
              </a:ext>
            </a:extLst>
          </p:cNvPr>
          <p:cNvSpPr>
            <a:spLocks xmlns:a="http://schemas.openxmlformats.org/drawingml/2006/main" noGrp="1"/>
          </p:cNvSpPr>
          <p:nvPr/>
        </p:nvSpPr>
        <p:spPr>
          <a:xfrm xmlns:a="http://schemas.openxmlformats.org/drawingml/2006/main">
            <a:off x="5010150" y="3676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4F7D76"/>
                </a:solidFill>
                <a:latin typeface="Aptos"/>
                <a:ea typeface="Aptos"/>
                <a:cs typeface="Aptos"/>
              </a:defRPr>
            </a:pPr>
            <a:r>
              <a:rPr sz="675" b="1">
                <a:solidFill>
                  <a:srgbClr val="4F7D76"/>
                </a:solidFill>
                <a:latin typeface="Aptos"/>
                <a:ea typeface="Aptos"/>
                <a:cs typeface="Aptos"/>
              </a:rPr>
              <a:t>0.974</a:t>
            </a:r>
          </a:p>
        </p:txBody>
      </p:sp>
      <p:sp>
        <p:nvSpPr>
          <p:cNvPr id="26" name="">
            <a:extLst xmlns:a="http://schemas.openxmlformats.org/drawingml/2006/main">
              <a:ext uri="{FF2B5EF4-FFF2-40B4-BE49-F238E27FC236}">
                <a16:creationId xmlns:a16="http://schemas.microsoft.com/office/drawing/2014/main" id="{6C0ED310-E04E-4A7F-AA12-F8A40EA20175}"/>
              </a:ext>
            </a:extLst>
          </p:cNvPr>
          <p:cNvSpPr>
            <a:spLocks xmlns:a="http://schemas.openxmlformats.org/drawingml/2006/main" noGrp="1"/>
          </p:cNvSpPr>
          <p:nvPr/>
        </p:nvSpPr>
        <p:spPr>
          <a:xfrm xmlns:a="http://schemas.openxmlformats.org/drawingml/2006/main">
            <a:off x="933450" y="40195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suppress uncertain</a:t>
            </a:r>
          </a:p>
        </p:txBody>
      </p:sp>
      <p:sp>
        <p:nvSpPr>
          <p:cNvPr id="27" name="">
            <a:extLst xmlns:a="http://schemas.openxmlformats.org/drawingml/2006/main">
              <a:ext uri="{FF2B5EF4-FFF2-40B4-BE49-F238E27FC236}">
                <a16:creationId xmlns:a16="http://schemas.microsoft.com/office/drawing/2014/main" id="{B9BEBC78-7560-4FA5-A6E5-CE8D8FB36613}"/>
              </a:ext>
            </a:extLst>
          </p:cNvPr>
          <p:cNvSpPr>
            <a:spLocks xmlns:a="http://schemas.openxmlformats.org/drawingml/2006/main" noGrp="1"/>
          </p:cNvSpPr>
          <p:nvPr/>
        </p:nvSpPr>
        <p:spPr>
          <a:xfrm xmlns:a="http://schemas.openxmlformats.org/drawingml/2006/main">
            <a:off x="2609850" y="40576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5A1C07F-44D6-46DA-82AD-5C2A04FD1D89}"/>
              </a:ext>
            </a:extLst>
          </p:cNvPr>
          <p:cNvSpPr>
            <a:spLocks xmlns:a="http://schemas.openxmlformats.org/drawingml/2006/main" noGrp="1"/>
          </p:cNvSpPr>
          <p:nvPr/>
        </p:nvSpPr>
        <p:spPr>
          <a:xfrm xmlns:a="http://schemas.openxmlformats.org/drawingml/2006/main">
            <a:off x="2609850" y="4057650"/>
            <a:ext cx="2129923"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5B7CE13-FBD1-422A-AC61-16FB4C578404}"/>
              </a:ext>
            </a:extLst>
          </p:cNvPr>
          <p:cNvSpPr>
            <a:spLocks xmlns:a="http://schemas.openxmlformats.org/drawingml/2006/main" noGrp="1"/>
          </p:cNvSpPr>
          <p:nvPr/>
        </p:nvSpPr>
        <p:spPr>
          <a:xfrm xmlns:a="http://schemas.openxmlformats.org/drawingml/2006/main">
            <a:off x="5010150" y="39814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8D754D"/>
                </a:solidFill>
                <a:latin typeface="Aptos"/>
                <a:ea typeface="Aptos"/>
                <a:cs typeface="Aptos"/>
              </a:defRPr>
            </a:pPr>
            <a:r>
              <a:rPr sz="675" b="1">
                <a:solidFill>
                  <a:srgbClr val="8D754D"/>
                </a:solidFill>
                <a:latin typeface="Aptos"/>
                <a:ea typeface="Aptos"/>
                <a:cs typeface="Aptos"/>
              </a:rPr>
              <a:t>0.909</a:t>
            </a:r>
          </a:p>
        </p:txBody>
      </p:sp>
      <p:sp>
        <p:nvSpPr>
          <p:cNvPr id="30" name="">
            <a:extLst xmlns:a="http://schemas.openxmlformats.org/drawingml/2006/main">
              <a:ext uri="{FF2B5EF4-FFF2-40B4-BE49-F238E27FC236}">
                <a16:creationId xmlns:a16="http://schemas.microsoft.com/office/drawing/2014/main" id="{297D62F5-938A-4B5A-97E9-BD02228CDF52}"/>
              </a:ext>
            </a:extLst>
          </p:cNvPr>
          <p:cNvSpPr>
            <a:spLocks xmlns:a="http://schemas.openxmlformats.org/drawingml/2006/main" noGrp="1"/>
          </p:cNvSpPr>
          <p:nvPr/>
        </p:nvSpPr>
        <p:spPr>
          <a:xfrm xmlns:a="http://schemas.openxmlformats.org/drawingml/2006/main">
            <a:off x="933450" y="43243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risk only</a:t>
            </a:r>
          </a:p>
        </p:txBody>
      </p:sp>
      <p:sp>
        <p:nvSpPr>
          <p:cNvPr id="31" name="">
            <a:extLst xmlns:a="http://schemas.openxmlformats.org/drawingml/2006/main">
              <a:ext uri="{FF2B5EF4-FFF2-40B4-BE49-F238E27FC236}">
                <a16:creationId xmlns:a16="http://schemas.microsoft.com/office/drawing/2014/main" id="{CBEAF620-FE13-457C-8F2F-CDA2B10088FA}"/>
              </a:ext>
            </a:extLst>
          </p:cNvPr>
          <p:cNvSpPr>
            <a:spLocks xmlns:a="http://schemas.openxmlformats.org/drawingml/2006/main" noGrp="1"/>
          </p:cNvSpPr>
          <p:nvPr/>
        </p:nvSpPr>
        <p:spPr>
          <a:xfrm xmlns:a="http://schemas.openxmlformats.org/drawingml/2006/main">
            <a:off x="2609850" y="43624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66EC32D-51E6-4863-8D93-436338BE1A6E}"/>
              </a:ext>
            </a:extLst>
          </p:cNvPr>
          <p:cNvSpPr>
            <a:spLocks xmlns:a="http://schemas.openxmlformats.org/drawingml/2006/main" noGrp="1"/>
          </p:cNvSpPr>
          <p:nvPr/>
        </p:nvSpPr>
        <p:spPr>
          <a:xfrm xmlns:a="http://schemas.openxmlformats.org/drawingml/2006/main">
            <a:off x="2609850" y="4362450"/>
            <a:ext cx="2061972" cy="1143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C10BE75-289C-4572-8C07-442A9BDAD03D}"/>
              </a:ext>
            </a:extLst>
          </p:cNvPr>
          <p:cNvSpPr>
            <a:spLocks xmlns:a="http://schemas.openxmlformats.org/drawingml/2006/main" noGrp="1"/>
          </p:cNvSpPr>
          <p:nvPr/>
        </p:nvSpPr>
        <p:spPr>
          <a:xfrm xmlns:a="http://schemas.openxmlformats.org/drawingml/2006/main">
            <a:off x="5010150" y="4286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365F7D"/>
                </a:solidFill>
                <a:latin typeface="Aptos"/>
                <a:ea typeface="Aptos"/>
                <a:cs typeface="Aptos"/>
              </a:defRPr>
            </a:pPr>
            <a:r>
              <a:rPr sz="675" b="1">
                <a:solidFill>
                  <a:srgbClr val="365F7D"/>
                </a:solidFill>
                <a:latin typeface="Aptos"/>
                <a:ea typeface="Aptos"/>
                <a:cs typeface="Aptos"/>
              </a:rPr>
              <a:t>0.880</a:t>
            </a:r>
          </a:p>
        </p:txBody>
      </p:sp>
      <p:sp>
        <p:nvSpPr>
          <p:cNvPr id="34" name="">
            <a:extLst xmlns:a="http://schemas.openxmlformats.org/drawingml/2006/main">
              <a:ext uri="{FF2B5EF4-FFF2-40B4-BE49-F238E27FC236}">
                <a16:creationId xmlns:a16="http://schemas.microsoft.com/office/drawing/2014/main" id="{775DB258-7FE5-4AD7-90F4-5290DB273985}"/>
              </a:ext>
            </a:extLst>
          </p:cNvPr>
          <p:cNvSpPr>
            <a:spLocks xmlns:a="http://schemas.openxmlformats.org/drawingml/2006/main" noGrp="1"/>
          </p:cNvSpPr>
          <p:nvPr/>
        </p:nvSpPr>
        <p:spPr>
          <a:xfrm xmlns:a="http://schemas.openxmlformats.org/drawingml/2006/main">
            <a:off x="933450" y="46291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mismatch / extra</a:t>
            </a:r>
          </a:p>
        </p:txBody>
      </p:sp>
      <p:sp>
        <p:nvSpPr>
          <p:cNvPr id="35" name="">
            <a:extLst xmlns:a="http://schemas.openxmlformats.org/drawingml/2006/main">
              <a:ext uri="{FF2B5EF4-FFF2-40B4-BE49-F238E27FC236}">
                <a16:creationId xmlns:a16="http://schemas.microsoft.com/office/drawing/2014/main" id="{1DDD8488-B2D5-4363-B0F1-7F68EBE6AFFF}"/>
              </a:ext>
            </a:extLst>
          </p:cNvPr>
          <p:cNvSpPr>
            <a:spLocks xmlns:a="http://schemas.openxmlformats.org/drawingml/2006/main" noGrp="1"/>
          </p:cNvSpPr>
          <p:nvPr/>
        </p:nvSpPr>
        <p:spPr>
          <a:xfrm xmlns:a="http://schemas.openxmlformats.org/drawingml/2006/main">
            <a:off x="2609850" y="46672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A4E8D44-F4DD-4D45-8F7C-42534450D47C}"/>
              </a:ext>
            </a:extLst>
          </p:cNvPr>
          <p:cNvSpPr>
            <a:spLocks xmlns:a="http://schemas.openxmlformats.org/drawingml/2006/main" noGrp="1"/>
          </p:cNvSpPr>
          <p:nvPr/>
        </p:nvSpPr>
        <p:spPr>
          <a:xfrm xmlns:a="http://schemas.openxmlformats.org/drawingml/2006/main">
            <a:off x="2609850" y="4667250"/>
            <a:ext cx="1794853" cy="1143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3C22771-23EE-47BF-B794-721C4050EFB1}"/>
              </a:ext>
            </a:extLst>
          </p:cNvPr>
          <p:cNvSpPr>
            <a:spLocks xmlns:a="http://schemas.openxmlformats.org/drawingml/2006/main" noGrp="1"/>
          </p:cNvSpPr>
          <p:nvPr/>
        </p:nvSpPr>
        <p:spPr>
          <a:xfrm xmlns:a="http://schemas.openxmlformats.org/drawingml/2006/main">
            <a:off x="5010150" y="45910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A65C55"/>
                </a:solidFill>
                <a:latin typeface="Aptos"/>
                <a:ea typeface="Aptos"/>
                <a:cs typeface="Aptos"/>
              </a:defRPr>
            </a:pPr>
            <a:r>
              <a:rPr sz="675" b="1">
                <a:solidFill>
                  <a:srgbClr val="A65C55"/>
                </a:solidFill>
                <a:latin typeface="Aptos"/>
                <a:ea typeface="Aptos"/>
                <a:cs typeface="Aptos"/>
              </a:rPr>
              <a:t>0.766</a:t>
            </a:r>
          </a:p>
        </p:txBody>
      </p:sp>
      <p:sp>
        <p:nvSpPr>
          <p:cNvPr id="38" name="">
            <a:extLst xmlns:a="http://schemas.openxmlformats.org/drawingml/2006/main">
              <a:ext uri="{FF2B5EF4-FFF2-40B4-BE49-F238E27FC236}">
                <a16:creationId xmlns:a16="http://schemas.microsoft.com/office/drawing/2014/main" id="{C4F01E15-18FB-4B1E-B63A-92DAB0D4D251}"/>
              </a:ext>
            </a:extLst>
          </p:cNvPr>
          <p:cNvSpPr>
            <a:spLocks xmlns:a="http://schemas.openxmlformats.org/drawingml/2006/main" noGrp="1"/>
          </p:cNvSpPr>
          <p:nvPr/>
        </p:nvSpPr>
        <p:spPr>
          <a:xfrm xmlns:a="http://schemas.openxmlformats.org/drawingml/2006/main">
            <a:off x="933450" y="4933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boundary</a:t>
            </a:r>
          </a:p>
        </p:txBody>
      </p:sp>
      <p:sp>
        <p:nvSpPr>
          <p:cNvPr id="39" name="">
            <a:extLst xmlns:a="http://schemas.openxmlformats.org/drawingml/2006/main">
              <a:ext uri="{FF2B5EF4-FFF2-40B4-BE49-F238E27FC236}">
                <a16:creationId xmlns:a16="http://schemas.microsoft.com/office/drawing/2014/main" id="{1259A7CC-C818-47B4-8DEE-D76DFC88D698}"/>
              </a:ext>
            </a:extLst>
          </p:cNvPr>
          <p:cNvSpPr>
            <a:spLocks xmlns:a="http://schemas.openxmlformats.org/drawingml/2006/main" noGrp="1"/>
          </p:cNvSpPr>
          <p:nvPr/>
        </p:nvSpPr>
        <p:spPr>
          <a:xfrm xmlns:a="http://schemas.openxmlformats.org/drawingml/2006/main">
            <a:off x="2609850" y="4972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D6E52AC-927D-4A96-BBF4-ABB06AC2013C}"/>
              </a:ext>
            </a:extLst>
          </p:cNvPr>
          <p:cNvSpPr>
            <a:spLocks xmlns:a="http://schemas.openxmlformats.org/drawingml/2006/main" noGrp="1"/>
          </p:cNvSpPr>
          <p:nvPr/>
        </p:nvSpPr>
        <p:spPr>
          <a:xfrm xmlns:a="http://schemas.openxmlformats.org/drawingml/2006/main">
            <a:off x="2609850" y="4972050"/>
            <a:ext cx="1790167" cy="1143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C470393-3972-4B6D-8A04-94DFBC93AE0B}"/>
              </a:ext>
            </a:extLst>
          </p:cNvPr>
          <p:cNvSpPr>
            <a:spLocks xmlns:a="http://schemas.openxmlformats.org/drawingml/2006/main" noGrp="1"/>
          </p:cNvSpPr>
          <p:nvPr/>
        </p:nvSpPr>
        <p:spPr>
          <a:xfrm xmlns:a="http://schemas.openxmlformats.org/drawingml/2006/main">
            <a:off x="5010150" y="4895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655F73"/>
                </a:solidFill>
                <a:latin typeface="Aptos"/>
                <a:ea typeface="Aptos"/>
                <a:cs typeface="Aptos"/>
              </a:defRPr>
            </a:pPr>
            <a:r>
              <a:rPr sz="675" b="1">
                <a:solidFill>
                  <a:srgbClr val="655F73"/>
                </a:solidFill>
                <a:latin typeface="Aptos"/>
                <a:ea typeface="Aptos"/>
                <a:cs typeface="Aptos"/>
              </a:rPr>
              <a:t>0.764</a:t>
            </a:r>
          </a:p>
        </p:txBody>
      </p:sp>
      <p:sp>
        <p:nvSpPr>
          <p:cNvPr id="42" name="">
            <a:extLst xmlns:a="http://schemas.openxmlformats.org/drawingml/2006/main">
              <a:ext uri="{FF2B5EF4-FFF2-40B4-BE49-F238E27FC236}">
                <a16:creationId xmlns:a16="http://schemas.microsoft.com/office/drawing/2014/main" id="{0378340C-00FC-474C-A2E7-6C965274C943}"/>
              </a:ext>
            </a:extLst>
          </p:cNvPr>
          <p:cNvSpPr>
            <a:spLocks xmlns:a="http://schemas.openxmlformats.org/drawingml/2006/main" noGrp="1"/>
          </p:cNvSpPr>
          <p:nvPr/>
        </p:nvSpPr>
        <p:spPr>
          <a:xfrm xmlns:a="http://schemas.openxmlformats.org/drawingml/2006/main">
            <a:off x="6115050" y="2781300"/>
            <a:ext cx="539115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43" name="">
            <a:extLst xmlns:a="http://schemas.openxmlformats.org/drawingml/2006/main">
              <a:ext uri="{FF2B5EF4-FFF2-40B4-BE49-F238E27FC236}">
                <a16:creationId xmlns:a16="http://schemas.microsoft.com/office/drawing/2014/main" id="{6D6608E0-064E-48FF-9525-490D61D70A9A}"/>
              </a:ext>
            </a:extLst>
          </p:cNvPr>
          <p:cNvSpPr>
            <a:spLocks xmlns:a="http://schemas.openxmlformats.org/drawingml/2006/main" noGrp="1"/>
          </p:cNvSpPr>
          <p:nvPr/>
        </p:nvSpPr>
        <p:spPr>
          <a:xfrm xmlns:a="http://schemas.openxmlformats.org/drawingml/2006/main">
            <a:off x="6362700" y="30099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RAW OPCODE CASE-HELDOUT</a:t>
            </a:r>
          </a:p>
        </p:txBody>
      </p:sp>
      <p:sp>
        <p:nvSpPr>
          <p:cNvPr id="44" name="">
            <a:extLst xmlns:a="http://schemas.openxmlformats.org/drawingml/2006/main">
              <a:ext uri="{FF2B5EF4-FFF2-40B4-BE49-F238E27FC236}">
                <a16:creationId xmlns:a16="http://schemas.microsoft.com/office/drawing/2014/main" id="{3443FEC2-D80D-46EB-97AE-7949BAD659D2}"/>
              </a:ext>
            </a:extLst>
          </p:cNvPr>
          <p:cNvSpPr>
            <a:spLocks xmlns:a="http://schemas.openxmlformats.org/drawingml/2006/main" noGrp="1"/>
          </p:cNvSpPr>
          <p:nvPr/>
        </p:nvSpPr>
        <p:spPr>
          <a:xfrm xmlns:a="http://schemas.openxmlformats.org/drawingml/2006/main">
            <a:off x="6362700" y="3371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Train 665  |  Validation 175  |  Test 840</a:t>
            </a:r>
          </a:p>
        </p:txBody>
      </p:sp>
      <p:sp>
        <p:nvSpPr>
          <p:cNvPr id="45" name="">
            <a:extLst xmlns:a="http://schemas.openxmlformats.org/drawingml/2006/main">
              <a:ext uri="{FF2B5EF4-FFF2-40B4-BE49-F238E27FC236}">
                <a16:creationId xmlns:a16="http://schemas.microsoft.com/office/drawing/2014/main" id="{E585C0AF-85D4-4F78-89F8-2A6B88A69547}"/>
              </a:ext>
            </a:extLst>
          </p:cNvPr>
          <p:cNvSpPr>
            <a:spLocks xmlns:a="http://schemas.openxmlformats.org/drawingml/2006/main" noGrp="1"/>
          </p:cNvSpPr>
          <p:nvPr/>
        </p:nvSpPr>
        <p:spPr>
          <a:xfrm xmlns:a="http://schemas.openxmlformats.org/drawingml/2006/main">
            <a:off x="6362700" y="3752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EC9D7"/>
                </a:solidFill>
                <a:latin typeface="Aptos"/>
                <a:ea typeface="Aptos"/>
                <a:cs typeface="Aptos"/>
              </a:defRPr>
            </a:pPr>
            <a:r>
              <a:rPr sz="1050" b="0">
                <a:solidFill>
                  <a:srgbClr val="BEC9D7"/>
                </a:solidFill>
                <a:latin typeface="Aptos"/>
                <a:ea typeface="Aptos"/>
                <a:cs typeface="Aptos"/>
              </a:rPr>
              <a:t>7 labels  |  120 test sequences per label</a:t>
            </a:r>
          </a:p>
        </p:txBody>
      </p:sp>
      <p:sp>
        <p:nvSpPr>
          <p:cNvPr id="46" name="">
            <a:extLst xmlns:a="http://schemas.openxmlformats.org/drawingml/2006/main">
              <a:ext uri="{FF2B5EF4-FFF2-40B4-BE49-F238E27FC236}">
                <a16:creationId xmlns:a16="http://schemas.microsoft.com/office/drawing/2014/main" id="{54AA25A1-AD9C-45C2-BFD5-3DD165EE9591}"/>
              </a:ext>
            </a:extLst>
          </p:cNvPr>
          <p:cNvSpPr>
            <a:spLocks xmlns:a="http://schemas.openxmlformats.org/drawingml/2006/main" noGrp="1"/>
          </p:cNvSpPr>
          <p:nvPr/>
        </p:nvSpPr>
        <p:spPr>
          <a:xfrm xmlns:a="http://schemas.openxmlformats.org/drawingml/2006/main">
            <a:off x="6362700" y="4267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A65C55"/>
                </a:solidFill>
                <a:latin typeface="Aptos"/>
                <a:ea typeface="Aptos"/>
                <a:cs typeface="Aptos"/>
              </a:defRPr>
            </a:pPr>
            <a:r>
              <a:rPr sz="1350" b="1">
                <a:solidFill>
                  <a:srgbClr val="A65C55"/>
                </a:solidFill>
                <a:latin typeface="Aptos"/>
                <a:ea typeface="Aptos"/>
                <a:cs typeface="Aptos"/>
              </a:rPr>
              <a:t>Transformer macro-F1  0.110</a:t>
            </a:r>
          </a:p>
        </p:txBody>
      </p:sp>
      <p:sp>
        <p:nvSpPr>
          <p:cNvPr id="47" name="">
            <a:extLst xmlns:a="http://schemas.openxmlformats.org/drawingml/2006/main">
              <a:ext uri="{FF2B5EF4-FFF2-40B4-BE49-F238E27FC236}">
                <a16:creationId xmlns:a16="http://schemas.microsoft.com/office/drawing/2014/main" id="{118839E9-E48F-4CD0-A4AD-44601321FC3F}"/>
              </a:ext>
            </a:extLst>
          </p:cNvPr>
          <p:cNvSpPr>
            <a:spLocks xmlns:a="http://schemas.openxmlformats.org/drawingml/2006/main" noGrp="1"/>
          </p:cNvSpPr>
          <p:nvPr/>
        </p:nvSpPr>
        <p:spPr>
          <a:xfrm xmlns:a="http://schemas.openxmlformats.org/drawingml/2006/main">
            <a:off x="6362700" y="4648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8D754D"/>
                </a:solidFill>
                <a:latin typeface="Aptos"/>
                <a:ea typeface="Aptos"/>
                <a:cs typeface="Aptos"/>
              </a:defRPr>
            </a:pPr>
            <a:r>
              <a:rPr sz="1350" b="1">
                <a:solidFill>
                  <a:srgbClr val="8D754D"/>
                </a:solidFill>
                <a:latin typeface="Aptos"/>
                <a:ea typeface="Aptos"/>
                <a:cs typeface="Aptos"/>
              </a:rPr>
              <a:t>Opcode-count baseline  0.128</a:t>
            </a:r>
          </a:p>
        </p:txBody>
      </p:sp>
      <p:sp>
        <p:nvSpPr>
          <p:cNvPr id="48" name="">
            <a:extLst xmlns:a="http://schemas.openxmlformats.org/drawingml/2006/main">
              <a:ext uri="{FF2B5EF4-FFF2-40B4-BE49-F238E27FC236}">
                <a16:creationId xmlns:a16="http://schemas.microsoft.com/office/drawing/2014/main" id="{EB840E10-1E19-49CC-A0C0-4DE50219B59B}"/>
              </a:ext>
            </a:extLst>
          </p:cNvPr>
          <p:cNvSpPr>
            <a:spLocks xmlns:a="http://schemas.openxmlformats.org/drawingml/2006/main" noGrp="1"/>
          </p:cNvSpPr>
          <p:nvPr/>
        </p:nvSpPr>
        <p:spPr>
          <a:xfrm xmlns:a="http://schemas.openxmlformats.org/drawingml/2006/main">
            <a:off x="9429750" y="4324350"/>
            <a:ext cx="16192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955BB3A7-FA89-45A0-8A77-6BCD8C86CD66}"/>
              </a:ext>
            </a:extLst>
          </p:cNvPr>
          <p:cNvSpPr>
            <a:spLocks xmlns:a="http://schemas.openxmlformats.org/drawingml/2006/main" noGrp="1"/>
          </p:cNvSpPr>
          <p:nvPr/>
        </p:nvSpPr>
        <p:spPr>
          <a:xfrm xmlns:a="http://schemas.openxmlformats.org/drawingml/2006/main">
            <a:off x="9496425" y="43815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research-only</a:t>
            </a:r>
          </a:p>
        </p:txBody>
      </p:sp>
      <p:sp>
        <p:nvSpPr>
          <p:cNvPr id="50" name="">
            <a:extLst xmlns:a="http://schemas.openxmlformats.org/drawingml/2006/main">
              <a:ext uri="{FF2B5EF4-FFF2-40B4-BE49-F238E27FC236}">
                <a16:creationId xmlns:a16="http://schemas.microsoft.com/office/drawing/2014/main" id="{7B8C1686-CA2A-455C-82B3-A01FF9DF0BD1}"/>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CBAD8E-975A-4060-9A54-85888D80E6A6}"/>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Metrics: metrics-mvp-safe.json  |  ai-r8-raw-opcode-prototype/metrics.json</a:t>
            </a:r>
          </a:p>
        </p:txBody>
      </p:sp>
      <p:sp>
        <p:nvSpPr>
          <p:cNvPr id="52" name="">
            <a:extLst xmlns:a="http://schemas.openxmlformats.org/drawingml/2006/main">
              <a:ext uri="{FF2B5EF4-FFF2-40B4-BE49-F238E27FC236}">
                <a16:creationId xmlns:a16="http://schemas.microsoft.com/office/drawing/2014/main" id="{CBF53729-7FCD-4129-961B-B7D4915F0CC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32825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2026-06-18T05:01:44.0260000Z</dcterms:created>
  <dcterms:modified xsi:type="dcterms:W3CDTF">2026-06-18T05:01:44.0260000Z</dcterms:modified>
</coreProperties>
</file>