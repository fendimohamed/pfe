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dcd8e70d3674f7c" /><Relationship Type="http://schemas.openxmlformats.org/officeDocument/2006/relationships/extended-properties" Target="/docProps/app.xml" Id="R3fab4e6fd8834ea7" /><Relationship Type="http://schemas.openxmlformats.org/officeDocument/2006/relationships/officeDocument" Target="/ppt/presentation.xml" Id="Rd8ab8de1ed0f457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d7b4df4c0704d47"/>
  </p:sldMasterIdLst>
  <p:notesMasterIdLst>
    <p:notesMasterId xmlns:r="http://schemas.openxmlformats.org/officeDocument/2006/relationships" r:id="R5c9e5cdd3bce46bd"/>
  </p:notesMasterIdLst>
  <p:sldIdLst>
    <p:sldId xmlns:r="http://schemas.openxmlformats.org/officeDocument/2006/relationships" id="256" r:id="R87c9a4a8f9714444"/>
    <p:sldId xmlns:r="http://schemas.openxmlformats.org/officeDocument/2006/relationships" id="257" r:id="R74e43c4db5344323"/>
    <p:sldId xmlns:r="http://schemas.openxmlformats.org/officeDocument/2006/relationships" id="258" r:id="R45ab183e6df34f24"/>
    <p:sldId xmlns:r="http://schemas.openxmlformats.org/officeDocument/2006/relationships" id="259" r:id="Rb6288d4a84804338"/>
    <p:sldId xmlns:r="http://schemas.openxmlformats.org/officeDocument/2006/relationships" id="260" r:id="R8d31156393f446e9"/>
    <p:sldId xmlns:r="http://schemas.openxmlformats.org/officeDocument/2006/relationships" id="261" r:id="R2b76fd3fb2ae42f6"/>
    <p:sldId xmlns:r="http://schemas.openxmlformats.org/officeDocument/2006/relationships" id="262" r:id="Re77db0c9d6a84565"/>
    <p:sldId xmlns:r="http://schemas.openxmlformats.org/officeDocument/2006/relationships" id="263" r:id="R905e41c7011f482f"/>
    <p:sldId xmlns:r="http://schemas.openxmlformats.org/officeDocument/2006/relationships" id="264" r:id="R3c57738e0115451b"/>
    <p:sldId xmlns:r="http://schemas.openxmlformats.org/officeDocument/2006/relationships" id="265" r:id="Rbd19e59798e64ea9"/>
    <p:sldId xmlns:r="http://schemas.openxmlformats.org/officeDocument/2006/relationships" id="266" r:id="R3d55e77e84364b13"/>
    <p:sldId xmlns:r="http://schemas.openxmlformats.org/officeDocument/2006/relationships" id="267" r:id="R46a01593d6ff48f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3bfe028a35b466e" /><Relationship Type="http://schemas.openxmlformats.org/officeDocument/2006/relationships/slideMaster" Target="/ppt/slideMasters/slideMaster1.xml" Id="R7d7b4df4c0704d47" /><Relationship Type="http://schemas.openxmlformats.org/officeDocument/2006/relationships/notesMaster" Target="/ppt/notesMasters/notesMaster1.xml" Id="R5c9e5cdd3bce46bd" /><Relationship Type="http://schemas.openxmlformats.org/officeDocument/2006/relationships/presProps" Target="/ppt/presProps.xml" Id="R9627323086e64c2e" /><Relationship Type="http://schemas.openxmlformats.org/officeDocument/2006/relationships/tableStyles" Target="/ppt/tableStyles.xml" Id="Re05a78d4433345d5" /><Relationship Type="http://schemas.openxmlformats.org/officeDocument/2006/relationships/slide" Target="/ppt/slides/slide1.xml" Id="R87c9a4a8f9714444" /><Relationship Type="http://schemas.openxmlformats.org/officeDocument/2006/relationships/slide" Target="/ppt/slides/slide2.xml" Id="R74e43c4db5344323" /><Relationship Type="http://schemas.openxmlformats.org/officeDocument/2006/relationships/slide" Target="/ppt/slides/slide3.xml" Id="R45ab183e6df34f24" /><Relationship Type="http://schemas.openxmlformats.org/officeDocument/2006/relationships/slide" Target="/ppt/slides/slide4.xml" Id="Rb6288d4a84804338" /><Relationship Type="http://schemas.openxmlformats.org/officeDocument/2006/relationships/slide" Target="/ppt/slides/slide5.xml" Id="R8d31156393f446e9" /><Relationship Type="http://schemas.openxmlformats.org/officeDocument/2006/relationships/slide" Target="/ppt/slides/slide6.xml" Id="R2b76fd3fb2ae42f6" /><Relationship Type="http://schemas.openxmlformats.org/officeDocument/2006/relationships/slide" Target="/ppt/slides/slide7.xml" Id="Re77db0c9d6a84565" /><Relationship Type="http://schemas.openxmlformats.org/officeDocument/2006/relationships/slide" Target="/ppt/slides/slide8.xml" Id="R905e41c7011f482f" /><Relationship Type="http://schemas.openxmlformats.org/officeDocument/2006/relationships/slide" Target="/ppt/slides/slide9.xml" Id="R3c57738e0115451b" /><Relationship Type="http://schemas.openxmlformats.org/officeDocument/2006/relationships/slide" Target="/ppt/slides/slide10.xml" Id="Rbd19e59798e64ea9" /><Relationship Type="http://schemas.openxmlformats.org/officeDocument/2006/relationships/slide" Target="/ppt/slides/slide11.xml" Id="R3d55e77e84364b13" /><Relationship Type="http://schemas.openxmlformats.org/officeDocument/2006/relationships/slide" Target="/ppt/slides/slide12.xml" Id="R46a01593d6ff48f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3a0ffc34b6c462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cebeeb2f8d7499d" /><Relationship Type="http://schemas.openxmlformats.org/officeDocument/2006/relationships/notesMaster" Target="/ppt/notesMasters/notesMaster1.xml" Id="Rd5b6db84299a43e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c7de485a17446bc" /><Relationship Type="http://schemas.openxmlformats.org/officeDocument/2006/relationships/notesMaster" Target="/ppt/notesMasters/notesMaster1.xml" Id="R9c7d20c944f54f6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4192c8f83ca4e87" /><Relationship Type="http://schemas.openxmlformats.org/officeDocument/2006/relationships/notesMaster" Target="/ppt/notesMasters/notesMaster1.xml" Id="R83579946e251432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d1dca5aeaff4d94" /><Relationship Type="http://schemas.openxmlformats.org/officeDocument/2006/relationships/notesMaster" Target="/ppt/notesMasters/notesMaster1.xml" Id="Rc5b0186eb43a448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392c241220a4770" /><Relationship Type="http://schemas.openxmlformats.org/officeDocument/2006/relationships/notesMaster" Target="/ppt/notesMasters/notesMaster1.xml" Id="R977822d0efa54f3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c25e3773fb44cfe" /><Relationship Type="http://schemas.openxmlformats.org/officeDocument/2006/relationships/notesMaster" Target="/ppt/notesMasters/notesMaster1.xml" Id="R987fc649015848e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2e22dc9564a42ba" /><Relationship Type="http://schemas.openxmlformats.org/officeDocument/2006/relationships/notesMaster" Target="/ppt/notesMasters/notesMaster1.xml" Id="Rb7f531d00180418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a880c99c9614a9d" /><Relationship Type="http://schemas.openxmlformats.org/officeDocument/2006/relationships/notesMaster" Target="/ppt/notesMasters/notesMaster1.xml" Id="Rbbecb3c2fd5049c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c37c1588b6348f2" /><Relationship Type="http://schemas.openxmlformats.org/officeDocument/2006/relationships/notesMaster" Target="/ppt/notesMasters/notesMaster1.xml" Id="R8e6b4b9bd3a1483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69eca4ad73244ab" /><Relationship Type="http://schemas.openxmlformats.org/officeDocument/2006/relationships/notesMaster" Target="/ppt/notesMasters/notesMaster1.xml" Id="R4cd57fb26e5d409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a23db2287184c5a" /><Relationship Type="http://schemas.openxmlformats.org/officeDocument/2006/relationships/notesMaster" Target="/ppt/notesMasters/notesMaster1.xml" Id="R5e7366b4a13b4d6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0a96aced79244b0" /><Relationship Type="http://schemas.openxmlformats.org/officeDocument/2006/relationships/notesMaster" Target="/ppt/notesMasters/notesMaster1.xml" Id="R3207fde2ed54436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project starts from a realistic audit situation: we may only have an APK, not the source or Gradle files. The normal metric is 927/1837 emitted Maven versions confirmed across 102 source-validated real APKs. The final v2 source-known lane separately confirms 6772/6772 emitted rows across 106 source-tree cases under exact source-version slices.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SBOM tools are still useful when source metadata exists. The different problem here is APK-only analysis, where library versions must be inferred from compiled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literature does not justify claiming perfect matching. It justifies combining multiple signals and reporting limits honestly. The traceability matrix maps each MVP feature to papers/tools and experiments.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goal is a useful security artifact: an SBOM with evidence, confidence, and limitations. Ambiguity is not hidden; it is represented as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architecture carries static evidence from APK extraction all the way to CycloneDX and OSV. This is more than detecting a library name; it is a traceable SBOM workflow.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Each signal contributes a different kind of evidence. Optional signals were not promoted globally because the regression matrix did not support them.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component can be present even when the exact version is uncertain. The report and SBOM now preserve this distinction and export ambiguous versions.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split is a key research contribution. A single global score hides why the tool succeeds or fails across APK families.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phrase emitted Maven version confirmation rate for the normal metric. The v2 source-known lane is separate: 6772 emitted rows, all exact, but only under exact source coordinate-version slices.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If we only showed clean cases, the tool would look stronger but the thesis would be weaker. Partial cases show the hard families and guide future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the clean F-Droid report, the vulnerable Jackson report, and the final transparency export. The important point is that vulnerability and dependency rows are classified instead of collapsed into one overconfident number.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conclusion is not that the MVP is perfect. It is that the tool is useful, measurable, and honest about uncertainty, with clear next improvements.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090fc4ab8741b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ed1b1adf2ef493b" /><Relationship Type="http://schemas.openxmlformats.org/officeDocument/2006/relationships/slideLayout" Target="/ppt/slideLayouts/slideLayout1.xml" Id="R4d4ee5c56d9548a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d4ee5c56d9548a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d6a5e35c864ce1" /><Relationship Type="http://schemas.openxmlformats.org/officeDocument/2006/relationships/notesSlide" Target="/ppt/notesSlides/notesSlide1.xml" Id="R0014080e9df84d7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aa49656e844e4f" /><Relationship Type="http://schemas.openxmlformats.org/officeDocument/2006/relationships/notesSlide" Target="/ppt/notesSlides/notesSlide2.xml" Id="R05f164744be641c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0c156747494026" /><Relationship Type="http://schemas.openxmlformats.org/officeDocument/2006/relationships/notesSlide" Target="/ppt/notesSlides/notesSlide3.xml" Id="R2e34bce6c537433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ece4397397481c" /><Relationship Type="http://schemas.openxmlformats.org/officeDocument/2006/relationships/notesSlide" Target="/ppt/notesSlides/notesSlide4.xml" Id="Rf5ebaa4c8d1e476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2fca6c15eb4519" /><Relationship Type="http://schemas.openxmlformats.org/officeDocument/2006/relationships/notesSlide" Target="/ppt/notesSlides/notesSlide5.xml" Id="R09779a83ae1d4cf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27e046eb844023" /><Relationship Type="http://schemas.openxmlformats.org/officeDocument/2006/relationships/notesSlide" Target="/ppt/notesSlides/notesSlide6.xml" Id="R29cb57ec979f469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ca78de6cb74b0a" /><Relationship Type="http://schemas.openxmlformats.org/officeDocument/2006/relationships/notesSlide" Target="/ppt/notesSlides/notesSlide7.xml" Id="R2e39fb2d8903466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3542d8459146f3" /><Relationship Type="http://schemas.openxmlformats.org/officeDocument/2006/relationships/notesSlide" Target="/ppt/notesSlides/notesSlide8.xml" Id="Re406017ce1d3467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86019e0fef45ad" /><Relationship Type="http://schemas.openxmlformats.org/officeDocument/2006/relationships/notesSlide" Target="/ppt/notesSlides/notesSlide9.xml" Id="Rc0a24a523ffb4a8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949374ffaf4f7d" /><Relationship Type="http://schemas.openxmlformats.org/officeDocument/2006/relationships/notesSlide" Target="/ppt/notesSlides/notesSlide10.xml" Id="R718272110ecf4c4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fff3dcdff447d6" /><Relationship Type="http://schemas.openxmlformats.org/officeDocument/2006/relationships/notesSlide" Target="/ppt/notesSlides/notesSlide11.xml" Id="Rf5a62a0eb695444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5454649d2e47c6" /><Relationship Type="http://schemas.openxmlformats.org/officeDocument/2006/relationships/notesSlide" Target="/ppt/notesSlides/notesSlide12.xml" Id="R72d8d4ee19ad425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61B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AECBFAC-F6B6-45C1-A9D0-32201177B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B2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2CAACB-34D4-4912-8137-7FF15E330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3820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Evidence-Based SBOM Recovery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BDC102-C464-40DC-833D-316FDEB24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BFEFE8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BFEFE8"/>
                </a:solidFill>
                <a:latin typeface="Aptos Display"/>
                <a:ea typeface="Aptos Display"/>
                <a:cs typeface="Aptos Display"/>
              </a:rPr>
              <a:t>from Compiled Android APKs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3238B7-3651-450D-8850-266EC8666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733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6DEE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6DEE8"/>
                </a:solidFill>
                <a:latin typeface="Aptos"/>
                <a:ea typeface="Aptos"/>
                <a:cs typeface="Aptos"/>
              </a:rPr>
              <a:t>Hybrid static library version detection and vulnerability lookup for APK-only analysis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69A831-5E9D-4AB8-8A28-2FB0220E5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43250"/>
            <a:ext cx="134874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D8A"/>
          </a:solidFill>
          <a:ln xmlns:a="http://schemas.openxmlformats.org/drawingml/2006/main" w="9525">
            <a:solidFill>
              <a:srgbClr val="1F9D8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806DFE-56A5-46D5-BAC5-045802D9C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86125"/>
            <a:ext cx="123444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APK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E28DE0-C725-493F-BE1D-7BC3105D5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2640" y="3314700"/>
            <a:ext cx="171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311024-26ED-421F-B51C-2A8ACDE55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4090" y="3143250"/>
            <a:ext cx="134874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9D5F40-BB92-40C7-8C41-AB81CD029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1240" y="3286125"/>
            <a:ext cx="123444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C1FF04-0FCD-4FF2-93EE-0609FE267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2830" y="3314700"/>
            <a:ext cx="171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99F112-BD6A-4CA8-BA6B-DDFA3ADBF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4280" y="3143250"/>
            <a:ext cx="134874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750BB3-3E5C-4937-A71F-B05C6BA17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1430" y="3286125"/>
            <a:ext cx="123444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Maven candidates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FB28D4-1F7A-4CCE-9957-45334CFF8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3020" y="3314700"/>
            <a:ext cx="171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E0B234-D547-4295-8183-F659D4629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4470" y="3143250"/>
            <a:ext cx="134874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B376E4-4CA8-4932-9EF6-B011CC3E1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620" y="3286125"/>
            <a:ext cx="123444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CycloneDX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29274A-6EBE-4654-83F9-FA9CF5703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3210" y="3314700"/>
            <a:ext cx="171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1C0C16-B0C4-477F-A149-92DD693AD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4660" y="3143250"/>
            <a:ext cx="134874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297DC9-1765-49FF-A34B-B9E32EA6E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1810" y="3286125"/>
            <a:ext cx="123444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OSV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7F6846-2527-433B-A5E9-9D143BE80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85800"/>
            <a:ext cx="2333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9D8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CFD2A5-448C-4107-8E44-50FF15F71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819150"/>
            <a:ext cx="20669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927/1837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D9C622-A72F-4CEC-BEDA-C219E2D17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200150"/>
            <a:ext cx="20669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normal source-validated emitted Maven versions confirmed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6154E9-0FB4-4667-94BD-38D11DFB1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00250"/>
            <a:ext cx="2333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56AC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144F45-2B5B-4467-9A17-C7633CB70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133600"/>
            <a:ext cx="20669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56AC3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356AC3"/>
                </a:solidFill>
                <a:latin typeface="Aptos"/>
                <a:ea typeface="Aptos"/>
                <a:cs typeface="Aptos"/>
              </a:rPr>
              <a:t>84/84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9CC1868-716C-4A92-BB9C-52DF88601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514600"/>
            <a:ext cx="20669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controlled expected versions confirmed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C4D150B-4FA4-4F72-8339-FD1F4E28A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14700"/>
            <a:ext cx="2333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A2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083B967-DD82-4E67-8D37-1D2ACF053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448050"/>
            <a:ext cx="20669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D89A2B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D89A2B"/>
                </a:solidFill>
                <a:latin typeface="Aptos"/>
                <a:ea typeface="Aptos"/>
                <a:cs typeface="Aptos"/>
              </a:rPr>
              <a:t>6772/6772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FF084B6-D463-467F-974C-D2800CA92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829050"/>
            <a:ext cx="20669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v2 source-known emitted rows exact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D5E405E-D185-455F-82DA-7798BF25C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2915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5D3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5D38C"/>
                </a:solidFill>
                <a:latin typeface="Aptos"/>
                <a:ea typeface="Aptos"/>
                <a:cs typeface="Aptos"/>
              </a:rPr>
              <a:t>v2 is an upper-bound lane, not APK-only accuracy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B45BDCF-7E83-417A-BF8C-76650C837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AB7C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AAB7C7"/>
                </a:solidFill>
                <a:latin typeface="Aptos"/>
                <a:ea typeface="Aptos"/>
                <a:cs typeface="Aptos"/>
              </a:rPr>
              <a:t>PFE Defense Deck</a:t>
            </a:r>
          </a:p>
        </p:txBody>
      </p:sp>
    </p:spTree>
    <p:extLst>
      <p:ext uri="{BB962C8B-B14F-4D97-AF65-F5344CB8AC3E}">
        <p14:creationId xmlns:p14="http://schemas.microsoft.com/office/powerpoint/2010/main" val="212894601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42D7090-1786-4782-96B8-3BA18A934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082E3F-B253-4C0A-AC63-B02DDBBED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8191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Android APKs hide the dependency evidence SBOM tools usually need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F9685E-705D-4EB4-814B-00E6043E0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0480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4" name="rule">
            <a:extLst xmlns:a="http://schemas.openxmlformats.org/drawingml/2006/main">
              <a:ext uri="{FF2B5EF4-FFF2-40B4-BE49-F238E27FC236}">
                <a16:creationId xmlns:a16="http://schemas.microsoft.com/office/drawing/2014/main" id="{5E60CA4E-426B-4472-8350-E0825AC89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5883F7-ABA8-4C88-BBCD-BF92DC49D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47625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D8AE6A-279B-4AD6-A64B-39CC78B97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619250"/>
            <a:ext cx="476250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FEC855-0CAE-432B-AE3B-DA6036157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478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67C59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367C59"/>
                </a:solidFill>
                <a:latin typeface="Aptos"/>
                <a:ea typeface="Aptos"/>
                <a:cs typeface="Aptos"/>
              </a:rPr>
              <a:t>Source project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5D23B5-33DD-4180-A138-EA006947B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81250"/>
            <a:ext cx="4000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Gradle files and version catalogs</a:t>
            </a:r>
          </a:p>
          <a:p xmlns:a="http://schemas.openxmlformats.org/drawingml/2006/main">
            <a:pPr algn="l">
              <a:defRPr sz="127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Dependency metadata visible</a:t>
            </a:r>
          </a:p>
          <a:p xmlns:a="http://schemas.openxmlformats.org/drawingml/2006/main">
            <a:pPr algn="l">
              <a:defRPr sz="127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Package coordinates explicit</a:t>
            </a:r>
          </a:p>
          <a:p xmlns:a="http://schemas.openxmlformats.org/drawingml/2006/main">
            <a:pPr algn="l">
              <a:defRPr sz="127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Source-based SBOM tools work well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7EB4F3-D487-41D6-8DF2-123209D1E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8478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34E5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C34E5A"/>
                </a:solidFill>
                <a:latin typeface="Aptos"/>
                <a:ea typeface="Aptos"/>
                <a:cs typeface="Aptos"/>
              </a:rPr>
              <a:t>Compiled APK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3A7F0C-3B19-452F-9B2C-24D771028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381250"/>
            <a:ext cx="4000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DEX bytecode mixed together</a:t>
            </a:r>
          </a:p>
          <a:p xmlns:a="http://schemas.openxmlformats.org/drawingml/2006/main">
            <a:pPr algn="l">
              <a:defRPr sz="127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Maven versions usually absent</a:t>
            </a:r>
          </a:p>
          <a:p xmlns:a="http://schemas.openxmlformats.org/drawingml/2006/main">
            <a:pPr algn="l">
              <a:defRPr sz="127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R8 can rename, shrink, inline</a:t>
            </a:r>
          </a:p>
          <a:p xmlns:a="http://schemas.openxmlformats.org/drawingml/2006/main">
            <a:pPr algn="l">
              <a:defRPr sz="127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Native files need separate handling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92B00C-069E-4B3E-AEDB-58B025334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3434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67C5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67C59"/>
                </a:solidFill>
                <a:latin typeface="Aptos"/>
                <a:ea typeface="Aptos"/>
                <a:cs typeface="Aptos"/>
              </a:rPr>
              <a:t>Normal SBOM input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20C2D3-4F0D-4D0C-82D0-BFD1EB7D6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3434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C34E5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34E5A"/>
                </a:solidFill>
                <a:latin typeface="Aptos"/>
                <a:ea typeface="Aptos"/>
                <a:cs typeface="Aptos"/>
              </a:rPr>
              <a:t>Reverse-SBOM input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EF970D-3E0D-4464-8320-240FD8F3A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1495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The MVP must infer component identity and version from static APK evidence.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6661E8-2974-4256-ABC6-FD05AE6EC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APK-to-SBOM MVP | emitted confirmation != full recall; v2 source-known lane != APK-only accuracy</a:t>
            </a:r>
          </a:p>
        </p:txBody>
      </p:sp>
    </p:spTree>
    <p:extLst>
      <p:ext uri="{BB962C8B-B14F-4D97-AF65-F5344CB8AC3E}">
        <p14:creationId xmlns:p14="http://schemas.microsoft.com/office/powerpoint/2010/main" val="5225501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C7B1D07-6645-487A-910D-EEAEFA3DE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RESEARCH GAP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878FCC-F601-40D2-BF81-372F35077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8191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The state of the art supports hybrid matching, not perfect claims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84FE51-7E6E-4B81-8CA5-2AFF40A11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0480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4" name="rule">
            <a:extLst xmlns:a="http://schemas.openxmlformats.org/drawingml/2006/main">
              <a:ext uri="{FF2B5EF4-FFF2-40B4-BE49-F238E27FC236}">
                <a16:creationId xmlns:a16="http://schemas.microsoft.com/office/drawing/2014/main" id="{934D7182-D536-4FF0-8164-0C732F6A5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8BF68A-A9E2-403D-B5D7-38413B355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B22"/>
          </a:solidFill>
          <a:ln xmlns:a="http://schemas.openxmlformats.org/drawingml/2006/main" w="9525">
            <a:solidFill>
              <a:srgbClr val="161B2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2AEC40-2378-45DA-8EEA-7B7603765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85925"/>
            <a:ext cx="2705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Lesson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1F2B91-7CEA-4955-B3C8-F59D868D4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1619250"/>
            <a:ext cx="4095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B22"/>
          </a:solidFill>
          <a:ln xmlns:a="http://schemas.openxmlformats.org/drawingml/2006/main" w="9525">
            <a:solidFill>
              <a:srgbClr val="161B2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209B99-88D7-496E-BF8A-888BDDBB5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685925"/>
            <a:ext cx="3943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from state of the art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DE6A0D-C6A1-4745-B4F2-CE97A22C7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619250"/>
            <a:ext cx="3867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1B22"/>
          </a:solidFill>
          <a:ln xmlns:a="http://schemas.openxmlformats.org/drawingml/2006/main" w="9525">
            <a:solidFill>
              <a:srgbClr val="161B2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54C004-888E-4AAD-8F3C-852BDA471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685925"/>
            <a:ext cx="3714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MVP response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B27000-F76D-4386-B5DF-3B29143CA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A5D9B6-AE5B-40C9-91C1-9AA4A8724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76475"/>
            <a:ext cx="2705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Package names are fragile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F74083-913F-46FB-B49E-AA49172F8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209800"/>
            <a:ext cx="4095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ABAD84-2962-45A3-9D82-0B1D1C8D3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276475"/>
            <a:ext cx="3943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LibScout, LibRadar, Systematic Assessment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45175B-6E77-4EE2-83CA-A18D273FA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209800"/>
            <a:ext cx="3867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DEF768-00A5-40E5-98DC-3361BED5F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276475"/>
            <a:ext cx="3714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Use as weak evidence, not sole proof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F3FC3C-5E98-4555-BF87-A6BA51162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E2B5C6-3C18-44F6-A4BF-E5B1548F3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67025"/>
            <a:ext cx="2705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Graph/opcode features help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9F6554-F441-4417-8DE2-1B6F81A77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800350"/>
            <a:ext cx="4095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F9760A-7C48-414B-857E-B3C347AE4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867025"/>
            <a:ext cx="3943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LibPecker, LibID, LibScan, ATVHunter, SAD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9489BB-1A49-4074-BDD2-EC060DDAF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800350"/>
            <a:ext cx="3867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8A9042-E92A-4392-9746-DE83C87C2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867025"/>
            <a:ext cx="3714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Fuse structural and bytecode signals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1D6431-0B0A-4DE0-98D9-EBCDC7BD4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9090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46D7C27-830D-4993-A63A-6B4C00227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57575"/>
            <a:ext cx="2705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R8 changes bytecode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D03273-54DD-47D0-92A2-331AF6B50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390900"/>
            <a:ext cx="4095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86C5C41-CF4D-432F-9A31-8D65C970F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457575"/>
            <a:ext cx="3943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LibHunter, LibAttention, ObfDetector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F645094-A53C-4951-83C9-98DC2EE2E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390900"/>
            <a:ext cx="3867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8DD5FBE-40E6-4FCF-B235-8EF6439A9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457575"/>
            <a:ext cx="3714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Evaluate by APK family and confidence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CF4F7CD-144A-4B94-97F3-59272D908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145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834DF1D-75E3-4A86-AFAE-52200A1A2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48125"/>
            <a:ext cx="2705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Exact versions are harder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7D73533-746F-4890-A3CE-CE99B1632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981450"/>
            <a:ext cx="4095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B489558-8BF0-4D5B-A248-6FC6F5DC0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048125"/>
            <a:ext cx="3943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SAD, TPL-Benchmark, LibMD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43A7E55-2609-49D6-98C8-46EBCC382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981450"/>
            <a:ext cx="3867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1433617-B7EB-4890-9788-6124090D1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048125"/>
            <a:ext cx="3714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Separate identity and version confidence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81BB343-DAA4-40B9-B5E9-F609D0A0E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86B8184-3821-45FA-9CE5-57BBDF2F9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38675"/>
            <a:ext cx="2705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SBOM output is rare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39E0E86-E61C-426B-B66E-D925C5202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572000"/>
            <a:ext cx="4095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37FB5CF-8E02-40EB-A361-62DA37EE2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638675"/>
            <a:ext cx="3943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LibMD, CycloneDX, PURL, OSV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2C40DA9-7FE2-4D32-821A-2747E87CD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572000"/>
            <a:ext cx="3867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035AB2D-0684-4F40-AA55-C4BEEE53E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638675"/>
            <a:ext cx="3714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Emit standard SBOM plus evidence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209487B-FF04-44A1-AAFD-00E87A706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769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Traceability source: docs/thesis/PAPER_TO_IMPLEMENTATION_TRACEABILITY.md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73CB097-E686-4BCF-9B10-B9E21201E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APK-to-SBOM MVP | emitted confirmation != full recall; v2 source-known lane != APK-only accuracy</a:t>
            </a:r>
          </a:p>
        </p:txBody>
      </p:sp>
    </p:spTree>
    <p:extLst>
      <p:ext uri="{BB962C8B-B14F-4D97-AF65-F5344CB8AC3E}">
        <p14:creationId xmlns:p14="http://schemas.microsoft.com/office/powerpoint/2010/main" val="48231525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679D2C3-5BC9-4791-BEB5-86843B1F9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PROJECT GOAL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CFEF06-5332-403A-A44E-BA05AC5A7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8191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The MVP gives strong claims when evidence is strong, and uncertainty when it is not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6A6791-BB10-4A7C-ACD0-9051229DE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0480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4" name="rule">
            <a:extLst xmlns:a="http://schemas.openxmlformats.org/drawingml/2006/main">
              <a:ext uri="{FF2B5EF4-FFF2-40B4-BE49-F238E27FC236}">
                <a16:creationId xmlns:a16="http://schemas.microsoft.com/office/drawing/2014/main" id="{0F0C1116-436E-4605-9C1B-84A7A67A9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FAF7B8-1D75-4E68-A495-3A65689B5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14500"/>
            <a:ext cx="33337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1CA902-09E5-4E5D-9FBB-E9F4CF5E4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9621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56AC3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356AC3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223478-6CC8-401D-8953-03A39C539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81250"/>
            <a:ext cx="228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compiled APK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5BB7AA-AB8C-42F5-B59B-F554D58E9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2381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DEX + manifest + resources + native files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C4B84D-A465-42F9-B40B-41ED08F9C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05250"/>
            <a:ext cx="2476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No Gradle dependency tree required at runtime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C6C4B7-736D-4F22-9B09-6AC303072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714500"/>
            <a:ext cx="68961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9D8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0D890D-0ADA-4A39-B1FC-D2A65CC45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9621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B8C31A-0992-44A8-82EE-F5538DE72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476500"/>
            <a:ext cx="2571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9D8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92196C-4689-4E0E-95B3-239BF4D77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533650"/>
            <a:ext cx="2495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Detected Maven components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F31F41-4863-468F-8175-4E940FCE0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476500"/>
            <a:ext cx="2571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56AC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E373C4-9099-4668-B661-8E65306F3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533650"/>
            <a:ext cx="2495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56AC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56AC3"/>
                </a:solidFill>
                <a:latin typeface="Aptos"/>
                <a:ea typeface="Aptos"/>
                <a:cs typeface="Aptos"/>
              </a:rPr>
              <a:t>Version confidence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0485CC-617E-48C4-9752-7069570CF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162300"/>
            <a:ext cx="2571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A2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0164CF-13A8-4758-B8B7-FDD8555B1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219450"/>
            <a:ext cx="2495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D89A2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89A2B"/>
                </a:solidFill>
                <a:latin typeface="Aptos"/>
                <a:ea typeface="Aptos"/>
                <a:cs typeface="Aptos"/>
              </a:rPr>
              <a:t>Ambiguous version sets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09035A-25CA-47CE-AEDD-9F344CFFC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162300"/>
            <a:ext cx="2571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67C5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56B781-437E-4E6D-9CAC-69E8AC241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219450"/>
            <a:ext cx="2495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67C59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67C59"/>
                </a:solidFill>
                <a:latin typeface="Aptos"/>
                <a:ea typeface="Aptos"/>
                <a:cs typeface="Aptos"/>
              </a:rPr>
              <a:t>CycloneDX SBOM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C06C0D-F315-4749-A20A-661201A20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848100"/>
            <a:ext cx="2571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F5FA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2A260A-434F-4745-8BCD-4837468D8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905250"/>
            <a:ext cx="2495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F5FA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5FA8"/>
                </a:solidFill>
                <a:latin typeface="Aptos"/>
                <a:ea typeface="Aptos"/>
                <a:cs typeface="Aptos"/>
              </a:rPr>
              <a:t>OSV vulnerability results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03EF20-4E85-4CF0-94CB-389BF9ADD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054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Core policy: do not hide hard APKs and do not force unsupported exact versions.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78979C-1375-465C-BBBB-59C7B3199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APK-to-SBOM MVP | emitted confirmation != full recall; v2 source-known lane != APK-only accuracy</a:t>
            </a:r>
          </a:p>
        </p:txBody>
      </p:sp>
    </p:spTree>
    <p:extLst>
      <p:ext uri="{BB962C8B-B14F-4D97-AF65-F5344CB8AC3E}">
        <p14:creationId xmlns:p14="http://schemas.microsoft.com/office/powerpoint/2010/main" val="164824211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DA574BA-4E30-446C-B73A-2FD13FDF9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A51A66-1F7E-421A-A56E-462787E18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8191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The MVP is an end-to-end static APK-to-SBOM pipeline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6C1B2E-AE62-48A7-810F-509F691C9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0480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4" name="rule">
            <a:extLst xmlns:a="http://schemas.openxmlformats.org/drawingml/2006/main">
              <a:ext uri="{FF2B5EF4-FFF2-40B4-BE49-F238E27FC236}">
                <a16:creationId xmlns:a16="http://schemas.microsoft.com/office/drawing/2014/main" id="{49C9A270-6960-47F5-B18B-AC2C94A9F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B9263E-5759-4192-A8AE-A7A30022C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1404257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AC3"/>
          </a:solidFill>
          <a:ln xmlns:a="http://schemas.openxmlformats.org/drawingml/2006/main" w="9525">
            <a:solidFill>
              <a:srgbClr val="356AC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774D60-3C85-46DD-B118-AE71F3C60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52625"/>
            <a:ext cx="1289957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APK extraction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72AA06-3768-42BD-902F-273288D84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1957" y="1981200"/>
            <a:ext cx="171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C04C4F-FBA4-423B-9A07-E737DB214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3407" y="1809750"/>
            <a:ext cx="1404257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7983BA-D70B-444C-BCD8-CACFF1A06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0557" y="1952625"/>
            <a:ext cx="1289957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DEX analysis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C09147-95D8-4789-AF3F-C31E18330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7664" y="1981200"/>
            <a:ext cx="171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0584AF-96E0-4629-86A1-2D62F2618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9114" y="1809750"/>
            <a:ext cx="1404257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8EF92B-B237-4247-96DA-DC67EC7BE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6264" y="1952625"/>
            <a:ext cx="1289957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Reference DB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3D809C-2CAB-4D84-AFB9-250AB90CF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3371" y="1981200"/>
            <a:ext cx="171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D7F388-FD0B-46B0-83CC-3726235A6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4821" y="1809750"/>
            <a:ext cx="1404257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78E3E4-7583-47D0-BA11-0947F71B2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1971" y="1952625"/>
            <a:ext cx="1289957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Hybrid matching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E3CF0C-91FA-46E6-A212-4A1159C87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9079" y="1981200"/>
            <a:ext cx="171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9D7C3F-F47C-47C5-88AE-A2D34B5FA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0529" y="1809750"/>
            <a:ext cx="1404257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91F135-EDFE-417D-9AC9-C6FF48B17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7679" y="1952625"/>
            <a:ext cx="1289957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Confidence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66880C-DEAE-41BC-95A1-4159E2382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4786" y="1981200"/>
            <a:ext cx="171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21FBB5-6C63-4005-AC99-D18D0C30A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6236" y="1809750"/>
            <a:ext cx="1404257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61BFD9-058E-4163-B254-952485B9C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3386" y="1952625"/>
            <a:ext cx="1289957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CycloneDX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26DE96-FC7D-42C6-AF02-ACB675290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0493" y="1981200"/>
            <a:ext cx="171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-&gt;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E2FC87-2767-4C51-9834-7FFF9EA35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1943" y="1809750"/>
            <a:ext cx="1404257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4521E2-835B-4916-9BE6-88AD7F7D3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9093" y="1952625"/>
            <a:ext cx="1289957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OSV report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C2B575A-5255-4C31-A583-9ED5FA77C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23812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56AC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9F8BB0F-2C66-4B3A-9EE6-21937661E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575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56AC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56AC3"/>
                </a:solidFill>
                <a:latin typeface="Aptos"/>
                <a:ea typeface="Aptos"/>
                <a:cs typeface="Aptos"/>
              </a:rPr>
              <a:t>APK extraction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5DB95AA-FC34-4E62-838F-ACF666DE8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76650"/>
            <a:ext cx="200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standard/nonstandard DEX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manifest metadata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native .so hashes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627D3AF-29B0-48F6-8760-2834EF43C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048000"/>
            <a:ext cx="23812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9D8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CA3FCC9-E93F-4F2A-B110-10B27CC0A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2575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DEX analysis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26678BE-7605-4A40-8C2E-91AE96644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676650"/>
            <a:ext cx="200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classes, methods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opcodes, literals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class dependency graph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D7EC528-42E4-4E9E-A310-044A2C4FF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048000"/>
            <a:ext cx="23812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A2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627542C-9D9C-44AA-982F-D5A1251F3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2575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D89A2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2B"/>
                </a:solidFill>
                <a:latin typeface="Aptos"/>
                <a:ea typeface="Aptos"/>
                <a:cs typeface="Aptos"/>
              </a:rPr>
              <a:t>Reference DB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FD4DE32-15DE-4FFD-9CE4-B240B2E8D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676650"/>
            <a:ext cx="200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Maven JAR/AAR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D8 conversion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SQLite features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C581B6B-CFB7-47D9-ACA1-69D84A81F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048000"/>
            <a:ext cx="23812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67C5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1329BDA-6B78-4066-AD36-B6A1A6881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2575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67C59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67C59"/>
                </a:solidFill>
                <a:latin typeface="Aptos"/>
                <a:ea typeface="Aptos"/>
                <a:cs typeface="Aptos"/>
              </a:rPr>
              <a:t>Decision layer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347AEE3-CAD1-4C75-B296-60A8C3E47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676650"/>
            <a:ext cx="200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identity status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version status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ambiguity set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ED222B8-C27E-4C5F-BCD3-14BCE2034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67350"/>
            <a:ext cx="990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96575"/>
                </a:solidFill>
                <a:latin typeface="Aptos"/>
                <a:ea typeface="Aptos"/>
                <a:cs typeface="Aptos"/>
              </a:rPr>
              <a:t>Implementation map: src/apk_sbom/* + scripts/build_* evaluation generators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D5D93DF-0132-4872-810F-C9A6EF78C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APK-to-SBOM MVP | emitted confirmation != full recall; v2 source-known lane != APK-only accuracy</a:t>
            </a:r>
          </a:p>
        </p:txBody>
      </p:sp>
    </p:spTree>
    <p:extLst>
      <p:ext uri="{BB962C8B-B14F-4D97-AF65-F5344CB8AC3E}">
        <p14:creationId xmlns:p14="http://schemas.microsoft.com/office/powerpoint/2010/main" val="178357738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62E6CF8-073B-43DF-BEC5-B168C3449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EVIDENCE SIGNALS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55DBF2-6B5F-4869-930F-C864506C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8191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The matcher combines complementary evidence instead of trusting one fragile signal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8D9FB5-3CD1-4418-8FA7-F399E3DCB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0480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4" name="rule">
            <a:extLst xmlns:a="http://schemas.openxmlformats.org/drawingml/2006/main">
              <a:ext uri="{FF2B5EF4-FFF2-40B4-BE49-F238E27FC236}">
                <a16:creationId xmlns:a16="http://schemas.microsoft.com/office/drawing/2014/main" id="{C9C11D88-3B6D-4EB9-AE5B-1FC9C5FEF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9D052F-A4A6-4A4E-9FAD-A78FCE083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323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AC3"/>
          </a:solidFill>
          <a:ln xmlns:a="http://schemas.openxmlformats.org/drawingml/2006/main" w="9525">
            <a:solidFill>
              <a:srgbClr val="356AC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8B6477-EB25-4CC1-A554-A5D5D8917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47825"/>
            <a:ext cx="3086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Signal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FB8F65-4045-4B64-9BD7-41189C30F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1581150"/>
            <a:ext cx="495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AC3"/>
          </a:solidFill>
          <a:ln xmlns:a="http://schemas.openxmlformats.org/drawingml/2006/main" w="9525">
            <a:solidFill>
              <a:srgbClr val="356AC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434DF8-D45E-46C0-AB88-064E5E3E6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647825"/>
            <a:ext cx="4800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Purpose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4711E3-2891-4A48-80C5-2CBDB6AB6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581150"/>
            <a:ext cx="2628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AC3"/>
          </a:solidFill>
          <a:ln xmlns:a="http://schemas.openxmlformats.org/drawingml/2006/main" w="9525">
            <a:solidFill>
              <a:srgbClr val="356AC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D0F050-D337-4176-A6E5-F669F99AD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647825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Status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F80A55-EB8E-41C0-86D6-ED54A417A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323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F89C2D-7B91-4FFD-A5B5-26A293E67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3086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Package/class/method overlap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DCFEDA-702A-4A61-89F5-9CB62EDB0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133600"/>
            <a:ext cx="495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37CC50-6A35-4274-96BC-68A97A94D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200275"/>
            <a:ext cx="4800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Candidate generation and identity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1207EC-80F5-4781-A206-FCECB0375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133600"/>
            <a:ext cx="2628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438B21-EEB4-41D2-8150-2B48E295B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200275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core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7B7E22-5703-4D27-BBE6-0F79FADF2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323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917098-EE6B-411A-9CD8-FBB0B6BF8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52725"/>
            <a:ext cx="3086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Opcode histograms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04B498-96A7-4916-B806-A629AC06C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686050"/>
            <a:ext cx="495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E5F172-00F9-4D1A-8D4A-842C055CD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752725"/>
            <a:ext cx="4800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Bytecode similarity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86003C-B92B-4995-9042-908A7542D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686050"/>
            <a:ext cx="2628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9F83C60-CB73-453E-BCA3-9500431DD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752725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core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CD2E01-EE3E-4195-B3AA-8726F21FC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323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BC8B20C-38BD-4F68-92C7-12322477B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05175"/>
            <a:ext cx="3086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Class dependency graph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7690484-8B5E-4286-BEAF-B86FC2459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238500"/>
            <a:ext cx="495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456AE85-66D5-41F8-820B-751617958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305175"/>
            <a:ext cx="4800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Structural evidence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E66BFC4-5E3F-408D-BD38-F77EFCA88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238500"/>
            <a:ext cx="2628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89D348E-6861-4401-90B4-825B5ED40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305175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core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1DD23C9-B9F8-435F-B730-9166F06C8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323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8DABB46-A08B-4859-A1FF-A3F05574A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3086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Literals/version-unique evidence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3633CFF-68AF-49C7-B6DB-316AA72B0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90950"/>
            <a:ext cx="495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027C425-B31F-47E1-A597-ECA748FF5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857625"/>
            <a:ext cx="4800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Version tie-breaking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0C3F803-EC8C-46C9-89D9-75EDA85F1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790950"/>
            <a:ext cx="2628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EAE8032-A44F-4B65-BE0A-262FC5A35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857625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core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E2BB0FA-4264-46B8-9C3A-C18396FBF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323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196C6DD-AD32-491D-BD33-AC4C93634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10075"/>
            <a:ext cx="3086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Maven POM metadata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520138B-AAC0-4F8A-BC92-1D7CBEB48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343400"/>
            <a:ext cx="495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74AF903-6E9D-45F3-A075-8C6628BC2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410075"/>
            <a:ext cx="4800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Conservative dependency coherence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AB691FD-E7E3-43FB-83E6-F960A34A1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343400"/>
            <a:ext cx="2628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660F106-34F2-41D0-A02A-EDCF1D95A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410075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guarded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48F5BB7-B191-4771-9F07-83A520DB5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323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8F534F1-B6F9-43E9-B962-20CB682CC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62525"/>
            <a:ext cx="3086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API refs / opcode tri-grams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3AAE8C6-A77B-4413-AC19-1E94BD700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895850"/>
            <a:ext cx="495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29BA88A-DD31-4398-B8A9-73049730B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962525"/>
            <a:ext cx="4800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Independent experimental signals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F9A26BE-F997-44B0-A6CC-A24B4F78B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895850"/>
            <a:ext cx="2628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B21B4B2-ECDD-4F18-A14A-04AD645F4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962525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disabled globally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A188152-6C19-4891-81F2-FCE8B07A2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65785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34E5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34E5A"/>
                </a:solidFill>
                <a:latin typeface="Aptos"/>
                <a:ea typeface="Aptos"/>
                <a:cs typeface="Aptos"/>
              </a:rPr>
              <a:t>Negative experiments are evidence too: API weight changed no metrics; opcode tri-grams regressed controls.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AC4FE6A-94C5-4C9B-A7C0-A94B073BC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APK-to-SBOM MVP | emitted confirmation != full recall; v2 source-known lane != APK-only accuracy</a:t>
            </a:r>
          </a:p>
        </p:txBody>
      </p:sp>
    </p:spTree>
    <p:extLst>
      <p:ext uri="{BB962C8B-B14F-4D97-AF65-F5344CB8AC3E}">
        <p14:creationId xmlns:p14="http://schemas.microsoft.com/office/powerpoint/2010/main" val="140100242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56027B6-72F4-47B2-B73B-36BD7C5A2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CONFIDENCE AND AMBIGUITY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DE7516-7EDA-4D76-8332-5CEDECA18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8191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Identity confidence and version confidence are intentionally separate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B44FBD-A070-4CC7-8DF6-5E07BBA68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0480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4" name="rule">
            <a:extLst xmlns:a="http://schemas.openxmlformats.org/drawingml/2006/main">
              <a:ext uri="{FF2B5EF4-FFF2-40B4-BE49-F238E27FC236}">
                <a16:creationId xmlns:a16="http://schemas.microsoft.com/office/drawing/2014/main" id="{31E0FA6F-BD67-4095-8E6D-D8EC79BD3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BC1BF4-B323-4EF0-B139-A5723B702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90700"/>
            <a:ext cx="2857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56AC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AB2FC6-6A73-4712-870E-871FC20DF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038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56AC3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356AC3"/>
                </a:solidFill>
                <a:latin typeface="Aptos"/>
                <a:ea typeface="Aptos"/>
                <a:cs typeface="Aptos"/>
              </a:rPr>
              <a:t>Library identity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948746-6ADD-480B-8BCB-314DDE983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09850"/>
            <a:ext cx="2362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Is this component present?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C0B312-BFF8-466A-B01D-534E13D58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476625"/>
            <a:ext cx="2343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575"/>
                </a:solidFill>
                <a:latin typeface="Cascadia Mono"/>
                <a:ea typeface="Cascadia Mono"/>
                <a:cs typeface="Cascadia Mono"/>
              </a:defRPr>
            </a:pPr>
            <a:r>
              <a:rPr sz="1050" b="0">
                <a:solidFill>
                  <a:srgbClr val="596575"/>
                </a:solidFill>
                <a:latin typeface="Cascadia Mono"/>
                <a:ea typeface="Cascadia Mono"/>
                <a:cs typeface="Cascadia Mono"/>
              </a:rPr>
              <a:t>identity-confidence</a:t>
            </a:r>
          </a:p>
          <a:p xmlns:a="http://schemas.openxmlformats.org/drawingml/2006/main">
            <a:pPr algn="l">
              <a:defRPr sz="1050" b="0">
                <a:solidFill>
                  <a:srgbClr val="596575"/>
                </a:solidFill>
                <a:latin typeface="Cascadia Mono"/>
                <a:ea typeface="Cascadia Mono"/>
                <a:cs typeface="Cascadia Mono"/>
              </a:defRPr>
            </a:pPr>
            <a:r>
              <a:rPr sz="1050" b="0">
                <a:solidFill>
                  <a:srgbClr val="596575"/>
                </a:solidFill>
                <a:latin typeface="Cascadia Mono"/>
                <a:ea typeface="Cascadia Mono"/>
                <a:cs typeface="Cascadia Mono"/>
              </a:rPr>
              <a:t>identity-status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9760AE-1EA2-4BBD-8D3C-119DC99CA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790700"/>
            <a:ext cx="2857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9D8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AFFA64-271A-4CCF-AE05-3424492DD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038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Version confidence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30EF8F-32AA-4CF4-B201-2D96C2828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609850"/>
            <a:ext cx="2362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Is this exact version supported?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BD71F0-1E24-46F7-AD06-FADF88DC0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476625"/>
            <a:ext cx="2343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575"/>
                </a:solidFill>
                <a:latin typeface="Cascadia Mono"/>
                <a:ea typeface="Cascadia Mono"/>
                <a:cs typeface="Cascadia Mono"/>
              </a:defRPr>
            </a:pPr>
            <a:r>
              <a:rPr sz="1050" b="0">
                <a:solidFill>
                  <a:srgbClr val="596575"/>
                </a:solidFill>
                <a:latin typeface="Cascadia Mono"/>
                <a:ea typeface="Cascadia Mono"/>
                <a:cs typeface="Cascadia Mono"/>
              </a:rPr>
              <a:t>version-confidence</a:t>
            </a:r>
          </a:p>
          <a:p xmlns:a="http://schemas.openxmlformats.org/drawingml/2006/main">
            <a:pPr algn="l">
              <a:defRPr sz="1050" b="0">
                <a:solidFill>
                  <a:srgbClr val="596575"/>
                </a:solidFill>
                <a:latin typeface="Cascadia Mono"/>
                <a:ea typeface="Cascadia Mono"/>
                <a:cs typeface="Cascadia Mono"/>
              </a:defRPr>
            </a:pPr>
            <a:r>
              <a:rPr sz="1050" b="0">
                <a:solidFill>
                  <a:srgbClr val="596575"/>
                </a:solidFill>
                <a:latin typeface="Cascadia Mono"/>
                <a:ea typeface="Cascadia Mono"/>
                <a:cs typeface="Cascadia Mono"/>
              </a:rPr>
              <a:t>version-status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37A94D-9A6E-4CB5-8E9E-3BCAD7579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790700"/>
            <a:ext cx="2857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A2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0319BB-D4C9-43A2-9352-1C9BF82EC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38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D89A2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D89A2B"/>
                </a:solidFill>
                <a:latin typeface="Aptos"/>
                <a:ea typeface="Aptos"/>
                <a:cs typeface="Aptos"/>
              </a:rPr>
              <a:t>Ambiguous versions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2EF9AD-3FA9-4A72-A3B7-35A3FCFCE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09850"/>
            <a:ext cx="2362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Which nearby versions are plausible?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E62AC1-2932-4CF7-875F-8E335A1A0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476625"/>
            <a:ext cx="2343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96575"/>
                </a:solidFill>
                <a:latin typeface="Cascadia Mono"/>
                <a:ea typeface="Cascadia Mono"/>
                <a:cs typeface="Cascadia Mono"/>
              </a:defRPr>
            </a:pPr>
            <a:r>
              <a:rPr sz="1050" b="0">
                <a:solidFill>
                  <a:srgbClr val="596575"/>
                </a:solidFill>
                <a:latin typeface="Cascadia Mono"/>
                <a:ea typeface="Cascadia Mono"/>
                <a:cs typeface="Cascadia Mono"/>
              </a:rPr>
              <a:t>ambiguous-versions</a:t>
            </a:r>
          </a:p>
          <a:p xmlns:a="http://schemas.openxmlformats.org/drawingml/2006/main">
            <a:pPr algn="l">
              <a:defRPr sz="1050" b="0">
                <a:solidFill>
                  <a:srgbClr val="596575"/>
                </a:solidFill>
                <a:latin typeface="Cascadia Mono"/>
                <a:ea typeface="Cascadia Mono"/>
                <a:cs typeface="Cascadia Mono"/>
              </a:defRPr>
            </a:pPr>
            <a:r>
              <a:rPr sz="1050" b="0">
                <a:solidFill>
                  <a:srgbClr val="596575"/>
                </a:solidFill>
                <a:latin typeface="Cascadia Mono"/>
                <a:ea typeface="Cascadia Mono"/>
                <a:cs typeface="Cascadia Mono"/>
              </a:rPr>
              <a:t>version-ambiguity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EE10DD-DDCD-4A46-B562-DC21E6ECC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067300"/>
            <a:ext cx="971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Why it matters: a real library with an uncertain version should not create a false confirmed CVE result.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C37665-0060-4742-8F76-DC2096A86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APK-to-SBOM MVP | emitted confirmation != full recall; v2 source-known lane != APK-only accuracy</a:t>
            </a:r>
          </a:p>
        </p:txBody>
      </p:sp>
    </p:spTree>
    <p:extLst>
      <p:ext uri="{BB962C8B-B14F-4D97-AF65-F5344CB8AC3E}">
        <p14:creationId xmlns:p14="http://schemas.microsoft.com/office/powerpoint/2010/main" val="93237225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65F4160-97EA-47AA-8CD9-E483EE823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EVALUATION DESIGN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9577DF-0FEA-4E5A-A2E1-A807C3B71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8191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Evaluation is by APK family, not by hiding hard cases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21A657-4750-474F-BB29-D13C0F75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0480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4" name="rule">
            <a:extLst xmlns:a="http://schemas.openxmlformats.org/drawingml/2006/main">
              <a:ext uri="{FF2B5EF4-FFF2-40B4-BE49-F238E27FC236}">
                <a16:creationId xmlns:a16="http://schemas.microsoft.com/office/drawing/2014/main" id="{531A8D95-6196-4A5B-997E-63CA91545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EB25EA-2E0D-40CB-B4D0-BFF03CBA3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19250"/>
            <a:ext cx="8953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D613DC-A0FB-4096-823D-42EE92021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19250"/>
            <a:ext cx="95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7C5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74B6F6-7090-4EAC-AAA2-6911F1823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75260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Controlled APKs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329D0C-7426-47BF-ADFA-1689B3B3B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70497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67C59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367C59"/>
                </a:solidFill>
                <a:latin typeface="Aptos"/>
                <a:ea typeface="Aptos"/>
                <a:cs typeface="Aptos"/>
              </a:rPr>
              <a:t>72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A19EBE-E9A4-49D3-AB6E-41A9A6D31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762125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known ground truth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DD05C5-C3C5-4571-8C98-D417A0EEE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62200"/>
            <a:ext cx="8953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DFC1CD-2BD6-43CC-940E-AB4258D3C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62200"/>
            <a:ext cx="95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D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E3AAE4-F515-4B89-A55B-C9420370A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4955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Clean source-validated real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7AAA91-84DB-464A-88B9-A09560D30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44792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74CACB-CFCC-4E40-8485-A9CB87E21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505075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strong exact-version evidence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50044D-94A4-4F06-B960-7F50D0F8B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05150"/>
            <a:ext cx="8953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B2FD68-0F8A-4E24-8984-21D5110B6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05150"/>
            <a:ext cx="95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27FB14-03C0-46A3-844E-6FACB452C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23850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Partial source-validated real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EE5241-8359-497D-8963-98A4DB0CB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19087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D89A2B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D89A2B"/>
                </a:solidFill>
                <a:latin typeface="Aptos"/>
                <a:ea typeface="Aptos"/>
                <a:cs typeface="Aptos"/>
              </a:rPr>
              <a:t>97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C14A38-CBAB-4AF9-BC93-F119BFD09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248025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realistic hard cases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2EC6AB-A10E-4033-B079-E5066FD5C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48100"/>
            <a:ext cx="8953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19CBC8-5D42-4A32-8E2F-63005DDAC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48100"/>
            <a:ext cx="95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34E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50B57D-3007-47E0-B0CE-330EA15F8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9814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Source-linked blocked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DDE180A-2AFB-4542-A019-D14261118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93382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34E5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C34E5A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69A67B-C441-4AD1-881C-B419F5C04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990975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none remain after proof gates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B31A0C7-0747-43D5-997F-31C9DB128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91050"/>
            <a:ext cx="8953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B620189-23C6-4CD8-BCBA-AAF53F3BD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91050"/>
            <a:ext cx="95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5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144A2E1-A698-4358-8473-BCD7B7AA1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72440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Limitation cases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A76E9ED-8231-4374-942E-3B474917D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67677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6F5FA8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6F5FA8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9BAFE8F-19B4-466F-B302-56FFB1D56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733925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native/hidden-code/obfuscation boundaries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65547C1-F2B0-49F5-A036-60F25BF8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6388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No rows are hidden: blocked is zero, and boundary cases stay visible but outside exact Maven-version accuracy.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F183644-9BF4-4ABD-9482-7B58A39ED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APK-to-SBOM MVP | emitted confirmation != full recall; v2 source-known lane != APK-only accuracy</a:t>
            </a:r>
          </a:p>
        </p:txBody>
      </p:sp>
    </p:spTree>
    <p:extLst>
      <p:ext uri="{BB962C8B-B14F-4D97-AF65-F5344CB8AC3E}">
        <p14:creationId xmlns:p14="http://schemas.microsoft.com/office/powerpoint/2010/main" val="63069760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AE01EBF-A95E-4D96-B820-DA063653B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MAIN RESULTS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9A64CF-1C74-4BD2-8EF2-B1D6A9A2F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8191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Main results: normal APK validation and v2 upper-bound are different lanes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1FE5C5-2849-4975-894A-9DADDF6D7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0480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4" name="rule">
            <a:extLst xmlns:a="http://schemas.openxmlformats.org/drawingml/2006/main">
              <a:ext uri="{FF2B5EF4-FFF2-40B4-BE49-F238E27FC236}">
                <a16:creationId xmlns:a16="http://schemas.microsoft.com/office/drawing/2014/main" id="{171569CA-9745-4F02-AF1E-BD9AD4E14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167CAA-F0F7-47DA-B44F-5CFE887F5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383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Controlled APKs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C94D55-DB66-4372-A223-FFA5E7FA9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165735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4"/>
          </a:solidFill>
          <a:ln xmlns:a="http://schemas.openxmlformats.org/drawingml/2006/main" w="9525">
            <a:solidFill>
              <a:srgbClr val="E8EDF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5ED8ED-29FF-4A54-A69B-1E222DC66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165735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7C5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FAF0EE-EC5E-4B5D-8645-48D5A4315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638300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7C5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67C59"/>
                </a:solidFill>
                <a:latin typeface="Aptos"/>
                <a:ea typeface="Aptos"/>
                <a:cs typeface="Aptos"/>
              </a:rPr>
              <a:t>84/84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305313-D685-4365-8DDA-25ED54604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479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Clean real APKs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41FCCE-CD79-4C23-B7B9-02D375AF5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26695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4"/>
          </a:solidFill>
          <a:ln xmlns:a="http://schemas.openxmlformats.org/drawingml/2006/main" w="9525">
            <a:solidFill>
              <a:srgbClr val="E8EDF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E88AF0-CE98-497C-B205-8BC9E9F2C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26695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D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15DC5B-81F4-4280-9099-6D1E86F64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247900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47/47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BC9079-85FE-4274-BCF9-C418B40E5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575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Partial real APKs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CE86C2-D020-4280-9DBA-B1939F65D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87655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4"/>
          </a:solidFill>
          <a:ln xmlns:a="http://schemas.openxmlformats.org/drawingml/2006/main" w="9525">
            <a:solidFill>
              <a:srgbClr val="E8EDF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FEC027-20C0-4416-B5DE-980E8A41B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876550"/>
            <a:ext cx="1219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CF7361-D157-41A3-9D4A-1B0820349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857500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A2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9A2B"/>
                </a:solidFill>
                <a:latin typeface="Aptos"/>
                <a:ea typeface="Aptos"/>
                <a:cs typeface="Aptos"/>
              </a:rPr>
              <a:t>880/1790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1BD7A6-1244-4E95-82B7-E5E7D9757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6710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All source-validated real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F144F9-45F1-4D20-A033-AE0AA9152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48615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4"/>
          </a:solidFill>
          <a:ln xmlns:a="http://schemas.openxmlformats.org/drawingml/2006/main" w="9525">
            <a:solidFill>
              <a:srgbClr val="E8EDF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B4BC14-E3CE-47D2-90DD-90705AE06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486150"/>
            <a:ext cx="12477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A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A4C892-DA89-4E01-B5EE-43265210F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467100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56AC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56AC3"/>
                </a:solidFill>
                <a:latin typeface="Aptos"/>
                <a:ea typeface="Aptos"/>
                <a:cs typeface="Aptos"/>
              </a:rPr>
              <a:t>927/1837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474B16-AD63-46E3-9B97-B0C359E1F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57700"/>
            <a:ext cx="56769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D88EFE-C354-4EEE-A0F7-39DC437F3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291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56AC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56AC3"/>
                </a:solidFill>
                <a:latin typeface="Aptos"/>
                <a:ea typeface="Aptos"/>
                <a:cs typeface="Aptos"/>
              </a:rPr>
              <a:t>Normal metric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C26C78-059E-45AA-9ED0-4F58BD92A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62915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927/1837 emitted Maven versions confirmed across 102 source-validated APKs.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BAA425E-941D-466E-9C72-3F35611F9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657350"/>
            <a:ext cx="37147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A2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2454A2E-DEA9-42D1-8EF7-154C02C15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9240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89A2B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D89A2B"/>
                </a:solidFill>
                <a:latin typeface="Aptos"/>
                <a:ea typeface="Aptos"/>
                <a:cs typeface="Aptos"/>
              </a:rPr>
              <a:t>V2 source-known lane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E3864A-3F56-453B-B810-C5ED3B95B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36220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D89A2B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D89A2B"/>
                </a:solidFill>
                <a:latin typeface="Aptos"/>
                <a:ea typeface="Aptos"/>
                <a:cs typeface="Aptos"/>
              </a:rPr>
              <a:t>6772/6772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4D35A3B-8B7A-4233-9DFB-5B388DBB4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895600"/>
            <a:ext cx="2905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emitted rows exact across 106 source-tree APK cases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7316218-DA72-41EE-9A8D-29668BA7E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638550"/>
            <a:ext cx="37147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34E5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C7D07B4-62E0-4CF8-A103-F842E68DF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8671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34E5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34E5A"/>
                </a:solidFill>
                <a:latin typeface="Aptos"/>
                <a:ea typeface="Aptos"/>
                <a:cs typeface="Aptos"/>
              </a:rPr>
              <a:t>Guardrail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832EBEF-B3AF-4D9D-8C53-B8C30335D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2672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This is an upper-bound recognition test under known source versions, not unconstrained APK-only accuracy.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F183184-DDE4-4029-9E24-F8AABE6DD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5245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Always report the normal metric and v2 lane separately.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37A0987-6F5D-40EC-B17A-5AB29AD6B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APK-to-SBOM MVP | emitted confirmation != full recall; v2 source-known lane != APK-only accuracy</a:t>
            </a:r>
          </a:p>
        </p:txBody>
      </p:sp>
    </p:spTree>
    <p:extLst>
      <p:ext uri="{BB962C8B-B14F-4D97-AF65-F5344CB8AC3E}">
        <p14:creationId xmlns:p14="http://schemas.microsoft.com/office/powerpoint/2010/main" val="32937241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8FACB8F-C233-4021-A4AE-F02CD8B7E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531877-AE70-4970-8532-1D79CAEAA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8191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Mixed results are evidence about APK types, not total failure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3FE914-3279-4062-A06E-7785F8D4E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0480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4" name="rule">
            <a:extLst xmlns:a="http://schemas.openxmlformats.org/drawingml/2006/main">
              <a:ext uri="{FF2B5EF4-FFF2-40B4-BE49-F238E27FC236}">
                <a16:creationId xmlns:a16="http://schemas.microsoft.com/office/drawing/2014/main" id="{D2E416ED-E597-4EB8-A4EA-60E1ECB91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4AA60B-67A4-475F-8B1E-8D98FF2E6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4095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D8A"/>
          </a:solidFill>
          <a:ln xmlns:a="http://schemas.openxmlformats.org/drawingml/2006/main" w="9525">
            <a:solidFill>
              <a:srgbClr val="1F9D8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94EFF6-6B02-4B31-959A-83CCC6177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85925"/>
            <a:ext cx="3943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Case family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F27211-EF09-4970-BD89-4BB47BEEF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619250"/>
            <a:ext cx="6762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9D8A"/>
          </a:solidFill>
          <a:ln xmlns:a="http://schemas.openxmlformats.org/drawingml/2006/main" w="9525">
            <a:solidFill>
              <a:srgbClr val="1F9D8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3A84CE-8EB1-4C49-B503-01AF6BDD0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685925"/>
            <a:ext cx="6610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50FB3D-5681-46D1-A0E1-115E16F29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4095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88CEEE-6A6F-4F9E-9890-60B748489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33625"/>
            <a:ext cx="3943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F-Droid, OpenTracks, Tusky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EE1EC8-9CAD-408E-B5AD-2B273885C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66950"/>
            <a:ext cx="6762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E8C8B6-699B-494B-A1C4-7CA3D1F56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333625"/>
            <a:ext cx="6610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Clean source-validated evidence; Tusky is clean but sparse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2ABF3A-4FAB-49CF-94E0-DA036B8EB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14650"/>
            <a:ext cx="4095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204716-7512-46B5-9322-0356E0AC6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81325"/>
            <a:ext cx="3943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NewPipe, AntennaPod, KDE, Wikipedia, Conversations, Aegis, FairEmail, Nextcloud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EDE4BB-61F8-4416-B4A1-BE8C6FDE8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14650"/>
            <a:ext cx="6762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D33209-5306-48D9-97A0-B1271D0DF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981325"/>
            <a:ext cx="6610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Useful partial evidence with AndroidX/Kotlin and version-band ambiguity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17185A-3B6E-4BF6-B71B-3A907DC33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62350"/>
            <a:ext cx="4095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BDE6CD-94A3-4D19-A633-C5605C2C1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29025"/>
            <a:ext cx="3943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Markor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390F1D-3B4F-49A8-BEF0-563A05B10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562350"/>
            <a:ext cx="6762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3C7E99-A70A-48BB-A23D-BEC080625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629025"/>
            <a:ext cx="6610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Older-dependency drift; app-specific calibration can regress others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10CE77-EB0D-4021-9FD3-6F0473C17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10050"/>
            <a:ext cx="4095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4EEEA3-03F4-4D10-A9DE-A521ADDB8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76725"/>
            <a:ext cx="3943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K-9 / Thunderbird Android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E3A81F-ADA0-4498-BB8D-41E3AD004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210050"/>
            <a:ext cx="6762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BFD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DA0D945-E4E1-472F-8DF4-EDEAE4B22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276725"/>
            <a:ext cx="6610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Source-validated partial after validation-only plugin-lite rescue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F6EBCAB-599C-468E-AD1B-0EFDB8C5F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57750"/>
            <a:ext cx="4095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2AD6E0-A1D8-4210-A2D9-34F7F8EFE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24425"/>
            <a:ext cx="3943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Organic Maps, Termux, hidden DEX, Simplify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EED4405-2825-4ACB-97BE-42E4B34A9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857750"/>
            <a:ext cx="6762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E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3600AF7-2A6C-4579-9C3E-3769EE2A2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924425"/>
            <a:ext cx="6610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Boundary evidence; native/hash-only, hidden-code, and obfuscation limitations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00912E0-9F0B-4450-A544-82266DD0E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810250"/>
            <a:ext cx="962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This is why the thesis reports APK families instead of a single polished score.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610FFC0-AB5B-4666-A4E8-87B175B6D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APK-to-SBOM MVP | emitted confirmation != full recall; v2 source-known lane != APK-only accuracy</a:t>
            </a:r>
          </a:p>
        </p:txBody>
      </p:sp>
    </p:spTree>
    <p:extLst>
      <p:ext uri="{BB962C8B-B14F-4D97-AF65-F5344CB8AC3E}">
        <p14:creationId xmlns:p14="http://schemas.microsoft.com/office/powerpoint/2010/main" val="173038249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73CA066-C7F4-479C-AB1C-B7DDC350B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DEMO 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F4B7DC-1962-463D-81A8-5E4A57A66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8191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The final demo shows SBOM/CVE output plus row-level transparency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779F9D-BCF9-4D96-87C0-D5F29A560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0480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4" name="rule">
            <a:extLst xmlns:a="http://schemas.openxmlformats.org/drawingml/2006/main">
              <a:ext uri="{FF2B5EF4-FFF2-40B4-BE49-F238E27FC236}">
                <a16:creationId xmlns:a16="http://schemas.microsoft.com/office/drawing/2014/main" id="{29DEB0FF-8CDC-4D8D-B739-4EB652357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B80507-9E2C-4062-A431-712CB099B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81150"/>
            <a:ext cx="33337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67C5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8A5D42-2660-4AF3-B53A-E5A5A5429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288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67C5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367C59"/>
                </a:solidFill>
                <a:latin typeface="Aptos"/>
                <a:ea typeface="Aptos"/>
                <a:cs typeface="Aptos"/>
              </a:rPr>
              <a:t>Clean SBOM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59688A-4B63-43AA-A09B-46D1A11A8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43150"/>
            <a:ext cx="25717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F-Droid HTML report</a:t>
            </a:r>
          </a:p>
          <a:p xmlns:a="http://schemas.openxmlformats.org/drawingml/2006/main">
            <a:pPr algn="l">
              <a:defRPr sz="10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CycloneDX JSON with Maven PURLs</a:t>
            </a:r>
          </a:p>
          <a:p xmlns:a="http://schemas.openxmlformats.org/drawingml/2006/main">
            <a:pPr algn="l">
              <a:defRPr sz="10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- 23/23 source-confirmed emitted Maven versions</a:t>
            </a:r>
          </a:p>
          <a:p xmlns:a="http://schemas.openxmlformats.org/drawingml/2006/main">
            <a:pPr algn="l">
              <a:defRPr sz="10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OSV returns 0 vulnerabilities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787800-8D73-4370-A56B-ECBFE3F0E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581150"/>
            <a:ext cx="33337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34E5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627D2A-8C09-4BAF-A9B4-BA003B466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8288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C34E5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C34E5A"/>
                </a:solidFill>
                <a:latin typeface="Aptos"/>
                <a:ea typeface="Aptos"/>
                <a:cs typeface="Aptos"/>
              </a:rPr>
              <a:t>Positive CVE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D4A693-FF7C-480C-9556-8A70CE3D8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343150"/>
            <a:ext cx="2619375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Jackson Databind fixture</a:t>
            </a:r>
          </a:p>
          <a:p xmlns:a="http://schemas.openxmlformats.org/drawingml/2006/main">
            <a:pPr algn="l">
              <a:defRPr sz="10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- 2.9.10.8 detected</a:t>
            </a:r>
          </a:p>
          <a:p xmlns:a="http://schemas.openxmlformats.org/drawingml/2006/main">
            <a:pPr algn="l">
              <a:defRPr sz="10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- 3 confirmed HIGH OSV advisories</a:t>
            </a:r>
          </a:p>
          <a:p xmlns:a="http://schemas.openxmlformats.org/drawingml/2006/main">
            <a:pPr algn="l">
              <a:defRPr sz="10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CVE-2020-36518, CVE-2022-42003, CVE-2022-42004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C1D15D-E9EA-4419-BE9D-5E584D04B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581150"/>
            <a:ext cx="33337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56AC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EBFD70-EF33-4CAD-87F7-92FE15110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8288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56AC3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356AC3"/>
                </a:solidFill>
                <a:latin typeface="Aptos"/>
                <a:ea typeface="Aptos"/>
                <a:cs typeface="Aptos"/>
              </a:rPr>
              <a:t>Transparency export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3F5419-E4B5-44B4-87F2-16B832387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343150"/>
            <a:ext cx="26289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- 12082 source rows</a:t>
            </a:r>
          </a:p>
          <a:p xmlns:a="http://schemas.openxmlformats.org/drawingml/2006/main">
            <a:pPr algn="l">
              <a:defRPr sz="10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- 5238 source-gap rows</a:t>
            </a:r>
          </a:p>
          <a:p xmlns:a="http://schemas.openxmlformats.org/drawingml/2006/main">
            <a:pPr algn="l">
              <a:defRPr sz="10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- 2515 explained/boundary rows</a:t>
            </a:r>
          </a:p>
          <a:p xmlns:a="http://schemas.openxmlformats.org/drawingml/2006/main">
            <a:pPr algn="l">
              <a:defRPr sz="10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- 442 missing-reference candidates</a:t>
            </a:r>
          </a:p>
          <a:p xmlns:a="http://schemas.openxmlformats.org/drawingml/2006/main">
            <a:pPr algn="l">
              <a:defRPr sz="1050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- 2281 matcher-recall candidates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92486B-6BED-435E-A314-0A3164185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24450"/>
            <a:ext cx="9858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Vulnerability rows are labeled source-confirmed, potential, report-only, or not queried; weak evidence is not promoted into fake confirmed CVEs.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4E9A11-6082-4BCA-99BB-015254227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APK-to-SBOM MVP | emitted confirmation != full recall; v2 source-known lane != APK-only accuracy</a:t>
            </a:r>
          </a:p>
        </p:txBody>
      </p:sp>
    </p:spTree>
    <p:extLst>
      <p:ext uri="{BB962C8B-B14F-4D97-AF65-F5344CB8AC3E}">
        <p14:creationId xmlns:p14="http://schemas.microsoft.com/office/powerpoint/2010/main" val="114661257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5155102-F7D3-4259-9B24-0AD96657C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9D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F9D8A"/>
                </a:solidFill>
                <a:latin typeface="Aptos"/>
                <a:ea typeface="Aptos"/>
                <a:cs typeface="Aptos"/>
              </a:rPr>
              <a:t>LIMITATIONS AND NEXT WORK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9A4F4C-08CA-4258-BFC4-FE542DC40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8191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51922"/>
                </a:solidFill>
                <a:latin typeface="Aptos Display"/>
                <a:ea typeface="Aptos Display"/>
                <a:cs typeface="Aptos Display"/>
              </a:rPr>
              <a:t>The MVP is credible because it exposes scope boundaries and next improvements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4CA6D8-FF00-4677-AA9F-5E5D73AF9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30480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4" name="rule">
            <a:extLst xmlns:a="http://schemas.openxmlformats.org/drawingml/2006/main">
              <a:ext uri="{FF2B5EF4-FFF2-40B4-BE49-F238E27FC236}">
                <a16:creationId xmlns:a16="http://schemas.microsoft.com/office/drawing/2014/main" id="{4FFE1922-A924-4CB4-9FD6-673062F3A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E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63FF5E-09DB-4A6F-8A2B-DEC6666BE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95450"/>
            <a:ext cx="514350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34E5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A8483A-3216-4DBE-A7EF-BAD1898ED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34E5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C34E5A"/>
                </a:solidFill>
                <a:latin typeface="Aptos"/>
                <a:ea typeface="Aptos"/>
                <a:cs typeface="Aptos"/>
              </a:rPr>
              <a:t>Current limitations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3449EE-8FFF-4676-93EF-6EE9950B6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57450"/>
            <a:ext cx="4000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normal metric is not full dependency recall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v2 lane is not APK-only accuracy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adjacent AndroidX/Kotlin versions can tie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native .so files are hash-only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hidden DEX/dynamic loading is risk-labeled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- 1425 matcher suggestions stay report-only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68CFAE-ABC1-4424-8841-B37FFB359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695450"/>
            <a:ext cx="514350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56AC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A96471-35FE-4525-ACFB-82AC2B19C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962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56AC3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356AC3"/>
                </a:solidFill>
                <a:latin typeface="Aptos"/>
                <a:ea typeface="Aptos"/>
                <a:cs typeface="Aptos"/>
              </a:rPr>
              <a:t>Next work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FACDA1-D6E1-440C-A537-B979DE1D3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457450"/>
            <a:ext cx="40005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improve matcher recall for 2281 exact-in-DB gaps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retry 442 remaining missing-reference candidates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add safe pruning/reranking controls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expand framework families</a:t>
            </a:r>
          </a:p>
          <a:p xmlns:a="http://schemas.openxmlformats.org/drawingml/2006/main">
            <a:pPr algn="l">
              <a:defRPr sz="1125" b="0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51922"/>
                </a:solidFill>
                <a:latin typeface="Aptos"/>
                <a:ea typeface="Aptos"/>
                <a:cs typeface="Aptos"/>
              </a:rPr>
              <a:t>- keep vulnerability confidence labels strict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C6372D-A36E-4484-B766-A6DAD98BA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600700"/>
            <a:ext cx="9753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5192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1922"/>
                </a:solidFill>
                <a:latin typeface="Aptos"/>
                <a:ea typeface="Aptos"/>
                <a:cs typeface="Aptos"/>
              </a:rPr>
              <a:t>Closing: useful, measurable, and transparent beats a perfect-looking score that hides difficult APKs.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0AF0E1-9FD4-49B5-846F-D98B032AA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9657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96575"/>
                </a:solidFill>
                <a:latin typeface="Aptos"/>
                <a:ea typeface="Aptos"/>
                <a:cs typeface="Aptos"/>
              </a:rPr>
              <a:t>APK-to-SBOM MVP | emitted confirmation != full recall; v2 source-known lane != APK-only accuracy</a:t>
            </a:r>
          </a:p>
        </p:txBody>
      </p:sp>
    </p:spTree>
    <p:extLst>
      <p:ext uri="{BB962C8B-B14F-4D97-AF65-F5344CB8AC3E}">
        <p14:creationId xmlns:p14="http://schemas.microsoft.com/office/powerpoint/2010/main" val="171710554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2026-06-15T20:00:59.1460000Z</dcterms:created>
  <dcterms:modified xsi:type="dcterms:W3CDTF">2026-06-15T20:00:59.1460000Z</dcterms:modified>
</coreProperties>
</file>