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7ea8204bf74b5f" /><Relationship Type="http://schemas.openxmlformats.org/officeDocument/2006/relationships/extended-properties" Target="/docProps/app.xml" Id="R282d959fe1844fe9" /><Relationship Type="http://schemas.openxmlformats.org/officeDocument/2006/relationships/officeDocument" Target="/ppt/presentation.xml" Id="Rba6a2f36762a43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59b4b40014433d"/>
  </p:sldMasterIdLst>
  <p:notesMasterIdLst>
    <p:notesMasterId xmlns:r="http://schemas.openxmlformats.org/officeDocument/2006/relationships" r:id="Rcae0d0161bb444fc"/>
  </p:notesMasterIdLst>
  <p:sldIdLst>
    <p:sldId xmlns:r="http://schemas.openxmlformats.org/officeDocument/2006/relationships" id="256" r:id="Redaf0fa3d11b4a2e"/>
    <p:sldId xmlns:r="http://schemas.openxmlformats.org/officeDocument/2006/relationships" id="257" r:id="R129f88ea8ddb4f70"/>
    <p:sldId xmlns:r="http://schemas.openxmlformats.org/officeDocument/2006/relationships" id="258" r:id="Reba17a595235475e"/>
    <p:sldId xmlns:r="http://schemas.openxmlformats.org/officeDocument/2006/relationships" id="259" r:id="R6deb98243a494022"/>
    <p:sldId xmlns:r="http://schemas.openxmlformats.org/officeDocument/2006/relationships" id="260" r:id="R71ca76fe07c34393"/>
    <p:sldId xmlns:r="http://schemas.openxmlformats.org/officeDocument/2006/relationships" id="261" r:id="R50f36123e9904de6"/>
    <p:sldId xmlns:r="http://schemas.openxmlformats.org/officeDocument/2006/relationships" id="262" r:id="R528af67b615c4d48"/>
    <p:sldId xmlns:r="http://schemas.openxmlformats.org/officeDocument/2006/relationships" id="263" r:id="Rc4fb040865494c8b"/>
    <p:sldId xmlns:r="http://schemas.openxmlformats.org/officeDocument/2006/relationships" id="264" r:id="R85cdd492453f48ae"/>
    <p:sldId xmlns:r="http://schemas.openxmlformats.org/officeDocument/2006/relationships" id="265" r:id="R213a94d66abe4fa0"/>
    <p:sldId xmlns:r="http://schemas.openxmlformats.org/officeDocument/2006/relationships" id="266" r:id="R73a4fad819d54138"/>
    <p:sldId xmlns:r="http://schemas.openxmlformats.org/officeDocument/2006/relationships" id="267" r:id="Rdff265c6edbe4acd"/>
    <p:sldId xmlns:r="http://schemas.openxmlformats.org/officeDocument/2006/relationships" id="268" r:id="R19ee32e15d554d9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412824b68741fc" /><Relationship Type="http://schemas.openxmlformats.org/officeDocument/2006/relationships/slideMaster" Target="/ppt/slideMasters/slideMaster1.xml" Id="R3059b4b40014433d" /><Relationship Type="http://schemas.openxmlformats.org/officeDocument/2006/relationships/notesMaster" Target="/ppt/notesMasters/notesMaster1.xml" Id="Rcae0d0161bb444fc" /><Relationship Type="http://schemas.openxmlformats.org/officeDocument/2006/relationships/presProps" Target="/ppt/presProps.xml" Id="R80139ba5e55e437a" /><Relationship Type="http://schemas.openxmlformats.org/officeDocument/2006/relationships/tableStyles" Target="/ppt/tableStyles.xml" Id="R0447183bcf65472b" /><Relationship Type="http://schemas.openxmlformats.org/officeDocument/2006/relationships/slide" Target="/ppt/slides/slide1.xml" Id="Redaf0fa3d11b4a2e" /><Relationship Type="http://schemas.openxmlformats.org/officeDocument/2006/relationships/slide" Target="/ppt/slides/slide2.xml" Id="R129f88ea8ddb4f70" /><Relationship Type="http://schemas.openxmlformats.org/officeDocument/2006/relationships/slide" Target="/ppt/slides/slide3.xml" Id="Reba17a595235475e" /><Relationship Type="http://schemas.openxmlformats.org/officeDocument/2006/relationships/slide" Target="/ppt/slides/slide4.xml" Id="R6deb98243a494022" /><Relationship Type="http://schemas.openxmlformats.org/officeDocument/2006/relationships/slide" Target="/ppt/slides/slide5.xml" Id="R71ca76fe07c34393" /><Relationship Type="http://schemas.openxmlformats.org/officeDocument/2006/relationships/slide" Target="/ppt/slides/slide6.xml" Id="R50f36123e9904de6" /><Relationship Type="http://schemas.openxmlformats.org/officeDocument/2006/relationships/slide" Target="/ppt/slides/slide7.xml" Id="R528af67b615c4d48" /><Relationship Type="http://schemas.openxmlformats.org/officeDocument/2006/relationships/slide" Target="/ppt/slides/slide8.xml" Id="Rc4fb040865494c8b" /><Relationship Type="http://schemas.openxmlformats.org/officeDocument/2006/relationships/slide" Target="/ppt/slides/slide9.xml" Id="R85cdd492453f48ae" /><Relationship Type="http://schemas.openxmlformats.org/officeDocument/2006/relationships/slide" Target="/ppt/slides/slide10.xml" Id="R213a94d66abe4fa0" /><Relationship Type="http://schemas.openxmlformats.org/officeDocument/2006/relationships/slide" Target="/ppt/slides/slide11.xml" Id="R73a4fad819d54138" /><Relationship Type="http://schemas.openxmlformats.org/officeDocument/2006/relationships/slide" Target="/ppt/slides/slide12.xml" Id="Rdff265c6edbe4acd" /><Relationship Type="http://schemas.openxmlformats.org/officeDocument/2006/relationships/slide" Target="/ppt/slides/slide13.xml" Id="R19ee32e15d554d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725916dff546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94ecb529064290" /><Relationship Type="http://schemas.openxmlformats.org/officeDocument/2006/relationships/notesMaster" Target="/ppt/notesMasters/notesMaster1.xml" Id="Ra76f564791cf45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271aa719734bb2" /><Relationship Type="http://schemas.openxmlformats.org/officeDocument/2006/relationships/notesMaster" Target="/ppt/notesMasters/notesMaster1.xml" Id="Re454f11248df4c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ce6ca198b84557" /><Relationship Type="http://schemas.openxmlformats.org/officeDocument/2006/relationships/notesMaster" Target="/ppt/notesMasters/notesMaster1.xml" Id="R112743c3b67348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8b20ea2b7c4f37" /><Relationship Type="http://schemas.openxmlformats.org/officeDocument/2006/relationships/notesMaster" Target="/ppt/notesMasters/notesMaster1.xml" Id="R739a66f8f1b341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c9808826424d97" /><Relationship Type="http://schemas.openxmlformats.org/officeDocument/2006/relationships/notesMaster" Target="/ppt/notesMasters/notesMaster1.xml" Id="R0e6e1230d53f42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3ad809efb248a3" /><Relationship Type="http://schemas.openxmlformats.org/officeDocument/2006/relationships/notesMaster" Target="/ppt/notesMasters/notesMaster1.xml" Id="Rf202706fc9db43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24e4e30b444e7" /><Relationship Type="http://schemas.openxmlformats.org/officeDocument/2006/relationships/notesMaster" Target="/ppt/notesMasters/notesMaster1.xml" Id="R22c37abc7fac4e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0a7a0f35594603" /><Relationship Type="http://schemas.openxmlformats.org/officeDocument/2006/relationships/notesMaster" Target="/ppt/notesMasters/notesMaster1.xml" Id="R509cb768d54740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a12e9a446a4ce9" /><Relationship Type="http://schemas.openxmlformats.org/officeDocument/2006/relationships/notesMaster" Target="/ppt/notesMasters/notesMaster1.xml" Id="Ra415159e70a543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fdcb0910b14eb9" /><Relationship Type="http://schemas.openxmlformats.org/officeDocument/2006/relationships/notesMaster" Target="/ppt/notesMasters/notesMaster1.xml" Id="Rb19aaf2ed93e44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da3c9c8b4e4814" /><Relationship Type="http://schemas.openxmlformats.org/officeDocument/2006/relationships/notesMaster" Target="/ppt/notesMasters/notesMaster1.xml" Id="R99e46f40c4244b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a8f8b447024a4b" /><Relationship Type="http://schemas.openxmlformats.org/officeDocument/2006/relationships/notesMaster" Target="/ppt/notesMasters/notesMaster1.xml" Id="Rd605a052eb404d7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ab7a88719934b32" /><Relationship Type="http://schemas.openxmlformats.org/officeDocument/2006/relationships/notesMaster" Target="/ppt/notesMasters/notesMaster1.xml" Id="Rf08a8a512e8b41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project starts from a realistic audit situation: we may only have an APK, not the source or Gradle files. The normal metric is 927/1837 emitted Maven versions confirmed across 102 source-validated real APKs. The final v2 source-known lane separately confirms 6772/6772 emitted rows across 106 source-tree cases under exact source-version slices.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SBOM tools are still useful when source metadata exists. The different problem here is APK-only analysis, where library versions must be inferred from compiled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literature does not justify claiming perfect matching. It justifies combining multiple signals and reporting limits honestly. The traceability matrix maps each MVP feature to papers/tools and experiments.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goal is a useful security artifact: an SBOM with evidence, confidence, and limitations. Ambiguity is not hidden; it is represented as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architecture carries static evidence from APK extraction all the way to CycloneDX and OSV. This is more than detecting a library name; it is a traceable SBOM workflow.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signal contributes a different kind of evidence. Optional signals were not promoted globally because the regression matrix did not support them.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component can be present even when the exact version is uncertain. The report and SBOM now preserve this distinction and export ambiguous versions.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split is a key research contribution. A single global score hides why the tool succeeds or fails across APK families.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phrase emitted Maven version confirmation rate for the normal metric. The v2 source-known lane is separate: 6772 emitted rows, all exact, but only under exact source coordinate-version slices.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we only showed clean cases, the tool would look stronger but the thesis would be weaker. Partial cases show the hard families and guide future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clean F-Droid report, the vulnerable Jackson report, and the final transparency export. The important point is that vulnerability and dependency rows are classified instead of collapsed into one overconfident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conclusion is not that the MVP is perfect. It is that the tool is useful, measurable, and honest about uncertainty, with clear next improvements.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AI layer as a guarded research contribution. The RandomForest is integrated for report-only suggestions. The MVP-safe Transformer is a stronger report-only risk-triage candidate. The raw-opcode negative result is retained honestly. Across the final clean and hard APK smoke, the AI section appears while selected versions, SBOM components, and vulnerability output remain unchanged.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cbcf28142947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7da66310ec436f" /><Relationship Type="http://schemas.openxmlformats.org/officeDocument/2006/relationships/slideLayout" Target="/ppt/slideLayouts/slideLayout1.xml" Id="Rccdc2dd81e924d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dc2dd81e924d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2289d03ac4866" /><Relationship Type="http://schemas.openxmlformats.org/officeDocument/2006/relationships/notesSlide" Target="/ppt/notesSlides/notesSlide1.xml" Id="R41737324ab284a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765fa5c084762" /><Relationship Type="http://schemas.openxmlformats.org/officeDocument/2006/relationships/notesSlide" Target="/ppt/notesSlides/notesSlide2.xml" Id="R933c317855d746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6c96fa73142fe" /><Relationship Type="http://schemas.openxmlformats.org/officeDocument/2006/relationships/notesSlide" Target="/ppt/notesSlides/notesSlide3.xml" Id="R9ecc0fb62b5c45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08edd157c4825" /><Relationship Type="http://schemas.openxmlformats.org/officeDocument/2006/relationships/notesSlide" Target="/ppt/notesSlides/notesSlide4.xml" Id="Rfea46daa401b4e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31c9363c2247ea" /><Relationship Type="http://schemas.openxmlformats.org/officeDocument/2006/relationships/notesSlide" Target="/ppt/notesSlides/notesSlide5.xml" Id="R7cd2f9fce10040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b846e7dfe48e6" /><Relationship Type="http://schemas.openxmlformats.org/officeDocument/2006/relationships/notesSlide" Target="/ppt/notesSlides/notesSlide6.xml" Id="Ra19ab1633a9545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0e4406c8b43b0" /><Relationship Type="http://schemas.openxmlformats.org/officeDocument/2006/relationships/notesSlide" Target="/ppt/notesSlides/notesSlide7.xml" Id="R751a72bbd3bb4d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cf01cdae8488e" /><Relationship Type="http://schemas.openxmlformats.org/officeDocument/2006/relationships/notesSlide" Target="/ppt/notesSlides/notesSlide8.xml" Id="R981d8fd98e2f41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a6d35daad45c8" /><Relationship Type="http://schemas.openxmlformats.org/officeDocument/2006/relationships/notesSlide" Target="/ppt/notesSlides/notesSlide9.xml" Id="Rd25db79303884f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11a9ff64de4869" /><Relationship Type="http://schemas.openxmlformats.org/officeDocument/2006/relationships/notesSlide" Target="/ppt/notesSlides/notesSlide10.xml" Id="R4ad2e70c00d141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297e7c8844a41" /><Relationship Type="http://schemas.openxmlformats.org/officeDocument/2006/relationships/notesSlide" Target="/ppt/notesSlides/notesSlide11.xml" Id="R7fa0957d464349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55ef8864b451f" /><Relationship Type="http://schemas.openxmlformats.org/officeDocument/2006/relationships/notesSlide" Target="/ppt/notesSlides/notesSlide12.xml" Id="R90bc3f27c7b64e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cfabdbbbe45f5" /><Relationship Type="http://schemas.openxmlformats.org/officeDocument/2006/relationships/notesSlide" Target="/ppt/notesSlides/notesSlide13.xml" Id="Rb3b6f5e57c0740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1B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74007A-2F23-4657-A4EE-039BBF3D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05FA4-A0BE-42CF-B673-FC00CD9C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382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Evidence-Based SBOM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17B87-81E3-48A6-B58C-25AEC0ED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FEFE8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FEFE8"/>
                </a:solidFill>
                <a:latin typeface="Aptos Display"/>
                <a:ea typeface="Aptos Display"/>
                <a:cs typeface="Aptos Display"/>
              </a:rPr>
              <a:t>from Compiled Android APKs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45419-7D26-4267-8B58-71A1A29F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DE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6DEE8"/>
                </a:solidFill>
                <a:latin typeface="Aptos"/>
                <a:ea typeface="Aptos"/>
                <a:cs typeface="Aptos"/>
              </a:rPr>
              <a:t>Hybrid static library version detection and vulnerability lookup for APK-only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A0AC7-C557-41C5-AB79-472B9B82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94DA14-A474-4B55-BE8E-00B369ED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E8376-DEBA-423C-B842-F68FFB9D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640" y="33147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ABDAD4-C40E-47B5-98B5-108F25DB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09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8698EF-769E-4224-A593-6DEA6AE1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24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97E1A-1883-4ADA-B54B-C625F4F4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2830" y="33147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61C4F6-541D-4A29-88B6-2EFD4DB8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28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B13159-7442-4FC3-842C-3320F861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143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Maven candidates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715D0A-A9DC-4ED7-8CE3-CF292B82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33147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63CBB3-7678-43D2-B685-C59537F6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447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9D0121-5292-4EAE-ADC6-D6C408C6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CycloneDX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30F84A-E3BD-49B7-BA7D-CE5FFF36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3210" y="33147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A5BCBA-6915-4411-99DA-AAA905F5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466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D86031-C21D-41AC-B2B4-12AF99AC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181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OSV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DC8024-E237-466B-AFC6-DB6F8CB3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858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9F070D-61BA-4238-9574-6322391C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819150"/>
            <a:ext cx="20669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927/1837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3AECD3-1524-4BD3-A008-9D1FA45B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200150"/>
            <a:ext cx="2066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normal source-validated emitted Maven versions confirmed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CD06E8-3407-45EF-B525-F406141C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00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9824A7-4BEE-4314-A0E0-DDB81FDF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33600"/>
            <a:ext cx="20669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84/84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F6F580-466D-4DE0-997C-87BF6F37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14600"/>
            <a:ext cx="2066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controlled expected versions confirmed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BD9EE2-A456-47F3-8908-6CD0A84E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147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9A0FD7-EE83-41D1-9290-E216DE55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448050"/>
            <a:ext cx="20669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6772/6772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CA91A5-464C-4374-BE10-5255878B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29050"/>
            <a:ext cx="2066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v2 source-known emitted rows exact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6A57AE-9514-4EF7-8AD3-2AC97F57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29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D3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5D38C"/>
                </a:solidFill>
                <a:latin typeface="Aptos"/>
                <a:ea typeface="Aptos"/>
                <a:cs typeface="Aptos"/>
              </a:rPr>
              <a:t>v2 is an upper-bound lane, not APK-only accuracy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13E4FF-C85D-437D-8227-63D9143D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AB7C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AB7C7"/>
                </a:solidFill>
                <a:latin typeface="Aptos"/>
                <a:ea typeface="Aptos"/>
                <a:cs typeface="Aptos"/>
              </a:rPr>
              <a:t>PFE Defense Deck</a:t>
            </a:r>
          </a:p>
        </p:txBody>
      </p:sp>
    </p:spTree>
    <p:extLst>
      <p:ext uri="{BB962C8B-B14F-4D97-AF65-F5344CB8AC3E}">
        <p14:creationId xmlns:p14="http://schemas.microsoft.com/office/powerpoint/2010/main" val="4805172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549264-6483-419F-BE67-5D1240A1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44B499-A002-4730-9587-00E1D8D4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Android APKs hide the dependency evidence SBOM tools usually need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A2FE8-D9ED-4DCE-B090-39725F5A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89BB6A14-090E-46A9-A379-60C251C1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03539-0C25-41D8-A0E3-6C42BE22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82322-D767-42FB-8FE9-1EB1D473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192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3DB3EB-58BC-4B2B-8669-FFAD3EB2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Source 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A3838-4188-4BA9-87F1-64B5E8C0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400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Gradle files and version catalogs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Dependency metadata visible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Package coordinates explicit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Source-based SBOM tools work well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C33C0E-A585-40BC-948E-8ACF7F00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478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Compiled APK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69227A-E181-4D70-8486-E938B599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400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DEX bytecode mixed together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Maven versions usually absent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R8 can rename, shrink, inline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Native files need separate handling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2C967D-5F66-4B41-A2BF-4C2FA506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Normal SBOM 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6AF86-DAB6-4A47-A6C9-A07FE8C1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434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Reverse-SBOM input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FAF034-2F41-41C3-AD7D-2C16EDD1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149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The MVP must infer component identity and version from static APK evidence.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CE3C50-6185-41FF-A0D0-B345E2D4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8276528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96249D-46BC-47FB-82A3-E8BF38C1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RESEARCH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47C450-DA18-4E35-A142-96B34BE2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state of the art supports hybrid matching, not perfect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257CB-6622-41DB-A132-37CB980E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D3C63E79-8E64-4E8B-8C48-D9CB0E6C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6B2E9A-88BF-4DF8-9116-D0324289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9525">
            <a:solidFill>
              <a:srgbClr val="161B2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A7C773-91EF-4569-8C15-24462A13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8592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Lesson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C349EB-9AAC-485E-A13C-065E5851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6192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9525">
            <a:solidFill>
              <a:srgbClr val="161B2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802C3-06C0-4F56-9348-E4B85A9A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8592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from state of the 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49B3E-70A8-44F5-A97B-876BEB96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9525">
            <a:solidFill>
              <a:srgbClr val="161B2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B59087-462D-4860-827B-988A4F42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8592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MVP 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02809A-CFF1-4DB5-AB7C-E3722F41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EBF0DB-1557-493B-8957-789CE368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Package names are fragile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78BDF3-5AFE-43A2-8A1B-614026BE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098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D092CD-AA3A-4B3E-AD46-B6E46893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7647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LibScout, LibRadar, Systematic Assessment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15C1B5-CB02-48FE-9815-151204DF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20980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E49144-2E5B-4272-A6F4-AF1EFFDF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7647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Use as weak evidence, not sole proof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F9C4E4-2F6D-4461-AEBE-638E6ED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420546-1A6B-4C8E-9F8C-44AF85D7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6702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Graph/opcode features help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1A0BFF-8DA7-47C0-9A13-49B317E2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003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1133B6-8B68-457B-8650-A85E0794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6702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LibPecker, LibID, LibScan, ATVHunter, SAD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32C607-D3E0-4623-83E0-CAEF7A7D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0035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5072F1-F20C-4360-982C-437A77E5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6702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Fuse structural and bytecode signals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D7467E-C257-4ABF-B5C4-E65B66BB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CFE670-BBFB-4F7D-B3E6-1CA7B938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R8 changes bytecode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D7F88D-C7F7-4108-BD8E-785EC540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909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359D80-E215-409E-9BE9-69A7ECD7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5757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LibHunter, LibAttention, ObfDetector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48FF53-3DF9-492D-AE71-75AF0334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39090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561128-2F72-4026-BC18-7E046C7A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5757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Evaluate by APK family and confidence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61910A-6718-4588-8785-7F28C60F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E6D7A5-C7DD-4AF5-8F53-B0D1A6E8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Exact versions are harder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E8E265-6002-4352-A159-78F9F793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814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E163BD-9083-4D06-A617-7D51736D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4812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SAD, TPL-Benchmark, LibMD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13DA02-7D0B-45F5-B581-7CB0C4CF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98145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8632E9-869E-4A7A-B442-ECB130A0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Separate identity and version confidence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F4AFE4-9629-47DE-AD48-C49C7A5D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88EBDE-55EE-4B32-B7C0-87A7D7AE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3867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SBOM output is rare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A1BDB2-AEEA-46CD-9310-E5AA45D7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5720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9F2092-B3FF-4D22-B279-99D28FC3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3867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LibMD, CycloneDX, PURL, OSV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33CA26-EF68-43F7-89BD-D17C2B92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7200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356CF4-5B94-4749-8D4E-1BBFE93A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3867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Emit standard SBOM plus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3738190-6DBA-409D-8DD9-A65B0F48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Traceability source: docs/thesis/PAPER_TO_IMPLEMENTATION_TRACEABILITY.md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B23108-88DD-4AE9-B662-2136AEDF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964211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20223F-9425-4BB8-A6B0-DDF67375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PROJECT GOAL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DF38D2-22C7-4C4F-9232-1E7A5F73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gives strong claims when evidence is strong, and uncertainty when it is not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EFEA0-EFC7-4511-A679-EA0821EC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7A61A8D8-2F2B-4736-9E16-13EB7A6D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D0C1FF-0C51-4EF6-AABE-7D6BA8C1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EDFEA-CAB4-48F3-A6EF-557507E1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62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9ED114-F3DE-4DE2-A16E-3F746197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compiled APK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B5E7DC-3616-4E83-9F2B-9F72EC1E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DEX + manifest + resources + native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95F38C-6A27-40E3-9270-56A8159E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No Gradle dependency tree required at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3BB9BC-2674-4FDA-8CE4-B316997E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68961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51BB6-1885-42D8-97F6-66BFEA84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62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1C3A8-A31A-4BF5-AE14-26A6DD2A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905D64-F8AC-4627-A4BF-60CD06F5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336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Detected Maven components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20FD66-40A5-4F57-9612-C1FDCBCBA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765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7698BB-5994-4C99-A3DC-7D59F35C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Version confidence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FFE3D-AC24-42BE-A235-4E679132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623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2754D-E759-47F8-86B2-39C509B2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194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Ambiguous version sets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C906C-40A7-4FB0-868E-17EAC75C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623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1587AE-17B6-4592-940A-EDCD26BF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2194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CycloneDX SBOM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2E3D25-F2F0-4355-A5B4-C6A2D5A7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481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F5FA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5B763F-EFCF-4C81-8B1E-B2B69ED0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052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F5F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5FA8"/>
                </a:solidFill>
                <a:latin typeface="Aptos"/>
                <a:ea typeface="Aptos"/>
                <a:cs typeface="Aptos"/>
              </a:rPr>
              <a:t>OSV vulnerability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F534BC-77E8-47CB-8E06-F075461D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05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 policy: do not hide hard APKs and do not force unsupported exact versions.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E454C1-AFC3-4747-84FF-FB6E0B52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6775671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6B38D0-0007-4849-91E3-8F8CDD17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ABE98B-F032-4D7F-8D90-0EC099F5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is an end-to-end static APK-to-SBOM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25F4F-D0C4-4727-A602-ABC55571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818D49B1-90B8-4B57-A749-BE423CDB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791A8D-DF1E-4AE0-9927-CE918856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6A31B4-C06C-47F7-BFC5-1359022A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APK extraction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64D69-FBA1-40D6-BCBD-E381E08A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1957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071943-045B-4ED9-BF48-9C4E162A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3407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04A4AC-36D1-4D5F-AC52-DD68AA92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557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DEX analysis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8D44BE-FE50-44AB-A3E4-FFCF975A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664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7C5394-570F-4DE6-8663-481AE4B6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114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B95CC-02F9-48EF-B745-7C2FCA85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6264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Reference DB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3634DA-AE69-406D-A14D-EDFD4912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3371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35412A-3617-4C0C-B085-56D5F562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4821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B6AC66-8FC2-470E-AE60-2F99517F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1971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Hybrid matching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652429-C64E-421F-8974-1DC5DAFA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9079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7F958-CC1E-464A-ABC7-466CEF88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529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65EFDC-BF47-4F0A-A915-5B1737CA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7679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Confidence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4FA8E3-D1E6-4CD6-A96E-85E1BBBD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4786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E2BBB-9208-45E5-9712-E198DF4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6236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BF5909-DAEF-4F2C-9F43-F68C52D0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386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CycloneDX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EFDDB9-10B9-49D8-9A8C-B614149B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493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6D90BA-5994-4FBE-9D90-D9C420AE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943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A92CE2-A477-4762-BEFB-D08CC3D3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9093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OSV 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613D69-C9AE-4EC3-B75F-1F3D1B18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E9A41B-51B7-4C2B-B314-9692E594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APK extraction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385993-330E-4825-868B-77259E59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standard/nonstandard DEX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manifest metadata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native .so hashes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BD1736-5187-4E1B-AD68-2C487072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6E8825-6B35-42F1-931A-3D2D80B1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DEX analysis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59C41E-5205-4AAF-B33D-5F584414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7665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classes, methods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opcodes, literals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 dependency graph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ED9DF7-F926-451D-9D13-2313F872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B9719F-1BCE-4197-A6C0-9F740B9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Reference DB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305154-C908-40F6-A2C4-CE232030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Maven JAR/AAR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D8 conversion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SQLite features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EC60B2-C5A2-4B91-870D-C350858A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F2C629-37AE-4B65-A4C5-80E78A7C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Decision layer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1B2F1B-2DA6-4353-B176-CB53E61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7665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identity status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version status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ambiguity set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A0C204-3AAB-4C9D-B7BE-B34D7899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673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96575"/>
                </a:solidFill>
                <a:latin typeface="Aptos"/>
                <a:ea typeface="Aptos"/>
                <a:cs typeface="Aptos"/>
              </a:rPr>
              <a:t>Implementation map: src/apk_sbom/* + scripts/build_* evaluation generators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8D6D90-CBE3-42AF-8232-11AD8A3D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2720385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568D33-4D00-489F-A8F1-0F91D443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EVIDENCE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CB48CE-A9A1-42CD-ABFC-D17A33B8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matcher combines complementary evidence instead of trusting one fragile signal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B14FCB-82B2-4B53-8C64-C5758B89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95BA55B8-0654-41F1-9616-69E319EB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7602FD-FDB6-4E76-B819-E937E0DF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8BB59-E6D7-42A4-96DD-594573C7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C37EA-10FF-4450-ACF5-B7594678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5811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9A4045-16AE-41ED-AD62-5BC5D5DC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4782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Purpose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CBB5BA-1ABD-4D01-94B4-7D7F1411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811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E84FC-277B-41B1-9B0C-2F9B1A3E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478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18B57F-BF75-4C07-ADAF-EA41CB2A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69E8C5-3EF6-4440-AA34-B7CD328A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Package/class/method overlap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24C5DC-CFEA-4CE1-A7F5-F5246C0D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336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8D0AC-44EB-4D45-B6AA-9CE8EDE3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0027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Candidate generation and identity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D96088-7008-4D68-9DAA-D793DF4C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3360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32DD8B-28C8-42AE-B1A0-91D9A86B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002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8D16C4-C83E-43CA-B282-391E6552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1904F1-F98D-4588-ABF0-43C4258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Opcode histograms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051650-6539-4CEB-B3B1-CFD6DA7A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860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318426-BD85-4C8D-B69F-39B0BCDF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5272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Bytecode similarity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9051F6-AF21-4995-AB8C-8416E0D7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860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59D5EE-DE98-4785-B807-D6E88ECB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527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2C8B0A-F5DD-48C1-874D-AAEAB20A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627962-3BA8-4360-BE94-BFA1BF93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 dependency graph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A80CC3-ECE6-4353-804D-E5379C54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385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6E25AA-A413-492B-8968-3A2A7B08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0517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Structural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59782B-5A98-46DC-9A31-061AAE8F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3850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CBA66B-3A5E-402E-B2D0-51759ED8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051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13D22C-6FDF-4F8A-B56C-22795DD0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35CAA3-B504-4422-8EA8-04309D47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Literals/version-unique evidence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87A966-19E5-4A5D-98F3-F47A1A15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909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8A5629-F628-42B8-BD05-FCB2FFFD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Version tie-breaking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16680F-3D50-4963-B654-DE41D4DC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909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01FE41-C520-42B8-B700-550D8828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576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8870A1-F90E-4DAB-AD04-6C00F44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C1069E-D957-46AB-8341-B5EA69B4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007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Maven POM metadata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C6C43D-5717-446E-839B-DF07E630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3434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63CC10-29AF-4731-A993-00B4CAD08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Conservative dependency coherence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AD56B2-8FF2-43AB-BC84-A512BDF9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4340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C481DAF-DCE6-4FA0-B922-5322449D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100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guarded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0BCEF8-B0C4-4B24-B05B-C3F8DEBE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E641D6-9952-4418-8CD9-3BA6C1F3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6252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API refs / opcode tri-grams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17F828-A7DA-45FD-950F-448CA4D4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958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092986-3F9E-459D-9B65-4AA49F5E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6252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Independent experimental signals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02A423-D671-4FAE-B35A-9CB3BEBC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958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4D700C-5684-49ED-AFC6-4EB3F324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625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disabled globally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9228A8-A887-4437-8BFB-20BF7153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578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Negative experiments are evidence too: API weight changed no metrics; opcode tri-grams regressed controls.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F1681E-FD86-4C1A-8D2D-AE2C554A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20787063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F50BF3-CD49-4569-A18D-E968619E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CONFIDENCE AND AMBIGUITY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F176E-8D1E-4123-A3B2-A2E9ADB4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Identity confidence and version confidence are intentionally separate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766C5-FDCF-435F-AF4C-BE605921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0AFE28D5-4501-46E3-BB35-C1389265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8289D-AA32-456B-9D14-9108C87C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9ECA52-0CEF-4371-A9C6-8F4BC65F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38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Library identity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9B4A1-A3A7-4C84-815B-917E0759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09850"/>
            <a:ext cx="2362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Is this component present?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5EDAE6-B49A-4B12-BAD9-73E5B534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766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identity-confidence</a:t>
            </a:r>
          </a:p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identity-status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FBA850-1A3E-4761-8981-6A64D61A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907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17E57A-29B5-4DB6-B4EB-5E637CD0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38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Version confidence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04201A-2AB6-461F-8015-22CB2EE8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09850"/>
            <a:ext cx="2362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Is this exact version supported?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B7BDFC-9FD1-4070-90F0-E64CFA5A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766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version-confidence</a:t>
            </a:r>
          </a:p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version-status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8F6482-3E0D-4250-9B0C-15F2FB45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907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0412C5-3375-4335-906E-617AE2E8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38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Ambiguous versions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E67BEB-ABBC-4B54-9C33-F2587890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09850"/>
            <a:ext cx="2362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Which nearby versions are plausible?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54C088-0116-46B2-B508-F601D248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766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ambiguous-versions</a:t>
            </a:r>
          </a:p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version-ambiguity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1B2D01-A7F6-46A2-AFC8-8D8C68D4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6730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Why it matters: a real library with an uncertain version should not create a false confirmed CVE result.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AA3C1B-6FFA-4E1B-A35E-16D91114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4873936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84F5F0-2C35-46F5-904B-6827850F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EVALUATION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049CE5-EF30-494C-AB62-886690AE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Evaluation is by APK family, not by hiding hard cases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7B17B-A444-4E0B-B8DD-5A1B0D28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E3E0B34B-F934-4017-B35B-BD10D94A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B03627-8112-4947-8F8B-DD9683DF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192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50A52-A659-4D02-A6D7-D006B7A0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1925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7C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F608F-7049-4EA7-9F2C-FD333963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526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Controlled APKs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D3D41-CE43-46EF-82B6-95DA5283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049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72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BEB1C-A1A9-4CE3-BC2B-B80BF762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621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known ground truth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DB3D08-2EA1-441D-BC49-CB2D1A59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AE76C6-B7F6-4209-B42E-EB3DEDE6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4A4FD-CB56-4C4E-AF1F-645D2488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955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Clean source-validated real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CB5A7-34AA-4201-951C-37219983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479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E3E34-9B0D-4EEC-A312-A19AEA89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050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strong exact-version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0B55C9-97C5-444C-9D2B-F1B755A3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2CCB41-9136-49A9-B953-0681F69C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9666D3-6C71-445A-AEA1-09952154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385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Partial source-validated real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B5FC4-335F-4F78-864D-44393E63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908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97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41E059-AC92-4387-949D-3D533EBC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48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realistic hard cases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EADD77-6FBB-4563-BECB-3255003B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3A073A-0F78-4941-A28F-658D673C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4E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D6BB18-B52A-4023-80F8-3B5BA1A9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814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Source-linked blocked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861CAC-59F0-4D34-976D-6DAC152C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338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3D4F4D-2986-42DC-9279-368C02A4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909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none remain after proof gates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AFB378-42AE-4FE4-B9F1-9AFD663D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910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9561BF-FBFA-4B06-B261-45D539D4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9105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5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065BEA-5110-4DEE-85B7-4850F8C4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244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Limitation cases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3D6A8B-5168-47CF-987A-1EC2CA85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767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F5F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F5FA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CFD028-008F-4BC9-B994-1589AFDB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339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native/hidden-code/obfuscation boundaries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1B6522-278D-486A-A554-CA6BAD50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6388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No rows are hidden: blocked is zero, and boundary cases stay visible but outside exact Maven-version accuracy.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ADC749-15C7-4A87-AB66-4CA751E3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3162516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71F7C7-AFE4-48CF-A423-B7537626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CB9B22-40C0-4553-B572-4DA837A1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Main results: normal APK validation and v2 upper-bound are different 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C148B-3BF6-47C6-9744-EAD9BB92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705C0CC0-627C-452F-9BB8-AE3F14D7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7D725B-1EA8-4280-BAAB-16ED3BE6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383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Controlled APKs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1F9B9-87D4-4C5D-B3F6-2BB33480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573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385149-803D-4806-B9EF-2C52EA23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573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7C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BDA586-D84A-4823-BE99-8DDE1F29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38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84/84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83797-3F5A-4BF2-8477-15D6C8B6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Clean real APKs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4645EC-BCF8-43C2-810F-85637B40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2669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144277-4BB9-4D7A-A848-60C27E03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2669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26737-373C-4228-A4F0-5C46E28E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47/47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2B2B0-8B34-4D0E-AE3D-FA3DEE2B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Partial real APKs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8FDEE-E146-4B22-BAE0-5AC975B0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765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73526E-D6A0-42D0-8F15-C730C03B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76550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38FCC8-B8D9-4050-B531-F0894134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575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880/1790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CDD17E-98E2-4E49-8484-44CC3C85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All source-validated real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F9F8F5-EB0F-4F1A-8EFF-923EA32F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4861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159585-4A53-4407-A168-34402354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486150"/>
            <a:ext cx="12477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AD038E-350B-47B1-966B-76FA3E6D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671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927/1837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638F41-C2F0-477D-92B1-3F52304F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56769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A4A5B1-6198-462A-A6F8-BEC39E76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29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Normal metric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817530-6D94-4BBC-AB51-1275491B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291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927/1837 emitted Maven versions confirmed across 102 source-validated APKs.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C42716-1DBE-4542-AB4B-D7C994C0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57350"/>
            <a:ext cx="3714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9D4F95-1598-4AD0-8B9B-818DC8F7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24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V2 source-known lane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838F8D-5383-46B4-AC01-57BA3DEB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622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6772/6772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566DDE-6C4C-4364-A3E9-B846D471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95600"/>
            <a:ext cx="2905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emitted rows exact across 106 source-tree APK cases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101B66-B130-4CE5-8208-C5FCF799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38550"/>
            <a:ext cx="3714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4B34AB-A718-41CE-891A-1D34A509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67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Guardrail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9766DA-B3D5-45EE-8482-63313909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672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This is an upper-bound recognition test under known source versions, not unconstrained APK-only accuracy.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BE024C-481C-43AF-9B57-96920CB8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24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Always report the normal metric and v2 lane separately.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192E8F-01D3-4A55-99CF-69DC3F81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77337278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36925C-E851-4AB8-8378-82D821B5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DBCE9-4322-4212-B1E6-072466DB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Mixed results are evidence about APK types, not total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846C4-BC70-46BE-A2BB-D31B5094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911A8B2A-4D57-4079-A5B8-524CC445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DBF55-EC39-4E2A-9660-30B449CA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14548-8AAD-40A1-B002-B18F81ED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Case family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41115-E7E4-41D1-84AC-0014BAAF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048F8-6637-4B92-BD0C-40674242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6859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73489-5A8A-463A-BC0D-FC176D1D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43859-30C2-4632-81B3-3DE40CD6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F-Droid, OpenTracks, Tusky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B53AE2-D1E9-4EA8-A1EC-29954C20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55A32D-548C-43C0-B163-0154110C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336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Clean source-validated evidence; Tusky is clean but sparse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D7A929-95EB-4FE5-867C-8CA47BC9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6EC76F-E3FD-47E5-816C-5DB1AE2F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813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NewPipe, AntennaPod, KDE, Wikipedia, Conversations, Aegis, FairEmail, Nextcloud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E7E2C0-54C8-4E7D-8010-3E785A85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146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D73DF0-9BC3-4530-A04A-AAE7046F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813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Useful partial evidence with AndroidX/Kotlin and version-band ambiguity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50782C-7CB7-45EF-9358-5C9C9D6A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00A8F8-3CCE-4A14-920D-96E2F797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Markor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09F058-80C4-4602-AF18-BA389661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623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FF8C52-250F-4EE0-A011-C088787B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290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Older-dependency drift; app-specific calibration can regress others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91417A-03D3-4E8B-997D-B5F86A96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5CE431-A337-4761-BADB-49C7BB62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K-9 / Thunderbird Android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C53912-151B-4750-9032-7D228D80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100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B3C5FB-70C6-4D1D-A3E6-CE93F4C2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2767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Source-validated partial after validation-only plugin-lite rescue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AEDC10-1E85-45D2-9925-2C86AC3F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577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F5B9F9-568F-4F09-A75D-CBAF1A36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244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Organic Maps, Termux, hidden DEX, Simplify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B5E79A-85BF-46A6-99AF-426CE327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577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0EE81A-1861-4E2A-8072-AE215579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9244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Boundary evidence; native/hash-only, hidden-code, and obfuscation limitations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0D2A36-301B-4CA9-9668-4910F058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10250"/>
            <a:ext cx="962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This is why the thesis reports APK families instead of a single polished score.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B6ECDD-4678-45FB-AD5D-2F416689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0891973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9C053C-C33D-42C9-884A-E4F5BD59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7CF0ED-FE9D-44C4-A55B-1BC357D6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final demo shows SBOM/CVE output plus row-level transparency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83193-3D56-4565-A797-6CF84FF3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AC9FF703-93F2-4383-B38C-02791CA0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248291-CD21-4FFD-9FC7-23EE51AF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3333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2DB8D-B948-44B1-B8F7-B28CC46A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Clean SBOM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77C367-3CFB-4082-903E-FA280B67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43150"/>
            <a:ext cx="2571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F-Droid HTML report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CycloneDX JSON with Maven PURLs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- 23/23 source-confirmed emitted Maven versions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OSV returns 0 vulnerabilities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E362E-53E5-4B74-9874-9FFA1A65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581150"/>
            <a:ext cx="3333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735D5-70F6-4C7D-A6D8-02717593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28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Positive CVE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AE86D-8428-4EE3-89ED-D1F94A59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43150"/>
            <a:ext cx="261937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Jackson Databind fixture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- 2.9.10.8 detected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- 3 confirmed HIGH OSV advisories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CVE-2020-36518, CVE-2022-42003, CVE-2022-42004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DF576D-CE13-4B79-996D-290E5A63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3333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BC79B0-F587-4711-9CB2-C6DF2B99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28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Transparency export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07C12C-0A40-4BEC-920A-988408A3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43150"/>
            <a:ext cx="26289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- 12082 source rows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- 5238 source-gap rows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- 2515 explained/boundary rows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- 442 missing-reference candidates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- 2281 matcher-recall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8F9E14-18C1-458E-A181-DF3F2209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24450"/>
            <a:ext cx="9858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Vulnerability rows are labeled source-confirmed, potential, report-only, or not queried; weak evidence is not promoted into fake confirmed CVEs.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8A25B-136B-40F5-BCBC-E7F0B959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264293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BF7DC-799C-4214-BA97-22045640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LIMITATIONS AND NEXT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E9BD2-3DBE-43B2-A7F4-9C3DE717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is credible because it exposes scope boundaries and next improvements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0EAC9A-FFCC-48DD-A1E9-100C0427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0858CA81-F9EF-467B-BCCF-F36743DD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C5FAE5-C934-4897-B9C9-E3EF6BAC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51435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E814D-1B9D-4029-91BA-C2270EF3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Current limitations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41EC9B-83D4-40E6-A6BD-661D2507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000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normal metric is not full dependency recall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v2 lane is not APK-only accuracy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adjacent AndroidX/Kotlin versions can tie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native .so files are hash-only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hidden DEX/dynamic loading is risk-labeled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- 1425 matcher suggestions stay report-only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2A3BE-EB0E-475C-B95D-AF595FBD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95450"/>
            <a:ext cx="51435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2F358-D6C3-41C8-B409-162CFE12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62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Next work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539B8-014B-4B37-ADEF-1CEF814B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57450"/>
            <a:ext cx="4000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improve matcher recall for 2281 exact-in-DB gaps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retry 442 remaining missing-reference candidates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add safe pruning/reranking controls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expand framework families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keep vulnerability confidence labels strict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187DDD-3774-4289-9729-B92E506A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00700"/>
            <a:ext cx="975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Closing: useful, measurable, and transparent beats a perfect-looking score that hides difficult APKs.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4EDE3-647F-46AF-A998-1AA56877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4605449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C785F4-8135-46B4-A19B-BC6B09DA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AI INTEGRATION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8D01EC-5C5F-4289-8A52-3E5D4495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AI is integrated as an assistant, with deterministic SBOM authority preserved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D5032B-596D-4780-A2E3-3E6B1E52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940D202D-F56C-45D2-88EF-B968A6B0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4958F-85B1-47D8-ABA9-DE6F9AF2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3FEF07-395D-4AF5-B232-3D110D37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0.708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63088C-7E35-4A85-97E1-4A9C2832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11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RandomForest test macro-F1 on 20,523 grouped evidence rows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91E99-2857-4D9E-A345-5A1802DD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8115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6BA37E-EDED-4B69-A0AF-60DF78FD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14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0.882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C8587-C0E3-4A28-B12D-A70035E0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211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MVP-safe Transformer test macro-F1 without source shortcuts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DDE2C9-4EA1-426E-9601-D2153020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92A4D-414B-48AB-854E-14591732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14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0.110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EE0589-E305-4C78-A99A-FB04D2FC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211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raw-opcode Transformer macro-F1; below 0.128 baseline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11FEB9-340F-4404-8D09-D57C3A77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58115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4605C3-58D5-4BDC-8C07-AC783524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14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31,589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2C56F6-939E-4B4A-96C3-4A60D928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95500"/>
            <a:ext cx="211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largest local AI/R8 evidence package rows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C4FD38-A281-430D-B602-996A0F8B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48577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26223-9A9F-4C8B-B7B3-D138E8A4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Ready in the MVP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0875C-40A1-43B8-8FE8-BB6E2668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400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report-only R8 and matcher-recall suggestions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hybrid router and model status in JSON/HTML/Markdown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clean and hard APK smoke outputs unchanged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risk triage without changing CVE labels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EB3782-C61E-4587-8F43-E41159CF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51244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A61E0-C1D4-4B78-AF76-B6ACC930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Deliberately blocked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D7EB21-8DAC-4EFA-A972-3B7704F1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10000"/>
            <a:ext cx="4095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AI-selected exact Maven versions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AI changes to CycloneDX components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AI-confirmed vulnerability labels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raw-opcode production authority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BB33FB-DDFC-4BAD-B1E4-6B64237B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67350"/>
            <a:ext cx="1005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Promotion verdict: report-only ready; matcher/SBOM authority not ready because strict APK controls yield 0 eligible candidates.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ED1910-06DC-4F98-A5D9-0DFA5289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69918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2026-06-17T22:55:08.3180000Z</dcterms:created>
  <dcterms:modified xsi:type="dcterms:W3CDTF">2026-06-17T22:55:08.3190000Z</dcterms:modified>
</coreProperties>
</file>