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839aaab2169408a" /><Relationship Type="http://schemas.openxmlformats.org/officeDocument/2006/relationships/extended-properties" Target="/docProps/app.xml" Id="R83dfc0c0dbb84ecb" /><Relationship Type="http://schemas.openxmlformats.org/officeDocument/2006/relationships/officeDocument" Target="/ppt/presentation.xml" Id="R901ec10ba3184b53" /></Relationships>
</file>

<file path=ppt/presentation.xml><?xml version="1.0" encoding="utf-8"?>
<p:presentation xmlns:p="http://schemas.openxmlformats.org/presentationml/2006/main">
  <p:sldMasterIdLst>
    <p:sldMasterId xmlns:r="http://schemas.openxmlformats.org/officeDocument/2006/relationships" id="2147483648" r:id="R99b770273c964e40"/>
  </p:sldMasterIdLst>
  <p:notesMasterIdLst>
    <p:notesMasterId xmlns:r="http://schemas.openxmlformats.org/officeDocument/2006/relationships" r:id="Rf0b8cc81c72c4772"/>
  </p:notesMasterIdLst>
  <p:sldIdLst>
    <p:sldId xmlns:r="http://schemas.openxmlformats.org/officeDocument/2006/relationships" id="256" r:id="R2487970a2aae43d7"/>
    <p:sldId xmlns:r="http://schemas.openxmlformats.org/officeDocument/2006/relationships" id="257" r:id="R744c492cf5e64fe0"/>
    <p:sldId xmlns:r="http://schemas.openxmlformats.org/officeDocument/2006/relationships" id="258" r:id="R72318df682df4c97"/>
    <p:sldId xmlns:r="http://schemas.openxmlformats.org/officeDocument/2006/relationships" id="259" r:id="Rbb017c2427b14b68"/>
    <p:sldId xmlns:r="http://schemas.openxmlformats.org/officeDocument/2006/relationships" id="260" r:id="R9cf5de9d5dec4f11"/>
    <p:sldId xmlns:r="http://schemas.openxmlformats.org/officeDocument/2006/relationships" id="261" r:id="Rad26fd35a151440c"/>
    <p:sldId xmlns:r="http://schemas.openxmlformats.org/officeDocument/2006/relationships" id="262" r:id="R066b17cad1c0451a"/>
    <p:sldId xmlns:r="http://schemas.openxmlformats.org/officeDocument/2006/relationships" id="263" r:id="R3729eaa304c04404"/>
    <p:sldId xmlns:r="http://schemas.openxmlformats.org/officeDocument/2006/relationships" id="264" r:id="Ra62eb8e3416c4ec9"/>
    <p:sldId xmlns:r="http://schemas.openxmlformats.org/officeDocument/2006/relationships" id="265" r:id="R51d268af8cbf419e"/>
    <p:sldId xmlns:r="http://schemas.openxmlformats.org/officeDocument/2006/relationships" id="266" r:id="Re7223bdd500a4ef2"/>
    <p:sldId xmlns:r="http://schemas.openxmlformats.org/officeDocument/2006/relationships" id="267" r:id="R79e2ef2e7d374890"/>
    <p:sldId xmlns:r="http://schemas.openxmlformats.org/officeDocument/2006/relationships" id="268" r:id="R7b451a8be7ee42f4"/>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c060ec986a44bda" /><Relationship Type="http://schemas.openxmlformats.org/officeDocument/2006/relationships/slideMaster" Target="/ppt/slideMasters/slideMaster1.xml" Id="R99b770273c964e40" /><Relationship Type="http://schemas.openxmlformats.org/officeDocument/2006/relationships/notesMaster" Target="/ppt/notesMasters/notesMaster1.xml" Id="Rf0b8cc81c72c4772" /><Relationship Type="http://schemas.openxmlformats.org/officeDocument/2006/relationships/presProps" Target="/ppt/presProps.xml" Id="R5d7dfe13e69f433f" /><Relationship Type="http://schemas.openxmlformats.org/officeDocument/2006/relationships/tableStyles" Target="/ppt/tableStyles.xml" Id="R16d2e9520c3e4615" /><Relationship Type="http://schemas.openxmlformats.org/officeDocument/2006/relationships/slide" Target="/ppt/slides/slide1.xml" Id="R2487970a2aae43d7" /><Relationship Type="http://schemas.openxmlformats.org/officeDocument/2006/relationships/slide" Target="/ppt/slides/slide2.xml" Id="R744c492cf5e64fe0" /><Relationship Type="http://schemas.openxmlformats.org/officeDocument/2006/relationships/slide" Target="/ppt/slides/slide3.xml" Id="R72318df682df4c97" /><Relationship Type="http://schemas.openxmlformats.org/officeDocument/2006/relationships/slide" Target="/ppt/slides/slide4.xml" Id="Rbb017c2427b14b68" /><Relationship Type="http://schemas.openxmlformats.org/officeDocument/2006/relationships/slide" Target="/ppt/slides/slide5.xml" Id="R9cf5de9d5dec4f11" /><Relationship Type="http://schemas.openxmlformats.org/officeDocument/2006/relationships/slide" Target="/ppt/slides/slide6.xml" Id="Rad26fd35a151440c" /><Relationship Type="http://schemas.openxmlformats.org/officeDocument/2006/relationships/slide" Target="/ppt/slides/slide7.xml" Id="R066b17cad1c0451a" /><Relationship Type="http://schemas.openxmlformats.org/officeDocument/2006/relationships/slide" Target="/ppt/slides/slide8.xml" Id="R3729eaa304c04404" /><Relationship Type="http://schemas.openxmlformats.org/officeDocument/2006/relationships/slide" Target="/ppt/slides/slide9.xml" Id="Ra62eb8e3416c4ec9" /><Relationship Type="http://schemas.openxmlformats.org/officeDocument/2006/relationships/slide" Target="/ppt/slides/slide10.xml" Id="R51d268af8cbf419e" /><Relationship Type="http://schemas.openxmlformats.org/officeDocument/2006/relationships/slide" Target="/ppt/slides/slide11.xml" Id="Re7223bdd500a4ef2" /><Relationship Type="http://schemas.openxmlformats.org/officeDocument/2006/relationships/slide" Target="/ppt/slides/slide12.xml" Id="R79e2ef2e7d374890" /><Relationship Type="http://schemas.openxmlformats.org/officeDocument/2006/relationships/slide" Target="/ppt/slides/slide13.xml" Id="R7b451a8be7ee42f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cebaae5524d401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de070a3ae11422b" /><Relationship Type="http://schemas.openxmlformats.org/officeDocument/2006/relationships/notesMaster" Target="/ppt/notesMasters/notesMaster1.xml" Id="R66a8436c6b044a0b" /></Relationships>
</file>

<file path=ppt/notesSlides/_rels/notesSlide2.xml.rels>&#65279;<?xml version="1.0" encoding="utf-8"?><Relationships xmlns="http://schemas.openxmlformats.org/package/2006/relationships"><Relationship Type="http://schemas.openxmlformats.org/officeDocument/2006/relationships/slide" Target="/ppt/slides/slide2.xml" Id="Red5f5407f6e84fda" /><Relationship Type="http://schemas.openxmlformats.org/officeDocument/2006/relationships/notesMaster" Target="/ppt/notesMasters/notesMaster1.xml" Id="R2602b2e26cdc4cd3" /></Relationships>
</file>

<file path=ppt/notesSlides/_rels/notesSlide3.xml.rels>&#65279;<?xml version="1.0" encoding="utf-8"?><Relationships xmlns="http://schemas.openxmlformats.org/package/2006/relationships"><Relationship Type="http://schemas.openxmlformats.org/officeDocument/2006/relationships/slide" Target="/ppt/slides/slide3.xml" Id="R5b2360588db74d3a" /><Relationship Type="http://schemas.openxmlformats.org/officeDocument/2006/relationships/notesMaster" Target="/ppt/notesMasters/notesMaster1.xml" Id="Rb390ed15c3bf4c0c" /></Relationships>
</file>

<file path=ppt/notesSlides/_rels/notesSlide4.xml.rels>&#65279;<?xml version="1.0" encoding="utf-8"?><Relationships xmlns="http://schemas.openxmlformats.org/package/2006/relationships"><Relationship Type="http://schemas.openxmlformats.org/officeDocument/2006/relationships/slide" Target="/ppt/slides/slide4.xml" Id="R6fb7d962000d47c9" /><Relationship Type="http://schemas.openxmlformats.org/officeDocument/2006/relationships/notesMaster" Target="/ppt/notesMasters/notesMaster1.xml" Id="R8d3f4232dcbe495d" /></Relationships>
</file>

<file path=ppt/notesSlides/_rels/notesSlide5.xml.rels>&#65279;<?xml version="1.0" encoding="utf-8"?><Relationships xmlns="http://schemas.openxmlformats.org/package/2006/relationships"><Relationship Type="http://schemas.openxmlformats.org/officeDocument/2006/relationships/slide" Target="/ppt/slides/slide5.xml" Id="R0d2136b4ae7e4db9" /><Relationship Type="http://schemas.openxmlformats.org/officeDocument/2006/relationships/notesMaster" Target="/ppt/notesMasters/notesMaster1.xml" Id="R4bde931b82054fe6" /></Relationships>
</file>

<file path=ppt/notesSlides/_rels/notesSlide6.xml.rels>&#65279;<?xml version="1.0" encoding="utf-8"?><Relationships xmlns="http://schemas.openxmlformats.org/package/2006/relationships"><Relationship Type="http://schemas.openxmlformats.org/officeDocument/2006/relationships/slide" Target="/ppt/slides/slide6.xml" Id="Rb550e69abe0b4092" /><Relationship Type="http://schemas.openxmlformats.org/officeDocument/2006/relationships/notesMaster" Target="/ppt/notesMasters/notesMaster1.xml" Id="R929f338127824fd1" /></Relationships>
</file>

<file path=ppt/notesSlides/_rels/notesSlide7.xml.rels>&#65279;<?xml version="1.0" encoding="utf-8"?><Relationships xmlns="http://schemas.openxmlformats.org/package/2006/relationships"><Relationship Type="http://schemas.openxmlformats.org/officeDocument/2006/relationships/slide" Target="/ppt/slides/slide7.xml" Id="R77b194dc892a4937" /><Relationship Type="http://schemas.openxmlformats.org/officeDocument/2006/relationships/notesMaster" Target="/ppt/notesMasters/notesMaster1.xml" Id="R401fa66bbb274064" /></Relationships>
</file>

<file path=ppt/notesSlides/_rels/notesSlide8.xml.rels>&#65279;<?xml version="1.0" encoding="utf-8"?><Relationships xmlns="http://schemas.openxmlformats.org/package/2006/relationships"><Relationship Type="http://schemas.openxmlformats.org/officeDocument/2006/relationships/slide" Target="/ppt/slides/slide8.xml" Id="R882a05c708ec425d" /><Relationship Type="http://schemas.openxmlformats.org/officeDocument/2006/relationships/notesMaster" Target="/ppt/notesMasters/notesMaster1.xml" Id="Rf936360210dc43c9" /></Relationships>
</file>

<file path=ppt/notesSlides/_rels/notesSlide9.xml.rels>&#65279;<?xml version="1.0" encoding="utf-8"?><Relationships xmlns="http://schemas.openxmlformats.org/package/2006/relationships"><Relationship Type="http://schemas.openxmlformats.org/officeDocument/2006/relationships/slide" Target="/ppt/slides/slide9.xml" Id="Re1d1556706df402b" /><Relationship Type="http://schemas.openxmlformats.org/officeDocument/2006/relationships/notesMaster" Target="/ppt/notesMasters/notesMaster1.xml" Id="Ra8e445efaf8a4e5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6d45605d34f4cdb" /><Relationship Type="http://schemas.openxmlformats.org/officeDocument/2006/relationships/notesMaster" Target="/ppt/notesMasters/notesMaster1.xml" Id="Rb7e435a225974ea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33b9f4143f24eeb" /><Relationship Type="http://schemas.openxmlformats.org/officeDocument/2006/relationships/notesMaster" Target="/ppt/notesMasters/notesMaster1.xml" Id="R3bbd658f161d415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fe1744c62844577" /><Relationship Type="http://schemas.openxmlformats.org/officeDocument/2006/relationships/notesMaster" Target="/ppt/notesMasters/notesMaster1.xml" Id="R12469378dd4f485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c099318b0254ec9" /><Relationship Type="http://schemas.openxmlformats.org/officeDocument/2006/relationships/notesMaster" Target="/ppt/notesMasters/notesMaster1.xml" Id="R634cc94f664448c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problem, not the score. Say: this project starts from a compiled APK, where dependency metadata is absent. The tool recovers evidence, emits CycloneDX, maps vulnerabilities, and keeps uncertainty visible. Mention the three headline numbers only after stating that the v2 lane is source-known and not APK-only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normal SBOM tools are not enough: they consume source metadata. In an APK, Maven coordinates and exact versions are usually absent and R8 can transform the remaining bytecode. The research problem is evidence reconstruction, not manifest parsing.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present the papers as a list. Present the progression: signatures, structure, then learned models. The unresolved gap is exact version recovery under optimization together with standard SBOM and vulnerability output. Our design combines proven signals and reports uncertainty.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output is not only a list of library names. It is a CycloneDX SBOM with identity confidence, version confidence, ambiguous alternatives, and confidence-aware OSV results. Ambiguity is preserved because a false exact version can create a false confirmed CVE.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The APK is extracted, DEX evidence is fingerprinted, reference candidates are retrieved, multiple signals are scored, confidence and ambiguity are decided, then CycloneDX and OSV-aware reports are generated. The reference DB is a separate reproducible pipeline built from Maven artifacts.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signal answers a different question. Package and class overlap support identity; opcodes and class dependency graphs add structure; literals and version-distinctive evidence help with nearby versions. Experimental API-reference and opcode tri-gram weights were not promoted because controls did not improve.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separation is central to the thesis. A library may be present even when its exact version is ambiguous. Vulnerability findings are only treated as confirmed when identity and exact-version evidence are strong; otherwise they remain potential or report-only.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five layers. Controlled cases test mechanics. Clean real APKs provide strong exact evidence. Partial real APKs are the difficult, realistic population. Blocked is now zero. Limitation cases remain visible but are excluded from exact Maven-version metrics.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normal metric first: 927 of 1837 emitted Maven versions confirmed across 102 source-validated real APKs. Then separate the v2 lane: 6772 exact emitted rows across 106 source-tree cases under exact source-version slices. It is an upper-bound recognition test, not APK-only production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defends the mixed results. Clean cases show the pipeline can work end to end. Partial cases expose version-band and ecosystem ambiguity. Boundary cases show where static APK evidence is fundamentally limited. Keeping all three groups visible makes the evaluation more credible.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existing generated artifacts rather than rerunning long jobs. Show the clean F-Droid report and CycloneDX file, then the controlled Jackson report with three HIGH advisories, then the transparency export. The point is both capability and honesty: remaining gaps are classified row by row.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AI as a guarded research contribution. The RandomForest is integrated only for report suggestions. The source-free MVP-safe Transformer reaches 0.882 macro-F1 and is a report-only risk-triage candidate. The raw-opcode model underperforms its baseline, so it remains an honest negative result. AI cannot select final versions or change SBOM/CVE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three contributions: an end-to-end APK-to-SBOM pipeline, a transparent evaluation that keeps hard cases visible, and guarded matcher/AI research that does not overrule deterministic evidence. The next work is stronger version-specific evidence and larger independent R8 corpora. Then invite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8d0cdbf646c443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69c6012df0d46ea" /><Relationship Type="http://schemas.openxmlformats.org/officeDocument/2006/relationships/slideLayout" Target="/ppt/slideLayouts/slideLayout1.xml" Id="R2c2df52c7ca2486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c2df52c7ca2486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be8add193984f2b" /><Relationship Type="http://schemas.openxmlformats.org/officeDocument/2006/relationships/notesSlide" Target="/ppt/notesSlides/notesSlide1.xml" Id="R54f015822e2f432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90c82834e7b4718" /><Relationship Type="http://schemas.openxmlformats.org/officeDocument/2006/relationships/notesSlide" Target="/ppt/notesSlides/notesSlide2.xml" Id="R9752a90a76c24fd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20f73baaac5435d" /><Relationship Type="http://schemas.openxmlformats.org/officeDocument/2006/relationships/notesSlide" Target="/ppt/notesSlides/notesSlide3.xml" Id="R12cd7f6cb74141f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98ee6fbdaf04610" /><Relationship Type="http://schemas.openxmlformats.org/officeDocument/2006/relationships/notesSlide" Target="/ppt/notesSlides/notesSlide4.xml" Id="Rba3a8e5ac7e64bf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e077efe9080484c" /><Relationship Type="http://schemas.openxmlformats.org/officeDocument/2006/relationships/notesSlide" Target="/ppt/notesSlides/notesSlide5.xml" Id="R6c19add29976488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486eb5993e94fef" /><Relationship Type="http://schemas.openxmlformats.org/officeDocument/2006/relationships/notesSlide" Target="/ppt/notesSlides/notesSlide6.xml" Id="Rc8b4e46467a047b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3668458564b4748" /><Relationship Type="http://schemas.openxmlformats.org/officeDocument/2006/relationships/notesSlide" Target="/ppt/notesSlides/notesSlide7.xml" Id="R315cf2bce7e447e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79e8fbf78404aa6" /><Relationship Type="http://schemas.openxmlformats.org/officeDocument/2006/relationships/notesSlide" Target="/ppt/notesSlides/notesSlide8.xml" Id="R2deff221dec143e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e348807b4a74a08" /><Relationship Type="http://schemas.openxmlformats.org/officeDocument/2006/relationships/notesSlide" Target="/ppt/notesSlides/notesSlide9.xml" Id="R920b809de33842d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61e036d2bd74d95" /><Relationship Type="http://schemas.openxmlformats.org/officeDocument/2006/relationships/notesSlide" Target="/ppt/notesSlides/notesSlide10.xml" Id="R2c78894f8952437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eeae9c89e8d4bea" /><Relationship Type="http://schemas.openxmlformats.org/officeDocument/2006/relationships/notesSlide" Target="/ppt/notesSlides/notesSlide11.xml" Id="R9e1afd92bce5445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01f14e82bf74253" /><Relationship Type="http://schemas.openxmlformats.org/officeDocument/2006/relationships/notesSlide" Target="/ppt/notesSlides/notesSlide12.xml" Id="R5a65e7aa017b433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413bba3094f427a" /><Relationship Type="http://schemas.openxmlformats.org/officeDocument/2006/relationships/notesSlide" Target="/ppt/notesSlides/notesSlide13.xml" Id="Rddcc2966ff1e4108" /></Relationships>
</file>

<file path=ppt/slides/slide1.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70085BB-F0BA-4716-A487-DCDC2A0FD17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7F3AF3A-B7A2-4AA3-B749-EE133124C5D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B6DC232-7041-4C11-8ADC-BEFE30136AF9}"/>
              </a:ext>
            </a:extLst>
          </p:cNvPr>
          <p:cNvSpPr>
            <a:spLocks xmlns:a="http://schemas.openxmlformats.org/drawingml/2006/main" noGrp="1"/>
          </p:cNvSpPr>
          <p:nvPr/>
        </p:nvSpPr>
        <p:spPr>
          <a:xfrm xmlns:a="http://schemas.openxmlformats.org/drawingml/2006/main">
            <a:off x="685800" y="49530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4BFAE"/>
                </a:solidFill>
                <a:latin typeface="Aptos"/>
                <a:ea typeface="Aptos"/>
                <a:cs typeface="Aptos"/>
              </a:defRPr>
            </a:pPr>
            <a:r>
              <a:rPr sz="900" b="1">
                <a:solidFill>
                  <a:srgbClr val="24BFAE"/>
                </a:solidFill>
                <a:latin typeface="Aptos"/>
                <a:ea typeface="Aptos"/>
                <a:cs typeface="Aptos"/>
              </a:rPr>
              <a:t>PFE DEFENSE  /  JUNE 2026</a:t>
            </a:r>
          </a:p>
        </p:txBody>
      </p:sp>
      <p:sp>
        <p:nvSpPr>
          <p:cNvPr id="4" name="">
            <a:extLst xmlns:a="http://schemas.openxmlformats.org/drawingml/2006/main">
              <a:ext uri="{FF2B5EF4-FFF2-40B4-BE49-F238E27FC236}">
                <a16:creationId xmlns:a16="http://schemas.microsoft.com/office/drawing/2014/main" id="{1F64D65E-B54F-4EB2-BA6E-1BF374A3A09D}"/>
              </a:ext>
            </a:extLst>
          </p:cNvPr>
          <p:cNvSpPr>
            <a:spLocks xmlns:a="http://schemas.openxmlformats.org/drawingml/2006/main" noGrp="1"/>
          </p:cNvSpPr>
          <p:nvPr/>
        </p:nvSpPr>
        <p:spPr>
          <a:xfrm xmlns:a="http://schemas.openxmlformats.org/drawingml/2006/main">
            <a:off x="685800" y="1085850"/>
            <a:ext cx="619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FFFFFF"/>
                </a:solidFill>
                <a:latin typeface="Aptos Display"/>
                <a:ea typeface="Aptos Display"/>
                <a:cs typeface="Aptos Display"/>
              </a:defRPr>
            </a:pPr>
            <a:r>
              <a:rPr sz="3600" b="1">
                <a:solidFill>
                  <a:srgbClr val="FFFFFF"/>
                </a:solidFill>
                <a:latin typeface="Aptos Display"/>
                <a:ea typeface="Aptos Display"/>
                <a:cs typeface="Aptos Display"/>
              </a:rPr>
              <a:t>Evidence-Based</a:t>
            </a:r>
          </a:p>
        </p:txBody>
      </p:sp>
      <p:sp>
        <p:nvSpPr>
          <p:cNvPr id="5" name="">
            <a:extLst xmlns:a="http://schemas.openxmlformats.org/drawingml/2006/main">
              <a:ext uri="{FF2B5EF4-FFF2-40B4-BE49-F238E27FC236}">
                <a16:creationId xmlns:a16="http://schemas.microsoft.com/office/drawing/2014/main" id="{61489287-7F22-4417-9AA1-25D08BDB83E6}"/>
              </a:ext>
            </a:extLst>
          </p:cNvPr>
          <p:cNvSpPr>
            <a:spLocks xmlns:a="http://schemas.openxmlformats.org/drawingml/2006/main" noGrp="1"/>
          </p:cNvSpPr>
          <p:nvPr/>
        </p:nvSpPr>
        <p:spPr>
          <a:xfrm xmlns:a="http://schemas.openxmlformats.org/drawingml/2006/main">
            <a:off x="685800" y="1638300"/>
            <a:ext cx="619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FFFFFF"/>
                </a:solidFill>
                <a:latin typeface="Aptos Display"/>
                <a:ea typeface="Aptos Display"/>
                <a:cs typeface="Aptos Display"/>
              </a:defRPr>
            </a:pPr>
            <a:r>
              <a:rPr sz="3600" b="1">
                <a:solidFill>
                  <a:srgbClr val="FFFFFF"/>
                </a:solidFill>
                <a:latin typeface="Aptos Display"/>
                <a:ea typeface="Aptos Display"/>
                <a:cs typeface="Aptos Display"/>
              </a:rPr>
              <a:t>SBOM Recovery</a:t>
            </a:r>
          </a:p>
        </p:txBody>
      </p:sp>
      <p:sp>
        <p:nvSpPr>
          <p:cNvPr id="6" name="">
            <a:extLst xmlns:a="http://schemas.openxmlformats.org/drawingml/2006/main">
              <a:ext uri="{FF2B5EF4-FFF2-40B4-BE49-F238E27FC236}">
                <a16:creationId xmlns:a16="http://schemas.microsoft.com/office/drawing/2014/main" id="{32BEDE0B-154D-43C2-867B-CABE69198736}"/>
              </a:ext>
            </a:extLst>
          </p:cNvPr>
          <p:cNvSpPr>
            <a:spLocks xmlns:a="http://schemas.openxmlformats.org/drawingml/2006/main" noGrp="1"/>
          </p:cNvSpPr>
          <p:nvPr/>
        </p:nvSpPr>
        <p:spPr>
          <a:xfrm xmlns:a="http://schemas.openxmlformats.org/drawingml/2006/main">
            <a:off x="70485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A9B6C9"/>
                </a:solidFill>
                <a:latin typeface="Aptos"/>
                <a:ea typeface="Aptos"/>
                <a:cs typeface="Aptos"/>
              </a:defRPr>
            </a:pPr>
            <a:r>
              <a:rPr sz="1800" b="1">
                <a:solidFill>
                  <a:srgbClr val="A9B6C9"/>
                </a:solidFill>
                <a:latin typeface="Aptos"/>
                <a:ea typeface="Aptos"/>
                <a:cs typeface="Aptos"/>
              </a:rPr>
              <a:t>from compiled Android APKs</a:t>
            </a:r>
          </a:p>
        </p:txBody>
      </p:sp>
      <p:sp>
        <p:nvSpPr>
          <p:cNvPr id="7" name="">
            <a:extLst xmlns:a="http://schemas.openxmlformats.org/drawingml/2006/main">
              <a:ext uri="{FF2B5EF4-FFF2-40B4-BE49-F238E27FC236}">
                <a16:creationId xmlns:a16="http://schemas.microsoft.com/office/drawing/2014/main" id="{8B4632C7-E35A-4327-B1A7-4D3A48E32AA8}"/>
              </a:ext>
            </a:extLst>
          </p:cNvPr>
          <p:cNvSpPr>
            <a:spLocks xmlns:a="http://schemas.openxmlformats.org/drawingml/2006/main" noGrp="1"/>
          </p:cNvSpPr>
          <p:nvPr/>
        </p:nvSpPr>
        <p:spPr>
          <a:xfrm xmlns:a="http://schemas.openxmlformats.org/drawingml/2006/main">
            <a:off x="704850" y="2952750"/>
            <a:ext cx="5524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C6D0DE"/>
                </a:solidFill>
                <a:latin typeface="Aptos"/>
                <a:ea typeface="Aptos"/>
                <a:cs typeface="Aptos"/>
              </a:defRPr>
            </a:pPr>
            <a:r>
              <a:rPr sz="1275" b="0">
                <a:solidFill>
                  <a:srgbClr val="C6D0DE"/>
                </a:solidFill>
                <a:latin typeface="Aptos"/>
                <a:ea typeface="Aptos"/>
                <a:cs typeface="Aptos"/>
              </a:rPr>
              <a:t>Static evidence fusion, CycloneDX output, confidence-aware CVE mapping, and guarded AI assistance.</a:t>
            </a:r>
          </a:p>
        </p:txBody>
      </p:sp>
      <p:sp>
        <p:nvSpPr>
          <p:cNvPr id="8" name="">
            <a:extLst xmlns:a="http://schemas.openxmlformats.org/drawingml/2006/main">
              <a:ext uri="{FF2B5EF4-FFF2-40B4-BE49-F238E27FC236}">
                <a16:creationId xmlns:a16="http://schemas.microsoft.com/office/drawing/2014/main" id="{FB279EA8-668A-404B-A202-216DADEFAA71}"/>
              </a:ext>
            </a:extLst>
          </p:cNvPr>
          <p:cNvSpPr>
            <a:spLocks xmlns:a="http://schemas.openxmlformats.org/drawingml/2006/main" noGrp="1"/>
          </p:cNvSpPr>
          <p:nvPr/>
        </p:nvSpPr>
        <p:spPr>
          <a:xfrm xmlns:a="http://schemas.openxmlformats.org/drawingml/2006/main">
            <a:off x="6972300" y="1047750"/>
            <a:ext cx="914400" cy="914400"/>
          </a:xfrm>
          <a:prstGeom xmlns:a="http://schemas.openxmlformats.org/drawingml/2006/main" prst="ellipse">
            <a:avLst/>
          </a:prstGeom>
          <a:solidFill xmlns:a="http://schemas.openxmlformats.org/drawingml/2006/main">
            <a:srgbClr val="111B2E"/>
          </a:solidFill>
          <a:ln xmlns:a="http://schemas.openxmlformats.org/drawingml/2006/main" w="9525">
            <a:solidFill>
              <a:srgbClr val="4F7CFF"/>
            </a:solidFill>
            <a:prstDash val="solid"/>
          </a:ln>
        </p:spPr>
      </p:sp>
      <p:sp>
        <p:nvSpPr>
          <p:cNvPr id="9" name="">
            <a:extLst xmlns:a="http://schemas.openxmlformats.org/drawingml/2006/main">
              <a:ext uri="{FF2B5EF4-FFF2-40B4-BE49-F238E27FC236}">
                <a16:creationId xmlns:a16="http://schemas.microsoft.com/office/drawing/2014/main" id="{30DB24A6-CEE6-4175-A4C1-3D838021AF79}"/>
              </a:ext>
            </a:extLst>
          </p:cNvPr>
          <p:cNvSpPr>
            <a:spLocks xmlns:a="http://schemas.openxmlformats.org/drawingml/2006/main" noGrp="1"/>
          </p:cNvSpPr>
          <p:nvPr/>
        </p:nvSpPr>
        <p:spPr>
          <a:xfrm xmlns:a="http://schemas.openxmlformats.org/drawingml/2006/main">
            <a:off x="6972300" y="139065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APK</a:t>
            </a:r>
          </a:p>
        </p:txBody>
      </p:sp>
      <p:sp>
        <p:nvSpPr>
          <p:cNvPr id="10" name="">
            <a:extLst xmlns:a="http://schemas.openxmlformats.org/drawingml/2006/main">
              <a:ext uri="{FF2B5EF4-FFF2-40B4-BE49-F238E27FC236}">
                <a16:creationId xmlns:a16="http://schemas.microsoft.com/office/drawing/2014/main" id="{6018556D-BD97-4DDD-966B-1BD3059EC06B}"/>
              </a:ext>
            </a:extLst>
          </p:cNvPr>
          <p:cNvSpPr>
            <a:spLocks xmlns:a="http://schemas.openxmlformats.org/drawingml/2006/main" noGrp="1"/>
          </p:cNvSpPr>
          <p:nvPr/>
        </p:nvSpPr>
        <p:spPr>
          <a:xfrm xmlns:a="http://schemas.openxmlformats.org/drawingml/2006/main">
            <a:off x="8858250" y="819150"/>
            <a:ext cx="914400" cy="914400"/>
          </a:xfrm>
          <a:prstGeom xmlns:a="http://schemas.openxmlformats.org/drawingml/2006/main" prst="ellipse">
            <a:avLst/>
          </a:prstGeom>
          <a:solidFill xmlns:a="http://schemas.openxmlformats.org/drawingml/2006/main">
            <a:srgbClr val="111B2E"/>
          </a:solidFill>
          <a:ln xmlns:a="http://schemas.openxmlformats.org/drawingml/2006/main" w="9525">
            <a:solidFill>
              <a:srgbClr val="806FE8"/>
            </a:solidFill>
            <a:prstDash val="solid"/>
          </a:ln>
        </p:spPr>
      </p:sp>
      <p:sp>
        <p:nvSpPr>
          <p:cNvPr id="11" name="">
            <a:extLst xmlns:a="http://schemas.openxmlformats.org/drawingml/2006/main">
              <a:ext uri="{FF2B5EF4-FFF2-40B4-BE49-F238E27FC236}">
                <a16:creationId xmlns:a16="http://schemas.microsoft.com/office/drawing/2014/main" id="{9B7DF6A5-5C5E-4400-86E5-CF64410E0E73}"/>
              </a:ext>
            </a:extLst>
          </p:cNvPr>
          <p:cNvSpPr>
            <a:spLocks xmlns:a="http://schemas.openxmlformats.org/drawingml/2006/main" noGrp="1"/>
          </p:cNvSpPr>
          <p:nvPr/>
        </p:nvSpPr>
        <p:spPr>
          <a:xfrm xmlns:a="http://schemas.openxmlformats.org/drawingml/2006/main">
            <a:off x="8858250" y="116205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DEX</a:t>
            </a:r>
          </a:p>
        </p:txBody>
      </p:sp>
      <p:sp>
        <p:nvSpPr>
          <p:cNvPr id="12" name="">
            <a:extLst xmlns:a="http://schemas.openxmlformats.org/drawingml/2006/main">
              <a:ext uri="{FF2B5EF4-FFF2-40B4-BE49-F238E27FC236}">
                <a16:creationId xmlns:a16="http://schemas.microsoft.com/office/drawing/2014/main" id="{3485B3C4-7D19-4D23-A42D-5100C7D12002}"/>
              </a:ext>
            </a:extLst>
          </p:cNvPr>
          <p:cNvSpPr>
            <a:spLocks xmlns:a="http://schemas.openxmlformats.org/drawingml/2006/main" noGrp="1"/>
          </p:cNvSpPr>
          <p:nvPr/>
        </p:nvSpPr>
        <p:spPr>
          <a:xfrm xmlns:a="http://schemas.openxmlformats.org/drawingml/2006/main">
            <a:off x="9848850" y="2209800"/>
            <a:ext cx="1200150" cy="1200150"/>
          </a:xfrm>
          <a:prstGeom xmlns:a="http://schemas.openxmlformats.org/drawingml/2006/main" prst="ellipse">
            <a:avLst/>
          </a:prstGeom>
          <a:solidFill xmlns:a="http://schemas.openxmlformats.org/drawingml/2006/main">
            <a:srgbClr val="24BFAE"/>
          </a:solidFill>
          <a:ln xmlns:a="http://schemas.openxmlformats.org/drawingml/2006/main" w="9525">
            <a:solidFill>
              <a:srgbClr val="24BFAE"/>
            </a:solidFill>
            <a:prstDash val="solid"/>
          </a:ln>
        </p:spPr>
      </p:sp>
      <p:sp>
        <p:nvSpPr>
          <p:cNvPr id="13" name="">
            <a:extLst xmlns:a="http://schemas.openxmlformats.org/drawingml/2006/main">
              <a:ext uri="{FF2B5EF4-FFF2-40B4-BE49-F238E27FC236}">
                <a16:creationId xmlns:a16="http://schemas.microsoft.com/office/drawing/2014/main" id="{3A41EC32-36D7-4367-BF70-E45C846B1B2A}"/>
              </a:ext>
            </a:extLst>
          </p:cNvPr>
          <p:cNvSpPr>
            <a:spLocks xmlns:a="http://schemas.openxmlformats.org/drawingml/2006/main" noGrp="1"/>
          </p:cNvSpPr>
          <p:nvPr/>
        </p:nvSpPr>
        <p:spPr>
          <a:xfrm xmlns:a="http://schemas.openxmlformats.org/drawingml/2006/main">
            <a:off x="9848850" y="2695575"/>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FFFFFF"/>
                </a:solidFill>
                <a:latin typeface="Aptos"/>
                <a:ea typeface="Aptos"/>
                <a:cs typeface="Aptos"/>
              </a:defRPr>
            </a:pPr>
            <a:r>
              <a:rPr sz="1425" b="1">
                <a:solidFill>
                  <a:srgbClr val="FFFFFF"/>
                </a:solidFill>
                <a:latin typeface="Aptos"/>
                <a:ea typeface="Aptos"/>
                <a:cs typeface="Aptos"/>
              </a:rPr>
              <a:t>MATCH</a:t>
            </a:r>
          </a:p>
        </p:txBody>
      </p:sp>
      <p:sp>
        <p:nvSpPr>
          <p:cNvPr id="14" name="">
            <a:extLst xmlns:a="http://schemas.openxmlformats.org/drawingml/2006/main">
              <a:ext uri="{FF2B5EF4-FFF2-40B4-BE49-F238E27FC236}">
                <a16:creationId xmlns:a16="http://schemas.microsoft.com/office/drawing/2014/main" id="{55EA5F49-944C-46A3-B3C6-7EF3F1B52A6C}"/>
              </a:ext>
            </a:extLst>
          </p:cNvPr>
          <p:cNvSpPr>
            <a:spLocks xmlns:a="http://schemas.openxmlformats.org/drawingml/2006/main" noGrp="1"/>
          </p:cNvSpPr>
          <p:nvPr/>
        </p:nvSpPr>
        <p:spPr>
          <a:xfrm xmlns:a="http://schemas.openxmlformats.org/drawingml/2006/main">
            <a:off x="8705850" y="3638550"/>
            <a:ext cx="914400" cy="914400"/>
          </a:xfrm>
          <a:prstGeom xmlns:a="http://schemas.openxmlformats.org/drawingml/2006/main" prst="ellipse">
            <a:avLst/>
          </a:prstGeom>
          <a:solidFill xmlns:a="http://schemas.openxmlformats.org/drawingml/2006/main">
            <a:srgbClr val="111B2E"/>
          </a:solidFill>
          <a:ln xmlns:a="http://schemas.openxmlformats.org/drawingml/2006/main" w="9525">
            <a:solidFill>
              <a:srgbClr val="9DCC3B"/>
            </a:solidFill>
            <a:prstDash val="solid"/>
          </a:ln>
        </p:spPr>
      </p:sp>
      <p:sp>
        <p:nvSpPr>
          <p:cNvPr id="15" name="">
            <a:extLst xmlns:a="http://schemas.openxmlformats.org/drawingml/2006/main">
              <a:ext uri="{FF2B5EF4-FFF2-40B4-BE49-F238E27FC236}">
                <a16:creationId xmlns:a16="http://schemas.microsoft.com/office/drawing/2014/main" id="{93A1B9AC-951E-4753-BC14-5E78E8E2A08D}"/>
              </a:ext>
            </a:extLst>
          </p:cNvPr>
          <p:cNvSpPr>
            <a:spLocks xmlns:a="http://schemas.openxmlformats.org/drawingml/2006/main" noGrp="1"/>
          </p:cNvSpPr>
          <p:nvPr/>
        </p:nvSpPr>
        <p:spPr>
          <a:xfrm xmlns:a="http://schemas.openxmlformats.org/drawingml/2006/main">
            <a:off x="8705850" y="398145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SBOM</a:t>
            </a:r>
          </a:p>
        </p:txBody>
      </p:sp>
      <p:sp>
        <p:nvSpPr>
          <p:cNvPr id="16" name="">
            <a:extLst xmlns:a="http://schemas.openxmlformats.org/drawingml/2006/main">
              <a:ext uri="{FF2B5EF4-FFF2-40B4-BE49-F238E27FC236}">
                <a16:creationId xmlns:a16="http://schemas.microsoft.com/office/drawing/2014/main" id="{1EC250C5-F7A1-4CA1-886B-09337B7A4C33}"/>
              </a:ext>
            </a:extLst>
          </p:cNvPr>
          <p:cNvSpPr>
            <a:spLocks xmlns:a="http://schemas.openxmlformats.org/drawingml/2006/main" noGrp="1"/>
          </p:cNvSpPr>
          <p:nvPr/>
        </p:nvSpPr>
        <p:spPr>
          <a:xfrm xmlns:a="http://schemas.openxmlformats.org/drawingml/2006/main">
            <a:off x="6762750" y="3409950"/>
            <a:ext cx="914400" cy="914400"/>
          </a:xfrm>
          <a:prstGeom xmlns:a="http://schemas.openxmlformats.org/drawingml/2006/main" prst="ellipse">
            <a:avLst/>
          </a:prstGeom>
          <a:solidFill xmlns:a="http://schemas.openxmlformats.org/drawingml/2006/main">
            <a:srgbClr val="111B2E"/>
          </a:solidFill>
          <a:ln xmlns:a="http://schemas.openxmlformats.org/drawingml/2006/main" w="9525">
            <a:solidFill>
              <a:srgbClr val="F06464"/>
            </a:solidFill>
            <a:prstDash val="solid"/>
          </a:ln>
        </p:spPr>
      </p:sp>
      <p:sp>
        <p:nvSpPr>
          <p:cNvPr id="17" name="">
            <a:extLst xmlns:a="http://schemas.openxmlformats.org/drawingml/2006/main">
              <a:ext uri="{FF2B5EF4-FFF2-40B4-BE49-F238E27FC236}">
                <a16:creationId xmlns:a16="http://schemas.microsoft.com/office/drawing/2014/main" id="{AED05314-7607-4603-B693-D077BAE3F3FD}"/>
              </a:ext>
            </a:extLst>
          </p:cNvPr>
          <p:cNvSpPr>
            <a:spLocks xmlns:a="http://schemas.openxmlformats.org/drawingml/2006/main" noGrp="1"/>
          </p:cNvSpPr>
          <p:nvPr/>
        </p:nvSpPr>
        <p:spPr>
          <a:xfrm xmlns:a="http://schemas.openxmlformats.org/drawingml/2006/main">
            <a:off x="6762750" y="375285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CVE</a:t>
            </a:r>
          </a:p>
        </p:txBody>
      </p:sp>
      <p:sp>
        <p:nvSpPr>
          <p:cNvPr id="18" name="rule">
            <a:extLst xmlns:a="http://schemas.openxmlformats.org/drawingml/2006/main">
              <a:ext uri="{FF2B5EF4-FFF2-40B4-BE49-F238E27FC236}">
                <a16:creationId xmlns:a16="http://schemas.microsoft.com/office/drawing/2014/main" id="{4FD088F7-EDEA-4DD9-845F-424C902367F0}"/>
              </a:ext>
            </a:extLst>
          </p:cNvPr>
          <p:cNvSpPr>
            <a:spLocks xmlns:a="http://schemas.openxmlformats.org/drawingml/2006/main" noGrp="1"/>
          </p:cNvSpPr>
          <p:nvPr/>
        </p:nvSpPr>
        <p:spPr>
          <a:xfrm xmlns:a="http://schemas.openxmlformats.org/drawingml/2006/main">
            <a:off x="7810500" y="1466850"/>
            <a:ext cx="1162050" cy="19050"/>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19" name="rule">
            <a:extLst xmlns:a="http://schemas.openxmlformats.org/drawingml/2006/main">
              <a:ext uri="{FF2B5EF4-FFF2-40B4-BE49-F238E27FC236}">
                <a16:creationId xmlns:a16="http://schemas.microsoft.com/office/drawing/2014/main" id="{992FAEE6-A515-4F1E-BAFC-278CED0B637C}"/>
              </a:ext>
            </a:extLst>
          </p:cNvPr>
          <p:cNvSpPr>
            <a:spLocks xmlns:a="http://schemas.openxmlformats.org/drawingml/2006/main" noGrp="1"/>
          </p:cNvSpPr>
          <p:nvPr/>
        </p:nvSpPr>
        <p:spPr>
          <a:xfrm xmlns:a="http://schemas.openxmlformats.org/drawingml/2006/main">
            <a:off x="9601200" y="1590675"/>
            <a:ext cx="762000" cy="19050"/>
          </a:xfrm>
          <a:prstGeom xmlns:a="http://schemas.openxmlformats.org/drawingml/2006/main" prst="rect">
            <a:avLst/>
          </a:prstGeom>
          <a:solidFill xmlns:a="http://schemas.openxmlformats.org/drawingml/2006/main">
            <a:srgbClr val="806FE8"/>
          </a:solidFill>
          <a:ln xmlns:a="http://schemas.openxmlformats.org/drawingml/2006/main" w="0">
            <a:noFill/>
            <a:prstDash val="solid"/>
          </a:ln>
        </p:spPr>
      </p:sp>
      <p:sp>
        <p:nvSpPr>
          <p:cNvPr id="20" name="rule">
            <a:extLst xmlns:a="http://schemas.openxmlformats.org/drawingml/2006/main">
              <a:ext uri="{FF2B5EF4-FFF2-40B4-BE49-F238E27FC236}">
                <a16:creationId xmlns:a16="http://schemas.microsoft.com/office/drawing/2014/main" id="{CE6F07FC-87CE-48BB-A97F-9410E8E53F40}"/>
              </a:ext>
            </a:extLst>
          </p:cNvPr>
          <p:cNvSpPr>
            <a:spLocks xmlns:a="http://schemas.openxmlformats.org/drawingml/2006/main" noGrp="1"/>
          </p:cNvSpPr>
          <p:nvPr/>
        </p:nvSpPr>
        <p:spPr>
          <a:xfrm xmlns:a="http://schemas.openxmlformats.org/drawingml/2006/main">
            <a:off x="9791700" y="3209925"/>
            <a:ext cx="838200" cy="19050"/>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21" name="rule">
            <a:extLst xmlns:a="http://schemas.openxmlformats.org/drawingml/2006/main">
              <a:ext uri="{FF2B5EF4-FFF2-40B4-BE49-F238E27FC236}">
                <a16:creationId xmlns:a16="http://schemas.microsoft.com/office/drawing/2014/main" id="{5661ECB8-BB87-430F-94DE-496166076F05}"/>
              </a:ext>
            </a:extLst>
          </p:cNvPr>
          <p:cNvSpPr>
            <a:spLocks xmlns:a="http://schemas.openxmlformats.org/drawingml/2006/main" noGrp="1"/>
          </p:cNvSpPr>
          <p:nvPr/>
        </p:nvSpPr>
        <p:spPr>
          <a:xfrm xmlns:a="http://schemas.openxmlformats.org/drawingml/2006/main">
            <a:off x="7639050" y="3924300"/>
            <a:ext cx="1181100" cy="19050"/>
          </a:xfrm>
          <a:prstGeom xmlns:a="http://schemas.openxmlformats.org/drawingml/2006/main" prst="rect">
            <a:avLst/>
          </a:prstGeom>
          <a:solidFill xmlns:a="http://schemas.openxmlformats.org/drawingml/2006/main">
            <a:srgbClr val="9DCC3B"/>
          </a:solidFill>
          <a:ln xmlns:a="http://schemas.openxmlformats.org/drawingml/2006/main" w="0">
            <a:noFill/>
            <a:prstDash val="solid"/>
          </a:ln>
        </p:spPr>
      </p:sp>
      <p:sp>
        <p:nvSpPr>
          <p:cNvPr id="22" name="rule">
            <a:extLst xmlns:a="http://schemas.openxmlformats.org/drawingml/2006/main">
              <a:ext uri="{FF2B5EF4-FFF2-40B4-BE49-F238E27FC236}">
                <a16:creationId xmlns:a16="http://schemas.microsoft.com/office/drawing/2014/main" id="{8AD5C713-A4AA-4B12-8734-92F0933F943E}"/>
              </a:ext>
            </a:extLst>
          </p:cNvPr>
          <p:cNvSpPr>
            <a:spLocks xmlns:a="http://schemas.openxmlformats.org/drawingml/2006/main" noGrp="1"/>
          </p:cNvSpPr>
          <p:nvPr/>
        </p:nvSpPr>
        <p:spPr>
          <a:xfrm xmlns:a="http://schemas.openxmlformats.org/drawingml/2006/main">
            <a:off x="7219950" y="2733675"/>
            <a:ext cx="19050" cy="742950"/>
          </a:xfrm>
          <a:prstGeom xmlns:a="http://schemas.openxmlformats.org/drawingml/2006/main" prst="rect">
            <a:avLst/>
          </a:prstGeom>
          <a:solidFill xmlns:a="http://schemas.openxmlformats.org/drawingml/2006/main">
            <a:srgbClr val="F0646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880A8FD-4A17-434E-9029-7E4615949E20}"/>
              </a:ext>
            </a:extLst>
          </p:cNvPr>
          <p:cNvSpPr>
            <a:spLocks xmlns:a="http://schemas.openxmlformats.org/drawingml/2006/main" noGrp="1"/>
          </p:cNvSpPr>
          <p:nvPr/>
        </p:nvSpPr>
        <p:spPr>
          <a:xfrm xmlns:a="http://schemas.openxmlformats.org/drawingml/2006/main">
            <a:off x="666750" y="4705350"/>
            <a:ext cx="10477500" cy="9525"/>
          </a:xfrm>
          <a:prstGeom xmlns:a="http://schemas.openxmlformats.org/drawingml/2006/main" prst="rect">
            <a:avLst/>
          </a:prstGeom>
          <a:solidFill xmlns:a="http://schemas.openxmlformats.org/drawingml/2006/main">
            <a:srgbClr val="26344D"/>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BE645E8-C83F-43A9-96C8-A976A986939B}"/>
              </a:ext>
            </a:extLst>
          </p:cNvPr>
          <p:cNvSpPr>
            <a:spLocks xmlns:a="http://schemas.openxmlformats.org/drawingml/2006/main" noGrp="1"/>
          </p:cNvSpPr>
          <p:nvPr/>
        </p:nvSpPr>
        <p:spPr>
          <a:xfrm xmlns:a="http://schemas.openxmlformats.org/drawingml/2006/main">
            <a:off x="704850" y="49911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00" b="1">
                <a:solidFill>
                  <a:srgbClr val="24BFAE"/>
                </a:solidFill>
                <a:latin typeface="Aptos Display"/>
                <a:ea typeface="Aptos Display"/>
                <a:cs typeface="Aptos Display"/>
              </a:defRPr>
            </a:pPr>
            <a:r>
              <a:rPr sz="2400" b="1">
                <a:solidFill>
                  <a:srgbClr val="24BFAE"/>
                </a:solidFill>
                <a:latin typeface="Aptos Display"/>
                <a:ea typeface="Aptos Display"/>
                <a:cs typeface="Aptos Display"/>
              </a:rPr>
              <a:t>927 / 1837</a:t>
            </a:r>
          </a:p>
        </p:txBody>
      </p:sp>
      <p:sp>
        <p:nvSpPr>
          <p:cNvPr id="25" name="">
            <a:extLst xmlns:a="http://schemas.openxmlformats.org/drawingml/2006/main">
              <a:ext uri="{FF2B5EF4-FFF2-40B4-BE49-F238E27FC236}">
                <a16:creationId xmlns:a16="http://schemas.microsoft.com/office/drawing/2014/main" id="{E6FB6D54-2055-4770-A829-B9629B1E5D80}"/>
              </a:ext>
            </a:extLst>
          </p:cNvPr>
          <p:cNvSpPr>
            <a:spLocks xmlns:a="http://schemas.openxmlformats.org/drawingml/2006/main" noGrp="1"/>
          </p:cNvSpPr>
          <p:nvPr/>
        </p:nvSpPr>
        <p:spPr>
          <a:xfrm xmlns:a="http://schemas.openxmlformats.org/drawingml/2006/main">
            <a:off x="704850" y="556260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8C3D4"/>
                </a:solidFill>
                <a:latin typeface="Aptos"/>
                <a:ea typeface="Aptos"/>
                <a:cs typeface="Aptos"/>
              </a:defRPr>
            </a:pPr>
            <a:r>
              <a:rPr sz="975" b="0">
                <a:solidFill>
                  <a:srgbClr val="B8C3D4"/>
                </a:solidFill>
                <a:latin typeface="Aptos"/>
                <a:ea typeface="Aptos"/>
                <a:cs typeface="Aptos"/>
              </a:rPr>
              <a:t>normal source-validated emitted versions confirmed</a:t>
            </a:r>
          </a:p>
        </p:txBody>
      </p:sp>
      <p:sp>
        <p:nvSpPr>
          <p:cNvPr id="26" name="">
            <a:extLst xmlns:a="http://schemas.openxmlformats.org/drawingml/2006/main">
              <a:ext uri="{FF2B5EF4-FFF2-40B4-BE49-F238E27FC236}">
                <a16:creationId xmlns:a16="http://schemas.microsoft.com/office/drawing/2014/main" id="{19893EEA-8ED5-44FD-9142-A05C505485AE}"/>
              </a:ext>
            </a:extLst>
          </p:cNvPr>
          <p:cNvSpPr>
            <a:spLocks xmlns:a="http://schemas.openxmlformats.org/drawingml/2006/main" noGrp="1"/>
          </p:cNvSpPr>
          <p:nvPr/>
        </p:nvSpPr>
        <p:spPr>
          <a:xfrm xmlns:a="http://schemas.openxmlformats.org/drawingml/2006/main">
            <a:off x="4171950" y="4991100"/>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00" b="1">
                <a:solidFill>
                  <a:srgbClr val="9DCC3B"/>
                </a:solidFill>
                <a:latin typeface="Aptos Display"/>
                <a:ea typeface="Aptos Display"/>
                <a:cs typeface="Aptos Display"/>
              </a:defRPr>
            </a:pPr>
            <a:r>
              <a:rPr sz="2400" b="1">
                <a:solidFill>
                  <a:srgbClr val="9DCC3B"/>
                </a:solidFill>
                <a:latin typeface="Aptos Display"/>
                <a:ea typeface="Aptos Display"/>
                <a:cs typeface="Aptos Display"/>
              </a:rPr>
              <a:t>84 / 84</a:t>
            </a:r>
          </a:p>
        </p:txBody>
      </p:sp>
      <p:sp>
        <p:nvSpPr>
          <p:cNvPr id="27" name="">
            <a:extLst xmlns:a="http://schemas.openxmlformats.org/drawingml/2006/main">
              <a:ext uri="{FF2B5EF4-FFF2-40B4-BE49-F238E27FC236}">
                <a16:creationId xmlns:a16="http://schemas.microsoft.com/office/drawing/2014/main" id="{2EE5A69F-6B61-4906-9466-E43C7AC15062}"/>
              </a:ext>
            </a:extLst>
          </p:cNvPr>
          <p:cNvSpPr>
            <a:spLocks xmlns:a="http://schemas.openxmlformats.org/drawingml/2006/main" noGrp="1"/>
          </p:cNvSpPr>
          <p:nvPr/>
        </p:nvSpPr>
        <p:spPr>
          <a:xfrm xmlns:a="http://schemas.openxmlformats.org/drawingml/2006/main">
            <a:off x="4171950" y="556260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8C3D4"/>
                </a:solidFill>
                <a:latin typeface="Aptos"/>
                <a:ea typeface="Aptos"/>
                <a:cs typeface="Aptos"/>
              </a:defRPr>
            </a:pPr>
            <a:r>
              <a:rPr sz="975" b="0">
                <a:solidFill>
                  <a:srgbClr val="B8C3D4"/>
                </a:solidFill>
                <a:latin typeface="Aptos"/>
                <a:ea typeface="Aptos"/>
                <a:cs typeface="Aptos"/>
              </a:rPr>
              <a:t>controlled expected Maven versions</a:t>
            </a:r>
          </a:p>
        </p:txBody>
      </p:sp>
      <p:sp>
        <p:nvSpPr>
          <p:cNvPr id="28" name="">
            <a:extLst xmlns:a="http://schemas.openxmlformats.org/drawingml/2006/main">
              <a:ext uri="{FF2B5EF4-FFF2-40B4-BE49-F238E27FC236}">
                <a16:creationId xmlns:a16="http://schemas.microsoft.com/office/drawing/2014/main" id="{1A36BF1D-9DC9-4549-8CE4-077B9D01B4AF}"/>
              </a:ext>
            </a:extLst>
          </p:cNvPr>
          <p:cNvSpPr>
            <a:spLocks xmlns:a="http://schemas.openxmlformats.org/drawingml/2006/main" noGrp="1"/>
          </p:cNvSpPr>
          <p:nvPr/>
        </p:nvSpPr>
        <p:spPr>
          <a:xfrm xmlns:a="http://schemas.openxmlformats.org/drawingml/2006/main">
            <a:off x="7086600" y="4991100"/>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00" b="1">
                <a:solidFill>
                  <a:srgbClr val="E8AA3B"/>
                </a:solidFill>
                <a:latin typeface="Aptos Display"/>
                <a:ea typeface="Aptos Display"/>
                <a:cs typeface="Aptos Display"/>
              </a:defRPr>
            </a:pPr>
            <a:r>
              <a:rPr sz="2400" b="1">
                <a:solidFill>
                  <a:srgbClr val="E8AA3B"/>
                </a:solidFill>
                <a:latin typeface="Aptos Display"/>
                <a:ea typeface="Aptos Display"/>
                <a:cs typeface="Aptos Display"/>
              </a:rPr>
              <a:t>6772 / 6772</a:t>
            </a:r>
          </a:p>
        </p:txBody>
      </p:sp>
      <p:sp>
        <p:nvSpPr>
          <p:cNvPr id="29" name="">
            <a:extLst xmlns:a="http://schemas.openxmlformats.org/drawingml/2006/main">
              <a:ext uri="{FF2B5EF4-FFF2-40B4-BE49-F238E27FC236}">
                <a16:creationId xmlns:a16="http://schemas.microsoft.com/office/drawing/2014/main" id="{A6F75EF1-1D61-4E16-8666-62121626CD57}"/>
              </a:ext>
            </a:extLst>
          </p:cNvPr>
          <p:cNvSpPr>
            <a:spLocks xmlns:a="http://schemas.openxmlformats.org/drawingml/2006/main" noGrp="1"/>
          </p:cNvSpPr>
          <p:nvPr/>
        </p:nvSpPr>
        <p:spPr>
          <a:xfrm xmlns:a="http://schemas.openxmlformats.org/drawingml/2006/main">
            <a:off x="7086600" y="5562600"/>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8C3D4"/>
                </a:solidFill>
                <a:latin typeface="Aptos"/>
                <a:ea typeface="Aptos"/>
                <a:cs typeface="Aptos"/>
              </a:defRPr>
            </a:pPr>
            <a:r>
              <a:rPr sz="975" b="0">
                <a:solidFill>
                  <a:srgbClr val="B8C3D4"/>
                </a:solidFill>
                <a:latin typeface="Aptos"/>
                <a:ea typeface="Aptos"/>
                <a:cs typeface="Aptos"/>
              </a:rPr>
              <a:t>source-known v2 lane, not APK-only accuracy</a:t>
            </a:r>
          </a:p>
        </p:txBody>
      </p:sp>
    </p:spTree>
    <p:extLst>
      <p:ext uri="{BB962C8B-B14F-4D97-AF65-F5344CB8AC3E}">
        <p14:creationId xmlns:p14="http://schemas.microsoft.com/office/powerpoint/2010/main" val="1188237583"/>
      </p:ext>
    </p:extLst>
  </p:cSld>
</p:sld>
</file>

<file path=ppt/slides/slide2.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E4B51C6-B634-46A1-B5B9-E6A49AE81B30}"/>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F06464"/>
                </a:solidFill>
                <a:latin typeface="Aptos"/>
                <a:ea typeface="Aptos"/>
                <a:cs typeface="Aptos"/>
              </a:defRPr>
            </a:pPr>
            <a:r>
              <a:rPr sz="900" b="1">
                <a:solidFill>
                  <a:srgbClr val="F06464"/>
                </a:solidFill>
                <a:latin typeface="Aptos"/>
                <a:ea typeface="Aptos"/>
                <a:cs typeface="Aptos"/>
              </a:rPr>
              <a:t>THE PROBLEM</a:t>
            </a:r>
          </a:p>
        </p:txBody>
      </p:sp>
      <p:sp>
        <p:nvSpPr>
          <p:cNvPr id="2" name="">
            <a:extLst xmlns:a="http://schemas.openxmlformats.org/drawingml/2006/main">
              <a:ext uri="{FF2B5EF4-FFF2-40B4-BE49-F238E27FC236}">
                <a16:creationId xmlns:a16="http://schemas.microsoft.com/office/drawing/2014/main" id="{081AF4FF-647D-43D4-8BBF-FEFD933307EC}"/>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01827"/>
                </a:solidFill>
                <a:latin typeface="Aptos Display"/>
                <a:ea typeface="Aptos Display"/>
                <a:cs typeface="Aptos Display"/>
              </a:defRPr>
            </a:pPr>
            <a:r>
              <a:rPr sz="2325" b="1">
                <a:solidFill>
                  <a:srgbClr val="101827"/>
                </a:solidFill>
                <a:latin typeface="Aptos Display"/>
                <a:ea typeface="Aptos Display"/>
                <a:cs typeface="Aptos Display"/>
              </a:rPr>
              <a:t>Compilation removes the dependency metadata SBOM tools expect</a:t>
            </a:r>
          </a:p>
        </p:txBody>
      </p:sp>
      <p:sp>
        <p:nvSpPr>
          <p:cNvPr id="3" name="">
            <a:extLst xmlns:a="http://schemas.openxmlformats.org/drawingml/2006/main">
              <a:ext uri="{FF2B5EF4-FFF2-40B4-BE49-F238E27FC236}">
                <a16:creationId xmlns:a16="http://schemas.microsoft.com/office/drawing/2014/main" id="{BAA1E426-0410-406E-9DC8-702AAD295FDB}"/>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D"/>
                </a:solidFill>
                <a:latin typeface="Aptos"/>
                <a:ea typeface="Aptos"/>
                <a:cs typeface="Aptos"/>
              </a:defRPr>
            </a:pPr>
            <a:r>
              <a:rPr sz="900" b="1">
                <a:solidFill>
                  <a:srgbClr val="5E6B7D"/>
                </a:solidFill>
                <a:latin typeface="Aptos"/>
                <a:ea typeface="Aptos"/>
                <a:cs typeface="Aptos"/>
              </a:rPr>
              <a:t>02</a:t>
            </a:r>
          </a:p>
        </p:txBody>
      </p:sp>
      <p:sp>
        <p:nvSpPr>
          <p:cNvPr id="4" name="">
            <a:extLst xmlns:a="http://schemas.openxmlformats.org/drawingml/2006/main">
              <a:ext uri="{FF2B5EF4-FFF2-40B4-BE49-F238E27FC236}">
                <a16:creationId xmlns:a16="http://schemas.microsoft.com/office/drawing/2014/main" id="{4B2AD39A-26CA-4832-9B87-B69012E37F70}"/>
              </a:ext>
            </a:extLst>
          </p:cNvPr>
          <p:cNvSpPr>
            <a:spLocks xmlns:a="http://schemas.openxmlformats.org/drawingml/2006/main" noGrp="1"/>
          </p:cNvSpPr>
          <p:nvPr/>
        </p:nvSpPr>
        <p:spPr>
          <a:xfrm xmlns:a="http://schemas.openxmlformats.org/drawingml/2006/main">
            <a:off x="666750" y="1504950"/>
            <a:ext cx="4095750" cy="3810000"/>
          </a:xfrm>
          <a:prstGeom xmlns:a="http://schemas.openxmlformats.org/drawingml/2006/main" prst="roundRect">
            <a:avLst>
              <a:gd name="adj" fmla="val 2000"/>
            </a:avLst>
          </a:prstGeom>
          <a:solidFill xmlns:a="http://schemas.openxmlformats.org/drawingml/2006/main">
            <a:srgbClr val="FFFFFF"/>
          </a:solidFill>
          <a:ln xmlns:a="http://schemas.openxmlformats.org/drawingml/2006/main" w="9525">
            <a:solidFill>
              <a:srgbClr val="D8E0EA"/>
            </a:solidFill>
            <a:prstDash val="solid"/>
          </a:ln>
        </p:spPr>
      </p:sp>
      <p:sp>
        <p:nvSpPr>
          <p:cNvPr id="5" name="">
            <a:extLst xmlns:a="http://schemas.openxmlformats.org/drawingml/2006/main">
              <a:ext uri="{FF2B5EF4-FFF2-40B4-BE49-F238E27FC236}">
                <a16:creationId xmlns:a16="http://schemas.microsoft.com/office/drawing/2014/main" id="{B100D12C-3972-4158-937E-EB391082DAA1}"/>
              </a:ext>
            </a:extLst>
          </p:cNvPr>
          <p:cNvSpPr>
            <a:spLocks xmlns:a="http://schemas.openxmlformats.org/drawingml/2006/main" noGrp="1"/>
          </p:cNvSpPr>
          <p:nvPr/>
        </p:nvSpPr>
        <p:spPr>
          <a:xfrm xmlns:a="http://schemas.openxmlformats.org/drawingml/2006/main">
            <a:off x="895350" y="1733550"/>
            <a:ext cx="1428750" cy="266700"/>
          </a:xfrm>
          <a:prstGeom xmlns:a="http://schemas.openxmlformats.org/drawingml/2006/main" prst="roundRect">
            <a:avLst>
              <a:gd name="adj" fmla="val 28571"/>
            </a:avLst>
          </a:prstGeom>
          <a:solidFill xmlns:a="http://schemas.openxmlformats.org/drawingml/2006/main">
            <a:srgbClr val="EFF7DD"/>
          </a:solidFill>
          <a:ln xmlns:a="http://schemas.openxmlformats.org/drawingml/2006/main" w="9525">
            <a:solidFill>
              <a:srgbClr val="9DCC3B"/>
            </a:solidFill>
            <a:prstDash val="solid"/>
          </a:ln>
        </p:spPr>
      </p:sp>
      <p:sp>
        <p:nvSpPr>
          <p:cNvPr id="6" name="">
            <a:extLst xmlns:a="http://schemas.openxmlformats.org/drawingml/2006/main">
              <a:ext uri="{FF2B5EF4-FFF2-40B4-BE49-F238E27FC236}">
                <a16:creationId xmlns:a16="http://schemas.microsoft.com/office/drawing/2014/main" id="{B3BFFFF7-DA94-4EA0-B31D-87C3CB1974B3}"/>
              </a:ext>
            </a:extLst>
          </p:cNvPr>
          <p:cNvSpPr>
            <a:spLocks xmlns:a="http://schemas.openxmlformats.org/drawingml/2006/main" noGrp="1"/>
          </p:cNvSpPr>
          <p:nvPr/>
        </p:nvSpPr>
        <p:spPr>
          <a:xfrm xmlns:a="http://schemas.openxmlformats.org/drawingml/2006/main">
            <a:off x="962025" y="1790700"/>
            <a:ext cx="1295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9DCC3B"/>
                </a:solidFill>
                <a:latin typeface="Aptos"/>
                <a:ea typeface="Aptos"/>
                <a:cs typeface="Aptos"/>
              </a:defRPr>
            </a:pPr>
            <a:r>
              <a:rPr sz="825" b="1">
                <a:solidFill>
                  <a:srgbClr val="9DCC3B"/>
                </a:solidFill>
                <a:latin typeface="Aptos"/>
                <a:ea typeface="Aptos"/>
                <a:cs typeface="Aptos"/>
              </a:rPr>
              <a:t>SOURCE PROJECT</a:t>
            </a:r>
          </a:p>
        </p:txBody>
      </p:sp>
      <p:sp>
        <p:nvSpPr>
          <p:cNvPr id="7" name="">
            <a:extLst xmlns:a="http://schemas.openxmlformats.org/drawingml/2006/main">
              <a:ext uri="{FF2B5EF4-FFF2-40B4-BE49-F238E27FC236}">
                <a16:creationId xmlns:a16="http://schemas.microsoft.com/office/drawing/2014/main" id="{42B25F03-259C-4CD9-A885-CF6EC98361D4}"/>
              </a:ext>
            </a:extLst>
          </p:cNvPr>
          <p:cNvSpPr>
            <a:spLocks xmlns:a="http://schemas.openxmlformats.org/drawingml/2006/main" noGrp="1"/>
          </p:cNvSpPr>
          <p:nvPr/>
        </p:nvSpPr>
        <p:spPr>
          <a:xfrm xmlns:a="http://schemas.openxmlformats.org/drawingml/2006/main">
            <a:off x="895350" y="220980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01827"/>
                </a:solidFill>
                <a:latin typeface="Aptos"/>
                <a:ea typeface="Aptos"/>
                <a:cs typeface="Aptos"/>
              </a:defRPr>
            </a:pPr>
            <a:r>
              <a:rPr sz="1875" b="1">
                <a:solidFill>
                  <a:srgbClr val="101827"/>
                </a:solidFill>
                <a:latin typeface="Aptos"/>
                <a:ea typeface="Aptos"/>
                <a:cs typeface="Aptos"/>
              </a:rPr>
              <a:t>Dependencies are explicit</a:t>
            </a:r>
          </a:p>
        </p:txBody>
      </p:sp>
      <p:sp>
        <p:nvSpPr>
          <p:cNvPr id="8" name="">
            <a:extLst xmlns:a="http://schemas.openxmlformats.org/drawingml/2006/main">
              <a:ext uri="{FF2B5EF4-FFF2-40B4-BE49-F238E27FC236}">
                <a16:creationId xmlns:a16="http://schemas.microsoft.com/office/drawing/2014/main" id="{09A3A536-04D9-4A6D-A19F-C4D067C34812}"/>
              </a:ext>
            </a:extLst>
          </p:cNvPr>
          <p:cNvSpPr>
            <a:spLocks xmlns:a="http://schemas.openxmlformats.org/drawingml/2006/main" noGrp="1"/>
          </p:cNvSpPr>
          <p:nvPr/>
        </p:nvSpPr>
        <p:spPr>
          <a:xfrm xmlns:a="http://schemas.openxmlformats.org/drawingml/2006/main">
            <a:off x="914400" y="2800350"/>
            <a:ext cx="95250" cy="400050"/>
          </a:xfrm>
          <a:prstGeom xmlns:a="http://schemas.openxmlformats.org/drawingml/2006/main" prst="rect">
            <a:avLst/>
          </a:prstGeom>
          <a:solidFill xmlns:a="http://schemas.openxmlformats.org/drawingml/2006/main">
            <a:srgbClr val="9DCC3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DB9B3A5-D621-4F1D-8C3D-7A5208C130E6}"/>
              </a:ext>
            </a:extLst>
          </p:cNvPr>
          <p:cNvSpPr>
            <a:spLocks xmlns:a="http://schemas.openxmlformats.org/drawingml/2006/main" noGrp="1"/>
          </p:cNvSpPr>
          <p:nvPr/>
        </p:nvSpPr>
        <p:spPr>
          <a:xfrm xmlns:a="http://schemas.openxmlformats.org/drawingml/2006/main">
            <a:off x="1181100" y="27813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01827"/>
                </a:solidFill>
                <a:latin typeface="Cascadia Mono"/>
                <a:ea typeface="Cascadia Mono"/>
                <a:cs typeface="Cascadia Mono"/>
              </a:defRPr>
            </a:pPr>
            <a:r>
              <a:rPr sz="1050" b="1">
                <a:solidFill>
                  <a:srgbClr val="101827"/>
                </a:solidFill>
                <a:latin typeface="Cascadia Mono"/>
                <a:ea typeface="Cascadia Mono"/>
                <a:cs typeface="Cascadia Mono"/>
              </a:rPr>
              <a:t>build.gradle</a:t>
            </a:r>
          </a:p>
        </p:txBody>
      </p:sp>
      <p:sp>
        <p:nvSpPr>
          <p:cNvPr id="10" name="">
            <a:extLst xmlns:a="http://schemas.openxmlformats.org/drawingml/2006/main">
              <a:ext uri="{FF2B5EF4-FFF2-40B4-BE49-F238E27FC236}">
                <a16:creationId xmlns:a16="http://schemas.microsoft.com/office/drawing/2014/main" id="{37206C09-5C65-48B5-AA10-54FF6B8C8FE7}"/>
              </a:ext>
            </a:extLst>
          </p:cNvPr>
          <p:cNvSpPr>
            <a:spLocks xmlns:a="http://schemas.openxmlformats.org/drawingml/2006/main" noGrp="1"/>
          </p:cNvSpPr>
          <p:nvPr/>
        </p:nvSpPr>
        <p:spPr>
          <a:xfrm xmlns:a="http://schemas.openxmlformats.org/drawingml/2006/main">
            <a:off x="1181100" y="29908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E6B7D"/>
                </a:solidFill>
                <a:latin typeface="Aptos"/>
                <a:ea typeface="Aptos"/>
                <a:cs typeface="Aptos"/>
              </a:defRPr>
            </a:pPr>
            <a:r>
              <a:rPr sz="900" b="0">
                <a:solidFill>
                  <a:srgbClr val="5E6B7D"/>
                </a:solidFill>
                <a:latin typeface="Aptos"/>
                <a:ea typeface="Aptos"/>
                <a:cs typeface="Aptos"/>
              </a:rPr>
              <a:t>coordinates + versions</a:t>
            </a:r>
          </a:p>
        </p:txBody>
      </p:sp>
      <p:sp>
        <p:nvSpPr>
          <p:cNvPr id="11" name="">
            <a:extLst xmlns:a="http://schemas.openxmlformats.org/drawingml/2006/main">
              <a:ext uri="{FF2B5EF4-FFF2-40B4-BE49-F238E27FC236}">
                <a16:creationId xmlns:a16="http://schemas.microsoft.com/office/drawing/2014/main" id="{6AD7CABC-6899-416D-902F-832C1018E6A0}"/>
              </a:ext>
            </a:extLst>
          </p:cNvPr>
          <p:cNvSpPr>
            <a:spLocks xmlns:a="http://schemas.openxmlformats.org/drawingml/2006/main" noGrp="1"/>
          </p:cNvSpPr>
          <p:nvPr/>
        </p:nvSpPr>
        <p:spPr>
          <a:xfrm xmlns:a="http://schemas.openxmlformats.org/drawingml/2006/main">
            <a:off x="914400" y="3390900"/>
            <a:ext cx="95250" cy="400050"/>
          </a:xfrm>
          <a:prstGeom xmlns:a="http://schemas.openxmlformats.org/drawingml/2006/main" prst="rect">
            <a:avLst/>
          </a:prstGeom>
          <a:solidFill xmlns:a="http://schemas.openxmlformats.org/drawingml/2006/main">
            <a:srgbClr val="9DCC3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ADEB271-1EB1-4F70-87F9-059D85BFD75E}"/>
              </a:ext>
            </a:extLst>
          </p:cNvPr>
          <p:cNvSpPr>
            <a:spLocks xmlns:a="http://schemas.openxmlformats.org/drawingml/2006/main" noGrp="1"/>
          </p:cNvSpPr>
          <p:nvPr/>
        </p:nvSpPr>
        <p:spPr>
          <a:xfrm xmlns:a="http://schemas.openxmlformats.org/drawingml/2006/main">
            <a:off x="1181100" y="3371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01827"/>
                </a:solidFill>
                <a:latin typeface="Cascadia Mono"/>
                <a:ea typeface="Cascadia Mono"/>
                <a:cs typeface="Cascadia Mono"/>
              </a:defRPr>
            </a:pPr>
            <a:r>
              <a:rPr sz="1050" b="1">
                <a:solidFill>
                  <a:srgbClr val="101827"/>
                </a:solidFill>
                <a:latin typeface="Cascadia Mono"/>
                <a:ea typeface="Cascadia Mono"/>
                <a:cs typeface="Cascadia Mono"/>
              </a:rPr>
              <a:t>version catalog</a:t>
            </a:r>
          </a:p>
        </p:txBody>
      </p:sp>
      <p:sp>
        <p:nvSpPr>
          <p:cNvPr id="13" name="">
            <a:extLst xmlns:a="http://schemas.openxmlformats.org/drawingml/2006/main">
              <a:ext uri="{FF2B5EF4-FFF2-40B4-BE49-F238E27FC236}">
                <a16:creationId xmlns:a16="http://schemas.microsoft.com/office/drawing/2014/main" id="{99F33E70-93AA-489E-926E-16828AE072E4}"/>
              </a:ext>
            </a:extLst>
          </p:cNvPr>
          <p:cNvSpPr>
            <a:spLocks xmlns:a="http://schemas.openxmlformats.org/drawingml/2006/main" noGrp="1"/>
          </p:cNvSpPr>
          <p:nvPr/>
        </p:nvSpPr>
        <p:spPr>
          <a:xfrm xmlns:a="http://schemas.openxmlformats.org/drawingml/2006/main">
            <a:off x="1181100" y="358140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E6B7D"/>
                </a:solidFill>
                <a:latin typeface="Aptos"/>
                <a:ea typeface="Aptos"/>
                <a:cs typeface="Aptos"/>
              </a:defRPr>
            </a:pPr>
            <a:r>
              <a:rPr sz="900" b="0">
                <a:solidFill>
                  <a:srgbClr val="5E6B7D"/>
                </a:solidFill>
                <a:latin typeface="Aptos"/>
                <a:ea typeface="Aptos"/>
                <a:cs typeface="Aptos"/>
              </a:rPr>
              <a:t>shared dependency policy</a:t>
            </a:r>
          </a:p>
        </p:txBody>
      </p:sp>
      <p:sp>
        <p:nvSpPr>
          <p:cNvPr id="14" name="">
            <a:extLst xmlns:a="http://schemas.openxmlformats.org/drawingml/2006/main">
              <a:ext uri="{FF2B5EF4-FFF2-40B4-BE49-F238E27FC236}">
                <a16:creationId xmlns:a16="http://schemas.microsoft.com/office/drawing/2014/main" id="{664CD18B-B642-4458-BB03-01477FD7EB03}"/>
              </a:ext>
            </a:extLst>
          </p:cNvPr>
          <p:cNvSpPr>
            <a:spLocks xmlns:a="http://schemas.openxmlformats.org/drawingml/2006/main" noGrp="1"/>
          </p:cNvSpPr>
          <p:nvPr/>
        </p:nvSpPr>
        <p:spPr>
          <a:xfrm xmlns:a="http://schemas.openxmlformats.org/drawingml/2006/main">
            <a:off x="914400" y="3981450"/>
            <a:ext cx="95250" cy="400050"/>
          </a:xfrm>
          <a:prstGeom xmlns:a="http://schemas.openxmlformats.org/drawingml/2006/main" prst="rect">
            <a:avLst/>
          </a:prstGeom>
          <a:solidFill xmlns:a="http://schemas.openxmlformats.org/drawingml/2006/main">
            <a:srgbClr val="9DCC3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39C0149-9B0A-4678-BBB0-9CF294A79579}"/>
              </a:ext>
            </a:extLst>
          </p:cNvPr>
          <p:cNvSpPr>
            <a:spLocks xmlns:a="http://schemas.openxmlformats.org/drawingml/2006/main" noGrp="1"/>
          </p:cNvSpPr>
          <p:nvPr/>
        </p:nvSpPr>
        <p:spPr>
          <a:xfrm xmlns:a="http://schemas.openxmlformats.org/drawingml/2006/main">
            <a:off x="1181100" y="39624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01827"/>
                </a:solidFill>
                <a:latin typeface="Cascadia Mono"/>
                <a:ea typeface="Cascadia Mono"/>
                <a:cs typeface="Cascadia Mono"/>
              </a:defRPr>
            </a:pPr>
            <a:r>
              <a:rPr sz="1050" b="1">
                <a:solidFill>
                  <a:srgbClr val="101827"/>
                </a:solidFill>
                <a:latin typeface="Cascadia Mono"/>
                <a:ea typeface="Cascadia Mono"/>
                <a:cs typeface="Cascadia Mono"/>
              </a:rPr>
              <a:t>lock / tree</a:t>
            </a:r>
          </a:p>
        </p:txBody>
      </p:sp>
      <p:sp>
        <p:nvSpPr>
          <p:cNvPr id="16" name="">
            <a:extLst xmlns:a="http://schemas.openxmlformats.org/drawingml/2006/main">
              <a:ext uri="{FF2B5EF4-FFF2-40B4-BE49-F238E27FC236}">
                <a16:creationId xmlns:a16="http://schemas.microsoft.com/office/drawing/2014/main" id="{796E2ACB-AD72-456D-870D-0578BC66EAC5}"/>
              </a:ext>
            </a:extLst>
          </p:cNvPr>
          <p:cNvSpPr>
            <a:spLocks xmlns:a="http://schemas.openxmlformats.org/drawingml/2006/main" noGrp="1"/>
          </p:cNvSpPr>
          <p:nvPr/>
        </p:nvSpPr>
        <p:spPr>
          <a:xfrm xmlns:a="http://schemas.openxmlformats.org/drawingml/2006/main">
            <a:off x="1181100" y="41719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E6B7D"/>
                </a:solidFill>
                <a:latin typeface="Aptos"/>
                <a:ea typeface="Aptos"/>
                <a:cs typeface="Aptos"/>
              </a:defRPr>
            </a:pPr>
            <a:r>
              <a:rPr sz="900" b="0">
                <a:solidFill>
                  <a:srgbClr val="5E6B7D"/>
                </a:solidFill>
                <a:latin typeface="Aptos"/>
                <a:ea typeface="Aptos"/>
                <a:cs typeface="Aptos"/>
              </a:rPr>
              <a:t>resolved transitives</a:t>
            </a:r>
          </a:p>
        </p:txBody>
      </p:sp>
      <p:sp>
        <p:nvSpPr>
          <p:cNvPr id="17" name="">
            <a:extLst xmlns:a="http://schemas.openxmlformats.org/drawingml/2006/main">
              <a:ext uri="{FF2B5EF4-FFF2-40B4-BE49-F238E27FC236}">
                <a16:creationId xmlns:a16="http://schemas.microsoft.com/office/drawing/2014/main" id="{52B5662D-73C4-4000-8062-8275D9B484CF}"/>
              </a:ext>
            </a:extLst>
          </p:cNvPr>
          <p:cNvSpPr>
            <a:spLocks xmlns:a="http://schemas.openxmlformats.org/drawingml/2006/main" noGrp="1"/>
          </p:cNvSpPr>
          <p:nvPr/>
        </p:nvSpPr>
        <p:spPr>
          <a:xfrm xmlns:a="http://schemas.openxmlformats.org/drawingml/2006/main">
            <a:off x="895350" y="47625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9DCC3B"/>
                </a:solidFill>
                <a:latin typeface="Aptos"/>
                <a:ea typeface="Aptos"/>
                <a:cs typeface="Aptos"/>
              </a:defRPr>
            </a:pPr>
            <a:r>
              <a:rPr sz="1200" b="1">
                <a:solidFill>
                  <a:srgbClr val="9DCC3B"/>
                </a:solidFill>
                <a:latin typeface="Aptos"/>
                <a:ea typeface="Aptos"/>
                <a:cs typeface="Aptos"/>
              </a:rPr>
              <a:t>Normal source-based SBOM</a:t>
            </a:r>
          </a:p>
        </p:txBody>
      </p:sp>
      <p:sp>
        <p:nvSpPr>
          <p:cNvPr id="18" name="rule">
            <a:extLst xmlns:a="http://schemas.openxmlformats.org/drawingml/2006/main">
              <a:ext uri="{FF2B5EF4-FFF2-40B4-BE49-F238E27FC236}">
                <a16:creationId xmlns:a16="http://schemas.microsoft.com/office/drawing/2014/main" id="{0A298B72-622E-4D71-9E26-3AC31887DAAD}"/>
              </a:ext>
            </a:extLst>
          </p:cNvPr>
          <p:cNvSpPr>
            <a:spLocks xmlns:a="http://schemas.openxmlformats.org/drawingml/2006/main" noGrp="1"/>
          </p:cNvSpPr>
          <p:nvPr/>
        </p:nvSpPr>
        <p:spPr>
          <a:xfrm xmlns:a="http://schemas.openxmlformats.org/drawingml/2006/main">
            <a:off x="4933950" y="3152775"/>
            <a:ext cx="1409700" cy="19050"/>
          </a:xfrm>
          <a:prstGeom xmlns:a="http://schemas.openxmlformats.org/drawingml/2006/main" prst="rect">
            <a:avLst/>
          </a:prstGeom>
          <a:solidFill xmlns:a="http://schemas.openxmlformats.org/drawingml/2006/main">
            <a:srgbClr val="F06464"/>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5B57390-3BAE-4B48-BDE1-14F790343A73}"/>
              </a:ext>
            </a:extLst>
          </p:cNvPr>
          <p:cNvSpPr>
            <a:spLocks xmlns:a="http://schemas.openxmlformats.org/drawingml/2006/main" noGrp="1"/>
          </p:cNvSpPr>
          <p:nvPr/>
        </p:nvSpPr>
        <p:spPr>
          <a:xfrm xmlns:a="http://schemas.openxmlformats.org/drawingml/2006/main">
            <a:off x="6267450" y="3067050"/>
            <a:ext cx="228600" cy="190500"/>
          </a:xfrm>
          <a:prstGeom xmlns:a="http://schemas.openxmlformats.org/drawingml/2006/main" prst="chevron">
            <a:avLst/>
          </a:prstGeom>
          <a:solidFill xmlns:a="http://schemas.openxmlformats.org/drawingml/2006/main">
            <a:srgbClr val="F0646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4D6D395-8204-4BC8-A527-7ACEE5C85760}"/>
              </a:ext>
            </a:extLst>
          </p:cNvPr>
          <p:cNvSpPr>
            <a:spLocks xmlns:a="http://schemas.openxmlformats.org/drawingml/2006/main" noGrp="1"/>
          </p:cNvSpPr>
          <p:nvPr/>
        </p:nvSpPr>
        <p:spPr>
          <a:xfrm xmlns:a="http://schemas.openxmlformats.org/drawingml/2006/main">
            <a:off x="4933950" y="2876550"/>
            <a:ext cx="15621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50" b="1">
                <a:solidFill>
                  <a:srgbClr val="F06464"/>
                </a:solidFill>
                <a:latin typeface="Aptos"/>
                <a:ea typeface="Aptos"/>
                <a:cs typeface="Aptos"/>
              </a:defRPr>
            </a:pPr>
            <a:r>
              <a:rPr sz="750" b="1">
                <a:solidFill>
                  <a:srgbClr val="F06464"/>
                </a:solidFill>
                <a:latin typeface="Aptos"/>
                <a:ea typeface="Aptos"/>
                <a:cs typeface="Aptos"/>
              </a:rPr>
              <a:t>compile + R8</a:t>
            </a:r>
          </a:p>
        </p:txBody>
      </p:sp>
      <p:sp>
        <p:nvSpPr>
          <p:cNvPr id="21" name="">
            <a:extLst xmlns:a="http://schemas.openxmlformats.org/drawingml/2006/main">
              <a:ext uri="{FF2B5EF4-FFF2-40B4-BE49-F238E27FC236}">
                <a16:creationId xmlns:a16="http://schemas.microsoft.com/office/drawing/2014/main" id="{97E4A267-4ACA-43B8-A30F-17989AED1C60}"/>
              </a:ext>
            </a:extLst>
          </p:cNvPr>
          <p:cNvSpPr>
            <a:spLocks xmlns:a="http://schemas.openxmlformats.org/drawingml/2006/main" noGrp="1"/>
          </p:cNvSpPr>
          <p:nvPr/>
        </p:nvSpPr>
        <p:spPr>
          <a:xfrm xmlns:a="http://schemas.openxmlformats.org/drawingml/2006/main">
            <a:off x="5067300" y="352425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F06464"/>
                </a:solidFill>
                <a:latin typeface="Aptos"/>
                <a:ea typeface="Aptos"/>
                <a:cs typeface="Aptos"/>
              </a:defRPr>
            </a:pPr>
            <a:r>
              <a:rPr sz="975" b="1">
                <a:solidFill>
                  <a:srgbClr val="F06464"/>
                </a:solidFill>
                <a:latin typeface="Aptos"/>
                <a:ea typeface="Aptos"/>
                <a:cs typeface="Aptos"/>
              </a:rPr>
              <a:t>metadata lost</a:t>
            </a:r>
          </a:p>
        </p:txBody>
      </p:sp>
      <p:sp>
        <p:nvSpPr>
          <p:cNvPr id="22" name="">
            <a:extLst xmlns:a="http://schemas.openxmlformats.org/drawingml/2006/main">
              <a:ext uri="{FF2B5EF4-FFF2-40B4-BE49-F238E27FC236}">
                <a16:creationId xmlns:a16="http://schemas.microsoft.com/office/drawing/2014/main" id="{65E15E5F-1F91-42B3-83EE-2C9310E6B64C}"/>
              </a:ext>
            </a:extLst>
          </p:cNvPr>
          <p:cNvSpPr>
            <a:spLocks xmlns:a="http://schemas.openxmlformats.org/drawingml/2006/main" noGrp="1"/>
          </p:cNvSpPr>
          <p:nvPr/>
        </p:nvSpPr>
        <p:spPr>
          <a:xfrm xmlns:a="http://schemas.openxmlformats.org/drawingml/2006/main">
            <a:off x="6667500" y="1504950"/>
            <a:ext cx="4762500" cy="3810000"/>
          </a:xfrm>
          <a:prstGeom xmlns:a="http://schemas.openxmlformats.org/drawingml/2006/main" prst="roundRect">
            <a:avLst>
              <a:gd name="adj" fmla="val 2000"/>
            </a:avLst>
          </a:prstGeom>
          <a:solidFill xmlns:a="http://schemas.openxmlformats.org/drawingml/2006/main">
            <a:srgbClr val="111B2E"/>
          </a:solidFill>
          <a:ln xmlns:a="http://schemas.openxmlformats.org/drawingml/2006/main" w="9525">
            <a:solidFill>
              <a:srgbClr val="111B2E"/>
            </a:solidFill>
            <a:prstDash val="solid"/>
          </a:ln>
        </p:spPr>
      </p:sp>
      <p:sp>
        <p:nvSpPr>
          <p:cNvPr id="23" name="">
            <a:extLst xmlns:a="http://schemas.openxmlformats.org/drawingml/2006/main">
              <a:ext uri="{FF2B5EF4-FFF2-40B4-BE49-F238E27FC236}">
                <a16:creationId xmlns:a16="http://schemas.microsoft.com/office/drawing/2014/main" id="{CF7C3B11-D7EC-48ED-BBD2-440953C434D4}"/>
              </a:ext>
            </a:extLst>
          </p:cNvPr>
          <p:cNvSpPr>
            <a:spLocks xmlns:a="http://schemas.openxmlformats.org/drawingml/2006/main" noGrp="1"/>
          </p:cNvSpPr>
          <p:nvPr/>
        </p:nvSpPr>
        <p:spPr>
          <a:xfrm xmlns:a="http://schemas.openxmlformats.org/drawingml/2006/main">
            <a:off x="6896100" y="1733550"/>
            <a:ext cx="1352550" cy="266700"/>
          </a:xfrm>
          <a:prstGeom xmlns:a="http://schemas.openxmlformats.org/drawingml/2006/main" prst="roundRect">
            <a:avLst>
              <a:gd name="adj" fmla="val 28571"/>
            </a:avLst>
          </a:prstGeom>
          <a:solidFill xmlns:a="http://schemas.openxmlformats.org/drawingml/2006/main">
            <a:srgbClr val="0B1220"/>
          </a:solidFill>
          <a:ln xmlns:a="http://schemas.openxmlformats.org/drawingml/2006/main" w="9525">
            <a:solidFill>
              <a:srgbClr val="F06464"/>
            </a:solidFill>
            <a:prstDash val="solid"/>
          </a:ln>
        </p:spPr>
      </p:sp>
      <p:sp>
        <p:nvSpPr>
          <p:cNvPr id="24" name="">
            <a:extLst xmlns:a="http://schemas.openxmlformats.org/drawingml/2006/main">
              <a:ext uri="{FF2B5EF4-FFF2-40B4-BE49-F238E27FC236}">
                <a16:creationId xmlns:a16="http://schemas.microsoft.com/office/drawing/2014/main" id="{B145EA1A-B678-46F9-A379-ACB5E2E5B773}"/>
              </a:ext>
            </a:extLst>
          </p:cNvPr>
          <p:cNvSpPr>
            <a:spLocks xmlns:a="http://schemas.openxmlformats.org/drawingml/2006/main" noGrp="1"/>
          </p:cNvSpPr>
          <p:nvPr/>
        </p:nvSpPr>
        <p:spPr>
          <a:xfrm xmlns:a="http://schemas.openxmlformats.org/drawingml/2006/main">
            <a:off x="6962775" y="1790700"/>
            <a:ext cx="1219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F06464"/>
                </a:solidFill>
                <a:latin typeface="Aptos"/>
                <a:ea typeface="Aptos"/>
                <a:cs typeface="Aptos"/>
              </a:defRPr>
            </a:pPr>
            <a:r>
              <a:rPr sz="825" b="1">
                <a:solidFill>
                  <a:srgbClr val="F06464"/>
                </a:solidFill>
                <a:latin typeface="Aptos"/>
                <a:ea typeface="Aptos"/>
                <a:cs typeface="Aptos"/>
              </a:rPr>
              <a:t>COMPILED APK</a:t>
            </a:r>
          </a:p>
        </p:txBody>
      </p:sp>
      <p:sp>
        <p:nvSpPr>
          <p:cNvPr id="25" name="">
            <a:extLst xmlns:a="http://schemas.openxmlformats.org/drawingml/2006/main">
              <a:ext uri="{FF2B5EF4-FFF2-40B4-BE49-F238E27FC236}">
                <a16:creationId xmlns:a16="http://schemas.microsoft.com/office/drawing/2014/main" id="{D221B9CF-306C-477B-8592-1231B4C603D5}"/>
              </a:ext>
            </a:extLst>
          </p:cNvPr>
          <p:cNvSpPr>
            <a:spLocks xmlns:a="http://schemas.openxmlformats.org/drawingml/2006/main" noGrp="1"/>
          </p:cNvSpPr>
          <p:nvPr/>
        </p:nvSpPr>
        <p:spPr>
          <a:xfrm xmlns:a="http://schemas.openxmlformats.org/drawingml/2006/main">
            <a:off x="6896100" y="220980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FFFFFF"/>
                </a:solidFill>
                <a:latin typeface="Aptos"/>
                <a:ea typeface="Aptos"/>
                <a:cs typeface="Aptos"/>
              </a:defRPr>
            </a:pPr>
            <a:r>
              <a:rPr sz="1875" b="1">
                <a:solidFill>
                  <a:srgbClr val="FFFFFF"/>
                </a:solidFill>
                <a:latin typeface="Aptos"/>
                <a:ea typeface="Aptos"/>
                <a:cs typeface="Aptos"/>
              </a:rPr>
              <a:t>Evidence is indirect</a:t>
            </a:r>
          </a:p>
        </p:txBody>
      </p:sp>
      <p:sp>
        <p:nvSpPr>
          <p:cNvPr id="26" name="">
            <a:extLst xmlns:a="http://schemas.openxmlformats.org/drawingml/2006/main">
              <a:ext uri="{FF2B5EF4-FFF2-40B4-BE49-F238E27FC236}">
                <a16:creationId xmlns:a16="http://schemas.microsoft.com/office/drawing/2014/main" id="{6B5BC7D2-24F8-4CF0-95E4-3C5F1D60595B}"/>
              </a:ext>
            </a:extLst>
          </p:cNvPr>
          <p:cNvSpPr>
            <a:spLocks xmlns:a="http://schemas.openxmlformats.org/drawingml/2006/main" noGrp="1"/>
          </p:cNvSpPr>
          <p:nvPr/>
        </p:nvSpPr>
        <p:spPr>
          <a:xfrm xmlns:a="http://schemas.openxmlformats.org/drawingml/2006/main">
            <a:off x="6915150" y="2838450"/>
            <a:ext cx="171450" cy="171450"/>
          </a:xfrm>
          <a:prstGeom xmlns:a="http://schemas.openxmlformats.org/drawingml/2006/main" prst="ellipse">
            <a:avLst/>
          </a:prstGeom>
          <a:solidFill xmlns:a="http://schemas.openxmlformats.org/drawingml/2006/main">
            <a:srgbClr val="4F7CF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D21C5EC-5A31-4D54-81F7-5BFEEC658D58}"/>
              </a:ext>
            </a:extLst>
          </p:cNvPr>
          <p:cNvSpPr>
            <a:spLocks xmlns:a="http://schemas.openxmlformats.org/drawingml/2006/main" noGrp="1"/>
          </p:cNvSpPr>
          <p:nvPr/>
        </p:nvSpPr>
        <p:spPr>
          <a:xfrm xmlns:a="http://schemas.openxmlformats.org/drawingml/2006/main">
            <a:off x="7219950" y="28003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DEX bytecode</a:t>
            </a:r>
          </a:p>
        </p:txBody>
      </p:sp>
      <p:sp>
        <p:nvSpPr>
          <p:cNvPr id="28" name="">
            <a:extLst xmlns:a="http://schemas.openxmlformats.org/drawingml/2006/main">
              <a:ext uri="{FF2B5EF4-FFF2-40B4-BE49-F238E27FC236}">
                <a16:creationId xmlns:a16="http://schemas.microsoft.com/office/drawing/2014/main" id="{B711D3C2-15AF-4398-B095-FE9F7238D055}"/>
              </a:ext>
            </a:extLst>
          </p:cNvPr>
          <p:cNvSpPr>
            <a:spLocks xmlns:a="http://schemas.openxmlformats.org/drawingml/2006/main" noGrp="1"/>
          </p:cNvSpPr>
          <p:nvPr/>
        </p:nvSpPr>
        <p:spPr>
          <a:xfrm xmlns:a="http://schemas.openxmlformats.org/drawingml/2006/main">
            <a:off x="8705850" y="28003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AEBACB"/>
                </a:solidFill>
                <a:latin typeface="Aptos"/>
                <a:ea typeface="Aptos"/>
                <a:cs typeface="Aptos"/>
              </a:defRPr>
            </a:pPr>
            <a:r>
              <a:rPr sz="975" b="0">
                <a:solidFill>
                  <a:srgbClr val="AEBACB"/>
                </a:solidFill>
                <a:latin typeface="Aptos"/>
                <a:ea typeface="Aptos"/>
                <a:cs typeface="Aptos"/>
              </a:rPr>
              <a:t>classes mixed and optimized</a:t>
            </a:r>
          </a:p>
        </p:txBody>
      </p:sp>
      <p:sp>
        <p:nvSpPr>
          <p:cNvPr id="29" name="">
            <a:extLst xmlns:a="http://schemas.openxmlformats.org/drawingml/2006/main">
              <a:ext uri="{FF2B5EF4-FFF2-40B4-BE49-F238E27FC236}">
                <a16:creationId xmlns:a16="http://schemas.microsoft.com/office/drawing/2014/main" id="{39B2F40C-09DB-49D1-8BA9-9001E962C889}"/>
              </a:ext>
            </a:extLst>
          </p:cNvPr>
          <p:cNvSpPr>
            <a:spLocks xmlns:a="http://schemas.openxmlformats.org/drawingml/2006/main" noGrp="1"/>
          </p:cNvSpPr>
          <p:nvPr/>
        </p:nvSpPr>
        <p:spPr>
          <a:xfrm xmlns:a="http://schemas.openxmlformats.org/drawingml/2006/main">
            <a:off x="6915150" y="3333750"/>
            <a:ext cx="171450" cy="171450"/>
          </a:xfrm>
          <a:prstGeom xmlns:a="http://schemas.openxmlformats.org/drawingml/2006/main" prst="ellipse">
            <a:avLst/>
          </a:prstGeom>
          <a:solidFill xmlns:a="http://schemas.openxmlformats.org/drawingml/2006/main">
            <a:srgbClr val="F06464"/>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63599B53-807C-43EE-9684-DB0906026A58}"/>
              </a:ext>
            </a:extLst>
          </p:cNvPr>
          <p:cNvSpPr>
            <a:spLocks xmlns:a="http://schemas.openxmlformats.org/drawingml/2006/main" noGrp="1"/>
          </p:cNvSpPr>
          <p:nvPr/>
        </p:nvSpPr>
        <p:spPr>
          <a:xfrm xmlns:a="http://schemas.openxmlformats.org/drawingml/2006/main">
            <a:off x="7219950" y="32956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R8 transforms</a:t>
            </a:r>
          </a:p>
        </p:txBody>
      </p:sp>
      <p:sp>
        <p:nvSpPr>
          <p:cNvPr id="31" name="">
            <a:extLst xmlns:a="http://schemas.openxmlformats.org/drawingml/2006/main">
              <a:ext uri="{FF2B5EF4-FFF2-40B4-BE49-F238E27FC236}">
                <a16:creationId xmlns:a16="http://schemas.microsoft.com/office/drawing/2014/main" id="{54BBCFBC-3519-4EA3-9F05-78136C3C0478}"/>
              </a:ext>
            </a:extLst>
          </p:cNvPr>
          <p:cNvSpPr>
            <a:spLocks xmlns:a="http://schemas.openxmlformats.org/drawingml/2006/main" noGrp="1"/>
          </p:cNvSpPr>
          <p:nvPr/>
        </p:nvSpPr>
        <p:spPr>
          <a:xfrm xmlns:a="http://schemas.openxmlformats.org/drawingml/2006/main">
            <a:off x="8705850" y="32956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AEBACB"/>
                </a:solidFill>
                <a:latin typeface="Aptos"/>
                <a:ea typeface="Aptos"/>
                <a:cs typeface="Aptos"/>
              </a:defRPr>
            </a:pPr>
            <a:r>
              <a:rPr sz="975" b="0">
                <a:solidFill>
                  <a:srgbClr val="AEBACB"/>
                </a:solidFill>
                <a:latin typeface="Aptos"/>
                <a:ea typeface="Aptos"/>
                <a:cs typeface="Aptos"/>
              </a:rPr>
              <a:t>rename, shrink, inline</a:t>
            </a:r>
          </a:p>
        </p:txBody>
      </p:sp>
      <p:sp>
        <p:nvSpPr>
          <p:cNvPr id="32" name="">
            <a:extLst xmlns:a="http://schemas.openxmlformats.org/drawingml/2006/main">
              <a:ext uri="{FF2B5EF4-FFF2-40B4-BE49-F238E27FC236}">
                <a16:creationId xmlns:a16="http://schemas.microsoft.com/office/drawing/2014/main" id="{5A487B9C-F77B-49CD-B782-FC222D491C63}"/>
              </a:ext>
            </a:extLst>
          </p:cNvPr>
          <p:cNvSpPr>
            <a:spLocks xmlns:a="http://schemas.openxmlformats.org/drawingml/2006/main" noGrp="1"/>
          </p:cNvSpPr>
          <p:nvPr/>
        </p:nvSpPr>
        <p:spPr>
          <a:xfrm xmlns:a="http://schemas.openxmlformats.org/drawingml/2006/main">
            <a:off x="6915150" y="3829050"/>
            <a:ext cx="171450" cy="171450"/>
          </a:xfrm>
          <a:prstGeom xmlns:a="http://schemas.openxmlformats.org/drawingml/2006/main" prst="ellipse">
            <a:avLst/>
          </a:prstGeom>
          <a:solidFill xmlns:a="http://schemas.openxmlformats.org/drawingml/2006/main">
            <a:srgbClr val="E8AA3B"/>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A03BAFD6-2D3D-49E2-A525-00B41AA34C54}"/>
              </a:ext>
            </a:extLst>
          </p:cNvPr>
          <p:cNvSpPr>
            <a:spLocks xmlns:a="http://schemas.openxmlformats.org/drawingml/2006/main" noGrp="1"/>
          </p:cNvSpPr>
          <p:nvPr/>
        </p:nvSpPr>
        <p:spPr>
          <a:xfrm xmlns:a="http://schemas.openxmlformats.org/drawingml/2006/main">
            <a:off x="7219950" y="37909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Native files</a:t>
            </a:r>
          </a:p>
        </p:txBody>
      </p:sp>
      <p:sp>
        <p:nvSpPr>
          <p:cNvPr id="34" name="">
            <a:extLst xmlns:a="http://schemas.openxmlformats.org/drawingml/2006/main">
              <a:ext uri="{FF2B5EF4-FFF2-40B4-BE49-F238E27FC236}">
                <a16:creationId xmlns:a16="http://schemas.microsoft.com/office/drawing/2014/main" id="{0E08332C-78A7-4820-A0FC-0453C883392D}"/>
              </a:ext>
            </a:extLst>
          </p:cNvPr>
          <p:cNvSpPr>
            <a:spLocks xmlns:a="http://schemas.openxmlformats.org/drawingml/2006/main" noGrp="1"/>
          </p:cNvSpPr>
          <p:nvPr/>
        </p:nvSpPr>
        <p:spPr>
          <a:xfrm xmlns:a="http://schemas.openxmlformats.org/drawingml/2006/main">
            <a:off x="8705850" y="37909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AEBACB"/>
                </a:solidFill>
                <a:latin typeface="Aptos"/>
                <a:ea typeface="Aptos"/>
                <a:cs typeface="Aptos"/>
              </a:defRPr>
            </a:pPr>
            <a:r>
              <a:rPr sz="975" b="0">
                <a:solidFill>
                  <a:srgbClr val="AEBACB"/>
                </a:solidFill>
                <a:latin typeface="Aptos"/>
                <a:ea typeface="Aptos"/>
                <a:cs typeface="Aptos"/>
              </a:rPr>
              <a:t>hash evidence only</a:t>
            </a:r>
          </a:p>
        </p:txBody>
      </p:sp>
      <p:sp>
        <p:nvSpPr>
          <p:cNvPr id="35" name="">
            <a:extLst xmlns:a="http://schemas.openxmlformats.org/drawingml/2006/main">
              <a:ext uri="{FF2B5EF4-FFF2-40B4-BE49-F238E27FC236}">
                <a16:creationId xmlns:a16="http://schemas.microsoft.com/office/drawing/2014/main" id="{001FCDE3-8C15-4210-8822-714AB60BCE6C}"/>
              </a:ext>
            </a:extLst>
          </p:cNvPr>
          <p:cNvSpPr>
            <a:spLocks xmlns:a="http://schemas.openxmlformats.org/drawingml/2006/main" noGrp="1"/>
          </p:cNvSpPr>
          <p:nvPr/>
        </p:nvSpPr>
        <p:spPr>
          <a:xfrm xmlns:a="http://schemas.openxmlformats.org/drawingml/2006/main">
            <a:off x="6915150" y="4324350"/>
            <a:ext cx="171450" cy="171450"/>
          </a:xfrm>
          <a:prstGeom xmlns:a="http://schemas.openxmlformats.org/drawingml/2006/main" prst="ellipse">
            <a:avLst/>
          </a:prstGeom>
          <a:solidFill xmlns:a="http://schemas.openxmlformats.org/drawingml/2006/main">
            <a:srgbClr val="24BFAE"/>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46BA7989-1D5C-4FDF-AF94-24CA9D11DC55}"/>
              </a:ext>
            </a:extLst>
          </p:cNvPr>
          <p:cNvSpPr>
            <a:spLocks xmlns:a="http://schemas.openxmlformats.org/drawingml/2006/main" noGrp="1"/>
          </p:cNvSpPr>
          <p:nvPr/>
        </p:nvSpPr>
        <p:spPr>
          <a:xfrm xmlns:a="http://schemas.openxmlformats.org/drawingml/2006/main">
            <a:off x="7219950" y="42862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No Maven version</a:t>
            </a:r>
          </a:p>
        </p:txBody>
      </p:sp>
      <p:sp>
        <p:nvSpPr>
          <p:cNvPr id="37" name="">
            <a:extLst xmlns:a="http://schemas.openxmlformats.org/drawingml/2006/main">
              <a:ext uri="{FF2B5EF4-FFF2-40B4-BE49-F238E27FC236}">
                <a16:creationId xmlns:a16="http://schemas.microsoft.com/office/drawing/2014/main" id="{F0575DDD-E7A6-4EA6-AC14-D2CB64CEED10}"/>
              </a:ext>
            </a:extLst>
          </p:cNvPr>
          <p:cNvSpPr>
            <a:spLocks xmlns:a="http://schemas.openxmlformats.org/drawingml/2006/main" noGrp="1"/>
          </p:cNvSpPr>
          <p:nvPr/>
        </p:nvSpPr>
        <p:spPr>
          <a:xfrm xmlns:a="http://schemas.openxmlformats.org/drawingml/2006/main">
            <a:off x="8705850" y="42862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AEBACB"/>
                </a:solidFill>
                <a:latin typeface="Aptos"/>
                <a:ea typeface="Aptos"/>
                <a:cs typeface="Aptos"/>
              </a:defRPr>
            </a:pPr>
            <a:r>
              <a:rPr sz="975" b="0">
                <a:solidFill>
                  <a:srgbClr val="AEBACB"/>
                </a:solidFill>
                <a:latin typeface="Aptos"/>
                <a:ea typeface="Aptos"/>
                <a:cs typeface="Aptos"/>
              </a:rPr>
              <a:t>must be inferred</a:t>
            </a:r>
          </a:p>
        </p:txBody>
      </p:sp>
      <p:sp>
        <p:nvSpPr>
          <p:cNvPr id="38" name="">
            <a:extLst xmlns:a="http://schemas.openxmlformats.org/drawingml/2006/main">
              <a:ext uri="{FF2B5EF4-FFF2-40B4-BE49-F238E27FC236}">
                <a16:creationId xmlns:a16="http://schemas.microsoft.com/office/drawing/2014/main" id="{1E6B75CA-322D-47B9-B574-D8BD2D3037C2}"/>
              </a:ext>
            </a:extLst>
          </p:cNvPr>
          <p:cNvSpPr>
            <a:spLocks xmlns:a="http://schemas.openxmlformats.org/drawingml/2006/main" noGrp="1"/>
          </p:cNvSpPr>
          <p:nvPr/>
        </p:nvSpPr>
        <p:spPr>
          <a:xfrm xmlns:a="http://schemas.openxmlformats.org/drawingml/2006/main">
            <a:off x="6896100" y="47625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24BFAE"/>
                </a:solidFill>
                <a:latin typeface="Aptos"/>
                <a:ea typeface="Aptos"/>
                <a:cs typeface="Aptos"/>
              </a:defRPr>
            </a:pPr>
            <a:r>
              <a:rPr sz="1200" b="1">
                <a:solidFill>
                  <a:srgbClr val="24BFAE"/>
                </a:solidFill>
                <a:latin typeface="Aptos"/>
                <a:ea typeface="Aptos"/>
                <a:cs typeface="Aptos"/>
              </a:rPr>
              <a:t>Reverse-SBOM problem</a:t>
            </a:r>
          </a:p>
        </p:txBody>
      </p:sp>
      <p:sp>
        <p:nvSpPr>
          <p:cNvPr id="39" name="">
            <a:extLst xmlns:a="http://schemas.openxmlformats.org/drawingml/2006/main">
              <a:ext uri="{FF2B5EF4-FFF2-40B4-BE49-F238E27FC236}">
                <a16:creationId xmlns:a16="http://schemas.microsoft.com/office/drawing/2014/main" id="{573FC834-990E-426C-ABBD-E17AE57A19E1}"/>
              </a:ext>
            </a:extLst>
          </p:cNvPr>
          <p:cNvSpPr>
            <a:spLocks xmlns:a="http://schemas.openxmlformats.org/drawingml/2006/main" noGrp="1"/>
          </p:cNvSpPr>
          <p:nvPr/>
        </p:nvSpPr>
        <p:spPr>
          <a:xfrm xmlns:a="http://schemas.openxmlformats.org/drawingml/2006/main">
            <a:off x="1581150" y="5772150"/>
            <a:ext cx="904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101827"/>
                </a:solidFill>
                <a:latin typeface="Aptos"/>
                <a:ea typeface="Aptos"/>
                <a:cs typeface="Aptos"/>
              </a:defRPr>
            </a:pPr>
            <a:r>
              <a:rPr sz="1575" b="1">
                <a:solidFill>
                  <a:srgbClr val="101827"/>
                </a:solidFill>
                <a:latin typeface="Aptos"/>
                <a:ea typeface="Aptos"/>
                <a:cs typeface="Aptos"/>
              </a:rPr>
              <a:t>The MVP must reconstruct identity and version from what survives compilation.</a:t>
            </a:r>
          </a:p>
        </p:txBody>
      </p:sp>
      <p:sp>
        <p:nvSpPr>
          <p:cNvPr id="40" name="">
            <a:extLst xmlns:a="http://schemas.openxmlformats.org/drawingml/2006/main">
              <a:ext uri="{FF2B5EF4-FFF2-40B4-BE49-F238E27FC236}">
                <a16:creationId xmlns:a16="http://schemas.microsoft.com/office/drawing/2014/main" id="{13AD65E2-A086-4184-9960-01957D55412C}"/>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38162501"/>
      </p:ext>
    </p:extLst>
  </p:cSld>
</p:sld>
</file>

<file path=ppt/slides/slide3.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FB1FF98-6624-4EB6-9DE0-7031B329984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7D174D4-9CC4-447A-B7F5-408814E77C7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806FE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F1D6B6D-8C8B-4E03-8A5E-932AA66B95A0}"/>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06FE8"/>
                </a:solidFill>
                <a:latin typeface="Aptos"/>
                <a:ea typeface="Aptos"/>
                <a:cs typeface="Aptos"/>
              </a:defRPr>
            </a:pPr>
            <a:r>
              <a:rPr sz="900" b="1">
                <a:solidFill>
                  <a:srgbClr val="806FE8"/>
                </a:solidFill>
                <a:latin typeface="Aptos"/>
                <a:ea typeface="Aptos"/>
                <a:cs typeface="Aptos"/>
              </a:rPr>
              <a:t>RESEARCH POSITIONING</a:t>
            </a:r>
          </a:p>
        </p:txBody>
      </p:sp>
      <p:sp>
        <p:nvSpPr>
          <p:cNvPr id="4" name="">
            <a:extLst xmlns:a="http://schemas.openxmlformats.org/drawingml/2006/main">
              <a:ext uri="{FF2B5EF4-FFF2-40B4-BE49-F238E27FC236}">
                <a16:creationId xmlns:a16="http://schemas.microsoft.com/office/drawing/2014/main" id="{B3D4B802-EDE4-49DE-A2A8-47A64A6E163D}"/>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The literature converges on hybrid evidence, but not perfect version recovery</a:t>
            </a:r>
          </a:p>
        </p:txBody>
      </p:sp>
      <p:sp>
        <p:nvSpPr>
          <p:cNvPr id="5" name="">
            <a:extLst xmlns:a="http://schemas.openxmlformats.org/drawingml/2006/main">
              <a:ext uri="{FF2B5EF4-FFF2-40B4-BE49-F238E27FC236}">
                <a16:creationId xmlns:a16="http://schemas.microsoft.com/office/drawing/2014/main" id="{800E23E2-C894-46A5-9622-07309D1EFDC6}"/>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03</a:t>
            </a:r>
          </a:p>
        </p:txBody>
      </p:sp>
      <p:sp>
        <p:nvSpPr>
          <p:cNvPr id="6" name="">
            <a:extLst xmlns:a="http://schemas.openxmlformats.org/drawingml/2006/main">
              <a:ext uri="{FF2B5EF4-FFF2-40B4-BE49-F238E27FC236}">
                <a16:creationId xmlns:a16="http://schemas.microsoft.com/office/drawing/2014/main" id="{2F6F5C95-FC89-4E0D-83F2-F303543F5C3B}"/>
              </a:ext>
            </a:extLst>
          </p:cNvPr>
          <p:cNvSpPr>
            <a:spLocks xmlns:a="http://schemas.openxmlformats.org/drawingml/2006/main" noGrp="1"/>
          </p:cNvSpPr>
          <p:nvPr/>
        </p:nvSpPr>
        <p:spPr>
          <a:xfrm xmlns:a="http://schemas.openxmlformats.org/drawingml/2006/main">
            <a:off x="685800" y="1657350"/>
            <a:ext cx="2743200" cy="2724150"/>
          </a:xfrm>
          <a:prstGeom xmlns:a="http://schemas.openxmlformats.org/drawingml/2006/main" prst="roundRect">
            <a:avLst>
              <a:gd name="adj" fmla="val 2797"/>
            </a:avLst>
          </a:prstGeom>
          <a:solidFill xmlns:a="http://schemas.openxmlformats.org/drawingml/2006/main">
            <a:srgbClr val="111B2E"/>
          </a:solidFill>
          <a:ln xmlns:a="http://schemas.openxmlformats.org/drawingml/2006/main" w="9525">
            <a:solidFill>
              <a:srgbClr val="26344D"/>
            </a:solidFill>
            <a:prstDash val="solid"/>
          </a:ln>
        </p:spPr>
      </p:sp>
      <p:sp>
        <p:nvSpPr>
          <p:cNvPr id="7" name="">
            <a:extLst xmlns:a="http://schemas.openxmlformats.org/drawingml/2006/main">
              <a:ext uri="{FF2B5EF4-FFF2-40B4-BE49-F238E27FC236}">
                <a16:creationId xmlns:a16="http://schemas.microsoft.com/office/drawing/2014/main" id="{B2510CDB-095E-4C12-BFCF-F4557B27AB25}"/>
              </a:ext>
            </a:extLst>
          </p:cNvPr>
          <p:cNvSpPr>
            <a:spLocks xmlns:a="http://schemas.openxmlformats.org/drawingml/2006/main" noGrp="1"/>
          </p:cNvSpPr>
          <p:nvPr/>
        </p:nvSpPr>
        <p:spPr>
          <a:xfrm xmlns:a="http://schemas.openxmlformats.org/drawingml/2006/main">
            <a:off x="876300" y="1847850"/>
            <a:ext cx="838200" cy="266700"/>
          </a:xfrm>
          <a:prstGeom xmlns:a="http://schemas.openxmlformats.org/drawingml/2006/main" prst="roundRect">
            <a:avLst>
              <a:gd name="adj" fmla="val 28571"/>
            </a:avLst>
          </a:prstGeom>
          <a:solidFill xmlns:a="http://schemas.openxmlformats.org/drawingml/2006/main">
            <a:srgbClr val="0B1220"/>
          </a:solidFill>
          <a:ln xmlns:a="http://schemas.openxmlformats.org/drawingml/2006/main" w="9525">
            <a:solidFill>
              <a:srgbClr val="4F7CFF"/>
            </a:solidFill>
            <a:prstDash val="solid"/>
          </a:ln>
        </p:spPr>
      </p:sp>
      <p:sp>
        <p:nvSpPr>
          <p:cNvPr id="8" name="">
            <a:extLst xmlns:a="http://schemas.openxmlformats.org/drawingml/2006/main">
              <a:ext uri="{FF2B5EF4-FFF2-40B4-BE49-F238E27FC236}">
                <a16:creationId xmlns:a16="http://schemas.microsoft.com/office/drawing/2014/main" id="{95335899-2AF6-46C0-9FEF-F88C9D74FA9C}"/>
              </a:ext>
            </a:extLst>
          </p:cNvPr>
          <p:cNvSpPr>
            <a:spLocks xmlns:a="http://schemas.openxmlformats.org/drawingml/2006/main" noGrp="1"/>
          </p:cNvSpPr>
          <p:nvPr/>
        </p:nvSpPr>
        <p:spPr>
          <a:xfrm xmlns:a="http://schemas.openxmlformats.org/drawingml/2006/main">
            <a:off x="942975" y="1905000"/>
            <a:ext cx="7048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4F7CFF"/>
                </a:solidFill>
                <a:latin typeface="Aptos"/>
                <a:ea typeface="Aptos"/>
                <a:cs typeface="Aptos"/>
              </a:defRPr>
            </a:pPr>
            <a:r>
              <a:rPr sz="825" b="1">
                <a:solidFill>
                  <a:srgbClr val="4F7CFF"/>
                </a:solidFill>
                <a:latin typeface="Aptos"/>
                <a:ea typeface="Aptos"/>
                <a:cs typeface="Aptos"/>
              </a:rPr>
              <a:t>GEN 1</a:t>
            </a:r>
          </a:p>
        </p:txBody>
      </p:sp>
      <p:sp>
        <p:nvSpPr>
          <p:cNvPr id="9" name="">
            <a:extLst xmlns:a="http://schemas.openxmlformats.org/drawingml/2006/main">
              <a:ext uri="{FF2B5EF4-FFF2-40B4-BE49-F238E27FC236}">
                <a16:creationId xmlns:a16="http://schemas.microsoft.com/office/drawing/2014/main" id="{3281B620-2E30-499D-8CB8-8D6721649ABE}"/>
              </a:ext>
            </a:extLst>
          </p:cNvPr>
          <p:cNvSpPr>
            <a:spLocks xmlns:a="http://schemas.openxmlformats.org/drawingml/2006/main" noGrp="1"/>
          </p:cNvSpPr>
          <p:nvPr/>
        </p:nvSpPr>
        <p:spPr>
          <a:xfrm xmlns:a="http://schemas.openxmlformats.org/drawingml/2006/main">
            <a:off x="876300" y="23050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FFFFFF"/>
                </a:solidFill>
                <a:latin typeface="Aptos"/>
                <a:ea typeface="Aptos"/>
                <a:cs typeface="Aptos"/>
              </a:defRPr>
            </a:pPr>
            <a:r>
              <a:rPr sz="1725" b="1">
                <a:solidFill>
                  <a:srgbClr val="FFFFFF"/>
                </a:solidFill>
                <a:latin typeface="Aptos"/>
                <a:ea typeface="Aptos"/>
                <a:cs typeface="Aptos"/>
              </a:rPr>
              <a:t>Signatures</a:t>
            </a:r>
          </a:p>
        </p:txBody>
      </p:sp>
      <p:sp>
        <p:nvSpPr>
          <p:cNvPr id="10" name="">
            <a:extLst xmlns:a="http://schemas.openxmlformats.org/drawingml/2006/main">
              <a:ext uri="{FF2B5EF4-FFF2-40B4-BE49-F238E27FC236}">
                <a16:creationId xmlns:a16="http://schemas.microsoft.com/office/drawing/2014/main" id="{EFAF6644-BC39-4859-AD05-8151BE6071B8}"/>
              </a:ext>
            </a:extLst>
          </p:cNvPr>
          <p:cNvSpPr>
            <a:spLocks xmlns:a="http://schemas.openxmlformats.org/drawingml/2006/main" noGrp="1"/>
          </p:cNvSpPr>
          <p:nvPr/>
        </p:nvSpPr>
        <p:spPr>
          <a:xfrm xmlns:a="http://schemas.openxmlformats.org/drawingml/2006/main">
            <a:off x="895350" y="2876550"/>
            <a:ext cx="114300" cy="114300"/>
          </a:xfrm>
          <a:prstGeom xmlns:a="http://schemas.openxmlformats.org/drawingml/2006/main" prst="ellipse">
            <a:avLst/>
          </a:prstGeom>
          <a:solidFill xmlns:a="http://schemas.openxmlformats.org/drawingml/2006/main">
            <a:srgbClr val="4F7C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97E5EDF-88A1-482C-8115-289ACB905D03}"/>
              </a:ext>
            </a:extLst>
          </p:cNvPr>
          <p:cNvSpPr>
            <a:spLocks xmlns:a="http://schemas.openxmlformats.org/drawingml/2006/main" noGrp="1"/>
          </p:cNvSpPr>
          <p:nvPr/>
        </p:nvSpPr>
        <p:spPr>
          <a:xfrm xmlns:a="http://schemas.openxmlformats.org/drawingml/2006/main">
            <a:off x="1143000" y="28194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5CFDD"/>
                </a:solidFill>
                <a:latin typeface="Aptos"/>
                <a:ea typeface="Aptos"/>
                <a:cs typeface="Aptos"/>
              </a:defRPr>
            </a:pPr>
            <a:r>
              <a:rPr sz="1050" b="0">
                <a:solidFill>
                  <a:srgbClr val="C5CFDD"/>
                </a:solidFill>
                <a:latin typeface="Aptos"/>
                <a:ea typeface="Aptos"/>
                <a:cs typeface="Aptos"/>
              </a:rPr>
              <a:t>packages</a:t>
            </a:r>
          </a:p>
        </p:txBody>
      </p:sp>
      <p:sp>
        <p:nvSpPr>
          <p:cNvPr id="12" name="">
            <a:extLst xmlns:a="http://schemas.openxmlformats.org/drawingml/2006/main">
              <a:ext uri="{FF2B5EF4-FFF2-40B4-BE49-F238E27FC236}">
                <a16:creationId xmlns:a16="http://schemas.microsoft.com/office/drawing/2014/main" id="{6B1EDB98-BD38-4AC5-9DF5-9345FE717B0B}"/>
              </a:ext>
            </a:extLst>
          </p:cNvPr>
          <p:cNvSpPr>
            <a:spLocks xmlns:a="http://schemas.openxmlformats.org/drawingml/2006/main" noGrp="1"/>
          </p:cNvSpPr>
          <p:nvPr/>
        </p:nvSpPr>
        <p:spPr>
          <a:xfrm xmlns:a="http://schemas.openxmlformats.org/drawingml/2006/main">
            <a:off x="895350" y="3276600"/>
            <a:ext cx="114300" cy="114300"/>
          </a:xfrm>
          <a:prstGeom xmlns:a="http://schemas.openxmlformats.org/drawingml/2006/main" prst="ellipse">
            <a:avLst/>
          </a:prstGeom>
          <a:solidFill xmlns:a="http://schemas.openxmlformats.org/drawingml/2006/main">
            <a:srgbClr val="4F7C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CB0EF05-4908-4A22-9799-DA11CF34593F}"/>
              </a:ext>
            </a:extLst>
          </p:cNvPr>
          <p:cNvSpPr>
            <a:spLocks xmlns:a="http://schemas.openxmlformats.org/drawingml/2006/main" noGrp="1"/>
          </p:cNvSpPr>
          <p:nvPr/>
        </p:nvSpPr>
        <p:spPr>
          <a:xfrm xmlns:a="http://schemas.openxmlformats.org/drawingml/2006/main">
            <a:off x="1143000" y="32194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5CFDD"/>
                </a:solidFill>
                <a:latin typeface="Aptos"/>
                <a:ea typeface="Aptos"/>
                <a:cs typeface="Aptos"/>
              </a:defRPr>
            </a:pPr>
            <a:r>
              <a:rPr sz="1050" b="0">
                <a:solidFill>
                  <a:srgbClr val="C5CFDD"/>
                </a:solidFill>
                <a:latin typeface="Aptos"/>
                <a:ea typeface="Aptos"/>
                <a:cs typeface="Aptos"/>
              </a:rPr>
              <a:t>class hashes</a:t>
            </a:r>
          </a:p>
        </p:txBody>
      </p:sp>
      <p:sp>
        <p:nvSpPr>
          <p:cNvPr id="14" name="">
            <a:extLst xmlns:a="http://schemas.openxmlformats.org/drawingml/2006/main">
              <a:ext uri="{FF2B5EF4-FFF2-40B4-BE49-F238E27FC236}">
                <a16:creationId xmlns:a16="http://schemas.microsoft.com/office/drawing/2014/main" id="{D4A36BCF-9291-4D84-8CE0-517844FB1A0B}"/>
              </a:ext>
            </a:extLst>
          </p:cNvPr>
          <p:cNvSpPr>
            <a:spLocks xmlns:a="http://schemas.openxmlformats.org/drawingml/2006/main" noGrp="1"/>
          </p:cNvSpPr>
          <p:nvPr/>
        </p:nvSpPr>
        <p:spPr>
          <a:xfrm xmlns:a="http://schemas.openxmlformats.org/drawingml/2006/main">
            <a:off x="895350" y="3676650"/>
            <a:ext cx="114300" cy="114300"/>
          </a:xfrm>
          <a:prstGeom xmlns:a="http://schemas.openxmlformats.org/drawingml/2006/main" prst="ellipse">
            <a:avLst/>
          </a:prstGeom>
          <a:solidFill xmlns:a="http://schemas.openxmlformats.org/drawingml/2006/main">
            <a:srgbClr val="4F7C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62E1387-2FC1-4E0C-BFBE-B9FC84EF8EF4}"/>
              </a:ext>
            </a:extLst>
          </p:cNvPr>
          <p:cNvSpPr>
            <a:spLocks xmlns:a="http://schemas.openxmlformats.org/drawingml/2006/main" noGrp="1"/>
          </p:cNvSpPr>
          <p:nvPr/>
        </p:nvSpPr>
        <p:spPr>
          <a:xfrm xmlns:a="http://schemas.openxmlformats.org/drawingml/2006/main">
            <a:off x="1143000" y="36195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5CFDD"/>
                </a:solidFill>
                <a:latin typeface="Aptos"/>
                <a:ea typeface="Aptos"/>
                <a:cs typeface="Aptos"/>
              </a:defRPr>
            </a:pPr>
            <a:r>
              <a:rPr sz="1050" b="0">
                <a:solidFill>
                  <a:srgbClr val="C5CFDD"/>
                </a:solidFill>
                <a:latin typeface="Aptos"/>
                <a:ea typeface="Aptos"/>
                <a:cs typeface="Aptos"/>
              </a:rPr>
              <a:t>profiles</a:t>
            </a:r>
          </a:p>
        </p:txBody>
      </p:sp>
      <p:sp>
        <p:nvSpPr>
          <p:cNvPr id="16" name="rule">
            <a:extLst xmlns:a="http://schemas.openxmlformats.org/drawingml/2006/main">
              <a:ext uri="{FF2B5EF4-FFF2-40B4-BE49-F238E27FC236}">
                <a16:creationId xmlns:a16="http://schemas.microsoft.com/office/drawing/2014/main" id="{35D25913-2F06-4088-8E71-85A9CDBB940B}"/>
              </a:ext>
            </a:extLst>
          </p:cNvPr>
          <p:cNvSpPr>
            <a:spLocks xmlns:a="http://schemas.openxmlformats.org/drawingml/2006/main" noGrp="1"/>
          </p:cNvSpPr>
          <p:nvPr/>
        </p:nvSpPr>
        <p:spPr>
          <a:xfrm xmlns:a="http://schemas.openxmlformats.org/drawingml/2006/main">
            <a:off x="876300" y="3943350"/>
            <a:ext cx="2362200" cy="9525"/>
          </a:xfrm>
          <a:prstGeom xmlns:a="http://schemas.openxmlformats.org/drawingml/2006/main" prst="rect">
            <a:avLst/>
          </a:prstGeom>
          <a:solidFill xmlns:a="http://schemas.openxmlformats.org/drawingml/2006/main">
            <a:srgbClr val="26344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6CC0601-3587-487F-90AC-1C2A2761ABDB}"/>
              </a:ext>
            </a:extLst>
          </p:cNvPr>
          <p:cNvSpPr>
            <a:spLocks xmlns:a="http://schemas.openxmlformats.org/drawingml/2006/main" noGrp="1"/>
          </p:cNvSpPr>
          <p:nvPr/>
        </p:nvSpPr>
        <p:spPr>
          <a:xfrm xmlns:a="http://schemas.openxmlformats.org/drawingml/2006/main">
            <a:off x="876300" y="4095750"/>
            <a:ext cx="2362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CFF"/>
                </a:solidFill>
                <a:latin typeface="Aptos"/>
                <a:ea typeface="Aptos"/>
                <a:cs typeface="Aptos"/>
              </a:defRPr>
            </a:pPr>
            <a:r>
              <a:rPr sz="825" b="1">
                <a:solidFill>
                  <a:srgbClr val="4F7CFF"/>
                </a:solidFill>
                <a:latin typeface="Aptos"/>
                <a:ea typeface="Aptos"/>
                <a:cs typeface="Aptos"/>
              </a:rPr>
              <a:t>LibScout  LibRadar</a:t>
            </a:r>
          </a:p>
        </p:txBody>
      </p:sp>
      <p:sp>
        <p:nvSpPr>
          <p:cNvPr id="18" name="">
            <a:extLst xmlns:a="http://schemas.openxmlformats.org/drawingml/2006/main">
              <a:ext uri="{FF2B5EF4-FFF2-40B4-BE49-F238E27FC236}">
                <a16:creationId xmlns:a16="http://schemas.microsoft.com/office/drawing/2014/main" id="{AE66A8B0-6C4A-477B-AC60-C4FC74515C05}"/>
              </a:ext>
            </a:extLst>
          </p:cNvPr>
          <p:cNvSpPr>
            <a:spLocks xmlns:a="http://schemas.openxmlformats.org/drawingml/2006/main" noGrp="1"/>
          </p:cNvSpPr>
          <p:nvPr/>
        </p:nvSpPr>
        <p:spPr>
          <a:xfrm xmlns:a="http://schemas.openxmlformats.org/drawingml/2006/main">
            <a:off x="3848100" y="1657350"/>
            <a:ext cx="2743200" cy="2724150"/>
          </a:xfrm>
          <a:prstGeom xmlns:a="http://schemas.openxmlformats.org/drawingml/2006/main" prst="roundRect">
            <a:avLst>
              <a:gd name="adj" fmla="val 2797"/>
            </a:avLst>
          </a:prstGeom>
          <a:solidFill xmlns:a="http://schemas.openxmlformats.org/drawingml/2006/main">
            <a:srgbClr val="111B2E"/>
          </a:solidFill>
          <a:ln xmlns:a="http://schemas.openxmlformats.org/drawingml/2006/main" w="9525">
            <a:solidFill>
              <a:srgbClr val="26344D"/>
            </a:solidFill>
            <a:prstDash val="solid"/>
          </a:ln>
        </p:spPr>
      </p:sp>
      <p:sp>
        <p:nvSpPr>
          <p:cNvPr id="19" name="">
            <a:extLst xmlns:a="http://schemas.openxmlformats.org/drawingml/2006/main">
              <a:ext uri="{FF2B5EF4-FFF2-40B4-BE49-F238E27FC236}">
                <a16:creationId xmlns:a16="http://schemas.microsoft.com/office/drawing/2014/main" id="{E11A6CF2-0FB0-4137-B5A8-CC877A0724A3}"/>
              </a:ext>
            </a:extLst>
          </p:cNvPr>
          <p:cNvSpPr>
            <a:spLocks xmlns:a="http://schemas.openxmlformats.org/drawingml/2006/main" noGrp="1"/>
          </p:cNvSpPr>
          <p:nvPr/>
        </p:nvSpPr>
        <p:spPr>
          <a:xfrm xmlns:a="http://schemas.openxmlformats.org/drawingml/2006/main">
            <a:off x="4038600" y="1847850"/>
            <a:ext cx="838200" cy="266700"/>
          </a:xfrm>
          <a:prstGeom xmlns:a="http://schemas.openxmlformats.org/drawingml/2006/main" prst="roundRect">
            <a:avLst>
              <a:gd name="adj" fmla="val 28571"/>
            </a:avLst>
          </a:prstGeom>
          <a:solidFill xmlns:a="http://schemas.openxmlformats.org/drawingml/2006/main">
            <a:srgbClr val="0B1220"/>
          </a:solidFill>
          <a:ln xmlns:a="http://schemas.openxmlformats.org/drawingml/2006/main" w="9525">
            <a:solidFill>
              <a:srgbClr val="24BFAE"/>
            </a:solidFill>
            <a:prstDash val="solid"/>
          </a:ln>
        </p:spPr>
      </p:sp>
      <p:sp>
        <p:nvSpPr>
          <p:cNvPr id="20" name="">
            <a:extLst xmlns:a="http://schemas.openxmlformats.org/drawingml/2006/main">
              <a:ext uri="{FF2B5EF4-FFF2-40B4-BE49-F238E27FC236}">
                <a16:creationId xmlns:a16="http://schemas.microsoft.com/office/drawing/2014/main" id="{CBA438C2-463F-4B5E-8413-E5C05908404E}"/>
              </a:ext>
            </a:extLst>
          </p:cNvPr>
          <p:cNvSpPr>
            <a:spLocks xmlns:a="http://schemas.openxmlformats.org/drawingml/2006/main" noGrp="1"/>
          </p:cNvSpPr>
          <p:nvPr/>
        </p:nvSpPr>
        <p:spPr>
          <a:xfrm xmlns:a="http://schemas.openxmlformats.org/drawingml/2006/main">
            <a:off x="4105275" y="1905000"/>
            <a:ext cx="7048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24BFAE"/>
                </a:solidFill>
                <a:latin typeface="Aptos"/>
                <a:ea typeface="Aptos"/>
                <a:cs typeface="Aptos"/>
              </a:defRPr>
            </a:pPr>
            <a:r>
              <a:rPr sz="825" b="1">
                <a:solidFill>
                  <a:srgbClr val="24BFAE"/>
                </a:solidFill>
                <a:latin typeface="Aptos"/>
                <a:ea typeface="Aptos"/>
                <a:cs typeface="Aptos"/>
              </a:rPr>
              <a:t>GEN 2</a:t>
            </a:r>
          </a:p>
        </p:txBody>
      </p:sp>
      <p:sp>
        <p:nvSpPr>
          <p:cNvPr id="21" name="">
            <a:extLst xmlns:a="http://schemas.openxmlformats.org/drawingml/2006/main">
              <a:ext uri="{FF2B5EF4-FFF2-40B4-BE49-F238E27FC236}">
                <a16:creationId xmlns:a16="http://schemas.microsoft.com/office/drawing/2014/main" id="{5E7CED87-3AB5-4EBB-9BBA-58C152C6B6B8}"/>
              </a:ext>
            </a:extLst>
          </p:cNvPr>
          <p:cNvSpPr>
            <a:spLocks xmlns:a="http://schemas.openxmlformats.org/drawingml/2006/main" noGrp="1"/>
          </p:cNvSpPr>
          <p:nvPr/>
        </p:nvSpPr>
        <p:spPr>
          <a:xfrm xmlns:a="http://schemas.openxmlformats.org/drawingml/2006/main">
            <a:off x="4038600" y="23050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FFFFFF"/>
                </a:solidFill>
                <a:latin typeface="Aptos"/>
                <a:ea typeface="Aptos"/>
                <a:cs typeface="Aptos"/>
              </a:defRPr>
            </a:pPr>
            <a:r>
              <a:rPr sz="1725" b="1">
                <a:solidFill>
                  <a:srgbClr val="FFFFFF"/>
                </a:solidFill>
                <a:latin typeface="Aptos"/>
                <a:ea typeface="Aptos"/>
                <a:cs typeface="Aptos"/>
              </a:rPr>
              <a:t>Structure</a:t>
            </a:r>
          </a:p>
        </p:txBody>
      </p:sp>
      <p:sp>
        <p:nvSpPr>
          <p:cNvPr id="22" name="">
            <a:extLst xmlns:a="http://schemas.openxmlformats.org/drawingml/2006/main">
              <a:ext uri="{FF2B5EF4-FFF2-40B4-BE49-F238E27FC236}">
                <a16:creationId xmlns:a16="http://schemas.microsoft.com/office/drawing/2014/main" id="{C255B248-F8E1-4049-96A6-581EA83BFB4A}"/>
              </a:ext>
            </a:extLst>
          </p:cNvPr>
          <p:cNvSpPr>
            <a:spLocks xmlns:a="http://schemas.openxmlformats.org/drawingml/2006/main" noGrp="1"/>
          </p:cNvSpPr>
          <p:nvPr/>
        </p:nvSpPr>
        <p:spPr>
          <a:xfrm xmlns:a="http://schemas.openxmlformats.org/drawingml/2006/main">
            <a:off x="4057650" y="2876550"/>
            <a:ext cx="114300" cy="114300"/>
          </a:xfrm>
          <a:prstGeom xmlns:a="http://schemas.openxmlformats.org/drawingml/2006/main" prst="ellipse">
            <a:avLst/>
          </a:prstGeom>
          <a:solidFill xmlns:a="http://schemas.openxmlformats.org/drawingml/2006/main">
            <a:srgbClr val="24BFAE"/>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9140D97-056B-4540-8A4F-1878BE16A179}"/>
              </a:ext>
            </a:extLst>
          </p:cNvPr>
          <p:cNvSpPr>
            <a:spLocks xmlns:a="http://schemas.openxmlformats.org/drawingml/2006/main" noGrp="1"/>
          </p:cNvSpPr>
          <p:nvPr/>
        </p:nvSpPr>
        <p:spPr>
          <a:xfrm xmlns:a="http://schemas.openxmlformats.org/drawingml/2006/main">
            <a:off x="4305300" y="28194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5CFDD"/>
                </a:solidFill>
                <a:latin typeface="Aptos"/>
                <a:ea typeface="Aptos"/>
                <a:cs typeface="Aptos"/>
              </a:defRPr>
            </a:pPr>
            <a:r>
              <a:rPr sz="1050" b="0">
                <a:solidFill>
                  <a:srgbClr val="C5CFDD"/>
                </a:solidFill>
                <a:latin typeface="Aptos"/>
                <a:ea typeface="Aptos"/>
                <a:cs typeface="Aptos"/>
              </a:rPr>
              <a:t>graphs</a:t>
            </a:r>
          </a:p>
        </p:txBody>
      </p:sp>
      <p:sp>
        <p:nvSpPr>
          <p:cNvPr id="24" name="">
            <a:extLst xmlns:a="http://schemas.openxmlformats.org/drawingml/2006/main">
              <a:ext uri="{FF2B5EF4-FFF2-40B4-BE49-F238E27FC236}">
                <a16:creationId xmlns:a16="http://schemas.microsoft.com/office/drawing/2014/main" id="{6C06A3A7-DAEF-4395-B3D3-C0EDA21D6624}"/>
              </a:ext>
            </a:extLst>
          </p:cNvPr>
          <p:cNvSpPr>
            <a:spLocks xmlns:a="http://schemas.openxmlformats.org/drawingml/2006/main" noGrp="1"/>
          </p:cNvSpPr>
          <p:nvPr/>
        </p:nvSpPr>
        <p:spPr>
          <a:xfrm xmlns:a="http://schemas.openxmlformats.org/drawingml/2006/main">
            <a:off x="4057650" y="3276600"/>
            <a:ext cx="114300" cy="114300"/>
          </a:xfrm>
          <a:prstGeom xmlns:a="http://schemas.openxmlformats.org/drawingml/2006/main" prst="ellipse">
            <a:avLst/>
          </a:prstGeom>
          <a:solidFill xmlns:a="http://schemas.openxmlformats.org/drawingml/2006/main">
            <a:srgbClr val="24BFAE"/>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A5572EB-59BB-47E5-A00B-E772370768B8}"/>
              </a:ext>
            </a:extLst>
          </p:cNvPr>
          <p:cNvSpPr>
            <a:spLocks xmlns:a="http://schemas.openxmlformats.org/drawingml/2006/main" noGrp="1"/>
          </p:cNvSpPr>
          <p:nvPr/>
        </p:nvSpPr>
        <p:spPr>
          <a:xfrm xmlns:a="http://schemas.openxmlformats.org/drawingml/2006/main">
            <a:off x="4305300" y="32194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5CFDD"/>
                </a:solidFill>
                <a:latin typeface="Aptos"/>
                <a:ea typeface="Aptos"/>
                <a:cs typeface="Aptos"/>
              </a:defRPr>
            </a:pPr>
            <a:r>
              <a:rPr sz="1050" b="0">
                <a:solidFill>
                  <a:srgbClr val="C5CFDD"/>
                </a:solidFill>
                <a:latin typeface="Aptos"/>
                <a:ea typeface="Aptos"/>
                <a:cs typeface="Aptos"/>
              </a:rPr>
              <a:t>opcodes</a:t>
            </a:r>
          </a:p>
        </p:txBody>
      </p:sp>
      <p:sp>
        <p:nvSpPr>
          <p:cNvPr id="26" name="">
            <a:extLst xmlns:a="http://schemas.openxmlformats.org/drawingml/2006/main">
              <a:ext uri="{FF2B5EF4-FFF2-40B4-BE49-F238E27FC236}">
                <a16:creationId xmlns:a16="http://schemas.microsoft.com/office/drawing/2014/main" id="{3B4CBFBB-5A75-4359-95FF-8EC9118E2958}"/>
              </a:ext>
            </a:extLst>
          </p:cNvPr>
          <p:cNvSpPr>
            <a:spLocks xmlns:a="http://schemas.openxmlformats.org/drawingml/2006/main" noGrp="1"/>
          </p:cNvSpPr>
          <p:nvPr/>
        </p:nvSpPr>
        <p:spPr>
          <a:xfrm xmlns:a="http://schemas.openxmlformats.org/drawingml/2006/main">
            <a:off x="4057650" y="3676650"/>
            <a:ext cx="114300" cy="114300"/>
          </a:xfrm>
          <a:prstGeom xmlns:a="http://schemas.openxmlformats.org/drawingml/2006/main" prst="ellipse">
            <a:avLst/>
          </a:prstGeom>
          <a:solidFill xmlns:a="http://schemas.openxmlformats.org/drawingml/2006/main">
            <a:srgbClr val="24BFAE"/>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05BB5DB4-9C26-4034-993A-0CD018AAD1C3}"/>
              </a:ext>
            </a:extLst>
          </p:cNvPr>
          <p:cNvSpPr>
            <a:spLocks xmlns:a="http://schemas.openxmlformats.org/drawingml/2006/main" noGrp="1"/>
          </p:cNvSpPr>
          <p:nvPr/>
        </p:nvSpPr>
        <p:spPr>
          <a:xfrm xmlns:a="http://schemas.openxmlformats.org/drawingml/2006/main">
            <a:off x="4305300" y="36195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5CFDD"/>
                </a:solidFill>
                <a:latin typeface="Aptos"/>
                <a:ea typeface="Aptos"/>
                <a:cs typeface="Aptos"/>
              </a:defRPr>
            </a:pPr>
            <a:r>
              <a:rPr sz="1050" b="0">
                <a:solidFill>
                  <a:srgbClr val="C5CFDD"/>
                </a:solidFill>
                <a:latin typeface="Aptos"/>
                <a:ea typeface="Aptos"/>
                <a:cs typeface="Aptos"/>
              </a:rPr>
              <a:t>fuzzy similarity</a:t>
            </a:r>
          </a:p>
        </p:txBody>
      </p:sp>
      <p:sp>
        <p:nvSpPr>
          <p:cNvPr id="28" name="rule">
            <a:extLst xmlns:a="http://schemas.openxmlformats.org/drawingml/2006/main">
              <a:ext uri="{FF2B5EF4-FFF2-40B4-BE49-F238E27FC236}">
                <a16:creationId xmlns:a16="http://schemas.microsoft.com/office/drawing/2014/main" id="{9B2A0844-5BB3-4A20-BD7B-003A8FFC45DD}"/>
              </a:ext>
            </a:extLst>
          </p:cNvPr>
          <p:cNvSpPr>
            <a:spLocks xmlns:a="http://schemas.openxmlformats.org/drawingml/2006/main" noGrp="1"/>
          </p:cNvSpPr>
          <p:nvPr/>
        </p:nvSpPr>
        <p:spPr>
          <a:xfrm xmlns:a="http://schemas.openxmlformats.org/drawingml/2006/main">
            <a:off x="4038600" y="3943350"/>
            <a:ext cx="2362200" cy="9525"/>
          </a:xfrm>
          <a:prstGeom xmlns:a="http://schemas.openxmlformats.org/drawingml/2006/main" prst="rect">
            <a:avLst/>
          </a:prstGeom>
          <a:solidFill xmlns:a="http://schemas.openxmlformats.org/drawingml/2006/main">
            <a:srgbClr val="26344D"/>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F3F2EF42-D256-48BD-943C-1415C9C69023}"/>
              </a:ext>
            </a:extLst>
          </p:cNvPr>
          <p:cNvSpPr>
            <a:spLocks xmlns:a="http://schemas.openxmlformats.org/drawingml/2006/main" noGrp="1"/>
          </p:cNvSpPr>
          <p:nvPr/>
        </p:nvSpPr>
        <p:spPr>
          <a:xfrm xmlns:a="http://schemas.openxmlformats.org/drawingml/2006/main">
            <a:off x="4038600" y="4095750"/>
            <a:ext cx="2362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24BFAE"/>
                </a:solidFill>
                <a:latin typeface="Aptos"/>
                <a:ea typeface="Aptos"/>
                <a:cs typeface="Aptos"/>
              </a:defRPr>
            </a:pPr>
            <a:r>
              <a:rPr sz="825" b="1">
                <a:solidFill>
                  <a:srgbClr val="24BFAE"/>
                </a:solidFill>
                <a:latin typeface="Aptos"/>
                <a:ea typeface="Aptos"/>
                <a:cs typeface="Aptos"/>
              </a:rPr>
              <a:t>LibPecker  SAD  ATVHunter</a:t>
            </a:r>
          </a:p>
        </p:txBody>
      </p:sp>
      <p:sp>
        <p:nvSpPr>
          <p:cNvPr id="30" name="">
            <a:extLst xmlns:a="http://schemas.openxmlformats.org/drawingml/2006/main">
              <a:ext uri="{FF2B5EF4-FFF2-40B4-BE49-F238E27FC236}">
                <a16:creationId xmlns:a16="http://schemas.microsoft.com/office/drawing/2014/main" id="{65809C49-0A08-4067-BFDC-238125D9D465}"/>
              </a:ext>
            </a:extLst>
          </p:cNvPr>
          <p:cNvSpPr>
            <a:spLocks xmlns:a="http://schemas.openxmlformats.org/drawingml/2006/main" noGrp="1"/>
          </p:cNvSpPr>
          <p:nvPr/>
        </p:nvSpPr>
        <p:spPr>
          <a:xfrm xmlns:a="http://schemas.openxmlformats.org/drawingml/2006/main">
            <a:off x="7010400" y="1657350"/>
            <a:ext cx="2743200" cy="2724150"/>
          </a:xfrm>
          <a:prstGeom xmlns:a="http://schemas.openxmlformats.org/drawingml/2006/main" prst="roundRect">
            <a:avLst>
              <a:gd name="adj" fmla="val 2797"/>
            </a:avLst>
          </a:prstGeom>
          <a:solidFill xmlns:a="http://schemas.openxmlformats.org/drawingml/2006/main">
            <a:srgbClr val="111B2E"/>
          </a:solidFill>
          <a:ln xmlns:a="http://schemas.openxmlformats.org/drawingml/2006/main" w="9525">
            <a:solidFill>
              <a:srgbClr val="26344D"/>
            </a:solidFill>
            <a:prstDash val="solid"/>
          </a:ln>
        </p:spPr>
      </p:sp>
      <p:sp>
        <p:nvSpPr>
          <p:cNvPr id="31" name="">
            <a:extLst xmlns:a="http://schemas.openxmlformats.org/drawingml/2006/main">
              <a:ext uri="{FF2B5EF4-FFF2-40B4-BE49-F238E27FC236}">
                <a16:creationId xmlns:a16="http://schemas.microsoft.com/office/drawing/2014/main" id="{68590331-CF86-440E-B437-F81F9ADEE394}"/>
              </a:ext>
            </a:extLst>
          </p:cNvPr>
          <p:cNvSpPr>
            <a:spLocks xmlns:a="http://schemas.openxmlformats.org/drawingml/2006/main" noGrp="1"/>
          </p:cNvSpPr>
          <p:nvPr/>
        </p:nvSpPr>
        <p:spPr>
          <a:xfrm xmlns:a="http://schemas.openxmlformats.org/drawingml/2006/main">
            <a:off x="7200900" y="1847850"/>
            <a:ext cx="838200" cy="266700"/>
          </a:xfrm>
          <a:prstGeom xmlns:a="http://schemas.openxmlformats.org/drawingml/2006/main" prst="roundRect">
            <a:avLst>
              <a:gd name="adj" fmla="val 28571"/>
            </a:avLst>
          </a:prstGeom>
          <a:solidFill xmlns:a="http://schemas.openxmlformats.org/drawingml/2006/main">
            <a:srgbClr val="0B1220"/>
          </a:solidFill>
          <a:ln xmlns:a="http://schemas.openxmlformats.org/drawingml/2006/main" w="9525">
            <a:solidFill>
              <a:srgbClr val="806FE8"/>
            </a:solidFill>
            <a:prstDash val="solid"/>
          </a:ln>
        </p:spPr>
      </p:sp>
      <p:sp>
        <p:nvSpPr>
          <p:cNvPr id="32" name="">
            <a:extLst xmlns:a="http://schemas.openxmlformats.org/drawingml/2006/main">
              <a:ext uri="{FF2B5EF4-FFF2-40B4-BE49-F238E27FC236}">
                <a16:creationId xmlns:a16="http://schemas.microsoft.com/office/drawing/2014/main" id="{C0385184-C411-468E-B383-51B7388C761F}"/>
              </a:ext>
            </a:extLst>
          </p:cNvPr>
          <p:cNvSpPr>
            <a:spLocks xmlns:a="http://schemas.openxmlformats.org/drawingml/2006/main" noGrp="1"/>
          </p:cNvSpPr>
          <p:nvPr/>
        </p:nvSpPr>
        <p:spPr>
          <a:xfrm xmlns:a="http://schemas.openxmlformats.org/drawingml/2006/main">
            <a:off x="7267575" y="1905000"/>
            <a:ext cx="7048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806FE8"/>
                </a:solidFill>
                <a:latin typeface="Aptos"/>
                <a:ea typeface="Aptos"/>
                <a:cs typeface="Aptos"/>
              </a:defRPr>
            </a:pPr>
            <a:r>
              <a:rPr sz="825" b="1">
                <a:solidFill>
                  <a:srgbClr val="806FE8"/>
                </a:solidFill>
                <a:latin typeface="Aptos"/>
                <a:ea typeface="Aptos"/>
                <a:cs typeface="Aptos"/>
              </a:rPr>
              <a:t>GEN 3</a:t>
            </a:r>
          </a:p>
        </p:txBody>
      </p:sp>
      <p:sp>
        <p:nvSpPr>
          <p:cNvPr id="33" name="">
            <a:extLst xmlns:a="http://schemas.openxmlformats.org/drawingml/2006/main">
              <a:ext uri="{FF2B5EF4-FFF2-40B4-BE49-F238E27FC236}">
                <a16:creationId xmlns:a16="http://schemas.microsoft.com/office/drawing/2014/main" id="{9865B183-E72C-48FD-B9EB-CC41B6DA3E81}"/>
              </a:ext>
            </a:extLst>
          </p:cNvPr>
          <p:cNvSpPr>
            <a:spLocks xmlns:a="http://schemas.openxmlformats.org/drawingml/2006/main" noGrp="1"/>
          </p:cNvSpPr>
          <p:nvPr/>
        </p:nvSpPr>
        <p:spPr>
          <a:xfrm xmlns:a="http://schemas.openxmlformats.org/drawingml/2006/main">
            <a:off x="7200900" y="23050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FFFFFF"/>
                </a:solidFill>
                <a:latin typeface="Aptos"/>
                <a:ea typeface="Aptos"/>
                <a:cs typeface="Aptos"/>
              </a:defRPr>
            </a:pPr>
            <a:r>
              <a:rPr sz="1725" b="1">
                <a:solidFill>
                  <a:srgbClr val="FFFFFF"/>
                </a:solidFill>
                <a:latin typeface="Aptos"/>
                <a:ea typeface="Aptos"/>
                <a:cs typeface="Aptos"/>
              </a:rPr>
              <a:t>Learned models</a:t>
            </a:r>
          </a:p>
        </p:txBody>
      </p:sp>
      <p:sp>
        <p:nvSpPr>
          <p:cNvPr id="34" name="">
            <a:extLst xmlns:a="http://schemas.openxmlformats.org/drawingml/2006/main">
              <a:ext uri="{FF2B5EF4-FFF2-40B4-BE49-F238E27FC236}">
                <a16:creationId xmlns:a16="http://schemas.microsoft.com/office/drawing/2014/main" id="{5C31C457-23F6-46F6-AA40-52807F51E872}"/>
              </a:ext>
            </a:extLst>
          </p:cNvPr>
          <p:cNvSpPr>
            <a:spLocks xmlns:a="http://schemas.openxmlformats.org/drawingml/2006/main" noGrp="1"/>
          </p:cNvSpPr>
          <p:nvPr/>
        </p:nvSpPr>
        <p:spPr>
          <a:xfrm xmlns:a="http://schemas.openxmlformats.org/drawingml/2006/main">
            <a:off x="7219950" y="2876550"/>
            <a:ext cx="114300" cy="114300"/>
          </a:xfrm>
          <a:prstGeom xmlns:a="http://schemas.openxmlformats.org/drawingml/2006/main" prst="ellipse">
            <a:avLst/>
          </a:prstGeom>
          <a:solidFill xmlns:a="http://schemas.openxmlformats.org/drawingml/2006/main">
            <a:srgbClr val="806FE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9A727298-9D41-4892-9854-2651AFA83342}"/>
              </a:ext>
            </a:extLst>
          </p:cNvPr>
          <p:cNvSpPr>
            <a:spLocks xmlns:a="http://schemas.openxmlformats.org/drawingml/2006/main" noGrp="1"/>
          </p:cNvSpPr>
          <p:nvPr/>
        </p:nvSpPr>
        <p:spPr>
          <a:xfrm xmlns:a="http://schemas.openxmlformats.org/drawingml/2006/main">
            <a:off x="7467600" y="28194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5CFDD"/>
                </a:solidFill>
                <a:latin typeface="Aptos"/>
                <a:ea typeface="Aptos"/>
                <a:cs typeface="Aptos"/>
              </a:defRPr>
            </a:pPr>
            <a:r>
              <a:rPr sz="1050" b="0">
                <a:solidFill>
                  <a:srgbClr val="C5CFDD"/>
                </a:solidFill>
                <a:latin typeface="Aptos"/>
                <a:ea typeface="Aptos"/>
                <a:cs typeface="Aptos"/>
              </a:rPr>
              <a:t>token models</a:t>
            </a:r>
          </a:p>
        </p:txBody>
      </p:sp>
      <p:sp>
        <p:nvSpPr>
          <p:cNvPr id="36" name="">
            <a:extLst xmlns:a="http://schemas.openxmlformats.org/drawingml/2006/main">
              <a:ext uri="{FF2B5EF4-FFF2-40B4-BE49-F238E27FC236}">
                <a16:creationId xmlns:a16="http://schemas.microsoft.com/office/drawing/2014/main" id="{04E550B8-5A62-4CEC-B663-72771C5515CB}"/>
              </a:ext>
            </a:extLst>
          </p:cNvPr>
          <p:cNvSpPr>
            <a:spLocks xmlns:a="http://schemas.openxmlformats.org/drawingml/2006/main" noGrp="1"/>
          </p:cNvSpPr>
          <p:nvPr/>
        </p:nvSpPr>
        <p:spPr>
          <a:xfrm xmlns:a="http://schemas.openxmlformats.org/drawingml/2006/main">
            <a:off x="7219950" y="3276600"/>
            <a:ext cx="114300" cy="114300"/>
          </a:xfrm>
          <a:prstGeom xmlns:a="http://schemas.openxmlformats.org/drawingml/2006/main" prst="ellipse">
            <a:avLst/>
          </a:prstGeom>
          <a:solidFill xmlns:a="http://schemas.openxmlformats.org/drawingml/2006/main">
            <a:srgbClr val="806FE8"/>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329C0B77-913E-44FA-B1D5-DB75E54482AF}"/>
              </a:ext>
            </a:extLst>
          </p:cNvPr>
          <p:cNvSpPr>
            <a:spLocks xmlns:a="http://schemas.openxmlformats.org/drawingml/2006/main" noGrp="1"/>
          </p:cNvSpPr>
          <p:nvPr/>
        </p:nvSpPr>
        <p:spPr>
          <a:xfrm xmlns:a="http://schemas.openxmlformats.org/drawingml/2006/main">
            <a:off x="7467600" y="32194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5CFDD"/>
                </a:solidFill>
                <a:latin typeface="Aptos"/>
                <a:ea typeface="Aptos"/>
                <a:cs typeface="Aptos"/>
              </a:defRPr>
            </a:pPr>
            <a:r>
              <a:rPr sz="1050" b="0">
                <a:solidFill>
                  <a:srgbClr val="C5CFDD"/>
                </a:solidFill>
                <a:latin typeface="Aptos"/>
                <a:ea typeface="Aptos"/>
                <a:cs typeface="Aptos"/>
              </a:rPr>
              <a:t>R8 resilience</a:t>
            </a:r>
          </a:p>
        </p:txBody>
      </p:sp>
      <p:sp>
        <p:nvSpPr>
          <p:cNvPr id="38" name="">
            <a:extLst xmlns:a="http://schemas.openxmlformats.org/drawingml/2006/main">
              <a:ext uri="{FF2B5EF4-FFF2-40B4-BE49-F238E27FC236}">
                <a16:creationId xmlns:a16="http://schemas.microsoft.com/office/drawing/2014/main" id="{D237AF2C-F4C2-4509-9AFD-7237DE87CA74}"/>
              </a:ext>
            </a:extLst>
          </p:cNvPr>
          <p:cNvSpPr>
            <a:spLocks xmlns:a="http://schemas.openxmlformats.org/drawingml/2006/main" noGrp="1"/>
          </p:cNvSpPr>
          <p:nvPr/>
        </p:nvSpPr>
        <p:spPr>
          <a:xfrm xmlns:a="http://schemas.openxmlformats.org/drawingml/2006/main">
            <a:off x="7219950" y="3676650"/>
            <a:ext cx="114300" cy="114300"/>
          </a:xfrm>
          <a:prstGeom xmlns:a="http://schemas.openxmlformats.org/drawingml/2006/main" prst="ellipse">
            <a:avLst/>
          </a:prstGeom>
          <a:solidFill xmlns:a="http://schemas.openxmlformats.org/drawingml/2006/main">
            <a:srgbClr val="806FE8"/>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376508BB-DE1C-4042-B6D4-54DF81D3C73F}"/>
              </a:ext>
            </a:extLst>
          </p:cNvPr>
          <p:cNvSpPr>
            <a:spLocks xmlns:a="http://schemas.openxmlformats.org/drawingml/2006/main" noGrp="1"/>
          </p:cNvSpPr>
          <p:nvPr/>
        </p:nvSpPr>
        <p:spPr>
          <a:xfrm xmlns:a="http://schemas.openxmlformats.org/drawingml/2006/main">
            <a:off x="7467600" y="36195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C5CFDD"/>
                </a:solidFill>
                <a:latin typeface="Aptos"/>
                <a:ea typeface="Aptos"/>
                <a:cs typeface="Aptos"/>
              </a:defRPr>
            </a:pPr>
            <a:r>
              <a:rPr sz="1050" b="0">
                <a:solidFill>
                  <a:srgbClr val="C5CFDD"/>
                </a:solidFill>
                <a:latin typeface="Aptos"/>
                <a:ea typeface="Aptos"/>
                <a:cs typeface="Aptos"/>
              </a:rPr>
              <a:t>risk classification</a:t>
            </a:r>
          </a:p>
        </p:txBody>
      </p:sp>
      <p:sp>
        <p:nvSpPr>
          <p:cNvPr id="40" name="rule">
            <a:extLst xmlns:a="http://schemas.openxmlformats.org/drawingml/2006/main">
              <a:ext uri="{FF2B5EF4-FFF2-40B4-BE49-F238E27FC236}">
                <a16:creationId xmlns:a16="http://schemas.microsoft.com/office/drawing/2014/main" id="{B90B4A16-65E7-4DAF-8423-F9716F29079D}"/>
              </a:ext>
            </a:extLst>
          </p:cNvPr>
          <p:cNvSpPr>
            <a:spLocks xmlns:a="http://schemas.openxmlformats.org/drawingml/2006/main" noGrp="1"/>
          </p:cNvSpPr>
          <p:nvPr/>
        </p:nvSpPr>
        <p:spPr>
          <a:xfrm xmlns:a="http://schemas.openxmlformats.org/drawingml/2006/main">
            <a:off x="7200900" y="3943350"/>
            <a:ext cx="2362200" cy="9525"/>
          </a:xfrm>
          <a:prstGeom xmlns:a="http://schemas.openxmlformats.org/drawingml/2006/main" prst="rect">
            <a:avLst/>
          </a:prstGeom>
          <a:solidFill xmlns:a="http://schemas.openxmlformats.org/drawingml/2006/main">
            <a:srgbClr val="26344D"/>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5BD007E5-F5DC-4DC6-98E7-A1046D7EF560}"/>
              </a:ext>
            </a:extLst>
          </p:cNvPr>
          <p:cNvSpPr>
            <a:spLocks xmlns:a="http://schemas.openxmlformats.org/drawingml/2006/main" noGrp="1"/>
          </p:cNvSpPr>
          <p:nvPr/>
        </p:nvSpPr>
        <p:spPr>
          <a:xfrm xmlns:a="http://schemas.openxmlformats.org/drawingml/2006/main">
            <a:off x="7200900" y="4095750"/>
            <a:ext cx="2362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806FE8"/>
                </a:solidFill>
                <a:latin typeface="Aptos"/>
                <a:ea typeface="Aptos"/>
                <a:cs typeface="Aptos"/>
              </a:defRPr>
            </a:pPr>
            <a:r>
              <a:rPr sz="825" b="1">
                <a:solidFill>
                  <a:srgbClr val="806FE8"/>
                </a:solidFill>
                <a:latin typeface="Aptos"/>
                <a:ea typeface="Aptos"/>
                <a:cs typeface="Aptos"/>
              </a:rPr>
              <a:t>LibAttention  ObfDetector</a:t>
            </a:r>
          </a:p>
        </p:txBody>
      </p:sp>
      <p:sp>
        <p:nvSpPr>
          <p:cNvPr id="42" name="">
            <a:extLst xmlns:a="http://schemas.openxmlformats.org/drawingml/2006/main">
              <a:ext uri="{FF2B5EF4-FFF2-40B4-BE49-F238E27FC236}">
                <a16:creationId xmlns:a16="http://schemas.microsoft.com/office/drawing/2014/main" id="{F69EE181-7468-4E7C-9A2D-FDEA4F517F76}"/>
              </a:ext>
            </a:extLst>
          </p:cNvPr>
          <p:cNvSpPr>
            <a:spLocks xmlns:a="http://schemas.openxmlformats.org/drawingml/2006/main" noGrp="1"/>
          </p:cNvSpPr>
          <p:nvPr/>
        </p:nvSpPr>
        <p:spPr>
          <a:xfrm xmlns:a="http://schemas.openxmlformats.org/drawingml/2006/main">
            <a:off x="10058400" y="1657350"/>
            <a:ext cx="1466850" cy="2724150"/>
          </a:xfrm>
          <a:prstGeom xmlns:a="http://schemas.openxmlformats.org/drawingml/2006/main" prst="roundRect">
            <a:avLst>
              <a:gd name="adj" fmla="val 5195"/>
            </a:avLst>
          </a:prstGeom>
          <a:solidFill xmlns:a="http://schemas.openxmlformats.org/drawingml/2006/main">
            <a:srgbClr val="FFFFFF"/>
          </a:solidFill>
          <a:ln xmlns:a="http://schemas.openxmlformats.org/drawingml/2006/main" w="9525">
            <a:solidFill>
              <a:srgbClr val="FFFFFF"/>
            </a:solidFill>
            <a:prstDash val="solid"/>
          </a:ln>
        </p:spPr>
      </p:sp>
      <p:sp>
        <p:nvSpPr>
          <p:cNvPr id="43" name="">
            <a:extLst xmlns:a="http://schemas.openxmlformats.org/drawingml/2006/main">
              <a:ext uri="{FF2B5EF4-FFF2-40B4-BE49-F238E27FC236}">
                <a16:creationId xmlns:a16="http://schemas.microsoft.com/office/drawing/2014/main" id="{92BC6BE8-3AFE-400E-B08E-E8DB6B681EF3}"/>
              </a:ext>
            </a:extLst>
          </p:cNvPr>
          <p:cNvSpPr>
            <a:spLocks xmlns:a="http://schemas.openxmlformats.org/drawingml/2006/main" noGrp="1"/>
          </p:cNvSpPr>
          <p:nvPr/>
        </p:nvSpPr>
        <p:spPr>
          <a:xfrm xmlns:a="http://schemas.openxmlformats.org/drawingml/2006/main">
            <a:off x="10287000" y="1866900"/>
            <a:ext cx="1009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F06464"/>
                </a:solidFill>
                <a:latin typeface="Aptos"/>
                <a:ea typeface="Aptos"/>
                <a:cs typeface="Aptos"/>
              </a:defRPr>
            </a:pPr>
            <a:r>
              <a:rPr sz="900" b="1">
                <a:solidFill>
                  <a:srgbClr val="F06464"/>
                </a:solidFill>
                <a:latin typeface="Aptos"/>
                <a:ea typeface="Aptos"/>
                <a:cs typeface="Aptos"/>
              </a:rPr>
              <a:t>GAP</a:t>
            </a:r>
          </a:p>
        </p:txBody>
      </p:sp>
      <p:sp>
        <p:nvSpPr>
          <p:cNvPr id="44" name="">
            <a:extLst xmlns:a="http://schemas.openxmlformats.org/drawingml/2006/main">
              <a:ext uri="{FF2B5EF4-FFF2-40B4-BE49-F238E27FC236}">
                <a16:creationId xmlns:a16="http://schemas.microsoft.com/office/drawing/2014/main" id="{0C547C98-EB2C-4DE5-A6B7-F498034DC8D4}"/>
              </a:ext>
            </a:extLst>
          </p:cNvPr>
          <p:cNvSpPr>
            <a:spLocks xmlns:a="http://schemas.openxmlformats.org/drawingml/2006/main" noGrp="1"/>
          </p:cNvSpPr>
          <p:nvPr/>
        </p:nvSpPr>
        <p:spPr>
          <a:xfrm xmlns:a="http://schemas.openxmlformats.org/drawingml/2006/main">
            <a:off x="10248900" y="2362200"/>
            <a:ext cx="10858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101827"/>
                </a:solidFill>
                <a:latin typeface="Aptos"/>
                <a:ea typeface="Aptos"/>
                <a:cs typeface="Aptos"/>
              </a:defRPr>
            </a:pPr>
            <a:r>
              <a:rPr sz="1575" b="1">
                <a:solidFill>
                  <a:srgbClr val="101827"/>
                </a:solidFill>
                <a:latin typeface="Aptos"/>
                <a:ea typeface="Aptos"/>
                <a:cs typeface="Aptos"/>
              </a:rPr>
              <a:t>Exact</a:t>
            </a:r>
          </a:p>
          <a:p xmlns:a="http://schemas.openxmlformats.org/drawingml/2006/main">
            <a:pPr algn="ctr">
              <a:defRPr sz="1575" b="1">
                <a:solidFill>
                  <a:srgbClr val="101827"/>
                </a:solidFill>
                <a:latin typeface="Aptos"/>
                <a:ea typeface="Aptos"/>
                <a:cs typeface="Aptos"/>
              </a:defRPr>
            </a:pPr>
            <a:r>
              <a:rPr sz="1575" b="1">
                <a:solidFill>
                  <a:srgbClr val="101827"/>
                </a:solidFill>
                <a:latin typeface="Aptos"/>
                <a:ea typeface="Aptos"/>
                <a:cs typeface="Aptos"/>
              </a:rPr>
              <a:t>versions</a:t>
            </a:r>
          </a:p>
          <a:p xmlns:a="http://schemas.openxmlformats.org/drawingml/2006/main">
            <a:pPr algn="ctr">
              <a:defRPr sz="1575" b="1">
                <a:solidFill>
                  <a:srgbClr val="101827"/>
                </a:solidFill>
                <a:latin typeface="Aptos"/>
                <a:ea typeface="Aptos"/>
                <a:cs typeface="Aptos"/>
              </a:defRPr>
            </a:pPr>
            <a:r>
              <a:rPr sz="1575" b="1">
                <a:solidFill>
                  <a:srgbClr val="101827"/>
                </a:solidFill>
                <a:latin typeface="Aptos"/>
                <a:ea typeface="Aptos"/>
                <a:cs typeface="Aptos"/>
              </a:rPr>
              <a:t>under R8</a:t>
            </a:r>
          </a:p>
        </p:txBody>
      </p:sp>
      <p:sp>
        <p:nvSpPr>
          <p:cNvPr id="45" name="">
            <a:extLst xmlns:a="http://schemas.openxmlformats.org/drawingml/2006/main">
              <a:ext uri="{FF2B5EF4-FFF2-40B4-BE49-F238E27FC236}">
                <a16:creationId xmlns:a16="http://schemas.microsoft.com/office/drawing/2014/main" id="{62DBE979-E9D4-498A-8A29-C2DDD7497E22}"/>
              </a:ext>
            </a:extLst>
          </p:cNvPr>
          <p:cNvSpPr>
            <a:spLocks xmlns:a="http://schemas.openxmlformats.org/drawingml/2006/main" noGrp="1"/>
          </p:cNvSpPr>
          <p:nvPr/>
        </p:nvSpPr>
        <p:spPr>
          <a:xfrm xmlns:a="http://schemas.openxmlformats.org/drawingml/2006/main">
            <a:off x="10287000" y="3505200"/>
            <a:ext cx="100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5E6B7D"/>
                </a:solidFill>
                <a:latin typeface="Aptos"/>
                <a:ea typeface="Aptos"/>
                <a:cs typeface="Aptos"/>
              </a:defRPr>
            </a:pPr>
            <a:r>
              <a:rPr sz="1050" b="0">
                <a:solidFill>
                  <a:srgbClr val="5E6B7D"/>
                </a:solidFill>
                <a:latin typeface="Aptos"/>
                <a:ea typeface="Aptos"/>
                <a:cs typeface="Aptos"/>
              </a:rPr>
              <a:t>+ standard</a:t>
            </a:r>
          </a:p>
          <a:p xmlns:a="http://schemas.openxmlformats.org/drawingml/2006/main">
            <a:pPr algn="ctr">
              <a:defRPr sz="1050" b="0">
                <a:solidFill>
                  <a:srgbClr val="5E6B7D"/>
                </a:solidFill>
                <a:latin typeface="Aptos"/>
                <a:ea typeface="Aptos"/>
                <a:cs typeface="Aptos"/>
              </a:defRPr>
            </a:pPr>
            <a:r>
              <a:rPr sz="1050" b="0">
                <a:solidFill>
                  <a:srgbClr val="5E6B7D"/>
                </a:solidFill>
                <a:latin typeface="Aptos"/>
                <a:ea typeface="Aptos"/>
                <a:cs typeface="Aptos"/>
              </a:rPr>
              <a:t>SBOM output</a:t>
            </a:r>
          </a:p>
        </p:txBody>
      </p:sp>
      <p:sp>
        <p:nvSpPr>
          <p:cNvPr id="46" name="">
            <a:extLst xmlns:a="http://schemas.openxmlformats.org/drawingml/2006/main">
              <a:ext uri="{FF2B5EF4-FFF2-40B4-BE49-F238E27FC236}">
                <a16:creationId xmlns:a16="http://schemas.microsoft.com/office/drawing/2014/main" id="{0D8AC2DE-F569-4D63-B1E7-A169D24C0FCE}"/>
              </a:ext>
            </a:extLst>
          </p:cNvPr>
          <p:cNvSpPr>
            <a:spLocks xmlns:a="http://schemas.openxmlformats.org/drawingml/2006/main" noGrp="1"/>
          </p:cNvSpPr>
          <p:nvPr/>
        </p:nvSpPr>
        <p:spPr>
          <a:xfrm xmlns:a="http://schemas.openxmlformats.org/drawingml/2006/main">
            <a:off x="685800" y="4857750"/>
            <a:ext cx="10839450" cy="819150"/>
          </a:xfrm>
          <a:prstGeom xmlns:a="http://schemas.openxmlformats.org/drawingml/2006/main" prst="rect">
            <a:avLst/>
          </a:prstGeom>
          <a:solidFill xmlns:a="http://schemas.openxmlformats.org/drawingml/2006/main">
            <a:srgbClr val="806FE8"/>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9BD820C3-F93D-4E87-9962-A2947131E3DD}"/>
              </a:ext>
            </a:extLst>
          </p:cNvPr>
          <p:cNvSpPr>
            <a:spLocks xmlns:a="http://schemas.openxmlformats.org/drawingml/2006/main" noGrp="1"/>
          </p:cNvSpPr>
          <p:nvPr/>
        </p:nvSpPr>
        <p:spPr>
          <a:xfrm xmlns:a="http://schemas.openxmlformats.org/drawingml/2006/main">
            <a:off x="914400" y="5067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FFFFFF"/>
                </a:solidFill>
                <a:latin typeface="Aptos"/>
                <a:ea typeface="Aptos"/>
                <a:cs typeface="Aptos"/>
              </a:defRPr>
            </a:pPr>
            <a:r>
              <a:rPr sz="1275" b="1">
                <a:solidFill>
                  <a:srgbClr val="FFFFFF"/>
                </a:solidFill>
                <a:latin typeface="Aptos"/>
                <a:ea typeface="Aptos"/>
                <a:cs typeface="Aptos"/>
              </a:rPr>
              <a:t>Project response</a:t>
            </a:r>
          </a:p>
        </p:txBody>
      </p:sp>
      <p:sp>
        <p:nvSpPr>
          <p:cNvPr id="48" name="">
            <a:extLst xmlns:a="http://schemas.openxmlformats.org/drawingml/2006/main">
              <a:ext uri="{FF2B5EF4-FFF2-40B4-BE49-F238E27FC236}">
                <a16:creationId xmlns:a16="http://schemas.microsoft.com/office/drawing/2014/main" id="{B382ABE6-B425-4584-BD1F-380C97B2BAD8}"/>
              </a:ext>
            </a:extLst>
          </p:cNvPr>
          <p:cNvSpPr>
            <a:spLocks xmlns:a="http://schemas.openxmlformats.org/drawingml/2006/main" noGrp="1"/>
          </p:cNvSpPr>
          <p:nvPr/>
        </p:nvSpPr>
        <p:spPr>
          <a:xfrm xmlns:a="http://schemas.openxmlformats.org/drawingml/2006/main">
            <a:off x="2781300" y="5048250"/>
            <a:ext cx="819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FFFFFF"/>
                </a:solidFill>
                <a:latin typeface="Aptos"/>
                <a:ea typeface="Aptos"/>
                <a:cs typeface="Aptos"/>
              </a:defRPr>
            </a:pPr>
            <a:r>
              <a:rPr sz="1350" b="1">
                <a:solidFill>
                  <a:srgbClr val="FFFFFF"/>
                </a:solidFill>
                <a:latin typeface="Aptos"/>
                <a:ea typeface="Aptos"/>
                <a:cs typeface="Aptos"/>
              </a:rPr>
              <a:t>multi-scale evidence  +  separate identity/version confidence  +  CycloneDX  +  transparent limits</a:t>
            </a:r>
          </a:p>
        </p:txBody>
      </p:sp>
      <p:sp>
        <p:nvSpPr>
          <p:cNvPr id="49" name="">
            <a:extLst xmlns:a="http://schemas.openxmlformats.org/drawingml/2006/main">
              <a:ext uri="{FF2B5EF4-FFF2-40B4-BE49-F238E27FC236}">
                <a16:creationId xmlns:a16="http://schemas.microsoft.com/office/drawing/2014/main" id="{7B95FB70-7FCE-4B75-8535-17BB9CFDA24D}"/>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390980151"/>
      </p:ext>
    </p:extLst>
  </p:cSld>
</p:sld>
</file>

<file path=ppt/slides/slide4.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BE8605A-3AE5-4B31-8734-A92232E9CA4C}"/>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4BFAE"/>
                </a:solidFill>
                <a:latin typeface="Aptos"/>
                <a:ea typeface="Aptos"/>
                <a:cs typeface="Aptos"/>
              </a:defRPr>
            </a:pPr>
            <a:r>
              <a:rPr sz="900" b="1">
                <a:solidFill>
                  <a:srgbClr val="24BFAE"/>
                </a:solidFill>
                <a:latin typeface="Aptos"/>
                <a:ea typeface="Aptos"/>
                <a:cs typeface="Aptos"/>
              </a:rPr>
              <a:t>PROJECT OBJECTIVE</a:t>
            </a:r>
          </a:p>
        </p:txBody>
      </p:sp>
      <p:sp>
        <p:nvSpPr>
          <p:cNvPr id="2" name="">
            <a:extLst xmlns:a="http://schemas.openxmlformats.org/drawingml/2006/main">
              <a:ext uri="{FF2B5EF4-FFF2-40B4-BE49-F238E27FC236}">
                <a16:creationId xmlns:a16="http://schemas.microsoft.com/office/drawing/2014/main" id="{04C8A090-8BAC-4700-9A89-8D7551B1DD24}"/>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01827"/>
                </a:solidFill>
                <a:latin typeface="Aptos Display"/>
                <a:ea typeface="Aptos Display"/>
                <a:cs typeface="Aptos Display"/>
              </a:defRPr>
            </a:pPr>
            <a:r>
              <a:rPr sz="2325" b="1">
                <a:solidFill>
                  <a:srgbClr val="101827"/>
                </a:solidFill>
                <a:latin typeface="Aptos Display"/>
                <a:ea typeface="Aptos Display"/>
                <a:cs typeface="Aptos Display"/>
              </a:rPr>
              <a:t>The objective is a useful security artifact, not forced certainty</a:t>
            </a:r>
          </a:p>
        </p:txBody>
      </p:sp>
      <p:sp>
        <p:nvSpPr>
          <p:cNvPr id="3" name="">
            <a:extLst xmlns:a="http://schemas.openxmlformats.org/drawingml/2006/main">
              <a:ext uri="{FF2B5EF4-FFF2-40B4-BE49-F238E27FC236}">
                <a16:creationId xmlns:a16="http://schemas.microsoft.com/office/drawing/2014/main" id="{1FA8DBE8-DE72-4685-9CC0-80FE3ABCD9CF}"/>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D"/>
                </a:solidFill>
                <a:latin typeface="Aptos"/>
                <a:ea typeface="Aptos"/>
                <a:cs typeface="Aptos"/>
              </a:defRPr>
            </a:pPr>
            <a:r>
              <a:rPr sz="900" b="1">
                <a:solidFill>
                  <a:srgbClr val="5E6B7D"/>
                </a:solidFill>
                <a:latin typeface="Aptos"/>
                <a:ea typeface="Aptos"/>
                <a:cs typeface="Aptos"/>
              </a:rPr>
              <a:t>04</a:t>
            </a:r>
          </a:p>
        </p:txBody>
      </p:sp>
      <p:sp>
        <p:nvSpPr>
          <p:cNvPr id="4" name="">
            <a:extLst xmlns:a="http://schemas.openxmlformats.org/drawingml/2006/main">
              <a:ext uri="{FF2B5EF4-FFF2-40B4-BE49-F238E27FC236}">
                <a16:creationId xmlns:a16="http://schemas.microsoft.com/office/drawing/2014/main" id="{B535C3C9-E384-49E1-80F7-57B2C4A1FCA1}"/>
              </a:ext>
            </a:extLst>
          </p:cNvPr>
          <p:cNvSpPr>
            <a:spLocks xmlns:a="http://schemas.openxmlformats.org/drawingml/2006/main" noGrp="1"/>
          </p:cNvSpPr>
          <p:nvPr/>
        </p:nvSpPr>
        <p:spPr>
          <a:xfrm xmlns:a="http://schemas.openxmlformats.org/drawingml/2006/main">
            <a:off x="723900" y="1676400"/>
            <a:ext cx="2247900" cy="3143250"/>
          </a:xfrm>
          <a:prstGeom xmlns:a="http://schemas.openxmlformats.org/drawingml/2006/main" prst="roundRect">
            <a:avLst>
              <a:gd name="adj" fmla="val 3390"/>
            </a:avLst>
          </a:prstGeom>
          <a:solidFill xmlns:a="http://schemas.openxmlformats.org/drawingml/2006/main">
            <a:srgbClr val="111B2E"/>
          </a:solidFill>
          <a:ln xmlns:a="http://schemas.openxmlformats.org/drawingml/2006/main" w="9525">
            <a:solidFill>
              <a:srgbClr val="111B2E"/>
            </a:solidFill>
            <a:prstDash val="solid"/>
          </a:ln>
        </p:spPr>
      </p:sp>
      <p:sp>
        <p:nvSpPr>
          <p:cNvPr id="5" name="">
            <a:extLst xmlns:a="http://schemas.openxmlformats.org/drawingml/2006/main">
              <a:ext uri="{FF2B5EF4-FFF2-40B4-BE49-F238E27FC236}">
                <a16:creationId xmlns:a16="http://schemas.microsoft.com/office/drawing/2014/main" id="{43BF1BBB-2499-461A-99BF-B577E204CC61}"/>
              </a:ext>
            </a:extLst>
          </p:cNvPr>
          <p:cNvSpPr>
            <a:spLocks xmlns:a="http://schemas.openxmlformats.org/drawingml/2006/main" noGrp="1"/>
          </p:cNvSpPr>
          <p:nvPr/>
        </p:nvSpPr>
        <p:spPr>
          <a:xfrm xmlns:a="http://schemas.openxmlformats.org/drawingml/2006/main">
            <a:off x="933450" y="1885950"/>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24BFAE"/>
                </a:solidFill>
                <a:latin typeface="Aptos"/>
                <a:ea typeface="Aptos"/>
                <a:cs typeface="Aptos"/>
              </a:defRPr>
            </a:pPr>
            <a:r>
              <a:rPr sz="825" b="1">
                <a:solidFill>
                  <a:srgbClr val="24BFAE"/>
                </a:solidFill>
                <a:latin typeface="Aptos"/>
                <a:ea typeface="Aptos"/>
                <a:cs typeface="Aptos"/>
              </a:rPr>
              <a:t>INPUT</a:t>
            </a:r>
          </a:p>
        </p:txBody>
      </p:sp>
      <p:sp>
        <p:nvSpPr>
          <p:cNvPr id="6" name="">
            <a:extLst xmlns:a="http://schemas.openxmlformats.org/drawingml/2006/main">
              <a:ext uri="{FF2B5EF4-FFF2-40B4-BE49-F238E27FC236}">
                <a16:creationId xmlns:a16="http://schemas.microsoft.com/office/drawing/2014/main" id="{FDE9A37E-BF91-49D9-BD99-AF150BD72AC3}"/>
              </a:ext>
            </a:extLst>
          </p:cNvPr>
          <p:cNvSpPr>
            <a:spLocks xmlns:a="http://schemas.openxmlformats.org/drawingml/2006/main" noGrp="1"/>
          </p:cNvSpPr>
          <p:nvPr/>
        </p:nvSpPr>
        <p:spPr>
          <a:xfrm xmlns:a="http://schemas.openxmlformats.org/drawingml/2006/main">
            <a:off x="933450" y="2343150"/>
            <a:ext cx="1619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APK</a:t>
            </a:r>
          </a:p>
        </p:txBody>
      </p:sp>
      <p:sp>
        <p:nvSpPr>
          <p:cNvPr id="7" name="">
            <a:extLst xmlns:a="http://schemas.openxmlformats.org/drawingml/2006/main">
              <a:ext uri="{FF2B5EF4-FFF2-40B4-BE49-F238E27FC236}">
                <a16:creationId xmlns:a16="http://schemas.microsoft.com/office/drawing/2014/main" id="{551FA77B-5881-454A-95C8-B7C1FB6A352C}"/>
              </a:ext>
            </a:extLst>
          </p:cNvPr>
          <p:cNvSpPr>
            <a:spLocks xmlns:a="http://schemas.openxmlformats.org/drawingml/2006/main" noGrp="1"/>
          </p:cNvSpPr>
          <p:nvPr/>
        </p:nvSpPr>
        <p:spPr>
          <a:xfrm xmlns:a="http://schemas.openxmlformats.org/drawingml/2006/main">
            <a:off x="933450" y="3143250"/>
            <a:ext cx="990600" cy="171450"/>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3A84889-73DE-4016-BA20-38C7848022A8}"/>
              </a:ext>
            </a:extLst>
          </p:cNvPr>
          <p:cNvSpPr>
            <a:spLocks xmlns:a="http://schemas.openxmlformats.org/drawingml/2006/main" noGrp="1"/>
          </p:cNvSpPr>
          <p:nvPr/>
        </p:nvSpPr>
        <p:spPr>
          <a:xfrm xmlns:a="http://schemas.openxmlformats.org/drawingml/2006/main">
            <a:off x="933450" y="3409950"/>
            <a:ext cx="1352550" cy="171450"/>
          </a:xfrm>
          <a:prstGeom xmlns:a="http://schemas.openxmlformats.org/drawingml/2006/main" prst="rect">
            <a:avLst/>
          </a:prstGeom>
          <a:solidFill xmlns:a="http://schemas.openxmlformats.org/drawingml/2006/main">
            <a:srgbClr val="806FE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59E3B30-66D2-4C3E-8F71-CBA123B6DBEA}"/>
              </a:ext>
            </a:extLst>
          </p:cNvPr>
          <p:cNvSpPr>
            <a:spLocks xmlns:a="http://schemas.openxmlformats.org/drawingml/2006/main" noGrp="1"/>
          </p:cNvSpPr>
          <p:nvPr/>
        </p:nvSpPr>
        <p:spPr>
          <a:xfrm xmlns:a="http://schemas.openxmlformats.org/drawingml/2006/main">
            <a:off x="933450" y="3676650"/>
            <a:ext cx="781050" cy="171450"/>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E6C2774-4952-4269-957E-8A910624D53C}"/>
              </a:ext>
            </a:extLst>
          </p:cNvPr>
          <p:cNvSpPr>
            <a:spLocks xmlns:a="http://schemas.openxmlformats.org/drawingml/2006/main" noGrp="1"/>
          </p:cNvSpPr>
          <p:nvPr/>
        </p:nvSpPr>
        <p:spPr>
          <a:xfrm xmlns:a="http://schemas.openxmlformats.org/drawingml/2006/main">
            <a:off x="933450" y="4114800"/>
            <a:ext cx="1428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B7C2D1"/>
                </a:solidFill>
                <a:latin typeface="Cascadia Mono"/>
                <a:ea typeface="Cascadia Mono"/>
                <a:cs typeface="Cascadia Mono"/>
              </a:defRPr>
            </a:pPr>
            <a:r>
              <a:rPr sz="975" b="0">
                <a:solidFill>
                  <a:srgbClr val="B7C2D1"/>
                </a:solidFill>
                <a:latin typeface="Cascadia Mono"/>
                <a:ea typeface="Cascadia Mono"/>
                <a:cs typeface="Cascadia Mono"/>
              </a:rPr>
              <a:t>DEX  manifest</a:t>
            </a:r>
          </a:p>
          <a:p xmlns:a="http://schemas.openxmlformats.org/drawingml/2006/main">
            <a:pPr algn="l">
              <a:defRPr sz="975" b="0">
                <a:solidFill>
                  <a:srgbClr val="B7C2D1"/>
                </a:solidFill>
                <a:latin typeface="Cascadia Mono"/>
                <a:ea typeface="Cascadia Mono"/>
                <a:cs typeface="Cascadia Mono"/>
              </a:defRPr>
            </a:pPr>
            <a:r>
              <a:rPr sz="975" b="0">
                <a:solidFill>
                  <a:srgbClr val="B7C2D1"/>
                </a:solidFill>
                <a:latin typeface="Cascadia Mono"/>
                <a:ea typeface="Cascadia Mono"/>
                <a:cs typeface="Cascadia Mono"/>
              </a:rPr>
              <a:t>resources  native</a:t>
            </a:r>
          </a:p>
        </p:txBody>
      </p:sp>
      <p:sp>
        <p:nvSpPr>
          <p:cNvPr id="11" name="rule">
            <a:extLst xmlns:a="http://schemas.openxmlformats.org/drawingml/2006/main">
              <a:ext uri="{FF2B5EF4-FFF2-40B4-BE49-F238E27FC236}">
                <a16:creationId xmlns:a16="http://schemas.microsoft.com/office/drawing/2014/main" id="{E8CF8B8F-A26D-40CA-99B7-44B45C1858A3}"/>
              </a:ext>
            </a:extLst>
          </p:cNvPr>
          <p:cNvSpPr>
            <a:spLocks xmlns:a="http://schemas.openxmlformats.org/drawingml/2006/main" noGrp="1"/>
          </p:cNvSpPr>
          <p:nvPr/>
        </p:nvSpPr>
        <p:spPr>
          <a:xfrm xmlns:a="http://schemas.openxmlformats.org/drawingml/2006/main">
            <a:off x="3086100" y="3228975"/>
            <a:ext cx="1219200" cy="19050"/>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9A62819-E984-4610-9656-57FCE0317CA4}"/>
              </a:ext>
            </a:extLst>
          </p:cNvPr>
          <p:cNvSpPr>
            <a:spLocks xmlns:a="http://schemas.openxmlformats.org/drawingml/2006/main" noGrp="1"/>
          </p:cNvSpPr>
          <p:nvPr/>
        </p:nvSpPr>
        <p:spPr>
          <a:xfrm xmlns:a="http://schemas.openxmlformats.org/drawingml/2006/main">
            <a:off x="4229100" y="3143250"/>
            <a:ext cx="228600" cy="190500"/>
          </a:xfrm>
          <a:prstGeom xmlns:a="http://schemas.openxmlformats.org/drawingml/2006/main" prst="chevron">
            <a:avLst/>
          </a:prstGeom>
          <a:solidFill xmlns:a="http://schemas.openxmlformats.org/drawingml/2006/main">
            <a:srgbClr val="4F7C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FA88397-0B8C-4F8A-A196-6FCA0767F193}"/>
              </a:ext>
            </a:extLst>
          </p:cNvPr>
          <p:cNvSpPr>
            <a:spLocks xmlns:a="http://schemas.openxmlformats.org/drawingml/2006/main" noGrp="1"/>
          </p:cNvSpPr>
          <p:nvPr/>
        </p:nvSpPr>
        <p:spPr>
          <a:xfrm xmlns:a="http://schemas.openxmlformats.org/drawingml/2006/main">
            <a:off x="3086100" y="2952750"/>
            <a:ext cx="1371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50" b="1">
                <a:solidFill>
                  <a:srgbClr val="4F7CFF"/>
                </a:solidFill>
                <a:latin typeface="Aptos"/>
                <a:ea typeface="Aptos"/>
                <a:cs typeface="Aptos"/>
              </a:defRPr>
            </a:pPr>
            <a:r>
              <a:rPr sz="750" b="1">
                <a:solidFill>
                  <a:srgbClr val="4F7CFF"/>
                </a:solidFill>
                <a:latin typeface="Aptos"/>
                <a:ea typeface="Aptos"/>
                <a:cs typeface="Aptos"/>
              </a:rPr>
              <a:t>static evidence</a:t>
            </a:r>
          </a:p>
        </p:txBody>
      </p:sp>
      <p:sp>
        <p:nvSpPr>
          <p:cNvPr id="14" name="">
            <a:extLst xmlns:a="http://schemas.openxmlformats.org/drawingml/2006/main">
              <a:ext uri="{FF2B5EF4-FFF2-40B4-BE49-F238E27FC236}">
                <a16:creationId xmlns:a16="http://schemas.microsoft.com/office/drawing/2014/main" id="{43776097-5B65-4538-B46D-89F73C0EDA1E}"/>
              </a:ext>
            </a:extLst>
          </p:cNvPr>
          <p:cNvSpPr>
            <a:spLocks xmlns:a="http://schemas.openxmlformats.org/drawingml/2006/main" noGrp="1"/>
          </p:cNvSpPr>
          <p:nvPr/>
        </p:nvSpPr>
        <p:spPr>
          <a:xfrm xmlns:a="http://schemas.openxmlformats.org/drawingml/2006/main">
            <a:off x="4572000" y="1676400"/>
            <a:ext cx="2895600" cy="3143250"/>
          </a:xfrm>
          <a:prstGeom xmlns:a="http://schemas.openxmlformats.org/drawingml/2006/main" prst="roundRect">
            <a:avLst>
              <a:gd name="adj" fmla="val 2632"/>
            </a:avLst>
          </a:prstGeom>
          <a:solidFill xmlns:a="http://schemas.openxmlformats.org/drawingml/2006/main">
            <a:srgbClr val="FFFFFF"/>
          </a:solidFill>
          <a:ln xmlns:a="http://schemas.openxmlformats.org/drawingml/2006/main" w="9525">
            <a:solidFill>
              <a:srgbClr val="4F7CFF"/>
            </a:solidFill>
            <a:prstDash val="solid"/>
          </a:ln>
        </p:spPr>
      </p:sp>
      <p:sp>
        <p:nvSpPr>
          <p:cNvPr id="15" name="">
            <a:extLst xmlns:a="http://schemas.openxmlformats.org/drawingml/2006/main">
              <a:ext uri="{FF2B5EF4-FFF2-40B4-BE49-F238E27FC236}">
                <a16:creationId xmlns:a16="http://schemas.microsoft.com/office/drawing/2014/main" id="{96A4C4C3-2CD6-4118-878F-2D92494469F2}"/>
              </a:ext>
            </a:extLst>
          </p:cNvPr>
          <p:cNvSpPr>
            <a:spLocks xmlns:a="http://schemas.openxmlformats.org/drawingml/2006/main" noGrp="1"/>
          </p:cNvSpPr>
          <p:nvPr/>
        </p:nvSpPr>
        <p:spPr>
          <a:xfrm xmlns:a="http://schemas.openxmlformats.org/drawingml/2006/main">
            <a:off x="4819650" y="188595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4F7CFF"/>
                </a:solidFill>
                <a:latin typeface="Aptos"/>
                <a:ea typeface="Aptos"/>
                <a:cs typeface="Aptos"/>
              </a:defRPr>
            </a:pPr>
            <a:r>
              <a:rPr sz="825" b="1">
                <a:solidFill>
                  <a:srgbClr val="4F7CFF"/>
                </a:solidFill>
                <a:latin typeface="Aptos"/>
                <a:ea typeface="Aptos"/>
                <a:cs typeface="Aptos"/>
              </a:rPr>
              <a:t>EVIDENCE ENGINE</a:t>
            </a:r>
          </a:p>
        </p:txBody>
      </p:sp>
      <p:sp>
        <p:nvSpPr>
          <p:cNvPr id="16" name="">
            <a:extLst xmlns:a="http://schemas.openxmlformats.org/drawingml/2006/main">
              <a:ext uri="{FF2B5EF4-FFF2-40B4-BE49-F238E27FC236}">
                <a16:creationId xmlns:a16="http://schemas.microsoft.com/office/drawing/2014/main" id="{F9F96399-9EFB-4550-A0D9-BEA3CD939F7A}"/>
              </a:ext>
            </a:extLst>
          </p:cNvPr>
          <p:cNvSpPr>
            <a:spLocks xmlns:a="http://schemas.openxmlformats.org/drawingml/2006/main" noGrp="1"/>
          </p:cNvSpPr>
          <p:nvPr/>
        </p:nvSpPr>
        <p:spPr>
          <a:xfrm xmlns:a="http://schemas.openxmlformats.org/drawingml/2006/main">
            <a:off x="4819650" y="2362200"/>
            <a:ext cx="120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01827"/>
                </a:solidFill>
                <a:latin typeface="Aptos"/>
                <a:ea typeface="Aptos"/>
                <a:cs typeface="Aptos"/>
              </a:defRPr>
            </a:pPr>
            <a:r>
              <a:rPr sz="1650" b="1">
                <a:solidFill>
                  <a:srgbClr val="101827"/>
                </a:solidFill>
                <a:latin typeface="Aptos"/>
                <a:ea typeface="Aptos"/>
                <a:cs typeface="Aptos"/>
              </a:rPr>
              <a:t>Identity</a:t>
            </a:r>
          </a:p>
        </p:txBody>
      </p:sp>
      <p:sp>
        <p:nvSpPr>
          <p:cNvPr id="17" name="">
            <a:extLst xmlns:a="http://schemas.openxmlformats.org/drawingml/2006/main">
              <a:ext uri="{FF2B5EF4-FFF2-40B4-BE49-F238E27FC236}">
                <a16:creationId xmlns:a16="http://schemas.microsoft.com/office/drawing/2014/main" id="{B2B1D522-1954-4A25-A402-514A0FB5332E}"/>
              </a:ext>
            </a:extLst>
          </p:cNvPr>
          <p:cNvSpPr>
            <a:spLocks xmlns:a="http://schemas.openxmlformats.org/drawingml/2006/main" noGrp="1"/>
          </p:cNvSpPr>
          <p:nvPr/>
        </p:nvSpPr>
        <p:spPr>
          <a:xfrm xmlns:a="http://schemas.openxmlformats.org/drawingml/2006/main">
            <a:off x="6076950" y="23622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01827"/>
                </a:solidFill>
                <a:latin typeface="Aptos"/>
                <a:ea typeface="Aptos"/>
                <a:cs typeface="Aptos"/>
              </a:defRPr>
            </a:pPr>
            <a:r>
              <a:rPr sz="1650" b="1">
                <a:solidFill>
                  <a:srgbClr val="101827"/>
                </a:solidFill>
                <a:latin typeface="Aptos"/>
                <a:ea typeface="Aptos"/>
                <a:cs typeface="Aptos"/>
              </a:rPr>
              <a:t>Version</a:t>
            </a:r>
          </a:p>
        </p:txBody>
      </p:sp>
      <p:sp>
        <p:nvSpPr>
          <p:cNvPr id="18" name="">
            <a:extLst xmlns:a="http://schemas.openxmlformats.org/drawingml/2006/main">
              <a:ext uri="{FF2B5EF4-FFF2-40B4-BE49-F238E27FC236}">
                <a16:creationId xmlns:a16="http://schemas.microsoft.com/office/drawing/2014/main" id="{84674384-E353-446A-AECB-E2FA00DFCB3C}"/>
              </a:ext>
            </a:extLst>
          </p:cNvPr>
          <p:cNvSpPr>
            <a:spLocks xmlns:a="http://schemas.openxmlformats.org/drawingml/2006/main" noGrp="1"/>
          </p:cNvSpPr>
          <p:nvPr/>
        </p:nvSpPr>
        <p:spPr>
          <a:xfrm xmlns:a="http://schemas.openxmlformats.org/drawingml/2006/main">
            <a:off x="4819650" y="2952750"/>
            <a:ext cx="1200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01827"/>
                </a:solidFill>
                <a:latin typeface="Aptos"/>
                <a:ea typeface="Aptos"/>
                <a:cs typeface="Aptos"/>
              </a:defRPr>
            </a:pPr>
            <a:r>
              <a:rPr sz="900" b="1">
                <a:solidFill>
                  <a:srgbClr val="101827"/>
                </a:solidFill>
                <a:latin typeface="Aptos"/>
                <a:ea typeface="Aptos"/>
                <a:cs typeface="Aptos"/>
              </a:rPr>
              <a:t>class / method</a:t>
            </a:r>
          </a:p>
        </p:txBody>
      </p:sp>
      <p:sp>
        <p:nvSpPr>
          <p:cNvPr id="19" name="">
            <a:extLst xmlns:a="http://schemas.openxmlformats.org/drawingml/2006/main">
              <a:ext uri="{FF2B5EF4-FFF2-40B4-BE49-F238E27FC236}">
                <a16:creationId xmlns:a16="http://schemas.microsoft.com/office/drawing/2014/main" id="{8B1BD1F9-5C77-44DC-B650-E54A8CC13F9E}"/>
              </a:ext>
            </a:extLst>
          </p:cNvPr>
          <p:cNvSpPr>
            <a:spLocks xmlns:a="http://schemas.openxmlformats.org/drawingml/2006/main" noGrp="1"/>
          </p:cNvSpPr>
          <p:nvPr/>
        </p:nvSpPr>
        <p:spPr>
          <a:xfrm xmlns:a="http://schemas.openxmlformats.org/drawingml/2006/main">
            <a:off x="6153150" y="2981325"/>
            <a:ext cx="781050" cy="1333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BCD3B2A-4115-47E4-A0EC-BED904CC7C73}"/>
              </a:ext>
            </a:extLst>
          </p:cNvPr>
          <p:cNvSpPr>
            <a:spLocks xmlns:a="http://schemas.openxmlformats.org/drawingml/2006/main" noGrp="1"/>
          </p:cNvSpPr>
          <p:nvPr/>
        </p:nvSpPr>
        <p:spPr>
          <a:xfrm xmlns:a="http://schemas.openxmlformats.org/drawingml/2006/main">
            <a:off x="6153150" y="2981325"/>
            <a:ext cx="687324" cy="133350"/>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C5D7ABD-5E36-457C-AF99-28EAB87AD9C9}"/>
              </a:ext>
            </a:extLst>
          </p:cNvPr>
          <p:cNvSpPr>
            <a:spLocks xmlns:a="http://schemas.openxmlformats.org/drawingml/2006/main" noGrp="1"/>
          </p:cNvSpPr>
          <p:nvPr/>
        </p:nvSpPr>
        <p:spPr>
          <a:xfrm xmlns:a="http://schemas.openxmlformats.org/drawingml/2006/main">
            <a:off x="6915150" y="294322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4F7CFF"/>
                </a:solidFill>
                <a:latin typeface="Aptos"/>
                <a:ea typeface="Aptos"/>
                <a:cs typeface="Aptos"/>
              </a:defRPr>
            </a:pPr>
            <a:r>
              <a:rPr sz="750" b="1">
                <a:solidFill>
                  <a:srgbClr val="4F7CFF"/>
                </a:solidFill>
                <a:latin typeface="Aptos"/>
                <a:ea typeface="Aptos"/>
                <a:cs typeface="Aptos"/>
              </a:rPr>
              <a:t>88/100</a:t>
            </a:r>
          </a:p>
        </p:txBody>
      </p:sp>
      <p:sp>
        <p:nvSpPr>
          <p:cNvPr id="22" name="">
            <a:extLst xmlns:a="http://schemas.openxmlformats.org/drawingml/2006/main">
              <a:ext uri="{FF2B5EF4-FFF2-40B4-BE49-F238E27FC236}">
                <a16:creationId xmlns:a16="http://schemas.microsoft.com/office/drawing/2014/main" id="{369BADF0-B46D-40CE-AF9D-EA2669549130}"/>
              </a:ext>
            </a:extLst>
          </p:cNvPr>
          <p:cNvSpPr>
            <a:spLocks xmlns:a="http://schemas.openxmlformats.org/drawingml/2006/main" noGrp="1"/>
          </p:cNvSpPr>
          <p:nvPr/>
        </p:nvSpPr>
        <p:spPr>
          <a:xfrm xmlns:a="http://schemas.openxmlformats.org/drawingml/2006/main">
            <a:off x="4819650" y="3390900"/>
            <a:ext cx="1200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01827"/>
                </a:solidFill>
                <a:latin typeface="Aptos"/>
                <a:ea typeface="Aptos"/>
                <a:cs typeface="Aptos"/>
              </a:defRPr>
            </a:pPr>
            <a:r>
              <a:rPr sz="900" b="1">
                <a:solidFill>
                  <a:srgbClr val="101827"/>
                </a:solidFill>
                <a:latin typeface="Aptos"/>
                <a:ea typeface="Aptos"/>
                <a:cs typeface="Aptos"/>
              </a:rPr>
              <a:t>opcode / graph</a:t>
            </a:r>
          </a:p>
        </p:txBody>
      </p:sp>
      <p:sp>
        <p:nvSpPr>
          <p:cNvPr id="23" name="">
            <a:extLst xmlns:a="http://schemas.openxmlformats.org/drawingml/2006/main">
              <a:ext uri="{FF2B5EF4-FFF2-40B4-BE49-F238E27FC236}">
                <a16:creationId xmlns:a16="http://schemas.microsoft.com/office/drawing/2014/main" id="{2FAB6D71-AF2A-4F8C-B7D4-ED235F87C160}"/>
              </a:ext>
            </a:extLst>
          </p:cNvPr>
          <p:cNvSpPr>
            <a:spLocks xmlns:a="http://schemas.openxmlformats.org/drawingml/2006/main" noGrp="1"/>
          </p:cNvSpPr>
          <p:nvPr/>
        </p:nvSpPr>
        <p:spPr>
          <a:xfrm xmlns:a="http://schemas.openxmlformats.org/drawingml/2006/main">
            <a:off x="6153150" y="3419475"/>
            <a:ext cx="781050" cy="1333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D40AE80-17BB-4005-A4A6-B8BB1E2BC78D}"/>
              </a:ext>
            </a:extLst>
          </p:cNvPr>
          <p:cNvSpPr>
            <a:spLocks xmlns:a="http://schemas.openxmlformats.org/drawingml/2006/main" noGrp="1"/>
          </p:cNvSpPr>
          <p:nvPr/>
        </p:nvSpPr>
        <p:spPr>
          <a:xfrm xmlns:a="http://schemas.openxmlformats.org/drawingml/2006/main">
            <a:off x="6153150" y="3419475"/>
            <a:ext cx="577977" cy="133350"/>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ABE044F-7D4D-42C9-BA3C-1FD56D6EB2A5}"/>
              </a:ext>
            </a:extLst>
          </p:cNvPr>
          <p:cNvSpPr>
            <a:spLocks xmlns:a="http://schemas.openxmlformats.org/drawingml/2006/main" noGrp="1"/>
          </p:cNvSpPr>
          <p:nvPr/>
        </p:nvSpPr>
        <p:spPr>
          <a:xfrm xmlns:a="http://schemas.openxmlformats.org/drawingml/2006/main">
            <a:off x="6915150" y="338137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24BFAE"/>
                </a:solidFill>
                <a:latin typeface="Aptos"/>
                <a:ea typeface="Aptos"/>
                <a:cs typeface="Aptos"/>
              </a:defRPr>
            </a:pPr>
            <a:r>
              <a:rPr sz="750" b="1">
                <a:solidFill>
                  <a:srgbClr val="24BFAE"/>
                </a:solidFill>
                <a:latin typeface="Aptos"/>
                <a:ea typeface="Aptos"/>
                <a:cs typeface="Aptos"/>
              </a:rPr>
              <a:t>74/100</a:t>
            </a:r>
          </a:p>
        </p:txBody>
      </p:sp>
      <p:sp>
        <p:nvSpPr>
          <p:cNvPr id="26" name="">
            <a:extLst xmlns:a="http://schemas.openxmlformats.org/drawingml/2006/main">
              <a:ext uri="{FF2B5EF4-FFF2-40B4-BE49-F238E27FC236}">
                <a16:creationId xmlns:a16="http://schemas.microsoft.com/office/drawing/2014/main" id="{53A6526B-5BA5-45C8-B777-22A2A2BFD12C}"/>
              </a:ext>
            </a:extLst>
          </p:cNvPr>
          <p:cNvSpPr>
            <a:spLocks xmlns:a="http://schemas.openxmlformats.org/drawingml/2006/main" noGrp="1"/>
          </p:cNvSpPr>
          <p:nvPr/>
        </p:nvSpPr>
        <p:spPr>
          <a:xfrm xmlns:a="http://schemas.openxmlformats.org/drawingml/2006/main">
            <a:off x="4819650" y="3829050"/>
            <a:ext cx="1200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01827"/>
                </a:solidFill>
                <a:latin typeface="Aptos"/>
                <a:ea typeface="Aptos"/>
                <a:cs typeface="Aptos"/>
              </a:defRPr>
            </a:pPr>
            <a:r>
              <a:rPr sz="900" b="1">
                <a:solidFill>
                  <a:srgbClr val="101827"/>
                </a:solidFill>
                <a:latin typeface="Aptos"/>
                <a:ea typeface="Aptos"/>
                <a:cs typeface="Aptos"/>
              </a:rPr>
              <a:t>literal / unique</a:t>
            </a:r>
          </a:p>
        </p:txBody>
      </p:sp>
      <p:sp>
        <p:nvSpPr>
          <p:cNvPr id="27" name="">
            <a:extLst xmlns:a="http://schemas.openxmlformats.org/drawingml/2006/main">
              <a:ext uri="{FF2B5EF4-FFF2-40B4-BE49-F238E27FC236}">
                <a16:creationId xmlns:a16="http://schemas.microsoft.com/office/drawing/2014/main" id="{FA412BA0-8707-4196-8206-C7A5EED33608}"/>
              </a:ext>
            </a:extLst>
          </p:cNvPr>
          <p:cNvSpPr>
            <a:spLocks xmlns:a="http://schemas.openxmlformats.org/drawingml/2006/main" noGrp="1"/>
          </p:cNvSpPr>
          <p:nvPr/>
        </p:nvSpPr>
        <p:spPr>
          <a:xfrm xmlns:a="http://schemas.openxmlformats.org/drawingml/2006/main">
            <a:off x="6153150" y="3857625"/>
            <a:ext cx="781050" cy="13335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FD2F194-3C7E-4375-86E5-A57255E75544}"/>
              </a:ext>
            </a:extLst>
          </p:cNvPr>
          <p:cNvSpPr>
            <a:spLocks xmlns:a="http://schemas.openxmlformats.org/drawingml/2006/main" noGrp="1"/>
          </p:cNvSpPr>
          <p:nvPr/>
        </p:nvSpPr>
        <p:spPr>
          <a:xfrm xmlns:a="http://schemas.openxmlformats.org/drawingml/2006/main">
            <a:off x="6153150" y="3857625"/>
            <a:ext cx="406146" cy="133350"/>
          </a:xfrm>
          <a:prstGeom xmlns:a="http://schemas.openxmlformats.org/drawingml/2006/main" prst="rect">
            <a:avLst/>
          </a:prstGeom>
          <a:solidFill xmlns:a="http://schemas.openxmlformats.org/drawingml/2006/main">
            <a:srgbClr val="E8AA3B"/>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C7B2114A-F608-4292-B7EE-8A3184C9F62A}"/>
              </a:ext>
            </a:extLst>
          </p:cNvPr>
          <p:cNvSpPr>
            <a:spLocks xmlns:a="http://schemas.openxmlformats.org/drawingml/2006/main" noGrp="1"/>
          </p:cNvSpPr>
          <p:nvPr/>
        </p:nvSpPr>
        <p:spPr>
          <a:xfrm xmlns:a="http://schemas.openxmlformats.org/drawingml/2006/main">
            <a:off x="6915150" y="381952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750" b="1">
                <a:solidFill>
                  <a:srgbClr val="E8AA3B"/>
                </a:solidFill>
                <a:latin typeface="Aptos"/>
                <a:ea typeface="Aptos"/>
                <a:cs typeface="Aptos"/>
              </a:defRPr>
            </a:pPr>
            <a:r>
              <a:rPr sz="750" b="1">
                <a:solidFill>
                  <a:srgbClr val="E8AA3B"/>
                </a:solidFill>
                <a:latin typeface="Aptos"/>
                <a:ea typeface="Aptos"/>
                <a:cs typeface="Aptos"/>
              </a:rPr>
              <a:t>52/100</a:t>
            </a:r>
          </a:p>
        </p:txBody>
      </p:sp>
      <p:sp>
        <p:nvSpPr>
          <p:cNvPr id="30" name="">
            <a:extLst xmlns:a="http://schemas.openxmlformats.org/drawingml/2006/main">
              <a:ext uri="{FF2B5EF4-FFF2-40B4-BE49-F238E27FC236}">
                <a16:creationId xmlns:a16="http://schemas.microsoft.com/office/drawing/2014/main" id="{3071283D-CFC6-48F2-83E5-3CCD68A93083}"/>
              </a:ext>
            </a:extLst>
          </p:cNvPr>
          <p:cNvSpPr>
            <a:spLocks xmlns:a="http://schemas.openxmlformats.org/drawingml/2006/main" noGrp="1"/>
          </p:cNvSpPr>
          <p:nvPr/>
        </p:nvSpPr>
        <p:spPr>
          <a:xfrm xmlns:a="http://schemas.openxmlformats.org/drawingml/2006/main">
            <a:off x="4819650" y="432435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5E6B7D"/>
                </a:solidFill>
                <a:latin typeface="Aptos"/>
                <a:ea typeface="Aptos"/>
                <a:cs typeface="Aptos"/>
              </a:defRPr>
            </a:pPr>
            <a:r>
              <a:rPr sz="975" b="1">
                <a:solidFill>
                  <a:srgbClr val="5E6B7D"/>
                </a:solidFill>
                <a:latin typeface="Aptos"/>
                <a:ea typeface="Aptos"/>
                <a:cs typeface="Aptos"/>
              </a:rPr>
              <a:t>confidence + ambiguity policy</a:t>
            </a:r>
          </a:p>
        </p:txBody>
      </p:sp>
      <p:sp>
        <p:nvSpPr>
          <p:cNvPr id="31" name="rule">
            <a:extLst xmlns:a="http://schemas.openxmlformats.org/drawingml/2006/main">
              <a:ext uri="{FF2B5EF4-FFF2-40B4-BE49-F238E27FC236}">
                <a16:creationId xmlns:a16="http://schemas.microsoft.com/office/drawing/2014/main" id="{10A311D7-2438-4471-8EFC-A41F8563CD90}"/>
              </a:ext>
            </a:extLst>
          </p:cNvPr>
          <p:cNvSpPr>
            <a:spLocks xmlns:a="http://schemas.openxmlformats.org/drawingml/2006/main" noGrp="1"/>
          </p:cNvSpPr>
          <p:nvPr/>
        </p:nvSpPr>
        <p:spPr>
          <a:xfrm xmlns:a="http://schemas.openxmlformats.org/drawingml/2006/main">
            <a:off x="7658100" y="3343275"/>
            <a:ext cx="952500" cy="19050"/>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AD5C9C5F-D2B4-45FA-82EC-B87BCEC668FF}"/>
              </a:ext>
            </a:extLst>
          </p:cNvPr>
          <p:cNvSpPr>
            <a:spLocks xmlns:a="http://schemas.openxmlformats.org/drawingml/2006/main" noGrp="1"/>
          </p:cNvSpPr>
          <p:nvPr/>
        </p:nvSpPr>
        <p:spPr>
          <a:xfrm xmlns:a="http://schemas.openxmlformats.org/drawingml/2006/main">
            <a:off x="8534400" y="3257550"/>
            <a:ext cx="228600" cy="190500"/>
          </a:xfrm>
          <a:prstGeom xmlns:a="http://schemas.openxmlformats.org/drawingml/2006/main" prst="chevron">
            <a:avLst/>
          </a:prstGeom>
          <a:solidFill xmlns:a="http://schemas.openxmlformats.org/drawingml/2006/main">
            <a:srgbClr val="24BFAE"/>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F89F4545-2C74-4F0F-B1A4-363F3E138F89}"/>
              </a:ext>
            </a:extLst>
          </p:cNvPr>
          <p:cNvSpPr>
            <a:spLocks xmlns:a="http://schemas.openxmlformats.org/drawingml/2006/main" noGrp="1"/>
          </p:cNvSpPr>
          <p:nvPr/>
        </p:nvSpPr>
        <p:spPr>
          <a:xfrm xmlns:a="http://schemas.openxmlformats.org/drawingml/2006/main">
            <a:off x="7658100" y="3067050"/>
            <a:ext cx="1104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50" b="1">
                <a:solidFill>
                  <a:srgbClr val="24BFAE"/>
                </a:solidFill>
                <a:latin typeface="Aptos"/>
                <a:ea typeface="Aptos"/>
                <a:cs typeface="Aptos"/>
              </a:defRPr>
            </a:pPr>
            <a:r>
              <a:rPr sz="750" b="1">
                <a:solidFill>
                  <a:srgbClr val="24BFAE"/>
                </a:solidFill>
                <a:latin typeface="Aptos"/>
                <a:ea typeface="Aptos"/>
                <a:cs typeface="Aptos"/>
              </a:rPr>
              <a:t>evidence</a:t>
            </a:r>
          </a:p>
        </p:txBody>
      </p:sp>
      <p:sp>
        <p:nvSpPr>
          <p:cNvPr id="34" name="">
            <a:extLst xmlns:a="http://schemas.openxmlformats.org/drawingml/2006/main">
              <a:ext uri="{FF2B5EF4-FFF2-40B4-BE49-F238E27FC236}">
                <a16:creationId xmlns:a16="http://schemas.microsoft.com/office/drawing/2014/main" id="{F10B829A-85CE-47E4-8053-63690437978D}"/>
              </a:ext>
            </a:extLst>
          </p:cNvPr>
          <p:cNvSpPr>
            <a:spLocks xmlns:a="http://schemas.openxmlformats.org/drawingml/2006/main" noGrp="1"/>
          </p:cNvSpPr>
          <p:nvPr/>
        </p:nvSpPr>
        <p:spPr>
          <a:xfrm xmlns:a="http://schemas.openxmlformats.org/drawingml/2006/main">
            <a:off x="8896350" y="1809750"/>
            <a:ext cx="1200150" cy="1200150"/>
          </a:xfrm>
          <a:prstGeom xmlns:a="http://schemas.openxmlformats.org/drawingml/2006/main" prst="roundRect">
            <a:avLst>
              <a:gd name="adj" fmla="val 6349"/>
            </a:avLst>
          </a:prstGeom>
          <a:solidFill xmlns:a="http://schemas.openxmlformats.org/drawingml/2006/main">
            <a:srgbClr val="EAF0FF"/>
          </a:solidFill>
          <a:ln xmlns:a="http://schemas.openxmlformats.org/drawingml/2006/main" w="9525">
            <a:solidFill>
              <a:srgbClr val="4F7CFF"/>
            </a:solidFill>
            <a:prstDash val="solid"/>
          </a:ln>
        </p:spPr>
      </p:sp>
      <p:sp>
        <p:nvSpPr>
          <p:cNvPr id="35" name="">
            <a:extLst xmlns:a="http://schemas.openxmlformats.org/drawingml/2006/main">
              <a:ext uri="{FF2B5EF4-FFF2-40B4-BE49-F238E27FC236}">
                <a16:creationId xmlns:a16="http://schemas.microsoft.com/office/drawing/2014/main" id="{FFA03CE6-B075-4039-9538-F403D2D7B49D}"/>
              </a:ext>
            </a:extLst>
          </p:cNvPr>
          <p:cNvSpPr>
            <a:spLocks xmlns:a="http://schemas.openxmlformats.org/drawingml/2006/main" noGrp="1"/>
          </p:cNvSpPr>
          <p:nvPr/>
        </p:nvSpPr>
        <p:spPr>
          <a:xfrm xmlns:a="http://schemas.openxmlformats.org/drawingml/2006/main">
            <a:off x="8991600" y="2019300"/>
            <a:ext cx="1009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4F7CFF"/>
                </a:solidFill>
                <a:latin typeface="Aptos"/>
                <a:ea typeface="Aptos"/>
                <a:cs typeface="Aptos"/>
              </a:defRPr>
            </a:pPr>
            <a:r>
              <a:rPr sz="1275" b="1">
                <a:solidFill>
                  <a:srgbClr val="4F7CFF"/>
                </a:solidFill>
                <a:latin typeface="Aptos"/>
                <a:ea typeface="Aptos"/>
                <a:cs typeface="Aptos"/>
              </a:rPr>
              <a:t>CycloneDX</a:t>
            </a:r>
          </a:p>
        </p:txBody>
      </p:sp>
      <p:sp>
        <p:nvSpPr>
          <p:cNvPr id="36" name="">
            <a:extLst xmlns:a="http://schemas.openxmlformats.org/drawingml/2006/main">
              <a:ext uri="{FF2B5EF4-FFF2-40B4-BE49-F238E27FC236}">
                <a16:creationId xmlns:a16="http://schemas.microsoft.com/office/drawing/2014/main" id="{B4C6EA96-9670-4185-BD11-3C6F19EA75CB}"/>
              </a:ext>
            </a:extLst>
          </p:cNvPr>
          <p:cNvSpPr>
            <a:spLocks xmlns:a="http://schemas.openxmlformats.org/drawingml/2006/main" noGrp="1"/>
          </p:cNvSpPr>
          <p:nvPr/>
        </p:nvSpPr>
        <p:spPr>
          <a:xfrm xmlns:a="http://schemas.openxmlformats.org/drawingml/2006/main">
            <a:off x="8991600" y="2476500"/>
            <a:ext cx="1009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101827"/>
                </a:solidFill>
                <a:latin typeface="Aptos"/>
                <a:ea typeface="Aptos"/>
                <a:cs typeface="Aptos"/>
              </a:defRPr>
            </a:pPr>
            <a:r>
              <a:rPr sz="900" b="0">
                <a:solidFill>
                  <a:srgbClr val="101827"/>
                </a:solidFill>
                <a:latin typeface="Aptos"/>
                <a:ea typeface="Aptos"/>
                <a:cs typeface="Aptos"/>
              </a:rPr>
              <a:t>standard SBOM</a:t>
            </a:r>
          </a:p>
        </p:txBody>
      </p:sp>
      <p:sp>
        <p:nvSpPr>
          <p:cNvPr id="37" name="">
            <a:extLst xmlns:a="http://schemas.openxmlformats.org/drawingml/2006/main">
              <a:ext uri="{FF2B5EF4-FFF2-40B4-BE49-F238E27FC236}">
                <a16:creationId xmlns:a16="http://schemas.microsoft.com/office/drawing/2014/main" id="{971D9AC1-7FE3-4C22-9E51-9A4143FC506D}"/>
              </a:ext>
            </a:extLst>
          </p:cNvPr>
          <p:cNvSpPr>
            <a:spLocks xmlns:a="http://schemas.openxmlformats.org/drawingml/2006/main" noGrp="1"/>
          </p:cNvSpPr>
          <p:nvPr/>
        </p:nvSpPr>
        <p:spPr>
          <a:xfrm xmlns:a="http://schemas.openxmlformats.org/drawingml/2006/main">
            <a:off x="10248900" y="1809750"/>
            <a:ext cx="1200150" cy="1200150"/>
          </a:xfrm>
          <a:prstGeom xmlns:a="http://schemas.openxmlformats.org/drawingml/2006/main" prst="roundRect">
            <a:avLst>
              <a:gd name="adj" fmla="val 6349"/>
            </a:avLst>
          </a:prstGeom>
          <a:solidFill xmlns:a="http://schemas.openxmlformats.org/drawingml/2006/main">
            <a:srgbClr val="E4F7F4"/>
          </a:solidFill>
          <a:ln xmlns:a="http://schemas.openxmlformats.org/drawingml/2006/main" w="9525">
            <a:solidFill>
              <a:srgbClr val="24BFAE"/>
            </a:solidFill>
            <a:prstDash val="solid"/>
          </a:ln>
        </p:spPr>
      </p:sp>
      <p:sp>
        <p:nvSpPr>
          <p:cNvPr id="38" name="">
            <a:extLst xmlns:a="http://schemas.openxmlformats.org/drawingml/2006/main">
              <a:ext uri="{FF2B5EF4-FFF2-40B4-BE49-F238E27FC236}">
                <a16:creationId xmlns:a16="http://schemas.microsoft.com/office/drawing/2014/main" id="{95D07D5A-0B23-4740-8916-5710B4B4B831}"/>
              </a:ext>
            </a:extLst>
          </p:cNvPr>
          <p:cNvSpPr>
            <a:spLocks xmlns:a="http://schemas.openxmlformats.org/drawingml/2006/main" noGrp="1"/>
          </p:cNvSpPr>
          <p:nvPr/>
        </p:nvSpPr>
        <p:spPr>
          <a:xfrm xmlns:a="http://schemas.openxmlformats.org/drawingml/2006/main">
            <a:off x="10344150" y="2019300"/>
            <a:ext cx="1009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24BFAE"/>
                </a:solidFill>
                <a:latin typeface="Aptos"/>
                <a:ea typeface="Aptos"/>
                <a:cs typeface="Aptos"/>
              </a:defRPr>
            </a:pPr>
            <a:r>
              <a:rPr sz="1275" b="1">
                <a:solidFill>
                  <a:srgbClr val="24BFAE"/>
                </a:solidFill>
                <a:latin typeface="Aptos"/>
                <a:ea typeface="Aptos"/>
                <a:cs typeface="Aptos"/>
              </a:rPr>
              <a:t>Confidence</a:t>
            </a:r>
          </a:p>
        </p:txBody>
      </p:sp>
      <p:sp>
        <p:nvSpPr>
          <p:cNvPr id="39" name="">
            <a:extLst xmlns:a="http://schemas.openxmlformats.org/drawingml/2006/main">
              <a:ext uri="{FF2B5EF4-FFF2-40B4-BE49-F238E27FC236}">
                <a16:creationId xmlns:a16="http://schemas.microsoft.com/office/drawing/2014/main" id="{B1C1FBCF-27D2-4FC4-BCCF-B076A54A5B71}"/>
              </a:ext>
            </a:extLst>
          </p:cNvPr>
          <p:cNvSpPr>
            <a:spLocks xmlns:a="http://schemas.openxmlformats.org/drawingml/2006/main" noGrp="1"/>
          </p:cNvSpPr>
          <p:nvPr/>
        </p:nvSpPr>
        <p:spPr>
          <a:xfrm xmlns:a="http://schemas.openxmlformats.org/drawingml/2006/main">
            <a:off x="10344150" y="2476500"/>
            <a:ext cx="1009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101827"/>
                </a:solidFill>
                <a:latin typeface="Aptos"/>
                <a:ea typeface="Aptos"/>
                <a:cs typeface="Aptos"/>
              </a:defRPr>
            </a:pPr>
            <a:r>
              <a:rPr sz="900" b="0">
                <a:solidFill>
                  <a:srgbClr val="101827"/>
                </a:solidFill>
                <a:latin typeface="Aptos"/>
                <a:ea typeface="Aptos"/>
                <a:cs typeface="Aptos"/>
              </a:rPr>
              <a:t>identity + version</a:t>
            </a:r>
          </a:p>
        </p:txBody>
      </p:sp>
      <p:sp>
        <p:nvSpPr>
          <p:cNvPr id="40" name="">
            <a:extLst xmlns:a="http://schemas.openxmlformats.org/drawingml/2006/main">
              <a:ext uri="{FF2B5EF4-FFF2-40B4-BE49-F238E27FC236}">
                <a16:creationId xmlns:a16="http://schemas.microsoft.com/office/drawing/2014/main" id="{1CC551A2-CB07-4B47-8574-55FE22B68EA6}"/>
              </a:ext>
            </a:extLst>
          </p:cNvPr>
          <p:cNvSpPr>
            <a:spLocks xmlns:a="http://schemas.openxmlformats.org/drawingml/2006/main" noGrp="1"/>
          </p:cNvSpPr>
          <p:nvPr/>
        </p:nvSpPr>
        <p:spPr>
          <a:xfrm xmlns:a="http://schemas.openxmlformats.org/drawingml/2006/main">
            <a:off x="8896350" y="3238500"/>
            <a:ext cx="1200150" cy="1200150"/>
          </a:xfrm>
          <a:prstGeom xmlns:a="http://schemas.openxmlformats.org/drawingml/2006/main" prst="roundRect">
            <a:avLst>
              <a:gd name="adj" fmla="val 6349"/>
            </a:avLst>
          </a:prstGeom>
          <a:solidFill xmlns:a="http://schemas.openxmlformats.org/drawingml/2006/main">
            <a:srgbClr val="FBF1DC"/>
          </a:solidFill>
          <a:ln xmlns:a="http://schemas.openxmlformats.org/drawingml/2006/main" w="9525">
            <a:solidFill>
              <a:srgbClr val="E8AA3B"/>
            </a:solidFill>
            <a:prstDash val="solid"/>
          </a:ln>
        </p:spPr>
      </p:sp>
      <p:sp>
        <p:nvSpPr>
          <p:cNvPr id="41" name="">
            <a:extLst xmlns:a="http://schemas.openxmlformats.org/drawingml/2006/main">
              <a:ext uri="{FF2B5EF4-FFF2-40B4-BE49-F238E27FC236}">
                <a16:creationId xmlns:a16="http://schemas.microsoft.com/office/drawing/2014/main" id="{209A82E3-846F-4633-9C01-09E2A08C2B38}"/>
              </a:ext>
            </a:extLst>
          </p:cNvPr>
          <p:cNvSpPr>
            <a:spLocks xmlns:a="http://schemas.openxmlformats.org/drawingml/2006/main" noGrp="1"/>
          </p:cNvSpPr>
          <p:nvPr/>
        </p:nvSpPr>
        <p:spPr>
          <a:xfrm xmlns:a="http://schemas.openxmlformats.org/drawingml/2006/main">
            <a:off x="8991600" y="3448050"/>
            <a:ext cx="1009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E8AA3B"/>
                </a:solidFill>
                <a:latin typeface="Aptos"/>
                <a:ea typeface="Aptos"/>
                <a:cs typeface="Aptos"/>
              </a:defRPr>
            </a:pPr>
            <a:r>
              <a:rPr sz="1275" b="1">
                <a:solidFill>
                  <a:srgbClr val="E8AA3B"/>
                </a:solidFill>
                <a:latin typeface="Aptos"/>
                <a:ea typeface="Aptos"/>
                <a:cs typeface="Aptos"/>
              </a:rPr>
              <a:t>Ambiguity</a:t>
            </a:r>
          </a:p>
        </p:txBody>
      </p:sp>
      <p:sp>
        <p:nvSpPr>
          <p:cNvPr id="42" name="">
            <a:extLst xmlns:a="http://schemas.openxmlformats.org/drawingml/2006/main">
              <a:ext uri="{FF2B5EF4-FFF2-40B4-BE49-F238E27FC236}">
                <a16:creationId xmlns:a16="http://schemas.microsoft.com/office/drawing/2014/main" id="{F84F816F-37EA-4100-8EDD-634D6BF2109E}"/>
              </a:ext>
            </a:extLst>
          </p:cNvPr>
          <p:cNvSpPr>
            <a:spLocks xmlns:a="http://schemas.openxmlformats.org/drawingml/2006/main" noGrp="1"/>
          </p:cNvSpPr>
          <p:nvPr/>
        </p:nvSpPr>
        <p:spPr>
          <a:xfrm xmlns:a="http://schemas.openxmlformats.org/drawingml/2006/main">
            <a:off x="8991600" y="3905250"/>
            <a:ext cx="1009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101827"/>
                </a:solidFill>
                <a:latin typeface="Aptos"/>
                <a:ea typeface="Aptos"/>
                <a:cs typeface="Aptos"/>
              </a:defRPr>
            </a:pPr>
            <a:r>
              <a:rPr sz="900" b="0">
                <a:solidFill>
                  <a:srgbClr val="101827"/>
                </a:solidFill>
                <a:latin typeface="Aptos"/>
                <a:ea typeface="Aptos"/>
                <a:cs typeface="Aptos"/>
              </a:rPr>
              <a:t>near versions</a:t>
            </a:r>
          </a:p>
        </p:txBody>
      </p:sp>
      <p:sp>
        <p:nvSpPr>
          <p:cNvPr id="43" name="">
            <a:extLst xmlns:a="http://schemas.openxmlformats.org/drawingml/2006/main">
              <a:ext uri="{FF2B5EF4-FFF2-40B4-BE49-F238E27FC236}">
                <a16:creationId xmlns:a16="http://schemas.microsoft.com/office/drawing/2014/main" id="{71590942-4D47-4D65-93C8-32A6F1C664A3}"/>
              </a:ext>
            </a:extLst>
          </p:cNvPr>
          <p:cNvSpPr>
            <a:spLocks xmlns:a="http://schemas.openxmlformats.org/drawingml/2006/main" noGrp="1"/>
          </p:cNvSpPr>
          <p:nvPr/>
        </p:nvSpPr>
        <p:spPr>
          <a:xfrm xmlns:a="http://schemas.openxmlformats.org/drawingml/2006/main">
            <a:off x="10248900" y="3238500"/>
            <a:ext cx="1200150" cy="1200150"/>
          </a:xfrm>
          <a:prstGeom xmlns:a="http://schemas.openxmlformats.org/drawingml/2006/main" prst="roundRect">
            <a:avLst>
              <a:gd name="adj" fmla="val 6349"/>
            </a:avLst>
          </a:prstGeom>
          <a:solidFill xmlns:a="http://schemas.openxmlformats.org/drawingml/2006/main">
            <a:srgbClr val="FCE8E8"/>
          </a:solidFill>
          <a:ln xmlns:a="http://schemas.openxmlformats.org/drawingml/2006/main" w="9525">
            <a:solidFill>
              <a:srgbClr val="F06464"/>
            </a:solidFill>
            <a:prstDash val="solid"/>
          </a:ln>
        </p:spPr>
      </p:sp>
      <p:sp>
        <p:nvSpPr>
          <p:cNvPr id="44" name="">
            <a:extLst xmlns:a="http://schemas.openxmlformats.org/drawingml/2006/main">
              <a:ext uri="{FF2B5EF4-FFF2-40B4-BE49-F238E27FC236}">
                <a16:creationId xmlns:a16="http://schemas.microsoft.com/office/drawing/2014/main" id="{F01A3A6F-2FD5-4ED3-AC23-5FED96B672B4}"/>
              </a:ext>
            </a:extLst>
          </p:cNvPr>
          <p:cNvSpPr>
            <a:spLocks xmlns:a="http://schemas.openxmlformats.org/drawingml/2006/main" noGrp="1"/>
          </p:cNvSpPr>
          <p:nvPr/>
        </p:nvSpPr>
        <p:spPr>
          <a:xfrm xmlns:a="http://schemas.openxmlformats.org/drawingml/2006/main">
            <a:off x="10344150" y="3448050"/>
            <a:ext cx="1009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F06464"/>
                </a:solidFill>
                <a:latin typeface="Aptos"/>
                <a:ea typeface="Aptos"/>
                <a:cs typeface="Aptos"/>
              </a:defRPr>
            </a:pPr>
            <a:r>
              <a:rPr sz="1275" b="1">
                <a:solidFill>
                  <a:srgbClr val="F06464"/>
                </a:solidFill>
                <a:latin typeface="Aptos"/>
                <a:ea typeface="Aptos"/>
                <a:cs typeface="Aptos"/>
              </a:rPr>
              <a:t>OSV</a:t>
            </a:r>
          </a:p>
        </p:txBody>
      </p:sp>
      <p:sp>
        <p:nvSpPr>
          <p:cNvPr id="45" name="">
            <a:extLst xmlns:a="http://schemas.openxmlformats.org/drawingml/2006/main">
              <a:ext uri="{FF2B5EF4-FFF2-40B4-BE49-F238E27FC236}">
                <a16:creationId xmlns:a16="http://schemas.microsoft.com/office/drawing/2014/main" id="{E0254FBC-4594-42F5-86F0-A742A33267A6}"/>
              </a:ext>
            </a:extLst>
          </p:cNvPr>
          <p:cNvSpPr>
            <a:spLocks xmlns:a="http://schemas.openxmlformats.org/drawingml/2006/main" noGrp="1"/>
          </p:cNvSpPr>
          <p:nvPr/>
        </p:nvSpPr>
        <p:spPr>
          <a:xfrm xmlns:a="http://schemas.openxmlformats.org/drawingml/2006/main">
            <a:off x="10344150" y="3905250"/>
            <a:ext cx="1009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0">
                <a:solidFill>
                  <a:srgbClr val="101827"/>
                </a:solidFill>
                <a:latin typeface="Aptos"/>
                <a:ea typeface="Aptos"/>
                <a:cs typeface="Aptos"/>
              </a:defRPr>
            </a:pPr>
            <a:r>
              <a:rPr sz="900" b="0">
                <a:solidFill>
                  <a:srgbClr val="101827"/>
                </a:solidFill>
                <a:latin typeface="Aptos"/>
                <a:ea typeface="Aptos"/>
                <a:cs typeface="Aptos"/>
              </a:rPr>
              <a:t>CVE evidence</a:t>
            </a:r>
          </a:p>
        </p:txBody>
      </p:sp>
      <p:sp>
        <p:nvSpPr>
          <p:cNvPr id="46" name="">
            <a:extLst xmlns:a="http://schemas.openxmlformats.org/drawingml/2006/main">
              <a:ext uri="{FF2B5EF4-FFF2-40B4-BE49-F238E27FC236}">
                <a16:creationId xmlns:a16="http://schemas.microsoft.com/office/drawing/2014/main" id="{3FEE8C2E-6C45-4B0A-8363-2CED49651802}"/>
              </a:ext>
            </a:extLst>
          </p:cNvPr>
          <p:cNvSpPr>
            <a:spLocks xmlns:a="http://schemas.openxmlformats.org/drawingml/2006/main" noGrp="1"/>
          </p:cNvSpPr>
          <p:nvPr/>
        </p:nvSpPr>
        <p:spPr>
          <a:xfrm xmlns:a="http://schemas.openxmlformats.org/drawingml/2006/main">
            <a:off x="1352550" y="5353050"/>
            <a:ext cx="9486900" cy="59055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D2354D39-ECBA-42A0-A9B7-E8A0341C17D2}"/>
              </a:ext>
            </a:extLst>
          </p:cNvPr>
          <p:cNvSpPr>
            <a:spLocks xmlns:a="http://schemas.openxmlformats.org/drawingml/2006/main" noGrp="1"/>
          </p:cNvSpPr>
          <p:nvPr/>
        </p:nvSpPr>
        <p:spPr>
          <a:xfrm xmlns:a="http://schemas.openxmlformats.org/drawingml/2006/main">
            <a:off x="1657350" y="5534025"/>
            <a:ext cx="8877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FFFFFF"/>
                </a:solidFill>
                <a:latin typeface="Aptos"/>
                <a:ea typeface="Aptos"/>
                <a:cs typeface="Aptos"/>
              </a:defRPr>
            </a:pPr>
            <a:r>
              <a:rPr sz="1350" b="1">
                <a:solidFill>
                  <a:srgbClr val="FFFFFF"/>
                </a:solidFill>
                <a:latin typeface="Aptos"/>
                <a:ea typeface="Aptos"/>
                <a:cs typeface="Aptos"/>
              </a:rPr>
              <a:t>Policy: strong evidence produces strong claims; weak evidence stays uncertain or report-only.</a:t>
            </a:r>
          </a:p>
        </p:txBody>
      </p:sp>
      <p:sp>
        <p:nvSpPr>
          <p:cNvPr id="48" name="">
            <a:extLst xmlns:a="http://schemas.openxmlformats.org/drawingml/2006/main">
              <a:ext uri="{FF2B5EF4-FFF2-40B4-BE49-F238E27FC236}">
                <a16:creationId xmlns:a16="http://schemas.microsoft.com/office/drawing/2014/main" id="{4DF6F87D-D155-4586-8FC1-9C7BF610ED1A}"/>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2021940547"/>
      </p:ext>
    </p:extLst>
  </p:cSld>
</p:sld>
</file>

<file path=ppt/slides/slide5.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6B8F26D-6362-410D-8F5D-119A8D34C1C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BFCAAF8-7D35-4F6E-B13E-B3701FFA99F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85B8D30-AEC2-46D2-A987-39BC2D04D7C0}"/>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F7CFF"/>
                </a:solidFill>
                <a:latin typeface="Aptos"/>
                <a:ea typeface="Aptos"/>
                <a:cs typeface="Aptos"/>
              </a:defRPr>
            </a:pPr>
            <a:r>
              <a:rPr sz="900" b="1">
                <a:solidFill>
                  <a:srgbClr val="4F7CFF"/>
                </a:solidFill>
                <a:latin typeface="Aptos"/>
                <a:ea typeface="Aptos"/>
                <a:cs typeface="Aptos"/>
              </a:rPr>
              <a:t>ARCHITECTURE</a:t>
            </a:r>
          </a:p>
        </p:txBody>
      </p:sp>
      <p:sp>
        <p:nvSpPr>
          <p:cNvPr id="4" name="">
            <a:extLst xmlns:a="http://schemas.openxmlformats.org/drawingml/2006/main">
              <a:ext uri="{FF2B5EF4-FFF2-40B4-BE49-F238E27FC236}">
                <a16:creationId xmlns:a16="http://schemas.microsoft.com/office/drawing/2014/main" id="{6DBC5884-8C52-4372-9443-6A06FCEF509C}"/>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The MVP is an end-to-end static APK-to-SBOM system</a:t>
            </a:r>
          </a:p>
        </p:txBody>
      </p:sp>
      <p:sp>
        <p:nvSpPr>
          <p:cNvPr id="5" name="">
            <a:extLst xmlns:a="http://schemas.openxmlformats.org/drawingml/2006/main">
              <a:ext uri="{FF2B5EF4-FFF2-40B4-BE49-F238E27FC236}">
                <a16:creationId xmlns:a16="http://schemas.microsoft.com/office/drawing/2014/main" id="{0A4AD6FD-0397-4B33-8474-40CAF501C24C}"/>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05</a:t>
            </a:r>
          </a:p>
        </p:txBody>
      </p:sp>
      <p:sp>
        <p:nvSpPr>
          <p:cNvPr id="6" name="">
            <a:extLst xmlns:a="http://schemas.openxmlformats.org/drawingml/2006/main">
              <a:ext uri="{FF2B5EF4-FFF2-40B4-BE49-F238E27FC236}">
                <a16:creationId xmlns:a16="http://schemas.microsoft.com/office/drawing/2014/main" id="{814E587C-D35C-4A2A-9E48-46E9CDA911DA}"/>
              </a:ext>
            </a:extLst>
          </p:cNvPr>
          <p:cNvSpPr>
            <a:spLocks xmlns:a="http://schemas.openxmlformats.org/drawingml/2006/main" noGrp="1"/>
          </p:cNvSpPr>
          <p:nvPr/>
        </p:nvSpPr>
        <p:spPr>
          <a:xfrm xmlns:a="http://schemas.openxmlformats.org/drawingml/2006/main">
            <a:off x="1143000" y="1714500"/>
            <a:ext cx="514350" cy="514350"/>
          </a:xfrm>
          <a:prstGeom xmlns:a="http://schemas.openxmlformats.org/drawingml/2006/main" prst="ellipse">
            <a:avLst/>
          </a:prstGeom>
          <a:solidFill xmlns:a="http://schemas.openxmlformats.org/drawingml/2006/main">
            <a:srgbClr val="4F7C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A1AB1C8-7014-40B5-AFC9-43173B332DDE}"/>
              </a:ext>
            </a:extLst>
          </p:cNvPr>
          <p:cNvSpPr>
            <a:spLocks xmlns:a="http://schemas.openxmlformats.org/drawingml/2006/main" noGrp="1"/>
          </p:cNvSpPr>
          <p:nvPr/>
        </p:nvSpPr>
        <p:spPr>
          <a:xfrm xmlns:a="http://schemas.openxmlformats.org/drawingml/2006/main">
            <a:off x="1143000" y="1876425"/>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0B1220"/>
                </a:solidFill>
                <a:latin typeface="Aptos"/>
                <a:ea typeface="Aptos"/>
                <a:cs typeface="Aptos"/>
              </a:defRPr>
            </a:pPr>
            <a:r>
              <a:rPr sz="975" b="1">
                <a:solidFill>
                  <a:srgbClr val="0B1220"/>
                </a:solidFill>
                <a:latin typeface="Aptos"/>
                <a:ea typeface="Aptos"/>
                <a:cs typeface="Aptos"/>
              </a:rPr>
              <a:t>01</a:t>
            </a:r>
          </a:p>
        </p:txBody>
      </p:sp>
      <p:sp>
        <p:nvSpPr>
          <p:cNvPr id="8" name="rule">
            <a:extLst xmlns:a="http://schemas.openxmlformats.org/drawingml/2006/main">
              <a:ext uri="{FF2B5EF4-FFF2-40B4-BE49-F238E27FC236}">
                <a16:creationId xmlns:a16="http://schemas.microsoft.com/office/drawing/2014/main" id="{1C922B14-76DC-4522-926A-C337B5201338}"/>
              </a:ext>
            </a:extLst>
          </p:cNvPr>
          <p:cNvSpPr>
            <a:spLocks xmlns:a="http://schemas.openxmlformats.org/drawingml/2006/main" noGrp="1"/>
          </p:cNvSpPr>
          <p:nvPr/>
        </p:nvSpPr>
        <p:spPr>
          <a:xfrm xmlns:a="http://schemas.openxmlformats.org/drawingml/2006/main">
            <a:off x="1733550" y="1971675"/>
            <a:ext cx="514350" cy="19050"/>
          </a:xfrm>
          <a:prstGeom xmlns:a="http://schemas.openxmlformats.org/drawingml/2006/main" prst="rect">
            <a:avLst/>
          </a:prstGeom>
          <a:solidFill xmlns:a="http://schemas.openxmlformats.org/drawingml/2006/main">
            <a:srgbClr val="26344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42E12D1-6994-4C55-9172-21998449D60D}"/>
              </a:ext>
            </a:extLst>
          </p:cNvPr>
          <p:cNvSpPr>
            <a:spLocks xmlns:a="http://schemas.openxmlformats.org/drawingml/2006/main" noGrp="1"/>
          </p:cNvSpPr>
          <p:nvPr/>
        </p:nvSpPr>
        <p:spPr>
          <a:xfrm xmlns:a="http://schemas.openxmlformats.org/drawingml/2006/main">
            <a:off x="2171700" y="1885950"/>
            <a:ext cx="228600" cy="190500"/>
          </a:xfrm>
          <a:prstGeom xmlns:a="http://schemas.openxmlformats.org/drawingml/2006/main" prst="chevron">
            <a:avLst/>
          </a:prstGeom>
          <a:solidFill xmlns:a="http://schemas.openxmlformats.org/drawingml/2006/main">
            <a:srgbClr val="26344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F9AA51C-DD6E-403A-904C-F4625C9FA267}"/>
              </a:ext>
            </a:extLst>
          </p:cNvPr>
          <p:cNvSpPr>
            <a:spLocks xmlns:a="http://schemas.openxmlformats.org/drawingml/2006/main" noGrp="1"/>
          </p:cNvSpPr>
          <p:nvPr/>
        </p:nvSpPr>
        <p:spPr>
          <a:xfrm xmlns:a="http://schemas.openxmlformats.org/drawingml/2006/main">
            <a:off x="609600" y="2457450"/>
            <a:ext cx="1619250" cy="1695450"/>
          </a:xfrm>
          <a:prstGeom xmlns:a="http://schemas.openxmlformats.org/drawingml/2006/main" prst="roundRect">
            <a:avLst>
              <a:gd name="adj" fmla="val 4706"/>
            </a:avLst>
          </a:prstGeom>
          <a:solidFill xmlns:a="http://schemas.openxmlformats.org/drawingml/2006/main">
            <a:srgbClr val="111B2E"/>
          </a:solidFill>
          <a:ln xmlns:a="http://schemas.openxmlformats.org/drawingml/2006/main" w="9525">
            <a:solidFill>
              <a:srgbClr val="26344D"/>
            </a:solidFill>
            <a:prstDash val="solid"/>
          </a:ln>
        </p:spPr>
      </p:sp>
      <p:sp>
        <p:nvSpPr>
          <p:cNvPr id="11" name="">
            <a:extLst xmlns:a="http://schemas.openxmlformats.org/drawingml/2006/main">
              <a:ext uri="{FF2B5EF4-FFF2-40B4-BE49-F238E27FC236}">
                <a16:creationId xmlns:a16="http://schemas.microsoft.com/office/drawing/2014/main" id="{609A59F1-40EF-4655-BC95-37D458E861B6}"/>
              </a:ext>
            </a:extLst>
          </p:cNvPr>
          <p:cNvSpPr>
            <a:spLocks xmlns:a="http://schemas.openxmlformats.org/drawingml/2006/main" noGrp="1"/>
          </p:cNvSpPr>
          <p:nvPr/>
        </p:nvSpPr>
        <p:spPr>
          <a:xfrm xmlns:a="http://schemas.openxmlformats.org/drawingml/2006/main">
            <a:off x="781050" y="2667000"/>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FFFFFF"/>
                </a:solidFill>
                <a:latin typeface="Aptos"/>
                <a:ea typeface="Aptos"/>
                <a:cs typeface="Aptos"/>
              </a:defRPr>
            </a:pPr>
            <a:r>
              <a:rPr sz="1500" b="1">
                <a:solidFill>
                  <a:srgbClr val="FFFFFF"/>
                </a:solidFill>
                <a:latin typeface="Aptos"/>
                <a:ea typeface="Aptos"/>
                <a:cs typeface="Aptos"/>
              </a:rPr>
              <a:t>Extract</a:t>
            </a:r>
          </a:p>
        </p:txBody>
      </p:sp>
      <p:sp>
        <p:nvSpPr>
          <p:cNvPr id="12" name="">
            <a:extLst xmlns:a="http://schemas.openxmlformats.org/drawingml/2006/main">
              <a:ext uri="{FF2B5EF4-FFF2-40B4-BE49-F238E27FC236}">
                <a16:creationId xmlns:a16="http://schemas.microsoft.com/office/drawing/2014/main" id="{A01B0348-9432-4167-A299-C8DA864E41D7}"/>
              </a:ext>
            </a:extLst>
          </p:cNvPr>
          <p:cNvSpPr>
            <a:spLocks xmlns:a="http://schemas.openxmlformats.org/drawingml/2006/main" noGrp="1"/>
          </p:cNvSpPr>
          <p:nvPr/>
        </p:nvSpPr>
        <p:spPr>
          <a:xfrm xmlns:a="http://schemas.openxmlformats.org/drawingml/2006/main">
            <a:off x="781050" y="3143250"/>
            <a:ext cx="1276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ADB9CB"/>
                </a:solidFill>
                <a:latin typeface="Cascadia Mono"/>
                <a:ea typeface="Cascadia Mono"/>
                <a:cs typeface="Cascadia Mono"/>
              </a:defRPr>
            </a:pPr>
            <a:r>
              <a:rPr sz="1125" b="0">
                <a:solidFill>
                  <a:srgbClr val="ADB9CB"/>
                </a:solidFill>
                <a:latin typeface="Cascadia Mono"/>
                <a:ea typeface="Cascadia Mono"/>
                <a:cs typeface="Cascadia Mono"/>
              </a:rPr>
              <a:t>DEX</a:t>
            </a:r>
          </a:p>
          <a:p xmlns:a="http://schemas.openxmlformats.org/drawingml/2006/main">
            <a:pPr algn="l">
              <a:defRPr sz="1125" b="0">
                <a:solidFill>
                  <a:srgbClr val="ADB9CB"/>
                </a:solidFill>
                <a:latin typeface="Cascadia Mono"/>
                <a:ea typeface="Cascadia Mono"/>
                <a:cs typeface="Cascadia Mono"/>
              </a:defRPr>
            </a:pPr>
            <a:r>
              <a:rPr sz="1125" b="0">
                <a:solidFill>
                  <a:srgbClr val="ADB9CB"/>
                </a:solidFill>
                <a:latin typeface="Cascadia Mono"/>
                <a:ea typeface="Cascadia Mono"/>
                <a:cs typeface="Cascadia Mono"/>
              </a:rPr>
              <a:t>manifest</a:t>
            </a:r>
          </a:p>
          <a:p xmlns:a="http://schemas.openxmlformats.org/drawingml/2006/main">
            <a:pPr algn="l">
              <a:defRPr sz="1125" b="0">
                <a:solidFill>
                  <a:srgbClr val="ADB9CB"/>
                </a:solidFill>
                <a:latin typeface="Cascadia Mono"/>
                <a:ea typeface="Cascadia Mono"/>
                <a:cs typeface="Cascadia Mono"/>
              </a:defRPr>
            </a:pPr>
            <a:r>
              <a:rPr sz="1125" b="0">
                <a:solidFill>
                  <a:srgbClr val="ADB9CB"/>
                </a:solidFill>
                <a:latin typeface="Cascadia Mono"/>
                <a:ea typeface="Cascadia Mono"/>
                <a:cs typeface="Cascadia Mono"/>
              </a:rPr>
              <a:t>native</a:t>
            </a:r>
          </a:p>
        </p:txBody>
      </p:sp>
      <p:sp>
        <p:nvSpPr>
          <p:cNvPr id="13" name="">
            <a:extLst xmlns:a="http://schemas.openxmlformats.org/drawingml/2006/main">
              <a:ext uri="{FF2B5EF4-FFF2-40B4-BE49-F238E27FC236}">
                <a16:creationId xmlns:a16="http://schemas.microsoft.com/office/drawing/2014/main" id="{AD91BC73-7734-4558-A483-901093EDBEE5}"/>
              </a:ext>
            </a:extLst>
          </p:cNvPr>
          <p:cNvSpPr>
            <a:spLocks xmlns:a="http://schemas.openxmlformats.org/drawingml/2006/main" noGrp="1"/>
          </p:cNvSpPr>
          <p:nvPr/>
        </p:nvSpPr>
        <p:spPr>
          <a:xfrm xmlns:a="http://schemas.openxmlformats.org/drawingml/2006/main">
            <a:off x="609600" y="4057650"/>
            <a:ext cx="1619250" cy="95250"/>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7793274-AD4B-45C3-8C29-95F1FCB4997D}"/>
              </a:ext>
            </a:extLst>
          </p:cNvPr>
          <p:cNvSpPr>
            <a:spLocks xmlns:a="http://schemas.openxmlformats.org/drawingml/2006/main" noGrp="1"/>
          </p:cNvSpPr>
          <p:nvPr/>
        </p:nvSpPr>
        <p:spPr>
          <a:xfrm xmlns:a="http://schemas.openxmlformats.org/drawingml/2006/main">
            <a:off x="2990850" y="1714500"/>
            <a:ext cx="514350" cy="514350"/>
          </a:xfrm>
          <a:prstGeom xmlns:a="http://schemas.openxmlformats.org/drawingml/2006/main" prst="ellipse">
            <a:avLst/>
          </a:prstGeom>
          <a:solidFill xmlns:a="http://schemas.openxmlformats.org/drawingml/2006/main">
            <a:srgbClr val="806FE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3140F0A-39D8-4EC2-BDB5-ACCE5DA01CB8}"/>
              </a:ext>
            </a:extLst>
          </p:cNvPr>
          <p:cNvSpPr>
            <a:spLocks xmlns:a="http://schemas.openxmlformats.org/drawingml/2006/main" noGrp="1"/>
          </p:cNvSpPr>
          <p:nvPr/>
        </p:nvSpPr>
        <p:spPr>
          <a:xfrm xmlns:a="http://schemas.openxmlformats.org/drawingml/2006/main">
            <a:off x="2990850" y="1876425"/>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0B1220"/>
                </a:solidFill>
                <a:latin typeface="Aptos"/>
                <a:ea typeface="Aptos"/>
                <a:cs typeface="Aptos"/>
              </a:defRPr>
            </a:pPr>
            <a:r>
              <a:rPr sz="975" b="1">
                <a:solidFill>
                  <a:srgbClr val="0B1220"/>
                </a:solidFill>
                <a:latin typeface="Aptos"/>
                <a:ea typeface="Aptos"/>
                <a:cs typeface="Aptos"/>
              </a:rPr>
              <a:t>02</a:t>
            </a:r>
          </a:p>
        </p:txBody>
      </p:sp>
      <p:sp>
        <p:nvSpPr>
          <p:cNvPr id="16" name="rule">
            <a:extLst xmlns:a="http://schemas.openxmlformats.org/drawingml/2006/main">
              <a:ext uri="{FF2B5EF4-FFF2-40B4-BE49-F238E27FC236}">
                <a16:creationId xmlns:a16="http://schemas.microsoft.com/office/drawing/2014/main" id="{A0A7F029-6A4D-435D-9B71-58CBBE42767B}"/>
              </a:ext>
            </a:extLst>
          </p:cNvPr>
          <p:cNvSpPr>
            <a:spLocks xmlns:a="http://schemas.openxmlformats.org/drawingml/2006/main" noGrp="1"/>
          </p:cNvSpPr>
          <p:nvPr/>
        </p:nvSpPr>
        <p:spPr>
          <a:xfrm xmlns:a="http://schemas.openxmlformats.org/drawingml/2006/main">
            <a:off x="3581400" y="1971675"/>
            <a:ext cx="514350" cy="19050"/>
          </a:xfrm>
          <a:prstGeom xmlns:a="http://schemas.openxmlformats.org/drawingml/2006/main" prst="rect">
            <a:avLst/>
          </a:prstGeom>
          <a:solidFill xmlns:a="http://schemas.openxmlformats.org/drawingml/2006/main">
            <a:srgbClr val="26344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A022C6B-0352-4D74-A259-E09CA7579266}"/>
              </a:ext>
            </a:extLst>
          </p:cNvPr>
          <p:cNvSpPr>
            <a:spLocks xmlns:a="http://schemas.openxmlformats.org/drawingml/2006/main" noGrp="1"/>
          </p:cNvSpPr>
          <p:nvPr/>
        </p:nvSpPr>
        <p:spPr>
          <a:xfrm xmlns:a="http://schemas.openxmlformats.org/drawingml/2006/main">
            <a:off x="4019550" y="1885950"/>
            <a:ext cx="228600" cy="190500"/>
          </a:xfrm>
          <a:prstGeom xmlns:a="http://schemas.openxmlformats.org/drawingml/2006/main" prst="chevron">
            <a:avLst/>
          </a:prstGeom>
          <a:solidFill xmlns:a="http://schemas.openxmlformats.org/drawingml/2006/main">
            <a:srgbClr val="26344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DF13FF8-8ED3-4B41-B9D7-0621B8F1A65D}"/>
              </a:ext>
            </a:extLst>
          </p:cNvPr>
          <p:cNvSpPr>
            <a:spLocks xmlns:a="http://schemas.openxmlformats.org/drawingml/2006/main" noGrp="1"/>
          </p:cNvSpPr>
          <p:nvPr/>
        </p:nvSpPr>
        <p:spPr>
          <a:xfrm xmlns:a="http://schemas.openxmlformats.org/drawingml/2006/main">
            <a:off x="2457450" y="2457450"/>
            <a:ext cx="1619250" cy="1695450"/>
          </a:xfrm>
          <a:prstGeom xmlns:a="http://schemas.openxmlformats.org/drawingml/2006/main" prst="roundRect">
            <a:avLst>
              <a:gd name="adj" fmla="val 4706"/>
            </a:avLst>
          </a:prstGeom>
          <a:solidFill xmlns:a="http://schemas.openxmlformats.org/drawingml/2006/main">
            <a:srgbClr val="111B2E"/>
          </a:solidFill>
          <a:ln xmlns:a="http://schemas.openxmlformats.org/drawingml/2006/main" w="9525">
            <a:solidFill>
              <a:srgbClr val="26344D"/>
            </a:solidFill>
            <a:prstDash val="solid"/>
          </a:ln>
        </p:spPr>
      </p:sp>
      <p:sp>
        <p:nvSpPr>
          <p:cNvPr id="19" name="">
            <a:extLst xmlns:a="http://schemas.openxmlformats.org/drawingml/2006/main">
              <a:ext uri="{FF2B5EF4-FFF2-40B4-BE49-F238E27FC236}">
                <a16:creationId xmlns:a16="http://schemas.microsoft.com/office/drawing/2014/main" id="{DA69DFCB-B41B-477A-B88A-6E20681D975F}"/>
              </a:ext>
            </a:extLst>
          </p:cNvPr>
          <p:cNvSpPr>
            <a:spLocks xmlns:a="http://schemas.openxmlformats.org/drawingml/2006/main" noGrp="1"/>
          </p:cNvSpPr>
          <p:nvPr/>
        </p:nvSpPr>
        <p:spPr>
          <a:xfrm xmlns:a="http://schemas.openxmlformats.org/drawingml/2006/main">
            <a:off x="2628900" y="2667000"/>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FFFFFF"/>
                </a:solidFill>
                <a:latin typeface="Aptos"/>
                <a:ea typeface="Aptos"/>
                <a:cs typeface="Aptos"/>
              </a:defRPr>
            </a:pPr>
            <a:r>
              <a:rPr sz="1500" b="1">
                <a:solidFill>
                  <a:srgbClr val="FFFFFF"/>
                </a:solidFill>
                <a:latin typeface="Aptos"/>
                <a:ea typeface="Aptos"/>
                <a:cs typeface="Aptos"/>
              </a:rPr>
              <a:t>Fingerprint</a:t>
            </a:r>
          </a:p>
        </p:txBody>
      </p:sp>
      <p:sp>
        <p:nvSpPr>
          <p:cNvPr id="20" name="">
            <a:extLst xmlns:a="http://schemas.openxmlformats.org/drawingml/2006/main">
              <a:ext uri="{FF2B5EF4-FFF2-40B4-BE49-F238E27FC236}">
                <a16:creationId xmlns:a16="http://schemas.microsoft.com/office/drawing/2014/main" id="{44690FCB-4430-42BF-9C8E-3DCC6C18238B}"/>
              </a:ext>
            </a:extLst>
          </p:cNvPr>
          <p:cNvSpPr>
            <a:spLocks xmlns:a="http://schemas.openxmlformats.org/drawingml/2006/main" noGrp="1"/>
          </p:cNvSpPr>
          <p:nvPr/>
        </p:nvSpPr>
        <p:spPr>
          <a:xfrm xmlns:a="http://schemas.openxmlformats.org/drawingml/2006/main">
            <a:off x="2628900" y="3143250"/>
            <a:ext cx="1276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ADB9CB"/>
                </a:solidFill>
                <a:latin typeface="Cascadia Mono"/>
                <a:ea typeface="Cascadia Mono"/>
                <a:cs typeface="Cascadia Mono"/>
              </a:defRPr>
            </a:pPr>
            <a:r>
              <a:rPr sz="1125" b="0">
                <a:solidFill>
                  <a:srgbClr val="ADB9CB"/>
                </a:solidFill>
                <a:latin typeface="Cascadia Mono"/>
                <a:ea typeface="Cascadia Mono"/>
                <a:cs typeface="Cascadia Mono"/>
              </a:rPr>
              <a:t>classes</a:t>
            </a:r>
          </a:p>
          <a:p xmlns:a="http://schemas.openxmlformats.org/drawingml/2006/main">
            <a:pPr algn="l">
              <a:defRPr sz="1125" b="0">
                <a:solidFill>
                  <a:srgbClr val="ADB9CB"/>
                </a:solidFill>
                <a:latin typeface="Cascadia Mono"/>
                <a:ea typeface="Cascadia Mono"/>
                <a:cs typeface="Cascadia Mono"/>
              </a:defRPr>
            </a:pPr>
            <a:r>
              <a:rPr sz="1125" b="0">
                <a:solidFill>
                  <a:srgbClr val="ADB9CB"/>
                </a:solidFill>
                <a:latin typeface="Cascadia Mono"/>
                <a:ea typeface="Cascadia Mono"/>
                <a:cs typeface="Cascadia Mono"/>
              </a:rPr>
              <a:t>methods</a:t>
            </a:r>
          </a:p>
          <a:p xmlns:a="http://schemas.openxmlformats.org/drawingml/2006/main">
            <a:pPr algn="l">
              <a:defRPr sz="1125" b="0">
                <a:solidFill>
                  <a:srgbClr val="ADB9CB"/>
                </a:solidFill>
                <a:latin typeface="Cascadia Mono"/>
                <a:ea typeface="Cascadia Mono"/>
                <a:cs typeface="Cascadia Mono"/>
              </a:defRPr>
            </a:pPr>
            <a:r>
              <a:rPr sz="1125" b="0">
                <a:solidFill>
                  <a:srgbClr val="ADB9CB"/>
                </a:solidFill>
                <a:latin typeface="Cascadia Mono"/>
                <a:ea typeface="Cascadia Mono"/>
                <a:cs typeface="Cascadia Mono"/>
              </a:rPr>
              <a:t>opcodes</a:t>
            </a:r>
          </a:p>
        </p:txBody>
      </p:sp>
      <p:sp>
        <p:nvSpPr>
          <p:cNvPr id="21" name="">
            <a:extLst xmlns:a="http://schemas.openxmlformats.org/drawingml/2006/main">
              <a:ext uri="{FF2B5EF4-FFF2-40B4-BE49-F238E27FC236}">
                <a16:creationId xmlns:a16="http://schemas.microsoft.com/office/drawing/2014/main" id="{EEE08562-A150-49EA-A2B4-688F4AF422B3}"/>
              </a:ext>
            </a:extLst>
          </p:cNvPr>
          <p:cNvSpPr>
            <a:spLocks xmlns:a="http://schemas.openxmlformats.org/drawingml/2006/main" noGrp="1"/>
          </p:cNvSpPr>
          <p:nvPr/>
        </p:nvSpPr>
        <p:spPr>
          <a:xfrm xmlns:a="http://schemas.openxmlformats.org/drawingml/2006/main">
            <a:off x="2457450" y="4057650"/>
            <a:ext cx="1619250" cy="95250"/>
          </a:xfrm>
          <a:prstGeom xmlns:a="http://schemas.openxmlformats.org/drawingml/2006/main" prst="rect">
            <a:avLst/>
          </a:prstGeom>
          <a:solidFill xmlns:a="http://schemas.openxmlformats.org/drawingml/2006/main">
            <a:srgbClr val="806FE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655F3C2-CC13-42AF-8C7B-58DEC73A8BAD}"/>
              </a:ext>
            </a:extLst>
          </p:cNvPr>
          <p:cNvSpPr>
            <a:spLocks xmlns:a="http://schemas.openxmlformats.org/drawingml/2006/main" noGrp="1"/>
          </p:cNvSpPr>
          <p:nvPr/>
        </p:nvSpPr>
        <p:spPr>
          <a:xfrm xmlns:a="http://schemas.openxmlformats.org/drawingml/2006/main">
            <a:off x="4838700" y="1714500"/>
            <a:ext cx="514350" cy="514350"/>
          </a:xfrm>
          <a:prstGeom xmlns:a="http://schemas.openxmlformats.org/drawingml/2006/main" prst="ellipse">
            <a:avLst/>
          </a:prstGeom>
          <a:solidFill xmlns:a="http://schemas.openxmlformats.org/drawingml/2006/main">
            <a:srgbClr val="24BFAE"/>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F5AE78A-74CA-43AC-9DD9-B2B6322849A5}"/>
              </a:ext>
            </a:extLst>
          </p:cNvPr>
          <p:cNvSpPr>
            <a:spLocks xmlns:a="http://schemas.openxmlformats.org/drawingml/2006/main" noGrp="1"/>
          </p:cNvSpPr>
          <p:nvPr/>
        </p:nvSpPr>
        <p:spPr>
          <a:xfrm xmlns:a="http://schemas.openxmlformats.org/drawingml/2006/main">
            <a:off x="4838700" y="1876425"/>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0B1220"/>
                </a:solidFill>
                <a:latin typeface="Aptos"/>
                <a:ea typeface="Aptos"/>
                <a:cs typeface="Aptos"/>
              </a:defRPr>
            </a:pPr>
            <a:r>
              <a:rPr sz="975" b="1">
                <a:solidFill>
                  <a:srgbClr val="0B1220"/>
                </a:solidFill>
                <a:latin typeface="Aptos"/>
                <a:ea typeface="Aptos"/>
                <a:cs typeface="Aptos"/>
              </a:rPr>
              <a:t>03</a:t>
            </a:r>
          </a:p>
        </p:txBody>
      </p:sp>
      <p:sp>
        <p:nvSpPr>
          <p:cNvPr id="24" name="rule">
            <a:extLst xmlns:a="http://schemas.openxmlformats.org/drawingml/2006/main">
              <a:ext uri="{FF2B5EF4-FFF2-40B4-BE49-F238E27FC236}">
                <a16:creationId xmlns:a16="http://schemas.microsoft.com/office/drawing/2014/main" id="{72654CE0-6733-4E4C-8444-B7542CD0EB8F}"/>
              </a:ext>
            </a:extLst>
          </p:cNvPr>
          <p:cNvSpPr>
            <a:spLocks xmlns:a="http://schemas.openxmlformats.org/drawingml/2006/main" noGrp="1"/>
          </p:cNvSpPr>
          <p:nvPr/>
        </p:nvSpPr>
        <p:spPr>
          <a:xfrm xmlns:a="http://schemas.openxmlformats.org/drawingml/2006/main">
            <a:off x="5429250" y="1971675"/>
            <a:ext cx="514350" cy="19050"/>
          </a:xfrm>
          <a:prstGeom xmlns:a="http://schemas.openxmlformats.org/drawingml/2006/main" prst="rect">
            <a:avLst/>
          </a:prstGeom>
          <a:solidFill xmlns:a="http://schemas.openxmlformats.org/drawingml/2006/main">
            <a:srgbClr val="26344D"/>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9FF3B68F-34E6-49E0-9125-970D565AA647}"/>
              </a:ext>
            </a:extLst>
          </p:cNvPr>
          <p:cNvSpPr>
            <a:spLocks xmlns:a="http://schemas.openxmlformats.org/drawingml/2006/main" noGrp="1"/>
          </p:cNvSpPr>
          <p:nvPr/>
        </p:nvSpPr>
        <p:spPr>
          <a:xfrm xmlns:a="http://schemas.openxmlformats.org/drawingml/2006/main">
            <a:off x="5867400" y="1885950"/>
            <a:ext cx="228600" cy="190500"/>
          </a:xfrm>
          <a:prstGeom xmlns:a="http://schemas.openxmlformats.org/drawingml/2006/main" prst="chevron">
            <a:avLst/>
          </a:prstGeom>
          <a:solidFill xmlns:a="http://schemas.openxmlformats.org/drawingml/2006/main">
            <a:srgbClr val="26344D"/>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1FAEEBC-AA9D-47DC-A93F-6460B3591A02}"/>
              </a:ext>
            </a:extLst>
          </p:cNvPr>
          <p:cNvSpPr>
            <a:spLocks xmlns:a="http://schemas.openxmlformats.org/drawingml/2006/main" noGrp="1"/>
          </p:cNvSpPr>
          <p:nvPr/>
        </p:nvSpPr>
        <p:spPr>
          <a:xfrm xmlns:a="http://schemas.openxmlformats.org/drawingml/2006/main">
            <a:off x="4305300" y="2457450"/>
            <a:ext cx="1619250" cy="1695450"/>
          </a:xfrm>
          <a:prstGeom xmlns:a="http://schemas.openxmlformats.org/drawingml/2006/main" prst="roundRect">
            <a:avLst>
              <a:gd name="adj" fmla="val 4706"/>
            </a:avLst>
          </a:prstGeom>
          <a:solidFill xmlns:a="http://schemas.openxmlformats.org/drawingml/2006/main">
            <a:srgbClr val="111B2E"/>
          </a:solidFill>
          <a:ln xmlns:a="http://schemas.openxmlformats.org/drawingml/2006/main" w="9525">
            <a:solidFill>
              <a:srgbClr val="26344D"/>
            </a:solidFill>
            <a:prstDash val="solid"/>
          </a:ln>
        </p:spPr>
      </p:sp>
      <p:sp>
        <p:nvSpPr>
          <p:cNvPr id="27" name="">
            <a:extLst xmlns:a="http://schemas.openxmlformats.org/drawingml/2006/main">
              <a:ext uri="{FF2B5EF4-FFF2-40B4-BE49-F238E27FC236}">
                <a16:creationId xmlns:a16="http://schemas.microsoft.com/office/drawing/2014/main" id="{70726C14-BEA1-4F9B-8428-D52009191174}"/>
              </a:ext>
            </a:extLst>
          </p:cNvPr>
          <p:cNvSpPr>
            <a:spLocks xmlns:a="http://schemas.openxmlformats.org/drawingml/2006/main" noGrp="1"/>
          </p:cNvSpPr>
          <p:nvPr/>
        </p:nvSpPr>
        <p:spPr>
          <a:xfrm xmlns:a="http://schemas.openxmlformats.org/drawingml/2006/main">
            <a:off x="4476750" y="2667000"/>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FFFFFF"/>
                </a:solidFill>
                <a:latin typeface="Aptos"/>
                <a:ea typeface="Aptos"/>
                <a:cs typeface="Aptos"/>
              </a:defRPr>
            </a:pPr>
            <a:r>
              <a:rPr sz="1500" b="1">
                <a:solidFill>
                  <a:srgbClr val="FFFFFF"/>
                </a:solidFill>
                <a:latin typeface="Aptos"/>
                <a:ea typeface="Aptos"/>
                <a:cs typeface="Aptos"/>
              </a:rPr>
              <a:t>Retrieve</a:t>
            </a:r>
          </a:p>
        </p:txBody>
      </p:sp>
      <p:sp>
        <p:nvSpPr>
          <p:cNvPr id="28" name="">
            <a:extLst xmlns:a="http://schemas.openxmlformats.org/drawingml/2006/main">
              <a:ext uri="{FF2B5EF4-FFF2-40B4-BE49-F238E27FC236}">
                <a16:creationId xmlns:a16="http://schemas.microsoft.com/office/drawing/2014/main" id="{902294BF-23DD-4BC2-9761-967A1FAC41B8}"/>
              </a:ext>
            </a:extLst>
          </p:cNvPr>
          <p:cNvSpPr>
            <a:spLocks xmlns:a="http://schemas.openxmlformats.org/drawingml/2006/main" noGrp="1"/>
          </p:cNvSpPr>
          <p:nvPr/>
        </p:nvSpPr>
        <p:spPr>
          <a:xfrm xmlns:a="http://schemas.openxmlformats.org/drawingml/2006/main">
            <a:off x="4476750" y="3143250"/>
            <a:ext cx="1276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ADB9CB"/>
                </a:solidFill>
                <a:latin typeface="Cascadia Mono"/>
                <a:ea typeface="Cascadia Mono"/>
                <a:cs typeface="Cascadia Mono"/>
              </a:defRPr>
            </a:pPr>
            <a:r>
              <a:rPr sz="1125" b="0">
                <a:solidFill>
                  <a:srgbClr val="ADB9CB"/>
                </a:solidFill>
                <a:latin typeface="Cascadia Mono"/>
                <a:ea typeface="Cascadia Mono"/>
                <a:cs typeface="Cascadia Mono"/>
              </a:rPr>
              <a:t>Maven</a:t>
            </a:r>
          </a:p>
          <a:p xmlns:a="http://schemas.openxmlformats.org/drawingml/2006/main">
            <a:pPr algn="l">
              <a:defRPr sz="1125" b="0">
                <a:solidFill>
                  <a:srgbClr val="ADB9CB"/>
                </a:solidFill>
                <a:latin typeface="Cascadia Mono"/>
                <a:ea typeface="Cascadia Mono"/>
                <a:cs typeface="Cascadia Mono"/>
              </a:defRPr>
            </a:pPr>
            <a:r>
              <a:rPr sz="1125" b="0">
                <a:solidFill>
                  <a:srgbClr val="ADB9CB"/>
                </a:solidFill>
                <a:latin typeface="Cascadia Mono"/>
                <a:ea typeface="Cascadia Mono"/>
                <a:cs typeface="Cascadia Mono"/>
              </a:rPr>
              <a:t>candidates</a:t>
            </a:r>
          </a:p>
        </p:txBody>
      </p:sp>
      <p:sp>
        <p:nvSpPr>
          <p:cNvPr id="29" name="">
            <a:extLst xmlns:a="http://schemas.openxmlformats.org/drawingml/2006/main">
              <a:ext uri="{FF2B5EF4-FFF2-40B4-BE49-F238E27FC236}">
                <a16:creationId xmlns:a16="http://schemas.microsoft.com/office/drawing/2014/main" id="{01528B16-F410-4F31-BCB6-D6E473C0F2BC}"/>
              </a:ext>
            </a:extLst>
          </p:cNvPr>
          <p:cNvSpPr>
            <a:spLocks xmlns:a="http://schemas.openxmlformats.org/drawingml/2006/main" noGrp="1"/>
          </p:cNvSpPr>
          <p:nvPr/>
        </p:nvSpPr>
        <p:spPr>
          <a:xfrm xmlns:a="http://schemas.openxmlformats.org/drawingml/2006/main">
            <a:off x="4305300" y="4057650"/>
            <a:ext cx="1619250" cy="95250"/>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8AA02A56-DB15-48A8-81B3-F19BB763D8C1}"/>
              </a:ext>
            </a:extLst>
          </p:cNvPr>
          <p:cNvSpPr>
            <a:spLocks xmlns:a="http://schemas.openxmlformats.org/drawingml/2006/main" noGrp="1"/>
          </p:cNvSpPr>
          <p:nvPr/>
        </p:nvSpPr>
        <p:spPr>
          <a:xfrm xmlns:a="http://schemas.openxmlformats.org/drawingml/2006/main">
            <a:off x="6686550" y="1714500"/>
            <a:ext cx="514350" cy="514350"/>
          </a:xfrm>
          <a:prstGeom xmlns:a="http://schemas.openxmlformats.org/drawingml/2006/main" prst="ellipse">
            <a:avLst/>
          </a:prstGeom>
          <a:solidFill xmlns:a="http://schemas.openxmlformats.org/drawingml/2006/main">
            <a:srgbClr val="9DCC3B"/>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574C38CC-F888-4761-ADEF-13BCAFA90495}"/>
              </a:ext>
            </a:extLst>
          </p:cNvPr>
          <p:cNvSpPr>
            <a:spLocks xmlns:a="http://schemas.openxmlformats.org/drawingml/2006/main" noGrp="1"/>
          </p:cNvSpPr>
          <p:nvPr/>
        </p:nvSpPr>
        <p:spPr>
          <a:xfrm xmlns:a="http://schemas.openxmlformats.org/drawingml/2006/main">
            <a:off x="6686550" y="1876425"/>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0B1220"/>
                </a:solidFill>
                <a:latin typeface="Aptos"/>
                <a:ea typeface="Aptos"/>
                <a:cs typeface="Aptos"/>
              </a:defRPr>
            </a:pPr>
            <a:r>
              <a:rPr sz="975" b="1">
                <a:solidFill>
                  <a:srgbClr val="0B1220"/>
                </a:solidFill>
                <a:latin typeface="Aptos"/>
                <a:ea typeface="Aptos"/>
                <a:cs typeface="Aptos"/>
              </a:rPr>
              <a:t>04</a:t>
            </a:r>
          </a:p>
        </p:txBody>
      </p:sp>
      <p:sp>
        <p:nvSpPr>
          <p:cNvPr id="32" name="rule">
            <a:extLst xmlns:a="http://schemas.openxmlformats.org/drawingml/2006/main">
              <a:ext uri="{FF2B5EF4-FFF2-40B4-BE49-F238E27FC236}">
                <a16:creationId xmlns:a16="http://schemas.microsoft.com/office/drawing/2014/main" id="{9FA34722-1BF8-42B1-BDB8-E14E169C2ADE}"/>
              </a:ext>
            </a:extLst>
          </p:cNvPr>
          <p:cNvSpPr>
            <a:spLocks xmlns:a="http://schemas.openxmlformats.org/drawingml/2006/main" noGrp="1"/>
          </p:cNvSpPr>
          <p:nvPr/>
        </p:nvSpPr>
        <p:spPr>
          <a:xfrm xmlns:a="http://schemas.openxmlformats.org/drawingml/2006/main">
            <a:off x="7277100" y="1971675"/>
            <a:ext cx="514350" cy="19050"/>
          </a:xfrm>
          <a:prstGeom xmlns:a="http://schemas.openxmlformats.org/drawingml/2006/main" prst="rect">
            <a:avLst/>
          </a:prstGeom>
          <a:solidFill xmlns:a="http://schemas.openxmlformats.org/drawingml/2006/main">
            <a:srgbClr val="26344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B925336E-8967-4C21-9FA1-379F1011402E}"/>
              </a:ext>
            </a:extLst>
          </p:cNvPr>
          <p:cNvSpPr>
            <a:spLocks xmlns:a="http://schemas.openxmlformats.org/drawingml/2006/main" noGrp="1"/>
          </p:cNvSpPr>
          <p:nvPr/>
        </p:nvSpPr>
        <p:spPr>
          <a:xfrm xmlns:a="http://schemas.openxmlformats.org/drawingml/2006/main">
            <a:off x="7715250" y="1885950"/>
            <a:ext cx="228600" cy="190500"/>
          </a:xfrm>
          <a:prstGeom xmlns:a="http://schemas.openxmlformats.org/drawingml/2006/main" prst="chevron">
            <a:avLst/>
          </a:prstGeom>
          <a:solidFill xmlns:a="http://schemas.openxmlformats.org/drawingml/2006/main">
            <a:srgbClr val="26344D"/>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11FE108F-2738-48C1-805B-DDB0A969A781}"/>
              </a:ext>
            </a:extLst>
          </p:cNvPr>
          <p:cNvSpPr>
            <a:spLocks xmlns:a="http://schemas.openxmlformats.org/drawingml/2006/main" noGrp="1"/>
          </p:cNvSpPr>
          <p:nvPr/>
        </p:nvSpPr>
        <p:spPr>
          <a:xfrm xmlns:a="http://schemas.openxmlformats.org/drawingml/2006/main">
            <a:off x="6153150" y="2457450"/>
            <a:ext cx="1619250" cy="1695450"/>
          </a:xfrm>
          <a:prstGeom xmlns:a="http://schemas.openxmlformats.org/drawingml/2006/main" prst="roundRect">
            <a:avLst>
              <a:gd name="adj" fmla="val 4706"/>
            </a:avLst>
          </a:prstGeom>
          <a:solidFill xmlns:a="http://schemas.openxmlformats.org/drawingml/2006/main">
            <a:srgbClr val="111B2E"/>
          </a:solidFill>
          <a:ln xmlns:a="http://schemas.openxmlformats.org/drawingml/2006/main" w="9525">
            <a:solidFill>
              <a:srgbClr val="26344D"/>
            </a:solidFill>
            <a:prstDash val="solid"/>
          </a:ln>
        </p:spPr>
      </p:sp>
      <p:sp>
        <p:nvSpPr>
          <p:cNvPr id="35" name="">
            <a:extLst xmlns:a="http://schemas.openxmlformats.org/drawingml/2006/main">
              <a:ext uri="{FF2B5EF4-FFF2-40B4-BE49-F238E27FC236}">
                <a16:creationId xmlns:a16="http://schemas.microsoft.com/office/drawing/2014/main" id="{0B80CAA1-BBF8-4878-B827-97FBCB1D2A78}"/>
              </a:ext>
            </a:extLst>
          </p:cNvPr>
          <p:cNvSpPr>
            <a:spLocks xmlns:a="http://schemas.openxmlformats.org/drawingml/2006/main" noGrp="1"/>
          </p:cNvSpPr>
          <p:nvPr/>
        </p:nvSpPr>
        <p:spPr>
          <a:xfrm xmlns:a="http://schemas.openxmlformats.org/drawingml/2006/main">
            <a:off x="6324600" y="2667000"/>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FFFFFF"/>
                </a:solidFill>
                <a:latin typeface="Aptos"/>
                <a:ea typeface="Aptos"/>
                <a:cs typeface="Aptos"/>
              </a:defRPr>
            </a:pPr>
            <a:r>
              <a:rPr sz="1500" b="1">
                <a:solidFill>
                  <a:srgbClr val="FFFFFF"/>
                </a:solidFill>
                <a:latin typeface="Aptos"/>
                <a:ea typeface="Aptos"/>
                <a:cs typeface="Aptos"/>
              </a:rPr>
              <a:t>Match</a:t>
            </a:r>
          </a:p>
        </p:txBody>
      </p:sp>
      <p:sp>
        <p:nvSpPr>
          <p:cNvPr id="36" name="">
            <a:extLst xmlns:a="http://schemas.openxmlformats.org/drawingml/2006/main">
              <a:ext uri="{FF2B5EF4-FFF2-40B4-BE49-F238E27FC236}">
                <a16:creationId xmlns:a16="http://schemas.microsoft.com/office/drawing/2014/main" id="{02D24BA5-485D-4DAF-A19A-AD1707AEB1C8}"/>
              </a:ext>
            </a:extLst>
          </p:cNvPr>
          <p:cNvSpPr>
            <a:spLocks xmlns:a="http://schemas.openxmlformats.org/drawingml/2006/main" noGrp="1"/>
          </p:cNvSpPr>
          <p:nvPr/>
        </p:nvSpPr>
        <p:spPr>
          <a:xfrm xmlns:a="http://schemas.openxmlformats.org/drawingml/2006/main">
            <a:off x="6324600" y="3143250"/>
            <a:ext cx="1276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ADB9CB"/>
                </a:solidFill>
                <a:latin typeface="Cascadia Mono"/>
                <a:ea typeface="Cascadia Mono"/>
                <a:cs typeface="Cascadia Mono"/>
              </a:defRPr>
            </a:pPr>
            <a:r>
              <a:rPr sz="1125" b="0">
                <a:solidFill>
                  <a:srgbClr val="ADB9CB"/>
                </a:solidFill>
                <a:latin typeface="Cascadia Mono"/>
                <a:ea typeface="Cascadia Mono"/>
                <a:cs typeface="Cascadia Mono"/>
              </a:rPr>
              <a:t>multi-scale</a:t>
            </a:r>
          </a:p>
          <a:p xmlns:a="http://schemas.openxmlformats.org/drawingml/2006/main">
            <a:pPr algn="l">
              <a:defRPr sz="1125" b="0">
                <a:solidFill>
                  <a:srgbClr val="ADB9CB"/>
                </a:solidFill>
                <a:latin typeface="Cascadia Mono"/>
                <a:ea typeface="Cascadia Mono"/>
                <a:cs typeface="Cascadia Mono"/>
              </a:defRPr>
            </a:pPr>
            <a:r>
              <a:rPr sz="1125" b="0">
                <a:solidFill>
                  <a:srgbClr val="ADB9CB"/>
                </a:solidFill>
                <a:latin typeface="Cascadia Mono"/>
                <a:ea typeface="Cascadia Mono"/>
                <a:cs typeface="Cascadia Mono"/>
              </a:rPr>
              <a:t>scoring</a:t>
            </a:r>
          </a:p>
        </p:txBody>
      </p:sp>
      <p:sp>
        <p:nvSpPr>
          <p:cNvPr id="37" name="">
            <a:extLst xmlns:a="http://schemas.openxmlformats.org/drawingml/2006/main">
              <a:ext uri="{FF2B5EF4-FFF2-40B4-BE49-F238E27FC236}">
                <a16:creationId xmlns:a16="http://schemas.microsoft.com/office/drawing/2014/main" id="{FCD00E50-1A59-46D2-882E-2708ABB6809A}"/>
              </a:ext>
            </a:extLst>
          </p:cNvPr>
          <p:cNvSpPr>
            <a:spLocks xmlns:a="http://schemas.openxmlformats.org/drawingml/2006/main" noGrp="1"/>
          </p:cNvSpPr>
          <p:nvPr/>
        </p:nvSpPr>
        <p:spPr>
          <a:xfrm xmlns:a="http://schemas.openxmlformats.org/drawingml/2006/main">
            <a:off x="6153150" y="4057650"/>
            <a:ext cx="1619250" cy="95250"/>
          </a:xfrm>
          <a:prstGeom xmlns:a="http://schemas.openxmlformats.org/drawingml/2006/main" prst="rect">
            <a:avLst/>
          </a:prstGeom>
          <a:solidFill xmlns:a="http://schemas.openxmlformats.org/drawingml/2006/main">
            <a:srgbClr val="9DCC3B"/>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DE9C32CB-1413-43E9-BB4B-B777D2ACC7F3}"/>
              </a:ext>
            </a:extLst>
          </p:cNvPr>
          <p:cNvSpPr>
            <a:spLocks xmlns:a="http://schemas.openxmlformats.org/drawingml/2006/main" noGrp="1"/>
          </p:cNvSpPr>
          <p:nvPr/>
        </p:nvSpPr>
        <p:spPr>
          <a:xfrm xmlns:a="http://schemas.openxmlformats.org/drawingml/2006/main">
            <a:off x="8534400" y="1714500"/>
            <a:ext cx="514350" cy="514350"/>
          </a:xfrm>
          <a:prstGeom xmlns:a="http://schemas.openxmlformats.org/drawingml/2006/main" prst="ellipse">
            <a:avLst/>
          </a:prstGeom>
          <a:solidFill xmlns:a="http://schemas.openxmlformats.org/drawingml/2006/main">
            <a:srgbClr val="E8AA3B"/>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0350D5CA-347A-43EB-8359-0862A2BCBC3E}"/>
              </a:ext>
            </a:extLst>
          </p:cNvPr>
          <p:cNvSpPr>
            <a:spLocks xmlns:a="http://schemas.openxmlformats.org/drawingml/2006/main" noGrp="1"/>
          </p:cNvSpPr>
          <p:nvPr/>
        </p:nvSpPr>
        <p:spPr>
          <a:xfrm xmlns:a="http://schemas.openxmlformats.org/drawingml/2006/main">
            <a:off x="8534400" y="1876425"/>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0B1220"/>
                </a:solidFill>
                <a:latin typeface="Aptos"/>
                <a:ea typeface="Aptos"/>
                <a:cs typeface="Aptos"/>
              </a:defRPr>
            </a:pPr>
            <a:r>
              <a:rPr sz="975" b="1">
                <a:solidFill>
                  <a:srgbClr val="0B1220"/>
                </a:solidFill>
                <a:latin typeface="Aptos"/>
                <a:ea typeface="Aptos"/>
                <a:cs typeface="Aptos"/>
              </a:rPr>
              <a:t>05</a:t>
            </a:r>
          </a:p>
        </p:txBody>
      </p:sp>
      <p:sp>
        <p:nvSpPr>
          <p:cNvPr id="40" name="rule">
            <a:extLst xmlns:a="http://schemas.openxmlformats.org/drawingml/2006/main">
              <a:ext uri="{FF2B5EF4-FFF2-40B4-BE49-F238E27FC236}">
                <a16:creationId xmlns:a16="http://schemas.microsoft.com/office/drawing/2014/main" id="{59F1F5B3-F0A4-497C-902F-A30A175CCE4E}"/>
              </a:ext>
            </a:extLst>
          </p:cNvPr>
          <p:cNvSpPr>
            <a:spLocks xmlns:a="http://schemas.openxmlformats.org/drawingml/2006/main" noGrp="1"/>
          </p:cNvSpPr>
          <p:nvPr/>
        </p:nvSpPr>
        <p:spPr>
          <a:xfrm xmlns:a="http://schemas.openxmlformats.org/drawingml/2006/main">
            <a:off x="9124950" y="1971675"/>
            <a:ext cx="514350" cy="19050"/>
          </a:xfrm>
          <a:prstGeom xmlns:a="http://schemas.openxmlformats.org/drawingml/2006/main" prst="rect">
            <a:avLst/>
          </a:prstGeom>
          <a:solidFill xmlns:a="http://schemas.openxmlformats.org/drawingml/2006/main">
            <a:srgbClr val="26344D"/>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22C99FB2-9272-41C9-BEC3-771CA18AC58D}"/>
              </a:ext>
            </a:extLst>
          </p:cNvPr>
          <p:cNvSpPr>
            <a:spLocks xmlns:a="http://schemas.openxmlformats.org/drawingml/2006/main" noGrp="1"/>
          </p:cNvSpPr>
          <p:nvPr/>
        </p:nvSpPr>
        <p:spPr>
          <a:xfrm xmlns:a="http://schemas.openxmlformats.org/drawingml/2006/main">
            <a:off x="9563100" y="1885950"/>
            <a:ext cx="228600" cy="190500"/>
          </a:xfrm>
          <a:prstGeom xmlns:a="http://schemas.openxmlformats.org/drawingml/2006/main" prst="chevron">
            <a:avLst/>
          </a:prstGeom>
          <a:solidFill xmlns:a="http://schemas.openxmlformats.org/drawingml/2006/main">
            <a:srgbClr val="26344D"/>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CA6365E1-992E-405D-8489-74D3281AB873}"/>
              </a:ext>
            </a:extLst>
          </p:cNvPr>
          <p:cNvSpPr>
            <a:spLocks xmlns:a="http://schemas.openxmlformats.org/drawingml/2006/main" noGrp="1"/>
          </p:cNvSpPr>
          <p:nvPr/>
        </p:nvSpPr>
        <p:spPr>
          <a:xfrm xmlns:a="http://schemas.openxmlformats.org/drawingml/2006/main">
            <a:off x="8001000" y="2457450"/>
            <a:ext cx="1619250" cy="1695450"/>
          </a:xfrm>
          <a:prstGeom xmlns:a="http://schemas.openxmlformats.org/drawingml/2006/main" prst="roundRect">
            <a:avLst>
              <a:gd name="adj" fmla="val 4706"/>
            </a:avLst>
          </a:prstGeom>
          <a:solidFill xmlns:a="http://schemas.openxmlformats.org/drawingml/2006/main">
            <a:srgbClr val="111B2E"/>
          </a:solidFill>
          <a:ln xmlns:a="http://schemas.openxmlformats.org/drawingml/2006/main" w="9525">
            <a:solidFill>
              <a:srgbClr val="26344D"/>
            </a:solidFill>
            <a:prstDash val="solid"/>
          </a:ln>
        </p:spPr>
      </p:sp>
      <p:sp>
        <p:nvSpPr>
          <p:cNvPr id="43" name="">
            <a:extLst xmlns:a="http://schemas.openxmlformats.org/drawingml/2006/main">
              <a:ext uri="{FF2B5EF4-FFF2-40B4-BE49-F238E27FC236}">
                <a16:creationId xmlns:a16="http://schemas.microsoft.com/office/drawing/2014/main" id="{FC30A76F-9FFF-4F34-B879-F741FA26678F}"/>
              </a:ext>
            </a:extLst>
          </p:cNvPr>
          <p:cNvSpPr>
            <a:spLocks xmlns:a="http://schemas.openxmlformats.org/drawingml/2006/main" noGrp="1"/>
          </p:cNvSpPr>
          <p:nvPr/>
        </p:nvSpPr>
        <p:spPr>
          <a:xfrm xmlns:a="http://schemas.openxmlformats.org/drawingml/2006/main">
            <a:off x="8172450" y="2667000"/>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FFFFFF"/>
                </a:solidFill>
                <a:latin typeface="Aptos"/>
                <a:ea typeface="Aptos"/>
                <a:cs typeface="Aptos"/>
              </a:defRPr>
            </a:pPr>
            <a:r>
              <a:rPr sz="1500" b="1">
                <a:solidFill>
                  <a:srgbClr val="FFFFFF"/>
                </a:solidFill>
                <a:latin typeface="Aptos"/>
                <a:ea typeface="Aptos"/>
                <a:cs typeface="Aptos"/>
              </a:rPr>
              <a:t>Decide</a:t>
            </a:r>
          </a:p>
        </p:txBody>
      </p:sp>
      <p:sp>
        <p:nvSpPr>
          <p:cNvPr id="44" name="">
            <a:extLst xmlns:a="http://schemas.openxmlformats.org/drawingml/2006/main">
              <a:ext uri="{FF2B5EF4-FFF2-40B4-BE49-F238E27FC236}">
                <a16:creationId xmlns:a16="http://schemas.microsoft.com/office/drawing/2014/main" id="{6EA20C47-EDBB-488A-BFF5-D983BF54F259}"/>
              </a:ext>
            </a:extLst>
          </p:cNvPr>
          <p:cNvSpPr>
            <a:spLocks xmlns:a="http://schemas.openxmlformats.org/drawingml/2006/main" noGrp="1"/>
          </p:cNvSpPr>
          <p:nvPr/>
        </p:nvSpPr>
        <p:spPr>
          <a:xfrm xmlns:a="http://schemas.openxmlformats.org/drawingml/2006/main">
            <a:off x="8172450" y="3143250"/>
            <a:ext cx="1276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ADB9CB"/>
                </a:solidFill>
                <a:latin typeface="Cascadia Mono"/>
                <a:ea typeface="Cascadia Mono"/>
                <a:cs typeface="Cascadia Mono"/>
              </a:defRPr>
            </a:pPr>
            <a:r>
              <a:rPr sz="1125" b="0">
                <a:solidFill>
                  <a:srgbClr val="ADB9CB"/>
                </a:solidFill>
                <a:latin typeface="Cascadia Mono"/>
                <a:ea typeface="Cascadia Mono"/>
                <a:cs typeface="Cascadia Mono"/>
              </a:rPr>
              <a:t>confidence</a:t>
            </a:r>
          </a:p>
          <a:p xmlns:a="http://schemas.openxmlformats.org/drawingml/2006/main">
            <a:pPr algn="l">
              <a:defRPr sz="1125" b="0">
                <a:solidFill>
                  <a:srgbClr val="ADB9CB"/>
                </a:solidFill>
                <a:latin typeface="Cascadia Mono"/>
                <a:ea typeface="Cascadia Mono"/>
                <a:cs typeface="Cascadia Mono"/>
              </a:defRPr>
            </a:pPr>
            <a:r>
              <a:rPr sz="1125" b="0">
                <a:solidFill>
                  <a:srgbClr val="ADB9CB"/>
                </a:solidFill>
                <a:latin typeface="Cascadia Mono"/>
                <a:ea typeface="Cascadia Mono"/>
                <a:cs typeface="Cascadia Mono"/>
              </a:rPr>
              <a:t>ambiguity</a:t>
            </a:r>
          </a:p>
        </p:txBody>
      </p:sp>
      <p:sp>
        <p:nvSpPr>
          <p:cNvPr id="45" name="">
            <a:extLst xmlns:a="http://schemas.openxmlformats.org/drawingml/2006/main">
              <a:ext uri="{FF2B5EF4-FFF2-40B4-BE49-F238E27FC236}">
                <a16:creationId xmlns:a16="http://schemas.microsoft.com/office/drawing/2014/main" id="{A4A5917A-AB17-41B5-82FC-CA63AD677F8B}"/>
              </a:ext>
            </a:extLst>
          </p:cNvPr>
          <p:cNvSpPr>
            <a:spLocks xmlns:a="http://schemas.openxmlformats.org/drawingml/2006/main" noGrp="1"/>
          </p:cNvSpPr>
          <p:nvPr/>
        </p:nvSpPr>
        <p:spPr>
          <a:xfrm xmlns:a="http://schemas.openxmlformats.org/drawingml/2006/main">
            <a:off x="8001000" y="4057650"/>
            <a:ext cx="1619250" cy="95250"/>
          </a:xfrm>
          <a:prstGeom xmlns:a="http://schemas.openxmlformats.org/drawingml/2006/main" prst="rect">
            <a:avLst/>
          </a:prstGeom>
          <a:solidFill xmlns:a="http://schemas.openxmlformats.org/drawingml/2006/main">
            <a:srgbClr val="E8AA3B"/>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41C2F177-CCC1-480E-8759-59625D1DFB2A}"/>
              </a:ext>
            </a:extLst>
          </p:cNvPr>
          <p:cNvSpPr>
            <a:spLocks xmlns:a="http://schemas.openxmlformats.org/drawingml/2006/main" noGrp="1"/>
          </p:cNvSpPr>
          <p:nvPr/>
        </p:nvSpPr>
        <p:spPr>
          <a:xfrm xmlns:a="http://schemas.openxmlformats.org/drawingml/2006/main">
            <a:off x="10382250" y="1714500"/>
            <a:ext cx="514350" cy="514350"/>
          </a:xfrm>
          <a:prstGeom xmlns:a="http://schemas.openxmlformats.org/drawingml/2006/main" prst="ellipse">
            <a:avLst/>
          </a:prstGeom>
          <a:solidFill xmlns:a="http://schemas.openxmlformats.org/drawingml/2006/main">
            <a:srgbClr val="F06464"/>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97C441CE-E395-49C6-BFAE-04F0B73CA2DC}"/>
              </a:ext>
            </a:extLst>
          </p:cNvPr>
          <p:cNvSpPr>
            <a:spLocks xmlns:a="http://schemas.openxmlformats.org/drawingml/2006/main" noGrp="1"/>
          </p:cNvSpPr>
          <p:nvPr/>
        </p:nvSpPr>
        <p:spPr>
          <a:xfrm xmlns:a="http://schemas.openxmlformats.org/drawingml/2006/main">
            <a:off x="10382250" y="1876425"/>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0B1220"/>
                </a:solidFill>
                <a:latin typeface="Aptos"/>
                <a:ea typeface="Aptos"/>
                <a:cs typeface="Aptos"/>
              </a:defRPr>
            </a:pPr>
            <a:r>
              <a:rPr sz="975" b="1">
                <a:solidFill>
                  <a:srgbClr val="0B1220"/>
                </a:solidFill>
                <a:latin typeface="Aptos"/>
                <a:ea typeface="Aptos"/>
                <a:cs typeface="Aptos"/>
              </a:rPr>
              <a:t>06</a:t>
            </a:r>
          </a:p>
        </p:txBody>
      </p:sp>
      <p:sp>
        <p:nvSpPr>
          <p:cNvPr id="48" name="">
            <a:extLst xmlns:a="http://schemas.openxmlformats.org/drawingml/2006/main">
              <a:ext uri="{FF2B5EF4-FFF2-40B4-BE49-F238E27FC236}">
                <a16:creationId xmlns:a16="http://schemas.microsoft.com/office/drawing/2014/main" id="{9E28FF66-E708-4BEE-B086-1C492E46EC57}"/>
              </a:ext>
            </a:extLst>
          </p:cNvPr>
          <p:cNvSpPr>
            <a:spLocks xmlns:a="http://schemas.openxmlformats.org/drawingml/2006/main" noGrp="1"/>
          </p:cNvSpPr>
          <p:nvPr/>
        </p:nvSpPr>
        <p:spPr>
          <a:xfrm xmlns:a="http://schemas.openxmlformats.org/drawingml/2006/main">
            <a:off x="9848850" y="2457450"/>
            <a:ext cx="1619250" cy="1695450"/>
          </a:xfrm>
          <a:prstGeom xmlns:a="http://schemas.openxmlformats.org/drawingml/2006/main" prst="roundRect">
            <a:avLst>
              <a:gd name="adj" fmla="val 4706"/>
            </a:avLst>
          </a:prstGeom>
          <a:solidFill xmlns:a="http://schemas.openxmlformats.org/drawingml/2006/main">
            <a:srgbClr val="111B2E"/>
          </a:solidFill>
          <a:ln xmlns:a="http://schemas.openxmlformats.org/drawingml/2006/main" w="9525">
            <a:solidFill>
              <a:srgbClr val="26344D"/>
            </a:solidFill>
            <a:prstDash val="solid"/>
          </a:ln>
        </p:spPr>
      </p:sp>
      <p:sp>
        <p:nvSpPr>
          <p:cNvPr id="49" name="">
            <a:extLst xmlns:a="http://schemas.openxmlformats.org/drawingml/2006/main">
              <a:ext uri="{FF2B5EF4-FFF2-40B4-BE49-F238E27FC236}">
                <a16:creationId xmlns:a16="http://schemas.microsoft.com/office/drawing/2014/main" id="{F3C2501A-2097-4DA2-B852-F9898F064C9D}"/>
              </a:ext>
            </a:extLst>
          </p:cNvPr>
          <p:cNvSpPr>
            <a:spLocks xmlns:a="http://schemas.openxmlformats.org/drawingml/2006/main" noGrp="1"/>
          </p:cNvSpPr>
          <p:nvPr/>
        </p:nvSpPr>
        <p:spPr>
          <a:xfrm xmlns:a="http://schemas.openxmlformats.org/drawingml/2006/main">
            <a:off x="10020300" y="2667000"/>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FFFFFF"/>
                </a:solidFill>
                <a:latin typeface="Aptos"/>
                <a:ea typeface="Aptos"/>
                <a:cs typeface="Aptos"/>
              </a:defRPr>
            </a:pPr>
            <a:r>
              <a:rPr sz="1500" b="1">
                <a:solidFill>
                  <a:srgbClr val="FFFFFF"/>
                </a:solidFill>
                <a:latin typeface="Aptos"/>
                <a:ea typeface="Aptos"/>
                <a:cs typeface="Aptos"/>
              </a:rPr>
              <a:t>Export</a:t>
            </a:r>
          </a:p>
        </p:txBody>
      </p:sp>
      <p:sp>
        <p:nvSpPr>
          <p:cNvPr id="50" name="">
            <a:extLst xmlns:a="http://schemas.openxmlformats.org/drawingml/2006/main">
              <a:ext uri="{FF2B5EF4-FFF2-40B4-BE49-F238E27FC236}">
                <a16:creationId xmlns:a16="http://schemas.microsoft.com/office/drawing/2014/main" id="{3A79D43C-98B4-427A-A770-CCB51A7C76F1}"/>
              </a:ext>
            </a:extLst>
          </p:cNvPr>
          <p:cNvSpPr>
            <a:spLocks xmlns:a="http://schemas.openxmlformats.org/drawingml/2006/main" noGrp="1"/>
          </p:cNvSpPr>
          <p:nvPr/>
        </p:nvSpPr>
        <p:spPr>
          <a:xfrm xmlns:a="http://schemas.openxmlformats.org/drawingml/2006/main">
            <a:off x="10020300" y="3143250"/>
            <a:ext cx="1276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ADB9CB"/>
                </a:solidFill>
                <a:latin typeface="Cascadia Mono"/>
                <a:ea typeface="Cascadia Mono"/>
                <a:cs typeface="Cascadia Mono"/>
              </a:defRPr>
            </a:pPr>
            <a:r>
              <a:rPr sz="1125" b="0">
                <a:solidFill>
                  <a:srgbClr val="ADB9CB"/>
                </a:solidFill>
                <a:latin typeface="Cascadia Mono"/>
                <a:ea typeface="Cascadia Mono"/>
                <a:cs typeface="Cascadia Mono"/>
              </a:rPr>
              <a:t>CycloneDX</a:t>
            </a:r>
          </a:p>
          <a:p xmlns:a="http://schemas.openxmlformats.org/drawingml/2006/main">
            <a:pPr algn="l">
              <a:defRPr sz="1125" b="0">
                <a:solidFill>
                  <a:srgbClr val="ADB9CB"/>
                </a:solidFill>
                <a:latin typeface="Cascadia Mono"/>
                <a:ea typeface="Cascadia Mono"/>
                <a:cs typeface="Cascadia Mono"/>
              </a:defRPr>
            </a:pPr>
            <a:r>
              <a:rPr sz="1125" b="0">
                <a:solidFill>
                  <a:srgbClr val="ADB9CB"/>
                </a:solidFill>
                <a:latin typeface="Cascadia Mono"/>
                <a:ea typeface="Cascadia Mono"/>
                <a:cs typeface="Cascadia Mono"/>
              </a:rPr>
              <a:t>OSV report</a:t>
            </a:r>
          </a:p>
        </p:txBody>
      </p:sp>
      <p:sp>
        <p:nvSpPr>
          <p:cNvPr id="51" name="">
            <a:extLst xmlns:a="http://schemas.openxmlformats.org/drawingml/2006/main">
              <a:ext uri="{FF2B5EF4-FFF2-40B4-BE49-F238E27FC236}">
                <a16:creationId xmlns:a16="http://schemas.microsoft.com/office/drawing/2014/main" id="{CA4F717F-80EE-4B1B-B196-A599F2E5C275}"/>
              </a:ext>
            </a:extLst>
          </p:cNvPr>
          <p:cNvSpPr>
            <a:spLocks xmlns:a="http://schemas.openxmlformats.org/drawingml/2006/main" noGrp="1"/>
          </p:cNvSpPr>
          <p:nvPr/>
        </p:nvSpPr>
        <p:spPr>
          <a:xfrm xmlns:a="http://schemas.openxmlformats.org/drawingml/2006/main">
            <a:off x="9848850" y="4057650"/>
            <a:ext cx="1619250" cy="95250"/>
          </a:xfrm>
          <a:prstGeom xmlns:a="http://schemas.openxmlformats.org/drawingml/2006/main" prst="rect">
            <a:avLst/>
          </a:prstGeom>
          <a:solidFill xmlns:a="http://schemas.openxmlformats.org/drawingml/2006/main">
            <a:srgbClr val="F06464"/>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1E7E9403-8FD7-4905-A3AC-500446D489F8}"/>
              </a:ext>
            </a:extLst>
          </p:cNvPr>
          <p:cNvSpPr>
            <a:spLocks xmlns:a="http://schemas.openxmlformats.org/drawingml/2006/main" noGrp="1"/>
          </p:cNvSpPr>
          <p:nvPr/>
        </p:nvSpPr>
        <p:spPr>
          <a:xfrm xmlns:a="http://schemas.openxmlformats.org/drawingml/2006/main">
            <a:off x="2476500" y="4762500"/>
            <a:ext cx="7239000" cy="9525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9525">
            <a:solidFill>
              <a:srgbClr val="FFFFFF"/>
            </a:solidFill>
            <a:prstDash val="solid"/>
          </a:ln>
        </p:spPr>
      </p:sp>
      <p:sp>
        <p:nvSpPr>
          <p:cNvPr id="53" name="">
            <a:extLst xmlns:a="http://schemas.openxmlformats.org/drawingml/2006/main">
              <a:ext uri="{FF2B5EF4-FFF2-40B4-BE49-F238E27FC236}">
                <a16:creationId xmlns:a16="http://schemas.microsoft.com/office/drawing/2014/main" id="{82C39BD6-C191-45A7-986B-E0B9DA86FEE8}"/>
              </a:ext>
            </a:extLst>
          </p:cNvPr>
          <p:cNvSpPr>
            <a:spLocks xmlns:a="http://schemas.openxmlformats.org/drawingml/2006/main" noGrp="1"/>
          </p:cNvSpPr>
          <p:nvPr/>
        </p:nvSpPr>
        <p:spPr>
          <a:xfrm xmlns:a="http://schemas.openxmlformats.org/drawingml/2006/main">
            <a:off x="2724150" y="49720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4F7CFF"/>
                </a:solidFill>
                <a:latin typeface="Aptos"/>
                <a:ea typeface="Aptos"/>
                <a:cs typeface="Aptos"/>
              </a:defRPr>
            </a:pPr>
            <a:r>
              <a:rPr sz="1425" b="1">
                <a:solidFill>
                  <a:srgbClr val="4F7CFF"/>
                </a:solidFill>
                <a:latin typeface="Aptos"/>
                <a:ea typeface="Aptos"/>
                <a:cs typeface="Aptos"/>
              </a:rPr>
              <a:t>Reference DB</a:t>
            </a:r>
          </a:p>
        </p:txBody>
      </p:sp>
      <p:sp>
        <p:nvSpPr>
          <p:cNvPr id="54" name="">
            <a:extLst xmlns:a="http://schemas.openxmlformats.org/drawingml/2006/main">
              <a:ext uri="{FF2B5EF4-FFF2-40B4-BE49-F238E27FC236}">
                <a16:creationId xmlns:a16="http://schemas.microsoft.com/office/drawing/2014/main" id="{91AAE8AB-BBEF-4B15-9B8B-499E8A29D98A}"/>
              </a:ext>
            </a:extLst>
          </p:cNvPr>
          <p:cNvSpPr>
            <a:spLocks xmlns:a="http://schemas.openxmlformats.org/drawingml/2006/main" noGrp="1"/>
          </p:cNvSpPr>
          <p:nvPr/>
        </p:nvSpPr>
        <p:spPr>
          <a:xfrm xmlns:a="http://schemas.openxmlformats.org/drawingml/2006/main">
            <a:off x="4476750" y="49720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101827"/>
                </a:solidFill>
                <a:latin typeface="Aptos"/>
                <a:ea typeface="Aptos"/>
                <a:cs typeface="Aptos"/>
              </a:defRPr>
            </a:pPr>
            <a:r>
              <a:rPr sz="1125" b="1">
                <a:solidFill>
                  <a:srgbClr val="101827"/>
                </a:solidFill>
                <a:latin typeface="Aptos"/>
                <a:ea typeface="Aptos"/>
                <a:cs typeface="Aptos"/>
              </a:rPr>
              <a:t>Maven JAR/AAR  -&gt;  D8/DEX conversion  -&gt;  SQLite structural features</a:t>
            </a:r>
          </a:p>
        </p:txBody>
      </p:sp>
      <p:sp>
        <p:nvSpPr>
          <p:cNvPr id="55" name="">
            <a:extLst xmlns:a="http://schemas.openxmlformats.org/drawingml/2006/main">
              <a:ext uri="{FF2B5EF4-FFF2-40B4-BE49-F238E27FC236}">
                <a16:creationId xmlns:a16="http://schemas.microsoft.com/office/drawing/2014/main" id="{F8FAA343-444D-4A3E-83BD-6C8CF80FABBA}"/>
              </a:ext>
            </a:extLst>
          </p:cNvPr>
          <p:cNvSpPr>
            <a:spLocks xmlns:a="http://schemas.openxmlformats.org/drawingml/2006/main" noGrp="1"/>
          </p:cNvSpPr>
          <p:nvPr/>
        </p:nvSpPr>
        <p:spPr>
          <a:xfrm xmlns:a="http://schemas.openxmlformats.org/drawingml/2006/main">
            <a:off x="2724150" y="5353050"/>
            <a:ext cx="628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D"/>
                </a:solidFill>
                <a:latin typeface="Aptos"/>
                <a:ea typeface="Aptos"/>
                <a:cs typeface="Aptos"/>
              </a:defRPr>
            </a:pPr>
            <a:r>
              <a:rPr sz="975" b="0">
                <a:solidFill>
                  <a:srgbClr val="5E6B7D"/>
                </a:solidFill>
                <a:latin typeface="Aptos"/>
                <a:ea typeface="Aptos"/>
                <a:cs typeface="Aptos"/>
              </a:rPr>
              <a:t>10,517 stored coordinate-version components in the final large evaluation DB</a:t>
            </a:r>
          </a:p>
        </p:txBody>
      </p:sp>
      <p:sp>
        <p:nvSpPr>
          <p:cNvPr id="56" name="">
            <a:extLst xmlns:a="http://schemas.openxmlformats.org/drawingml/2006/main">
              <a:ext uri="{FF2B5EF4-FFF2-40B4-BE49-F238E27FC236}">
                <a16:creationId xmlns:a16="http://schemas.microsoft.com/office/drawing/2014/main" id="{30C87366-72D5-43B1-AA47-4D64CF9FF075}"/>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680743579"/>
      </p:ext>
    </p:extLst>
  </p:cSld>
</p:sld>
</file>

<file path=ppt/slides/slide6.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63A7E60-C800-48EB-B83A-613C31BB7B3A}"/>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06FE8"/>
                </a:solidFill>
                <a:latin typeface="Aptos"/>
                <a:ea typeface="Aptos"/>
                <a:cs typeface="Aptos"/>
              </a:defRPr>
            </a:pPr>
            <a:r>
              <a:rPr sz="900" b="1">
                <a:solidFill>
                  <a:srgbClr val="806FE8"/>
                </a:solidFill>
                <a:latin typeface="Aptos"/>
                <a:ea typeface="Aptos"/>
                <a:cs typeface="Aptos"/>
              </a:rPr>
              <a:t>MATCHER EVIDENCE</a:t>
            </a:r>
          </a:p>
        </p:txBody>
      </p:sp>
      <p:sp>
        <p:nvSpPr>
          <p:cNvPr id="2" name="">
            <a:extLst xmlns:a="http://schemas.openxmlformats.org/drawingml/2006/main">
              <a:ext uri="{FF2B5EF4-FFF2-40B4-BE49-F238E27FC236}">
                <a16:creationId xmlns:a16="http://schemas.microsoft.com/office/drawing/2014/main" id="{BA9F5BC7-61CD-4716-87A2-E1755C0BF9E8}"/>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01827"/>
                </a:solidFill>
                <a:latin typeface="Aptos Display"/>
                <a:ea typeface="Aptos Display"/>
                <a:cs typeface="Aptos Display"/>
              </a:defRPr>
            </a:pPr>
            <a:r>
              <a:rPr sz="2325" b="1">
                <a:solidFill>
                  <a:srgbClr val="101827"/>
                </a:solidFill>
                <a:latin typeface="Aptos Display"/>
                <a:ea typeface="Aptos Display"/>
                <a:cs typeface="Aptos Display"/>
              </a:rPr>
              <a:t>Complementary signals reduce dependence on any single fragile feature</a:t>
            </a:r>
          </a:p>
        </p:txBody>
      </p:sp>
      <p:sp>
        <p:nvSpPr>
          <p:cNvPr id="3" name="">
            <a:extLst xmlns:a="http://schemas.openxmlformats.org/drawingml/2006/main">
              <a:ext uri="{FF2B5EF4-FFF2-40B4-BE49-F238E27FC236}">
                <a16:creationId xmlns:a16="http://schemas.microsoft.com/office/drawing/2014/main" id="{104A5D0F-C266-485A-A0F1-8BAA5160B041}"/>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D"/>
                </a:solidFill>
                <a:latin typeface="Aptos"/>
                <a:ea typeface="Aptos"/>
                <a:cs typeface="Aptos"/>
              </a:defRPr>
            </a:pPr>
            <a:r>
              <a:rPr sz="900" b="1">
                <a:solidFill>
                  <a:srgbClr val="5E6B7D"/>
                </a:solidFill>
                <a:latin typeface="Aptos"/>
                <a:ea typeface="Aptos"/>
                <a:cs typeface="Aptos"/>
              </a:rPr>
              <a:t>06</a:t>
            </a:r>
          </a:p>
        </p:txBody>
      </p:sp>
      <p:sp>
        <p:nvSpPr>
          <p:cNvPr id="4" name="">
            <a:extLst xmlns:a="http://schemas.openxmlformats.org/drawingml/2006/main">
              <a:ext uri="{FF2B5EF4-FFF2-40B4-BE49-F238E27FC236}">
                <a16:creationId xmlns:a16="http://schemas.microsoft.com/office/drawing/2014/main" id="{03F1AA57-1511-4919-9A7D-5CBDED24F378}"/>
              </a:ext>
            </a:extLst>
          </p:cNvPr>
          <p:cNvSpPr>
            <a:spLocks xmlns:a="http://schemas.openxmlformats.org/drawingml/2006/main" noGrp="1"/>
          </p:cNvSpPr>
          <p:nvPr/>
        </p:nvSpPr>
        <p:spPr>
          <a:xfrm xmlns:a="http://schemas.openxmlformats.org/drawingml/2006/main">
            <a:off x="4762500" y="2133600"/>
            <a:ext cx="2647950" cy="2647950"/>
          </a:xfrm>
          <a:prstGeom xmlns:a="http://schemas.openxmlformats.org/drawingml/2006/main" prst="ellipse">
            <a:avLst/>
          </a:prstGeom>
          <a:solidFill xmlns:a="http://schemas.openxmlformats.org/drawingml/2006/main">
            <a:srgbClr val="111B2E"/>
          </a:solidFill>
          <a:ln xmlns:a="http://schemas.openxmlformats.org/drawingml/2006/main" w="9525">
            <a:solidFill>
              <a:srgbClr val="111B2E"/>
            </a:solidFill>
            <a:prstDash val="solid"/>
          </a:ln>
        </p:spPr>
      </p:sp>
      <p:sp>
        <p:nvSpPr>
          <p:cNvPr id="5" name="">
            <a:extLst xmlns:a="http://schemas.openxmlformats.org/drawingml/2006/main">
              <a:ext uri="{FF2B5EF4-FFF2-40B4-BE49-F238E27FC236}">
                <a16:creationId xmlns:a16="http://schemas.microsoft.com/office/drawing/2014/main" id="{E68E6435-D2C4-4BF7-B606-E222CEDC8EB7}"/>
              </a:ext>
            </a:extLst>
          </p:cNvPr>
          <p:cNvSpPr>
            <a:spLocks xmlns:a="http://schemas.openxmlformats.org/drawingml/2006/main" noGrp="1"/>
          </p:cNvSpPr>
          <p:nvPr/>
        </p:nvSpPr>
        <p:spPr>
          <a:xfrm xmlns:a="http://schemas.openxmlformats.org/drawingml/2006/main">
            <a:off x="5314950" y="2686050"/>
            <a:ext cx="1543050" cy="1543050"/>
          </a:xfrm>
          <a:prstGeom xmlns:a="http://schemas.openxmlformats.org/drawingml/2006/main" prst="ellipse">
            <a:avLst/>
          </a:prstGeom>
          <a:solidFill xmlns:a="http://schemas.openxmlformats.org/drawingml/2006/main">
            <a:srgbClr val="FFFFFF"/>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2E5F5A75-A952-4F75-8C9A-0666EE9867E3}"/>
              </a:ext>
            </a:extLst>
          </p:cNvPr>
          <p:cNvSpPr>
            <a:spLocks xmlns:a="http://schemas.openxmlformats.org/drawingml/2006/main" noGrp="1"/>
          </p:cNvSpPr>
          <p:nvPr/>
        </p:nvSpPr>
        <p:spPr>
          <a:xfrm xmlns:a="http://schemas.openxmlformats.org/drawingml/2006/main">
            <a:off x="5314950" y="3105150"/>
            <a:ext cx="1543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101827"/>
                </a:solidFill>
                <a:latin typeface="Aptos"/>
                <a:ea typeface="Aptos"/>
                <a:cs typeface="Aptos"/>
              </a:defRPr>
            </a:pPr>
            <a:r>
              <a:rPr sz="1275" b="1">
                <a:solidFill>
                  <a:srgbClr val="101827"/>
                </a:solidFill>
                <a:latin typeface="Aptos"/>
                <a:ea typeface="Aptos"/>
                <a:cs typeface="Aptos"/>
              </a:rPr>
              <a:t>HYBRID</a:t>
            </a:r>
          </a:p>
        </p:txBody>
      </p:sp>
      <p:sp>
        <p:nvSpPr>
          <p:cNvPr id="7" name="">
            <a:extLst xmlns:a="http://schemas.openxmlformats.org/drawingml/2006/main">
              <a:ext uri="{FF2B5EF4-FFF2-40B4-BE49-F238E27FC236}">
                <a16:creationId xmlns:a16="http://schemas.microsoft.com/office/drawing/2014/main" id="{F8385A52-0604-4379-9177-7AD415005F48}"/>
              </a:ext>
            </a:extLst>
          </p:cNvPr>
          <p:cNvSpPr>
            <a:spLocks xmlns:a="http://schemas.openxmlformats.org/drawingml/2006/main" noGrp="1"/>
          </p:cNvSpPr>
          <p:nvPr/>
        </p:nvSpPr>
        <p:spPr>
          <a:xfrm xmlns:a="http://schemas.openxmlformats.org/drawingml/2006/main">
            <a:off x="5314950" y="3371850"/>
            <a:ext cx="1543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a:solidFill>
                  <a:srgbClr val="4F7CFF"/>
                </a:solidFill>
                <a:latin typeface="Aptos"/>
                <a:ea typeface="Aptos"/>
                <a:cs typeface="Aptos"/>
              </a:defRPr>
            </a:pPr>
            <a:r>
              <a:rPr sz="1800" b="1">
                <a:solidFill>
                  <a:srgbClr val="4F7CFF"/>
                </a:solidFill>
                <a:latin typeface="Aptos"/>
                <a:ea typeface="Aptos"/>
                <a:cs typeface="Aptos"/>
              </a:rPr>
              <a:t>MATCH</a:t>
            </a:r>
          </a:p>
        </p:txBody>
      </p:sp>
      <p:sp>
        <p:nvSpPr>
          <p:cNvPr id="8" name="">
            <a:extLst xmlns:a="http://schemas.openxmlformats.org/drawingml/2006/main">
              <a:ext uri="{FF2B5EF4-FFF2-40B4-BE49-F238E27FC236}">
                <a16:creationId xmlns:a16="http://schemas.microsoft.com/office/drawing/2014/main" id="{B9FA0D51-0C94-4092-80AF-ED1F9A1F1BE8}"/>
              </a:ext>
            </a:extLst>
          </p:cNvPr>
          <p:cNvSpPr>
            <a:spLocks xmlns:a="http://schemas.openxmlformats.org/drawingml/2006/main" noGrp="1"/>
          </p:cNvSpPr>
          <p:nvPr/>
        </p:nvSpPr>
        <p:spPr>
          <a:xfrm xmlns:a="http://schemas.openxmlformats.org/drawingml/2006/main">
            <a:off x="1123950" y="1619250"/>
            <a:ext cx="1428750" cy="876300"/>
          </a:xfrm>
          <a:prstGeom xmlns:a="http://schemas.openxmlformats.org/drawingml/2006/main" prst="roundRect">
            <a:avLst>
              <a:gd name="adj" fmla="val 8696"/>
            </a:avLst>
          </a:prstGeom>
          <a:solidFill xmlns:a="http://schemas.openxmlformats.org/drawingml/2006/main">
            <a:srgbClr val="EAF0FF"/>
          </a:solidFill>
          <a:ln xmlns:a="http://schemas.openxmlformats.org/drawingml/2006/main" w="9525">
            <a:solidFill>
              <a:srgbClr val="4F7CFF"/>
            </a:solidFill>
            <a:prstDash val="solid"/>
          </a:ln>
        </p:spPr>
      </p:sp>
      <p:sp>
        <p:nvSpPr>
          <p:cNvPr id="9" name="">
            <a:extLst xmlns:a="http://schemas.openxmlformats.org/drawingml/2006/main">
              <a:ext uri="{FF2B5EF4-FFF2-40B4-BE49-F238E27FC236}">
                <a16:creationId xmlns:a16="http://schemas.microsoft.com/office/drawing/2014/main" id="{865ADC99-35A0-48B4-AB09-406089E4C073}"/>
              </a:ext>
            </a:extLst>
          </p:cNvPr>
          <p:cNvSpPr>
            <a:spLocks xmlns:a="http://schemas.openxmlformats.org/drawingml/2006/main" noGrp="1"/>
          </p:cNvSpPr>
          <p:nvPr/>
        </p:nvSpPr>
        <p:spPr>
          <a:xfrm xmlns:a="http://schemas.openxmlformats.org/drawingml/2006/main">
            <a:off x="1238250" y="177165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4F7CFF"/>
                </a:solidFill>
                <a:latin typeface="Aptos"/>
                <a:ea typeface="Aptos"/>
                <a:cs typeface="Aptos"/>
              </a:defRPr>
            </a:pPr>
            <a:r>
              <a:rPr sz="1275" b="1">
                <a:solidFill>
                  <a:srgbClr val="4F7CFF"/>
                </a:solidFill>
                <a:latin typeface="Aptos"/>
                <a:ea typeface="Aptos"/>
                <a:cs typeface="Aptos"/>
              </a:rPr>
              <a:t>Packages</a:t>
            </a:r>
          </a:p>
        </p:txBody>
      </p:sp>
      <p:sp>
        <p:nvSpPr>
          <p:cNvPr id="10" name="">
            <a:extLst xmlns:a="http://schemas.openxmlformats.org/drawingml/2006/main">
              <a:ext uri="{FF2B5EF4-FFF2-40B4-BE49-F238E27FC236}">
                <a16:creationId xmlns:a16="http://schemas.microsoft.com/office/drawing/2014/main" id="{53EED4A6-EF3B-4A4F-8CD3-95977CCBCF7A}"/>
              </a:ext>
            </a:extLst>
          </p:cNvPr>
          <p:cNvSpPr>
            <a:spLocks xmlns:a="http://schemas.openxmlformats.org/drawingml/2006/main" noGrp="1"/>
          </p:cNvSpPr>
          <p:nvPr/>
        </p:nvSpPr>
        <p:spPr>
          <a:xfrm xmlns:a="http://schemas.openxmlformats.org/drawingml/2006/main">
            <a:off x="1238250" y="2114550"/>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5E6B7D"/>
                </a:solidFill>
                <a:latin typeface="Aptos"/>
                <a:ea typeface="Aptos"/>
                <a:cs typeface="Aptos"/>
              </a:defRPr>
            </a:pPr>
            <a:r>
              <a:rPr sz="825" b="0">
                <a:solidFill>
                  <a:srgbClr val="5E6B7D"/>
                </a:solidFill>
                <a:latin typeface="Aptos"/>
                <a:ea typeface="Aptos"/>
                <a:cs typeface="Aptos"/>
              </a:rPr>
              <a:t>candidate recall</a:t>
            </a:r>
          </a:p>
        </p:txBody>
      </p:sp>
      <p:sp>
        <p:nvSpPr>
          <p:cNvPr id="11" name="">
            <a:extLst xmlns:a="http://schemas.openxmlformats.org/drawingml/2006/main">
              <a:ext uri="{FF2B5EF4-FFF2-40B4-BE49-F238E27FC236}">
                <a16:creationId xmlns:a16="http://schemas.microsoft.com/office/drawing/2014/main" id="{001D53C0-7FD1-456F-B1B4-28BA87CF2218}"/>
              </a:ext>
            </a:extLst>
          </p:cNvPr>
          <p:cNvSpPr>
            <a:spLocks xmlns:a="http://schemas.openxmlformats.org/drawingml/2006/main" noGrp="1"/>
          </p:cNvSpPr>
          <p:nvPr/>
        </p:nvSpPr>
        <p:spPr>
          <a:xfrm xmlns:a="http://schemas.openxmlformats.org/drawingml/2006/main">
            <a:off x="952500" y="3752850"/>
            <a:ext cx="1428750" cy="876300"/>
          </a:xfrm>
          <a:prstGeom xmlns:a="http://schemas.openxmlformats.org/drawingml/2006/main" prst="roundRect">
            <a:avLst>
              <a:gd name="adj" fmla="val 8696"/>
            </a:avLst>
          </a:prstGeom>
          <a:solidFill xmlns:a="http://schemas.openxmlformats.org/drawingml/2006/main">
            <a:srgbClr val="E4F7F4"/>
          </a:solidFill>
          <a:ln xmlns:a="http://schemas.openxmlformats.org/drawingml/2006/main" w="9525">
            <a:solidFill>
              <a:srgbClr val="24BFAE"/>
            </a:solidFill>
            <a:prstDash val="solid"/>
          </a:ln>
        </p:spPr>
      </p:sp>
      <p:sp>
        <p:nvSpPr>
          <p:cNvPr id="12" name="">
            <a:extLst xmlns:a="http://schemas.openxmlformats.org/drawingml/2006/main">
              <a:ext uri="{FF2B5EF4-FFF2-40B4-BE49-F238E27FC236}">
                <a16:creationId xmlns:a16="http://schemas.microsoft.com/office/drawing/2014/main" id="{02699869-CE71-43DC-A106-84292F719BEB}"/>
              </a:ext>
            </a:extLst>
          </p:cNvPr>
          <p:cNvSpPr>
            <a:spLocks xmlns:a="http://schemas.openxmlformats.org/drawingml/2006/main" noGrp="1"/>
          </p:cNvSpPr>
          <p:nvPr/>
        </p:nvSpPr>
        <p:spPr>
          <a:xfrm xmlns:a="http://schemas.openxmlformats.org/drawingml/2006/main">
            <a:off x="1066800" y="390525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24BFAE"/>
                </a:solidFill>
                <a:latin typeface="Aptos"/>
                <a:ea typeface="Aptos"/>
                <a:cs typeface="Aptos"/>
              </a:defRPr>
            </a:pPr>
            <a:r>
              <a:rPr sz="1275" b="1">
                <a:solidFill>
                  <a:srgbClr val="24BFAE"/>
                </a:solidFill>
                <a:latin typeface="Aptos"/>
                <a:ea typeface="Aptos"/>
                <a:cs typeface="Aptos"/>
              </a:rPr>
              <a:t>Classes</a:t>
            </a:r>
          </a:p>
        </p:txBody>
      </p:sp>
      <p:sp>
        <p:nvSpPr>
          <p:cNvPr id="13" name="">
            <a:extLst xmlns:a="http://schemas.openxmlformats.org/drawingml/2006/main">
              <a:ext uri="{FF2B5EF4-FFF2-40B4-BE49-F238E27FC236}">
                <a16:creationId xmlns:a16="http://schemas.microsoft.com/office/drawing/2014/main" id="{EB9BF8C1-1EF7-413C-AFE9-2899E356AD12}"/>
              </a:ext>
            </a:extLst>
          </p:cNvPr>
          <p:cNvSpPr>
            <a:spLocks xmlns:a="http://schemas.openxmlformats.org/drawingml/2006/main" noGrp="1"/>
          </p:cNvSpPr>
          <p:nvPr/>
        </p:nvSpPr>
        <p:spPr>
          <a:xfrm xmlns:a="http://schemas.openxmlformats.org/drawingml/2006/main">
            <a:off x="1066800" y="4248150"/>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5E6B7D"/>
                </a:solidFill>
                <a:latin typeface="Aptos"/>
                <a:ea typeface="Aptos"/>
                <a:cs typeface="Aptos"/>
              </a:defRPr>
            </a:pPr>
            <a:r>
              <a:rPr sz="825" b="0">
                <a:solidFill>
                  <a:srgbClr val="5E6B7D"/>
                </a:solidFill>
                <a:latin typeface="Aptos"/>
                <a:ea typeface="Aptos"/>
                <a:cs typeface="Aptos"/>
              </a:rPr>
              <a:t>identity overlap</a:t>
            </a:r>
          </a:p>
        </p:txBody>
      </p:sp>
      <p:sp>
        <p:nvSpPr>
          <p:cNvPr id="14" name="">
            <a:extLst xmlns:a="http://schemas.openxmlformats.org/drawingml/2006/main">
              <a:ext uri="{FF2B5EF4-FFF2-40B4-BE49-F238E27FC236}">
                <a16:creationId xmlns:a16="http://schemas.microsoft.com/office/drawing/2014/main" id="{D54F5A72-51E8-4F4A-9009-65DA6560CE63}"/>
              </a:ext>
            </a:extLst>
          </p:cNvPr>
          <p:cNvSpPr>
            <a:spLocks xmlns:a="http://schemas.openxmlformats.org/drawingml/2006/main" noGrp="1"/>
          </p:cNvSpPr>
          <p:nvPr/>
        </p:nvSpPr>
        <p:spPr>
          <a:xfrm xmlns:a="http://schemas.openxmlformats.org/drawingml/2006/main">
            <a:off x="3638550" y="4972050"/>
            <a:ext cx="1428750" cy="876300"/>
          </a:xfrm>
          <a:prstGeom xmlns:a="http://schemas.openxmlformats.org/drawingml/2006/main" prst="roundRect">
            <a:avLst>
              <a:gd name="adj" fmla="val 8696"/>
            </a:avLst>
          </a:prstGeom>
          <a:solidFill xmlns:a="http://schemas.openxmlformats.org/drawingml/2006/main">
            <a:srgbClr val="EFF7DD"/>
          </a:solidFill>
          <a:ln xmlns:a="http://schemas.openxmlformats.org/drawingml/2006/main" w="9525">
            <a:solidFill>
              <a:srgbClr val="9DCC3B"/>
            </a:solidFill>
            <a:prstDash val="solid"/>
          </a:ln>
        </p:spPr>
      </p:sp>
      <p:sp>
        <p:nvSpPr>
          <p:cNvPr id="15" name="">
            <a:extLst xmlns:a="http://schemas.openxmlformats.org/drawingml/2006/main">
              <a:ext uri="{FF2B5EF4-FFF2-40B4-BE49-F238E27FC236}">
                <a16:creationId xmlns:a16="http://schemas.microsoft.com/office/drawing/2014/main" id="{365E5C73-A12C-49A2-A5E4-98F4FD2E7B76}"/>
              </a:ext>
            </a:extLst>
          </p:cNvPr>
          <p:cNvSpPr>
            <a:spLocks xmlns:a="http://schemas.openxmlformats.org/drawingml/2006/main" noGrp="1"/>
          </p:cNvSpPr>
          <p:nvPr/>
        </p:nvSpPr>
        <p:spPr>
          <a:xfrm xmlns:a="http://schemas.openxmlformats.org/drawingml/2006/main">
            <a:off x="3752850" y="512445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9DCC3B"/>
                </a:solidFill>
                <a:latin typeface="Aptos"/>
                <a:ea typeface="Aptos"/>
                <a:cs typeface="Aptos"/>
              </a:defRPr>
            </a:pPr>
            <a:r>
              <a:rPr sz="1275" b="1">
                <a:solidFill>
                  <a:srgbClr val="9DCC3B"/>
                </a:solidFill>
                <a:latin typeface="Aptos"/>
                <a:ea typeface="Aptos"/>
                <a:cs typeface="Aptos"/>
              </a:rPr>
              <a:t>Methods</a:t>
            </a:r>
          </a:p>
        </p:txBody>
      </p:sp>
      <p:sp>
        <p:nvSpPr>
          <p:cNvPr id="16" name="">
            <a:extLst xmlns:a="http://schemas.openxmlformats.org/drawingml/2006/main">
              <a:ext uri="{FF2B5EF4-FFF2-40B4-BE49-F238E27FC236}">
                <a16:creationId xmlns:a16="http://schemas.microsoft.com/office/drawing/2014/main" id="{6ADD2ED0-72BA-4935-BE08-86104E22BDD9}"/>
              </a:ext>
            </a:extLst>
          </p:cNvPr>
          <p:cNvSpPr>
            <a:spLocks xmlns:a="http://schemas.openxmlformats.org/drawingml/2006/main" noGrp="1"/>
          </p:cNvSpPr>
          <p:nvPr/>
        </p:nvSpPr>
        <p:spPr>
          <a:xfrm xmlns:a="http://schemas.openxmlformats.org/drawingml/2006/main">
            <a:off x="3752850" y="5467350"/>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5E6B7D"/>
                </a:solidFill>
                <a:latin typeface="Aptos"/>
                <a:ea typeface="Aptos"/>
                <a:cs typeface="Aptos"/>
              </a:defRPr>
            </a:pPr>
            <a:r>
              <a:rPr sz="825" b="0">
                <a:solidFill>
                  <a:srgbClr val="5E6B7D"/>
                </a:solidFill>
                <a:latin typeface="Aptos"/>
                <a:ea typeface="Aptos"/>
                <a:cs typeface="Aptos"/>
              </a:rPr>
              <a:t>API surface</a:t>
            </a:r>
          </a:p>
        </p:txBody>
      </p:sp>
      <p:sp>
        <p:nvSpPr>
          <p:cNvPr id="17" name="">
            <a:extLst xmlns:a="http://schemas.openxmlformats.org/drawingml/2006/main">
              <a:ext uri="{FF2B5EF4-FFF2-40B4-BE49-F238E27FC236}">
                <a16:creationId xmlns:a16="http://schemas.microsoft.com/office/drawing/2014/main" id="{C60D4BD8-5A68-42F9-9FFD-476BA62BA04F}"/>
              </a:ext>
            </a:extLst>
          </p:cNvPr>
          <p:cNvSpPr>
            <a:spLocks xmlns:a="http://schemas.openxmlformats.org/drawingml/2006/main" noGrp="1"/>
          </p:cNvSpPr>
          <p:nvPr/>
        </p:nvSpPr>
        <p:spPr>
          <a:xfrm xmlns:a="http://schemas.openxmlformats.org/drawingml/2006/main">
            <a:off x="7658100" y="4972050"/>
            <a:ext cx="1428750" cy="876300"/>
          </a:xfrm>
          <a:prstGeom xmlns:a="http://schemas.openxmlformats.org/drawingml/2006/main" prst="roundRect">
            <a:avLst>
              <a:gd name="adj" fmla="val 8696"/>
            </a:avLst>
          </a:prstGeom>
          <a:solidFill xmlns:a="http://schemas.openxmlformats.org/drawingml/2006/main">
            <a:srgbClr val="EEEAFE"/>
          </a:solidFill>
          <a:ln xmlns:a="http://schemas.openxmlformats.org/drawingml/2006/main" w="9525">
            <a:solidFill>
              <a:srgbClr val="806FE8"/>
            </a:solidFill>
            <a:prstDash val="solid"/>
          </a:ln>
        </p:spPr>
      </p:sp>
      <p:sp>
        <p:nvSpPr>
          <p:cNvPr id="18" name="">
            <a:extLst xmlns:a="http://schemas.openxmlformats.org/drawingml/2006/main">
              <a:ext uri="{FF2B5EF4-FFF2-40B4-BE49-F238E27FC236}">
                <a16:creationId xmlns:a16="http://schemas.microsoft.com/office/drawing/2014/main" id="{01137742-6F1F-4271-B177-39443022EF2E}"/>
              </a:ext>
            </a:extLst>
          </p:cNvPr>
          <p:cNvSpPr>
            <a:spLocks xmlns:a="http://schemas.openxmlformats.org/drawingml/2006/main" noGrp="1"/>
          </p:cNvSpPr>
          <p:nvPr/>
        </p:nvSpPr>
        <p:spPr>
          <a:xfrm xmlns:a="http://schemas.openxmlformats.org/drawingml/2006/main">
            <a:off x="7772400" y="512445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806FE8"/>
                </a:solidFill>
                <a:latin typeface="Aptos"/>
                <a:ea typeface="Aptos"/>
                <a:cs typeface="Aptos"/>
              </a:defRPr>
            </a:pPr>
            <a:r>
              <a:rPr sz="1275" b="1">
                <a:solidFill>
                  <a:srgbClr val="806FE8"/>
                </a:solidFill>
                <a:latin typeface="Aptos"/>
                <a:ea typeface="Aptos"/>
                <a:cs typeface="Aptos"/>
              </a:rPr>
              <a:t>Opcodes</a:t>
            </a:r>
          </a:p>
        </p:txBody>
      </p:sp>
      <p:sp>
        <p:nvSpPr>
          <p:cNvPr id="19" name="">
            <a:extLst xmlns:a="http://schemas.openxmlformats.org/drawingml/2006/main">
              <a:ext uri="{FF2B5EF4-FFF2-40B4-BE49-F238E27FC236}">
                <a16:creationId xmlns:a16="http://schemas.microsoft.com/office/drawing/2014/main" id="{FCB8CA03-8E7C-42B3-ADE8-52B8346729A0}"/>
              </a:ext>
            </a:extLst>
          </p:cNvPr>
          <p:cNvSpPr>
            <a:spLocks xmlns:a="http://schemas.openxmlformats.org/drawingml/2006/main" noGrp="1"/>
          </p:cNvSpPr>
          <p:nvPr/>
        </p:nvSpPr>
        <p:spPr>
          <a:xfrm xmlns:a="http://schemas.openxmlformats.org/drawingml/2006/main">
            <a:off x="7772400" y="5467350"/>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5E6B7D"/>
                </a:solidFill>
                <a:latin typeface="Aptos"/>
                <a:ea typeface="Aptos"/>
                <a:cs typeface="Aptos"/>
              </a:defRPr>
            </a:pPr>
            <a:r>
              <a:rPr sz="825" b="0">
                <a:solidFill>
                  <a:srgbClr val="5E6B7D"/>
                </a:solidFill>
                <a:latin typeface="Aptos"/>
                <a:ea typeface="Aptos"/>
                <a:cs typeface="Aptos"/>
              </a:rPr>
              <a:t>bytecode shape</a:t>
            </a:r>
          </a:p>
        </p:txBody>
      </p:sp>
      <p:sp>
        <p:nvSpPr>
          <p:cNvPr id="20" name="">
            <a:extLst xmlns:a="http://schemas.openxmlformats.org/drawingml/2006/main">
              <a:ext uri="{FF2B5EF4-FFF2-40B4-BE49-F238E27FC236}">
                <a16:creationId xmlns:a16="http://schemas.microsoft.com/office/drawing/2014/main" id="{8FC70E44-8E54-4DA9-98CE-21C62025D84F}"/>
              </a:ext>
            </a:extLst>
          </p:cNvPr>
          <p:cNvSpPr>
            <a:spLocks xmlns:a="http://schemas.openxmlformats.org/drawingml/2006/main" noGrp="1"/>
          </p:cNvSpPr>
          <p:nvPr/>
        </p:nvSpPr>
        <p:spPr>
          <a:xfrm xmlns:a="http://schemas.openxmlformats.org/drawingml/2006/main">
            <a:off x="9848850" y="3752850"/>
            <a:ext cx="1428750" cy="876300"/>
          </a:xfrm>
          <a:prstGeom xmlns:a="http://schemas.openxmlformats.org/drawingml/2006/main" prst="roundRect">
            <a:avLst>
              <a:gd name="adj" fmla="val 8696"/>
            </a:avLst>
          </a:prstGeom>
          <a:solidFill xmlns:a="http://schemas.openxmlformats.org/drawingml/2006/main">
            <a:srgbClr val="FBF1DC"/>
          </a:solidFill>
          <a:ln xmlns:a="http://schemas.openxmlformats.org/drawingml/2006/main" w="9525">
            <a:solidFill>
              <a:srgbClr val="E8AA3B"/>
            </a:solidFill>
            <a:prstDash val="solid"/>
          </a:ln>
        </p:spPr>
      </p:sp>
      <p:sp>
        <p:nvSpPr>
          <p:cNvPr id="21" name="">
            <a:extLst xmlns:a="http://schemas.openxmlformats.org/drawingml/2006/main">
              <a:ext uri="{FF2B5EF4-FFF2-40B4-BE49-F238E27FC236}">
                <a16:creationId xmlns:a16="http://schemas.microsoft.com/office/drawing/2014/main" id="{77E63EC4-B21D-4E80-9F59-499E89AC43AB}"/>
              </a:ext>
            </a:extLst>
          </p:cNvPr>
          <p:cNvSpPr>
            <a:spLocks xmlns:a="http://schemas.openxmlformats.org/drawingml/2006/main" noGrp="1"/>
          </p:cNvSpPr>
          <p:nvPr/>
        </p:nvSpPr>
        <p:spPr>
          <a:xfrm xmlns:a="http://schemas.openxmlformats.org/drawingml/2006/main">
            <a:off x="9963150" y="390525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E8AA3B"/>
                </a:solidFill>
                <a:latin typeface="Aptos"/>
                <a:ea typeface="Aptos"/>
                <a:cs typeface="Aptos"/>
              </a:defRPr>
            </a:pPr>
            <a:r>
              <a:rPr sz="1275" b="1">
                <a:solidFill>
                  <a:srgbClr val="E8AA3B"/>
                </a:solidFill>
                <a:latin typeface="Aptos"/>
                <a:ea typeface="Aptos"/>
                <a:cs typeface="Aptos"/>
              </a:rPr>
              <a:t>CDG</a:t>
            </a:r>
          </a:p>
        </p:txBody>
      </p:sp>
      <p:sp>
        <p:nvSpPr>
          <p:cNvPr id="22" name="">
            <a:extLst xmlns:a="http://schemas.openxmlformats.org/drawingml/2006/main">
              <a:ext uri="{FF2B5EF4-FFF2-40B4-BE49-F238E27FC236}">
                <a16:creationId xmlns:a16="http://schemas.microsoft.com/office/drawing/2014/main" id="{CF02E829-B1A7-4CA5-A44D-CC248C91B40B}"/>
              </a:ext>
            </a:extLst>
          </p:cNvPr>
          <p:cNvSpPr>
            <a:spLocks xmlns:a="http://schemas.openxmlformats.org/drawingml/2006/main" noGrp="1"/>
          </p:cNvSpPr>
          <p:nvPr/>
        </p:nvSpPr>
        <p:spPr>
          <a:xfrm xmlns:a="http://schemas.openxmlformats.org/drawingml/2006/main">
            <a:off x="9963150" y="4248150"/>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5E6B7D"/>
                </a:solidFill>
                <a:latin typeface="Aptos"/>
                <a:ea typeface="Aptos"/>
                <a:cs typeface="Aptos"/>
              </a:defRPr>
            </a:pPr>
            <a:r>
              <a:rPr sz="825" b="0">
                <a:solidFill>
                  <a:srgbClr val="5E6B7D"/>
                </a:solidFill>
                <a:latin typeface="Aptos"/>
                <a:ea typeface="Aptos"/>
                <a:cs typeface="Aptos"/>
              </a:rPr>
              <a:t>structure</a:t>
            </a:r>
          </a:p>
        </p:txBody>
      </p:sp>
      <p:sp>
        <p:nvSpPr>
          <p:cNvPr id="23" name="">
            <a:extLst xmlns:a="http://schemas.openxmlformats.org/drawingml/2006/main">
              <a:ext uri="{FF2B5EF4-FFF2-40B4-BE49-F238E27FC236}">
                <a16:creationId xmlns:a16="http://schemas.microsoft.com/office/drawing/2014/main" id="{EB951E33-CBEC-4B86-85DA-9F23CD389FB5}"/>
              </a:ext>
            </a:extLst>
          </p:cNvPr>
          <p:cNvSpPr>
            <a:spLocks xmlns:a="http://schemas.openxmlformats.org/drawingml/2006/main" noGrp="1"/>
          </p:cNvSpPr>
          <p:nvPr/>
        </p:nvSpPr>
        <p:spPr>
          <a:xfrm xmlns:a="http://schemas.openxmlformats.org/drawingml/2006/main">
            <a:off x="9810750" y="1619250"/>
            <a:ext cx="1428750" cy="876300"/>
          </a:xfrm>
          <a:prstGeom xmlns:a="http://schemas.openxmlformats.org/drawingml/2006/main" prst="roundRect">
            <a:avLst>
              <a:gd name="adj" fmla="val 8696"/>
            </a:avLst>
          </a:prstGeom>
          <a:solidFill xmlns:a="http://schemas.openxmlformats.org/drawingml/2006/main">
            <a:srgbClr val="FCE8E8"/>
          </a:solidFill>
          <a:ln xmlns:a="http://schemas.openxmlformats.org/drawingml/2006/main" w="9525">
            <a:solidFill>
              <a:srgbClr val="F06464"/>
            </a:solidFill>
            <a:prstDash val="solid"/>
          </a:ln>
        </p:spPr>
      </p:sp>
      <p:sp>
        <p:nvSpPr>
          <p:cNvPr id="24" name="">
            <a:extLst xmlns:a="http://schemas.openxmlformats.org/drawingml/2006/main">
              <a:ext uri="{FF2B5EF4-FFF2-40B4-BE49-F238E27FC236}">
                <a16:creationId xmlns:a16="http://schemas.microsoft.com/office/drawing/2014/main" id="{B232DEB1-D8AF-4C05-849B-9B4C4C6C00E3}"/>
              </a:ext>
            </a:extLst>
          </p:cNvPr>
          <p:cNvSpPr>
            <a:spLocks xmlns:a="http://schemas.openxmlformats.org/drawingml/2006/main" noGrp="1"/>
          </p:cNvSpPr>
          <p:nvPr/>
        </p:nvSpPr>
        <p:spPr>
          <a:xfrm xmlns:a="http://schemas.openxmlformats.org/drawingml/2006/main">
            <a:off x="9925050" y="177165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F06464"/>
                </a:solidFill>
                <a:latin typeface="Aptos"/>
                <a:ea typeface="Aptos"/>
                <a:cs typeface="Aptos"/>
              </a:defRPr>
            </a:pPr>
            <a:r>
              <a:rPr sz="1275" b="1">
                <a:solidFill>
                  <a:srgbClr val="F06464"/>
                </a:solidFill>
                <a:latin typeface="Aptos"/>
                <a:ea typeface="Aptos"/>
                <a:cs typeface="Aptos"/>
              </a:rPr>
              <a:t>Literals</a:t>
            </a:r>
          </a:p>
        </p:txBody>
      </p:sp>
      <p:sp>
        <p:nvSpPr>
          <p:cNvPr id="25" name="">
            <a:extLst xmlns:a="http://schemas.openxmlformats.org/drawingml/2006/main">
              <a:ext uri="{FF2B5EF4-FFF2-40B4-BE49-F238E27FC236}">
                <a16:creationId xmlns:a16="http://schemas.microsoft.com/office/drawing/2014/main" id="{EF510943-F08A-49DF-8392-33D3B355859B}"/>
              </a:ext>
            </a:extLst>
          </p:cNvPr>
          <p:cNvSpPr>
            <a:spLocks xmlns:a="http://schemas.openxmlformats.org/drawingml/2006/main" noGrp="1"/>
          </p:cNvSpPr>
          <p:nvPr/>
        </p:nvSpPr>
        <p:spPr>
          <a:xfrm xmlns:a="http://schemas.openxmlformats.org/drawingml/2006/main">
            <a:off x="9925050" y="2114550"/>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5E6B7D"/>
                </a:solidFill>
                <a:latin typeface="Aptos"/>
                <a:ea typeface="Aptos"/>
                <a:cs typeface="Aptos"/>
              </a:defRPr>
            </a:pPr>
            <a:r>
              <a:rPr sz="825" b="0">
                <a:solidFill>
                  <a:srgbClr val="5E6B7D"/>
                </a:solidFill>
                <a:latin typeface="Aptos"/>
                <a:ea typeface="Aptos"/>
                <a:cs typeface="Aptos"/>
              </a:rPr>
              <a:t>version clues</a:t>
            </a:r>
          </a:p>
        </p:txBody>
      </p:sp>
      <p:sp>
        <p:nvSpPr>
          <p:cNvPr id="26" name="rule">
            <a:extLst xmlns:a="http://schemas.openxmlformats.org/drawingml/2006/main">
              <a:ext uri="{FF2B5EF4-FFF2-40B4-BE49-F238E27FC236}">
                <a16:creationId xmlns:a16="http://schemas.microsoft.com/office/drawing/2014/main" id="{5E62179F-81F9-44F3-843A-FAF20285FF81}"/>
              </a:ext>
            </a:extLst>
          </p:cNvPr>
          <p:cNvSpPr>
            <a:spLocks xmlns:a="http://schemas.openxmlformats.org/drawingml/2006/main" noGrp="1"/>
          </p:cNvSpPr>
          <p:nvPr/>
        </p:nvSpPr>
        <p:spPr>
          <a:xfrm xmlns:a="http://schemas.openxmlformats.org/drawingml/2006/main">
            <a:off x="2571750" y="2095500"/>
            <a:ext cx="2476500" cy="19050"/>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27" name="rule">
            <a:extLst xmlns:a="http://schemas.openxmlformats.org/drawingml/2006/main">
              <a:ext uri="{FF2B5EF4-FFF2-40B4-BE49-F238E27FC236}">
                <a16:creationId xmlns:a16="http://schemas.microsoft.com/office/drawing/2014/main" id="{E04487C1-0CF6-4C3D-8872-662F97EFE8CA}"/>
              </a:ext>
            </a:extLst>
          </p:cNvPr>
          <p:cNvSpPr>
            <a:spLocks xmlns:a="http://schemas.openxmlformats.org/drawingml/2006/main" noGrp="1"/>
          </p:cNvSpPr>
          <p:nvPr/>
        </p:nvSpPr>
        <p:spPr>
          <a:xfrm xmlns:a="http://schemas.openxmlformats.org/drawingml/2006/main">
            <a:off x="2381250" y="4171950"/>
            <a:ext cx="2686050" cy="19050"/>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28" name="rule">
            <a:extLst xmlns:a="http://schemas.openxmlformats.org/drawingml/2006/main">
              <a:ext uri="{FF2B5EF4-FFF2-40B4-BE49-F238E27FC236}">
                <a16:creationId xmlns:a16="http://schemas.microsoft.com/office/drawing/2014/main" id="{11D29654-3AC0-4720-9F23-B689644FF1BC}"/>
              </a:ext>
            </a:extLst>
          </p:cNvPr>
          <p:cNvSpPr>
            <a:spLocks xmlns:a="http://schemas.openxmlformats.org/drawingml/2006/main" noGrp="1"/>
          </p:cNvSpPr>
          <p:nvPr/>
        </p:nvSpPr>
        <p:spPr>
          <a:xfrm xmlns:a="http://schemas.openxmlformats.org/drawingml/2006/main">
            <a:off x="4914900" y="4800600"/>
            <a:ext cx="685800" cy="19050"/>
          </a:xfrm>
          <a:prstGeom xmlns:a="http://schemas.openxmlformats.org/drawingml/2006/main" prst="rect">
            <a:avLst/>
          </a:prstGeom>
          <a:solidFill xmlns:a="http://schemas.openxmlformats.org/drawingml/2006/main">
            <a:srgbClr val="9DCC3B"/>
          </a:solidFill>
          <a:ln xmlns:a="http://schemas.openxmlformats.org/drawingml/2006/main" w="0">
            <a:noFill/>
            <a:prstDash val="solid"/>
          </a:ln>
        </p:spPr>
      </p:sp>
      <p:sp>
        <p:nvSpPr>
          <p:cNvPr id="29" name="rule">
            <a:extLst xmlns:a="http://schemas.openxmlformats.org/drawingml/2006/main">
              <a:ext uri="{FF2B5EF4-FFF2-40B4-BE49-F238E27FC236}">
                <a16:creationId xmlns:a16="http://schemas.microsoft.com/office/drawing/2014/main" id="{8DB0E6A8-A900-4365-83E5-9021466BFB0A}"/>
              </a:ext>
            </a:extLst>
          </p:cNvPr>
          <p:cNvSpPr>
            <a:spLocks xmlns:a="http://schemas.openxmlformats.org/drawingml/2006/main" noGrp="1"/>
          </p:cNvSpPr>
          <p:nvPr/>
        </p:nvSpPr>
        <p:spPr>
          <a:xfrm xmlns:a="http://schemas.openxmlformats.org/drawingml/2006/main">
            <a:off x="6572250" y="4800600"/>
            <a:ext cx="1085850" cy="19050"/>
          </a:xfrm>
          <a:prstGeom xmlns:a="http://schemas.openxmlformats.org/drawingml/2006/main" prst="rect">
            <a:avLst/>
          </a:prstGeom>
          <a:solidFill xmlns:a="http://schemas.openxmlformats.org/drawingml/2006/main">
            <a:srgbClr val="806FE8"/>
          </a:solidFill>
          <a:ln xmlns:a="http://schemas.openxmlformats.org/drawingml/2006/main" w="0">
            <a:noFill/>
            <a:prstDash val="solid"/>
          </a:ln>
        </p:spPr>
      </p:sp>
      <p:sp>
        <p:nvSpPr>
          <p:cNvPr id="30" name="rule">
            <a:extLst xmlns:a="http://schemas.openxmlformats.org/drawingml/2006/main">
              <a:ext uri="{FF2B5EF4-FFF2-40B4-BE49-F238E27FC236}">
                <a16:creationId xmlns:a16="http://schemas.microsoft.com/office/drawing/2014/main" id="{CB6B4E65-3CD6-4CD9-B124-55069353FB6C}"/>
              </a:ext>
            </a:extLst>
          </p:cNvPr>
          <p:cNvSpPr>
            <a:spLocks xmlns:a="http://schemas.openxmlformats.org/drawingml/2006/main" noGrp="1"/>
          </p:cNvSpPr>
          <p:nvPr/>
        </p:nvSpPr>
        <p:spPr>
          <a:xfrm xmlns:a="http://schemas.openxmlformats.org/drawingml/2006/main">
            <a:off x="7124700" y="4171950"/>
            <a:ext cx="2724150" cy="19050"/>
          </a:xfrm>
          <a:prstGeom xmlns:a="http://schemas.openxmlformats.org/drawingml/2006/main" prst="rect">
            <a:avLst/>
          </a:prstGeom>
          <a:solidFill xmlns:a="http://schemas.openxmlformats.org/drawingml/2006/main">
            <a:srgbClr val="E8AA3B"/>
          </a:solidFill>
          <a:ln xmlns:a="http://schemas.openxmlformats.org/drawingml/2006/main" w="0">
            <a:noFill/>
            <a:prstDash val="solid"/>
          </a:ln>
        </p:spPr>
      </p:sp>
      <p:sp>
        <p:nvSpPr>
          <p:cNvPr id="31" name="rule">
            <a:extLst xmlns:a="http://schemas.openxmlformats.org/drawingml/2006/main">
              <a:ext uri="{FF2B5EF4-FFF2-40B4-BE49-F238E27FC236}">
                <a16:creationId xmlns:a16="http://schemas.microsoft.com/office/drawing/2014/main" id="{E2BFA271-1C08-4CB7-9407-A7F5921F633D}"/>
              </a:ext>
            </a:extLst>
          </p:cNvPr>
          <p:cNvSpPr>
            <a:spLocks xmlns:a="http://schemas.openxmlformats.org/drawingml/2006/main" noGrp="1"/>
          </p:cNvSpPr>
          <p:nvPr/>
        </p:nvSpPr>
        <p:spPr>
          <a:xfrm xmlns:a="http://schemas.openxmlformats.org/drawingml/2006/main">
            <a:off x="7124700" y="2095500"/>
            <a:ext cx="2686050" cy="19050"/>
          </a:xfrm>
          <a:prstGeom xmlns:a="http://schemas.openxmlformats.org/drawingml/2006/main" prst="rect">
            <a:avLst/>
          </a:prstGeom>
          <a:solidFill xmlns:a="http://schemas.openxmlformats.org/drawingml/2006/main">
            <a:srgbClr val="F06464"/>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A0A60800-7C03-4308-A8C8-DF988DA3231F}"/>
              </a:ext>
            </a:extLst>
          </p:cNvPr>
          <p:cNvSpPr>
            <a:spLocks xmlns:a="http://schemas.openxmlformats.org/drawingml/2006/main" noGrp="1"/>
          </p:cNvSpPr>
          <p:nvPr/>
        </p:nvSpPr>
        <p:spPr>
          <a:xfrm xmlns:a="http://schemas.openxmlformats.org/drawingml/2006/main">
            <a:off x="5143500" y="5924550"/>
            <a:ext cx="857250" cy="266700"/>
          </a:xfrm>
          <a:prstGeom xmlns:a="http://schemas.openxmlformats.org/drawingml/2006/main" prst="roundRect">
            <a:avLst>
              <a:gd name="adj" fmla="val 28571"/>
            </a:avLst>
          </a:prstGeom>
          <a:solidFill xmlns:a="http://schemas.openxmlformats.org/drawingml/2006/main">
            <a:srgbClr val="EFF7DD"/>
          </a:solidFill>
          <a:ln xmlns:a="http://schemas.openxmlformats.org/drawingml/2006/main" w="9525">
            <a:solidFill>
              <a:srgbClr val="9DCC3B"/>
            </a:solidFill>
            <a:prstDash val="solid"/>
          </a:ln>
        </p:spPr>
      </p:sp>
      <p:sp>
        <p:nvSpPr>
          <p:cNvPr id="33" name="">
            <a:extLst xmlns:a="http://schemas.openxmlformats.org/drawingml/2006/main">
              <a:ext uri="{FF2B5EF4-FFF2-40B4-BE49-F238E27FC236}">
                <a16:creationId xmlns:a16="http://schemas.microsoft.com/office/drawing/2014/main" id="{8E678A37-C5EB-488E-998A-EAE542A8A3A1}"/>
              </a:ext>
            </a:extLst>
          </p:cNvPr>
          <p:cNvSpPr>
            <a:spLocks xmlns:a="http://schemas.openxmlformats.org/drawingml/2006/main" noGrp="1"/>
          </p:cNvSpPr>
          <p:nvPr/>
        </p:nvSpPr>
        <p:spPr>
          <a:xfrm xmlns:a="http://schemas.openxmlformats.org/drawingml/2006/main">
            <a:off x="5210175" y="5981700"/>
            <a:ext cx="723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9DCC3B"/>
                </a:solidFill>
                <a:latin typeface="Aptos"/>
                <a:ea typeface="Aptos"/>
                <a:cs typeface="Aptos"/>
              </a:defRPr>
            </a:pPr>
            <a:r>
              <a:rPr sz="825" b="1">
                <a:solidFill>
                  <a:srgbClr val="9DCC3B"/>
                </a:solidFill>
                <a:latin typeface="Aptos"/>
                <a:ea typeface="Aptos"/>
                <a:cs typeface="Aptos"/>
              </a:rPr>
              <a:t>CORE</a:t>
            </a:r>
          </a:p>
        </p:txBody>
      </p:sp>
      <p:sp>
        <p:nvSpPr>
          <p:cNvPr id="34" name="">
            <a:extLst xmlns:a="http://schemas.openxmlformats.org/drawingml/2006/main">
              <a:ext uri="{FF2B5EF4-FFF2-40B4-BE49-F238E27FC236}">
                <a16:creationId xmlns:a16="http://schemas.microsoft.com/office/drawing/2014/main" id="{B8D29BDA-DA0B-4307-ABAF-7126FA8D0DEE}"/>
              </a:ext>
            </a:extLst>
          </p:cNvPr>
          <p:cNvSpPr>
            <a:spLocks xmlns:a="http://schemas.openxmlformats.org/drawingml/2006/main" noGrp="1"/>
          </p:cNvSpPr>
          <p:nvPr/>
        </p:nvSpPr>
        <p:spPr>
          <a:xfrm xmlns:a="http://schemas.openxmlformats.org/drawingml/2006/main">
            <a:off x="6134100" y="596265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01827"/>
                </a:solidFill>
                <a:latin typeface="Aptos"/>
                <a:ea typeface="Aptos"/>
                <a:cs typeface="Aptos"/>
              </a:defRPr>
            </a:pPr>
            <a:r>
              <a:rPr sz="900" b="1">
                <a:solidFill>
                  <a:srgbClr val="101827"/>
                </a:solidFill>
                <a:latin typeface="Aptos"/>
                <a:ea typeface="Aptos"/>
                <a:cs typeface="Aptos"/>
              </a:rPr>
              <a:t>package / class / method / opcode / graph / literal</a:t>
            </a:r>
          </a:p>
        </p:txBody>
      </p:sp>
      <p:sp>
        <p:nvSpPr>
          <p:cNvPr id="35" name="">
            <a:extLst xmlns:a="http://schemas.openxmlformats.org/drawingml/2006/main">
              <a:ext uri="{FF2B5EF4-FFF2-40B4-BE49-F238E27FC236}">
                <a16:creationId xmlns:a16="http://schemas.microsoft.com/office/drawing/2014/main" id="{4128B87D-6264-43A3-8705-094B6F7694A2}"/>
              </a:ext>
            </a:extLst>
          </p:cNvPr>
          <p:cNvSpPr>
            <a:spLocks xmlns:a="http://schemas.openxmlformats.org/drawingml/2006/main" noGrp="1"/>
          </p:cNvSpPr>
          <p:nvPr/>
        </p:nvSpPr>
        <p:spPr>
          <a:xfrm xmlns:a="http://schemas.openxmlformats.org/drawingml/2006/main">
            <a:off x="5143500" y="6210300"/>
            <a:ext cx="857250" cy="266700"/>
          </a:xfrm>
          <a:prstGeom xmlns:a="http://schemas.openxmlformats.org/drawingml/2006/main" prst="roundRect">
            <a:avLst>
              <a:gd name="adj" fmla="val 28571"/>
            </a:avLst>
          </a:prstGeom>
          <a:solidFill xmlns:a="http://schemas.openxmlformats.org/drawingml/2006/main">
            <a:srgbClr val="FBF1DC"/>
          </a:solidFill>
          <a:ln xmlns:a="http://schemas.openxmlformats.org/drawingml/2006/main" w="9525">
            <a:solidFill>
              <a:srgbClr val="E8AA3B"/>
            </a:solidFill>
            <a:prstDash val="solid"/>
          </a:ln>
        </p:spPr>
      </p:sp>
      <p:sp>
        <p:nvSpPr>
          <p:cNvPr id="36" name="">
            <a:extLst xmlns:a="http://schemas.openxmlformats.org/drawingml/2006/main">
              <a:ext uri="{FF2B5EF4-FFF2-40B4-BE49-F238E27FC236}">
                <a16:creationId xmlns:a16="http://schemas.microsoft.com/office/drawing/2014/main" id="{FCFEE99B-7DC4-4D7D-94B7-EEEAB0421C3E}"/>
              </a:ext>
            </a:extLst>
          </p:cNvPr>
          <p:cNvSpPr>
            <a:spLocks xmlns:a="http://schemas.openxmlformats.org/drawingml/2006/main" noGrp="1"/>
          </p:cNvSpPr>
          <p:nvPr/>
        </p:nvSpPr>
        <p:spPr>
          <a:xfrm xmlns:a="http://schemas.openxmlformats.org/drawingml/2006/main">
            <a:off x="5210175" y="6267450"/>
            <a:ext cx="723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E8AA3B"/>
                </a:solidFill>
                <a:latin typeface="Aptos"/>
                <a:ea typeface="Aptos"/>
                <a:cs typeface="Aptos"/>
              </a:defRPr>
            </a:pPr>
            <a:r>
              <a:rPr sz="825" b="1">
                <a:solidFill>
                  <a:srgbClr val="E8AA3B"/>
                </a:solidFill>
                <a:latin typeface="Aptos"/>
                <a:ea typeface="Aptos"/>
                <a:cs typeface="Aptos"/>
              </a:rPr>
              <a:t>GUARDED</a:t>
            </a:r>
          </a:p>
        </p:txBody>
      </p:sp>
      <p:sp>
        <p:nvSpPr>
          <p:cNvPr id="37" name="">
            <a:extLst xmlns:a="http://schemas.openxmlformats.org/drawingml/2006/main">
              <a:ext uri="{FF2B5EF4-FFF2-40B4-BE49-F238E27FC236}">
                <a16:creationId xmlns:a16="http://schemas.microsoft.com/office/drawing/2014/main" id="{73560F5B-D6C8-495D-9916-3E4749DA38C7}"/>
              </a:ext>
            </a:extLst>
          </p:cNvPr>
          <p:cNvSpPr>
            <a:spLocks xmlns:a="http://schemas.openxmlformats.org/drawingml/2006/main" noGrp="1"/>
          </p:cNvSpPr>
          <p:nvPr/>
        </p:nvSpPr>
        <p:spPr>
          <a:xfrm xmlns:a="http://schemas.openxmlformats.org/drawingml/2006/main">
            <a:off x="6134100" y="624840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E6B7D"/>
                </a:solidFill>
                <a:latin typeface="Aptos"/>
                <a:ea typeface="Aptos"/>
                <a:cs typeface="Aptos"/>
              </a:defRPr>
            </a:pPr>
            <a:r>
              <a:rPr sz="900" b="0">
                <a:solidFill>
                  <a:srgbClr val="5E6B7D"/>
                </a:solidFill>
                <a:latin typeface="Aptos"/>
                <a:ea typeface="Aptos"/>
                <a:cs typeface="Aptos"/>
              </a:rPr>
              <a:t>POM coherence; API refs and tri-grams disabled globally</a:t>
            </a:r>
          </a:p>
        </p:txBody>
      </p:sp>
      <p:sp>
        <p:nvSpPr>
          <p:cNvPr id="38" name="">
            <a:extLst xmlns:a="http://schemas.openxmlformats.org/drawingml/2006/main">
              <a:ext uri="{FF2B5EF4-FFF2-40B4-BE49-F238E27FC236}">
                <a16:creationId xmlns:a16="http://schemas.microsoft.com/office/drawing/2014/main" id="{F545F73B-E27C-493C-BF44-30B84F43F8C2}"/>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502739593"/>
      </p:ext>
    </p:extLst>
  </p:cSld>
</p:sld>
</file>

<file path=ppt/slides/slide7.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D73219F-4923-4909-AFCD-D64598573BE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5056E91-01A3-4B48-B4D6-2AA9DB3498F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E8AA3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95FBD33-7EBF-46C2-B3F9-EC9D36E82C51}"/>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E8AA3B"/>
                </a:solidFill>
                <a:latin typeface="Aptos"/>
                <a:ea typeface="Aptos"/>
                <a:cs typeface="Aptos"/>
              </a:defRPr>
            </a:pPr>
            <a:r>
              <a:rPr sz="900" b="1">
                <a:solidFill>
                  <a:srgbClr val="E8AA3B"/>
                </a:solidFill>
                <a:latin typeface="Aptos"/>
                <a:ea typeface="Aptos"/>
                <a:cs typeface="Aptos"/>
              </a:rPr>
              <a:t>CONFIDENCE MODEL</a:t>
            </a:r>
          </a:p>
        </p:txBody>
      </p:sp>
      <p:sp>
        <p:nvSpPr>
          <p:cNvPr id="4" name="">
            <a:extLst xmlns:a="http://schemas.openxmlformats.org/drawingml/2006/main">
              <a:ext uri="{FF2B5EF4-FFF2-40B4-BE49-F238E27FC236}">
                <a16:creationId xmlns:a16="http://schemas.microsoft.com/office/drawing/2014/main" id="{36F82F24-4CB6-46A0-A90F-FD519E24E423}"/>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Identity confidence and exact-version confidence are different decisions</a:t>
            </a:r>
          </a:p>
        </p:txBody>
      </p:sp>
      <p:sp>
        <p:nvSpPr>
          <p:cNvPr id="5" name="">
            <a:extLst xmlns:a="http://schemas.openxmlformats.org/drawingml/2006/main">
              <a:ext uri="{FF2B5EF4-FFF2-40B4-BE49-F238E27FC236}">
                <a16:creationId xmlns:a16="http://schemas.microsoft.com/office/drawing/2014/main" id="{460762F5-2C8C-4701-A57A-5B8A8A09919B}"/>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07</a:t>
            </a:r>
          </a:p>
        </p:txBody>
      </p:sp>
      <p:sp>
        <p:nvSpPr>
          <p:cNvPr id="6" name="">
            <a:extLst xmlns:a="http://schemas.openxmlformats.org/drawingml/2006/main">
              <a:ext uri="{FF2B5EF4-FFF2-40B4-BE49-F238E27FC236}">
                <a16:creationId xmlns:a16="http://schemas.microsoft.com/office/drawing/2014/main" id="{69344DC6-7DAF-4D8C-B2F8-35F0178C22A5}"/>
              </a:ext>
            </a:extLst>
          </p:cNvPr>
          <p:cNvSpPr>
            <a:spLocks xmlns:a="http://schemas.openxmlformats.org/drawingml/2006/main" noGrp="1"/>
          </p:cNvSpPr>
          <p:nvPr/>
        </p:nvSpPr>
        <p:spPr>
          <a:xfrm xmlns:a="http://schemas.openxmlformats.org/drawingml/2006/main">
            <a:off x="723900" y="1657350"/>
            <a:ext cx="2781300" cy="3371850"/>
          </a:xfrm>
          <a:prstGeom xmlns:a="http://schemas.openxmlformats.org/drawingml/2006/main" prst="roundRect">
            <a:avLst>
              <a:gd name="adj" fmla="val 2740"/>
            </a:avLst>
          </a:prstGeom>
          <a:solidFill xmlns:a="http://schemas.openxmlformats.org/drawingml/2006/main">
            <a:srgbClr val="111B2E"/>
          </a:solidFill>
          <a:ln xmlns:a="http://schemas.openxmlformats.org/drawingml/2006/main" w="9525">
            <a:solidFill>
              <a:srgbClr val="26344D"/>
            </a:solidFill>
            <a:prstDash val="solid"/>
          </a:ln>
        </p:spPr>
      </p:sp>
      <p:sp>
        <p:nvSpPr>
          <p:cNvPr id="7" name="">
            <a:extLst xmlns:a="http://schemas.openxmlformats.org/drawingml/2006/main">
              <a:ext uri="{FF2B5EF4-FFF2-40B4-BE49-F238E27FC236}">
                <a16:creationId xmlns:a16="http://schemas.microsoft.com/office/drawing/2014/main" id="{07D4705E-9932-44F6-AF00-D2982F43CDC0}"/>
              </a:ext>
            </a:extLst>
          </p:cNvPr>
          <p:cNvSpPr>
            <a:spLocks xmlns:a="http://schemas.openxmlformats.org/drawingml/2006/main" noGrp="1"/>
          </p:cNvSpPr>
          <p:nvPr/>
        </p:nvSpPr>
        <p:spPr>
          <a:xfrm xmlns:a="http://schemas.openxmlformats.org/drawingml/2006/main">
            <a:off x="933450" y="1885950"/>
            <a:ext cx="400050" cy="400050"/>
          </a:xfrm>
          <a:prstGeom xmlns:a="http://schemas.openxmlformats.org/drawingml/2006/main" prst="ellipse">
            <a:avLst/>
          </a:prstGeom>
          <a:solidFill xmlns:a="http://schemas.openxmlformats.org/drawingml/2006/main">
            <a:srgbClr val="4F7C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A4AE95E-6C91-4DD6-A013-407431629F6F}"/>
              </a:ext>
            </a:extLst>
          </p:cNvPr>
          <p:cNvSpPr>
            <a:spLocks xmlns:a="http://schemas.openxmlformats.org/drawingml/2006/main" noGrp="1"/>
          </p:cNvSpPr>
          <p:nvPr/>
        </p:nvSpPr>
        <p:spPr>
          <a:xfrm xmlns:a="http://schemas.openxmlformats.org/drawingml/2006/main">
            <a:off x="933450" y="200025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0B1220"/>
                </a:solidFill>
                <a:latin typeface="Aptos"/>
                <a:ea typeface="Aptos"/>
                <a:cs typeface="Aptos"/>
              </a:defRPr>
            </a:pPr>
            <a:r>
              <a:rPr sz="975" b="1">
                <a:solidFill>
                  <a:srgbClr val="0B1220"/>
                </a:solidFill>
                <a:latin typeface="Aptos"/>
                <a:ea typeface="Aptos"/>
                <a:cs typeface="Aptos"/>
              </a:rPr>
              <a:t>1</a:t>
            </a:r>
          </a:p>
        </p:txBody>
      </p:sp>
      <p:sp>
        <p:nvSpPr>
          <p:cNvPr id="9" name="">
            <a:extLst xmlns:a="http://schemas.openxmlformats.org/drawingml/2006/main">
              <a:ext uri="{FF2B5EF4-FFF2-40B4-BE49-F238E27FC236}">
                <a16:creationId xmlns:a16="http://schemas.microsoft.com/office/drawing/2014/main" id="{7A7EC279-C3EA-4A1A-B1B9-1D362BF68BA2}"/>
              </a:ext>
            </a:extLst>
          </p:cNvPr>
          <p:cNvSpPr>
            <a:spLocks xmlns:a="http://schemas.openxmlformats.org/drawingml/2006/main" noGrp="1"/>
          </p:cNvSpPr>
          <p:nvPr/>
        </p:nvSpPr>
        <p:spPr>
          <a:xfrm xmlns:a="http://schemas.openxmlformats.org/drawingml/2006/main">
            <a:off x="1485900" y="1885950"/>
            <a:ext cx="1695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FFFFFF"/>
                </a:solidFill>
                <a:latin typeface="Aptos"/>
                <a:ea typeface="Aptos"/>
                <a:cs typeface="Aptos"/>
              </a:defRPr>
            </a:pPr>
            <a:r>
              <a:rPr sz="1725" b="1">
                <a:solidFill>
                  <a:srgbClr val="FFFFFF"/>
                </a:solidFill>
                <a:latin typeface="Aptos"/>
                <a:ea typeface="Aptos"/>
                <a:cs typeface="Aptos"/>
              </a:rPr>
              <a:t>Identity</a:t>
            </a:r>
          </a:p>
        </p:txBody>
      </p:sp>
      <p:sp>
        <p:nvSpPr>
          <p:cNvPr id="10" name="">
            <a:extLst xmlns:a="http://schemas.openxmlformats.org/drawingml/2006/main">
              <a:ext uri="{FF2B5EF4-FFF2-40B4-BE49-F238E27FC236}">
                <a16:creationId xmlns:a16="http://schemas.microsoft.com/office/drawing/2014/main" id="{37C053E2-DF4E-4EA7-8045-6C74841E9E6F}"/>
              </a:ext>
            </a:extLst>
          </p:cNvPr>
          <p:cNvSpPr>
            <a:spLocks xmlns:a="http://schemas.openxmlformats.org/drawingml/2006/main" noGrp="1"/>
          </p:cNvSpPr>
          <p:nvPr/>
        </p:nvSpPr>
        <p:spPr>
          <a:xfrm xmlns:a="http://schemas.openxmlformats.org/drawingml/2006/main">
            <a:off x="952500" y="2457450"/>
            <a:ext cx="2324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4F7CFF"/>
                </a:solidFill>
                <a:latin typeface="Aptos"/>
                <a:ea typeface="Aptos"/>
                <a:cs typeface="Aptos"/>
              </a:defRPr>
            </a:pPr>
            <a:r>
              <a:rPr sz="1275" b="1">
                <a:solidFill>
                  <a:srgbClr val="4F7CFF"/>
                </a:solidFill>
                <a:latin typeface="Aptos"/>
                <a:ea typeface="Aptos"/>
                <a:cs typeface="Aptos"/>
              </a:rPr>
              <a:t>Is this library present?</a:t>
            </a:r>
          </a:p>
        </p:txBody>
      </p:sp>
      <p:sp>
        <p:nvSpPr>
          <p:cNvPr id="11" name="rule">
            <a:extLst xmlns:a="http://schemas.openxmlformats.org/drawingml/2006/main">
              <a:ext uri="{FF2B5EF4-FFF2-40B4-BE49-F238E27FC236}">
                <a16:creationId xmlns:a16="http://schemas.microsoft.com/office/drawing/2014/main" id="{3CF6D074-4A9B-4383-B652-FEA48F8ECC41}"/>
              </a:ext>
            </a:extLst>
          </p:cNvPr>
          <p:cNvSpPr>
            <a:spLocks xmlns:a="http://schemas.openxmlformats.org/drawingml/2006/main" noGrp="1"/>
          </p:cNvSpPr>
          <p:nvPr/>
        </p:nvSpPr>
        <p:spPr>
          <a:xfrm xmlns:a="http://schemas.openxmlformats.org/drawingml/2006/main">
            <a:off x="952500" y="3162300"/>
            <a:ext cx="171450" cy="28575"/>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8E4D9AC-9B90-4F8D-A402-6E53E13EBE06}"/>
              </a:ext>
            </a:extLst>
          </p:cNvPr>
          <p:cNvSpPr>
            <a:spLocks xmlns:a="http://schemas.openxmlformats.org/drawingml/2006/main" noGrp="1"/>
          </p:cNvSpPr>
          <p:nvPr/>
        </p:nvSpPr>
        <p:spPr>
          <a:xfrm xmlns:a="http://schemas.openxmlformats.org/drawingml/2006/main">
            <a:off x="1276350" y="3067050"/>
            <a:ext cx="1924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B8C3D3"/>
                </a:solidFill>
                <a:latin typeface="Aptos"/>
                <a:ea typeface="Aptos"/>
                <a:cs typeface="Aptos"/>
              </a:defRPr>
            </a:pPr>
            <a:r>
              <a:rPr sz="1050" b="0">
                <a:solidFill>
                  <a:srgbClr val="B8C3D3"/>
                </a:solidFill>
                <a:latin typeface="Aptos"/>
                <a:ea typeface="Aptos"/>
                <a:cs typeface="Aptos"/>
              </a:rPr>
              <a:t>package evidence</a:t>
            </a:r>
          </a:p>
        </p:txBody>
      </p:sp>
      <p:sp>
        <p:nvSpPr>
          <p:cNvPr id="13" name="rule">
            <a:extLst xmlns:a="http://schemas.openxmlformats.org/drawingml/2006/main">
              <a:ext uri="{FF2B5EF4-FFF2-40B4-BE49-F238E27FC236}">
                <a16:creationId xmlns:a16="http://schemas.microsoft.com/office/drawing/2014/main" id="{886277C3-779D-4F19-ADDB-A333A251ACFC}"/>
              </a:ext>
            </a:extLst>
          </p:cNvPr>
          <p:cNvSpPr>
            <a:spLocks xmlns:a="http://schemas.openxmlformats.org/drawingml/2006/main" noGrp="1"/>
          </p:cNvSpPr>
          <p:nvPr/>
        </p:nvSpPr>
        <p:spPr>
          <a:xfrm xmlns:a="http://schemas.openxmlformats.org/drawingml/2006/main">
            <a:off x="952500" y="3619500"/>
            <a:ext cx="171450" cy="28575"/>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6A56835-19B9-40B1-89AB-5CCE60F13435}"/>
              </a:ext>
            </a:extLst>
          </p:cNvPr>
          <p:cNvSpPr>
            <a:spLocks xmlns:a="http://schemas.openxmlformats.org/drawingml/2006/main" noGrp="1"/>
          </p:cNvSpPr>
          <p:nvPr/>
        </p:nvSpPr>
        <p:spPr>
          <a:xfrm xmlns:a="http://schemas.openxmlformats.org/drawingml/2006/main">
            <a:off x="1276350" y="3524250"/>
            <a:ext cx="1924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B8C3D3"/>
                </a:solidFill>
                <a:latin typeface="Aptos"/>
                <a:ea typeface="Aptos"/>
                <a:cs typeface="Aptos"/>
              </a:defRPr>
            </a:pPr>
            <a:r>
              <a:rPr sz="1050" b="0">
                <a:solidFill>
                  <a:srgbClr val="B8C3D3"/>
                </a:solidFill>
                <a:latin typeface="Aptos"/>
                <a:ea typeface="Aptos"/>
                <a:cs typeface="Aptos"/>
              </a:rPr>
              <a:t>class/method overlap</a:t>
            </a:r>
          </a:p>
        </p:txBody>
      </p:sp>
      <p:sp>
        <p:nvSpPr>
          <p:cNvPr id="15" name="rule">
            <a:extLst xmlns:a="http://schemas.openxmlformats.org/drawingml/2006/main">
              <a:ext uri="{FF2B5EF4-FFF2-40B4-BE49-F238E27FC236}">
                <a16:creationId xmlns:a16="http://schemas.microsoft.com/office/drawing/2014/main" id="{FFF46F9B-45E1-4D65-897D-E22BDE6E8220}"/>
              </a:ext>
            </a:extLst>
          </p:cNvPr>
          <p:cNvSpPr>
            <a:spLocks xmlns:a="http://schemas.openxmlformats.org/drawingml/2006/main" noGrp="1"/>
          </p:cNvSpPr>
          <p:nvPr/>
        </p:nvSpPr>
        <p:spPr>
          <a:xfrm xmlns:a="http://schemas.openxmlformats.org/drawingml/2006/main">
            <a:off x="952500" y="4076700"/>
            <a:ext cx="171450" cy="28575"/>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AF1E93F-B321-404E-9926-A58D4B7F8EF5}"/>
              </a:ext>
            </a:extLst>
          </p:cNvPr>
          <p:cNvSpPr>
            <a:spLocks xmlns:a="http://schemas.openxmlformats.org/drawingml/2006/main" noGrp="1"/>
          </p:cNvSpPr>
          <p:nvPr/>
        </p:nvSpPr>
        <p:spPr>
          <a:xfrm xmlns:a="http://schemas.openxmlformats.org/drawingml/2006/main">
            <a:off x="1276350" y="3981450"/>
            <a:ext cx="1924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B8C3D3"/>
                </a:solidFill>
                <a:latin typeface="Aptos"/>
                <a:ea typeface="Aptos"/>
                <a:cs typeface="Aptos"/>
              </a:defRPr>
            </a:pPr>
            <a:r>
              <a:rPr sz="1050" b="0">
                <a:solidFill>
                  <a:srgbClr val="B8C3D3"/>
                </a:solidFill>
                <a:latin typeface="Aptos"/>
                <a:ea typeface="Aptos"/>
                <a:cs typeface="Aptos"/>
              </a:rPr>
              <a:t>structural agreement</a:t>
            </a:r>
          </a:p>
        </p:txBody>
      </p:sp>
      <p:sp>
        <p:nvSpPr>
          <p:cNvPr id="17" name="">
            <a:extLst xmlns:a="http://schemas.openxmlformats.org/drawingml/2006/main">
              <a:ext uri="{FF2B5EF4-FFF2-40B4-BE49-F238E27FC236}">
                <a16:creationId xmlns:a16="http://schemas.microsoft.com/office/drawing/2014/main" id="{4A495DDB-E632-4842-88F5-EC42BDBEA475}"/>
              </a:ext>
            </a:extLst>
          </p:cNvPr>
          <p:cNvSpPr>
            <a:spLocks xmlns:a="http://schemas.openxmlformats.org/drawingml/2006/main" noGrp="1"/>
          </p:cNvSpPr>
          <p:nvPr/>
        </p:nvSpPr>
        <p:spPr>
          <a:xfrm xmlns:a="http://schemas.openxmlformats.org/drawingml/2006/main">
            <a:off x="3943350" y="1657350"/>
            <a:ext cx="2781300" cy="3371850"/>
          </a:xfrm>
          <a:prstGeom xmlns:a="http://schemas.openxmlformats.org/drawingml/2006/main" prst="roundRect">
            <a:avLst>
              <a:gd name="adj" fmla="val 2740"/>
            </a:avLst>
          </a:prstGeom>
          <a:solidFill xmlns:a="http://schemas.openxmlformats.org/drawingml/2006/main">
            <a:srgbClr val="111B2E"/>
          </a:solidFill>
          <a:ln xmlns:a="http://schemas.openxmlformats.org/drawingml/2006/main" w="9525">
            <a:solidFill>
              <a:srgbClr val="26344D"/>
            </a:solidFill>
            <a:prstDash val="solid"/>
          </a:ln>
        </p:spPr>
      </p:sp>
      <p:sp>
        <p:nvSpPr>
          <p:cNvPr id="18" name="">
            <a:extLst xmlns:a="http://schemas.openxmlformats.org/drawingml/2006/main">
              <a:ext uri="{FF2B5EF4-FFF2-40B4-BE49-F238E27FC236}">
                <a16:creationId xmlns:a16="http://schemas.microsoft.com/office/drawing/2014/main" id="{1531147A-36D1-43BD-9B99-8A248EFE109B}"/>
              </a:ext>
            </a:extLst>
          </p:cNvPr>
          <p:cNvSpPr>
            <a:spLocks xmlns:a="http://schemas.openxmlformats.org/drawingml/2006/main" noGrp="1"/>
          </p:cNvSpPr>
          <p:nvPr/>
        </p:nvSpPr>
        <p:spPr>
          <a:xfrm xmlns:a="http://schemas.openxmlformats.org/drawingml/2006/main">
            <a:off x="4152900" y="1885950"/>
            <a:ext cx="400050" cy="400050"/>
          </a:xfrm>
          <a:prstGeom xmlns:a="http://schemas.openxmlformats.org/drawingml/2006/main" prst="ellipse">
            <a:avLst/>
          </a:prstGeom>
          <a:solidFill xmlns:a="http://schemas.openxmlformats.org/drawingml/2006/main">
            <a:srgbClr val="24BFAE"/>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0C1DA4B-3BE3-44BD-8388-A623BA0AF075}"/>
              </a:ext>
            </a:extLst>
          </p:cNvPr>
          <p:cNvSpPr>
            <a:spLocks xmlns:a="http://schemas.openxmlformats.org/drawingml/2006/main" noGrp="1"/>
          </p:cNvSpPr>
          <p:nvPr/>
        </p:nvSpPr>
        <p:spPr>
          <a:xfrm xmlns:a="http://schemas.openxmlformats.org/drawingml/2006/main">
            <a:off x="4152900" y="200025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0B1220"/>
                </a:solidFill>
                <a:latin typeface="Aptos"/>
                <a:ea typeface="Aptos"/>
                <a:cs typeface="Aptos"/>
              </a:defRPr>
            </a:pPr>
            <a:r>
              <a:rPr sz="975" b="1">
                <a:solidFill>
                  <a:srgbClr val="0B1220"/>
                </a:solidFill>
                <a:latin typeface="Aptos"/>
                <a:ea typeface="Aptos"/>
                <a:cs typeface="Aptos"/>
              </a:rPr>
              <a:t>2</a:t>
            </a:r>
          </a:p>
        </p:txBody>
      </p:sp>
      <p:sp>
        <p:nvSpPr>
          <p:cNvPr id="20" name="">
            <a:extLst xmlns:a="http://schemas.openxmlformats.org/drawingml/2006/main">
              <a:ext uri="{FF2B5EF4-FFF2-40B4-BE49-F238E27FC236}">
                <a16:creationId xmlns:a16="http://schemas.microsoft.com/office/drawing/2014/main" id="{1EEA7FD2-77BE-4C34-ACA9-4A1FC0FDF7EA}"/>
              </a:ext>
            </a:extLst>
          </p:cNvPr>
          <p:cNvSpPr>
            <a:spLocks xmlns:a="http://schemas.openxmlformats.org/drawingml/2006/main" noGrp="1"/>
          </p:cNvSpPr>
          <p:nvPr/>
        </p:nvSpPr>
        <p:spPr>
          <a:xfrm xmlns:a="http://schemas.openxmlformats.org/drawingml/2006/main">
            <a:off x="4705350" y="1885950"/>
            <a:ext cx="1695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FFFFFF"/>
                </a:solidFill>
                <a:latin typeface="Aptos"/>
                <a:ea typeface="Aptos"/>
                <a:cs typeface="Aptos"/>
              </a:defRPr>
            </a:pPr>
            <a:r>
              <a:rPr sz="1725" b="1">
                <a:solidFill>
                  <a:srgbClr val="FFFFFF"/>
                </a:solidFill>
                <a:latin typeface="Aptos"/>
                <a:ea typeface="Aptos"/>
                <a:cs typeface="Aptos"/>
              </a:rPr>
              <a:t>Version</a:t>
            </a:r>
          </a:p>
        </p:txBody>
      </p:sp>
      <p:sp>
        <p:nvSpPr>
          <p:cNvPr id="21" name="">
            <a:extLst xmlns:a="http://schemas.openxmlformats.org/drawingml/2006/main">
              <a:ext uri="{FF2B5EF4-FFF2-40B4-BE49-F238E27FC236}">
                <a16:creationId xmlns:a16="http://schemas.microsoft.com/office/drawing/2014/main" id="{B3D1C2B2-85A4-4C52-B42C-39EFF4B14376}"/>
              </a:ext>
            </a:extLst>
          </p:cNvPr>
          <p:cNvSpPr>
            <a:spLocks xmlns:a="http://schemas.openxmlformats.org/drawingml/2006/main" noGrp="1"/>
          </p:cNvSpPr>
          <p:nvPr/>
        </p:nvSpPr>
        <p:spPr>
          <a:xfrm xmlns:a="http://schemas.openxmlformats.org/drawingml/2006/main">
            <a:off x="4171950" y="2457450"/>
            <a:ext cx="2324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24BFAE"/>
                </a:solidFill>
                <a:latin typeface="Aptos"/>
                <a:ea typeface="Aptos"/>
                <a:cs typeface="Aptos"/>
              </a:defRPr>
            </a:pPr>
            <a:r>
              <a:rPr sz="1275" b="1">
                <a:solidFill>
                  <a:srgbClr val="24BFAE"/>
                </a:solidFill>
                <a:latin typeface="Aptos"/>
                <a:ea typeface="Aptos"/>
                <a:cs typeface="Aptos"/>
              </a:rPr>
              <a:t>Is this exact version supported?</a:t>
            </a:r>
          </a:p>
        </p:txBody>
      </p:sp>
      <p:sp>
        <p:nvSpPr>
          <p:cNvPr id="22" name="rule">
            <a:extLst xmlns:a="http://schemas.openxmlformats.org/drawingml/2006/main">
              <a:ext uri="{FF2B5EF4-FFF2-40B4-BE49-F238E27FC236}">
                <a16:creationId xmlns:a16="http://schemas.microsoft.com/office/drawing/2014/main" id="{4BADD93D-6C2B-4D63-B5A0-2D7862673E48}"/>
              </a:ext>
            </a:extLst>
          </p:cNvPr>
          <p:cNvSpPr>
            <a:spLocks xmlns:a="http://schemas.openxmlformats.org/drawingml/2006/main" noGrp="1"/>
          </p:cNvSpPr>
          <p:nvPr/>
        </p:nvSpPr>
        <p:spPr>
          <a:xfrm xmlns:a="http://schemas.openxmlformats.org/drawingml/2006/main">
            <a:off x="4171950" y="3162300"/>
            <a:ext cx="171450" cy="28575"/>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F3A690D-27AB-4A7A-943D-E596EB2A49FA}"/>
              </a:ext>
            </a:extLst>
          </p:cNvPr>
          <p:cNvSpPr>
            <a:spLocks xmlns:a="http://schemas.openxmlformats.org/drawingml/2006/main" noGrp="1"/>
          </p:cNvSpPr>
          <p:nvPr/>
        </p:nvSpPr>
        <p:spPr>
          <a:xfrm xmlns:a="http://schemas.openxmlformats.org/drawingml/2006/main">
            <a:off x="4495800" y="3067050"/>
            <a:ext cx="1924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B8C3D3"/>
                </a:solidFill>
                <a:latin typeface="Aptos"/>
                <a:ea typeface="Aptos"/>
                <a:cs typeface="Aptos"/>
              </a:defRPr>
            </a:pPr>
            <a:r>
              <a:rPr sz="1050" b="0">
                <a:solidFill>
                  <a:srgbClr val="B8C3D3"/>
                </a:solidFill>
                <a:latin typeface="Aptos"/>
                <a:ea typeface="Aptos"/>
                <a:cs typeface="Aptos"/>
              </a:rPr>
              <a:t>version-distinctive clues</a:t>
            </a:r>
          </a:p>
        </p:txBody>
      </p:sp>
      <p:sp>
        <p:nvSpPr>
          <p:cNvPr id="24" name="rule">
            <a:extLst xmlns:a="http://schemas.openxmlformats.org/drawingml/2006/main">
              <a:ext uri="{FF2B5EF4-FFF2-40B4-BE49-F238E27FC236}">
                <a16:creationId xmlns:a16="http://schemas.microsoft.com/office/drawing/2014/main" id="{D9D7083F-9B51-4BD1-B8A5-A76440DBDC4F}"/>
              </a:ext>
            </a:extLst>
          </p:cNvPr>
          <p:cNvSpPr>
            <a:spLocks xmlns:a="http://schemas.openxmlformats.org/drawingml/2006/main" noGrp="1"/>
          </p:cNvSpPr>
          <p:nvPr/>
        </p:nvSpPr>
        <p:spPr>
          <a:xfrm xmlns:a="http://schemas.openxmlformats.org/drawingml/2006/main">
            <a:off x="4171950" y="3619500"/>
            <a:ext cx="171450" cy="28575"/>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C351C29-FF30-4A8A-A719-C2111984969A}"/>
              </a:ext>
            </a:extLst>
          </p:cNvPr>
          <p:cNvSpPr>
            <a:spLocks xmlns:a="http://schemas.openxmlformats.org/drawingml/2006/main" noGrp="1"/>
          </p:cNvSpPr>
          <p:nvPr/>
        </p:nvSpPr>
        <p:spPr>
          <a:xfrm xmlns:a="http://schemas.openxmlformats.org/drawingml/2006/main">
            <a:off x="4495800" y="3524250"/>
            <a:ext cx="1924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B8C3D3"/>
                </a:solidFill>
                <a:latin typeface="Aptos"/>
                <a:ea typeface="Aptos"/>
                <a:cs typeface="Aptos"/>
              </a:defRPr>
            </a:pPr>
            <a:r>
              <a:rPr sz="1050" b="0">
                <a:solidFill>
                  <a:srgbClr val="B8C3D3"/>
                </a:solidFill>
                <a:latin typeface="Aptos"/>
                <a:ea typeface="Aptos"/>
                <a:cs typeface="Aptos"/>
              </a:rPr>
              <a:t>score gap</a:t>
            </a:r>
          </a:p>
        </p:txBody>
      </p:sp>
      <p:sp>
        <p:nvSpPr>
          <p:cNvPr id="26" name="rule">
            <a:extLst xmlns:a="http://schemas.openxmlformats.org/drawingml/2006/main">
              <a:ext uri="{FF2B5EF4-FFF2-40B4-BE49-F238E27FC236}">
                <a16:creationId xmlns:a16="http://schemas.microsoft.com/office/drawing/2014/main" id="{E3E47014-894A-4188-9AD3-BE76456C737B}"/>
              </a:ext>
            </a:extLst>
          </p:cNvPr>
          <p:cNvSpPr>
            <a:spLocks xmlns:a="http://schemas.openxmlformats.org/drawingml/2006/main" noGrp="1"/>
          </p:cNvSpPr>
          <p:nvPr/>
        </p:nvSpPr>
        <p:spPr>
          <a:xfrm xmlns:a="http://schemas.openxmlformats.org/drawingml/2006/main">
            <a:off x="4171950" y="4076700"/>
            <a:ext cx="171450" cy="28575"/>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2299AE8-D60D-4F94-96C2-0EF6B00F14C0}"/>
              </a:ext>
            </a:extLst>
          </p:cNvPr>
          <p:cNvSpPr>
            <a:spLocks xmlns:a="http://schemas.openxmlformats.org/drawingml/2006/main" noGrp="1"/>
          </p:cNvSpPr>
          <p:nvPr/>
        </p:nvSpPr>
        <p:spPr>
          <a:xfrm xmlns:a="http://schemas.openxmlformats.org/drawingml/2006/main">
            <a:off x="4495800" y="3981450"/>
            <a:ext cx="1924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B8C3D3"/>
                </a:solidFill>
                <a:latin typeface="Aptos"/>
                <a:ea typeface="Aptos"/>
                <a:cs typeface="Aptos"/>
              </a:defRPr>
            </a:pPr>
            <a:r>
              <a:rPr sz="1050" b="0">
                <a:solidFill>
                  <a:srgbClr val="B8C3D3"/>
                </a:solidFill>
                <a:latin typeface="Aptos"/>
                <a:ea typeface="Aptos"/>
                <a:cs typeface="Aptos"/>
              </a:rPr>
              <a:t>candidate competition</a:t>
            </a:r>
          </a:p>
        </p:txBody>
      </p:sp>
      <p:sp>
        <p:nvSpPr>
          <p:cNvPr id="28" name="">
            <a:extLst xmlns:a="http://schemas.openxmlformats.org/drawingml/2006/main">
              <a:ext uri="{FF2B5EF4-FFF2-40B4-BE49-F238E27FC236}">
                <a16:creationId xmlns:a16="http://schemas.microsoft.com/office/drawing/2014/main" id="{32976301-1E2B-403F-8794-578BC9E1C9EF}"/>
              </a:ext>
            </a:extLst>
          </p:cNvPr>
          <p:cNvSpPr>
            <a:spLocks xmlns:a="http://schemas.openxmlformats.org/drawingml/2006/main" noGrp="1"/>
          </p:cNvSpPr>
          <p:nvPr/>
        </p:nvSpPr>
        <p:spPr>
          <a:xfrm xmlns:a="http://schemas.openxmlformats.org/drawingml/2006/main">
            <a:off x="7162800" y="1657350"/>
            <a:ext cx="2781300" cy="3371850"/>
          </a:xfrm>
          <a:prstGeom xmlns:a="http://schemas.openxmlformats.org/drawingml/2006/main" prst="roundRect">
            <a:avLst>
              <a:gd name="adj" fmla="val 2740"/>
            </a:avLst>
          </a:prstGeom>
          <a:solidFill xmlns:a="http://schemas.openxmlformats.org/drawingml/2006/main">
            <a:srgbClr val="111B2E"/>
          </a:solidFill>
          <a:ln xmlns:a="http://schemas.openxmlformats.org/drawingml/2006/main" w="9525">
            <a:solidFill>
              <a:srgbClr val="26344D"/>
            </a:solidFill>
            <a:prstDash val="solid"/>
          </a:ln>
        </p:spPr>
      </p:sp>
      <p:sp>
        <p:nvSpPr>
          <p:cNvPr id="29" name="">
            <a:extLst xmlns:a="http://schemas.openxmlformats.org/drawingml/2006/main">
              <a:ext uri="{FF2B5EF4-FFF2-40B4-BE49-F238E27FC236}">
                <a16:creationId xmlns:a16="http://schemas.microsoft.com/office/drawing/2014/main" id="{26B33FCB-BDF2-4E2F-932D-718BBFAAB54C}"/>
              </a:ext>
            </a:extLst>
          </p:cNvPr>
          <p:cNvSpPr>
            <a:spLocks xmlns:a="http://schemas.openxmlformats.org/drawingml/2006/main" noGrp="1"/>
          </p:cNvSpPr>
          <p:nvPr/>
        </p:nvSpPr>
        <p:spPr>
          <a:xfrm xmlns:a="http://schemas.openxmlformats.org/drawingml/2006/main">
            <a:off x="7372350" y="1885950"/>
            <a:ext cx="400050" cy="400050"/>
          </a:xfrm>
          <a:prstGeom xmlns:a="http://schemas.openxmlformats.org/drawingml/2006/main" prst="ellipse">
            <a:avLst/>
          </a:prstGeom>
          <a:solidFill xmlns:a="http://schemas.openxmlformats.org/drawingml/2006/main">
            <a:srgbClr val="E8AA3B"/>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9BF92BF3-1DC0-48F9-B815-1A7DFC62E11D}"/>
              </a:ext>
            </a:extLst>
          </p:cNvPr>
          <p:cNvSpPr>
            <a:spLocks xmlns:a="http://schemas.openxmlformats.org/drawingml/2006/main" noGrp="1"/>
          </p:cNvSpPr>
          <p:nvPr/>
        </p:nvSpPr>
        <p:spPr>
          <a:xfrm xmlns:a="http://schemas.openxmlformats.org/drawingml/2006/main">
            <a:off x="7372350" y="200025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0B1220"/>
                </a:solidFill>
                <a:latin typeface="Aptos"/>
                <a:ea typeface="Aptos"/>
                <a:cs typeface="Aptos"/>
              </a:defRPr>
            </a:pPr>
            <a:r>
              <a:rPr sz="975" b="1">
                <a:solidFill>
                  <a:srgbClr val="0B1220"/>
                </a:solidFill>
                <a:latin typeface="Aptos"/>
                <a:ea typeface="Aptos"/>
                <a:cs typeface="Aptos"/>
              </a:rPr>
              <a:t>3</a:t>
            </a:r>
          </a:p>
        </p:txBody>
      </p:sp>
      <p:sp>
        <p:nvSpPr>
          <p:cNvPr id="31" name="">
            <a:extLst xmlns:a="http://schemas.openxmlformats.org/drawingml/2006/main">
              <a:ext uri="{FF2B5EF4-FFF2-40B4-BE49-F238E27FC236}">
                <a16:creationId xmlns:a16="http://schemas.microsoft.com/office/drawing/2014/main" id="{E2CF6D62-0FE9-466F-A823-0949C63B9162}"/>
              </a:ext>
            </a:extLst>
          </p:cNvPr>
          <p:cNvSpPr>
            <a:spLocks xmlns:a="http://schemas.openxmlformats.org/drawingml/2006/main" noGrp="1"/>
          </p:cNvSpPr>
          <p:nvPr/>
        </p:nvSpPr>
        <p:spPr>
          <a:xfrm xmlns:a="http://schemas.openxmlformats.org/drawingml/2006/main">
            <a:off x="7924800" y="1885950"/>
            <a:ext cx="1695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FFFFFF"/>
                </a:solidFill>
                <a:latin typeface="Aptos"/>
                <a:ea typeface="Aptos"/>
                <a:cs typeface="Aptos"/>
              </a:defRPr>
            </a:pPr>
            <a:r>
              <a:rPr sz="1725" b="1">
                <a:solidFill>
                  <a:srgbClr val="FFFFFF"/>
                </a:solidFill>
                <a:latin typeface="Aptos"/>
                <a:ea typeface="Aptos"/>
                <a:cs typeface="Aptos"/>
              </a:rPr>
              <a:t>Ambiguity</a:t>
            </a:r>
          </a:p>
        </p:txBody>
      </p:sp>
      <p:sp>
        <p:nvSpPr>
          <p:cNvPr id="32" name="">
            <a:extLst xmlns:a="http://schemas.openxmlformats.org/drawingml/2006/main">
              <a:ext uri="{FF2B5EF4-FFF2-40B4-BE49-F238E27FC236}">
                <a16:creationId xmlns:a16="http://schemas.microsoft.com/office/drawing/2014/main" id="{A7053CA2-3A3C-42D7-A01C-94D47AF035B9}"/>
              </a:ext>
            </a:extLst>
          </p:cNvPr>
          <p:cNvSpPr>
            <a:spLocks xmlns:a="http://schemas.openxmlformats.org/drawingml/2006/main" noGrp="1"/>
          </p:cNvSpPr>
          <p:nvPr/>
        </p:nvSpPr>
        <p:spPr>
          <a:xfrm xmlns:a="http://schemas.openxmlformats.org/drawingml/2006/main">
            <a:off x="7391400" y="2457450"/>
            <a:ext cx="2324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E8AA3B"/>
                </a:solidFill>
                <a:latin typeface="Aptos"/>
                <a:ea typeface="Aptos"/>
                <a:cs typeface="Aptos"/>
              </a:defRPr>
            </a:pPr>
            <a:r>
              <a:rPr sz="1275" b="1">
                <a:solidFill>
                  <a:srgbClr val="E8AA3B"/>
                </a:solidFill>
                <a:latin typeface="Aptos"/>
                <a:ea typeface="Aptos"/>
                <a:cs typeface="Aptos"/>
              </a:rPr>
              <a:t>Which alternatives remain plausible?</a:t>
            </a:r>
          </a:p>
        </p:txBody>
      </p:sp>
      <p:sp>
        <p:nvSpPr>
          <p:cNvPr id="33" name="rule">
            <a:extLst xmlns:a="http://schemas.openxmlformats.org/drawingml/2006/main">
              <a:ext uri="{FF2B5EF4-FFF2-40B4-BE49-F238E27FC236}">
                <a16:creationId xmlns:a16="http://schemas.microsoft.com/office/drawing/2014/main" id="{5323C2F8-0A9F-48E8-AD64-38A56DE4DC05}"/>
              </a:ext>
            </a:extLst>
          </p:cNvPr>
          <p:cNvSpPr>
            <a:spLocks xmlns:a="http://schemas.openxmlformats.org/drawingml/2006/main" noGrp="1"/>
          </p:cNvSpPr>
          <p:nvPr/>
        </p:nvSpPr>
        <p:spPr>
          <a:xfrm xmlns:a="http://schemas.openxmlformats.org/drawingml/2006/main">
            <a:off x="7391400" y="3162300"/>
            <a:ext cx="171450" cy="28575"/>
          </a:xfrm>
          <a:prstGeom xmlns:a="http://schemas.openxmlformats.org/drawingml/2006/main" prst="rect">
            <a:avLst/>
          </a:prstGeom>
          <a:solidFill xmlns:a="http://schemas.openxmlformats.org/drawingml/2006/main">
            <a:srgbClr val="E8AA3B"/>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01377BA6-FEE2-4C99-BA7B-47E068599DCC}"/>
              </a:ext>
            </a:extLst>
          </p:cNvPr>
          <p:cNvSpPr>
            <a:spLocks xmlns:a="http://schemas.openxmlformats.org/drawingml/2006/main" noGrp="1"/>
          </p:cNvSpPr>
          <p:nvPr/>
        </p:nvSpPr>
        <p:spPr>
          <a:xfrm xmlns:a="http://schemas.openxmlformats.org/drawingml/2006/main">
            <a:off x="7715250" y="3067050"/>
            <a:ext cx="1924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B8C3D3"/>
                </a:solidFill>
                <a:latin typeface="Aptos"/>
                <a:ea typeface="Aptos"/>
                <a:cs typeface="Aptos"/>
              </a:defRPr>
            </a:pPr>
            <a:r>
              <a:rPr sz="1050" b="0">
                <a:solidFill>
                  <a:srgbClr val="B8C3D3"/>
                </a:solidFill>
                <a:latin typeface="Aptos"/>
                <a:ea typeface="Aptos"/>
                <a:cs typeface="Aptos"/>
              </a:rPr>
              <a:t>near-tie versions</a:t>
            </a:r>
          </a:p>
        </p:txBody>
      </p:sp>
      <p:sp>
        <p:nvSpPr>
          <p:cNvPr id="35" name="rule">
            <a:extLst xmlns:a="http://schemas.openxmlformats.org/drawingml/2006/main">
              <a:ext uri="{FF2B5EF4-FFF2-40B4-BE49-F238E27FC236}">
                <a16:creationId xmlns:a16="http://schemas.microsoft.com/office/drawing/2014/main" id="{EAFCC48C-759D-49FC-B952-1DE52843CBA7}"/>
              </a:ext>
            </a:extLst>
          </p:cNvPr>
          <p:cNvSpPr>
            <a:spLocks xmlns:a="http://schemas.openxmlformats.org/drawingml/2006/main" noGrp="1"/>
          </p:cNvSpPr>
          <p:nvPr/>
        </p:nvSpPr>
        <p:spPr>
          <a:xfrm xmlns:a="http://schemas.openxmlformats.org/drawingml/2006/main">
            <a:off x="7391400" y="3619500"/>
            <a:ext cx="171450" cy="28575"/>
          </a:xfrm>
          <a:prstGeom xmlns:a="http://schemas.openxmlformats.org/drawingml/2006/main" prst="rect">
            <a:avLst/>
          </a:prstGeom>
          <a:solidFill xmlns:a="http://schemas.openxmlformats.org/drawingml/2006/main">
            <a:srgbClr val="E8AA3B"/>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94564A69-356B-4602-A583-19E3769E9DD0}"/>
              </a:ext>
            </a:extLst>
          </p:cNvPr>
          <p:cNvSpPr>
            <a:spLocks xmlns:a="http://schemas.openxmlformats.org/drawingml/2006/main" noGrp="1"/>
          </p:cNvSpPr>
          <p:nvPr/>
        </p:nvSpPr>
        <p:spPr>
          <a:xfrm xmlns:a="http://schemas.openxmlformats.org/drawingml/2006/main">
            <a:off x="7715250" y="3524250"/>
            <a:ext cx="1924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B8C3D3"/>
                </a:solidFill>
                <a:latin typeface="Aptos"/>
                <a:ea typeface="Aptos"/>
                <a:cs typeface="Aptos"/>
              </a:defRPr>
            </a:pPr>
            <a:r>
              <a:rPr sz="1050" b="0">
                <a:solidFill>
                  <a:srgbClr val="B8C3D3"/>
                </a:solidFill>
                <a:latin typeface="Aptos"/>
                <a:ea typeface="Aptos"/>
                <a:cs typeface="Aptos"/>
              </a:rPr>
              <a:t>single-reference boundary</a:t>
            </a:r>
          </a:p>
        </p:txBody>
      </p:sp>
      <p:sp>
        <p:nvSpPr>
          <p:cNvPr id="37" name="rule">
            <a:extLst xmlns:a="http://schemas.openxmlformats.org/drawingml/2006/main">
              <a:ext uri="{FF2B5EF4-FFF2-40B4-BE49-F238E27FC236}">
                <a16:creationId xmlns:a16="http://schemas.microsoft.com/office/drawing/2014/main" id="{9B03465F-B111-4DAA-B6AD-976FA6AE511C}"/>
              </a:ext>
            </a:extLst>
          </p:cNvPr>
          <p:cNvSpPr>
            <a:spLocks xmlns:a="http://schemas.openxmlformats.org/drawingml/2006/main" noGrp="1"/>
          </p:cNvSpPr>
          <p:nvPr/>
        </p:nvSpPr>
        <p:spPr>
          <a:xfrm xmlns:a="http://schemas.openxmlformats.org/drawingml/2006/main">
            <a:off x="7391400" y="4076700"/>
            <a:ext cx="171450" cy="28575"/>
          </a:xfrm>
          <a:prstGeom xmlns:a="http://schemas.openxmlformats.org/drawingml/2006/main" prst="rect">
            <a:avLst/>
          </a:prstGeom>
          <a:solidFill xmlns:a="http://schemas.openxmlformats.org/drawingml/2006/main">
            <a:srgbClr val="E8AA3B"/>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23D8B2AC-19CB-43A6-8E40-EB0481DB2C4A}"/>
              </a:ext>
            </a:extLst>
          </p:cNvPr>
          <p:cNvSpPr>
            <a:spLocks xmlns:a="http://schemas.openxmlformats.org/drawingml/2006/main" noGrp="1"/>
          </p:cNvSpPr>
          <p:nvPr/>
        </p:nvSpPr>
        <p:spPr>
          <a:xfrm xmlns:a="http://schemas.openxmlformats.org/drawingml/2006/main">
            <a:off x="7715250" y="3981450"/>
            <a:ext cx="1924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B8C3D3"/>
                </a:solidFill>
                <a:latin typeface="Aptos"/>
                <a:ea typeface="Aptos"/>
                <a:cs typeface="Aptos"/>
              </a:defRPr>
            </a:pPr>
            <a:r>
              <a:rPr sz="1050" b="0">
                <a:solidFill>
                  <a:srgbClr val="B8C3D3"/>
                </a:solidFill>
                <a:latin typeface="Aptos"/>
                <a:ea typeface="Aptos"/>
                <a:cs typeface="Aptos"/>
              </a:rPr>
              <a:t>uncertain policy</a:t>
            </a:r>
          </a:p>
        </p:txBody>
      </p:sp>
      <p:sp>
        <p:nvSpPr>
          <p:cNvPr id="39" name="">
            <a:extLst xmlns:a="http://schemas.openxmlformats.org/drawingml/2006/main">
              <a:ext uri="{FF2B5EF4-FFF2-40B4-BE49-F238E27FC236}">
                <a16:creationId xmlns:a16="http://schemas.microsoft.com/office/drawing/2014/main" id="{0B1F7503-880A-4DB5-BE1D-EA2FD6FD5A42}"/>
              </a:ext>
            </a:extLst>
          </p:cNvPr>
          <p:cNvSpPr>
            <a:spLocks xmlns:a="http://schemas.openxmlformats.org/drawingml/2006/main" noGrp="1"/>
          </p:cNvSpPr>
          <p:nvPr/>
        </p:nvSpPr>
        <p:spPr>
          <a:xfrm xmlns:a="http://schemas.openxmlformats.org/drawingml/2006/main">
            <a:off x="10210800" y="1657350"/>
            <a:ext cx="1295400" cy="3371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9525">
            <a:solidFill>
              <a:srgbClr val="FFFFFF"/>
            </a:solidFill>
            <a:prstDash val="solid"/>
          </a:ln>
        </p:spPr>
      </p:sp>
      <p:sp>
        <p:nvSpPr>
          <p:cNvPr id="40" name="">
            <a:extLst xmlns:a="http://schemas.openxmlformats.org/drawingml/2006/main">
              <a:ext uri="{FF2B5EF4-FFF2-40B4-BE49-F238E27FC236}">
                <a16:creationId xmlns:a16="http://schemas.microsoft.com/office/drawing/2014/main" id="{42C9C728-E34B-47CD-B35E-5F1C52E5AC32}"/>
              </a:ext>
            </a:extLst>
          </p:cNvPr>
          <p:cNvSpPr>
            <a:spLocks xmlns:a="http://schemas.openxmlformats.org/drawingml/2006/main" noGrp="1"/>
          </p:cNvSpPr>
          <p:nvPr/>
        </p:nvSpPr>
        <p:spPr>
          <a:xfrm xmlns:a="http://schemas.openxmlformats.org/drawingml/2006/main">
            <a:off x="10382250" y="19812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F06464"/>
                </a:solidFill>
                <a:latin typeface="Aptos"/>
                <a:ea typeface="Aptos"/>
                <a:cs typeface="Aptos"/>
              </a:defRPr>
            </a:pPr>
            <a:r>
              <a:rPr sz="1725" b="1">
                <a:solidFill>
                  <a:srgbClr val="F06464"/>
                </a:solidFill>
                <a:latin typeface="Aptos"/>
                <a:ea typeface="Aptos"/>
                <a:cs typeface="Aptos"/>
              </a:rPr>
              <a:t>CVE</a:t>
            </a:r>
          </a:p>
        </p:txBody>
      </p:sp>
      <p:sp>
        <p:nvSpPr>
          <p:cNvPr id="41" name="">
            <a:extLst xmlns:a="http://schemas.openxmlformats.org/drawingml/2006/main">
              <a:ext uri="{FF2B5EF4-FFF2-40B4-BE49-F238E27FC236}">
                <a16:creationId xmlns:a16="http://schemas.microsoft.com/office/drawing/2014/main" id="{57E23BA6-0A86-4DF4-B01E-3F283D8FC221}"/>
              </a:ext>
            </a:extLst>
          </p:cNvPr>
          <p:cNvSpPr>
            <a:spLocks xmlns:a="http://schemas.openxmlformats.org/drawingml/2006/main" noGrp="1"/>
          </p:cNvSpPr>
          <p:nvPr/>
        </p:nvSpPr>
        <p:spPr>
          <a:xfrm xmlns:a="http://schemas.openxmlformats.org/drawingml/2006/main">
            <a:off x="10382250" y="2628900"/>
            <a:ext cx="95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1">
                <a:solidFill>
                  <a:srgbClr val="101827"/>
                </a:solidFill>
                <a:latin typeface="Aptos"/>
                <a:ea typeface="Aptos"/>
                <a:cs typeface="Aptos"/>
              </a:defRPr>
            </a:pPr>
            <a:r>
              <a:rPr sz="1275" b="1">
                <a:solidFill>
                  <a:srgbClr val="101827"/>
                </a:solidFill>
                <a:latin typeface="Aptos"/>
                <a:ea typeface="Aptos"/>
                <a:cs typeface="Aptos"/>
              </a:rPr>
              <a:t>Strong</a:t>
            </a:r>
          </a:p>
          <a:p xmlns:a="http://schemas.openxmlformats.org/drawingml/2006/main">
            <a:pPr algn="ctr">
              <a:defRPr sz="1275" b="1">
                <a:solidFill>
                  <a:srgbClr val="101827"/>
                </a:solidFill>
                <a:latin typeface="Aptos"/>
                <a:ea typeface="Aptos"/>
                <a:cs typeface="Aptos"/>
              </a:defRPr>
            </a:pPr>
            <a:r>
              <a:rPr sz="1275" b="1">
                <a:solidFill>
                  <a:srgbClr val="101827"/>
                </a:solidFill>
                <a:latin typeface="Aptos"/>
                <a:ea typeface="Aptos"/>
                <a:cs typeface="Aptos"/>
              </a:rPr>
              <a:t>version</a:t>
            </a:r>
          </a:p>
          <a:p xmlns:a="http://schemas.openxmlformats.org/drawingml/2006/main">
            <a:pPr algn="ctr">
              <a:defRPr sz="1275" b="1">
                <a:solidFill>
                  <a:srgbClr val="101827"/>
                </a:solidFill>
                <a:latin typeface="Aptos"/>
                <a:ea typeface="Aptos"/>
                <a:cs typeface="Aptos"/>
              </a:defRPr>
            </a:pPr>
            <a:r>
              <a:rPr sz="1275" b="1">
                <a:solidFill>
                  <a:srgbClr val="101827"/>
                </a:solidFill>
                <a:latin typeface="Aptos"/>
                <a:ea typeface="Aptos"/>
                <a:cs typeface="Aptos"/>
              </a:rPr>
              <a:t>proof</a:t>
            </a:r>
          </a:p>
        </p:txBody>
      </p:sp>
      <p:sp>
        <p:nvSpPr>
          <p:cNvPr id="42" name="rule">
            <a:extLst xmlns:a="http://schemas.openxmlformats.org/drawingml/2006/main">
              <a:ext uri="{FF2B5EF4-FFF2-40B4-BE49-F238E27FC236}">
                <a16:creationId xmlns:a16="http://schemas.microsoft.com/office/drawing/2014/main" id="{16550BC6-F062-4524-B5D6-F009597AA875}"/>
              </a:ext>
            </a:extLst>
          </p:cNvPr>
          <p:cNvSpPr>
            <a:spLocks xmlns:a="http://schemas.openxmlformats.org/drawingml/2006/main" noGrp="1"/>
          </p:cNvSpPr>
          <p:nvPr/>
        </p:nvSpPr>
        <p:spPr>
          <a:xfrm xmlns:a="http://schemas.openxmlformats.org/drawingml/2006/main">
            <a:off x="10439400" y="3629025"/>
            <a:ext cx="685800" cy="19050"/>
          </a:xfrm>
          <a:prstGeom xmlns:a="http://schemas.openxmlformats.org/drawingml/2006/main" prst="rect">
            <a:avLst/>
          </a:prstGeom>
          <a:solidFill xmlns:a="http://schemas.openxmlformats.org/drawingml/2006/main">
            <a:srgbClr val="F06464"/>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C9628C5F-1C79-4DCE-80F7-E7554AB56640}"/>
              </a:ext>
            </a:extLst>
          </p:cNvPr>
          <p:cNvSpPr>
            <a:spLocks xmlns:a="http://schemas.openxmlformats.org/drawingml/2006/main" noGrp="1"/>
          </p:cNvSpPr>
          <p:nvPr/>
        </p:nvSpPr>
        <p:spPr>
          <a:xfrm xmlns:a="http://schemas.openxmlformats.org/drawingml/2006/main">
            <a:off x="11049000" y="3543300"/>
            <a:ext cx="228600" cy="190500"/>
          </a:xfrm>
          <a:prstGeom xmlns:a="http://schemas.openxmlformats.org/drawingml/2006/main" prst="chevron">
            <a:avLst/>
          </a:prstGeom>
          <a:solidFill xmlns:a="http://schemas.openxmlformats.org/drawingml/2006/main">
            <a:srgbClr val="F06464"/>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959C5DA6-3126-41A7-B5DC-CE95460ED118}"/>
              </a:ext>
            </a:extLst>
          </p:cNvPr>
          <p:cNvSpPr>
            <a:spLocks xmlns:a="http://schemas.openxmlformats.org/drawingml/2006/main" noGrp="1"/>
          </p:cNvSpPr>
          <p:nvPr/>
        </p:nvSpPr>
        <p:spPr>
          <a:xfrm xmlns:a="http://schemas.openxmlformats.org/drawingml/2006/main">
            <a:off x="10382250" y="3924300"/>
            <a:ext cx="95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06464"/>
                </a:solidFill>
                <a:latin typeface="Aptos"/>
                <a:ea typeface="Aptos"/>
                <a:cs typeface="Aptos"/>
              </a:defRPr>
            </a:pPr>
            <a:r>
              <a:rPr sz="1125" b="1">
                <a:solidFill>
                  <a:srgbClr val="F06464"/>
                </a:solidFill>
                <a:latin typeface="Aptos"/>
                <a:ea typeface="Aptos"/>
                <a:cs typeface="Aptos"/>
              </a:rPr>
              <a:t>confirmed</a:t>
            </a:r>
          </a:p>
          <a:p xmlns:a="http://schemas.openxmlformats.org/drawingml/2006/main">
            <a:pPr algn="ctr">
              <a:defRPr sz="1125" b="1">
                <a:solidFill>
                  <a:srgbClr val="F06464"/>
                </a:solidFill>
                <a:latin typeface="Aptos"/>
                <a:ea typeface="Aptos"/>
                <a:cs typeface="Aptos"/>
              </a:defRPr>
            </a:pPr>
            <a:r>
              <a:rPr sz="1125" b="1">
                <a:solidFill>
                  <a:srgbClr val="F06464"/>
                </a:solidFill>
                <a:latin typeface="Aptos"/>
                <a:ea typeface="Aptos"/>
                <a:cs typeface="Aptos"/>
              </a:rPr>
              <a:t>finding</a:t>
            </a:r>
          </a:p>
        </p:txBody>
      </p:sp>
      <p:sp>
        <p:nvSpPr>
          <p:cNvPr id="45" name="">
            <a:extLst xmlns:a="http://schemas.openxmlformats.org/drawingml/2006/main">
              <a:ext uri="{FF2B5EF4-FFF2-40B4-BE49-F238E27FC236}">
                <a16:creationId xmlns:a16="http://schemas.microsoft.com/office/drawing/2014/main" id="{5299DBDF-1935-4023-A848-101F8DBB5F18}"/>
              </a:ext>
            </a:extLst>
          </p:cNvPr>
          <p:cNvSpPr>
            <a:spLocks xmlns:a="http://schemas.openxmlformats.org/drawingml/2006/main" noGrp="1"/>
          </p:cNvSpPr>
          <p:nvPr/>
        </p:nvSpPr>
        <p:spPr>
          <a:xfrm xmlns:a="http://schemas.openxmlformats.org/drawingml/2006/main">
            <a:off x="1466850" y="5581650"/>
            <a:ext cx="923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FFFFFF"/>
                </a:solidFill>
                <a:latin typeface="Aptos"/>
                <a:ea typeface="Aptos"/>
                <a:cs typeface="Aptos"/>
              </a:defRPr>
            </a:pPr>
            <a:r>
              <a:rPr sz="1500" b="1">
                <a:solidFill>
                  <a:srgbClr val="FFFFFF"/>
                </a:solidFill>
                <a:latin typeface="Aptos"/>
                <a:ea typeface="Aptos"/>
                <a:cs typeface="Aptos"/>
              </a:rPr>
              <a:t>A real library with an uncertain version must not become a fake confirmed vulnerability.</a:t>
            </a:r>
          </a:p>
        </p:txBody>
      </p:sp>
      <p:sp>
        <p:nvSpPr>
          <p:cNvPr id="46" name="">
            <a:extLst xmlns:a="http://schemas.openxmlformats.org/drawingml/2006/main">
              <a:ext uri="{FF2B5EF4-FFF2-40B4-BE49-F238E27FC236}">
                <a16:creationId xmlns:a16="http://schemas.microsoft.com/office/drawing/2014/main" id="{7ED9234E-BF1A-4769-9BB9-E554E8C45A6C}"/>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480189762"/>
      </p:ext>
    </p:extLst>
  </p:cSld>
</p:sld>
</file>

<file path=ppt/slides/slide8.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8DDFDAE-39DD-4C2B-B907-681C481AB1A7}"/>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9DCC3B"/>
                </a:solidFill>
                <a:latin typeface="Aptos"/>
                <a:ea typeface="Aptos"/>
                <a:cs typeface="Aptos"/>
              </a:defRPr>
            </a:pPr>
            <a:r>
              <a:rPr sz="900" b="1">
                <a:solidFill>
                  <a:srgbClr val="9DCC3B"/>
                </a:solidFill>
                <a:latin typeface="Aptos"/>
                <a:ea typeface="Aptos"/>
                <a:cs typeface="Aptos"/>
              </a:rPr>
              <a:t>EVALUATION DESIGN</a:t>
            </a:r>
          </a:p>
        </p:txBody>
      </p:sp>
      <p:sp>
        <p:nvSpPr>
          <p:cNvPr id="2" name="">
            <a:extLst xmlns:a="http://schemas.openxmlformats.org/drawingml/2006/main">
              <a:ext uri="{FF2B5EF4-FFF2-40B4-BE49-F238E27FC236}">
                <a16:creationId xmlns:a16="http://schemas.microsoft.com/office/drawing/2014/main" id="{4B73C179-0FD2-47F8-B56B-3F2369ED63A2}"/>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01827"/>
                </a:solidFill>
                <a:latin typeface="Aptos Display"/>
                <a:ea typeface="Aptos Display"/>
                <a:cs typeface="Aptos Display"/>
              </a:defRPr>
            </a:pPr>
            <a:r>
              <a:rPr sz="2325" b="1">
                <a:solidFill>
                  <a:srgbClr val="101827"/>
                </a:solidFill>
                <a:latin typeface="Aptos Display"/>
                <a:ea typeface="Aptos Display"/>
                <a:cs typeface="Aptos Display"/>
              </a:rPr>
              <a:t>Evaluation keeps hard APK families visible instead of collapsing them into one score</a:t>
            </a:r>
          </a:p>
        </p:txBody>
      </p:sp>
      <p:sp>
        <p:nvSpPr>
          <p:cNvPr id="3" name="">
            <a:extLst xmlns:a="http://schemas.openxmlformats.org/drawingml/2006/main">
              <a:ext uri="{FF2B5EF4-FFF2-40B4-BE49-F238E27FC236}">
                <a16:creationId xmlns:a16="http://schemas.microsoft.com/office/drawing/2014/main" id="{1F2EAA0E-E638-4A5C-AD0C-1480C27CC62F}"/>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D"/>
                </a:solidFill>
                <a:latin typeface="Aptos"/>
                <a:ea typeface="Aptos"/>
                <a:cs typeface="Aptos"/>
              </a:defRPr>
            </a:pPr>
            <a:r>
              <a:rPr sz="900" b="1">
                <a:solidFill>
                  <a:srgbClr val="5E6B7D"/>
                </a:solidFill>
                <a:latin typeface="Aptos"/>
                <a:ea typeface="Aptos"/>
                <a:cs typeface="Aptos"/>
              </a:rPr>
              <a:t>08</a:t>
            </a:r>
          </a:p>
        </p:txBody>
      </p:sp>
      <p:sp>
        <p:nvSpPr>
          <p:cNvPr id="4" name="">
            <a:extLst xmlns:a="http://schemas.openxmlformats.org/drawingml/2006/main">
              <a:ext uri="{FF2B5EF4-FFF2-40B4-BE49-F238E27FC236}">
                <a16:creationId xmlns:a16="http://schemas.microsoft.com/office/drawing/2014/main" id="{6A4F2557-5867-4021-8ED4-902CEB45E3FF}"/>
              </a:ext>
            </a:extLst>
          </p:cNvPr>
          <p:cNvSpPr>
            <a:spLocks xmlns:a="http://schemas.openxmlformats.org/drawingml/2006/main" noGrp="1"/>
          </p:cNvSpPr>
          <p:nvPr/>
        </p:nvSpPr>
        <p:spPr>
          <a:xfrm xmlns:a="http://schemas.openxmlformats.org/drawingml/2006/main">
            <a:off x="704850" y="1543050"/>
            <a:ext cx="107823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D8E0EA"/>
            </a:solidFill>
            <a:prstDash val="solid"/>
          </a:ln>
        </p:spPr>
      </p:sp>
      <p:sp>
        <p:nvSpPr>
          <p:cNvPr id="5" name="">
            <a:extLst xmlns:a="http://schemas.openxmlformats.org/drawingml/2006/main">
              <a:ext uri="{FF2B5EF4-FFF2-40B4-BE49-F238E27FC236}">
                <a16:creationId xmlns:a16="http://schemas.microsoft.com/office/drawing/2014/main" id="{52192DA4-B31C-4751-9422-92255B52042B}"/>
              </a:ext>
            </a:extLst>
          </p:cNvPr>
          <p:cNvSpPr>
            <a:spLocks xmlns:a="http://schemas.openxmlformats.org/drawingml/2006/main" noGrp="1"/>
          </p:cNvSpPr>
          <p:nvPr/>
        </p:nvSpPr>
        <p:spPr>
          <a:xfrm xmlns:a="http://schemas.openxmlformats.org/drawingml/2006/main">
            <a:off x="704850" y="1543050"/>
            <a:ext cx="114300" cy="628650"/>
          </a:xfrm>
          <a:prstGeom xmlns:a="http://schemas.openxmlformats.org/drawingml/2006/main" prst="rect">
            <a:avLst/>
          </a:prstGeom>
          <a:solidFill xmlns:a="http://schemas.openxmlformats.org/drawingml/2006/main">
            <a:srgbClr val="9DCC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1037A7C-9AC5-468F-B86A-C9396043EE2F}"/>
              </a:ext>
            </a:extLst>
          </p:cNvPr>
          <p:cNvSpPr>
            <a:spLocks xmlns:a="http://schemas.openxmlformats.org/drawingml/2006/main" noGrp="1"/>
          </p:cNvSpPr>
          <p:nvPr/>
        </p:nvSpPr>
        <p:spPr>
          <a:xfrm xmlns:a="http://schemas.openxmlformats.org/drawingml/2006/main">
            <a:off x="1066800" y="17145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101827"/>
                </a:solidFill>
                <a:latin typeface="Aptos"/>
                <a:ea typeface="Aptos"/>
                <a:cs typeface="Aptos"/>
              </a:defRPr>
            </a:pPr>
            <a:r>
              <a:rPr sz="1425" b="1">
                <a:solidFill>
                  <a:srgbClr val="101827"/>
                </a:solidFill>
                <a:latin typeface="Aptos"/>
                <a:ea typeface="Aptos"/>
                <a:cs typeface="Aptos"/>
              </a:rPr>
              <a:t>Controlled</a:t>
            </a:r>
          </a:p>
        </p:txBody>
      </p:sp>
      <p:sp>
        <p:nvSpPr>
          <p:cNvPr id="7" name="">
            <a:extLst xmlns:a="http://schemas.openxmlformats.org/drawingml/2006/main">
              <a:ext uri="{FF2B5EF4-FFF2-40B4-BE49-F238E27FC236}">
                <a16:creationId xmlns:a16="http://schemas.microsoft.com/office/drawing/2014/main" id="{FE5B3425-8EDF-4609-BF14-558A5AAF5E52}"/>
              </a:ext>
            </a:extLst>
          </p:cNvPr>
          <p:cNvSpPr>
            <a:spLocks xmlns:a="http://schemas.openxmlformats.org/drawingml/2006/main" noGrp="1"/>
          </p:cNvSpPr>
          <p:nvPr/>
        </p:nvSpPr>
        <p:spPr>
          <a:xfrm xmlns:a="http://schemas.openxmlformats.org/drawingml/2006/main">
            <a:off x="3467100" y="17145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9DCC3B"/>
                </a:solidFill>
                <a:latin typeface="Aptos"/>
                <a:ea typeface="Aptos"/>
                <a:cs typeface="Aptos"/>
              </a:defRPr>
            </a:pPr>
            <a:r>
              <a:rPr sz="1275" b="1">
                <a:solidFill>
                  <a:srgbClr val="9DCC3B"/>
                </a:solidFill>
                <a:latin typeface="Aptos"/>
                <a:ea typeface="Aptos"/>
                <a:cs typeface="Aptos"/>
              </a:rPr>
              <a:t>72 APKs</a:t>
            </a:r>
          </a:p>
        </p:txBody>
      </p:sp>
      <p:sp>
        <p:nvSpPr>
          <p:cNvPr id="8" name="">
            <a:extLst xmlns:a="http://schemas.openxmlformats.org/drawingml/2006/main">
              <a:ext uri="{FF2B5EF4-FFF2-40B4-BE49-F238E27FC236}">
                <a16:creationId xmlns:a16="http://schemas.microsoft.com/office/drawing/2014/main" id="{F712E160-7CF8-464F-A03A-6B70962C8345}"/>
              </a:ext>
            </a:extLst>
          </p:cNvPr>
          <p:cNvSpPr>
            <a:spLocks xmlns:a="http://schemas.openxmlformats.org/drawingml/2006/main" noGrp="1"/>
          </p:cNvSpPr>
          <p:nvPr/>
        </p:nvSpPr>
        <p:spPr>
          <a:xfrm xmlns:a="http://schemas.openxmlformats.org/drawingml/2006/main">
            <a:off x="5257800" y="17145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101827"/>
                </a:solidFill>
                <a:latin typeface="Aptos"/>
                <a:ea typeface="Aptos"/>
                <a:cs typeface="Aptos"/>
              </a:defRPr>
            </a:pPr>
            <a:r>
              <a:rPr sz="1125" b="1">
                <a:solidFill>
                  <a:srgbClr val="101827"/>
                </a:solidFill>
                <a:latin typeface="Aptos"/>
                <a:ea typeface="Aptos"/>
                <a:cs typeface="Aptos"/>
              </a:rPr>
              <a:t>84 expected versions</a:t>
            </a:r>
          </a:p>
        </p:txBody>
      </p:sp>
      <p:sp>
        <p:nvSpPr>
          <p:cNvPr id="9" name="">
            <a:extLst xmlns:a="http://schemas.openxmlformats.org/drawingml/2006/main">
              <a:ext uri="{FF2B5EF4-FFF2-40B4-BE49-F238E27FC236}">
                <a16:creationId xmlns:a16="http://schemas.microsoft.com/office/drawing/2014/main" id="{AF761619-B81E-4076-A679-7D9BCD117B01}"/>
              </a:ext>
            </a:extLst>
          </p:cNvPr>
          <p:cNvSpPr>
            <a:spLocks xmlns:a="http://schemas.openxmlformats.org/drawingml/2006/main" noGrp="1"/>
          </p:cNvSpPr>
          <p:nvPr/>
        </p:nvSpPr>
        <p:spPr>
          <a:xfrm xmlns:a="http://schemas.openxmlformats.org/drawingml/2006/main">
            <a:off x="8420100" y="1714500"/>
            <a:ext cx="2571750" cy="266700"/>
          </a:xfrm>
          <a:prstGeom xmlns:a="http://schemas.openxmlformats.org/drawingml/2006/main" prst="roundRect">
            <a:avLst>
              <a:gd name="adj" fmla="val 28571"/>
            </a:avLst>
          </a:prstGeom>
          <a:solidFill xmlns:a="http://schemas.openxmlformats.org/drawingml/2006/main">
            <a:srgbClr val="F4F7FB"/>
          </a:solidFill>
          <a:ln xmlns:a="http://schemas.openxmlformats.org/drawingml/2006/main" w="9525">
            <a:solidFill>
              <a:srgbClr val="9DCC3B"/>
            </a:solidFill>
            <a:prstDash val="solid"/>
          </a:ln>
        </p:spPr>
      </p:sp>
      <p:sp>
        <p:nvSpPr>
          <p:cNvPr id="10" name="">
            <a:extLst xmlns:a="http://schemas.openxmlformats.org/drawingml/2006/main">
              <a:ext uri="{FF2B5EF4-FFF2-40B4-BE49-F238E27FC236}">
                <a16:creationId xmlns:a16="http://schemas.microsoft.com/office/drawing/2014/main" id="{C5DEDC21-F4AB-41BE-A139-00F7822BF1E0}"/>
              </a:ext>
            </a:extLst>
          </p:cNvPr>
          <p:cNvSpPr>
            <a:spLocks xmlns:a="http://schemas.openxmlformats.org/drawingml/2006/main" noGrp="1"/>
          </p:cNvSpPr>
          <p:nvPr/>
        </p:nvSpPr>
        <p:spPr>
          <a:xfrm xmlns:a="http://schemas.openxmlformats.org/drawingml/2006/main">
            <a:off x="8486775" y="17716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9DCC3B"/>
                </a:solidFill>
                <a:latin typeface="Aptos"/>
                <a:ea typeface="Aptos"/>
                <a:cs typeface="Aptos"/>
              </a:defRPr>
            </a:pPr>
            <a:r>
              <a:rPr sz="825" b="1">
                <a:solidFill>
                  <a:srgbClr val="9DCC3B"/>
                </a:solidFill>
                <a:latin typeface="Aptos"/>
                <a:ea typeface="Aptos"/>
                <a:cs typeface="Aptos"/>
              </a:rPr>
              <a:t>known ground truth</a:t>
            </a:r>
          </a:p>
        </p:txBody>
      </p:sp>
      <p:sp>
        <p:nvSpPr>
          <p:cNvPr id="11" name="">
            <a:extLst xmlns:a="http://schemas.openxmlformats.org/drawingml/2006/main">
              <a:ext uri="{FF2B5EF4-FFF2-40B4-BE49-F238E27FC236}">
                <a16:creationId xmlns:a16="http://schemas.microsoft.com/office/drawing/2014/main" id="{FFA435BD-F294-45DD-A952-83EF38694C92}"/>
              </a:ext>
            </a:extLst>
          </p:cNvPr>
          <p:cNvSpPr>
            <a:spLocks xmlns:a="http://schemas.openxmlformats.org/drawingml/2006/main" noGrp="1"/>
          </p:cNvSpPr>
          <p:nvPr/>
        </p:nvSpPr>
        <p:spPr>
          <a:xfrm xmlns:a="http://schemas.openxmlformats.org/drawingml/2006/main">
            <a:off x="704850" y="2343150"/>
            <a:ext cx="107823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D8E0EA"/>
            </a:solidFill>
            <a:prstDash val="solid"/>
          </a:ln>
        </p:spPr>
      </p:sp>
      <p:sp>
        <p:nvSpPr>
          <p:cNvPr id="12" name="">
            <a:extLst xmlns:a="http://schemas.openxmlformats.org/drawingml/2006/main">
              <a:ext uri="{FF2B5EF4-FFF2-40B4-BE49-F238E27FC236}">
                <a16:creationId xmlns:a16="http://schemas.microsoft.com/office/drawing/2014/main" id="{7B5FBE1C-81D1-42E5-862D-8A78DF2568AE}"/>
              </a:ext>
            </a:extLst>
          </p:cNvPr>
          <p:cNvSpPr>
            <a:spLocks xmlns:a="http://schemas.openxmlformats.org/drawingml/2006/main" noGrp="1"/>
          </p:cNvSpPr>
          <p:nvPr/>
        </p:nvSpPr>
        <p:spPr>
          <a:xfrm xmlns:a="http://schemas.openxmlformats.org/drawingml/2006/main">
            <a:off x="704850" y="2343150"/>
            <a:ext cx="114300" cy="628650"/>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3F5E65C-851B-4043-8FFA-8ECEC0AFAD89}"/>
              </a:ext>
            </a:extLst>
          </p:cNvPr>
          <p:cNvSpPr>
            <a:spLocks xmlns:a="http://schemas.openxmlformats.org/drawingml/2006/main" noGrp="1"/>
          </p:cNvSpPr>
          <p:nvPr/>
        </p:nvSpPr>
        <p:spPr>
          <a:xfrm xmlns:a="http://schemas.openxmlformats.org/drawingml/2006/main">
            <a:off x="1066800" y="25146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101827"/>
                </a:solidFill>
                <a:latin typeface="Aptos"/>
                <a:ea typeface="Aptos"/>
                <a:cs typeface="Aptos"/>
              </a:defRPr>
            </a:pPr>
            <a:r>
              <a:rPr sz="1425" b="1">
                <a:solidFill>
                  <a:srgbClr val="101827"/>
                </a:solidFill>
                <a:latin typeface="Aptos"/>
                <a:ea typeface="Aptos"/>
                <a:cs typeface="Aptos"/>
              </a:rPr>
              <a:t>Clean real</a:t>
            </a:r>
          </a:p>
        </p:txBody>
      </p:sp>
      <p:sp>
        <p:nvSpPr>
          <p:cNvPr id="14" name="">
            <a:extLst xmlns:a="http://schemas.openxmlformats.org/drawingml/2006/main">
              <a:ext uri="{FF2B5EF4-FFF2-40B4-BE49-F238E27FC236}">
                <a16:creationId xmlns:a16="http://schemas.microsoft.com/office/drawing/2014/main" id="{98B09F6B-188C-4FAB-B8CD-4A33501782F8}"/>
              </a:ext>
            </a:extLst>
          </p:cNvPr>
          <p:cNvSpPr>
            <a:spLocks xmlns:a="http://schemas.openxmlformats.org/drawingml/2006/main" noGrp="1"/>
          </p:cNvSpPr>
          <p:nvPr/>
        </p:nvSpPr>
        <p:spPr>
          <a:xfrm xmlns:a="http://schemas.openxmlformats.org/drawingml/2006/main">
            <a:off x="3467100" y="25146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24BFAE"/>
                </a:solidFill>
                <a:latin typeface="Aptos"/>
                <a:ea typeface="Aptos"/>
                <a:cs typeface="Aptos"/>
              </a:defRPr>
            </a:pPr>
            <a:r>
              <a:rPr sz="1275" b="1">
                <a:solidFill>
                  <a:srgbClr val="24BFAE"/>
                </a:solidFill>
                <a:latin typeface="Aptos"/>
                <a:ea typeface="Aptos"/>
                <a:cs typeface="Aptos"/>
              </a:rPr>
              <a:t>5 APKs</a:t>
            </a:r>
          </a:p>
        </p:txBody>
      </p:sp>
      <p:sp>
        <p:nvSpPr>
          <p:cNvPr id="15" name="">
            <a:extLst xmlns:a="http://schemas.openxmlformats.org/drawingml/2006/main">
              <a:ext uri="{FF2B5EF4-FFF2-40B4-BE49-F238E27FC236}">
                <a16:creationId xmlns:a16="http://schemas.microsoft.com/office/drawing/2014/main" id="{DBEC7000-EE11-4CB6-A71A-258BAD4330D2}"/>
              </a:ext>
            </a:extLst>
          </p:cNvPr>
          <p:cNvSpPr>
            <a:spLocks xmlns:a="http://schemas.openxmlformats.org/drawingml/2006/main" noGrp="1"/>
          </p:cNvSpPr>
          <p:nvPr/>
        </p:nvSpPr>
        <p:spPr>
          <a:xfrm xmlns:a="http://schemas.openxmlformats.org/drawingml/2006/main">
            <a:off x="5257800" y="25146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101827"/>
                </a:solidFill>
                <a:latin typeface="Aptos"/>
                <a:ea typeface="Aptos"/>
                <a:cs typeface="Aptos"/>
              </a:defRPr>
            </a:pPr>
            <a:r>
              <a:rPr sz="1125" b="1">
                <a:solidFill>
                  <a:srgbClr val="101827"/>
                </a:solidFill>
                <a:latin typeface="Aptos"/>
                <a:ea typeface="Aptos"/>
                <a:cs typeface="Aptos"/>
              </a:rPr>
              <a:t>47 emitted versions</a:t>
            </a:r>
          </a:p>
        </p:txBody>
      </p:sp>
      <p:sp>
        <p:nvSpPr>
          <p:cNvPr id="16" name="">
            <a:extLst xmlns:a="http://schemas.openxmlformats.org/drawingml/2006/main">
              <a:ext uri="{FF2B5EF4-FFF2-40B4-BE49-F238E27FC236}">
                <a16:creationId xmlns:a16="http://schemas.microsoft.com/office/drawing/2014/main" id="{C1546012-4436-4452-A8DE-28F70B7BEC05}"/>
              </a:ext>
            </a:extLst>
          </p:cNvPr>
          <p:cNvSpPr>
            <a:spLocks xmlns:a="http://schemas.openxmlformats.org/drawingml/2006/main" noGrp="1"/>
          </p:cNvSpPr>
          <p:nvPr/>
        </p:nvSpPr>
        <p:spPr>
          <a:xfrm xmlns:a="http://schemas.openxmlformats.org/drawingml/2006/main">
            <a:off x="8420100" y="2514600"/>
            <a:ext cx="2571750" cy="266700"/>
          </a:xfrm>
          <a:prstGeom xmlns:a="http://schemas.openxmlformats.org/drawingml/2006/main" prst="roundRect">
            <a:avLst>
              <a:gd name="adj" fmla="val 28571"/>
            </a:avLst>
          </a:prstGeom>
          <a:solidFill xmlns:a="http://schemas.openxmlformats.org/drawingml/2006/main">
            <a:srgbClr val="F4F7FB"/>
          </a:solidFill>
          <a:ln xmlns:a="http://schemas.openxmlformats.org/drawingml/2006/main" w="9525">
            <a:solidFill>
              <a:srgbClr val="24BFAE"/>
            </a:solidFill>
            <a:prstDash val="solid"/>
          </a:ln>
        </p:spPr>
      </p:sp>
      <p:sp>
        <p:nvSpPr>
          <p:cNvPr id="17" name="">
            <a:extLst xmlns:a="http://schemas.openxmlformats.org/drawingml/2006/main">
              <a:ext uri="{FF2B5EF4-FFF2-40B4-BE49-F238E27FC236}">
                <a16:creationId xmlns:a16="http://schemas.microsoft.com/office/drawing/2014/main" id="{B94AAB67-8F86-428D-A7E0-622BE0FB86B9}"/>
              </a:ext>
            </a:extLst>
          </p:cNvPr>
          <p:cNvSpPr>
            <a:spLocks xmlns:a="http://schemas.openxmlformats.org/drawingml/2006/main" noGrp="1"/>
          </p:cNvSpPr>
          <p:nvPr/>
        </p:nvSpPr>
        <p:spPr>
          <a:xfrm xmlns:a="http://schemas.openxmlformats.org/drawingml/2006/main">
            <a:off x="8486775" y="25717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24BFAE"/>
                </a:solidFill>
                <a:latin typeface="Aptos"/>
                <a:ea typeface="Aptos"/>
                <a:cs typeface="Aptos"/>
              </a:defRPr>
            </a:pPr>
            <a:r>
              <a:rPr sz="825" b="1">
                <a:solidFill>
                  <a:srgbClr val="24BFAE"/>
                </a:solidFill>
                <a:latin typeface="Aptos"/>
                <a:ea typeface="Aptos"/>
                <a:cs typeface="Aptos"/>
              </a:rPr>
              <a:t>strong source proof</a:t>
            </a:r>
          </a:p>
        </p:txBody>
      </p:sp>
      <p:sp>
        <p:nvSpPr>
          <p:cNvPr id="18" name="">
            <a:extLst xmlns:a="http://schemas.openxmlformats.org/drawingml/2006/main">
              <a:ext uri="{FF2B5EF4-FFF2-40B4-BE49-F238E27FC236}">
                <a16:creationId xmlns:a16="http://schemas.microsoft.com/office/drawing/2014/main" id="{9F20B950-64F8-49E3-A9EB-11D46B558D8F}"/>
              </a:ext>
            </a:extLst>
          </p:cNvPr>
          <p:cNvSpPr>
            <a:spLocks xmlns:a="http://schemas.openxmlformats.org/drawingml/2006/main" noGrp="1"/>
          </p:cNvSpPr>
          <p:nvPr/>
        </p:nvSpPr>
        <p:spPr>
          <a:xfrm xmlns:a="http://schemas.openxmlformats.org/drawingml/2006/main">
            <a:off x="704850" y="3143250"/>
            <a:ext cx="107823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D8E0EA"/>
            </a:solidFill>
            <a:prstDash val="solid"/>
          </a:ln>
        </p:spPr>
      </p:sp>
      <p:sp>
        <p:nvSpPr>
          <p:cNvPr id="19" name="">
            <a:extLst xmlns:a="http://schemas.openxmlformats.org/drawingml/2006/main">
              <a:ext uri="{FF2B5EF4-FFF2-40B4-BE49-F238E27FC236}">
                <a16:creationId xmlns:a16="http://schemas.microsoft.com/office/drawing/2014/main" id="{D9567274-2461-45B9-A649-38966A62A560}"/>
              </a:ext>
            </a:extLst>
          </p:cNvPr>
          <p:cNvSpPr>
            <a:spLocks xmlns:a="http://schemas.openxmlformats.org/drawingml/2006/main" noGrp="1"/>
          </p:cNvSpPr>
          <p:nvPr/>
        </p:nvSpPr>
        <p:spPr>
          <a:xfrm xmlns:a="http://schemas.openxmlformats.org/drawingml/2006/main">
            <a:off x="704850" y="3143250"/>
            <a:ext cx="114300" cy="628650"/>
          </a:xfrm>
          <a:prstGeom xmlns:a="http://schemas.openxmlformats.org/drawingml/2006/main" prst="rect">
            <a:avLst/>
          </a:prstGeom>
          <a:solidFill xmlns:a="http://schemas.openxmlformats.org/drawingml/2006/main">
            <a:srgbClr val="E8AA3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28A03F2-EB66-4F41-A977-AF36F64C80C6}"/>
              </a:ext>
            </a:extLst>
          </p:cNvPr>
          <p:cNvSpPr>
            <a:spLocks xmlns:a="http://schemas.openxmlformats.org/drawingml/2006/main" noGrp="1"/>
          </p:cNvSpPr>
          <p:nvPr/>
        </p:nvSpPr>
        <p:spPr>
          <a:xfrm xmlns:a="http://schemas.openxmlformats.org/drawingml/2006/main">
            <a:off x="1066800" y="33147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101827"/>
                </a:solidFill>
                <a:latin typeface="Aptos"/>
                <a:ea typeface="Aptos"/>
                <a:cs typeface="Aptos"/>
              </a:defRPr>
            </a:pPr>
            <a:r>
              <a:rPr sz="1425" b="1">
                <a:solidFill>
                  <a:srgbClr val="101827"/>
                </a:solidFill>
                <a:latin typeface="Aptos"/>
                <a:ea typeface="Aptos"/>
                <a:cs typeface="Aptos"/>
              </a:rPr>
              <a:t>Partial real</a:t>
            </a:r>
          </a:p>
        </p:txBody>
      </p:sp>
      <p:sp>
        <p:nvSpPr>
          <p:cNvPr id="21" name="">
            <a:extLst xmlns:a="http://schemas.openxmlformats.org/drawingml/2006/main">
              <a:ext uri="{FF2B5EF4-FFF2-40B4-BE49-F238E27FC236}">
                <a16:creationId xmlns:a16="http://schemas.microsoft.com/office/drawing/2014/main" id="{C721D6F4-75AF-415F-B379-E781E6AE3C4E}"/>
              </a:ext>
            </a:extLst>
          </p:cNvPr>
          <p:cNvSpPr>
            <a:spLocks xmlns:a="http://schemas.openxmlformats.org/drawingml/2006/main" noGrp="1"/>
          </p:cNvSpPr>
          <p:nvPr/>
        </p:nvSpPr>
        <p:spPr>
          <a:xfrm xmlns:a="http://schemas.openxmlformats.org/drawingml/2006/main">
            <a:off x="3467100" y="33147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E8AA3B"/>
                </a:solidFill>
                <a:latin typeface="Aptos"/>
                <a:ea typeface="Aptos"/>
                <a:cs typeface="Aptos"/>
              </a:defRPr>
            </a:pPr>
            <a:r>
              <a:rPr sz="1275" b="1">
                <a:solidFill>
                  <a:srgbClr val="E8AA3B"/>
                </a:solidFill>
                <a:latin typeface="Aptos"/>
                <a:ea typeface="Aptos"/>
                <a:cs typeface="Aptos"/>
              </a:rPr>
              <a:t>97 APKs</a:t>
            </a:r>
          </a:p>
        </p:txBody>
      </p:sp>
      <p:sp>
        <p:nvSpPr>
          <p:cNvPr id="22" name="">
            <a:extLst xmlns:a="http://schemas.openxmlformats.org/drawingml/2006/main">
              <a:ext uri="{FF2B5EF4-FFF2-40B4-BE49-F238E27FC236}">
                <a16:creationId xmlns:a16="http://schemas.microsoft.com/office/drawing/2014/main" id="{51B968DD-374D-4911-867B-C0579EEAC4D1}"/>
              </a:ext>
            </a:extLst>
          </p:cNvPr>
          <p:cNvSpPr>
            <a:spLocks xmlns:a="http://schemas.openxmlformats.org/drawingml/2006/main" noGrp="1"/>
          </p:cNvSpPr>
          <p:nvPr/>
        </p:nvSpPr>
        <p:spPr>
          <a:xfrm xmlns:a="http://schemas.openxmlformats.org/drawingml/2006/main">
            <a:off x="5257800" y="33147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101827"/>
                </a:solidFill>
                <a:latin typeface="Aptos"/>
                <a:ea typeface="Aptos"/>
                <a:cs typeface="Aptos"/>
              </a:defRPr>
            </a:pPr>
            <a:r>
              <a:rPr sz="1125" b="1">
                <a:solidFill>
                  <a:srgbClr val="101827"/>
                </a:solidFill>
                <a:latin typeface="Aptos"/>
                <a:ea typeface="Aptos"/>
                <a:cs typeface="Aptos"/>
              </a:rPr>
              <a:t>1790 emitted versions</a:t>
            </a:r>
          </a:p>
        </p:txBody>
      </p:sp>
      <p:sp>
        <p:nvSpPr>
          <p:cNvPr id="23" name="">
            <a:extLst xmlns:a="http://schemas.openxmlformats.org/drawingml/2006/main">
              <a:ext uri="{FF2B5EF4-FFF2-40B4-BE49-F238E27FC236}">
                <a16:creationId xmlns:a16="http://schemas.microsoft.com/office/drawing/2014/main" id="{CC21F8C8-AF04-4D07-8D9B-27EB52F478F0}"/>
              </a:ext>
            </a:extLst>
          </p:cNvPr>
          <p:cNvSpPr>
            <a:spLocks xmlns:a="http://schemas.openxmlformats.org/drawingml/2006/main" noGrp="1"/>
          </p:cNvSpPr>
          <p:nvPr/>
        </p:nvSpPr>
        <p:spPr>
          <a:xfrm xmlns:a="http://schemas.openxmlformats.org/drawingml/2006/main">
            <a:off x="8420100" y="3314700"/>
            <a:ext cx="2571750" cy="266700"/>
          </a:xfrm>
          <a:prstGeom xmlns:a="http://schemas.openxmlformats.org/drawingml/2006/main" prst="roundRect">
            <a:avLst>
              <a:gd name="adj" fmla="val 28571"/>
            </a:avLst>
          </a:prstGeom>
          <a:solidFill xmlns:a="http://schemas.openxmlformats.org/drawingml/2006/main">
            <a:srgbClr val="F4F7FB"/>
          </a:solidFill>
          <a:ln xmlns:a="http://schemas.openxmlformats.org/drawingml/2006/main" w="9525">
            <a:solidFill>
              <a:srgbClr val="E8AA3B"/>
            </a:solidFill>
            <a:prstDash val="solid"/>
          </a:ln>
        </p:spPr>
      </p:sp>
      <p:sp>
        <p:nvSpPr>
          <p:cNvPr id="24" name="">
            <a:extLst xmlns:a="http://schemas.openxmlformats.org/drawingml/2006/main">
              <a:ext uri="{FF2B5EF4-FFF2-40B4-BE49-F238E27FC236}">
                <a16:creationId xmlns:a16="http://schemas.microsoft.com/office/drawing/2014/main" id="{486387D0-73E0-437B-A6E0-CFBC156A4699}"/>
              </a:ext>
            </a:extLst>
          </p:cNvPr>
          <p:cNvSpPr>
            <a:spLocks xmlns:a="http://schemas.openxmlformats.org/drawingml/2006/main" noGrp="1"/>
          </p:cNvSpPr>
          <p:nvPr/>
        </p:nvSpPr>
        <p:spPr>
          <a:xfrm xmlns:a="http://schemas.openxmlformats.org/drawingml/2006/main">
            <a:off x="8486775" y="33718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E8AA3B"/>
                </a:solidFill>
                <a:latin typeface="Aptos"/>
                <a:ea typeface="Aptos"/>
                <a:cs typeface="Aptos"/>
              </a:defRPr>
            </a:pPr>
            <a:r>
              <a:rPr sz="825" b="1">
                <a:solidFill>
                  <a:srgbClr val="E8AA3B"/>
                </a:solidFill>
                <a:latin typeface="Aptos"/>
                <a:ea typeface="Aptos"/>
                <a:cs typeface="Aptos"/>
              </a:rPr>
              <a:t>realistic hard cases</a:t>
            </a:r>
          </a:p>
        </p:txBody>
      </p:sp>
      <p:sp>
        <p:nvSpPr>
          <p:cNvPr id="25" name="">
            <a:extLst xmlns:a="http://schemas.openxmlformats.org/drawingml/2006/main">
              <a:ext uri="{FF2B5EF4-FFF2-40B4-BE49-F238E27FC236}">
                <a16:creationId xmlns:a16="http://schemas.microsoft.com/office/drawing/2014/main" id="{2EFCD5C8-FC5C-4782-A747-F1FABF93D4F1}"/>
              </a:ext>
            </a:extLst>
          </p:cNvPr>
          <p:cNvSpPr>
            <a:spLocks xmlns:a="http://schemas.openxmlformats.org/drawingml/2006/main" noGrp="1"/>
          </p:cNvSpPr>
          <p:nvPr/>
        </p:nvSpPr>
        <p:spPr>
          <a:xfrm xmlns:a="http://schemas.openxmlformats.org/drawingml/2006/main">
            <a:off x="704850" y="3943350"/>
            <a:ext cx="107823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D8E0EA"/>
            </a:solidFill>
            <a:prstDash val="solid"/>
          </a:ln>
        </p:spPr>
      </p:sp>
      <p:sp>
        <p:nvSpPr>
          <p:cNvPr id="26" name="">
            <a:extLst xmlns:a="http://schemas.openxmlformats.org/drawingml/2006/main">
              <a:ext uri="{FF2B5EF4-FFF2-40B4-BE49-F238E27FC236}">
                <a16:creationId xmlns:a16="http://schemas.microsoft.com/office/drawing/2014/main" id="{4814D127-3739-48FB-A6FC-8426E9E609EE}"/>
              </a:ext>
            </a:extLst>
          </p:cNvPr>
          <p:cNvSpPr>
            <a:spLocks xmlns:a="http://schemas.openxmlformats.org/drawingml/2006/main" noGrp="1"/>
          </p:cNvSpPr>
          <p:nvPr/>
        </p:nvSpPr>
        <p:spPr>
          <a:xfrm xmlns:a="http://schemas.openxmlformats.org/drawingml/2006/main">
            <a:off x="704850" y="3943350"/>
            <a:ext cx="114300" cy="628650"/>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9D89BEF5-18DF-438A-9B04-802DFABE30D1}"/>
              </a:ext>
            </a:extLst>
          </p:cNvPr>
          <p:cNvSpPr>
            <a:spLocks xmlns:a="http://schemas.openxmlformats.org/drawingml/2006/main" noGrp="1"/>
          </p:cNvSpPr>
          <p:nvPr/>
        </p:nvSpPr>
        <p:spPr>
          <a:xfrm xmlns:a="http://schemas.openxmlformats.org/drawingml/2006/main">
            <a:off x="1066800" y="41148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101827"/>
                </a:solidFill>
                <a:latin typeface="Aptos"/>
                <a:ea typeface="Aptos"/>
                <a:cs typeface="Aptos"/>
              </a:defRPr>
            </a:pPr>
            <a:r>
              <a:rPr sz="1425" b="1">
                <a:solidFill>
                  <a:srgbClr val="101827"/>
                </a:solidFill>
                <a:latin typeface="Aptos"/>
                <a:ea typeface="Aptos"/>
                <a:cs typeface="Aptos"/>
              </a:rPr>
              <a:t>Blocked</a:t>
            </a:r>
          </a:p>
        </p:txBody>
      </p:sp>
      <p:sp>
        <p:nvSpPr>
          <p:cNvPr id="28" name="">
            <a:extLst xmlns:a="http://schemas.openxmlformats.org/drawingml/2006/main">
              <a:ext uri="{FF2B5EF4-FFF2-40B4-BE49-F238E27FC236}">
                <a16:creationId xmlns:a16="http://schemas.microsoft.com/office/drawing/2014/main" id="{9FE5507D-A4A9-445F-B105-0C1DDF6BAD84}"/>
              </a:ext>
            </a:extLst>
          </p:cNvPr>
          <p:cNvSpPr>
            <a:spLocks xmlns:a="http://schemas.openxmlformats.org/drawingml/2006/main" noGrp="1"/>
          </p:cNvSpPr>
          <p:nvPr/>
        </p:nvSpPr>
        <p:spPr>
          <a:xfrm xmlns:a="http://schemas.openxmlformats.org/drawingml/2006/main">
            <a:off x="3467100" y="41148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4F7CFF"/>
                </a:solidFill>
                <a:latin typeface="Aptos"/>
                <a:ea typeface="Aptos"/>
                <a:cs typeface="Aptos"/>
              </a:defRPr>
            </a:pPr>
            <a:r>
              <a:rPr sz="1275" b="1">
                <a:solidFill>
                  <a:srgbClr val="4F7CFF"/>
                </a:solidFill>
                <a:latin typeface="Aptos"/>
                <a:ea typeface="Aptos"/>
                <a:cs typeface="Aptos"/>
              </a:rPr>
              <a:t>0 APKs</a:t>
            </a:r>
          </a:p>
        </p:txBody>
      </p:sp>
      <p:sp>
        <p:nvSpPr>
          <p:cNvPr id="29" name="">
            <a:extLst xmlns:a="http://schemas.openxmlformats.org/drawingml/2006/main">
              <a:ext uri="{FF2B5EF4-FFF2-40B4-BE49-F238E27FC236}">
                <a16:creationId xmlns:a16="http://schemas.microsoft.com/office/drawing/2014/main" id="{1F0EE321-FEBA-4FEA-97FD-AE2D9CD55C38}"/>
              </a:ext>
            </a:extLst>
          </p:cNvPr>
          <p:cNvSpPr>
            <a:spLocks xmlns:a="http://schemas.openxmlformats.org/drawingml/2006/main" noGrp="1"/>
          </p:cNvSpPr>
          <p:nvPr/>
        </p:nvSpPr>
        <p:spPr>
          <a:xfrm xmlns:a="http://schemas.openxmlformats.org/drawingml/2006/main">
            <a:off x="5257800" y="41148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101827"/>
                </a:solidFill>
                <a:latin typeface="Aptos"/>
                <a:ea typeface="Aptos"/>
                <a:cs typeface="Aptos"/>
              </a:defRPr>
            </a:pPr>
            <a:r>
              <a:rPr sz="1125" b="1">
                <a:solidFill>
                  <a:srgbClr val="101827"/>
                </a:solidFill>
                <a:latin typeface="Aptos"/>
                <a:ea typeface="Aptos"/>
                <a:cs typeface="Aptos"/>
              </a:rPr>
              <a:t>none remaining</a:t>
            </a:r>
          </a:p>
        </p:txBody>
      </p:sp>
      <p:sp>
        <p:nvSpPr>
          <p:cNvPr id="30" name="">
            <a:extLst xmlns:a="http://schemas.openxmlformats.org/drawingml/2006/main">
              <a:ext uri="{FF2B5EF4-FFF2-40B4-BE49-F238E27FC236}">
                <a16:creationId xmlns:a16="http://schemas.microsoft.com/office/drawing/2014/main" id="{494BF655-750E-434D-82F7-FA8D4AB8A8CD}"/>
              </a:ext>
            </a:extLst>
          </p:cNvPr>
          <p:cNvSpPr>
            <a:spLocks xmlns:a="http://schemas.openxmlformats.org/drawingml/2006/main" noGrp="1"/>
          </p:cNvSpPr>
          <p:nvPr/>
        </p:nvSpPr>
        <p:spPr>
          <a:xfrm xmlns:a="http://schemas.openxmlformats.org/drawingml/2006/main">
            <a:off x="8420100" y="4114800"/>
            <a:ext cx="2571750" cy="266700"/>
          </a:xfrm>
          <a:prstGeom xmlns:a="http://schemas.openxmlformats.org/drawingml/2006/main" prst="roundRect">
            <a:avLst>
              <a:gd name="adj" fmla="val 28571"/>
            </a:avLst>
          </a:prstGeom>
          <a:solidFill xmlns:a="http://schemas.openxmlformats.org/drawingml/2006/main">
            <a:srgbClr val="F4F7FB"/>
          </a:solidFill>
          <a:ln xmlns:a="http://schemas.openxmlformats.org/drawingml/2006/main" w="9525">
            <a:solidFill>
              <a:srgbClr val="4F7CFF"/>
            </a:solidFill>
            <a:prstDash val="solid"/>
          </a:ln>
        </p:spPr>
      </p:sp>
      <p:sp>
        <p:nvSpPr>
          <p:cNvPr id="31" name="">
            <a:extLst xmlns:a="http://schemas.openxmlformats.org/drawingml/2006/main">
              <a:ext uri="{FF2B5EF4-FFF2-40B4-BE49-F238E27FC236}">
                <a16:creationId xmlns:a16="http://schemas.microsoft.com/office/drawing/2014/main" id="{741EE941-1137-441A-A48D-FFE83FFEB3DF}"/>
              </a:ext>
            </a:extLst>
          </p:cNvPr>
          <p:cNvSpPr>
            <a:spLocks xmlns:a="http://schemas.openxmlformats.org/drawingml/2006/main" noGrp="1"/>
          </p:cNvSpPr>
          <p:nvPr/>
        </p:nvSpPr>
        <p:spPr>
          <a:xfrm xmlns:a="http://schemas.openxmlformats.org/drawingml/2006/main">
            <a:off x="8486775" y="41719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4F7CFF"/>
                </a:solidFill>
                <a:latin typeface="Aptos"/>
                <a:ea typeface="Aptos"/>
                <a:cs typeface="Aptos"/>
              </a:defRPr>
            </a:pPr>
            <a:r>
              <a:rPr sz="825" b="1">
                <a:solidFill>
                  <a:srgbClr val="4F7CFF"/>
                </a:solidFill>
                <a:latin typeface="Aptos"/>
                <a:ea typeface="Aptos"/>
                <a:cs typeface="Aptos"/>
              </a:rPr>
              <a:t>proof gates completed</a:t>
            </a:r>
          </a:p>
        </p:txBody>
      </p:sp>
      <p:sp>
        <p:nvSpPr>
          <p:cNvPr id="32" name="">
            <a:extLst xmlns:a="http://schemas.openxmlformats.org/drawingml/2006/main">
              <a:ext uri="{FF2B5EF4-FFF2-40B4-BE49-F238E27FC236}">
                <a16:creationId xmlns:a16="http://schemas.microsoft.com/office/drawing/2014/main" id="{6AA02030-B481-4EB7-B0EB-F10A3240791D}"/>
              </a:ext>
            </a:extLst>
          </p:cNvPr>
          <p:cNvSpPr>
            <a:spLocks xmlns:a="http://schemas.openxmlformats.org/drawingml/2006/main" noGrp="1"/>
          </p:cNvSpPr>
          <p:nvPr/>
        </p:nvSpPr>
        <p:spPr>
          <a:xfrm xmlns:a="http://schemas.openxmlformats.org/drawingml/2006/main">
            <a:off x="704850" y="4743450"/>
            <a:ext cx="107823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D8E0EA"/>
            </a:solidFill>
            <a:prstDash val="solid"/>
          </a:ln>
        </p:spPr>
      </p:sp>
      <p:sp>
        <p:nvSpPr>
          <p:cNvPr id="33" name="">
            <a:extLst xmlns:a="http://schemas.openxmlformats.org/drawingml/2006/main">
              <a:ext uri="{FF2B5EF4-FFF2-40B4-BE49-F238E27FC236}">
                <a16:creationId xmlns:a16="http://schemas.microsoft.com/office/drawing/2014/main" id="{9AA249E0-E30A-4A5A-8E45-8300DE3A8F18}"/>
              </a:ext>
            </a:extLst>
          </p:cNvPr>
          <p:cNvSpPr>
            <a:spLocks xmlns:a="http://schemas.openxmlformats.org/drawingml/2006/main" noGrp="1"/>
          </p:cNvSpPr>
          <p:nvPr/>
        </p:nvSpPr>
        <p:spPr>
          <a:xfrm xmlns:a="http://schemas.openxmlformats.org/drawingml/2006/main">
            <a:off x="704850" y="4743450"/>
            <a:ext cx="114300" cy="628650"/>
          </a:xfrm>
          <a:prstGeom xmlns:a="http://schemas.openxmlformats.org/drawingml/2006/main" prst="rect">
            <a:avLst/>
          </a:prstGeom>
          <a:solidFill xmlns:a="http://schemas.openxmlformats.org/drawingml/2006/main">
            <a:srgbClr val="806FE8"/>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33692145-3A07-46E6-BB95-CFCFB301199B}"/>
              </a:ext>
            </a:extLst>
          </p:cNvPr>
          <p:cNvSpPr>
            <a:spLocks xmlns:a="http://schemas.openxmlformats.org/drawingml/2006/main" noGrp="1"/>
          </p:cNvSpPr>
          <p:nvPr/>
        </p:nvSpPr>
        <p:spPr>
          <a:xfrm xmlns:a="http://schemas.openxmlformats.org/drawingml/2006/main">
            <a:off x="1066800" y="49149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101827"/>
                </a:solidFill>
                <a:latin typeface="Aptos"/>
                <a:ea typeface="Aptos"/>
                <a:cs typeface="Aptos"/>
              </a:defRPr>
            </a:pPr>
            <a:r>
              <a:rPr sz="1425" b="1">
                <a:solidFill>
                  <a:srgbClr val="101827"/>
                </a:solidFill>
                <a:latin typeface="Aptos"/>
                <a:ea typeface="Aptos"/>
                <a:cs typeface="Aptos"/>
              </a:rPr>
              <a:t>Limitations</a:t>
            </a:r>
          </a:p>
        </p:txBody>
      </p:sp>
      <p:sp>
        <p:nvSpPr>
          <p:cNvPr id="35" name="">
            <a:extLst xmlns:a="http://schemas.openxmlformats.org/drawingml/2006/main">
              <a:ext uri="{FF2B5EF4-FFF2-40B4-BE49-F238E27FC236}">
                <a16:creationId xmlns:a16="http://schemas.microsoft.com/office/drawing/2014/main" id="{5FBFDDD3-52AD-4E2A-B4EF-172908155A8E}"/>
              </a:ext>
            </a:extLst>
          </p:cNvPr>
          <p:cNvSpPr>
            <a:spLocks xmlns:a="http://schemas.openxmlformats.org/drawingml/2006/main" noGrp="1"/>
          </p:cNvSpPr>
          <p:nvPr/>
        </p:nvSpPr>
        <p:spPr>
          <a:xfrm xmlns:a="http://schemas.openxmlformats.org/drawingml/2006/main">
            <a:off x="3467100" y="49149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806FE8"/>
                </a:solidFill>
                <a:latin typeface="Aptos"/>
                <a:ea typeface="Aptos"/>
                <a:cs typeface="Aptos"/>
              </a:defRPr>
            </a:pPr>
            <a:r>
              <a:rPr sz="1275" b="1">
                <a:solidFill>
                  <a:srgbClr val="806FE8"/>
                </a:solidFill>
                <a:latin typeface="Aptos"/>
                <a:ea typeface="Aptos"/>
                <a:cs typeface="Aptos"/>
              </a:rPr>
              <a:t>4 cases</a:t>
            </a:r>
          </a:p>
        </p:txBody>
      </p:sp>
      <p:sp>
        <p:nvSpPr>
          <p:cNvPr id="36" name="">
            <a:extLst xmlns:a="http://schemas.openxmlformats.org/drawingml/2006/main">
              <a:ext uri="{FF2B5EF4-FFF2-40B4-BE49-F238E27FC236}">
                <a16:creationId xmlns:a16="http://schemas.microsoft.com/office/drawing/2014/main" id="{1E410549-420A-4A1F-BA3F-FE4C9FB87797}"/>
              </a:ext>
            </a:extLst>
          </p:cNvPr>
          <p:cNvSpPr>
            <a:spLocks xmlns:a="http://schemas.openxmlformats.org/drawingml/2006/main" noGrp="1"/>
          </p:cNvSpPr>
          <p:nvPr/>
        </p:nvSpPr>
        <p:spPr>
          <a:xfrm xmlns:a="http://schemas.openxmlformats.org/drawingml/2006/main">
            <a:off x="5257800" y="49149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101827"/>
                </a:solidFill>
                <a:latin typeface="Aptos"/>
                <a:ea typeface="Aptos"/>
                <a:cs typeface="Aptos"/>
              </a:defRPr>
            </a:pPr>
            <a:r>
              <a:rPr sz="1125" b="1">
                <a:solidFill>
                  <a:srgbClr val="101827"/>
                </a:solidFill>
                <a:latin typeface="Aptos"/>
                <a:ea typeface="Aptos"/>
                <a:cs typeface="Aptos"/>
              </a:rPr>
              <a:t>outside exact metric</a:t>
            </a:r>
          </a:p>
        </p:txBody>
      </p:sp>
      <p:sp>
        <p:nvSpPr>
          <p:cNvPr id="37" name="">
            <a:extLst xmlns:a="http://schemas.openxmlformats.org/drawingml/2006/main">
              <a:ext uri="{FF2B5EF4-FFF2-40B4-BE49-F238E27FC236}">
                <a16:creationId xmlns:a16="http://schemas.microsoft.com/office/drawing/2014/main" id="{5AF3B1FF-4D6F-4057-80D8-2257C4D1E4B9}"/>
              </a:ext>
            </a:extLst>
          </p:cNvPr>
          <p:cNvSpPr>
            <a:spLocks xmlns:a="http://schemas.openxmlformats.org/drawingml/2006/main" noGrp="1"/>
          </p:cNvSpPr>
          <p:nvPr/>
        </p:nvSpPr>
        <p:spPr>
          <a:xfrm xmlns:a="http://schemas.openxmlformats.org/drawingml/2006/main">
            <a:off x="8420100" y="4914900"/>
            <a:ext cx="2571750" cy="266700"/>
          </a:xfrm>
          <a:prstGeom xmlns:a="http://schemas.openxmlformats.org/drawingml/2006/main" prst="roundRect">
            <a:avLst>
              <a:gd name="adj" fmla="val 28571"/>
            </a:avLst>
          </a:prstGeom>
          <a:solidFill xmlns:a="http://schemas.openxmlformats.org/drawingml/2006/main">
            <a:srgbClr val="F4F7FB"/>
          </a:solidFill>
          <a:ln xmlns:a="http://schemas.openxmlformats.org/drawingml/2006/main" w="9525">
            <a:solidFill>
              <a:srgbClr val="806FE8"/>
            </a:solidFill>
            <a:prstDash val="solid"/>
          </a:ln>
        </p:spPr>
      </p:sp>
      <p:sp>
        <p:nvSpPr>
          <p:cNvPr id="38" name="">
            <a:extLst xmlns:a="http://schemas.openxmlformats.org/drawingml/2006/main">
              <a:ext uri="{FF2B5EF4-FFF2-40B4-BE49-F238E27FC236}">
                <a16:creationId xmlns:a16="http://schemas.microsoft.com/office/drawing/2014/main" id="{86AF98B5-B2E6-4DF1-A479-59718724E27E}"/>
              </a:ext>
            </a:extLst>
          </p:cNvPr>
          <p:cNvSpPr>
            <a:spLocks xmlns:a="http://schemas.openxmlformats.org/drawingml/2006/main" noGrp="1"/>
          </p:cNvSpPr>
          <p:nvPr/>
        </p:nvSpPr>
        <p:spPr>
          <a:xfrm xmlns:a="http://schemas.openxmlformats.org/drawingml/2006/main">
            <a:off x="8486775" y="4972050"/>
            <a:ext cx="2438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806FE8"/>
                </a:solidFill>
                <a:latin typeface="Aptos"/>
                <a:ea typeface="Aptos"/>
                <a:cs typeface="Aptos"/>
              </a:defRPr>
            </a:pPr>
            <a:r>
              <a:rPr sz="825" b="1">
                <a:solidFill>
                  <a:srgbClr val="806FE8"/>
                </a:solidFill>
                <a:latin typeface="Aptos"/>
                <a:ea typeface="Aptos"/>
                <a:cs typeface="Aptos"/>
              </a:rPr>
              <a:t>native / hidden / protected</a:t>
            </a:r>
          </a:p>
        </p:txBody>
      </p:sp>
      <p:sp>
        <p:nvSpPr>
          <p:cNvPr id="39" name="">
            <a:extLst xmlns:a="http://schemas.openxmlformats.org/drawingml/2006/main">
              <a:ext uri="{FF2B5EF4-FFF2-40B4-BE49-F238E27FC236}">
                <a16:creationId xmlns:a16="http://schemas.microsoft.com/office/drawing/2014/main" id="{B0F0E378-752D-4EB0-B7BB-31F1EF6D6453}"/>
              </a:ext>
            </a:extLst>
          </p:cNvPr>
          <p:cNvSpPr>
            <a:spLocks xmlns:a="http://schemas.openxmlformats.org/drawingml/2006/main" noGrp="1"/>
          </p:cNvSpPr>
          <p:nvPr/>
        </p:nvSpPr>
        <p:spPr>
          <a:xfrm xmlns:a="http://schemas.openxmlformats.org/drawingml/2006/main">
            <a:off x="1676400" y="5734050"/>
            <a:ext cx="8839200" cy="400050"/>
          </a:xfrm>
          <a:prstGeom xmlns:a="http://schemas.openxmlformats.org/drawingml/2006/main" prst="rect">
            <a:avLst/>
          </a:prstGeom>
          <a:solidFill xmlns:a="http://schemas.openxmlformats.org/drawingml/2006/main">
            <a:srgbClr val="101827"/>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71048760-6B6A-4BA1-9FB2-830CFB7009A3}"/>
              </a:ext>
            </a:extLst>
          </p:cNvPr>
          <p:cNvSpPr>
            <a:spLocks xmlns:a="http://schemas.openxmlformats.org/drawingml/2006/main" noGrp="1"/>
          </p:cNvSpPr>
          <p:nvPr/>
        </p:nvSpPr>
        <p:spPr>
          <a:xfrm xmlns:a="http://schemas.openxmlformats.org/drawingml/2006/main">
            <a:off x="1885950" y="5829300"/>
            <a:ext cx="842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Scientific rule: preserve the denominator, classify exclusions, and expose every remaining gap.</a:t>
            </a:r>
          </a:p>
        </p:txBody>
      </p:sp>
      <p:sp>
        <p:nvSpPr>
          <p:cNvPr id="41" name="">
            <a:extLst xmlns:a="http://schemas.openxmlformats.org/drawingml/2006/main">
              <a:ext uri="{FF2B5EF4-FFF2-40B4-BE49-F238E27FC236}">
                <a16:creationId xmlns:a16="http://schemas.microsoft.com/office/drawing/2014/main" id="{5DF0D173-B122-42D7-9AEF-55B3B1A01D4C}"/>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2057388670"/>
      </p:ext>
    </p:extLst>
  </p:cSld>
</p:sld>
</file>

<file path=ppt/slides/slide9.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5371071-2491-4B63-8D47-2B631B48DCB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FCA8973-95A8-45FF-9F01-4F107C77E80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A41608A-7292-4EF5-AF68-640307A00711}"/>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4BFAE"/>
                </a:solidFill>
                <a:latin typeface="Aptos"/>
                <a:ea typeface="Aptos"/>
                <a:cs typeface="Aptos"/>
              </a:defRPr>
            </a:pPr>
            <a:r>
              <a:rPr sz="900" b="1">
                <a:solidFill>
                  <a:srgbClr val="24BFAE"/>
                </a:solidFill>
                <a:latin typeface="Aptos"/>
                <a:ea typeface="Aptos"/>
                <a:cs typeface="Aptos"/>
              </a:rPr>
              <a:t>RESULTS</a:t>
            </a:r>
          </a:p>
        </p:txBody>
      </p:sp>
      <p:sp>
        <p:nvSpPr>
          <p:cNvPr id="4" name="">
            <a:extLst xmlns:a="http://schemas.openxmlformats.org/drawingml/2006/main">
              <a:ext uri="{FF2B5EF4-FFF2-40B4-BE49-F238E27FC236}">
                <a16:creationId xmlns:a16="http://schemas.microsoft.com/office/drawing/2014/main" id="{737BAF58-D956-4BC7-9D3A-39848A03E7C1}"/>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The normal real-APK result and the v2 upper-bound answer different questions</a:t>
            </a:r>
          </a:p>
        </p:txBody>
      </p:sp>
      <p:sp>
        <p:nvSpPr>
          <p:cNvPr id="5" name="">
            <a:extLst xmlns:a="http://schemas.openxmlformats.org/drawingml/2006/main">
              <a:ext uri="{FF2B5EF4-FFF2-40B4-BE49-F238E27FC236}">
                <a16:creationId xmlns:a16="http://schemas.microsoft.com/office/drawing/2014/main" id="{FB57EBF8-712B-4FDB-8195-B635B36F7CE3}"/>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09</a:t>
            </a:r>
          </a:p>
        </p:txBody>
      </p:sp>
      <p:sp>
        <p:nvSpPr>
          <p:cNvPr id="6" name="">
            <a:extLst xmlns:a="http://schemas.openxmlformats.org/drawingml/2006/main">
              <a:ext uri="{FF2B5EF4-FFF2-40B4-BE49-F238E27FC236}">
                <a16:creationId xmlns:a16="http://schemas.microsoft.com/office/drawing/2014/main" id="{34022ED5-73B4-446F-92D6-B43912C82995}"/>
              </a:ext>
            </a:extLst>
          </p:cNvPr>
          <p:cNvSpPr>
            <a:spLocks xmlns:a="http://schemas.openxmlformats.org/drawingml/2006/main" noGrp="1"/>
          </p:cNvSpPr>
          <p:nvPr/>
        </p:nvSpPr>
        <p:spPr>
          <a:xfrm xmlns:a="http://schemas.openxmlformats.org/drawingml/2006/main">
            <a:off x="685800" y="1543050"/>
            <a:ext cx="6324600" cy="4095750"/>
          </a:xfrm>
          <a:prstGeom xmlns:a="http://schemas.openxmlformats.org/drawingml/2006/main" prst="roundRect">
            <a:avLst>
              <a:gd name="adj" fmla="val 1860"/>
            </a:avLst>
          </a:prstGeom>
          <a:solidFill xmlns:a="http://schemas.openxmlformats.org/drawingml/2006/main">
            <a:srgbClr val="111B2E"/>
          </a:solidFill>
          <a:ln xmlns:a="http://schemas.openxmlformats.org/drawingml/2006/main" w="9525">
            <a:solidFill>
              <a:srgbClr val="26344D"/>
            </a:solidFill>
            <a:prstDash val="solid"/>
          </a:ln>
        </p:spPr>
      </p:sp>
      <p:sp>
        <p:nvSpPr>
          <p:cNvPr id="7" name="">
            <a:extLst xmlns:a="http://schemas.openxmlformats.org/drawingml/2006/main">
              <a:ext uri="{FF2B5EF4-FFF2-40B4-BE49-F238E27FC236}">
                <a16:creationId xmlns:a16="http://schemas.microsoft.com/office/drawing/2014/main" id="{41DEACFE-5777-45FD-AA53-E0EF07BD9023}"/>
              </a:ext>
            </a:extLst>
          </p:cNvPr>
          <p:cNvSpPr>
            <a:spLocks xmlns:a="http://schemas.openxmlformats.org/drawingml/2006/main" noGrp="1"/>
          </p:cNvSpPr>
          <p:nvPr/>
        </p:nvSpPr>
        <p:spPr>
          <a:xfrm xmlns:a="http://schemas.openxmlformats.org/drawingml/2006/main">
            <a:off x="914400" y="1790700"/>
            <a:ext cx="2647950" cy="266700"/>
          </a:xfrm>
          <a:prstGeom xmlns:a="http://schemas.openxmlformats.org/drawingml/2006/main" prst="roundRect">
            <a:avLst>
              <a:gd name="adj" fmla="val 28571"/>
            </a:avLst>
          </a:prstGeom>
          <a:solidFill xmlns:a="http://schemas.openxmlformats.org/drawingml/2006/main">
            <a:srgbClr val="0B1220"/>
          </a:solidFill>
          <a:ln xmlns:a="http://schemas.openxmlformats.org/drawingml/2006/main" w="9525">
            <a:solidFill>
              <a:srgbClr val="24BFAE"/>
            </a:solidFill>
            <a:prstDash val="solid"/>
          </a:ln>
        </p:spPr>
      </p:sp>
      <p:sp>
        <p:nvSpPr>
          <p:cNvPr id="8" name="">
            <a:extLst xmlns:a="http://schemas.openxmlformats.org/drawingml/2006/main">
              <a:ext uri="{FF2B5EF4-FFF2-40B4-BE49-F238E27FC236}">
                <a16:creationId xmlns:a16="http://schemas.microsoft.com/office/drawing/2014/main" id="{78A20C6E-305B-471D-9604-AA05C89BBC17}"/>
              </a:ext>
            </a:extLst>
          </p:cNvPr>
          <p:cNvSpPr>
            <a:spLocks xmlns:a="http://schemas.openxmlformats.org/drawingml/2006/main" noGrp="1"/>
          </p:cNvSpPr>
          <p:nvPr/>
        </p:nvSpPr>
        <p:spPr>
          <a:xfrm xmlns:a="http://schemas.openxmlformats.org/drawingml/2006/main">
            <a:off x="981075" y="1847850"/>
            <a:ext cx="2514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24BFAE"/>
                </a:solidFill>
                <a:latin typeface="Aptos"/>
                <a:ea typeface="Aptos"/>
                <a:cs typeface="Aptos"/>
              </a:defRPr>
            </a:pPr>
            <a:r>
              <a:rPr sz="825" b="1">
                <a:solidFill>
                  <a:srgbClr val="24BFAE"/>
                </a:solidFill>
                <a:latin typeface="Aptos"/>
                <a:ea typeface="Aptos"/>
                <a:cs typeface="Aptos"/>
              </a:rPr>
              <a:t>NORMAL APK / SOURCE-VALIDATED METRIC</a:t>
            </a:r>
          </a:p>
        </p:txBody>
      </p:sp>
      <p:sp>
        <p:nvSpPr>
          <p:cNvPr id="9" name="">
            <a:extLst xmlns:a="http://schemas.openxmlformats.org/drawingml/2006/main">
              <a:ext uri="{FF2B5EF4-FFF2-40B4-BE49-F238E27FC236}">
                <a16:creationId xmlns:a16="http://schemas.microsoft.com/office/drawing/2014/main" id="{E196EF55-C930-433A-A658-BDF6458711CA}"/>
              </a:ext>
            </a:extLst>
          </p:cNvPr>
          <p:cNvSpPr>
            <a:spLocks xmlns:a="http://schemas.openxmlformats.org/drawingml/2006/main" noGrp="1"/>
          </p:cNvSpPr>
          <p:nvPr/>
        </p:nvSpPr>
        <p:spPr>
          <a:xfrm xmlns:a="http://schemas.openxmlformats.org/drawingml/2006/main">
            <a:off x="914400" y="2324100"/>
            <a:ext cx="209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750" b="1">
                <a:solidFill>
                  <a:srgbClr val="24BFAE"/>
                </a:solidFill>
                <a:latin typeface="Aptos Display"/>
                <a:ea typeface="Aptos Display"/>
                <a:cs typeface="Aptos Display"/>
              </a:defRPr>
            </a:pPr>
            <a:r>
              <a:rPr sz="3750" b="1">
                <a:solidFill>
                  <a:srgbClr val="24BFAE"/>
                </a:solidFill>
                <a:latin typeface="Aptos Display"/>
                <a:ea typeface="Aptos Display"/>
                <a:cs typeface="Aptos Display"/>
              </a:rPr>
              <a:t>50.5%</a:t>
            </a:r>
          </a:p>
        </p:txBody>
      </p:sp>
      <p:sp>
        <p:nvSpPr>
          <p:cNvPr id="10" name="">
            <a:extLst xmlns:a="http://schemas.openxmlformats.org/drawingml/2006/main">
              <a:ext uri="{FF2B5EF4-FFF2-40B4-BE49-F238E27FC236}">
                <a16:creationId xmlns:a16="http://schemas.microsoft.com/office/drawing/2014/main" id="{B07F499F-52DC-4A1B-84A5-78AEA097D4AE}"/>
              </a:ext>
            </a:extLst>
          </p:cNvPr>
          <p:cNvSpPr>
            <a:spLocks xmlns:a="http://schemas.openxmlformats.org/drawingml/2006/main" noGrp="1"/>
          </p:cNvSpPr>
          <p:nvPr/>
        </p:nvSpPr>
        <p:spPr>
          <a:xfrm xmlns:a="http://schemas.openxmlformats.org/drawingml/2006/main">
            <a:off x="914400" y="29908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FFFFFF"/>
                </a:solidFill>
                <a:latin typeface="Aptos"/>
                <a:ea typeface="Aptos"/>
                <a:cs typeface="Aptos"/>
              </a:defRPr>
            </a:pPr>
            <a:r>
              <a:rPr sz="1350" b="1">
                <a:solidFill>
                  <a:srgbClr val="FFFFFF"/>
                </a:solidFill>
                <a:latin typeface="Aptos"/>
                <a:ea typeface="Aptos"/>
                <a:cs typeface="Aptos"/>
              </a:rPr>
              <a:t>927 of 1837 emitted Maven versions confirmed</a:t>
            </a:r>
          </a:p>
        </p:txBody>
      </p:sp>
      <p:sp>
        <p:nvSpPr>
          <p:cNvPr id="11" name="">
            <a:extLst xmlns:a="http://schemas.openxmlformats.org/drawingml/2006/main">
              <a:ext uri="{FF2B5EF4-FFF2-40B4-BE49-F238E27FC236}">
                <a16:creationId xmlns:a16="http://schemas.microsoft.com/office/drawing/2014/main" id="{883DC58A-A756-4011-B665-8B4842DF8222}"/>
              </a:ext>
            </a:extLst>
          </p:cNvPr>
          <p:cNvSpPr>
            <a:spLocks xmlns:a="http://schemas.openxmlformats.org/drawingml/2006/main" noGrp="1"/>
          </p:cNvSpPr>
          <p:nvPr/>
        </p:nvSpPr>
        <p:spPr>
          <a:xfrm xmlns:a="http://schemas.openxmlformats.org/drawingml/2006/main">
            <a:off x="914400" y="36385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Controlled</a:t>
            </a:r>
          </a:p>
        </p:txBody>
      </p:sp>
      <p:sp>
        <p:nvSpPr>
          <p:cNvPr id="12" name="">
            <a:extLst xmlns:a="http://schemas.openxmlformats.org/drawingml/2006/main">
              <a:ext uri="{FF2B5EF4-FFF2-40B4-BE49-F238E27FC236}">
                <a16:creationId xmlns:a16="http://schemas.microsoft.com/office/drawing/2014/main" id="{A22B7440-0A34-4A48-B78E-2DFDAED77313}"/>
              </a:ext>
            </a:extLst>
          </p:cNvPr>
          <p:cNvSpPr>
            <a:spLocks xmlns:a="http://schemas.openxmlformats.org/drawingml/2006/main" noGrp="1"/>
          </p:cNvSpPr>
          <p:nvPr/>
        </p:nvSpPr>
        <p:spPr>
          <a:xfrm xmlns:a="http://schemas.openxmlformats.org/drawingml/2006/main">
            <a:off x="3438525" y="3657600"/>
            <a:ext cx="1866900" cy="142875"/>
          </a:xfrm>
          <a:prstGeom xmlns:a="http://schemas.openxmlformats.org/drawingml/2006/main" prst="rect">
            <a:avLst/>
          </a:prstGeom>
          <a:solidFill xmlns:a="http://schemas.openxmlformats.org/drawingml/2006/main">
            <a:srgbClr val="24314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8A147B2-4AD4-4A85-9349-B4E6A33A6439}"/>
              </a:ext>
            </a:extLst>
          </p:cNvPr>
          <p:cNvSpPr>
            <a:spLocks xmlns:a="http://schemas.openxmlformats.org/drawingml/2006/main" noGrp="1"/>
          </p:cNvSpPr>
          <p:nvPr/>
        </p:nvSpPr>
        <p:spPr>
          <a:xfrm xmlns:a="http://schemas.openxmlformats.org/drawingml/2006/main">
            <a:off x="3438525" y="3657600"/>
            <a:ext cx="1866900" cy="142875"/>
          </a:xfrm>
          <a:prstGeom xmlns:a="http://schemas.openxmlformats.org/drawingml/2006/main" prst="rect">
            <a:avLst/>
          </a:prstGeom>
          <a:solidFill xmlns:a="http://schemas.openxmlformats.org/drawingml/2006/main">
            <a:srgbClr val="9DCC3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5AA6A38-57D7-4311-BFAB-EE44944E8886}"/>
              </a:ext>
            </a:extLst>
          </p:cNvPr>
          <p:cNvSpPr>
            <a:spLocks xmlns:a="http://schemas.openxmlformats.org/drawingml/2006/main" noGrp="1"/>
          </p:cNvSpPr>
          <p:nvPr/>
        </p:nvSpPr>
        <p:spPr>
          <a:xfrm xmlns:a="http://schemas.openxmlformats.org/drawingml/2006/main">
            <a:off x="5448300" y="36195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9DCC3B"/>
                </a:solidFill>
                <a:latin typeface="Aptos"/>
                <a:ea typeface="Aptos"/>
                <a:cs typeface="Aptos"/>
              </a:defRPr>
            </a:pPr>
            <a:r>
              <a:rPr sz="975" b="1">
                <a:solidFill>
                  <a:srgbClr val="9DCC3B"/>
                </a:solidFill>
                <a:latin typeface="Aptos"/>
                <a:ea typeface="Aptos"/>
                <a:cs typeface="Aptos"/>
              </a:rPr>
              <a:t>84/84</a:t>
            </a:r>
          </a:p>
        </p:txBody>
      </p:sp>
      <p:sp>
        <p:nvSpPr>
          <p:cNvPr id="15" name="">
            <a:extLst xmlns:a="http://schemas.openxmlformats.org/drawingml/2006/main">
              <a:ext uri="{FF2B5EF4-FFF2-40B4-BE49-F238E27FC236}">
                <a16:creationId xmlns:a16="http://schemas.microsoft.com/office/drawing/2014/main" id="{BB7F2363-F03A-421C-9120-D372D97827B3}"/>
              </a:ext>
            </a:extLst>
          </p:cNvPr>
          <p:cNvSpPr>
            <a:spLocks xmlns:a="http://schemas.openxmlformats.org/drawingml/2006/main" noGrp="1"/>
          </p:cNvSpPr>
          <p:nvPr/>
        </p:nvSpPr>
        <p:spPr>
          <a:xfrm xmlns:a="http://schemas.openxmlformats.org/drawingml/2006/main">
            <a:off x="914400" y="407670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Clean real</a:t>
            </a:r>
          </a:p>
        </p:txBody>
      </p:sp>
      <p:sp>
        <p:nvSpPr>
          <p:cNvPr id="16" name="">
            <a:extLst xmlns:a="http://schemas.openxmlformats.org/drawingml/2006/main">
              <a:ext uri="{FF2B5EF4-FFF2-40B4-BE49-F238E27FC236}">
                <a16:creationId xmlns:a16="http://schemas.microsoft.com/office/drawing/2014/main" id="{CA6BE146-1DEC-45C1-ABAE-4DA1C5148457}"/>
              </a:ext>
            </a:extLst>
          </p:cNvPr>
          <p:cNvSpPr>
            <a:spLocks xmlns:a="http://schemas.openxmlformats.org/drawingml/2006/main" noGrp="1"/>
          </p:cNvSpPr>
          <p:nvPr/>
        </p:nvSpPr>
        <p:spPr>
          <a:xfrm xmlns:a="http://schemas.openxmlformats.org/drawingml/2006/main">
            <a:off x="3438525" y="4095750"/>
            <a:ext cx="1866900" cy="142875"/>
          </a:xfrm>
          <a:prstGeom xmlns:a="http://schemas.openxmlformats.org/drawingml/2006/main" prst="rect">
            <a:avLst/>
          </a:prstGeom>
          <a:solidFill xmlns:a="http://schemas.openxmlformats.org/drawingml/2006/main">
            <a:srgbClr val="24314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C66C776-A811-415D-B382-856058891E82}"/>
              </a:ext>
            </a:extLst>
          </p:cNvPr>
          <p:cNvSpPr>
            <a:spLocks xmlns:a="http://schemas.openxmlformats.org/drawingml/2006/main" noGrp="1"/>
          </p:cNvSpPr>
          <p:nvPr/>
        </p:nvSpPr>
        <p:spPr>
          <a:xfrm xmlns:a="http://schemas.openxmlformats.org/drawingml/2006/main">
            <a:off x="3438525" y="4095750"/>
            <a:ext cx="1866900" cy="142875"/>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30436C8-C720-4F9A-AFE7-548B7C7121D7}"/>
              </a:ext>
            </a:extLst>
          </p:cNvPr>
          <p:cNvSpPr>
            <a:spLocks xmlns:a="http://schemas.openxmlformats.org/drawingml/2006/main" noGrp="1"/>
          </p:cNvSpPr>
          <p:nvPr/>
        </p:nvSpPr>
        <p:spPr>
          <a:xfrm xmlns:a="http://schemas.openxmlformats.org/drawingml/2006/main">
            <a:off x="5448300" y="405765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4BFAE"/>
                </a:solidFill>
                <a:latin typeface="Aptos"/>
                <a:ea typeface="Aptos"/>
                <a:cs typeface="Aptos"/>
              </a:defRPr>
            </a:pPr>
            <a:r>
              <a:rPr sz="975" b="1">
                <a:solidFill>
                  <a:srgbClr val="24BFAE"/>
                </a:solidFill>
                <a:latin typeface="Aptos"/>
                <a:ea typeface="Aptos"/>
                <a:cs typeface="Aptos"/>
              </a:rPr>
              <a:t>47/47</a:t>
            </a:r>
          </a:p>
        </p:txBody>
      </p:sp>
      <p:sp>
        <p:nvSpPr>
          <p:cNvPr id="19" name="">
            <a:extLst xmlns:a="http://schemas.openxmlformats.org/drawingml/2006/main">
              <a:ext uri="{FF2B5EF4-FFF2-40B4-BE49-F238E27FC236}">
                <a16:creationId xmlns:a16="http://schemas.microsoft.com/office/drawing/2014/main" id="{6D75101A-E159-4D8E-B6C2-028DB8DD2054}"/>
              </a:ext>
            </a:extLst>
          </p:cNvPr>
          <p:cNvSpPr>
            <a:spLocks xmlns:a="http://schemas.openxmlformats.org/drawingml/2006/main" noGrp="1"/>
          </p:cNvSpPr>
          <p:nvPr/>
        </p:nvSpPr>
        <p:spPr>
          <a:xfrm xmlns:a="http://schemas.openxmlformats.org/drawingml/2006/main">
            <a:off x="914400" y="45148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Partial real</a:t>
            </a:r>
          </a:p>
        </p:txBody>
      </p:sp>
      <p:sp>
        <p:nvSpPr>
          <p:cNvPr id="20" name="">
            <a:extLst xmlns:a="http://schemas.openxmlformats.org/drawingml/2006/main">
              <a:ext uri="{FF2B5EF4-FFF2-40B4-BE49-F238E27FC236}">
                <a16:creationId xmlns:a16="http://schemas.microsoft.com/office/drawing/2014/main" id="{6BEF3A75-29C1-4699-87C3-942FD78941F7}"/>
              </a:ext>
            </a:extLst>
          </p:cNvPr>
          <p:cNvSpPr>
            <a:spLocks xmlns:a="http://schemas.openxmlformats.org/drawingml/2006/main" noGrp="1"/>
          </p:cNvSpPr>
          <p:nvPr/>
        </p:nvSpPr>
        <p:spPr>
          <a:xfrm xmlns:a="http://schemas.openxmlformats.org/drawingml/2006/main">
            <a:off x="3438525" y="4533900"/>
            <a:ext cx="1866900" cy="142875"/>
          </a:xfrm>
          <a:prstGeom xmlns:a="http://schemas.openxmlformats.org/drawingml/2006/main" prst="rect">
            <a:avLst/>
          </a:prstGeom>
          <a:solidFill xmlns:a="http://schemas.openxmlformats.org/drawingml/2006/main">
            <a:srgbClr val="243149"/>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2642263-FC77-4AC1-8078-00824288E252}"/>
              </a:ext>
            </a:extLst>
          </p:cNvPr>
          <p:cNvSpPr>
            <a:spLocks xmlns:a="http://schemas.openxmlformats.org/drawingml/2006/main" noGrp="1"/>
          </p:cNvSpPr>
          <p:nvPr/>
        </p:nvSpPr>
        <p:spPr>
          <a:xfrm xmlns:a="http://schemas.openxmlformats.org/drawingml/2006/main">
            <a:off x="3438525" y="4533900"/>
            <a:ext cx="917806" cy="142875"/>
          </a:xfrm>
          <a:prstGeom xmlns:a="http://schemas.openxmlformats.org/drawingml/2006/main" prst="rect">
            <a:avLst/>
          </a:prstGeom>
          <a:solidFill xmlns:a="http://schemas.openxmlformats.org/drawingml/2006/main">
            <a:srgbClr val="E8AA3B"/>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7360DDDF-0192-4C0C-8D6B-82143808C26B}"/>
              </a:ext>
            </a:extLst>
          </p:cNvPr>
          <p:cNvSpPr>
            <a:spLocks xmlns:a="http://schemas.openxmlformats.org/drawingml/2006/main" noGrp="1"/>
          </p:cNvSpPr>
          <p:nvPr/>
        </p:nvSpPr>
        <p:spPr>
          <a:xfrm xmlns:a="http://schemas.openxmlformats.org/drawingml/2006/main">
            <a:off x="5448300" y="44958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E8AA3B"/>
                </a:solidFill>
                <a:latin typeface="Aptos"/>
                <a:ea typeface="Aptos"/>
                <a:cs typeface="Aptos"/>
              </a:defRPr>
            </a:pPr>
            <a:r>
              <a:rPr sz="975" b="1">
                <a:solidFill>
                  <a:srgbClr val="E8AA3B"/>
                </a:solidFill>
                <a:latin typeface="Aptos"/>
                <a:ea typeface="Aptos"/>
                <a:cs typeface="Aptos"/>
              </a:rPr>
              <a:t>880/1790</a:t>
            </a:r>
          </a:p>
        </p:txBody>
      </p:sp>
      <p:sp>
        <p:nvSpPr>
          <p:cNvPr id="23" name="">
            <a:extLst xmlns:a="http://schemas.openxmlformats.org/drawingml/2006/main">
              <a:ext uri="{FF2B5EF4-FFF2-40B4-BE49-F238E27FC236}">
                <a16:creationId xmlns:a16="http://schemas.microsoft.com/office/drawing/2014/main" id="{353D8185-1105-4CC6-BCAC-028405174844}"/>
              </a:ext>
            </a:extLst>
          </p:cNvPr>
          <p:cNvSpPr>
            <a:spLocks xmlns:a="http://schemas.openxmlformats.org/drawingml/2006/main" noGrp="1"/>
          </p:cNvSpPr>
          <p:nvPr/>
        </p:nvSpPr>
        <p:spPr>
          <a:xfrm xmlns:a="http://schemas.openxmlformats.org/drawingml/2006/main">
            <a:off x="914400" y="51054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AEBACC"/>
                </a:solidFill>
                <a:latin typeface="Aptos"/>
                <a:ea typeface="Aptos"/>
                <a:cs typeface="Aptos"/>
              </a:defRPr>
            </a:pPr>
            <a:r>
              <a:rPr sz="975" b="0">
                <a:solidFill>
                  <a:srgbClr val="AEBACC"/>
                </a:solidFill>
                <a:latin typeface="Aptos"/>
                <a:ea typeface="Aptos"/>
                <a:cs typeface="Aptos"/>
              </a:rPr>
              <a:t>Measures correctness of what the APK-only tool emitted.</a:t>
            </a:r>
          </a:p>
        </p:txBody>
      </p:sp>
      <p:sp>
        <p:nvSpPr>
          <p:cNvPr id="24" name="">
            <a:extLst xmlns:a="http://schemas.openxmlformats.org/drawingml/2006/main">
              <a:ext uri="{FF2B5EF4-FFF2-40B4-BE49-F238E27FC236}">
                <a16:creationId xmlns:a16="http://schemas.microsoft.com/office/drawing/2014/main" id="{2B479CA1-4729-4548-A995-6EDABEFF1455}"/>
              </a:ext>
            </a:extLst>
          </p:cNvPr>
          <p:cNvSpPr>
            <a:spLocks xmlns:a="http://schemas.openxmlformats.org/drawingml/2006/main" noGrp="1"/>
          </p:cNvSpPr>
          <p:nvPr/>
        </p:nvSpPr>
        <p:spPr>
          <a:xfrm xmlns:a="http://schemas.openxmlformats.org/drawingml/2006/main">
            <a:off x="7334250" y="1543050"/>
            <a:ext cx="4171950" cy="4095750"/>
          </a:xfrm>
          <a:prstGeom xmlns:a="http://schemas.openxmlformats.org/drawingml/2006/main" prst="roundRect">
            <a:avLst>
              <a:gd name="adj" fmla="val 1860"/>
            </a:avLst>
          </a:prstGeom>
          <a:solidFill xmlns:a="http://schemas.openxmlformats.org/drawingml/2006/main">
            <a:srgbClr val="FFFFFF"/>
          </a:solidFill>
          <a:ln xmlns:a="http://schemas.openxmlformats.org/drawingml/2006/main" w="9525">
            <a:solidFill>
              <a:srgbClr val="FFFFFF"/>
            </a:solidFill>
            <a:prstDash val="solid"/>
          </a:ln>
        </p:spPr>
      </p:sp>
      <p:sp>
        <p:nvSpPr>
          <p:cNvPr id="25" name="">
            <a:extLst xmlns:a="http://schemas.openxmlformats.org/drawingml/2006/main">
              <a:ext uri="{FF2B5EF4-FFF2-40B4-BE49-F238E27FC236}">
                <a16:creationId xmlns:a16="http://schemas.microsoft.com/office/drawing/2014/main" id="{91C1682D-8CC8-4DE8-8410-8A17DF16E4C9}"/>
              </a:ext>
            </a:extLst>
          </p:cNvPr>
          <p:cNvSpPr>
            <a:spLocks xmlns:a="http://schemas.openxmlformats.org/drawingml/2006/main" noGrp="1"/>
          </p:cNvSpPr>
          <p:nvPr/>
        </p:nvSpPr>
        <p:spPr>
          <a:xfrm xmlns:a="http://schemas.openxmlformats.org/drawingml/2006/main">
            <a:off x="7600950" y="1790700"/>
            <a:ext cx="1885950" cy="266700"/>
          </a:xfrm>
          <a:prstGeom xmlns:a="http://schemas.openxmlformats.org/drawingml/2006/main" prst="roundRect">
            <a:avLst>
              <a:gd name="adj" fmla="val 28571"/>
            </a:avLst>
          </a:prstGeom>
          <a:solidFill xmlns:a="http://schemas.openxmlformats.org/drawingml/2006/main">
            <a:srgbClr val="FBF1DC"/>
          </a:solidFill>
          <a:ln xmlns:a="http://schemas.openxmlformats.org/drawingml/2006/main" w="9525">
            <a:solidFill>
              <a:srgbClr val="E8AA3B"/>
            </a:solidFill>
            <a:prstDash val="solid"/>
          </a:ln>
        </p:spPr>
      </p:sp>
      <p:sp>
        <p:nvSpPr>
          <p:cNvPr id="26" name="">
            <a:extLst xmlns:a="http://schemas.openxmlformats.org/drawingml/2006/main">
              <a:ext uri="{FF2B5EF4-FFF2-40B4-BE49-F238E27FC236}">
                <a16:creationId xmlns:a16="http://schemas.microsoft.com/office/drawing/2014/main" id="{947D214E-ABFB-4969-99CB-9EB57BD624F5}"/>
              </a:ext>
            </a:extLst>
          </p:cNvPr>
          <p:cNvSpPr>
            <a:spLocks xmlns:a="http://schemas.openxmlformats.org/drawingml/2006/main" noGrp="1"/>
          </p:cNvSpPr>
          <p:nvPr/>
        </p:nvSpPr>
        <p:spPr>
          <a:xfrm xmlns:a="http://schemas.openxmlformats.org/drawingml/2006/main">
            <a:off x="7667625" y="1847850"/>
            <a:ext cx="1752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E8AA3B"/>
                </a:solidFill>
                <a:latin typeface="Aptos"/>
                <a:ea typeface="Aptos"/>
                <a:cs typeface="Aptos"/>
              </a:defRPr>
            </a:pPr>
            <a:r>
              <a:rPr sz="825" b="1">
                <a:solidFill>
                  <a:srgbClr val="E8AA3B"/>
                </a:solidFill>
                <a:latin typeface="Aptos"/>
                <a:ea typeface="Aptos"/>
                <a:cs typeface="Aptos"/>
              </a:rPr>
              <a:t>SOURCE-KNOWN V2 LANE</a:t>
            </a:r>
          </a:p>
        </p:txBody>
      </p:sp>
      <p:sp>
        <p:nvSpPr>
          <p:cNvPr id="27" name="">
            <a:extLst xmlns:a="http://schemas.openxmlformats.org/drawingml/2006/main">
              <a:ext uri="{FF2B5EF4-FFF2-40B4-BE49-F238E27FC236}">
                <a16:creationId xmlns:a16="http://schemas.microsoft.com/office/drawing/2014/main" id="{3CA6F677-F701-4172-A5D7-B8D4639A72C5}"/>
              </a:ext>
            </a:extLst>
          </p:cNvPr>
          <p:cNvSpPr>
            <a:spLocks xmlns:a="http://schemas.openxmlformats.org/drawingml/2006/main" noGrp="1"/>
          </p:cNvSpPr>
          <p:nvPr/>
        </p:nvSpPr>
        <p:spPr>
          <a:xfrm xmlns:a="http://schemas.openxmlformats.org/drawingml/2006/main">
            <a:off x="7600950" y="2362200"/>
            <a:ext cx="342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375" b="1">
                <a:solidFill>
                  <a:srgbClr val="E8AA3B"/>
                </a:solidFill>
                <a:latin typeface="Aptos Display"/>
                <a:ea typeface="Aptos Display"/>
                <a:cs typeface="Aptos Display"/>
              </a:defRPr>
            </a:pPr>
            <a:r>
              <a:rPr sz="3375" b="1">
                <a:solidFill>
                  <a:srgbClr val="E8AA3B"/>
                </a:solidFill>
                <a:latin typeface="Aptos Display"/>
                <a:ea typeface="Aptos Display"/>
                <a:cs typeface="Aptos Display"/>
              </a:rPr>
              <a:t>6772 / 6772</a:t>
            </a:r>
          </a:p>
        </p:txBody>
      </p:sp>
      <p:sp>
        <p:nvSpPr>
          <p:cNvPr id="28" name="">
            <a:extLst xmlns:a="http://schemas.openxmlformats.org/drawingml/2006/main">
              <a:ext uri="{FF2B5EF4-FFF2-40B4-BE49-F238E27FC236}">
                <a16:creationId xmlns:a16="http://schemas.microsoft.com/office/drawing/2014/main" id="{2E273C92-2CE9-4857-AB6B-D53F8F6F22CF}"/>
              </a:ext>
            </a:extLst>
          </p:cNvPr>
          <p:cNvSpPr>
            <a:spLocks xmlns:a="http://schemas.openxmlformats.org/drawingml/2006/main" noGrp="1"/>
          </p:cNvSpPr>
          <p:nvPr/>
        </p:nvSpPr>
        <p:spPr>
          <a:xfrm xmlns:a="http://schemas.openxmlformats.org/drawingml/2006/main">
            <a:off x="7600950" y="30099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101827"/>
                </a:solidFill>
                <a:latin typeface="Aptos"/>
                <a:ea typeface="Aptos"/>
                <a:cs typeface="Aptos"/>
              </a:defRPr>
            </a:pPr>
            <a:r>
              <a:rPr sz="1425" b="1">
                <a:solidFill>
                  <a:srgbClr val="101827"/>
                </a:solidFill>
                <a:latin typeface="Aptos"/>
                <a:ea typeface="Aptos"/>
                <a:cs typeface="Aptos"/>
              </a:rPr>
              <a:t>exact emitted rows</a:t>
            </a:r>
          </a:p>
        </p:txBody>
      </p:sp>
      <p:sp>
        <p:nvSpPr>
          <p:cNvPr id="29" name="rule">
            <a:extLst xmlns:a="http://schemas.openxmlformats.org/drawingml/2006/main">
              <a:ext uri="{FF2B5EF4-FFF2-40B4-BE49-F238E27FC236}">
                <a16:creationId xmlns:a16="http://schemas.microsoft.com/office/drawing/2014/main" id="{C4C4EB27-E7D8-46D5-BF94-A8465150C602}"/>
              </a:ext>
            </a:extLst>
          </p:cNvPr>
          <p:cNvSpPr>
            <a:spLocks xmlns:a="http://schemas.openxmlformats.org/drawingml/2006/main" noGrp="1"/>
          </p:cNvSpPr>
          <p:nvPr/>
        </p:nvSpPr>
        <p:spPr>
          <a:xfrm xmlns:a="http://schemas.openxmlformats.org/drawingml/2006/main">
            <a:off x="7600950" y="3562350"/>
            <a:ext cx="2952750" cy="9525"/>
          </a:xfrm>
          <a:prstGeom xmlns:a="http://schemas.openxmlformats.org/drawingml/2006/main" prst="rect">
            <a:avLst/>
          </a:prstGeom>
          <a:solidFill xmlns:a="http://schemas.openxmlformats.org/drawingml/2006/main">
            <a:srgbClr val="D8E0EA"/>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D5D4D1EC-3ECD-4827-876F-5BC682D48B90}"/>
              </a:ext>
            </a:extLst>
          </p:cNvPr>
          <p:cNvSpPr>
            <a:spLocks xmlns:a="http://schemas.openxmlformats.org/drawingml/2006/main" noGrp="1"/>
          </p:cNvSpPr>
          <p:nvPr/>
        </p:nvSpPr>
        <p:spPr>
          <a:xfrm xmlns:a="http://schemas.openxmlformats.org/drawingml/2006/main">
            <a:off x="7600950" y="36576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D"/>
                </a:solidFill>
                <a:latin typeface="Aptos"/>
                <a:ea typeface="Aptos"/>
                <a:cs typeface="Aptos"/>
              </a:defRPr>
            </a:pPr>
            <a:r>
              <a:rPr sz="975" b="0">
                <a:solidFill>
                  <a:srgbClr val="5E6B7D"/>
                </a:solidFill>
                <a:latin typeface="Aptos"/>
                <a:ea typeface="Aptos"/>
                <a:cs typeface="Aptos"/>
              </a:rPr>
              <a:t>Cases</a:t>
            </a:r>
          </a:p>
        </p:txBody>
      </p:sp>
      <p:sp>
        <p:nvSpPr>
          <p:cNvPr id="31" name="">
            <a:extLst xmlns:a="http://schemas.openxmlformats.org/drawingml/2006/main">
              <a:ext uri="{FF2B5EF4-FFF2-40B4-BE49-F238E27FC236}">
                <a16:creationId xmlns:a16="http://schemas.microsoft.com/office/drawing/2014/main" id="{7409F350-A300-40D2-AB6F-346C9BBEE44E}"/>
              </a:ext>
            </a:extLst>
          </p:cNvPr>
          <p:cNvSpPr>
            <a:spLocks xmlns:a="http://schemas.openxmlformats.org/drawingml/2006/main" noGrp="1"/>
          </p:cNvSpPr>
          <p:nvPr/>
        </p:nvSpPr>
        <p:spPr>
          <a:xfrm xmlns:a="http://schemas.openxmlformats.org/drawingml/2006/main">
            <a:off x="9620250" y="3638550"/>
            <a:ext cx="93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1">
                <a:solidFill>
                  <a:srgbClr val="101827"/>
                </a:solidFill>
                <a:latin typeface="Aptos"/>
                <a:ea typeface="Aptos"/>
                <a:cs typeface="Aptos"/>
              </a:defRPr>
            </a:pPr>
            <a:r>
              <a:rPr sz="1125" b="1">
                <a:solidFill>
                  <a:srgbClr val="101827"/>
                </a:solidFill>
                <a:latin typeface="Aptos"/>
                <a:ea typeface="Aptos"/>
                <a:cs typeface="Aptos"/>
              </a:rPr>
              <a:t>106</a:t>
            </a:r>
          </a:p>
        </p:txBody>
      </p:sp>
      <p:sp>
        <p:nvSpPr>
          <p:cNvPr id="32" name="rule">
            <a:extLst xmlns:a="http://schemas.openxmlformats.org/drawingml/2006/main">
              <a:ext uri="{FF2B5EF4-FFF2-40B4-BE49-F238E27FC236}">
                <a16:creationId xmlns:a16="http://schemas.microsoft.com/office/drawing/2014/main" id="{E4866449-CE15-4390-ABEE-2F8D9E463EAF}"/>
              </a:ext>
            </a:extLst>
          </p:cNvPr>
          <p:cNvSpPr>
            <a:spLocks xmlns:a="http://schemas.openxmlformats.org/drawingml/2006/main" noGrp="1"/>
          </p:cNvSpPr>
          <p:nvPr/>
        </p:nvSpPr>
        <p:spPr>
          <a:xfrm xmlns:a="http://schemas.openxmlformats.org/drawingml/2006/main">
            <a:off x="7600950" y="3962400"/>
            <a:ext cx="2952750" cy="9525"/>
          </a:xfrm>
          <a:prstGeom xmlns:a="http://schemas.openxmlformats.org/drawingml/2006/main" prst="rect">
            <a:avLst/>
          </a:prstGeom>
          <a:solidFill xmlns:a="http://schemas.openxmlformats.org/drawingml/2006/main">
            <a:srgbClr val="D8E0EA"/>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886CFDBF-F786-4C11-B8F9-41A228A29FA0}"/>
              </a:ext>
            </a:extLst>
          </p:cNvPr>
          <p:cNvSpPr>
            <a:spLocks xmlns:a="http://schemas.openxmlformats.org/drawingml/2006/main" noGrp="1"/>
          </p:cNvSpPr>
          <p:nvPr/>
        </p:nvSpPr>
        <p:spPr>
          <a:xfrm xmlns:a="http://schemas.openxmlformats.org/drawingml/2006/main">
            <a:off x="7600950" y="40576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D"/>
                </a:solidFill>
                <a:latin typeface="Aptos"/>
                <a:ea typeface="Aptos"/>
                <a:cs typeface="Aptos"/>
              </a:defRPr>
            </a:pPr>
            <a:r>
              <a:rPr sz="975" b="0">
                <a:solidFill>
                  <a:srgbClr val="5E6B7D"/>
                </a:solidFill>
                <a:latin typeface="Aptos"/>
                <a:ea typeface="Aptos"/>
                <a:cs typeface="Aptos"/>
              </a:rPr>
              <a:t>Wrong emitted</a:t>
            </a:r>
          </a:p>
        </p:txBody>
      </p:sp>
      <p:sp>
        <p:nvSpPr>
          <p:cNvPr id="34" name="">
            <a:extLst xmlns:a="http://schemas.openxmlformats.org/drawingml/2006/main">
              <a:ext uri="{FF2B5EF4-FFF2-40B4-BE49-F238E27FC236}">
                <a16:creationId xmlns:a16="http://schemas.microsoft.com/office/drawing/2014/main" id="{9482FB0B-15E6-49F9-AF44-AF31F0D2F270}"/>
              </a:ext>
            </a:extLst>
          </p:cNvPr>
          <p:cNvSpPr>
            <a:spLocks xmlns:a="http://schemas.openxmlformats.org/drawingml/2006/main" noGrp="1"/>
          </p:cNvSpPr>
          <p:nvPr/>
        </p:nvSpPr>
        <p:spPr>
          <a:xfrm xmlns:a="http://schemas.openxmlformats.org/drawingml/2006/main">
            <a:off x="9620250" y="4038600"/>
            <a:ext cx="93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1">
                <a:solidFill>
                  <a:srgbClr val="101827"/>
                </a:solidFill>
                <a:latin typeface="Aptos"/>
                <a:ea typeface="Aptos"/>
                <a:cs typeface="Aptos"/>
              </a:defRPr>
            </a:pPr>
            <a:r>
              <a:rPr sz="1125" b="1">
                <a:solidFill>
                  <a:srgbClr val="101827"/>
                </a:solidFill>
                <a:latin typeface="Aptos"/>
                <a:ea typeface="Aptos"/>
                <a:cs typeface="Aptos"/>
              </a:rPr>
              <a:t>0</a:t>
            </a:r>
          </a:p>
        </p:txBody>
      </p:sp>
      <p:sp>
        <p:nvSpPr>
          <p:cNvPr id="35" name="rule">
            <a:extLst xmlns:a="http://schemas.openxmlformats.org/drawingml/2006/main">
              <a:ext uri="{FF2B5EF4-FFF2-40B4-BE49-F238E27FC236}">
                <a16:creationId xmlns:a16="http://schemas.microsoft.com/office/drawing/2014/main" id="{33AD231C-ECB0-4D46-88A0-EA026DC23FCD}"/>
              </a:ext>
            </a:extLst>
          </p:cNvPr>
          <p:cNvSpPr>
            <a:spLocks xmlns:a="http://schemas.openxmlformats.org/drawingml/2006/main" noGrp="1"/>
          </p:cNvSpPr>
          <p:nvPr/>
        </p:nvSpPr>
        <p:spPr>
          <a:xfrm xmlns:a="http://schemas.openxmlformats.org/drawingml/2006/main">
            <a:off x="7600950" y="4362450"/>
            <a:ext cx="2952750" cy="9525"/>
          </a:xfrm>
          <a:prstGeom xmlns:a="http://schemas.openxmlformats.org/drawingml/2006/main" prst="rect">
            <a:avLst/>
          </a:prstGeom>
          <a:solidFill xmlns:a="http://schemas.openxmlformats.org/drawingml/2006/main">
            <a:srgbClr val="D8E0EA"/>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BAAD764C-5884-4BEA-A028-5C4D01AFE965}"/>
              </a:ext>
            </a:extLst>
          </p:cNvPr>
          <p:cNvSpPr>
            <a:spLocks xmlns:a="http://schemas.openxmlformats.org/drawingml/2006/main" noGrp="1"/>
          </p:cNvSpPr>
          <p:nvPr/>
        </p:nvSpPr>
        <p:spPr>
          <a:xfrm xmlns:a="http://schemas.openxmlformats.org/drawingml/2006/main">
            <a:off x="7600950" y="44577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D"/>
                </a:solidFill>
                <a:latin typeface="Aptos"/>
                <a:ea typeface="Aptos"/>
                <a:cs typeface="Aptos"/>
              </a:defRPr>
            </a:pPr>
            <a:r>
              <a:rPr sz="975" b="0">
                <a:solidFill>
                  <a:srgbClr val="5E6B7D"/>
                </a:solidFill>
                <a:latin typeface="Aptos"/>
                <a:ea typeface="Aptos"/>
                <a:cs typeface="Aptos"/>
              </a:rPr>
              <a:t>Missing emitted</a:t>
            </a:r>
          </a:p>
        </p:txBody>
      </p:sp>
      <p:sp>
        <p:nvSpPr>
          <p:cNvPr id="37" name="">
            <a:extLst xmlns:a="http://schemas.openxmlformats.org/drawingml/2006/main">
              <a:ext uri="{FF2B5EF4-FFF2-40B4-BE49-F238E27FC236}">
                <a16:creationId xmlns:a16="http://schemas.microsoft.com/office/drawing/2014/main" id="{3FC5A186-53EF-4139-B013-DD815204D53E}"/>
              </a:ext>
            </a:extLst>
          </p:cNvPr>
          <p:cNvSpPr>
            <a:spLocks xmlns:a="http://schemas.openxmlformats.org/drawingml/2006/main" noGrp="1"/>
          </p:cNvSpPr>
          <p:nvPr/>
        </p:nvSpPr>
        <p:spPr>
          <a:xfrm xmlns:a="http://schemas.openxmlformats.org/drawingml/2006/main">
            <a:off x="9620250" y="4438650"/>
            <a:ext cx="93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1">
                <a:solidFill>
                  <a:srgbClr val="101827"/>
                </a:solidFill>
                <a:latin typeface="Aptos"/>
                <a:ea typeface="Aptos"/>
                <a:cs typeface="Aptos"/>
              </a:defRPr>
            </a:pPr>
            <a:r>
              <a:rPr sz="1125" b="1">
                <a:solidFill>
                  <a:srgbClr val="101827"/>
                </a:solidFill>
                <a:latin typeface="Aptos"/>
                <a:ea typeface="Aptos"/>
                <a:cs typeface="Aptos"/>
              </a:rPr>
              <a:t>0</a:t>
            </a:r>
          </a:p>
        </p:txBody>
      </p:sp>
      <p:sp>
        <p:nvSpPr>
          <p:cNvPr id="38" name="rule">
            <a:extLst xmlns:a="http://schemas.openxmlformats.org/drawingml/2006/main">
              <a:ext uri="{FF2B5EF4-FFF2-40B4-BE49-F238E27FC236}">
                <a16:creationId xmlns:a16="http://schemas.microsoft.com/office/drawing/2014/main" id="{55D205DB-68A8-410F-86D2-0D315DB7AA2F}"/>
              </a:ext>
            </a:extLst>
          </p:cNvPr>
          <p:cNvSpPr>
            <a:spLocks xmlns:a="http://schemas.openxmlformats.org/drawingml/2006/main" noGrp="1"/>
          </p:cNvSpPr>
          <p:nvPr/>
        </p:nvSpPr>
        <p:spPr>
          <a:xfrm xmlns:a="http://schemas.openxmlformats.org/drawingml/2006/main">
            <a:off x="7600950" y="4762500"/>
            <a:ext cx="2952750" cy="9525"/>
          </a:xfrm>
          <a:prstGeom xmlns:a="http://schemas.openxmlformats.org/drawingml/2006/main" prst="rect">
            <a:avLst/>
          </a:prstGeom>
          <a:solidFill xmlns:a="http://schemas.openxmlformats.org/drawingml/2006/main">
            <a:srgbClr val="D8E0EA"/>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48AD4A1C-00C4-450B-BE78-C0C4D857CEED}"/>
              </a:ext>
            </a:extLst>
          </p:cNvPr>
          <p:cNvSpPr>
            <a:spLocks xmlns:a="http://schemas.openxmlformats.org/drawingml/2006/main" noGrp="1"/>
          </p:cNvSpPr>
          <p:nvPr/>
        </p:nvSpPr>
        <p:spPr>
          <a:xfrm xmlns:a="http://schemas.openxmlformats.org/drawingml/2006/main">
            <a:off x="7600950" y="48577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D"/>
                </a:solidFill>
                <a:latin typeface="Aptos"/>
                <a:ea typeface="Aptos"/>
                <a:cs typeface="Aptos"/>
              </a:defRPr>
            </a:pPr>
            <a:r>
              <a:rPr sz="975" b="0">
                <a:solidFill>
                  <a:srgbClr val="5E6B7D"/>
                </a:solidFill>
                <a:latin typeface="Aptos"/>
                <a:ea typeface="Aptos"/>
                <a:cs typeface="Aptos"/>
              </a:rPr>
              <a:t>Source gaps</a:t>
            </a:r>
          </a:p>
        </p:txBody>
      </p:sp>
      <p:sp>
        <p:nvSpPr>
          <p:cNvPr id="40" name="">
            <a:extLst xmlns:a="http://schemas.openxmlformats.org/drawingml/2006/main">
              <a:ext uri="{FF2B5EF4-FFF2-40B4-BE49-F238E27FC236}">
                <a16:creationId xmlns:a16="http://schemas.microsoft.com/office/drawing/2014/main" id="{C5AA401A-8DC1-4C4F-9673-34A7FB419801}"/>
              </a:ext>
            </a:extLst>
          </p:cNvPr>
          <p:cNvSpPr>
            <a:spLocks xmlns:a="http://schemas.openxmlformats.org/drawingml/2006/main" noGrp="1"/>
          </p:cNvSpPr>
          <p:nvPr/>
        </p:nvSpPr>
        <p:spPr>
          <a:xfrm xmlns:a="http://schemas.openxmlformats.org/drawingml/2006/main">
            <a:off x="9620250" y="4838700"/>
            <a:ext cx="93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1">
                <a:solidFill>
                  <a:srgbClr val="F06464"/>
                </a:solidFill>
                <a:latin typeface="Aptos"/>
                <a:ea typeface="Aptos"/>
                <a:cs typeface="Aptos"/>
              </a:defRPr>
            </a:pPr>
            <a:r>
              <a:rPr sz="1125" b="1">
                <a:solidFill>
                  <a:srgbClr val="F06464"/>
                </a:solidFill>
                <a:latin typeface="Aptos"/>
                <a:ea typeface="Aptos"/>
                <a:cs typeface="Aptos"/>
              </a:rPr>
              <a:t>5238</a:t>
            </a:r>
          </a:p>
        </p:txBody>
      </p:sp>
      <p:sp>
        <p:nvSpPr>
          <p:cNvPr id="41" name="">
            <a:extLst xmlns:a="http://schemas.openxmlformats.org/drawingml/2006/main">
              <a:ext uri="{FF2B5EF4-FFF2-40B4-BE49-F238E27FC236}">
                <a16:creationId xmlns:a16="http://schemas.microsoft.com/office/drawing/2014/main" id="{C7415B9D-8597-4520-A8EC-E59E202DFEAB}"/>
              </a:ext>
            </a:extLst>
          </p:cNvPr>
          <p:cNvSpPr>
            <a:spLocks xmlns:a="http://schemas.openxmlformats.org/drawingml/2006/main" noGrp="1"/>
          </p:cNvSpPr>
          <p:nvPr/>
        </p:nvSpPr>
        <p:spPr>
          <a:xfrm xmlns:a="http://schemas.openxmlformats.org/drawingml/2006/main">
            <a:off x="1352550" y="5905500"/>
            <a:ext cx="9486900" cy="361950"/>
          </a:xfrm>
          <a:prstGeom xmlns:a="http://schemas.openxmlformats.org/drawingml/2006/main" prst="rect">
            <a:avLst/>
          </a:prstGeom>
          <a:solidFill xmlns:a="http://schemas.openxmlformats.org/drawingml/2006/main">
            <a:srgbClr val="F06464"/>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BC4E46CB-7579-488A-BC71-AC801E95554D}"/>
              </a:ext>
            </a:extLst>
          </p:cNvPr>
          <p:cNvSpPr>
            <a:spLocks xmlns:a="http://schemas.openxmlformats.org/drawingml/2006/main" noGrp="1"/>
          </p:cNvSpPr>
          <p:nvPr/>
        </p:nvSpPr>
        <p:spPr>
          <a:xfrm xmlns:a="http://schemas.openxmlformats.org/drawingml/2006/main">
            <a:off x="1562100" y="5981700"/>
            <a:ext cx="9067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Do not combine these lanes: v2 proves bounded recognition, not unconstrained APK-only accuracy.</a:t>
            </a:r>
          </a:p>
        </p:txBody>
      </p:sp>
      <p:sp>
        <p:nvSpPr>
          <p:cNvPr id="43" name="">
            <a:extLst xmlns:a="http://schemas.openxmlformats.org/drawingml/2006/main">
              <a:ext uri="{FF2B5EF4-FFF2-40B4-BE49-F238E27FC236}">
                <a16:creationId xmlns:a16="http://schemas.microsoft.com/office/drawing/2014/main" id="{A5CBDDE6-9DE2-4242-9D0F-61508D742807}"/>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446261753"/>
      </p:ext>
    </p:extLst>
  </p:cSld>
</p:sld>
</file>

<file path=ppt/slides/slide10.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E00EA05-6420-491F-87ED-691C4D43207E}"/>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E8AA3B"/>
                </a:solidFill>
                <a:latin typeface="Aptos"/>
                <a:ea typeface="Aptos"/>
                <a:cs typeface="Aptos"/>
              </a:defRPr>
            </a:pPr>
            <a:r>
              <a:rPr sz="900" b="1">
                <a:solidFill>
                  <a:srgbClr val="E8AA3B"/>
                </a:solidFill>
                <a:latin typeface="Aptos"/>
                <a:ea typeface="Aptos"/>
                <a:cs typeface="Aptos"/>
              </a:rPr>
              <a:t>RESULT INTERPRETATION</a:t>
            </a:r>
          </a:p>
        </p:txBody>
      </p:sp>
      <p:sp>
        <p:nvSpPr>
          <p:cNvPr id="2" name="">
            <a:extLst xmlns:a="http://schemas.openxmlformats.org/drawingml/2006/main">
              <a:ext uri="{FF2B5EF4-FFF2-40B4-BE49-F238E27FC236}">
                <a16:creationId xmlns:a16="http://schemas.microsoft.com/office/drawing/2014/main" id="{4D6FFB4D-FE62-4DC3-98AA-4DC0C1E2C162}"/>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01827"/>
                </a:solidFill>
                <a:latin typeface="Aptos Display"/>
                <a:ea typeface="Aptos Display"/>
                <a:cs typeface="Aptos Display"/>
              </a:defRPr>
            </a:pPr>
            <a:r>
              <a:rPr sz="2325" b="1">
                <a:solidFill>
                  <a:srgbClr val="101827"/>
                </a:solidFill>
                <a:latin typeface="Aptos Display"/>
                <a:ea typeface="Aptos Display"/>
                <a:cs typeface="Aptos Display"/>
              </a:rPr>
              <a:t>Mixed results reveal where the matcher succeeds, drifts, or reaches a boundary</a:t>
            </a:r>
          </a:p>
        </p:txBody>
      </p:sp>
      <p:sp>
        <p:nvSpPr>
          <p:cNvPr id="3" name="">
            <a:extLst xmlns:a="http://schemas.openxmlformats.org/drawingml/2006/main">
              <a:ext uri="{FF2B5EF4-FFF2-40B4-BE49-F238E27FC236}">
                <a16:creationId xmlns:a16="http://schemas.microsoft.com/office/drawing/2014/main" id="{9C36C884-9A54-415C-8B54-89697A7EEC3D}"/>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D"/>
                </a:solidFill>
                <a:latin typeface="Aptos"/>
                <a:ea typeface="Aptos"/>
                <a:cs typeface="Aptos"/>
              </a:defRPr>
            </a:pPr>
            <a:r>
              <a:rPr sz="900" b="1">
                <a:solidFill>
                  <a:srgbClr val="5E6B7D"/>
                </a:solidFill>
                <a:latin typeface="Aptos"/>
                <a:ea typeface="Aptos"/>
                <a:cs typeface="Aptos"/>
              </a:rPr>
              <a:t>10</a:t>
            </a:r>
          </a:p>
        </p:txBody>
      </p:sp>
      <p:sp>
        <p:nvSpPr>
          <p:cNvPr id="4" name="">
            <a:extLst xmlns:a="http://schemas.openxmlformats.org/drawingml/2006/main">
              <a:ext uri="{FF2B5EF4-FFF2-40B4-BE49-F238E27FC236}">
                <a16:creationId xmlns:a16="http://schemas.microsoft.com/office/drawing/2014/main" id="{ED6CBA14-C1B6-4B74-A8AB-A42C40D0E160}"/>
              </a:ext>
            </a:extLst>
          </p:cNvPr>
          <p:cNvSpPr>
            <a:spLocks xmlns:a="http://schemas.openxmlformats.org/drawingml/2006/main" noGrp="1"/>
          </p:cNvSpPr>
          <p:nvPr/>
        </p:nvSpPr>
        <p:spPr>
          <a:xfrm xmlns:a="http://schemas.openxmlformats.org/drawingml/2006/main">
            <a:off x="666750" y="1562100"/>
            <a:ext cx="3276600" cy="3886200"/>
          </a:xfrm>
          <a:prstGeom xmlns:a="http://schemas.openxmlformats.org/drawingml/2006/main" prst="roundRect">
            <a:avLst>
              <a:gd name="adj" fmla="val 2326"/>
            </a:avLst>
          </a:prstGeom>
          <a:solidFill xmlns:a="http://schemas.openxmlformats.org/drawingml/2006/main">
            <a:srgbClr val="FFFFFF"/>
          </a:solidFill>
          <a:ln xmlns:a="http://schemas.openxmlformats.org/drawingml/2006/main" w="9525">
            <a:solidFill>
              <a:srgbClr val="24BFAE"/>
            </a:solidFill>
            <a:prstDash val="solid"/>
          </a:ln>
        </p:spPr>
      </p:sp>
      <p:sp>
        <p:nvSpPr>
          <p:cNvPr id="5" name="">
            <a:extLst xmlns:a="http://schemas.openxmlformats.org/drawingml/2006/main">
              <a:ext uri="{FF2B5EF4-FFF2-40B4-BE49-F238E27FC236}">
                <a16:creationId xmlns:a16="http://schemas.microsoft.com/office/drawing/2014/main" id="{FA05C2A7-AC7C-4167-91BB-6B17DEEDDC0D}"/>
              </a:ext>
            </a:extLst>
          </p:cNvPr>
          <p:cNvSpPr>
            <a:spLocks xmlns:a="http://schemas.openxmlformats.org/drawingml/2006/main" noGrp="1"/>
          </p:cNvSpPr>
          <p:nvPr/>
        </p:nvSpPr>
        <p:spPr>
          <a:xfrm xmlns:a="http://schemas.openxmlformats.org/drawingml/2006/main">
            <a:off x="666750" y="1562100"/>
            <a:ext cx="3276600" cy="704850"/>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3BB63CE-6F96-4A24-BF1D-D3FA78666499}"/>
              </a:ext>
            </a:extLst>
          </p:cNvPr>
          <p:cNvSpPr>
            <a:spLocks xmlns:a="http://schemas.openxmlformats.org/drawingml/2006/main" noGrp="1"/>
          </p:cNvSpPr>
          <p:nvPr/>
        </p:nvSpPr>
        <p:spPr>
          <a:xfrm xmlns:a="http://schemas.openxmlformats.org/drawingml/2006/main">
            <a:off x="895350" y="1752600"/>
            <a:ext cx="2819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FFFFFF"/>
                </a:solidFill>
                <a:latin typeface="Aptos"/>
                <a:ea typeface="Aptos"/>
                <a:cs typeface="Aptos"/>
              </a:defRPr>
            </a:pPr>
            <a:r>
              <a:rPr sz="1650" b="1">
                <a:solidFill>
                  <a:srgbClr val="FFFFFF"/>
                </a:solidFill>
                <a:latin typeface="Aptos"/>
                <a:ea typeface="Aptos"/>
                <a:cs typeface="Aptos"/>
              </a:rPr>
              <a:t>CLEAN</a:t>
            </a:r>
          </a:p>
        </p:txBody>
      </p:sp>
      <p:sp>
        <p:nvSpPr>
          <p:cNvPr id="7" name="">
            <a:extLst xmlns:a="http://schemas.openxmlformats.org/drawingml/2006/main">
              <a:ext uri="{FF2B5EF4-FFF2-40B4-BE49-F238E27FC236}">
                <a16:creationId xmlns:a16="http://schemas.microsoft.com/office/drawing/2014/main" id="{A5C9F6C3-2649-472A-BECF-990AB12C3E15}"/>
              </a:ext>
            </a:extLst>
          </p:cNvPr>
          <p:cNvSpPr>
            <a:spLocks xmlns:a="http://schemas.openxmlformats.org/drawingml/2006/main" noGrp="1"/>
          </p:cNvSpPr>
          <p:nvPr/>
        </p:nvSpPr>
        <p:spPr>
          <a:xfrm xmlns:a="http://schemas.openxmlformats.org/drawingml/2006/main">
            <a:off x="895350" y="23241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4BFAE"/>
                </a:solidFill>
                <a:latin typeface="Aptos"/>
                <a:ea typeface="Aptos"/>
                <a:cs typeface="Aptos"/>
              </a:defRPr>
            </a:pPr>
            <a:r>
              <a:rPr sz="975" b="1">
                <a:solidFill>
                  <a:srgbClr val="24BFAE"/>
                </a:solidFill>
                <a:latin typeface="Aptos"/>
                <a:ea typeface="Aptos"/>
                <a:cs typeface="Aptos"/>
              </a:rPr>
              <a:t>strong exact evidence</a:t>
            </a:r>
          </a:p>
        </p:txBody>
      </p:sp>
      <p:sp>
        <p:nvSpPr>
          <p:cNvPr id="8" name="">
            <a:extLst xmlns:a="http://schemas.openxmlformats.org/drawingml/2006/main">
              <a:ext uri="{FF2B5EF4-FFF2-40B4-BE49-F238E27FC236}">
                <a16:creationId xmlns:a16="http://schemas.microsoft.com/office/drawing/2014/main" id="{6568BFB6-37C1-45CA-964C-6D55D076A71C}"/>
              </a:ext>
            </a:extLst>
          </p:cNvPr>
          <p:cNvSpPr>
            <a:spLocks xmlns:a="http://schemas.openxmlformats.org/drawingml/2006/main" noGrp="1"/>
          </p:cNvSpPr>
          <p:nvPr/>
        </p:nvSpPr>
        <p:spPr>
          <a:xfrm xmlns:a="http://schemas.openxmlformats.org/drawingml/2006/main">
            <a:off x="895350" y="2800350"/>
            <a:ext cx="2819400" cy="266700"/>
          </a:xfrm>
          <a:prstGeom xmlns:a="http://schemas.openxmlformats.org/drawingml/2006/main" prst="roundRect">
            <a:avLst>
              <a:gd name="adj" fmla="val 28571"/>
            </a:avLst>
          </a:prstGeom>
          <a:solidFill xmlns:a="http://schemas.openxmlformats.org/drawingml/2006/main">
            <a:srgbClr val="E4F7F4"/>
          </a:solidFill>
          <a:ln xmlns:a="http://schemas.openxmlformats.org/drawingml/2006/main" w="9525">
            <a:solidFill>
              <a:srgbClr val="24BFAE"/>
            </a:solidFill>
            <a:prstDash val="solid"/>
          </a:ln>
        </p:spPr>
      </p:sp>
      <p:sp>
        <p:nvSpPr>
          <p:cNvPr id="9" name="">
            <a:extLst xmlns:a="http://schemas.openxmlformats.org/drawingml/2006/main">
              <a:ext uri="{FF2B5EF4-FFF2-40B4-BE49-F238E27FC236}">
                <a16:creationId xmlns:a16="http://schemas.microsoft.com/office/drawing/2014/main" id="{A6113E0C-C9A9-41F2-B1F7-D17CD7204820}"/>
              </a:ext>
            </a:extLst>
          </p:cNvPr>
          <p:cNvSpPr>
            <a:spLocks xmlns:a="http://schemas.openxmlformats.org/drawingml/2006/main" noGrp="1"/>
          </p:cNvSpPr>
          <p:nvPr/>
        </p:nvSpPr>
        <p:spPr>
          <a:xfrm xmlns:a="http://schemas.openxmlformats.org/drawingml/2006/main">
            <a:off x="962025" y="2857500"/>
            <a:ext cx="2686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24BFAE"/>
                </a:solidFill>
                <a:latin typeface="Aptos"/>
                <a:ea typeface="Aptos"/>
                <a:cs typeface="Aptos"/>
              </a:defRPr>
            </a:pPr>
            <a:r>
              <a:rPr sz="825" b="1">
                <a:solidFill>
                  <a:srgbClr val="24BFAE"/>
                </a:solidFill>
                <a:latin typeface="Aptos"/>
                <a:ea typeface="Aptos"/>
                <a:cs typeface="Aptos"/>
              </a:rPr>
              <a:t>F-Droid</a:t>
            </a:r>
          </a:p>
        </p:txBody>
      </p:sp>
      <p:sp>
        <p:nvSpPr>
          <p:cNvPr id="10" name="">
            <a:extLst xmlns:a="http://schemas.openxmlformats.org/drawingml/2006/main">
              <a:ext uri="{FF2B5EF4-FFF2-40B4-BE49-F238E27FC236}">
                <a16:creationId xmlns:a16="http://schemas.microsoft.com/office/drawing/2014/main" id="{D94687C2-8F49-4497-BDE2-79218A41DE6F}"/>
              </a:ext>
            </a:extLst>
          </p:cNvPr>
          <p:cNvSpPr>
            <a:spLocks xmlns:a="http://schemas.openxmlformats.org/drawingml/2006/main" noGrp="1"/>
          </p:cNvSpPr>
          <p:nvPr/>
        </p:nvSpPr>
        <p:spPr>
          <a:xfrm xmlns:a="http://schemas.openxmlformats.org/drawingml/2006/main">
            <a:off x="895350" y="3295650"/>
            <a:ext cx="2819400" cy="266700"/>
          </a:xfrm>
          <a:prstGeom xmlns:a="http://schemas.openxmlformats.org/drawingml/2006/main" prst="roundRect">
            <a:avLst>
              <a:gd name="adj" fmla="val 28571"/>
            </a:avLst>
          </a:prstGeom>
          <a:solidFill xmlns:a="http://schemas.openxmlformats.org/drawingml/2006/main">
            <a:srgbClr val="E4F7F4"/>
          </a:solidFill>
          <a:ln xmlns:a="http://schemas.openxmlformats.org/drawingml/2006/main" w="9525">
            <a:solidFill>
              <a:srgbClr val="24BFAE"/>
            </a:solidFill>
            <a:prstDash val="solid"/>
          </a:ln>
        </p:spPr>
      </p:sp>
      <p:sp>
        <p:nvSpPr>
          <p:cNvPr id="11" name="">
            <a:extLst xmlns:a="http://schemas.openxmlformats.org/drawingml/2006/main">
              <a:ext uri="{FF2B5EF4-FFF2-40B4-BE49-F238E27FC236}">
                <a16:creationId xmlns:a16="http://schemas.microsoft.com/office/drawing/2014/main" id="{927955AE-A722-4CE9-A495-6A47E6674BCB}"/>
              </a:ext>
            </a:extLst>
          </p:cNvPr>
          <p:cNvSpPr>
            <a:spLocks xmlns:a="http://schemas.openxmlformats.org/drawingml/2006/main" noGrp="1"/>
          </p:cNvSpPr>
          <p:nvPr/>
        </p:nvSpPr>
        <p:spPr>
          <a:xfrm xmlns:a="http://schemas.openxmlformats.org/drawingml/2006/main">
            <a:off x="962025" y="3352800"/>
            <a:ext cx="2686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24BFAE"/>
                </a:solidFill>
                <a:latin typeface="Aptos"/>
                <a:ea typeface="Aptos"/>
                <a:cs typeface="Aptos"/>
              </a:defRPr>
            </a:pPr>
            <a:r>
              <a:rPr sz="825" b="1">
                <a:solidFill>
                  <a:srgbClr val="24BFAE"/>
                </a:solidFill>
                <a:latin typeface="Aptos"/>
                <a:ea typeface="Aptos"/>
                <a:cs typeface="Aptos"/>
              </a:rPr>
              <a:t>OpenTracks</a:t>
            </a:r>
          </a:p>
        </p:txBody>
      </p:sp>
      <p:sp>
        <p:nvSpPr>
          <p:cNvPr id="12" name="">
            <a:extLst xmlns:a="http://schemas.openxmlformats.org/drawingml/2006/main">
              <a:ext uri="{FF2B5EF4-FFF2-40B4-BE49-F238E27FC236}">
                <a16:creationId xmlns:a16="http://schemas.microsoft.com/office/drawing/2014/main" id="{937F4352-1CF7-4CA4-85FB-F136BAB32BD3}"/>
              </a:ext>
            </a:extLst>
          </p:cNvPr>
          <p:cNvSpPr>
            <a:spLocks xmlns:a="http://schemas.openxmlformats.org/drawingml/2006/main" noGrp="1"/>
          </p:cNvSpPr>
          <p:nvPr/>
        </p:nvSpPr>
        <p:spPr>
          <a:xfrm xmlns:a="http://schemas.openxmlformats.org/drawingml/2006/main">
            <a:off x="895350" y="3790950"/>
            <a:ext cx="2819400" cy="266700"/>
          </a:xfrm>
          <a:prstGeom xmlns:a="http://schemas.openxmlformats.org/drawingml/2006/main" prst="roundRect">
            <a:avLst>
              <a:gd name="adj" fmla="val 28571"/>
            </a:avLst>
          </a:prstGeom>
          <a:solidFill xmlns:a="http://schemas.openxmlformats.org/drawingml/2006/main">
            <a:srgbClr val="E4F7F4"/>
          </a:solidFill>
          <a:ln xmlns:a="http://schemas.openxmlformats.org/drawingml/2006/main" w="9525">
            <a:solidFill>
              <a:srgbClr val="24BFAE"/>
            </a:solidFill>
            <a:prstDash val="solid"/>
          </a:ln>
        </p:spPr>
      </p:sp>
      <p:sp>
        <p:nvSpPr>
          <p:cNvPr id="13" name="">
            <a:extLst xmlns:a="http://schemas.openxmlformats.org/drawingml/2006/main">
              <a:ext uri="{FF2B5EF4-FFF2-40B4-BE49-F238E27FC236}">
                <a16:creationId xmlns:a16="http://schemas.microsoft.com/office/drawing/2014/main" id="{9CFCB069-4A2A-402B-A7DA-A71FB584962F}"/>
              </a:ext>
            </a:extLst>
          </p:cNvPr>
          <p:cNvSpPr>
            <a:spLocks xmlns:a="http://schemas.openxmlformats.org/drawingml/2006/main" noGrp="1"/>
          </p:cNvSpPr>
          <p:nvPr/>
        </p:nvSpPr>
        <p:spPr>
          <a:xfrm xmlns:a="http://schemas.openxmlformats.org/drawingml/2006/main">
            <a:off x="962025" y="3848100"/>
            <a:ext cx="2686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24BFAE"/>
                </a:solidFill>
                <a:latin typeface="Aptos"/>
                <a:ea typeface="Aptos"/>
                <a:cs typeface="Aptos"/>
              </a:defRPr>
            </a:pPr>
            <a:r>
              <a:rPr sz="825" b="1">
                <a:solidFill>
                  <a:srgbClr val="24BFAE"/>
                </a:solidFill>
                <a:latin typeface="Aptos"/>
                <a:ea typeface="Aptos"/>
                <a:cs typeface="Aptos"/>
              </a:rPr>
              <a:t>Tusky</a:t>
            </a:r>
          </a:p>
        </p:txBody>
      </p:sp>
      <p:sp>
        <p:nvSpPr>
          <p:cNvPr id="14" name="rule">
            <a:extLst xmlns:a="http://schemas.openxmlformats.org/drawingml/2006/main">
              <a:ext uri="{FF2B5EF4-FFF2-40B4-BE49-F238E27FC236}">
                <a16:creationId xmlns:a16="http://schemas.microsoft.com/office/drawing/2014/main" id="{FB876014-134D-48CF-9ACD-37A6F0AB9FE6}"/>
              </a:ext>
            </a:extLst>
          </p:cNvPr>
          <p:cNvSpPr>
            <a:spLocks xmlns:a="http://schemas.openxmlformats.org/drawingml/2006/main" noGrp="1"/>
          </p:cNvSpPr>
          <p:nvPr/>
        </p:nvSpPr>
        <p:spPr>
          <a:xfrm xmlns:a="http://schemas.openxmlformats.org/drawingml/2006/main">
            <a:off x="895350" y="4400550"/>
            <a:ext cx="2819400" cy="9525"/>
          </a:xfrm>
          <a:prstGeom xmlns:a="http://schemas.openxmlformats.org/drawingml/2006/main" prst="rect">
            <a:avLst/>
          </a:prstGeom>
          <a:solidFill xmlns:a="http://schemas.openxmlformats.org/drawingml/2006/main">
            <a:srgbClr val="D8E0E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3D192A2-1ECB-45F9-861B-A1DDFEE975F4}"/>
              </a:ext>
            </a:extLst>
          </p:cNvPr>
          <p:cNvSpPr>
            <a:spLocks xmlns:a="http://schemas.openxmlformats.org/drawingml/2006/main" noGrp="1"/>
          </p:cNvSpPr>
          <p:nvPr/>
        </p:nvSpPr>
        <p:spPr>
          <a:xfrm xmlns:a="http://schemas.openxmlformats.org/drawingml/2006/main">
            <a:off x="895350" y="4629150"/>
            <a:ext cx="2819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101827"/>
                </a:solidFill>
                <a:latin typeface="Aptos"/>
                <a:ea typeface="Aptos"/>
                <a:cs typeface="Aptos"/>
              </a:defRPr>
            </a:pPr>
            <a:r>
              <a:rPr sz="1050" b="1">
                <a:solidFill>
                  <a:srgbClr val="101827"/>
                </a:solidFill>
                <a:latin typeface="Aptos"/>
                <a:ea typeface="Aptos"/>
                <a:cs typeface="Aptos"/>
              </a:rPr>
              <a:t>high-confidence emitted versions</a:t>
            </a:r>
          </a:p>
        </p:txBody>
      </p:sp>
      <p:sp>
        <p:nvSpPr>
          <p:cNvPr id="16" name="">
            <a:extLst xmlns:a="http://schemas.openxmlformats.org/drawingml/2006/main">
              <a:ext uri="{FF2B5EF4-FFF2-40B4-BE49-F238E27FC236}">
                <a16:creationId xmlns:a16="http://schemas.microsoft.com/office/drawing/2014/main" id="{3305AFE6-015D-4E13-B5BA-A4696E386E18}"/>
              </a:ext>
            </a:extLst>
          </p:cNvPr>
          <p:cNvSpPr>
            <a:spLocks xmlns:a="http://schemas.openxmlformats.org/drawingml/2006/main" noGrp="1"/>
          </p:cNvSpPr>
          <p:nvPr/>
        </p:nvSpPr>
        <p:spPr>
          <a:xfrm xmlns:a="http://schemas.openxmlformats.org/drawingml/2006/main">
            <a:off x="4457700" y="1562100"/>
            <a:ext cx="3276600" cy="3886200"/>
          </a:xfrm>
          <a:prstGeom xmlns:a="http://schemas.openxmlformats.org/drawingml/2006/main" prst="roundRect">
            <a:avLst>
              <a:gd name="adj" fmla="val 2326"/>
            </a:avLst>
          </a:prstGeom>
          <a:solidFill xmlns:a="http://schemas.openxmlformats.org/drawingml/2006/main">
            <a:srgbClr val="FFFFFF"/>
          </a:solidFill>
          <a:ln xmlns:a="http://schemas.openxmlformats.org/drawingml/2006/main" w="9525">
            <a:solidFill>
              <a:srgbClr val="E8AA3B"/>
            </a:solidFill>
            <a:prstDash val="solid"/>
          </a:ln>
        </p:spPr>
      </p:sp>
      <p:sp>
        <p:nvSpPr>
          <p:cNvPr id="17" name="">
            <a:extLst xmlns:a="http://schemas.openxmlformats.org/drawingml/2006/main">
              <a:ext uri="{FF2B5EF4-FFF2-40B4-BE49-F238E27FC236}">
                <a16:creationId xmlns:a16="http://schemas.microsoft.com/office/drawing/2014/main" id="{3BE8D77F-5A72-428C-A7EE-FDFB0FFB05E0}"/>
              </a:ext>
            </a:extLst>
          </p:cNvPr>
          <p:cNvSpPr>
            <a:spLocks xmlns:a="http://schemas.openxmlformats.org/drawingml/2006/main" noGrp="1"/>
          </p:cNvSpPr>
          <p:nvPr/>
        </p:nvSpPr>
        <p:spPr>
          <a:xfrm xmlns:a="http://schemas.openxmlformats.org/drawingml/2006/main">
            <a:off x="4457700" y="1562100"/>
            <a:ext cx="3276600" cy="704850"/>
          </a:xfrm>
          <a:prstGeom xmlns:a="http://schemas.openxmlformats.org/drawingml/2006/main" prst="rect">
            <a:avLst/>
          </a:prstGeom>
          <a:solidFill xmlns:a="http://schemas.openxmlformats.org/drawingml/2006/main">
            <a:srgbClr val="E8AA3B"/>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2542290-2E41-492B-9E36-CF6072716764}"/>
              </a:ext>
            </a:extLst>
          </p:cNvPr>
          <p:cNvSpPr>
            <a:spLocks xmlns:a="http://schemas.openxmlformats.org/drawingml/2006/main" noGrp="1"/>
          </p:cNvSpPr>
          <p:nvPr/>
        </p:nvSpPr>
        <p:spPr>
          <a:xfrm xmlns:a="http://schemas.openxmlformats.org/drawingml/2006/main">
            <a:off x="4686300" y="1752600"/>
            <a:ext cx="2819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FFFFFF"/>
                </a:solidFill>
                <a:latin typeface="Aptos"/>
                <a:ea typeface="Aptos"/>
                <a:cs typeface="Aptos"/>
              </a:defRPr>
            </a:pPr>
            <a:r>
              <a:rPr sz="1650" b="1">
                <a:solidFill>
                  <a:srgbClr val="FFFFFF"/>
                </a:solidFill>
                <a:latin typeface="Aptos"/>
                <a:ea typeface="Aptos"/>
                <a:cs typeface="Aptos"/>
              </a:rPr>
              <a:t>PARTIAL</a:t>
            </a:r>
          </a:p>
        </p:txBody>
      </p:sp>
      <p:sp>
        <p:nvSpPr>
          <p:cNvPr id="19" name="">
            <a:extLst xmlns:a="http://schemas.openxmlformats.org/drawingml/2006/main">
              <a:ext uri="{FF2B5EF4-FFF2-40B4-BE49-F238E27FC236}">
                <a16:creationId xmlns:a16="http://schemas.microsoft.com/office/drawing/2014/main" id="{2AA2C4E5-6003-477D-989E-C152733A4818}"/>
              </a:ext>
            </a:extLst>
          </p:cNvPr>
          <p:cNvSpPr>
            <a:spLocks xmlns:a="http://schemas.openxmlformats.org/drawingml/2006/main" noGrp="1"/>
          </p:cNvSpPr>
          <p:nvPr/>
        </p:nvSpPr>
        <p:spPr>
          <a:xfrm xmlns:a="http://schemas.openxmlformats.org/drawingml/2006/main">
            <a:off x="4686300" y="23241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E8AA3B"/>
                </a:solidFill>
                <a:latin typeface="Aptos"/>
                <a:ea typeface="Aptos"/>
                <a:cs typeface="Aptos"/>
              </a:defRPr>
            </a:pPr>
            <a:r>
              <a:rPr sz="975" b="1">
                <a:solidFill>
                  <a:srgbClr val="E8AA3B"/>
                </a:solidFill>
                <a:latin typeface="Aptos"/>
                <a:ea typeface="Aptos"/>
                <a:cs typeface="Aptos"/>
              </a:rPr>
              <a:t>useful but version-sensitive</a:t>
            </a:r>
          </a:p>
        </p:txBody>
      </p:sp>
      <p:sp>
        <p:nvSpPr>
          <p:cNvPr id="20" name="">
            <a:extLst xmlns:a="http://schemas.openxmlformats.org/drawingml/2006/main">
              <a:ext uri="{FF2B5EF4-FFF2-40B4-BE49-F238E27FC236}">
                <a16:creationId xmlns:a16="http://schemas.microsoft.com/office/drawing/2014/main" id="{C6EEB8AF-72BC-4531-9644-E4406A7091FE}"/>
              </a:ext>
            </a:extLst>
          </p:cNvPr>
          <p:cNvSpPr>
            <a:spLocks xmlns:a="http://schemas.openxmlformats.org/drawingml/2006/main" noGrp="1"/>
          </p:cNvSpPr>
          <p:nvPr/>
        </p:nvSpPr>
        <p:spPr>
          <a:xfrm xmlns:a="http://schemas.openxmlformats.org/drawingml/2006/main">
            <a:off x="4686300" y="2800350"/>
            <a:ext cx="2819400" cy="266700"/>
          </a:xfrm>
          <a:prstGeom xmlns:a="http://schemas.openxmlformats.org/drawingml/2006/main" prst="roundRect">
            <a:avLst>
              <a:gd name="adj" fmla="val 28571"/>
            </a:avLst>
          </a:prstGeom>
          <a:solidFill xmlns:a="http://schemas.openxmlformats.org/drawingml/2006/main">
            <a:srgbClr val="FBF1DC"/>
          </a:solidFill>
          <a:ln xmlns:a="http://schemas.openxmlformats.org/drawingml/2006/main" w="9525">
            <a:solidFill>
              <a:srgbClr val="E8AA3B"/>
            </a:solidFill>
            <a:prstDash val="solid"/>
          </a:ln>
        </p:spPr>
      </p:sp>
      <p:sp>
        <p:nvSpPr>
          <p:cNvPr id="21" name="">
            <a:extLst xmlns:a="http://schemas.openxmlformats.org/drawingml/2006/main">
              <a:ext uri="{FF2B5EF4-FFF2-40B4-BE49-F238E27FC236}">
                <a16:creationId xmlns:a16="http://schemas.microsoft.com/office/drawing/2014/main" id="{CF272F3F-CC9B-4523-8520-80686190BFDD}"/>
              </a:ext>
            </a:extLst>
          </p:cNvPr>
          <p:cNvSpPr>
            <a:spLocks xmlns:a="http://schemas.openxmlformats.org/drawingml/2006/main" noGrp="1"/>
          </p:cNvSpPr>
          <p:nvPr/>
        </p:nvSpPr>
        <p:spPr>
          <a:xfrm xmlns:a="http://schemas.openxmlformats.org/drawingml/2006/main">
            <a:off x="4752975" y="2857500"/>
            <a:ext cx="2686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E8AA3B"/>
                </a:solidFill>
                <a:latin typeface="Aptos"/>
                <a:ea typeface="Aptos"/>
                <a:cs typeface="Aptos"/>
              </a:defRPr>
            </a:pPr>
            <a:r>
              <a:rPr sz="825" b="1">
                <a:solidFill>
                  <a:srgbClr val="E8AA3B"/>
                </a:solidFill>
                <a:latin typeface="Aptos"/>
                <a:ea typeface="Aptos"/>
                <a:cs typeface="Aptos"/>
              </a:rPr>
              <a:t>NewPipe  AntennaPod</a:t>
            </a:r>
          </a:p>
        </p:txBody>
      </p:sp>
      <p:sp>
        <p:nvSpPr>
          <p:cNvPr id="22" name="">
            <a:extLst xmlns:a="http://schemas.openxmlformats.org/drawingml/2006/main">
              <a:ext uri="{FF2B5EF4-FFF2-40B4-BE49-F238E27FC236}">
                <a16:creationId xmlns:a16="http://schemas.microsoft.com/office/drawing/2014/main" id="{77BE31F8-7494-4338-9AA8-F8D1C7205A7A}"/>
              </a:ext>
            </a:extLst>
          </p:cNvPr>
          <p:cNvSpPr>
            <a:spLocks xmlns:a="http://schemas.openxmlformats.org/drawingml/2006/main" noGrp="1"/>
          </p:cNvSpPr>
          <p:nvPr/>
        </p:nvSpPr>
        <p:spPr>
          <a:xfrm xmlns:a="http://schemas.openxmlformats.org/drawingml/2006/main">
            <a:off x="4686300" y="3295650"/>
            <a:ext cx="2819400" cy="266700"/>
          </a:xfrm>
          <a:prstGeom xmlns:a="http://schemas.openxmlformats.org/drawingml/2006/main" prst="roundRect">
            <a:avLst>
              <a:gd name="adj" fmla="val 28571"/>
            </a:avLst>
          </a:prstGeom>
          <a:solidFill xmlns:a="http://schemas.openxmlformats.org/drawingml/2006/main">
            <a:srgbClr val="FBF1DC"/>
          </a:solidFill>
          <a:ln xmlns:a="http://schemas.openxmlformats.org/drawingml/2006/main" w="9525">
            <a:solidFill>
              <a:srgbClr val="E8AA3B"/>
            </a:solidFill>
            <a:prstDash val="solid"/>
          </a:ln>
        </p:spPr>
      </p:sp>
      <p:sp>
        <p:nvSpPr>
          <p:cNvPr id="23" name="">
            <a:extLst xmlns:a="http://schemas.openxmlformats.org/drawingml/2006/main">
              <a:ext uri="{FF2B5EF4-FFF2-40B4-BE49-F238E27FC236}">
                <a16:creationId xmlns:a16="http://schemas.microsoft.com/office/drawing/2014/main" id="{B291CC1A-2BEC-426D-879F-66E9D694E285}"/>
              </a:ext>
            </a:extLst>
          </p:cNvPr>
          <p:cNvSpPr>
            <a:spLocks xmlns:a="http://schemas.openxmlformats.org/drawingml/2006/main" noGrp="1"/>
          </p:cNvSpPr>
          <p:nvPr/>
        </p:nvSpPr>
        <p:spPr>
          <a:xfrm xmlns:a="http://schemas.openxmlformats.org/drawingml/2006/main">
            <a:off x="4752975" y="3352800"/>
            <a:ext cx="2686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E8AA3B"/>
                </a:solidFill>
                <a:latin typeface="Aptos"/>
                <a:ea typeface="Aptos"/>
                <a:cs typeface="Aptos"/>
              </a:defRPr>
            </a:pPr>
            <a:r>
              <a:rPr sz="825" b="1">
                <a:solidFill>
                  <a:srgbClr val="E8AA3B"/>
                </a:solidFill>
                <a:latin typeface="Aptos"/>
                <a:ea typeface="Aptos"/>
                <a:cs typeface="Aptos"/>
              </a:rPr>
              <a:t>Wikipedia  Aegis</a:t>
            </a:r>
          </a:p>
        </p:txBody>
      </p:sp>
      <p:sp>
        <p:nvSpPr>
          <p:cNvPr id="24" name="">
            <a:extLst xmlns:a="http://schemas.openxmlformats.org/drawingml/2006/main">
              <a:ext uri="{FF2B5EF4-FFF2-40B4-BE49-F238E27FC236}">
                <a16:creationId xmlns:a16="http://schemas.microsoft.com/office/drawing/2014/main" id="{96F83F5C-D243-434E-B6E9-4A08205A9D38}"/>
              </a:ext>
            </a:extLst>
          </p:cNvPr>
          <p:cNvSpPr>
            <a:spLocks xmlns:a="http://schemas.openxmlformats.org/drawingml/2006/main" noGrp="1"/>
          </p:cNvSpPr>
          <p:nvPr/>
        </p:nvSpPr>
        <p:spPr>
          <a:xfrm xmlns:a="http://schemas.openxmlformats.org/drawingml/2006/main">
            <a:off x="4686300" y="3790950"/>
            <a:ext cx="2819400" cy="266700"/>
          </a:xfrm>
          <a:prstGeom xmlns:a="http://schemas.openxmlformats.org/drawingml/2006/main" prst="roundRect">
            <a:avLst>
              <a:gd name="adj" fmla="val 28571"/>
            </a:avLst>
          </a:prstGeom>
          <a:solidFill xmlns:a="http://schemas.openxmlformats.org/drawingml/2006/main">
            <a:srgbClr val="FBF1DC"/>
          </a:solidFill>
          <a:ln xmlns:a="http://schemas.openxmlformats.org/drawingml/2006/main" w="9525">
            <a:solidFill>
              <a:srgbClr val="E8AA3B"/>
            </a:solidFill>
            <a:prstDash val="solid"/>
          </a:ln>
        </p:spPr>
      </p:sp>
      <p:sp>
        <p:nvSpPr>
          <p:cNvPr id="25" name="">
            <a:extLst xmlns:a="http://schemas.openxmlformats.org/drawingml/2006/main">
              <a:ext uri="{FF2B5EF4-FFF2-40B4-BE49-F238E27FC236}">
                <a16:creationId xmlns:a16="http://schemas.microsoft.com/office/drawing/2014/main" id="{BEBA443F-C6E4-4C1C-ABB1-D96B794BEAD5}"/>
              </a:ext>
            </a:extLst>
          </p:cNvPr>
          <p:cNvSpPr>
            <a:spLocks xmlns:a="http://schemas.openxmlformats.org/drawingml/2006/main" noGrp="1"/>
          </p:cNvSpPr>
          <p:nvPr/>
        </p:nvSpPr>
        <p:spPr>
          <a:xfrm xmlns:a="http://schemas.openxmlformats.org/drawingml/2006/main">
            <a:off x="4752975" y="3848100"/>
            <a:ext cx="2686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E8AA3B"/>
                </a:solidFill>
                <a:latin typeface="Aptos"/>
                <a:ea typeface="Aptos"/>
                <a:cs typeface="Aptos"/>
              </a:defRPr>
            </a:pPr>
            <a:r>
              <a:rPr sz="825" b="1">
                <a:solidFill>
                  <a:srgbClr val="E8AA3B"/>
                </a:solidFill>
                <a:latin typeface="Aptos"/>
                <a:ea typeface="Aptos"/>
                <a:cs typeface="Aptos"/>
              </a:rPr>
              <a:t>Nextcloud  Markor</a:t>
            </a:r>
          </a:p>
        </p:txBody>
      </p:sp>
      <p:sp>
        <p:nvSpPr>
          <p:cNvPr id="26" name="rule">
            <a:extLst xmlns:a="http://schemas.openxmlformats.org/drawingml/2006/main">
              <a:ext uri="{FF2B5EF4-FFF2-40B4-BE49-F238E27FC236}">
                <a16:creationId xmlns:a16="http://schemas.microsoft.com/office/drawing/2014/main" id="{5D1EB61D-9523-401E-987A-5F417B6D3063}"/>
              </a:ext>
            </a:extLst>
          </p:cNvPr>
          <p:cNvSpPr>
            <a:spLocks xmlns:a="http://schemas.openxmlformats.org/drawingml/2006/main" noGrp="1"/>
          </p:cNvSpPr>
          <p:nvPr/>
        </p:nvSpPr>
        <p:spPr>
          <a:xfrm xmlns:a="http://schemas.openxmlformats.org/drawingml/2006/main">
            <a:off x="4686300" y="4400550"/>
            <a:ext cx="2819400" cy="9525"/>
          </a:xfrm>
          <a:prstGeom xmlns:a="http://schemas.openxmlformats.org/drawingml/2006/main" prst="rect">
            <a:avLst/>
          </a:prstGeom>
          <a:solidFill xmlns:a="http://schemas.openxmlformats.org/drawingml/2006/main">
            <a:srgbClr val="D8E0EA"/>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62D9C690-075B-422C-B9E1-4E3B203CA70B}"/>
              </a:ext>
            </a:extLst>
          </p:cNvPr>
          <p:cNvSpPr>
            <a:spLocks xmlns:a="http://schemas.openxmlformats.org/drawingml/2006/main" noGrp="1"/>
          </p:cNvSpPr>
          <p:nvPr/>
        </p:nvSpPr>
        <p:spPr>
          <a:xfrm xmlns:a="http://schemas.openxmlformats.org/drawingml/2006/main">
            <a:off x="4686300" y="4629150"/>
            <a:ext cx="2819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101827"/>
                </a:solidFill>
                <a:latin typeface="Aptos"/>
                <a:ea typeface="Aptos"/>
                <a:cs typeface="Aptos"/>
              </a:defRPr>
            </a:pPr>
            <a:r>
              <a:rPr sz="1050" b="1">
                <a:solidFill>
                  <a:srgbClr val="101827"/>
                </a:solidFill>
                <a:latin typeface="Aptos"/>
                <a:ea typeface="Aptos"/>
                <a:cs typeface="Aptos"/>
              </a:rPr>
              <a:t>AndroidX / Kotlin / older-version drift</a:t>
            </a:r>
          </a:p>
        </p:txBody>
      </p:sp>
      <p:sp>
        <p:nvSpPr>
          <p:cNvPr id="28" name="">
            <a:extLst xmlns:a="http://schemas.openxmlformats.org/drawingml/2006/main">
              <a:ext uri="{FF2B5EF4-FFF2-40B4-BE49-F238E27FC236}">
                <a16:creationId xmlns:a16="http://schemas.microsoft.com/office/drawing/2014/main" id="{03536B20-E668-4143-8057-3AC19C56236E}"/>
              </a:ext>
            </a:extLst>
          </p:cNvPr>
          <p:cNvSpPr>
            <a:spLocks xmlns:a="http://schemas.openxmlformats.org/drawingml/2006/main" noGrp="1"/>
          </p:cNvSpPr>
          <p:nvPr/>
        </p:nvSpPr>
        <p:spPr>
          <a:xfrm xmlns:a="http://schemas.openxmlformats.org/drawingml/2006/main">
            <a:off x="8248650" y="1562100"/>
            <a:ext cx="3276600" cy="3886200"/>
          </a:xfrm>
          <a:prstGeom xmlns:a="http://schemas.openxmlformats.org/drawingml/2006/main" prst="roundRect">
            <a:avLst>
              <a:gd name="adj" fmla="val 2326"/>
            </a:avLst>
          </a:prstGeom>
          <a:solidFill xmlns:a="http://schemas.openxmlformats.org/drawingml/2006/main">
            <a:srgbClr val="FFFFFF"/>
          </a:solidFill>
          <a:ln xmlns:a="http://schemas.openxmlformats.org/drawingml/2006/main" w="9525">
            <a:solidFill>
              <a:srgbClr val="806FE8"/>
            </a:solidFill>
            <a:prstDash val="solid"/>
          </a:ln>
        </p:spPr>
      </p:sp>
      <p:sp>
        <p:nvSpPr>
          <p:cNvPr id="29" name="">
            <a:extLst xmlns:a="http://schemas.openxmlformats.org/drawingml/2006/main">
              <a:ext uri="{FF2B5EF4-FFF2-40B4-BE49-F238E27FC236}">
                <a16:creationId xmlns:a16="http://schemas.microsoft.com/office/drawing/2014/main" id="{2093392A-E788-419B-A987-D02D2A6FD6AA}"/>
              </a:ext>
            </a:extLst>
          </p:cNvPr>
          <p:cNvSpPr>
            <a:spLocks xmlns:a="http://schemas.openxmlformats.org/drawingml/2006/main" noGrp="1"/>
          </p:cNvSpPr>
          <p:nvPr/>
        </p:nvSpPr>
        <p:spPr>
          <a:xfrm xmlns:a="http://schemas.openxmlformats.org/drawingml/2006/main">
            <a:off x="8248650" y="1562100"/>
            <a:ext cx="3276600" cy="704850"/>
          </a:xfrm>
          <a:prstGeom xmlns:a="http://schemas.openxmlformats.org/drawingml/2006/main" prst="rect">
            <a:avLst/>
          </a:prstGeom>
          <a:solidFill xmlns:a="http://schemas.openxmlformats.org/drawingml/2006/main">
            <a:srgbClr val="806FE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D4F46C25-1900-42A2-9182-FE4E04B154A2}"/>
              </a:ext>
            </a:extLst>
          </p:cNvPr>
          <p:cNvSpPr>
            <a:spLocks xmlns:a="http://schemas.openxmlformats.org/drawingml/2006/main" noGrp="1"/>
          </p:cNvSpPr>
          <p:nvPr/>
        </p:nvSpPr>
        <p:spPr>
          <a:xfrm xmlns:a="http://schemas.openxmlformats.org/drawingml/2006/main">
            <a:off x="8477250" y="1752600"/>
            <a:ext cx="2819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FFFFFF"/>
                </a:solidFill>
                <a:latin typeface="Aptos"/>
                <a:ea typeface="Aptos"/>
                <a:cs typeface="Aptos"/>
              </a:defRPr>
            </a:pPr>
            <a:r>
              <a:rPr sz="1650" b="1">
                <a:solidFill>
                  <a:srgbClr val="FFFFFF"/>
                </a:solidFill>
                <a:latin typeface="Aptos"/>
                <a:ea typeface="Aptos"/>
                <a:cs typeface="Aptos"/>
              </a:rPr>
              <a:t>BOUNDARY</a:t>
            </a:r>
          </a:p>
        </p:txBody>
      </p:sp>
      <p:sp>
        <p:nvSpPr>
          <p:cNvPr id="31" name="">
            <a:extLst xmlns:a="http://schemas.openxmlformats.org/drawingml/2006/main">
              <a:ext uri="{FF2B5EF4-FFF2-40B4-BE49-F238E27FC236}">
                <a16:creationId xmlns:a16="http://schemas.microsoft.com/office/drawing/2014/main" id="{9D5E6819-929C-427A-809C-59A355B75959}"/>
              </a:ext>
            </a:extLst>
          </p:cNvPr>
          <p:cNvSpPr>
            <a:spLocks xmlns:a="http://schemas.openxmlformats.org/drawingml/2006/main" noGrp="1"/>
          </p:cNvSpPr>
          <p:nvPr/>
        </p:nvSpPr>
        <p:spPr>
          <a:xfrm xmlns:a="http://schemas.openxmlformats.org/drawingml/2006/main">
            <a:off x="8477250" y="232410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806FE8"/>
                </a:solidFill>
                <a:latin typeface="Aptos"/>
                <a:ea typeface="Aptos"/>
                <a:cs typeface="Aptos"/>
              </a:defRPr>
            </a:pPr>
            <a:r>
              <a:rPr sz="975" b="1">
                <a:solidFill>
                  <a:srgbClr val="806FE8"/>
                </a:solidFill>
                <a:latin typeface="Aptos"/>
                <a:ea typeface="Aptos"/>
                <a:cs typeface="Aptos"/>
              </a:rPr>
              <a:t>outside exact Maven claims</a:t>
            </a:r>
          </a:p>
        </p:txBody>
      </p:sp>
      <p:sp>
        <p:nvSpPr>
          <p:cNvPr id="32" name="">
            <a:extLst xmlns:a="http://schemas.openxmlformats.org/drawingml/2006/main">
              <a:ext uri="{FF2B5EF4-FFF2-40B4-BE49-F238E27FC236}">
                <a16:creationId xmlns:a16="http://schemas.microsoft.com/office/drawing/2014/main" id="{8C534844-E182-40F1-A931-8E72A0FBB148}"/>
              </a:ext>
            </a:extLst>
          </p:cNvPr>
          <p:cNvSpPr>
            <a:spLocks xmlns:a="http://schemas.openxmlformats.org/drawingml/2006/main" noGrp="1"/>
          </p:cNvSpPr>
          <p:nvPr/>
        </p:nvSpPr>
        <p:spPr>
          <a:xfrm xmlns:a="http://schemas.openxmlformats.org/drawingml/2006/main">
            <a:off x="8477250" y="2800350"/>
            <a:ext cx="2819400" cy="266700"/>
          </a:xfrm>
          <a:prstGeom xmlns:a="http://schemas.openxmlformats.org/drawingml/2006/main" prst="roundRect">
            <a:avLst>
              <a:gd name="adj" fmla="val 28571"/>
            </a:avLst>
          </a:prstGeom>
          <a:solidFill xmlns:a="http://schemas.openxmlformats.org/drawingml/2006/main">
            <a:srgbClr val="EEEAFE"/>
          </a:solidFill>
          <a:ln xmlns:a="http://schemas.openxmlformats.org/drawingml/2006/main" w="9525">
            <a:solidFill>
              <a:srgbClr val="806FE8"/>
            </a:solidFill>
            <a:prstDash val="solid"/>
          </a:ln>
        </p:spPr>
      </p:sp>
      <p:sp>
        <p:nvSpPr>
          <p:cNvPr id="33" name="">
            <a:extLst xmlns:a="http://schemas.openxmlformats.org/drawingml/2006/main">
              <a:ext uri="{FF2B5EF4-FFF2-40B4-BE49-F238E27FC236}">
                <a16:creationId xmlns:a16="http://schemas.microsoft.com/office/drawing/2014/main" id="{8D03F880-6979-4B28-8487-1DB8DF1605BB}"/>
              </a:ext>
            </a:extLst>
          </p:cNvPr>
          <p:cNvSpPr>
            <a:spLocks xmlns:a="http://schemas.openxmlformats.org/drawingml/2006/main" noGrp="1"/>
          </p:cNvSpPr>
          <p:nvPr/>
        </p:nvSpPr>
        <p:spPr>
          <a:xfrm xmlns:a="http://schemas.openxmlformats.org/drawingml/2006/main">
            <a:off x="8543925" y="2857500"/>
            <a:ext cx="2686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806FE8"/>
                </a:solidFill>
                <a:latin typeface="Aptos"/>
                <a:ea typeface="Aptos"/>
                <a:cs typeface="Aptos"/>
              </a:defRPr>
            </a:pPr>
            <a:r>
              <a:rPr sz="825" b="1">
                <a:solidFill>
                  <a:srgbClr val="806FE8"/>
                </a:solidFill>
                <a:latin typeface="Aptos"/>
                <a:ea typeface="Aptos"/>
                <a:cs typeface="Aptos"/>
              </a:rPr>
              <a:t>Organic Maps</a:t>
            </a:r>
          </a:p>
        </p:txBody>
      </p:sp>
      <p:sp>
        <p:nvSpPr>
          <p:cNvPr id="34" name="">
            <a:extLst xmlns:a="http://schemas.openxmlformats.org/drawingml/2006/main">
              <a:ext uri="{FF2B5EF4-FFF2-40B4-BE49-F238E27FC236}">
                <a16:creationId xmlns:a16="http://schemas.microsoft.com/office/drawing/2014/main" id="{FC4E317A-BC94-4415-8227-24490CA2A44C}"/>
              </a:ext>
            </a:extLst>
          </p:cNvPr>
          <p:cNvSpPr>
            <a:spLocks xmlns:a="http://schemas.openxmlformats.org/drawingml/2006/main" noGrp="1"/>
          </p:cNvSpPr>
          <p:nvPr/>
        </p:nvSpPr>
        <p:spPr>
          <a:xfrm xmlns:a="http://schemas.openxmlformats.org/drawingml/2006/main">
            <a:off x="8477250" y="3295650"/>
            <a:ext cx="2819400" cy="266700"/>
          </a:xfrm>
          <a:prstGeom xmlns:a="http://schemas.openxmlformats.org/drawingml/2006/main" prst="roundRect">
            <a:avLst>
              <a:gd name="adj" fmla="val 28571"/>
            </a:avLst>
          </a:prstGeom>
          <a:solidFill xmlns:a="http://schemas.openxmlformats.org/drawingml/2006/main">
            <a:srgbClr val="EEEAFE"/>
          </a:solidFill>
          <a:ln xmlns:a="http://schemas.openxmlformats.org/drawingml/2006/main" w="9525">
            <a:solidFill>
              <a:srgbClr val="806FE8"/>
            </a:solidFill>
            <a:prstDash val="solid"/>
          </a:ln>
        </p:spPr>
      </p:sp>
      <p:sp>
        <p:nvSpPr>
          <p:cNvPr id="35" name="">
            <a:extLst xmlns:a="http://schemas.openxmlformats.org/drawingml/2006/main">
              <a:ext uri="{FF2B5EF4-FFF2-40B4-BE49-F238E27FC236}">
                <a16:creationId xmlns:a16="http://schemas.microsoft.com/office/drawing/2014/main" id="{822DAC5B-A05E-45B3-B19C-7F77F116DA50}"/>
              </a:ext>
            </a:extLst>
          </p:cNvPr>
          <p:cNvSpPr>
            <a:spLocks xmlns:a="http://schemas.openxmlformats.org/drawingml/2006/main" noGrp="1"/>
          </p:cNvSpPr>
          <p:nvPr/>
        </p:nvSpPr>
        <p:spPr>
          <a:xfrm xmlns:a="http://schemas.openxmlformats.org/drawingml/2006/main">
            <a:off x="8543925" y="3352800"/>
            <a:ext cx="2686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806FE8"/>
                </a:solidFill>
                <a:latin typeface="Aptos"/>
                <a:ea typeface="Aptos"/>
                <a:cs typeface="Aptos"/>
              </a:defRPr>
            </a:pPr>
            <a:r>
              <a:rPr sz="825" b="1">
                <a:solidFill>
                  <a:srgbClr val="806FE8"/>
                </a:solidFill>
                <a:latin typeface="Aptos"/>
                <a:ea typeface="Aptos"/>
                <a:cs typeface="Aptos"/>
              </a:rPr>
              <a:t>Termux</a:t>
            </a:r>
          </a:p>
        </p:txBody>
      </p:sp>
      <p:sp>
        <p:nvSpPr>
          <p:cNvPr id="36" name="">
            <a:extLst xmlns:a="http://schemas.openxmlformats.org/drawingml/2006/main">
              <a:ext uri="{FF2B5EF4-FFF2-40B4-BE49-F238E27FC236}">
                <a16:creationId xmlns:a16="http://schemas.microsoft.com/office/drawing/2014/main" id="{F0D1A649-C116-4B51-972A-6D30023EE923}"/>
              </a:ext>
            </a:extLst>
          </p:cNvPr>
          <p:cNvSpPr>
            <a:spLocks xmlns:a="http://schemas.openxmlformats.org/drawingml/2006/main" noGrp="1"/>
          </p:cNvSpPr>
          <p:nvPr/>
        </p:nvSpPr>
        <p:spPr>
          <a:xfrm xmlns:a="http://schemas.openxmlformats.org/drawingml/2006/main">
            <a:off x="8477250" y="3790950"/>
            <a:ext cx="2819400" cy="266700"/>
          </a:xfrm>
          <a:prstGeom xmlns:a="http://schemas.openxmlformats.org/drawingml/2006/main" prst="roundRect">
            <a:avLst>
              <a:gd name="adj" fmla="val 28571"/>
            </a:avLst>
          </a:prstGeom>
          <a:solidFill xmlns:a="http://schemas.openxmlformats.org/drawingml/2006/main">
            <a:srgbClr val="EEEAFE"/>
          </a:solidFill>
          <a:ln xmlns:a="http://schemas.openxmlformats.org/drawingml/2006/main" w="9525">
            <a:solidFill>
              <a:srgbClr val="806FE8"/>
            </a:solidFill>
            <a:prstDash val="solid"/>
          </a:ln>
        </p:spPr>
      </p:sp>
      <p:sp>
        <p:nvSpPr>
          <p:cNvPr id="37" name="">
            <a:extLst xmlns:a="http://schemas.openxmlformats.org/drawingml/2006/main">
              <a:ext uri="{FF2B5EF4-FFF2-40B4-BE49-F238E27FC236}">
                <a16:creationId xmlns:a16="http://schemas.microsoft.com/office/drawing/2014/main" id="{A468134E-5B9D-4AC7-8787-2EDE1BE1CF26}"/>
              </a:ext>
            </a:extLst>
          </p:cNvPr>
          <p:cNvSpPr>
            <a:spLocks xmlns:a="http://schemas.openxmlformats.org/drawingml/2006/main" noGrp="1"/>
          </p:cNvSpPr>
          <p:nvPr/>
        </p:nvSpPr>
        <p:spPr>
          <a:xfrm xmlns:a="http://schemas.openxmlformats.org/drawingml/2006/main">
            <a:off x="8543925" y="3848100"/>
            <a:ext cx="2686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806FE8"/>
                </a:solidFill>
                <a:latin typeface="Aptos"/>
                <a:ea typeface="Aptos"/>
                <a:cs typeface="Aptos"/>
              </a:defRPr>
            </a:pPr>
            <a:r>
              <a:rPr sz="825" b="1">
                <a:solidFill>
                  <a:srgbClr val="806FE8"/>
                </a:solidFill>
                <a:latin typeface="Aptos"/>
                <a:ea typeface="Aptos"/>
                <a:cs typeface="Aptos"/>
              </a:rPr>
              <a:t>hidden DEX / protected</a:t>
            </a:r>
          </a:p>
        </p:txBody>
      </p:sp>
      <p:sp>
        <p:nvSpPr>
          <p:cNvPr id="38" name="rule">
            <a:extLst xmlns:a="http://schemas.openxmlformats.org/drawingml/2006/main">
              <a:ext uri="{FF2B5EF4-FFF2-40B4-BE49-F238E27FC236}">
                <a16:creationId xmlns:a16="http://schemas.microsoft.com/office/drawing/2014/main" id="{DE33BFEF-72BA-4029-B03F-64417B07AD6C}"/>
              </a:ext>
            </a:extLst>
          </p:cNvPr>
          <p:cNvSpPr>
            <a:spLocks xmlns:a="http://schemas.openxmlformats.org/drawingml/2006/main" noGrp="1"/>
          </p:cNvSpPr>
          <p:nvPr/>
        </p:nvSpPr>
        <p:spPr>
          <a:xfrm xmlns:a="http://schemas.openxmlformats.org/drawingml/2006/main">
            <a:off x="8477250" y="4400550"/>
            <a:ext cx="2819400" cy="9525"/>
          </a:xfrm>
          <a:prstGeom xmlns:a="http://schemas.openxmlformats.org/drawingml/2006/main" prst="rect">
            <a:avLst/>
          </a:prstGeom>
          <a:solidFill xmlns:a="http://schemas.openxmlformats.org/drawingml/2006/main">
            <a:srgbClr val="D8E0EA"/>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5B6ACBE3-4537-478C-93E1-298B45E66BF9}"/>
              </a:ext>
            </a:extLst>
          </p:cNvPr>
          <p:cNvSpPr>
            <a:spLocks xmlns:a="http://schemas.openxmlformats.org/drawingml/2006/main" noGrp="1"/>
          </p:cNvSpPr>
          <p:nvPr/>
        </p:nvSpPr>
        <p:spPr>
          <a:xfrm xmlns:a="http://schemas.openxmlformats.org/drawingml/2006/main">
            <a:off x="8477250" y="4629150"/>
            <a:ext cx="2819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101827"/>
                </a:solidFill>
                <a:latin typeface="Aptos"/>
                <a:ea typeface="Aptos"/>
                <a:cs typeface="Aptos"/>
              </a:defRPr>
            </a:pPr>
            <a:r>
              <a:rPr sz="1050" b="1">
                <a:solidFill>
                  <a:srgbClr val="101827"/>
                </a:solidFill>
                <a:latin typeface="Aptos"/>
                <a:ea typeface="Aptos"/>
                <a:cs typeface="Aptos"/>
              </a:rPr>
              <a:t>native, dynamic, or transformed evidence</a:t>
            </a:r>
          </a:p>
        </p:txBody>
      </p:sp>
      <p:sp>
        <p:nvSpPr>
          <p:cNvPr id="40" name="">
            <a:extLst xmlns:a="http://schemas.openxmlformats.org/drawingml/2006/main">
              <a:ext uri="{FF2B5EF4-FFF2-40B4-BE49-F238E27FC236}">
                <a16:creationId xmlns:a16="http://schemas.microsoft.com/office/drawing/2014/main" id="{56CADB7F-11D7-4AC0-A70C-D29813ADD6E8}"/>
              </a:ext>
            </a:extLst>
          </p:cNvPr>
          <p:cNvSpPr>
            <a:spLocks xmlns:a="http://schemas.openxmlformats.org/drawingml/2006/main" noGrp="1"/>
          </p:cNvSpPr>
          <p:nvPr/>
        </p:nvSpPr>
        <p:spPr>
          <a:xfrm xmlns:a="http://schemas.openxmlformats.org/drawingml/2006/main">
            <a:off x="1276350" y="5867400"/>
            <a:ext cx="9639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01827"/>
                </a:solidFill>
                <a:latin typeface="Aptos"/>
                <a:ea typeface="Aptos"/>
                <a:cs typeface="Aptos"/>
              </a:defRPr>
            </a:pPr>
            <a:r>
              <a:rPr sz="1350" b="1">
                <a:solidFill>
                  <a:srgbClr val="101827"/>
                </a:solidFill>
                <a:latin typeface="Aptos"/>
                <a:ea typeface="Aptos"/>
                <a:cs typeface="Aptos"/>
              </a:rPr>
              <a:t>The difficult cases are not discarded; they become the roadmap for reference growth and matcher recall.</a:t>
            </a:r>
          </a:p>
        </p:txBody>
      </p:sp>
      <p:sp>
        <p:nvSpPr>
          <p:cNvPr id="41" name="">
            <a:extLst xmlns:a="http://schemas.openxmlformats.org/drawingml/2006/main">
              <a:ext uri="{FF2B5EF4-FFF2-40B4-BE49-F238E27FC236}">
                <a16:creationId xmlns:a16="http://schemas.microsoft.com/office/drawing/2014/main" id="{E08B627F-87A2-4521-B820-C5604E691512}"/>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607644543"/>
      </p:ext>
    </p:extLst>
  </p:cSld>
</p:sld>
</file>

<file path=ppt/slides/slide11.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76E1E82-3A7F-4F7B-8313-21145D93C50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0D3CF04-D662-47D2-B4FF-4CB021A26ED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0646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521CFA8-FDEA-4C92-A6B6-8F1CF9C157F3}"/>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F06464"/>
                </a:solidFill>
                <a:latin typeface="Aptos"/>
                <a:ea typeface="Aptos"/>
                <a:cs typeface="Aptos"/>
              </a:defRPr>
            </a:pPr>
            <a:r>
              <a:rPr sz="900" b="1">
                <a:solidFill>
                  <a:srgbClr val="F06464"/>
                </a:solidFill>
                <a:latin typeface="Aptos"/>
                <a:ea typeface="Aptos"/>
                <a:cs typeface="Aptos"/>
              </a:rPr>
              <a:t>DEMO EVIDENCE</a:t>
            </a:r>
          </a:p>
        </p:txBody>
      </p:sp>
      <p:sp>
        <p:nvSpPr>
          <p:cNvPr id="4" name="">
            <a:extLst xmlns:a="http://schemas.openxmlformats.org/drawingml/2006/main">
              <a:ext uri="{FF2B5EF4-FFF2-40B4-BE49-F238E27FC236}">
                <a16:creationId xmlns:a16="http://schemas.microsoft.com/office/drawing/2014/main" id="{1645D419-45C0-488C-9039-3271D0D45720}"/>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The final demo proves SBOM output, positive CVEs, and transparent remaining gaps</a:t>
            </a:r>
          </a:p>
        </p:txBody>
      </p:sp>
      <p:sp>
        <p:nvSpPr>
          <p:cNvPr id="5" name="">
            <a:extLst xmlns:a="http://schemas.openxmlformats.org/drawingml/2006/main">
              <a:ext uri="{FF2B5EF4-FFF2-40B4-BE49-F238E27FC236}">
                <a16:creationId xmlns:a16="http://schemas.microsoft.com/office/drawing/2014/main" id="{58526C00-5964-4B43-A525-97FB01D64316}"/>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290A6"/>
                </a:solidFill>
                <a:latin typeface="Aptos"/>
                <a:ea typeface="Aptos"/>
                <a:cs typeface="Aptos"/>
              </a:defRPr>
            </a:pPr>
            <a:r>
              <a:rPr sz="900" b="1">
                <a:solidFill>
                  <a:srgbClr val="8290A6"/>
                </a:solidFill>
                <a:latin typeface="Aptos"/>
                <a:ea typeface="Aptos"/>
                <a:cs typeface="Aptos"/>
              </a:rPr>
              <a:t>11</a:t>
            </a:r>
          </a:p>
        </p:txBody>
      </p:sp>
      <p:sp>
        <p:nvSpPr>
          <p:cNvPr id="6" name="">
            <a:extLst xmlns:a="http://schemas.openxmlformats.org/drawingml/2006/main">
              <a:ext uri="{FF2B5EF4-FFF2-40B4-BE49-F238E27FC236}">
                <a16:creationId xmlns:a16="http://schemas.microsoft.com/office/drawing/2014/main" id="{A5234AE8-BFB7-4999-9A3E-C0C4E5B438C4}"/>
              </a:ext>
            </a:extLst>
          </p:cNvPr>
          <p:cNvSpPr>
            <a:spLocks xmlns:a="http://schemas.openxmlformats.org/drawingml/2006/main" noGrp="1"/>
          </p:cNvSpPr>
          <p:nvPr/>
        </p:nvSpPr>
        <p:spPr>
          <a:xfrm xmlns:a="http://schemas.openxmlformats.org/drawingml/2006/main">
            <a:off x="590550" y="1581150"/>
            <a:ext cx="3448050" cy="3657600"/>
          </a:xfrm>
          <a:prstGeom xmlns:a="http://schemas.openxmlformats.org/drawingml/2006/main" prst="roundRect">
            <a:avLst>
              <a:gd name="adj" fmla="val 2210"/>
            </a:avLst>
          </a:prstGeom>
          <a:solidFill xmlns:a="http://schemas.openxmlformats.org/drawingml/2006/main">
            <a:srgbClr val="FFFFFF"/>
          </a:solidFill>
          <a:ln xmlns:a="http://schemas.openxmlformats.org/drawingml/2006/main" w="9525">
            <a:solidFill>
              <a:srgbClr val="D8E0EA"/>
            </a:solidFill>
            <a:prstDash val="solid"/>
          </a:ln>
        </p:spPr>
      </p:sp>
      <p:sp>
        <p:nvSpPr>
          <p:cNvPr id="7" name="">
            <a:extLst xmlns:a="http://schemas.openxmlformats.org/drawingml/2006/main">
              <a:ext uri="{FF2B5EF4-FFF2-40B4-BE49-F238E27FC236}">
                <a16:creationId xmlns:a16="http://schemas.microsoft.com/office/drawing/2014/main" id="{D8EAD6CC-651E-42A2-8703-45CC5CFA5ECD}"/>
              </a:ext>
            </a:extLst>
          </p:cNvPr>
          <p:cNvSpPr>
            <a:spLocks xmlns:a="http://schemas.openxmlformats.org/drawingml/2006/main" noGrp="1"/>
          </p:cNvSpPr>
          <p:nvPr/>
        </p:nvSpPr>
        <p:spPr>
          <a:xfrm xmlns:a="http://schemas.openxmlformats.org/drawingml/2006/main">
            <a:off x="590550" y="1581150"/>
            <a:ext cx="3448050" cy="323850"/>
          </a:xfrm>
          <a:prstGeom xmlns:a="http://schemas.openxmlformats.org/drawingml/2006/main" prst="rect">
            <a:avLst/>
          </a:prstGeom>
          <a:solidFill xmlns:a="http://schemas.openxmlformats.org/drawingml/2006/main">
            <a:srgbClr val="111B2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68048BC-3116-486C-B762-D05CB4DDB710}"/>
              </a:ext>
            </a:extLst>
          </p:cNvPr>
          <p:cNvSpPr>
            <a:spLocks xmlns:a="http://schemas.openxmlformats.org/drawingml/2006/main" noGrp="1"/>
          </p:cNvSpPr>
          <p:nvPr/>
        </p:nvSpPr>
        <p:spPr>
          <a:xfrm xmlns:a="http://schemas.openxmlformats.org/drawingml/2006/main">
            <a:off x="723900" y="1695450"/>
            <a:ext cx="85725" cy="85725"/>
          </a:xfrm>
          <a:prstGeom xmlns:a="http://schemas.openxmlformats.org/drawingml/2006/main" prst="ellipse">
            <a:avLst/>
          </a:prstGeom>
          <a:solidFill xmlns:a="http://schemas.openxmlformats.org/drawingml/2006/main">
            <a:srgbClr val="F0646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1F0779C-D1E9-462B-B648-144B8D6BDB9C}"/>
              </a:ext>
            </a:extLst>
          </p:cNvPr>
          <p:cNvSpPr>
            <a:spLocks xmlns:a="http://schemas.openxmlformats.org/drawingml/2006/main" noGrp="1"/>
          </p:cNvSpPr>
          <p:nvPr/>
        </p:nvSpPr>
        <p:spPr>
          <a:xfrm xmlns:a="http://schemas.openxmlformats.org/drawingml/2006/main">
            <a:off x="876300" y="1695450"/>
            <a:ext cx="85725" cy="85725"/>
          </a:xfrm>
          <a:prstGeom xmlns:a="http://schemas.openxmlformats.org/drawingml/2006/main" prst="ellipse">
            <a:avLst/>
          </a:prstGeom>
          <a:solidFill xmlns:a="http://schemas.openxmlformats.org/drawingml/2006/main">
            <a:srgbClr val="E8AA3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80F6CEA-42F0-414C-B86D-B974B97E7F71}"/>
              </a:ext>
            </a:extLst>
          </p:cNvPr>
          <p:cNvSpPr>
            <a:spLocks xmlns:a="http://schemas.openxmlformats.org/drawingml/2006/main" noGrp="1"/>
          </p:cNvSpPr>
          <p:nvPr/>
        </p:nvSpPr>
        <p:spPr>
          <a:xfrm xmlns:a="http://schemas.openxmlformats.org/drawingml/2006/main">
            <a:off x="1028700" y="1695450"/>
            <a:ext cx="85725" cy="85725"/>
          </a:xfrm>
          <a:prstGeom xmlns:a="http://schemas.openxmlformats.org/drawingml/2006/main" prst="ellipse">
            <a:avLst/>
          </a:prstGeom>
          <a:solidFill xmlns:a="http://schemas.openxmlformats.org/drawingml/2006/main">
            <a:srgbClr val="9DCC3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5B75905-D19B-4983-8A3F-A0F70B9577AB}"/>
              </a:ext>
            </a:extLst>
          </p:cNvPr>
          <p:cNvSpPr>
            <a:spLocks xmlns:a="http://schemas.openxmlformats.org/drawingml/2006/main" noGrp="1"/>
          </p:cNvSpPr>
          <p:nvPr/>
        </p:nvSpPr>
        <p:spPr>
          <a:xfrm xmlns:a="http://schemas.openxmlformats.org/drawingml/2006/main">
            <a:off x="1238250" y="1666875"/>
            <a:ext cx="2647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clean-real-apk / report.html</a:t>
            </a:r>
          </a:p>
        </p:txBody>
      </p:sp>
      <p:sp>
        <p:nvSpPr>
          <p:cNvPr id="12" name="">
            <a:extLst xmlns:a="http://schemas.openxmlformats.org/drawingml/2006/main">
              <a:ext uri="{FF2B5EF4-FFF2-40B4-BE49-F238E27FC236}">
                <a16:creationId xmlns:a16="http://schemas.microsoft.com/office/drawing/2014/main" id="{C16E42C0-3080-4976-A5C5-24977660F5EF}"/>
              </a:ext>
            </a:extLst>
          </p:cNvPr>
          <p:cNvSpPr>
            <a:spLocks xmlns:a="http://schemas.openxmlformats.org/drawingml/2006/main" noGrp="1"/>
          </p:cNvSpPr>
          <p:nvPr/>
        </p:nvSpPr>
        <p:spPr>
          <a:xfrm xmlns:a="http://schemas.openxmlformats.org/drawingml/2006/main">
            <a:off x="762000" y="2076450"/>
            <a:ext cx="57150" cy="2971800"/>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F8854E9-5538-4F19-AD65-A18B5BA39259}"/>
              </a:ext>
            </a:extLst>
          </p:cNvPr>
          <p:cNvSpPr>
            <a:spLocks xmlns:a="http://schemas.openxmlformats.org/drawingml/2006/main" noGrp="1"/>
          </p:cNvSpPr>
          <p:nvPr/>
        </p:nvSpPr>
        <p:spPr>
          <a:xfrm xmlns:a="http://schemas.openxmlformats.org/drawingml/2006/main">
            <a:off x="895350" y="2266950"/>
            <a:ext cx="95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24BFAE"/>
                </a:solidFill>
                <a:latin typeface="Aptos"/>
                <a:ea typeface="Aptos"/>
                <a:cs typeface="Aptos"/>
              </a:defRPr>
            </a:pPr>
            <a:r>
              <a:rPr sz="3000" b="1">
                <a:solidFill>
                  <a:srgbClr val="24BFAE"/>
                </a:solidFill>
                <a:latin typeface="Aptos"/>
                <a:ea typeface="Aptos"/>
                <a:cs typeface="Aptos"/>
              </a:rPr>
              <a:t>23</a:t>
            </a:r>
          </a:p>
        </p:txBody>
      </p:sp>
      <p:sp>
        <p:nvSpPr>
          <p:cNvPr id="14" name="">
            <a:extLst xmlns:a="http://schemas.openxmlformats.org/drawingml/2006/main">
              <a:ext uri="{FF2B5EF4-FFF2-40B4-BE49-F238E27FC236}">
                <a16:creationId xmlns:a16="http://schemas.microsoft.com/office/drawing/2014/main" id="{E43D1C17-B63D-4057-B43E-0B5389DFCFC4}"/>
              </a:ext>
            </a:extLst>
          </p:cNvPr>
          <p:cNvSpPr>
            <a:spLocks xmlns:a="http://schemas.openxmlformats.org/drawingml/2006/main" noGrp="1"/>
          </p:cNvSpPr>
          <p:nvPr/>
        </p:nvSpPr>
        <p:spPr>
          <a:xfrm xmlns:a="http://schemas.openxmlformats.org/drawingml/2006/main">
            <a:off x="1790700" y="24193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01827"/>
                </a:solidFill>
                <a:latin typeface="Aptos"/>
                <a:ea typeface="Aptos"/>
                <a:cs typeface="Aptos"/>
              </a:defRPr>
            </a:pPr>
            <a:r>
              <a:rPr sz="1050" b="1">
                <a:solidFill>
                  <a:srgbClr val="101827"/>
                </a:solidFill>
                <a:latin typeface="Aptos"/>
                <a:ea typeface="Aptos"/>
                <a:cs typeface="Aptos"/>
              </a:rPr>
              <a:t>Maven components</a:t>
            </a:r>
          </a:p>
        </p:txBody>
      </p:sp>
      <p:sp>
        <p:nvSpPr>
          <p:cNvPr id="15" name="">
            <a:extLst xmlns:a="http://schemas.openxmlformats.org/drawingml/2006/main">
              <a:ext uri="{FF2B5EF4-FFF2-40B4-BE49-F238E27FC236}">
                <a16:creationId xmlns:a16="http://schemas.microsoft.com/office/drawing/2014/main" id="{B30F52D1-F116-47EA-AB48-7B3B479B6F33}"/>
              </a:ext>
            </a:extLst>
          </p:cNvPr>
          <p:cNvSpPr>
            <a:spLocks xmlns:a="http://schemas.openxmlformats.org/drawingml/2006/main" noGrp="1"/>
          </p:cNvSpPr>
          <p:nvPr/>
        </p:nvSpPr>
        <p:spPr>
          <a:xfrm xmlns:a="http://schemas.openxmlformats.org/drawingml/2006/main">
            <a:off x="895350" y="3028950"/>
            <a:ext cx="2514600" cy="266700"/>
          </a:xfrm>
          <a:prstGeom xmlns:a="http://schemas.openxmlformats.org/drawingml/2006/main" prst="roundRect">
            <a:avLst>
              <a:gd name="adj" fmla="val 28571"/>
            </a:avLst>
          </a:prstGeom>
          <a:solidFill xmlns:a="http://schemas.openxmlformats.org/drawingml/2006/main">
            <a:srgbClr val="EFF7DD"/>
          </a:solidFill>
          <a:ln xmlns:a="http://schemas.openxmlformats.org/drawingml/2006/main" w="9525">
            <a:solidFill>
              <a:srgbClr val="9DCC3B"/>
            </a:solidFill>
            <a:prstDash val="solid"/>
          </a:ln>
        </p:spPr>
      </p:sp>
      <p:sp>
        <p:nvSpPr>
          <p:cNvPr id="16" name="">
            <a:extLst xmlns:a="http://schemas.openxmlformats.org/drawingml/2006/main">
              <a:ext uri="{FF2B5EF4-FFF2-40B4-BE49-F238E27FC236}">
                <a16:creationId xmlns:a16="http://schemas.microsoft.com/office/drawing/2014/main" id="{A428D15D-64F0-4A51-B9BE-DBEBB9173020}"/>
              </a:ext>
            </a:extLst>
          </p:cNvPr>
          <p:cNvSpPr>
            <a:spLocks xmlns:a="http://schemas.openxmlformats.org/drawingml/2006/main" noGrp="1"/>
          </p:cNvSpPr>
          <p:nvPr/>
        </p:nvSpPr>
        <p:spPr>
          <a:xfrm xmlns:a="http://schemas.openxmlformats.org/drawingml/2006/main">
            <a:off x="962025" y="3086100"/>
            <a:ext cx="2381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9DCC3B"/>
                </a:solidFill>
                <a:latin typeface="Aptos"/>
                <a:ea typeface="Aptos"/>
                <a:cs typeface="Aptos"/>
              </a:defRPr>
            </a:pPr>
            <a:r>
              <a:rPr sz="825" b="1">
                <a:solidFill>
                  <a:srgbClr val="9DCC3B"/>
                </a:solidFill>
                <a:latin typeface="Aptos"/>
                <a:ea typeface="Aptos"/>
                <a:cs typeface="Aptos"/>
              </a:rPr>
              <a:t>23 / 23 source-confirmed</a:t>
            </a:r>
          </a:p>
        </p:txBody>
      </p:sp>
      <p:sp>
        <p:nvSpPr>
          <p:cNvPr id="17" name="">
            <a:extLst xmlns:a="http://schemas.openxmlformats.org/drawingml/2006/main">
              <a:ext uri="{FF2B5EF4-FFF2-40B4-BE49-F238E27FC236}">
                <a16:creationId xmlns:a16="http://schemas.microsoft.com/office/drawing/2014/main" id="{D1351E95-BC22-4832-A854-BEBE5AB309B1}"/>
              </a:ext>
            </a:extLst>
          </p:cNvPr>
          <p:cNvSpPr>
            <a:spLocks xmlns:a="http://schemas.openxmlformats.org/drawingml/2006/main" noGrp="1"/>
          </p:cNvSpPr>
          <p:nvPr/>
        </p:nvSpPr>
        <p:spPr>
          <a:xfrm xmlns:a="http://schemas.openxmlformats.org/drawingml/2006/main">
            <a:off x="895350" y="3486150"/>
            <a:ext cx="2514600" cy="266700"/>
          </a:xfrm>
          <a:prstGeom xmlns:a="http://schemas.openxmlformats.org/drawingml/2006/main" prst="roundRect">
            <a:avLst>
              <a:gd name="adj" fmla="val 28571"/>
            </a:avLst>
          </a:prstGeom>
          <a:solidFill xmlns:a="http://schemas.openxmlformats.org/drawingml/2006/main">
            <a:srgbClr val="EAF0FF"/>
          </a:solidFill>
          <a:ln xmlns:a="http://schemas.openxmlformats.org/drawingml/2006/main" w="9525">
            <a:solidFill>
              <a:srgbClr val="4F7CFF"/>
            </a:solidFill>
            <a:prstDash val="solid"/>
          </a:ln>
        </p:spPr>
      </p:sp>
      <p:sp>
        <p:nvSpPr>
          <p:cNvPr id="18" name="">
            <a:extLst xmlns:a="http://schemas.openxmlformats.org/drawingml/2006/main">
              <a:ext uri="{FF2B5EF4-FFF2-40B4-BE49-F238E27FC236}">
                <a16:creationId xmlns:a16="http://schemas.microsoft.com/office/drawing/2014/main" id="{4752262A-908A-449A-813F-FF2C8FBD6ECF}"/>
              </a:ext>
            </a:extLst>
          </p:cNvPr>
          <p:cNvSpPr>
            <a:spLocks xmlns:a="http://schemas.openxmlformats.org/drawingml/2006/main" noGrp="1"/>
          </p:cNvSpPr>
          <p:nvPr/>
        </p:nvSpPr>
        <p:spPr>
          <a:xfrm xmlns:a="http://schemas.openxmlformats.org/drawingml/2006/main">
            <a:off x="962025" y="3543300"/>
            <a:ext cx="2381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4F7CFF"/>
                </a:solidFill>
                <a:latin typeface="Aptos"/>
                <a:ea typeface="Aptos"/>
                <a:cs typeface="Aptos"/>
              </a:defRPr>
            </a:pPr>
            <a:r>
              <a:rPr sz="825" b="1">
                <a:solidFill>
                  <a:srgbClr val="4F7CFF"/>
                </a:solidFill>
                <a:latin typeface="Aptos"/>
                <a:ea typeface="Aptos"/>
                <a:cs typeface="Aptos"/>
              </a:rPr>
              <a:t>CycloneDX + PURLs</a:t>
            </a:r>
          </a:p>
        </p:txBody>
      </p:sp>
      <p:sp>
        <p:nvSpPr>
          <p:cNvPr id="19" name="">
            <a:extLst xmlns:a="http://schemas.openxmlformats.org/drawingml/2006/main">
              <a:ext uri="{FF2B5EF4-FFF2-40B4-BE49-F238E27FC236}">
                <a16:creationId xmlns:a16="http://schemas.microsoft.com/office/drawing/2014/main" id="{B81ECF69-20FC-4416-94E0-C17C10B5CD18}"/>
              </a:ext>
            </a:extLst>
          </p:cNvPr>
          <p:cNvSpPr>
            <a:spLocks xmlns:a="http://schemas.openxmlformats.org/drawingml/2006/main" noGrp="1"/>
          </p:cNvSpPr>
          <p:nvPr/>
        </p:nvSpPr>
        <p:spPr>
          <a:xfrm xmlns:a="http://schemas.openxmlformats.org/drawingml/2006/main">
            <a:off x="895350" y="3943350"/>
            <a:ext cx="2514600" cy="266700"/>
          </a:xfrm>
          <a:prstGeom xmlns:a="http://schemas.openxmlformats.org/drawingml/2006/main" prst="roundRect">
            <a:avLst>
              <a:gd name="adj" fmla="val 28571"/>
            </a:avLst>
          </a:prstGeom>
          <a:solidFill xmlns:a="http://schemas.openxmlformats.org/drawingml/2006/main">
            <a:srgbClr val="E4F7F4"/>
          </a:solidFill>
          <a:ln xmlns:a="http://schemas.openxmlformats.org/drawingml/2006/main" w="9525">
            <a:solidFill>
              <a:srgbClr val="24BFAE"/>
            </a:solidFill>
            <a:prstDash val="solid"/>
          </a:ln>
        </p:spPr>
      </p:sp>
      <p:sp>
        <p:nvSpPr>
          <p:cNvPr id="20" name="">
            <a:extLst xmlns:a="http://schemas.openxmlformats.org/drawingml/2006/main">
              <a:ext uri="{FF2B5EF4-FFF2-40B4-BE49-F238E27FC236}">
                <a16:creationId xmlns:a16="http://schemas.microsoft.com/office/drawing/2014/main" id="{EF683121-1508-49AD-8320-14DB7E949E72}"/>
              </a:ext>
            </a:extLst>
          </p:cNvPr>
          <p:cNvSpPr>
            <a:spLocks xmlns:a="http://schemas.openxmlformats.org/drawingml/2006/main" noGrp="1"/>
          </p:cNvSpPr>
          <p:nvPr/>
        </p:nvSpPr>
        <p:spPr>
          <a:xfrm xmlns:a="http://schemas.openxmlformats.org/drawingml/2006/main">
            <a:off x="962025" y="4000500"/>
            <a:ext cx="2381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24BFAE"/>
                </a:solidFill>
                <a:latin typeface="Aptos"/>
                <a:ea typeface="Aptos"/>
                <a:cs typeface="Aptos"/>
              </a:defRPr>
            </a:pPr>
            <a:r>
              <a:rPr sz="825" b="1">
                <a:solidFill>
                  <a:srgbClr val="24BFAE"/>
                </a:solidFill>
                <a:latin typeface="Aptos"/>
                <a:ea typeface="Aptos"/>
                <a:cs typeface="Aptos"/>
              </a:rPr>
              <a:t>OSV: 0 vulnerabilities</a:t>
            </a:r>
          </a:p>
        </p:txBody>
      </p:sp>
      <p:sp>
        <p:nvSpPr>
          <p:cNvPr id="21" name="">
            <a:extLst xmlns:a="http://schemas.openxmlformats.org/drawingml/2006/main">
              <a:ext uri="{FF2B5EF4-FFF2-40B4-BE49-F238E27FC236}">
                <a16:creationId xmlns:a16="http://schemas.microsoft.com/office/drawing/2014/main" id="{5AD4AF2E-38A9-48D6-B72D-CF4A7D2B9B9A}"/>
              </a:ext>
            </a:extLst>
          </p:cNvPr>
          <p:cNvSpPr>
            <a:spLocks xmlns:a="http://schemas.openxmlformats.org/drawingml/2006/main" noGrp="1"/>
          </p:cNvSpPr>
          <p:nvPr/>
        </p:nvSpPr>
        <p:spPr>
          <a:xfrm xmlns:a="http://schemas.openxmlformats.org/drawingml/2006/main">
            <a:off x="895350" y="4667250"/>
            <a:ext cx="2514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5E6B7D"/>
                </a:solidFill>
                <a:latin typeface="Aptos"/>
                <a:ea typeface="Aptos"/>
                <a:cs typeface="Aptos"/>
              </a:defRPr>
            </a:pPr>
            <a:r>
              <a:rPr sz="1050" b="1">
                <a:solidFill>
                  <a:srgbClr val="5E6B7D"/>
                </a:solidFill>
                <a:latin typeface="Aptos"/>
                <a:ea typeface="Aptos"/>
                <a:cs typeface="Aptos"/>
              </a:rPr>
              <a:t>Clean F-Droid control</a:t>
            </a:r>
          </a:p>
        </p:txBody>
      </p:sp>
      <p:sp>
        <p:nvSpPr>
          <p:cNvPr id="22" name="">
            <a:extLst xmlns:a="http://schemas.openxmlformats.org/drawingml/2006/main">
              <a:ext uri="{FF2B5EF4-FFF2-40B4-BE49-F238E27FC236}">
                <a16:creationId xmlns:a16="http://schemas.microsoft.com/office/drawing/2014/main" id="{C2A15ABB-9A84-4C1E-BF22-007816DC78DF}"/>
              </a:ext>
            </a:extLst>
          </p:cNvPr>
          <p:cNvSpPr>
            <a:spLocks xmlns:a="http://schemas.openxmlformats.org/drawingml/2006/main" noGrp="1"/>
          </p:cNvSpPr>
          <p:nvPr/>
        </p:nvSpPr>
        <p:spPr>
          <a:xfrm xmlns:a="http://schemas.openxmlformats.org/drawingml/2006/main">
            <a:off x="4362450" y="1581150"/>
            <a:ext cx="3448050" cy="3657600"/>
          </a:xfrm>
          <a:prstGeom xmlns:a="http://schemas.openxmlformats.org/drawingml/2006/main" prst="roundRect">
            <a:avLst>
              <a:gd name="adj" fmla="val 2210"/>
            </a:avLst>
          </a:prstGeom>
          <a:solidFill xmlns:a="http://schemas.openxmlformats.org/drawingml/2006/main">
            <a:srgbClr val="FFFFFF"/>
          </a:solidFill>
          <a:ln xmlns:a="http://schemas.openxmlformats.org/drawingml/2006/main" w="9525">
            <a:solidFill>
              <a:srgbClr val="D8E0EA"/>
            </a:solidFill>
            <a:prstDash val="solid"/>
          </a:ln>
        </p:spPr>
      </p:sp>
      <p:sp>
        <p:nvSpPr>
          <p:cNvPr id="23" name="">
            <a:extLst xmlns:a="http://schemas.openxmlformats.org/drawingml/2006/main">
              <a:ext uri="{FF2B5EF4-FFF2-40B4-BE49-F238E27FC236}">
                <a16:creationId xmlns:a16="http://schemas.microsoft.com/office/drawing/2014/main" id="{D786C98C-F91C-4154-86DB-E3C496FCDC73}"/>
              </a:ext>
            </a:extLst>
          </p:cNvPr>
          <p:cNvSpPr>
            <a:spLocks xmlns:a="http://schemas.openxmlformats.org/drawingml/2006/main" noGrp="1"/>
          </p:cNvSpPr>
          <p:nvPr/>
        </p:nvSpPr>
        <p:spPr>
          <a:xfrm xmlns:a="http://schemas.openxmlformats.org/drawingml/2006/main">
            <a:off x="4362450" y="1581150"/>
            <a:ext cx="3448050" cy="323850"/>
          </a:xfrm>
          <a:prstGeom xmlns:a="http://schemas.openxmlformats.org/drawingml/2006/main" prst="rect">
            <a:avLst/>
          </a:prstGeom>
          <a:solidFill xmlns:a="http://schemas.openxmlformats.org/drawingml/2006/main">
            <a:srgbClr val="111B2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899C51C7-8B81-4500-9FB4-DF7706EBB17B}"/>
              </a:ext>
            </a:extLst>
          </p:cNvPr>
          <p:cNvSpPr>
            <a:spLocks xmlns:a="http://schemas.openxmlformats.org/drawingml/2006/main" noGrp="1"/>
          </p:cNvSpPr>
          <p:nvPr/>
        </p:nvSpPr>
        <p:spPr>
          <a:xfrm xmlns:a="http://schemas.openxmlformats.org/drawingml/2006/main">
            <a:off x="4495800" y="1695450"/>
            <a:ext cx="85725" cy="85725"/>
          </a:xfrm>
          <a:prstGeom xmlns:a="http://schemas.openxmlformats.org/drawingml/2006/main" prst="ellipse">
            <a:avLst/>
          </a:prstGeom>
          <a:solidFill xmlns:a="http://schemas.openxmlformats.org/drawingml/2006/main">
            <a:srgbClr val="F0646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9E3F1ADA-AF8D-4164-B3D0-857699F8B083}"/>
              </a:ext>
            </a:extLst>
          </p:cNvPr>
          <p:cNvSpPr>
            <a:spLocks xmlns:a="http://schemas.openxmlformats.org/drawingml/2006/main" noGrp="1"/>
          </p:cNvSpPr>
          <p:nvPr/>
        </p:nvSpPr>
        <p:spPr>
          <a:xfrm xmlns:a="http://schemas.openxmlformats.org/drawingml/2006/main">
            <a:off x="4648200" y="1695450"/>
            <a:ext cx="85725" cy="85725"/>
          </a:xfrm>
          <a:prstGeom xmlns:a="http://schemas.openxmlformats.org/drawingml/2006/main" prst="ellipse">
            <a:avLst/>
          </a:prstGeom>
          <a:solidFill xmlns:a="http://schemas.openxmlformats.org/drawingml/2006/main">
            <a:srgbClr val="E8AA3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312198FA-7F55-4990-B220-592B3C0390B1}"/>
              </a:ext>
            </a:extLst>
          </p:cNvPr>
          <p:cNvSpPr>
            <a:spLocks xmlns:a="http://schemas.openxmlformats.org/drawingml/2006/main" noGrp="1"/>
          </p:cNvSpPr>
          <p:nvPr/>
        </p:nvSpPr>
        <p:spPr>
          <a:xfrm xmlns:a="http://schemas.openxmlformats.org/drawingml/2006/main">
            <a:off x="4800600" y="1695450"/>
            <a:ext cx="85725" cy="85725"/>
          </a:xfrm>
          <a:prstGeom xmlns:a="http://schemas.openxmlformats.org/drawingml/2006/main" prst="ellipse">
            <a:avLst/>
          </a:prstGeom>
          <a:solidFill xmlns:a="http://schemas.openxmlformats.org/drawingml/2006/main">
            <a:srgbClr val="9DCC3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7A48B423-8662-4AF9-8C98-9B7FCA204817}"/>
              </a:ext>
            </a:extLst>
          </p:cNvPr>
          <p:cNvSpPr>
            <a:spLocks xmlns:a="http://schemas.openxmlformats.org/drawingml/2006/main" noGrp="1"/>
          </p:cNvSpPr>
          <p:nvPr/>
        </p:nvSpPr>
        <p:spPr>
          <a:xfrm xmlns:a="http://schemas.openxmlformats.org/drawingml/2006/main">
            <a:off x="5010150" y="1666875"/>
            <a:ext cx="2647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vulnerable-fixture / report.html</a:t>
            </a:r>
          </a:p>
        </p:txBody>
      </p:sp>
      <p:sp>
        <p:nvSpPr>
          <p:cNvPr id="28" name="">
            <a:extLst xmlns:a="http://schemas.openxmlformats.org/drawingml/2006/main">
              <a:ext uri="{FF2B5EF4-FFF2-40B4-BE49-F238E27FC236}">
                <a16:creationId xmlns:a16="http://schemas.microsoft.com/office/drawing/2014/main" id="{78DC0D5F-1EA2-4C78-9A05-E86C963AD168}"/>
              </a:ext>
            </a:extLst>
          </p:cNvPr>
          <p:cNvSpPr>
            <a:spLocks xmlns:a="http://schemas.openxmlformats.org/drawingml/2006/main" noGrp="1"/>
          </p:cNvSpPr>
          <p:nvPr/>
        </p:nvSpPr>
        <p:spPr>
          <a:xfrm xmlns:a="http://schemas.openxmlformats.org/drawingml/2006/main">
            <a:off x="4533900" y="2076450"/>
            <a:ext cx="57150" cy="2971800"/>
          </a:xfrm>
          <a:prstGeom xmlns:a="http://schemas.openxmlformats.org/drawingml/2006/main" prst="rect">
            <a:avLst/>
          </a:prstGeom>
          <a:solidFill xmlns:a="http://schemas.openxmlformats.org/drawingml/2006/main">
            <a:srgbClr val="F06464"/>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47E8E53E-5B12-4A5A-A4F7-CEF05D0C1D6B}"/>
              </a:ext>
            </a:extLst>
          </p:cNvPr>
          <p:cNvSpPr>
            <a:spLocks xmlns:a="http://schemas.openxmlformats.org/drawingml/2006/main" noGrp="1"/>
          </p:cNvSpPr>
          <p:nvPr/>
        </p:nvSpPr>
        <p:spPr>
          <a:xfrm xmlns:a="http://schemas.openxmlformats.org/drawingml/2006/main">
            <a:off x="4667250" y="2266950"/>
            <a:ext cx="76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F06464"/>
                </a:solidFill>
                <a:latin typeface="Aptos"/>
                <a:ea typeface="Aptos"/>
                <a:cs typeface="Aptos"/>
              </a:defRPr>
            </a:pPr>
            <a:r>
              <a:rPr sz="3000" b="1">
                <a:solidFill>
                  <a:srgbClr val="F06464"/>
                </a:solidFill>
                <a:latin typeface="Aptos"/>
                <a:ea typeface="Aptos"/>
                <a:cs typeface="Aptos"/>
              </a:rPr>
              <a:t>3</a:t>
            </a:r>
          </a:p>
        </p:txBody>
      </p:sp>
      <p:sp>
        <p:nvSpPr>
          <p:cNvPr id="30" name="">
            <a:extLst xmlns:a="http://schemas.openxmlformats.org/drawingml/2006/main">
              <a:ext uri="{FF2B5EF4-FFF2-40B4-BE49-F238E27FC236}">
                <a16:creationId xmlns:a16="http://schemas.microsoft.com/office/drawing/2014/main" id="{29FD15C7-4657-4CCA-B85E-1980EE731355}"/>
              </a:ext>
            </a:extLst>
          </p:cNvPr>
          <p:cNvSpPr>
            <a:spLocks xmlns:a="http://schemas.openxmlformats.org/drawingml/2006/main" noGrp="1"/>
          </p:cNvSpPr>
          <p:nvPr/>
        </p:nvSpPr>
        <p:spPr>
          <a:xfrm xmlns:a="http://schemas.openxmlformats.org/drawingml/2006/main">
            <a:off x="5391150" y="24193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01827"/>
                </a:solidFill>
                <a:latin typeface="Aptos"/>
                <a:ea typeface="Aptos"/>
                <a:cs typeface="Aptos"/>
              </a:defRPr>
            </a:pPr>
            <a:r>
              <a:rPr sz="1050" b="1">
                <a:solidFill>
                  <a:srgbClr val="101827"/>
                </a:solidFill>
                <a:latin typeface="Aptos"/>
                <a:ea typeface="Aptos"/>
                <a:cs typeface="Aptos"/>
              </a:rPr>
              <a:t>confirmed HIGH advisories</a:t>
            </a:r>
          </a:p>
        </p:txBody>
      </p:sp>
      <p:sp>
        <p:nvSpPr>
          <p:cNvPr id="31" name="">
            <a:extLst xmlns:a="http://schemas.openxmlformats.org/drawingml/2006/main">
              <a:ext uri="{FF2B5EF4-FFF2-40B4-BE49-F238E27FC236}">
                <a16:creationId xmlns:a16="http://schemas.microsoft.com/office/drawing/2014/main" id="{38D502C3-ACA9-4A82-BE79-E4A73031AC24}"/>
              </a:ext>
            </a:extLst>
          </p:cNvPr>
          <p:cNvSpPr>
            <a:spLocks xmlns:a="http://schemas.openxmlformats.org/drawingml/2006/main" noGrp="1"/>
          </p:cNvSpPr>
          <p:nvPr/>
        </p:nvSpPr>
        <p:spPr>
          <a:xfrm xmlns:a="http://schemas.openxmlformats.org/drawingml/2006/main">
            <a:off x="4667250" y="3028950"/>
            <a:ext cx="2514600" cy="266700"/>
          </a:xfrm>
          <a:prstGeom xmlns:a="http://schemas.openxmlformats.org/drawingml/2006/main" prst="roundRect">
            <a:avLst>
              <a:gd name="adj" fmla="val 28571"/>
            </a:avLst>
          </a:prstGeom>
          <a:solidFill xmlns:a="http://schemas.openxmlformats.org/drawingml/2006/main">
            <a:srgbClr val="FCE8E8"/>
          </a:solidFill>
          <a:ln xmlns:a="http://schemas.openxmlformats.org/drawingml/2006/main" w="9525">
            <a:solidFill>
              <a:srgbClr val="F06464"/>
            </a:solidFill>
            <a:prstDash val="solid"/>
          </a:ln>
        </p:spPr>
      </p:sp>
      <p:sp>
        <p:nvSpPr>
          <p:cNvPr id="32" name="">
            <a:extLst xmlns:a="http://schemas.openxmlformats.org/drawingml/2006/main">
              <a:ext uri="{FF2B5EF4-FFF2-40B4-BE49-F238E27FC236}">
                <a16:creationId xmlns:a16="http://schemas.microsoft.com/office/drawing/2014/main" id="{0AFD6F3F-9E56-4818-B5BB-84B40135D55E}"/>
              </a:ext>
            </a:extLst>
          </p:cNvPr>
          <p:cNvSpPr>
            <a:spLocks xmlns:a="http://schemas.openxmlformats.org/drawingml/2006/main" noGrp="1"/>
          </p:cNvSpPr>
          <p:nvPr/>
        </p:nvSpPr>
        <p:spPr>
          <a:xfrm xmlns:a="http://schemas.openxmlformats.org/drawingml/2006/main">
            <a:off x="4733925" y="3086100"/>
            <a:ext cx="2381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F06464"/>
                </a:solidFill>
                <a:latin typeface="Aptos"/>
                <a:ea typeface="Aptos"/>
                <a:cs typeface="Aptos"/>
              </a:defRPr>
            </a:pPr>
            <a:r>
              <a:rPr sz="825" b="1">
                <a:solidFill>
                  <a:srgbClr val="F06464"/>
                </a:solidFill>
                <a:latin typeface="Aptos"/>
                <a:ea typeface="Aptos"/>
                <a:cs typeface="Aptos"/>
              </a:rPr>
              <a:t>CVE-2020-36518</a:t>
            </a:r>
          </a:p>
        </p:txBody>
      </p:sp>
      <p:sp>
        <p:nvSpPr>
          <p:cNvPr id="33" name="">
            <a:extLst xmlns:a="http://schemas.openxmlformats.org/drawingml/2006/main">
              <a:ext uri="{FF2B5EF4-FFF2-40B4-BE49-F238E27FC236}">
                <a16:creationId xmlns:a16="http://schemas.microsoft.com/office/drawing/2014/main" id="{A00C4BC4-DC76-46B6-814F-22F38FB6ED45}"/>
              </a:ext>
            </a:extLst>
          </p:cNvPr>
          <p:cNvSpPr>
            <a:spLocks xmlns:a="http://schemas.openxmlformats.org/drawingml/2006/main" noGrp="1"/>
          </p:cNvSpPr>
          <p:nvPr/>
        </p:nvSpPr>
        <p:spPr>
          <a:xfrm xmlns:a="http://schemas.openxmlformats.org/drawingml/2006/main">
            <a:off x="4667250" y="3486150"/>
            <a:ext cx="2514600" cy="266700"/>
          </a:xfrm>
          <a:prstGeom xmlns:a="http://schemas.openxmlformats.org/drawingml/2006/main" prst="roundRect">
            <a:avLst>
              <a:gd name="adj" fmla="val 28571"/>
            </a:avLst>
          </a:prstGeom>
          <a:solidFill xmlns:a="http://schemas.openxmlformats.org/drawingml/2006/main">
            <a:srgbClr val="FCE8E8"/>
          </a:solidFill>
          <a:ln xmlns:a="http://schemas.openxmlformats.org/drawingml/2006/main" w="9525">
            <a:solidFill>
              <a:srgbClr val="F06464"/>
            </a:solidFill>
            <a:prstDash val="solid"/>
          </a:ln>
        </p:spPr>
      </p:sp>
      <p:sp>
        <p:nvSpPr>
          <p:cNvPr id="34" name="">
            <a:extLst xmlns:a="http://schemas.openxmlformats.org/drawingml/2006/main">
              <a:ext uri="{FF2B5EF4-FFF2-40B4-BE49-F238E27FC236}">
                <a16:creationId xmlns:a16="http://schemas.microsoft.com/office/drawing/2014/main" id="{CD91E9D7-673A-4B0D-8FCA-7ED82A09C64A}"/>
              </a:ext>
            </a:extLst>
          </p:cNvPr>
          <p:cNvSpPr>
            <a:spLocks xmlns:a="http://schemas.openxmlformats.org/drawingml/2006/main" noGrp="1"/>
          </p:cNvSpPr>
          <p:nvPr/>
        </p:nvSpPr>
        <p:spPr>
          <a:xfrm xmlns:a="http://schemas.openxmlformats.org/drawingml/2006/main">
            <a:off x="4733925" y="3543300"/>
            <a:ext cx="2381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F06464"/>
                </a:solidFill>
                <a:latin typeface="Aptos"/>
                <a:ea typeface="Aptos"/>
                <a:cs typeface="Aptos"/>
              </a:defRPr>
            </a:pPr>
            <a:r>
              <a:rPr sz="825" b="1">
                <a:solidFill>
                  <a:srgbClr val="F06464"/>
                </a:solidFill>
                <a:latin typeface="Aptos"/>
                <a:ea typeface="Aptos"/>
                <a:cs typeface="Aptos"/>
              </a:rPr>
              <a:t>CVE-2022-42003</a:t>
            </a:r>
          </a:p>
        </p:txBody>
      </p:sp>
      <p:sp>
        <p:nvSpPr>
          <p:cNvPr id="35" name="">
            <a:extLst xmlns:a="http://schemas.openxmlformats.org/drawingml/2006/main">
              <a:ext uri="{FF2B5EF4-FFF2-40B4-BE49-F238E27FC236}">
                <a16:creationId xmlns:a16="http://schemas.microsoft.com/office/drawing/2014/main" id="{F93C3701-E9DD-484F-BFDC-EB377ED09777}"/>
              </a:ext>
            </a:extLst>
          </p:cNvPr>
          <p:cNvSpPr>
            <a:spLocks xmlns:a="http://schemas.openxmlformats.org/drawingml/2006/main" noGrp="1"/>
          </p:cNvSpPr>
          <p:nvPr/>
        </p:nvSpPr>
        <p:spPr>
          <a:xfrm xmlns:a="http://schemas.openxmlformats.org/drawingml/2006/main">
            <a:off x="4667250" y="3943350"/>
            <a:ext cx="2514600" cy="266700"/>
          </a:xfrm>
          <a:prstGeom xmlns:a="http://schemas.openxmlformats.org/drawingml/2006/main" prst="roundRect">
            <a:avLst>
              <a:gd name="adj" fmla="val 28571"/>
            </a:avLst>
          </a:prstGeom>
          <a:solidFill xmlns:a="http://schemas.openxmlformats.org/drawingml/2006/main">
            <a:srgbClr val="FCE8E8"/>
          </a:solidFill>
          <a:ln xmlns:a="http://schemas.openxmlformats.org/drawingml/2006/main" w="9525">
            <a:solidFill>
              <a:srgbClr val="F06464"/>
            </a:solidFill>
            <a:prstDash val="solid"/>
          </a:ln>
        </p:spPr>
      </p:sp>
      <p:sp>
        <p:nvSpPr>
          <p:cNvPr id="36" name="">
            <a:extLst xmlns:a="http://schemas.openxmlformats.org/drawingml/2006/main">
              <a:ext uri="{FF2B5EF4-FFF2-40B4-BE49-F238E27FC236}">
                <a16:creationId xmlns:a16="http://schemas.microsoft.com/office/drawing/2014/main" id="{F9624E39-2523-4CB4-8855-EBFB165F528F}"/>
              </a:ext>
            </a:extLst>
          </p:cNvPr>
          <p:cNvSpPr>
            <a:spLocks xmlns:a="http://schemas.openxmlformats.org/drawingml/2006/main" noGrp="1"/>
          </p:cNvSpPr>
          <p:nvPr/>
        </p:nvSpPr>
        <p:spPr>
          <a:xfrm xmlns:a="http://schemas.openxmlformats.org/drawingml/2006/main">
            <a:off x="4733925" y="4000500"/>
            <a:ext cx="2381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F06464"/>
                </a:solidFill>
                <a:latin typeface="Aptos"/>
                <a:ea typeface="Aptos"/>
                <a:cs typeface="Aptos"/>
              </a:defRPr>
            </a:pPr>
            <a:r>
              <a:rPr sz="825" b="1">
                <a:solidFill>
                  <a:srgbClr val="F06464"/>
                </a:solidFill>
                <a:latin typeface="Aptos"/>
                <a:ea typeface="Aptos"/>
                <a:cs typeface="Aptos"/>
              </a:rPr>
              <a:t>CVE-2022-42004</a:t>
            </a:r>
          </a:p>
        </p:txBody>
      </p:sp>
      <p:sp>
        <p:nvSpPr>
          <p:cNvPr id="37" name="">
            <a:extLst xmlns:a="http://schemas.openxmlformats.org/drawingml/2006/main">
              <a:ext uri="{FF2B5EF4-FFF2-40B4-BE49-F238E27FC236}">
                <a16:creationId xmlns:a16="http://schemas.microsoft.com/office/drawing/2014/main" id="{2EE98ED7-F4C6-4660-95E3-1715B4F51292}"/>
              </a:ext>
            </a:extLst>
          </p:cNvPr>
          <p:cNvSpPr>
            <a:spLocks xmlns:a="http://schemas.openxmlformats.org/drawingml/2006/main" noGrp="1"/>
          </p:cNvSpPr>
          <p:nvPr/>
        </p:nvSpPr>
        <p:spPr>
          <a:xfrm xmlns:a="http://schemas.openxmlformats.org/drawingml/2006/main">
            <a:off x="4667250" y="4667250"/>
            <a:ext cx="2514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5E6B7D"/>
                </a:solidFill>
                <a:latin typeface="Aptos"/>
                <a:ea typeface="Aptos"/>
                <a:cs typeface="Aptos"/>
              </a:defRPr>
            </a:pPr>
            <a:r>
              <a:rPr sz="1050" b="1">
                <a:solidFill>
                  <a:srgbClr val="5E6B7D"/>
                </a:solidFill>
                <a:latin typeface="Aptos"/>
                <a:ea typeface="Aptos"/>
                <a:cs typeface="Aptos"/>
              </a:rPr>
              <a:t>Jackson Databind 2.9.10.8</a:t>
            </a:r>
          </a:p>
        </p:txBody>
      </p:sp>
      <p:sp>
        <p:nvSpPr>
          <p:cNvPr id="38" name="">
            <a:extLst xmlns:a="http://schemas.openxmlformats.org/drawingml/2006/main">
              <a:ext uri="{FF2B5EF4-FFF2-40B4-BE49-F238E27FC236}">
                <a16:creationId xmlns:a16="http://schemas.microsoft.com/office/drawing/2014/main" id="{4B5A24EA-166F-499E-8194-7C6F1359754F}"/>
              </a:ext>
            </a:extLst>
          </p:cNvPr>
          <p:cNvSpPr>
            <a:spLocks xmlns:a="http://schemas.openxmlformats.org/drawingml/2006/main" noGrp="1"/>
          </p:cNvSpPr>
          <p:nvPr/>
        </p:nvSpPr>
        <p:spPr>
          <a:xfrm xmlns:a="http://schemas.openxmlformats.org/drawingml/2006/main">
            <a:off x="8134350" y="1581150"/>
            <a:ext cx="3448050" cy="3657600"/>
          </a:xfrm>
          <a:prstGeom xmlns:a="http://schemas.openxmlformats.org/drawingml/2006/main" prst="roundRect">
            <a:avLst>
              <a:gd name="adj" fmla="val 2210"/>
            </a:avLst>
          </a:prstGeom>
          <a:solidFill xmlns:a="http://schemas.openxmlformats.org/drawingml/2006/main">
            <a:srgbClr val="FFFFFF"/>
          </a:solidFill>
          <a:ln xmlns:a="http://schemas.openxmlformats.org/drawingml/2006/main" w="9525">
            <a:solidFill>
              <a:srgbClr val="D8E0EA"/>
            </a:solidFill>
            <a:prstDash val="solid"/>
          </a:ln>
        </p:spPr>
      </p:sp>
      <p:sp>
        <p:nvSpPr>
          <p:cNvPr id="39" name="">
            <a:extLst xmlns:a="http://schemas.openxmlformats.org/drawingml/2006/main">
              <a:ext uri="{FF2B5EF4-FFF2-40B4-BE49-F238E27FC236}">
                <a16:creationId xmlns:a16="http://schemas.microsoft.com/office/drawing/2014/main" id="{362056DD-93E4-4722-9AD3-9794FD291A3F}"/>
              </a:ext>
            </a:extLst>
          </p:cNvPr>
          <p:cNvSpPr>
            <a:spLocks xmlns:a="http://schemas.openxmlformats.org/drawingml/2006/main" noGrp="1"/>
          </p:cNvSpPr>
          <p:nvPr/>
        </p:nvSpPr>
        <p:spPr>
          <a:xfrm xmlns:a="http://schemas.openxmlformats.org/drawingml/2006/main">
            <a:off x="8134350" y="1581150"/>
            <a:ext cx="3448050" cy="323850"/>
          </a:xfrm>
          <a:prstGeom xmlns:a="http://schemas.openxmlformats.org/drawingml/2006/main" prst="rect">
            <a:avLst/>
          </a:prstGeom>
          <a:solidFill xmlns:a="http://schemas.openxmlformats.org/drawingml/2006/main">
            <a:srgbClr val="111B2E"/>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76097F3A-3A14-4F2A-8A3E-5406EF2FF598}"/>
              </a:ext>
            </a:extLst>
          </p:cNvPr>
          <p:cNvSpPr>
            <a:spLocks xmlns:a="http://schemas.openxmlformats.org/drawingml/2006/main" noGrp="1"/>
          </p:cNvSpPr>
          <p:nvPr/>
        </p:nvSpPr>
        <p:spPr>
          <a:xfrm xmlns:a="http://schemas.openxmlformats.org/drawingml/2006/main">
            <a:off x="8267700" y="1695450"/>
            <a:ext cx="85725" cy="85725"/>
          </a:xfrm>
          <a:prstGeom xmlns:a="http://schemas.openxmlformats.org/drawingml/2006/main" prst="ellipse">
            <a:avLst/>
          </a:prstGeom>
          <a:solidFill xmlns:a="http://schemas.openxmlformats.org/drawingml/2006/main">
            <a:srgbClr val="F06464"/>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DF643A62-D3EB-49C3-B819-F02097C8A0B9}"/>
              </a:ext>
            </a:extLst>
          </p:cNvPr>
          <p:cNvSpPr>
            <a:spLocks xmlns:a="http://schemas.openxmlformats.org/drawingml/2006/main" noGrp="1"/>
          </p:cNvSpPr>
          <p:nvPr/>
        </p:nvSpPr>
        <p:spPr>
          <a:xfrm xmlns:a="http://schemas.openxmlformats.org/drawingml/2006/main">
            <a:off x="8420100" y="1695450"/>
            <a:ext cx="85725" cy="85725"/>
          </a:xfrm>
          <a:prstGeom xmlns:a="http://schemas.openxmlformats.org/drawingml/2006/main" prst="ellipse">
            <a:avLst/>
          </a:prstGeom>
          <a:solidFill xmlns:a="http://schemas.openxmlformats.org/drawingml/2006/main">
            <a:srgbClr val="E8AA3B"/>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8A95A60D-347A-4467-8FDC-1595BE04D914}"/>
              </a:ext>
            </a:extLst>
          </p:cNvPr>
          <p:cNvSpPr>
            <a:spLocks xmlns:a="http://schemas.openxmlformats.org/drawingml/2006/main" noGrp="1"/>
          </p:cNvSpPr>
          <p:nvPr/>
        </p:nvSpPr>
        <p:spPr>
          <a:xfrm xmlns:a="http://schemas.openxmlformats.org/drawingml/2006/main">
            <a:off x="8572500" y="1695450"/>
            <a:ext cx="85725" cy="85725"/>
          </a:xfrm>
          <a:prstGeom xmlns:a="http://schemas.openxmlformats.org/drawingml/2006/main" prst="ellipse">
            <a:avLst/>
          </a:prstGeom>
          <a:solidFill xmlns:a="http://schemas.openxmlformats.org/drawingml/2006/main">
            <a:srgbClr val="9DCC3B"/>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78AB573A-C1D6-437C-8BE7-755C353A8568}"/>
              </a:ext>
            </a:extLst>
          </p:cNvPr>
          <p:cNvSpPr>
            <a:spLocks xmlns:a="http://schemas.openxmlformats.org/drawingml/2006/main" noGrp="1"/>
          </p:cNvSpPr>
          <p:nvPr/>
        </p:nvSpPr>
        <p:spPr>
          <a:xfrm xmlns:a="http://schemas.openxmlformats.org/drawingml/2006/main">
            <a:off x="8782050" y="1666875"/>
            <a:ext cx="2647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transparency-export.json</a:t>
            </a:r>
          </a:p>
        </p:txBody>
      </p:sp>
      <p:sp>
        <p:nvSpPr>
          <p:cNvPr id="44" name="">
            <a:extLst xmlns:a="http://schemas.openxmlformats.org/drawingml/2006/main">
              <a:ext uri="{FF2B5EF4-FFF2-40B4-BE49-F238E27FC236}">
                <a16:creationId xmlns:a16="http://schemas.microsoft.com/office/drawing/2014/main" id="{64623FE0-5BEC-4552-BA9F-E58A7E5C56D0}"/>
              </a:ext>
            </a:extLst>
          </p:cNvPr>
          <p:cNvSpPr>
            <a:spLocks xmlns:a="http://schemas.openxmlformats.org/drawingml/2006/main" noGrp="1"/>
          </p:cNvSpPr>
          <p:nvPr/>
        </p:nvSpPr>
        <p:spPr>
          <a:xfrm xmlns:a="http://schemas.openxmlformats.org/drawingml/2006/main">
            <a:off x="8305800" y="2076450"/>
            <a:ext cx="57150" cy="2971800"/>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66559D26-CDDC-4E64-8227-50986FA8A5C2}"/>
              </a:ext>
            </a:extLst>
          </p:cNvPr>
          <p:cNvSpPr>
            <a:spLocks xmlns:a="http://schemas.openxmlformats.org/drawingml/2006/main" noGrp="1"/>
          </p:cNvSpPr>
          <p:nvPr/>
        </p:nvSpPr>
        <p:spPr>
          <a:xfrm xmlns:a="http://schemas.openxmlformats.org/drawingml/2006/main">
            <a:off x="8458200" y="21145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4F7CFF"/>
                </a:solidFill>
                <a:latin typeface="Aptos"/>
                <a:ea typeface="Aptos"/>
                <a:cs typeface="Aptos"/>
              </a:defRPr>
            </a:pPr>
            <a:r>
              <a:rPr sz="1500" b="1">
                <a:solidFill>
                  <a:srgbClr val="4F7CFF"/>
                </a:solidFill>
                <a:latin typeface="Aptos"/>
                <a:ea typeface="Aptos"/>
                <a:cs typeface="Aptos"/>
              </a:rPr>
              <a:t>12082</a:t>
            </a:r>
          </a:p>
        </p:txBody>
      </p:sp>
      <p:sp>
        <p:nvSpPr>
          <p:cNvPr id="46" name="">
            <a:extLst xmlns:a="http://schemas.openxmlformats.org/drawingml/2006/main">
              <a:ext uri="{FF2B5EF4-FFF2-40B4-BE49-F238E27FC236}">
                <a16:creationId xmlns:a16="http://schemas.microsoft.com/office/drawing/2014/main" id="{ABB41577-2FA2-452F-80C1-7C821BD0C01D}"/>
              </a:ext>
            </a:extLst>
          </p:cNvPr>
          <p:cNvSpPr>
            <a:spLocks xmlns:a="http://schemas.openxmlformats.org/drawingml/2006/main" noGrp="1"/>
          </p:cNvSpPr>
          <p:nvPr/>
        </p:nvSpPr>
        <p:spPr>
          <a:xfrm xmlns:a="http://schemas.openxmlformats.org/drawingml/2006/main">
            <a:off x="9486900" y="21526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D"/>
                </a:solidFill>
                <a:latin typeface="Aptos"/>
                <a:ea typeface="Aptos"/>
                <a:cs typeface="Aptos"/>
              </a:defRPr>
            </a:pPr>
            <a:r>
              <a:rPr sz="975" b="0">
                <a:solidFill>
                  <a:srgbClr val="5E6B7D"/>
                </a:solidFill>
                <a:latin typeface="Aptos"/>
                <a:ea typeface="Aptos"/>
                <a:cs typeface="Aptos"/>
              </a:rPr>
              <a:t>source rows</a:t>
            </a:r>
          </a:p>
        </p:txBody>
      </p:sp>
      <p:sp>
        <p:nvSpPr>
          <p:cNvPr id="47" name="">
            <a:extLst xmlns:a="http://schemas.openxmlformats.org/drawingml/2006/main">
              <a:ext uri="{FF2B5EF4-FFF2-40B4-BE49-F238E27FC236}">
                <a16:creationId xmlns:a16="http://schemas.microsoft.com/office/drawing/2014/main" id="{6BC54845-5520-4233-B347-527C2ED0C815}"/>
              </a:ext>
            </a:extLst>
          </p:cNvPr>
          <p:cNvSpPr>
            <a:spLocks xmlns:a="http://schemas.openxmlformats.org/drawingml/2006/main" noGrp="1"/>
          </p:cNvSpPr>
          <p:nvPr/>
        </p:nvSpPr>
        <p:spPr>
          <a:xfrm xmlns:a="http://schemas.openxmlformats.org/drawingml/2006/main">
            <a:off x="8458200" y="262890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4F7CFF"/>
                </a:solidFill>
                <a:latin typeface="Aptos"/>
                <a:ea typeface="Aptos"/>
                <a:cs typeface="Aptos"/>
              </a:defRPr>
            </a:pPr>
            <a:r>
              <a:rPr sz="1500" b="1">
                <a:solidFill>
                  <a:srgbClr val="4F7CFF"/>
                </a:solidFill>
                <a:latin typeface="Aptos"/>
                <a:ea typeface="Aptos"/>
                <a:cs typeface="Aptos"/>
              </a:rPr>
              <a:t>5238</a:t>
            </a:r>
          </a:p>
        </p:txBody>
      </p:sp>
      <p:sp>
        <p:nvSpPr>
          <p:cNvPr id="48" name="">
            <a:extLst xmlns:a="http://schemas.openxmlformats.org/drawingml/2006/main">
              <a:ext uri="{FF2B5EF4-FFF2-40B4-BE49-F238E27FC236}">
                <a16:creationId xmlns:a16="http://schemas.microsoft.com/office/drawing/2014/main" id="{A9399983-AA6B-455B-BD47-99DB817FC4CA}"/>
              </a:ext>
            </a:extLst>
          </p:cNvPr>
          <p:cNvSpPr>
            <a:spLocks xmlns:a="http://schemas.openxmlformats.org/drawingml/2006/main" noGrp="1"/>
          </p:cNvSpPr>
          <p:nvPr/>
        </p:nvSpPr>
        <p:spPr>
          <a:xfrm xmlns:a="http://schemas.openxmlformats.org/drawingml/2006/main">
            <a:off x="9486900" y="26670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D"/>
                </a:solidFill>
                <a:latin typeface="Aptos"/>
                <a:ea typeface="Aptos"/>
                <a:cs typeface="Aptos"/>
              </a:defRPr>
            </a:pPr>
            <a:r>
              <a:rPr sz="975" b="0">
                <a:solidFill>
                  <a:srgbClr val="5E6B7D"/>
                </a:solidFill>
                <a:latin typeface="Aptos"/>
                <a:ea typeface="Aptos"/>
                <a:cs typeface="Aptos"/>
              </a:rPr>
              <a:t>source gaps</a:t>
            </a:r>
          </a:p>
        </p:txBody>
      </p:sp>
      <p:sp>
        <p:nvSpPr>
          <p:cNvPr id="49" name="">
            <a:extLst xmlns:a="http://schemas.openxmlformats.org/drawingml/2006/main">
              <a:ext uri="{FF2B5EF4-FFF2-40B4-BE49-F238E27FC236}">
                <a16:creationId xmlns:a16="http://schemas.microsoft.com/office/drawing/2014/main" id="{D9D9C5E4-1E94-4690-B4B6-9D94B016A714}"/>
              </a:ext>
            </a:extLst>
          </p:cNvPr>
          <p:cNvSpPr>
            <a:spLocks xmlns:a="http://schemas.openxmlformats.org/drawingml/2006/main" noGrp="1"/>
          </p:cNvSpPr>
          <p:nvPr/>
        </p:nvSpPr>
        <p:spPr>
          <a:xfrm xmlns:a="http://schemas.openxmlformats.org/drawingml/2006/main">
            <a:off x="8458200" y="31432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101827"/>
                </a:solidFill>
                <a:latin typeface="Aptos"/>
                <a:ea typeface="Aptos"/>
                <a:cs typeface="Aptos"/>
              </a:defRPr>
            </a:pPr>
            <a:r>
              <a:rPr sz="1500" b="1">
                <a:solidFill>
                  <a:srgbClr val="101827"/>
                </a:solidFill>
                <a:latin typeface="Aptos"/>
                <a:ea typeface="Aptos"/>
                <a:cs typeface="Aptos"/>
              </a:rPr>
              <a:t>2515</a:t>
            </a:r>
          </a:p>
        </p:txBody>
      </p:sp>
      <p:sp>
        <p:nvSpPr>
          <p:cNvPr id="50" name="">
            <a:extLst xmlns:a="http://schemas.openxmlformats.org/drawingml/2006/main">
              <a:ext uri="{FF2B5EF4-FFF2-40B4-BE49-F238E27FC236}">
                <a16:creationId xmlns:a16="http://schemas.microsoft.com/office/drawing/2014/main" id="{A1F34A5F-7454-4834-99AC-9BD919F56392}"/>
              </a:ext>
            </a:extLst>
          </p:cNvPr>
          <p:cNvSpPr>
            <a:spLocks xmlns:a="http://schemas.openxmlformats.org/drawingml/2006/main" noGrp="1"/>
          </p:cNvSpPr>
          <p:nvPr/>
        </p:nvSpPr>
        <p:spPr>
          <a:xfrm xmlns:a="http://schemas.openxmlformats.org/drawingml/2006/main">
            <a:off x="9486900" y="31813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D"/>
                </a:solidFill>
                <a:latin typeface="Aptos"/>
                <a:ea typeface="Aptos"/>
                <a:cs typeface="Aptos"/>
              </a:defRPr>
            </a:pPr>
            <a:r>
              <a:rPr sz="975" b="0">
                <a:solidFill>
                  <a:srgbClr val="5E6B7D"/>
                </a:solidFill>
                <a:latin typeface="Aptos"/>
                <a:ea typeface="Aptos"/>
                <a:cs typeface="Aptos"/>
              </a:rPr>
              <a:t>explained / boundary</a:t>
            </a:r>
          </a:p>
        </p:txBody>
      </p:sp>
      <p:sp>
        <p:nvSpPr>
          <p:cNvPr id="51" name="">
            <a:extLst xmlns:a="http://schemas.openxmlformats.org/drawingml/2006/main">
              <a:ext uri="{FF2B5EF4-FFF2-40B4-BE49-F238E27FC236}">
                <a16:creationId xmlns:a16="http://schemas.microsoft.com/office/drawing/2014/main" id="{5EE6668E-1300-43A4-A54D-D3584C0896DA}"/>
              </a:ext>
            </a:extLst>
          </p:cNvPr>
          <p:cNvSpPr>
            <a:spLocks xmlns:a="http://schemas.openxmlformats.org/drawingml/2006/main" noGrp="1"/>
          </p:cNvSpPr>
          <p:nvPr/>
        </p:nvSpPr>
        <p:spPr>
          <a:xfrm xmlns:a="http://schemas.openxmlformats.org/drawingml/2006/main">
            <a:off x="8458200" y="365760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101827"/>
                </a:solidFill>
                <a:latin typeface="Aptos"/>
                <a:ea typeface="Aptos"/>
                <a:cs typeface="Aptos"/>
              </a:defRPr>
            </a:pPr>
            <a:r>
              <a:rPr sz="1500" b="1">
                <a:solidFill>
                  <a:srgbClr val="101827"/>
                </a:solidFill>
                <a:latin typeface="Aptos"/>
                <a:ea typeface="Aptos"/>
                <a:cs typeface="Aptos"/>
              </a:rPr>
              <a:t>2281</a:t>
            </a:r>
          </a:p>
        </p:txBody>
      </p:sp>
      <p:sp>
        <p:nvSpPr>
          <p:cNvPr id="52" name="">
            <a:extLst xmlns:a="http://schemas.openxmlformats.org/drawingml/2006/main">
              <a:ext uri="{FF2B5EF4-FFF2-40B4-BE49-F238E27FC236}">
                <a16:creationId xmlns:a16="http://schemas.microsoft.com/office/drawing/2014/main" id="{941740B6-AD74-489E-82B7-EF3C537128E4}"/>
              </a:ext>
            </a:extLst>
          </p:cNvPr>
          <p:cNvSpPr>
            <a:spLocks xmlns:a="http://schemas.openxmlformats.org/drawingml/2006/main" noGrp="1"/>
          </p:cNvSpPr>
          <p:nvPr/>
        </p:nvSpPr>
        <p:spPr>
          <a:xfrm xmlns:a="http://schemas.openxmlformats.org/drawingml/2006/main">
            <a:off x="9486900" y="36957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D"/>
                </a:solidFill>
                <a:latin typeface="Aptos"/>
                <a:ea typeface="Aptos"/>
                <a:cs typeface="Aptos"/>
              </a:defRPr>
            </a:pPr>
            <a:r>
              <a:rPr sz="975" b="0">
                <a:solidFill>
                  <a:srgbClr val="5E6B7D"/>
                </a:solidFill>
                <a:latin typeface="Aptos"/>
                <a:ea typeface="Aptos"/>
                <a:cs typeface="Aptos"/>
              </a:rPr>
              <a:t>matcher recall</a:t>
            </a:r>
          </a:p>
        </p:txBody>
      </p:sp>
      <p:sp>
        <p:nvSpPr>
          <p:cNvPr id="53" name="">
            <a:extLst xmlns:a="http://schemas.openxmlformats.org/drawingml/2006/main">
              <a:ext uri="{FF2B5EF4-FFF2-40B4-BE49-F238E27FC236}">
                <a16:creationId xmlns:a16="http://schemas.microsoft.com/office/drawing/2014/main" id="{07C6D858-A905-4DA1-9F7C-D11BD4B96D15}"/>
              </a:ext>
            </a:extLst>
          </p:cNvPr>
          <p:cNvSpPr>
            <a:spLocks xmlns:a="http://schemas.openxmlformats.org/drawingml/2006/main" noGrp="1"/>
          </p:cNvSpPr>
          <p:nvPr/>
        </p:nvSpPr>
        <p:spPr>
          <a:xfrm xmlns:a="http://schemas.openxmlformats.org/drawingml/2006/main">
            <a:off x="8458200" y="41719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101827"/>
                </a:solidFill>
                <a:latin typeface="Aptos"/>
                <a:ea typeface="Aptos"/>
                <a:cs typeface="Aptos"/>
              </a:defRPr>
            </a:pPr>
            <a:r>
              <a:rPr sz="1500" b="1">
                <a:solidFill>
                  <a:srgbClr val="101827"/>
                </a:solidFill>
                <a:latin typeface="Aptos"/>
                <a:ea typeface="Aptos"/>
                <a:cs typeface="Aptos"/>
              </a:rPr>
              <a:t>442</a:t>
            </a:r>
          </a:p>
        </p:txBody>
      </p:sp>
      <p:sp>
        <p:nvSpPr>
          <p:cNvPr id="54" name="">
            <a:extLst xmlns:a="http://schemas.openxmlformats.org/drawingml/2006/main">
              <a:ext uri="{FF2B5EF4-FFF2-40B4-BE49-F238E27FC236}">
                <a16:creationId xmlns:a16="http://schemas.microsoft.com/office/drawing/2014/main" id="{8339E876-4231-4597-B25B-2DD921AA4CFD}"/>
              </a:ext>
            </a:extLst>
          </p:cNvPr>
          <p:cNvSpPr>
            <a:spLocks xmlns:a="http://schemas.openxmlformats.org/drawingml/2006/main" noGrp="1"/>
          </p:cNvSpPr>
          <p:nvPr/>
        </p:nvSpPr>
        <p:spPr>
          <a:xfrm xmlns:a="http://schemas.openxmlformats.org/drawingml/2006/main">
            <a:off x="9486900" y="42100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D"/>
                </a:solidFill>
                <a:latin typeface="Aptos"/>
                <a:ea typeface="Aptos"/>
                <a:cs typeface="Aptos"/>
              </a:defRPr>
            </a:pPr>
            <a:r>
              <a:rPr sz="975" b="0">
                <a:solidFill>
                  <a:srgbClr val="5E6B7D"/>
                </a:solidFill>
                <a:latin typeface="Aptos"/>
                <a:ea typeface="Aptos"/>
                <a:cs typeface="Aptos"/>
              </a:rPr>
              <a:t>missing reference</a:t>
            </a:r>
          </a:p>
        </p:txBody>
      </p:sp>
      <p:sp>
        <p:nvSpPr>
          <p:cNvPr id="55" name="">
            <a:extLst xmlns:a="http://schemas.openxmlformats.org/drawingml/2006/main">
              <a:ext uri="{FF2B5EF4-FFF2-40B4-BE49-F238E27FC236}">
                <a16:creationId xmlns:a16="http://schemas.microsoft.com/office/drawing/2014/main" id="{B760FC2F-DB47-4516-87DA-D603F7D3FA02}"/>
              </a:ext>
            </a:extLst>
          </p:cNvPr>
          <p:cNvSpPr>
            <a:spLocks xmlns:a="http://schemas.openxmlformats.org/drawingml/2006/main" noGrp="1"/>
          </p:cNvSpPr>
          <p:nvPr/>
        </p:nvSpPr>
        <p:spPr>
          <a:xfrm xmlns:a="http://schemas.openxmlformats.org/drawingml/2006/main">
            <a:off x="1352550" y="5734050"/>
            <a:ext cx="9486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FFFFFF"/>
                </a:solidFill>
                <a:latin typeface="Aptos"/>
                <a:ea typeface="Aptos"/>
                <a:cs typeface="Aptos"/>
              </a:defRPr>
            </a:pPr>
            <a:r>
              <a:rPr sz="1350" b="1">
                <a:solidFill>
                  <a:srgbClr val="FFFFFF"/>
                </a:solidFill>
                <a:latin typeface="Aptos"/>
                <a:ea typeface="Aptos"/>
                <a:cs typeface="Aptos"/>
              </a:rPr>
              <a:t>Demo guardrail: weak version evidence never becomes a fake confirmed vulnerability.</a:t>
            </a:r>
          </a:p>
        </p:txBody>
      </p:sp>
      <p:sp>
        <p:nvSpPr>
          <p:cNvPr id="56" name="">
            <a:extLst xmlns:a="http://schemas.openxmlformats.org/drawingml/2006/main">
              <a:ext uri="{FF2B5EF4-FFF2-40B4-BE49-F238E27FC236}">
                <a16:creationId xmlns:a16="http://schemas.microsoft.com/office/drawing/2014/main" id="{36CB6CEA-C5E8-4E92-A581-D196B210FC59}"/>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18097"/>
                </a:solidFill>
                <a:latin typeface="Aptos"/>
                <a:ea typeface="Aptos"/>
                <a:cs typeface="Aptos"/>
              </a:defRPr>
            </a:pPr>
            <a:r>
              <a:rPr sz="675" b="0">
                <a:solidFill>
                  <a:srgbClr val="718097"/>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62680473"/>
      </p:ext>
    </p:extLst>
  </p:cSld>
</p:sld>
</file>

<file path=ppt/slides/slide12.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48C1955-99C5-4EE6-86C0-0A989DBB8C2F}"/>
              </a:ext>
            </a:extLst>
          </p:cNvPr>
          <p:cNvSpPr>
            <a:spLocks xmlns:a="http://schemas.openxmlformats.org/drawingml/2006/main" noGrp="1"/>
          </p:cNvSpPr>
          <p:nvPr/>
        </p:nvSpPr>
        <p:spPr>
          <a:xfrm xmlns:a="http://schemas.openxmlformats.org/drawingml/2006/main">
            <a:off x="628650" y="3238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06FE8"/>
                </a:solidFill>
                <a:latin typeface="Aptos"/>
                <a:ea typeface="Aptos"/>
                <a:cs typeface="Aptos"/>
              </a:defRPr>
            </a:pPr>
            <a:r>
              <a:rPr sz="900" b="1">
                <a:solidFill>
                  <a:srgbClr val="806FE8"/>
                </a:solidFill>
                <a:latin typeface="Aptos"/>
                <a:ea typeface="Aptos"/>
                <a:cs typeface="Aptos"/>
              </a:rPr>
              <a:t>GUARDED AI CONTRIBUTION</a:t>
            </a:r>
          </a:p>
        </p:txBody>
      </p:sp>
      <p:sp>
        <p:nvSpPr>
          <p:cNvPr id="2" name="">
            <a:extLst xmlns:a="http://schemas.openxmlformats.org/drawingml/2006/main">
              <a:ext uri="{FF2B5EF4-FFF2-40B4-BE49-F238E27FC236}">
                <a16:creationId xmlns:a16="http://schemas.microsoft.com/office/drawing/2014/main" id="{25E05828-B479-4872-80E6-59CFF4232E20}"/>
              </a:ext>
            </a:extLst>
          </p:cNvPr>
          <p:cNvSpPr>
            <a:spLocks xmlns:a="http://schemas.openxmlformats.org/drawingml/2006/main" noGrp="1"/>
          </p:cNvSpPr>
          <p:nvPr/>
        </p:nvSpPr>
        <p:spPr>
          <a:xfrm xmlns:a="http://schemas.openxmlformats.org/drawingml/2006/main">
            <a:off x="628650" y="609600"/>
            <a:ext cx="990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01827"/>
                </a:solidFill>
                <a:latin typeface="Aptos Display"/>
                <a:ea typeface="Aptos Display"/>
                <a:cs typeface="Aptos Display"/>
              </a:defRPr>
            </a:pPr>
            <a:r>
              <a:rPr sz="2325" b="1">
                <a:solidFill>
                  <a:srgbClr val="101827"/>
                </a:solidFill>
                <a:latin typeface="Aptos Display"/>
                <a:ea typeface="Aptos Display"/>
                <a:cs typeface="Aptos Display"/>
              </a:rPr>
              <a:t>AI assists hard R8 triage, while the deterministic matcher keeps authority</a:t>
            </a:r>
          </a:p>
        </p:txBody>
      </p:sp>
      <p:sp>
        <p:nvSpPr>
          <p:cNvPr id="3" name="">
            <a:extLst xmlns:a="http://schemas.openxmlformats.org/drawingml/2006/main">
              <a:ext uri="{FF2B5EF4-FFF2-40B4-BE49-F238E27FC236}">
                <a16:creationId xmlns:a16="http://schemas.microsoft.com/office/drawing/2014/main" id="{1F71CDE8-04A7-4377-AF38-BA3BDC4B122F}"/>
              </a:ext>
            </a:extLst>
          </p:cNvPr>
          <p:cNvSpPr>
            <a:spLocks xmlns:a="http://schemas.openxmlformats.org/drawingml/2006/main" noGrp="1"/>
          </p:cNvSpPr>
          <p:nvPr/>
        </p:nvSpPr>
        <p:spPr>
          <a:xfrm xmlns:a="http://schemas.openxmlformats.org/drawingml/2006/main">
            <a:off x="11144250" y="36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D"/>
                </a:solidFill>
                <a:latin typeface="Aptos"/>
                <a:ea typeface="Aptos"/>
                <a:cs typeface="Aptos"/>
              </a:defRPr>
            </a:pPr>
            <a:r>
              <a:rPr sz="900" b="1">
                <a:solidFill>
                  <a:srgbClr val="5E6B7D"/>
                </a:solidFill>
                <a:latin typeface="Aptos"/>
                <a:ea typeface="Aptos"/>
                <a:cs typeface="Aptos"/>
              </a:rPr>
              <a:t>12</a:t>
            </a:r>
          </a:p>
        </p:txBody>
      </p:sp>
      <p:sp>
        <p:nvSpPr>
          <p:cNvPr id="4" name="">
            <a:extLst xmlns:a="http://schemas.openxmlformats.org/drawingml/2006/main">
              <a:ext uri="{FF2B5EF4-FFF2-40B4-BE49-F238E27FC236}">
                <a16:creationId xmlns:a16="http://schemas.microsoft.com/office/drawing/2014/main" id="{6486D67E-29E7-44D3-A53D-FF154200ADC7}"/>
              </a:ext>
            </a:extLst>
          </p:cNvPr>
          <p:cNvSpPr>
            <a:spLocks xmlns:a="http://schemas.openxmlformats.org/drawingml/2006/main" noGrp="1"/>
          </p:cNvSpPr>
          <p:nvPr/>
        </p:nvSpPr>
        <p:spPr>
          <a:xfrm xmlns:a="http://schemas.openxmlformats.org/drawingml/2006/main">
            <a:off x="742950" y="16859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101827"/>
                </a:solidFill>
                <a:latin typeface="Aptos"/>
                <a:ea typeface="Aptos"/>
                <a:cs typeface="Aptos"/>
              </a:defRPr>
            </a:pPr>
            <a:r>
              <a:rPr sz="1200" b="1">
                <a:solidFill>
                  <a:srgbClr val="101827"/>
                </a:solidFill>
                <a:latin typeface="Aptos"/>
                <a:ea typeface="Aptos"/>
                <a:cs typeface="Aptos"/>
              </a:rPr>
              <a:t>RandomForest</a:t>
            </a:r>
          </a:p>
        </p:txBody>
      </p:sp>
      <p:sp>
        <p:nvSpPr>
          <p:cNvPr id="5" name="">
            <a:extLst xmlns:a="http://schemas.openxmlformats.org/drawingml/2006/main">
              <a:ext uri="{FF2B5EF4-FFF2-40B4-BE49-F238E27FC236}">
                <a16:creationId xmlns:a16="http://schemas.microsoft.com/office/drawing/2014/main" id="{DBFE4A7F-0AD8-4C88-B5C1-40E11B1ADA3D}"/>
              </a:ext>
            </a:extLst>
          </p:cNvPr>
          <p:cNvSpPr>
            <a:spLocks xmlns:a="http://schemas.openxmlformats.org/drawingml/2006/main" noGrp="1"/>
          </p:cNvSpPr>
          <p:nvPr/>
        </p:nvSpPr>
        <p:spPr>
          <a:xfrm xmlns:a="http://schemas.openxmlformats.org/drawingml/2006/main">
            <a:off x="3143250" y="1704975"/>
            <a:ext cx="4191000" cy="19050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2B3DFEF-44F8-4C28-BE84-145DA20A055C}"/>
              </a:ext>
            </a:extLst>
          </p:cNvPr>
          <p:cNvSpPr>
            <a:spLocks xmlns:a="http://schemas.openxmlformats.org/drawingml/2006/main" noGrp="1"/>
          </p:cNvSpPr>
          <p:nvPr/>
        </p:nvSpPr>
        <p:spPr>
          <a:xfrm xmlns:a="http://schemas.openxmlformats.org/drawingml/2006/main">
            <a:off x="3143250" y="1704975"/>
            <a:ext cx="2967228" cy="190500"/>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2C02D5E-F9D2-4A86-977F-7869FDA6E367}"/>
              </a:ext>
            </a:extLst>
          </p:cNvPr>
          <p:cNvSpPr>
            <a:spLocks xmlns:a="http://schemas.openxmlformats.org/drawingml/2006/main" noGrp="1"/>
          </p:cNvSpPr>
          <p:nvPr/>
        </p:nvSpPr>
        <p:spPr>
          <a:xfrm xmlns:a="http://schemas.openxmlformats.org/drawingml/2006/main">
            <a:off x="7505700" y="1647825"/>
            <a:ext cx="83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4F7CFF"/>
                </a:solidFill>
                <a:latin typeface="Aptos"/>
                <a:ea typeface="Aptos"/>
                <a:cs typeface="Aptos"/>
              </a:defRPr>
            </a:pPr>
            <a:r>
              <a:rPr sz="1350" b="1">
                <a:solidFill>
                  <a:srgbClr val="4F7CFF"/>
                </a:solidFill>
                <a:latin typeface="Aptos"/>
                <a:ea typeface="Aptos"/>
                <a:cs typeface="Aptos"/>
              </a:rPr>
              <a:t>0.708</a:t>
            </a:r>
          </a:p>
        </p:txBody>
      </p:sp>
      <p:sp>
        <p:nvSpPr>
          <p:cNvPr id="8" name="">
            <a:extLst xmlns:a="http://schemas.openxmlformats.org/drawingml/2006/main">
              <a:ext uri="{FF2B5EF4-FFF2-40B4-BE49-F238E27FC236}">
                <a16:creationId xmlns:a16="http://schemas.microsoft.com/office/drawing/2014/main" id="{9A04C835-4A2E-464A-B6DF-AE7BE8804F5A}"/>
              </a:ext>
            </a:extLst>
          </p:cNvPr>
          <p:cNvSpPr>
            <a:spLocks xmlns:a="http://schemas.openxmlformats.org/drawingml/2006/main" noGrp="1"/>
          </p:cNvSpPr>
          <p:nvPr/>
        </p:nvSpPr>
        <p:spPr>
          <a:xfrm xmlns:a="http://schemas.openxmlformats.org/drawingml/2006/main">
            <a:off x="8572500" y="1657350"/>
            <a:ext cx="247650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4F7CFF"/>
            </a:solidFill>
            <a:prstDash val="solid"/>
          </a:ln>
        </p:spPr>
      </p:sp>
      <p:sp>
        <p:nvSpPr>
          <p:cNvPr id="9" name="">
            <a:extLst xmlns:a="http://schemas.openxmlformats.org/drawingml/2006/main">
              <a:ext uri="{FF2B5EF4-FFF2-40B4-BE49-F238E27FC236}">
                <a16:creationId xmlns:a16="http://schemas.microsoft.com/office/drawing/2014/main" id="{185C3F34-F9FA-4A0E-ADEC-17259E9B3AC2}"/>
              </a:ext>
            </a:extLst>
          </p:cNvPr>
          <p:cNvSpPr>
            <a:spLocks xmlns:a="http://schemas.openxmlformats.org/drawingml/2006/main" noGrp="1"/>
          </p:cNvSpPr>
          <p:nvPr/>
        </p:nvSpPr>
        <p:spPr>
          <a:xfrm xmlns:a="http://schemas.openxmlformats.org/drawingml/2006/main">
            <a:off x="8639175" y="1714500"/>
            <a:ext cx="23431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4F7CFF"/>
                </a:solidFill>
                <a:latin typeface="Aptos"/>
                <a:ea typeface="Aptos"/>
                <a:cs typeface="Aptos"/>
              </a:defRPr>
            </a:pPr>
            <a:r>
              <a:rPr sz="825" b="1">
                <a:solidFill>
                  <a:srgbClr val="4F7CFF"/>
                </a:solidFill>
                <a:latin typeface="Aptos"/>
                <a:ea typeface="Aptos"/>
                <a:cs typeface="Aptos"/>
              </a:rPr>
              <a:t>integrated report-only</a:t>
            </a:r>
          </a:p>
        </p:txBody>
      </p:sp>
      <p:sp>
        <p:nvSpPr>
          <p:cNvPr id="10" name="">
            <a:extLst xmlns:a="http://schemas.openxmlformats.org/drawingml/2006/main">
              <a:ext uri="{FF2B5EF4-FFF2-40B4-BE49-F238E27FC236}">
                <a16:creationId xmlns:a16="http://schemas.microsoft.com/office/drawing/2014/main" id="{E9AA676D-EEC8-48C5-8036-D28C3B95D758}"/>
              </a:ext>
            </a:extLst>
          </p:cNvPr>
          <p:cNvSpPr>
            <a:spLocks xmlns:a="http://schemas.openxmlformats.org/drawingml/2006/main" noGrp="1"/>
          </p:cNvSpPr>
          <p:nvPr/>
        </p:nvSpPr>
        <p:spPr>
          <a:xfrm xmlns:a="http://schemas.openxmlformats.org/drawingml/2006/main">
            <a:off x="742950" y="24860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101827"/>
                </a:solidFill>
                <a:latin typeface="Aptos"/>
                <a:ea typeface="Aptos"/>
                <a:cs typeface="Aptos"/>
              </a:defRPr>
            </a:pPr>
            <a:r>
              <a:rPr sz="1200" b="1">
                <a:solidFill>
                  <a:srgbClr val="101827"/>
                </a:solidFill>
                <a:latin typeface="Aptos"/>
                <a:ea typeface="Aptos"/>
                <a:cs typeface="Aptos"/>
              </a:rPr>
              <a:t>MVP-safe Transformer</a:t>
            </a:r>
          </a:p>
        </p:txBody>
      </p:sp>
      <p:sp>
        <p:nvSpPr>
          <p:cNvPr id="11" name="">
            <a:extLst xmlns:a="http://schemas.openxmlformats.org/drawingml/2006/main">
              <a:ext uri="{FF2B5EF4-FFF2-40B4-BE49-F238E27FC236}">
                <a16:creationId xmlns:a16="http://schemas.microsoft.com/office/drawing/2014/main" id="{1AB62594-800D-4F82-A432-867DD44DCB5F}"/>
              </a:ext>
            </a:extLst>
          </p:cNvPr>
          <p:cNvSpPr>
            <a:spLocks xmlns:a="http://schemas.openxmlformats.org/drawingml/2006/main" noGrp="1"/>
          </p:cNvSpPr>
          <p:nvPr/>
        </p:nvSpPr>
        <p:spPr>
          <a:xfrm xmlns:a="http://schemas.openxmlformats.org/drawingml/2006/main">
            <a:off x="3143250" y="2505075"/>
            <a:ext cx="4191000" cy="19050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B35B0D6-7C9D-40A8-9944-784E4B770434}"/>
              </a:ext>
            </a:extLst>
          </p:cNvPr>
          <p:cNvSpPr>
            <a:spLocks xmlns:a="http://schemas.openxmlformats.org/drawingml/2006/main" noGrp="1"/>
          </p:cNvSpPr>
          <p:nvPr/>
        </p:nvSpPr>
        <p:spPr>
          <a:xfrm xmlns:a="http://schemas.openxmlformats.org/drawingml/2006/main">
            <a:off x="3143250" y="2505075"/>
            <a:ext cx="3696462" cy="190500"/>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6B538E9-3D68-42D1-8069-7E2CB3B081DE}"/>
              </a:ext>
            </a:extLst>
          </p:cNvPr>
          <p:cNvSpPr>
            <a:spLocks xmlns:a="http://schemas.openxmlformats.org/drawingml/2006/main" noGrp="1"/>
          </p:cNvSpPr>
          <p:nvPr/>
        </p:nvSpPr>
        <p:spPr>
          <a:xfrm xmlns:a="http://schemas.openxmlformats.org/drawingml/2006/main">
            <a:off x="7505700" y="2447925"/>
            <a:ext cx="83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4BFAE"/>
                </a:solidFill>
                <a:latin typeface="Aptos"/>
                <a:ea typeface="Aptos"/>
                <a:cs typeface="Aptos"/>
              </a:defRPr>
            </a:pPr>
            <a:r>
              <a:rPr sz="1350" b="1">
                <a:solidFill>
                  <a:srgbClr val="24BFAE"/>
                </a:solidFill>
                <a:latin typeface="Aptos"/>
                <a:ea typeface="Aptos"/>
                <a:cs typeface="Aptos"/>
              </a:rPr>
              <a:t>0.882</a:t>
            </a:r>
          </a:p>
        </p:txBody>
      </p:sp>
      <p:sp>
        <p:nvSpPr>
          <p:cNvPr id="14" name="">
            <a:extLst xmlns:a="http://schemas.openxmlformats.org/drawingml/2006/main">
              <a:ext uri="{FF2B5EF4-FFF2-40B4-BE49-F238E27FC236}">
                <a16:creationId xmlns:a16="http://schemas.microsoft.com/office/drawing/2014/main" id="{9F0B08CB-4B54-42C6-9666-452F9382DC54}"/>
              </a:ext>
            </a:extLst>
          </p:cNvPr>
          <p:cNvSpPr>
            <a:spLocks xmlns:a="http://schemas.openxmlformats.org/drawingml/2006/main" noGrp="1"/>
          </p:cNvSpPr>
          <p:nvPr/>
        </p:nvSpPr>
        <p:spPr>
          <a:xfrm xmlns:a="http://schemas.openxmlformats.org/drawingml/2006/main">
            <a:off x="8572500" y="2457450"/>
            <a:ext cx="247650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24BFAE"/>
            </a:solidFill>
            <a:prstDash val="solid"/>
          </a:ln>
        </p:spPr>
      </p:sp>
      <p:sp>
        <p:nvSpPr>
          <p:cNvPr id="15" name="">
            <a:extLst xmlns:a="http://schemas.openxmlformats.org/drawingml/2006/main">
              <a:ext uri="{FF2B5EF4-FFF2-40B4-BE49-F238E27FC236}">
                <a16:creationId xmlns:a16="http://schemas.microsoft.com/office/drawing/2014/main" id="{E1596436-62D6-412A-86DB-49B5BD0B3514}"/>
              </a:ext>
            </a:extLst>
          </p:cNvPr>
          <p:cNvSpPr>
            <a:spLocks xmlns:a="http://schemas.openxmlformats.org/drawingml/2006/main" noGrp="1"/>
          </p:cNvSpPr>
          <p:nvPr/>
        </p:nvSpPr>
        <p:spPr>
          <a:xfrm xmlns:a="http://schemas.openxmlformats.org/drawingml/2006/main">
            <a:off x="8639175" y="2514600"/>
            <a:ext cx="23431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24BFAE"/>
                </a:solidFill>
                <a:latin typeface="Aptos"/>
                <a:ea typeface="Aptos"/>
                <a:cs typeface="Aptos"/>
              </a:defRPr>
            </a:pPr>
            <a:r>
              <a:rPr sz="825" b="1">
                <a:solidFill>
                  <a:srgbClr val="24BFAE"/>
                </a:solidFill>
                <a:latin typeface="Aptos"/>
                <a:ea typeface="Aptos"/>
                <a:cs typeface="Aptos"/>
              </a:rPr>
              <a:t>risk-triage candidate</a:t>
            </a:r>
          </a:p>
        </p:txBody>
      </p:sp>
      <p:sp>
        <p:nvSpPr>
          <p:cNvPr id="16" name="">
            <a:extLst xmlns:a="http://schemas.openxmlformats.org/drawingml/2006/main">
              <a:ext uri="{FF2B5EF4-FFF2-40B4-BE49-F238E27FC236}">
                <a16:creationId xmlns:a16="http://schemas.microsoft.com/office/drawing/2014/main" id="{CE4183E0-7017-4981-9AB1-5156661AB34D}"/>
              </a:ext>
            </a:extLst>
          </p:cNvPr>
          <p:cNvSpPr>
            <a:spLocks xmlns:a="http://schemas.openxmlformats.org/drawingml/2006/main" noGrp="1"/>
          </p:cNvSpPr>
          <p:nvPr/>
        </p:nvSpPr>
        <p:spPr>
          <a:xfrm xmlns:a="http://schemas.openxmlformats.org/drawingml/2006/main">
            <a:off x="742950" y="32861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101827"/>
                </a:solidFill>
                <a:latin typeface="Aptos"/>
                <a:ea typeface="Aptos"/>
                <a:cs typeface="Aptos"/>
              </a:defRPr>
            </a:pPr>
            <a:r>
              <a:rPr sz="1200" b="1">
                <a:solidFill>
                  <a:srgbClr val="101827"/>
                </a:solidFill>
                <a:latin typeface="Aptos"/>
                <a:ea typeface="Aptos"/>
                <a:cs typeface="Aptos"/>
              </a:rPr>
              <a:t>Structured Transformer</a:t>
            </a:r>
          </a:p>
        </p:txBody>
      </p:sp>
      <p:sp>
        <p:nvSpPr>
          <p:cNvPr id="17" name="">
            <a:extLst xmlns:a="http://schemas.openxmlformats.org/drawingml/2006/main">
              <a:ext uri="{FF2B5EF4-FFF2-40B4-BE49-F238E27FC236}">
                <a16:creationId xmlns:a16="http://schemas.microsoft.com/office/drawing/2014/main" id="{903E80D0-5554-4083-9637-BF58760000D1}"/>
              </a:ext>
            </a:extLst>
          </p:cNvPr>
          <p:cNvSpPr>
            <a:spLocks xmlns:a="http://schemas.openxmlformats.org/drawingml/2006/main" noGrp="1"/>
          </p:cNvSpPr>
          <p:nvPr/>
        </p:nvSpPr>
        <p:spPr>
          <a:xfrm xmlns:a="http://schemas.openxmlformats.org/drawingml/2006/main">
            <a:off x="3143250" y="3305175"/>
            <a:ext cx="4191000" cy="19050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3D2C6ED-918D-43F3-8D04-E6ACF8DC3755}"/>
              </a:ext>
            </a:extLst>
          </p:cNvPr>
          <p:cNvSpPr>
            <a:spLocks xmlns:a="http://schemas.openxmlformats.org/drawingml/2006/main" noGrp="1"/>
          </p:cNvSpPr>
          <p:nvPr/>
        </p:nvSpPr>
        <p:spPr>
          <a:xfrm xmlns:a="http://schemas.openxmlformats.org/drawingml/2006/main">
            <a:off x="3143250" y="3305175"/>
            <a:ext cx="4094607" cy="190500"/>
          </a:xfrm>
          <a:prstGeom xmlns:a="http://schemas.openxmlformats.org/drawingml/2006/main" prst="rect">
            <a:avLst/>
          </a:prstGeom>
          <a:solidFill xmlns:a="http://schemas.openxmlformats.org/drawingml/2006/main">
            <a:srgbClr val="806FE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4894EE5-08D9-4144-B427-7B170993071E}"/>
              </a:ext>
            </a:extLst>
          </p:cNvPr>
          <p:cNvSpPr>
            <a:spLocks xmlns:a="http://schemas.openxmlformats.org/drawingml/2006/main" noGrp="1"/>
          </p:cNvSpPr>
          <p:nvPr/>
        </p:nvSpPr>
        <p:spPr>
          <a:xfrm xmlns:a="http://schemas.openxmlformats.org/drawingml/2006/main">
            <a:off x="7505700" y="3248025"/>
            <a:ext cx="83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806FE8"/>
                </a:solidFill>
                <a:latin typeface="Aptos"/>
                <a:ea typeface="Aptos"/>
                <a:cs typeface="Aptos"/>
              </a:defRPr>
            </a:pPr>
            <a:r>
              <a:rPr sz="1350" b="1">
                <a:solidFill>
                  <a:srgbClr val="806FE8"/>
                </a:solidFill>
                <a:latin typeface="Aptos"/>
                <a:ea typeface="Aptos"/>
                <a:cs typeface="Aptos"/>
              </a:rPr>
              <a:t>0.977</a:t>
            </a:r>
          </a:p>
        </p:txBody>
      </p:sp>
      <p:sp>
        <p:nvSpPr>
          <p:cNvPr id="20" name="">
            <a:extLst xmlns:a="http://schemas.openxmlformats.org/drawingml/2006/main">
              <a:ext uri="{FF2B5EF4-FFF2-40B4-BE49-F238E27FC236}">
                <a16:creationId xmlns:a16="http://schemas.microsoft.com/office/drawing/2014/main" id="{9D2A25E2-C9C7-4E1C-B9D6-05E5FB0143E3}"/>
              </a:ext>
            </a:extLst>
          </p:cNvPr>
          <p:cNvSpPr>
            <a:spLocks xmlns:a="http://schemas.openxmlformats.org/drawingml/2006/main" noGrp="1"/>
          </p:cNvSpPr>
          <p:nvPr/>
        </p:nvSpPr>
        <p:spPr>
          <a:xfrm xmlns:a="http://schemas.openxmlformats.org/drawingml/2006/main">
            <a:off x="8572500" y="3257550"/>
            <a:ext cx="247650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806FE8"/>
            </a:solidFill>
            <a:prstDash val="solid"/>
          </a:ln>
        </p:spPr>
      </p:sp>
      <p:sp>
        <p:nvSpPr>
          <p:cNvPr id="21" name="">
            <a:extLst xmlns:a="http://schemas.openxmlformats.org/drawingml/2006/main">
              <a:ext uri="{FF2B5EF4-FFF2-40B4-BE49-F238E27FC236}">
                <a16:creationId xmlns:a16="http://schemas.microsoft.com/office/drawing/2014/main" id="{700C6D28-B337-4382-B3B9-67AF393B462C}"/>
              </a:ext>
            </a:extLst>
          </p:cNvPr>
          <p:cNvSpPr>
            <a:spLocks xmlns:a="http://schemas.openxmlformats.org/drawingml/2006/main" noGrp="1"/>
          </p:cNvSpPr>
          <p:nvPr/>
        </p:nvSpPr>
        <p:spPr>
          <a:xfrm xmlns:a="http://schemas.openxmlformats.org/drawingml/2006/main">
            <a:off x="8639175" y="3314700"/>
            <a:ext cx="23431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806FE8"/>
                </a:solidFill>
                <a:latin typeface="Aptos"/>
                <a:ea typeface="Aptos"/>
                <a:cs typeface="Aptos"/>
              </a:defRPr>
            </a:pPr>
            <a:r>
              <a:rPr sz="825" b="1">
                <a:solidFill>
                  <a:srgbClr val="806FE8"/>
                </a:solidFill>
                <a:latin typeface="Aptos"/>
                <a:ea typeface="Aptos"/>
                <a:cs typeface="Aptos"/>
              </a:rPr>
              <a:t>research status only</a:t>
            </a:r>
          </a:p>
        </p:txBody>
      </p:sp>
      <p:sp>
        <p:nvSpPr>
          <p:cNvPr id="22" name="">
            <a:extLst xmlns:a="http://schemas.openxmlformats.org/drawingml/2006/main">
              <a:ext uri="{FF2B5EF4-FFF2-40B4-BE49-F238E27FC236}">
                <a16:creationId xmlns:a16="http://schemas.microsoft.com/office/drawing/2014/main" id="{D89664BA-FB44-4169-B7C1-12D4E24256E8}"/>
              </a:ext>
            </a:extLst>
          </p:cNvPr>
          <p:cNvSpPr>
            <a:spLocks xmlns:a="http://schemas.openxmlformats.org/drawingml/2006/main" noGrp="1"/>
          </p:cNvSpPr>
          <p:nvPr/>
        </p:nvSpPr>
        <p:spPr>
          <a:xfrm xmlns:a="http://schemas.openxmlformats.org/drawingml/2006/main">
            <a:off x="742950" y="40862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101827"/>
                </a:solidFill>
                <a:latin typeface="Aptos"/>
                <a:ea typeface="Aptos"/>
                <a:cs typeface="Aptos"/>
              </a:defRPr>
            </a:pPr>
            <a:r>
              <a:rPr sz="1200" b="1">
                <a:solidFill>
                  <a:srgbClr val="101827"/>
                </a:solidFill>
                <a:latin typeface="Aptos"/>
                <a:ea typeface="Aptos"/>
                <a:cs typeface="Aptos"/>
              </a:rPr>
              <a:t>Raw opcode Transformer</a:t>
            </a:r>
          </a:p>
        </p:txBody>
      </p:sp>
      <p:sp>
        <p:nvSpPr>
          <p:cNvPr id="23" name="">
            <a:extLst xmlns:a="http://schemas.openxmlformats.org/drawingml/2006/main">
              <a:ext uri="{FF2B5EF4-FFF2-40B4-BE49-F238E27FC236}">
                <a16:creationId xmlns:a16="http://schemas.microsoft.com/office/drawing/2014/main" id="{C82D44DD-B2A7-4C02-9F3A-AFCD8B0E7B77}"/>
              </a:ext>
            </a:extLst>
          </p:cNvPr>
          <p:cNvSpPr>
            <a:spLocks xmlns:a="http://schemas.openxmlformats.org/drawingml/2006/main" noGrp="1"/>
          </p:cNvSpPr>
          <p:nvPr/>
        </p:nvSpPr>
        <p:spPr>
          <a:xfrm xmlns:a="http://schemas.openxmlformats.org/drawingml/2006/main">
            <a:off x="3143250" y="4105275"/>
            <a:ext cx="4191000" cy="190500"/>
          </a:xfrm>
          <a:prstGeom xmlns:a="http://schemas.openxmlformats.org/drawingml/2006/main" prst="rect">
            <a:avLst/>
          </a:prstGeom>
          <a:solidFill xmlns:a="http://schemas.openxmlformats.org/drawingml/2006/main">
            <a:srgbClr val="DFE6E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8A5C07FE-92A8-4EB1-A084-81CE3FDB3FA8}"/>
              </a:ext>
            </a:extLst>
          </p:cNvPr>
          <p:cNvSpPr>
            <a:spLocks xmlns:a="http://schemas.openxmlformats.org/drawingml/2006/main" noGrp="1"/>
          </p:cNvSpPr>
          <p:nvPr/>
        </p:nvSpPr>
        <p:spPr>
          <a:xfrm xmlns:a="http://schemas.openxmlformats.org/drawingml/2006/main">
            <a:off x="3143250" y="4105275"/>
            <a:ext cx="461010" cy="190500"/>
          </a:xfrm>
          <a:prstGeom xmlns:a="http://schemas.openxmlformats.org/drawingml/2006/main" prst="rect">
            <a:avLst/>
          </a:prstGeom>
          <a:solidFill xmlns:a="http://schemas.openxmlformats.org/drawingml/2006/main">
            <a:srgbClr val="F0646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97A9F6E-7155-4A50-97E3-68CF82578F74}"/>
              </a:ext>
            </a:extLst>
          </p:cNvPr>
          <p:cNvSpPr>
            <a:spLocks xmlns:a="http://schemas.openxmlformats.org/drawingml/2006/main" noGrp="1"/>
          </p:cNvSpPr>
          <p:nvPr/>
        </p:nvSpPr>
        <p:spPr>
          <a:xfrm xmlns:a="http://schemas.openxmlformats.org/drawingml/2006/main">
            <a:off x="7505700" y="4048125"/>
            <a:ext cx="83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F06464"/>
                </a:solidFill>
                <a:latin typeface="Aptos"/>
                <a:ea typeface="Aptos"/>
                <a:cs typeface="Aptos"/>
              </a:defRPr>
            </a:pPr>
            <a:r>
              <a:rPr sz="1350" b="1">
                <a:solidFill>
                  <a:srgbClr val="F06464"/>
                </a:solidFill>
                <a:latin typeface="Aptos"/>
                <a:ea typeface="Aptos"/>
                <a:cs typeface="Aptos"/>
              </a:rPr>
              <a:t>0.110</a:t>
            </a:r>
          </a:p>
        </p:txBody>
      </p:sp>
      <p:sp>
        <p:nvSpPr>
          <p:cNvPr id="26" name="">
            <a:extLst xmlns:a="http://schemas.openxmlformats.org/drawingml/2006/main">
              <a:ext uri="{FF2B5EF4-FFF2-40B4-BE49-F238E27FC236}">
                <a16:creationId xmlns:a16="http://schemas.microsoft.com/office/drawing/2014/main" id="{0D88E58C-3A22-45A8-BFA6-9C30EEBAABA8}"/>
              </a:ext>
            </a:extLst>
          </p:cNvPr>
          <p:cNvSpPr>
            <a:spLocks xmlns:a="http://schemas.openxmlformats.org/drawingml/2006/main" noGrp="1"/>
          </p:cNvSpPr>
          <p:nvPr/>
        </p:nvSpPr>
        <p:spPr>
          <a:xfrm xmlns:a="http://schemas.openxmlformats.org/drawingml/2006/main">
            <a:off x="8572500" y="4057650"/>
            <a:ext cx="247650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F06464"/>
            </a:solidFill>
            <a:prstDash val="solid"/>
          </a:ln>
        </p:spPr>
      </p:sp>
      <p:sp>
        <p:nvSpPr>
          <p:cNvPr id="27" name="">
            <a:extLst xmlns:a="http://schemas.openxmlformats.org/drawingml/2006/main">
              <a:ext uri="{FF2B5EF4-FFF2-40B4-BE49-F238E27FC236}">
                <a16:creationId xmlns:a16="http://schemas.microsoft.com/office/drawing/2014/main" id="{C838AE5E-0566-4BAB-B582-07F15ED3CC19}"/>
              </a:ext>
            </a:extLst>
          </p:cNvPr>
          <p:cNvSpPr>
            <a:spLocks xmlns:a="http://schemas.openxmlformats.org/drawingml/2006/main" noGrp="1"/>
          </p:cNvSpPr>
          <p:nvPr/>
        </p:nvSpPr>
        <p:spPr>
          <a:xfrm xmlns:a="http://schemas.openxmlformats.org/drawingml/2006/main">
            <a:off x="8639175" y="4114800"/>
            <a:ext cx="23431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F06464"/>
                </a:solidFill>
                <a:latin typeface="Aptos"/>
                <a:ea typeface="Aptos"/>
                <a:cs typeface="Aptos"/>
              </a:defRPr>
            </a:pPr>
            <a:r>
              <a:rPr sz="825" b="1">
                <a:solidFill>
                  <a:srgbClr val="F06464"/>
                </a:solidFill>
                <a:latin typeface="Aptos"/>
                <a:ea typeface="Aptos"/>
                <a:cs typeface="Aptos"/>
              </a:rPr>
              <a:t>below 0.128 baseline</a:t>
            </a:r>
          </a:p>
        </p:txBody>
      </p:sp>
      <p:sp>
        <p:nvSpPr>
          <p:cNvPr id="28" name="">
            <a:extLst xmlns:a="http://schemas.openxmlformats.org/drawingml/2006/main">
              <a:ext uri="{FF2B5EF4-FFF2-40B4-BE49-F238E27FC236}">
                <a16:creationId xmlns:a16="http://schemas.microsoft.com/office/drawing/2014/main" id="{6A64813C-F53A-4A53-9E19-071620F6579C}"/>
              </a:ext>
            </a:extLst>
          </p:cNvPr>
          <p:cNvSpPr>
            <a:spLocks xmlns:a="http://schemas.openxmlformats.org/drawingml/2006/main" noGrp="1"/>
          </p:cNvSpPr>
          <p:nvPr/>
        </p:nvSpPr>
        <p:spPr>
          <a:xfrm xmlns:a="http://schemas.openxmlformats.org/drawingml/2006/main">
            <a:off x="723900" y="4991100"/>
            <a:ext cx="4800600" cy="990600"/>
          </a:xfrm>
          <a:prstGeom xmlns:a="http://schemas.openxmlformats.org/drawingml/2006/main" prst="roundRect">
            <a:avLst>
              <a:gd name="adj" fmla="val 7692"/>
            </a:avLst>
          </a:prstGeom>
          <a:solidFill xmlns:a="http://schemas.openxmlformats.org/drawingml/2006/main">
            <a:srgbClr val="E4F7F4"/>
          </a:solidFill>
          <a:ln xmlns:a="http://schemas.openxmlformats.org/drawingml/2006/main" w="9525">
            <a:solidFill>
              <a:srgbClr val="24BFAE"/>
            </a:solidFill>
            <a:prstDash val="solid"/>
          </a:ln>
        </p:spPr>
      </p:sp>
      <p:sp>
        <p:nvSpPr>
          <p:cNvPr id="29" name="">
            <a:extLst xmlns:a="http://schemas.openxmlformats.org/drawingml/2006/main">
              <a:ext uri="{FF2B5EF4-FFF2-40B4-BE49-F238E27FC236}">
                <a16:creationId xmlns:a16="http://schemas.microsoft.com/office/drawing/2014/main" id="{0B5616B5-96CF-4ABB-AC2F-B64AC100A7F1}"/>
              </a:ext>
            </a:extLst>
          </p:cNvPr>
          <p:cNvSpPr>
            <a:spLocks xmlns:a="http://schemas.openxmlformats.org/drawingml/2006/main" noGrp="1"/>
          </p:cNvSpPr>
          <p:nvPr/>
        </p:nvSpPr>
        <p:spPr>
          <a:xfrm xmlns:a="http://schemas.openxmlformats.org/drawingml/2006/main">
            <a:off x="933450" y="521970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4BFAE"/>
                </a:solidFill>
                <a:latin typeface="Aptos"/>
                <a:ea typeface="Aptos"/>
                <a:cs typeface="Aptos"/>
              </a:defRPr>
            </a:pPr>
            <a:r>
              <a:rPr sz="975" b="1">
                <a:solidFill>
                  <a:srgbClr val="24BFAE"/>
                </a:solidFill>
                <a:latin typeface="Aptos"/>
                <a:ea typeface="Aptos"/>
                <a:cs typeface="Aptos"/>
              </a:rPr>
              <a:t>READY</a:t>
            </a:r>
          </a:p>
        </p:txBody>
      </p:sp>
      <p:sp>
        <p:nvSpPr>
          <p:cNvPr id="30" name="">
            <a:extLst xmlns:a="http://schemas.openxmlformats.org/drawingml/2006/main">
              <a:ext uri="{FF2B5EF4-FFF2-40B4-BE49-F238E27FC236}">
                <a16:creationId xmlns:a16="http://schemas.microsoft.com/office/drawing/2014/main" id="{67E76CC9-5E62-4EA4-9081-D87C16FF3015}"/>
              </a:ext>
            </a:extLst>
          </p:cNvPr>
          <p:cNvSpPr>
            <a:spLocks xmlns:a="http://schemas.openxmlformats.org/drawingml/2006/main" noGrp="1"/>
          </p:cNvSpPr>
          <p:nvPr/>
        </p:nvSpPr>
        <p:spPr>
          <a:xfrm xmlns:a="http://schemas.openxmlformats.org/drawingml/2006/main">
            <a:off x="1885950" y="518160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101827"/>
                </a:solidFill>
                <a:latin typeface="Aptos"/>
                <a:ea typeface="Aptos"/>
                <a:cs typeface="Aptos"/>
              </a:defRPr>
            </a:pPr>
            <a:r>
              <a:rPr sz="1200" b="1">
                <a:solidFill>
                  <a:srgbClr val="101827"/>
                </a:solidFill>
                <a:latin typeface="Aptos"/>
                <a:ea typeface="Aptos"/>
                <a:cs typeface="Aptos"/>
              </a:rPr>
              <a:t>report wording, prioritization, R8 risk triage</a:t>
            </a:r>
          </a:p>
        </p:txBody>
      </p:sp>
      <p:sp>
        <p:nvSpPr>
          <p:cNvPr id="31" name="">
            <a:extLst xmlns:a="http://schemas.openxmlformats.org/drawingml/2006/main">
              <a:ext uri="{FF2B5EF4-FFF2-40B4-BE49-F238E27FC236}">
                <a16:creationId xmlns:a16="http://schemas.microsoft.com/office/drawing/2014/main" id="{213370B4-D275-4812-A551-F9B16DDBF9DF}"/>
              </a:ext>
            </a:extLst>
          </p:cNvPr>
          <p:cNvSpPr>
            <a:spLocks xmlns:a="http://schemas.openxmlformats.org/drawingml/2006/main" noGrp="1"/>
          </p:cNvSpPr>
          <p:nvPr/>
        </p:nvSpPr>
        <p:spPr>
          <a:xfrm xmlns:a="http://schemas.openxmlformats.org/drawingml/2006/main">
            <a:off x="5943600" y="4991100"/>
            <a:ext cx="5562600" cy="990600"/>
          </a:xfrm>
          <a:prstGeom xmlns:a="http://schemas.openxmlformats.org/drawingml/2006/main" prst="roundRect">
            <a:avLst>
              <a:gd name="adj" fmla="val 7692"/>
            </a:avLst>
          </a:prstGeom>
          <a:solidFill xmlns:a="http://schemas.openxmlformats.org/drawingml/2006/main">
            <a:srgbClr val="FCE8E8"/>
          </a:solidFill>
          <a:ln xmlns:a="http://schemas.openxmlformats.org/drawingml/2006/main" w="9525">
            <a:solidFill>
              <a:srgbClr val="F06464"/>
            </a:solidFill>
            <a:prstDash val="solid"/>
          </a:ln>
        </p:spPr>
      </p:sp>
      <p:sp>
        <p:nvSpPr>
          <p:cNvPr id="32" name="">
            <a:extLst xmlns:a="http://schemas.openxmlformats.org/drawingml/2006/main">
              <a:ext uri="{FF2B5EF4-FFF2-40B4-BE49-F238E27FC236}">
                <a16:creationId xmlns:a16="http://schemas.microsoft.com/office/drawing/2014/main" id="{9FD97600-00F0-46A2-B634-C8E22F1CFCF7}"/>
              </a:ext>
            </a:extLst>
          </p:cNvPr>
          <p:cNvSpPr>
            <a:spLocks xmlns:a="http://schemas.openxmlformats.org/drawingml/2006/main" noGrp="1"/>
          </p:cNvSpPr>
          <p:nvPr/>
        </p:nvSpPr>
        <p:spPr>
          <a:xfrm xmlns:a="http://schemas.openxmlformats.org/drawingml/2006/main">
            <a:off x="6153150" y="5219700"/>
            <a:ext cx="102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F06464"/>
                </a:solidFill>
                <a:latin typeface="Aptos"/>
                <a:ea typeface="Aptos"/>
                <a:cs typeface="Aptos"/>
              </a:defRPr>
            </a:pPr>
            <a:r>
              <a:rPr sz="975" b="1">
                <a:solidFill>
                  <a:srgbClr val="F06464"/>
                </a:solidFill>
                <a:latin typeface="Aptos"/>
                <a:ea typeface="Aptos"/>
                <a:cs typeface="Aptos"/>
              </a:rPr>
              <a:t>BLOCKED</a:t>
            </a:r>
          </a:p>
        </p:txBody>
      </p:sp>
      <p:sp>
        <p:nvSpPr>
          <p:cNvPr id="33" name="">
            <a:extLst xmlns:a="http://schemas.openxmlformats.org/drawingml/2006/main">
              <a:ext uri="{FF2B5EF4-FFF2-40B4-BE49-F238E27FC236}">
                <a16:creationId xmlns:a16="http://schemas.microsoft.com/office/drawing/2014/main" id="{F7D3F6B2-9F4A-47C8-AF9B-AB84398BCBD3}"/>
              </a:ext>
            </a:extLst>
          </p:cNvPr>
          <p:cNvSpPr>
            <a:spLocks xmlns:a="http://schemas.openxmlformats.org/drawingml/2006/main" noGrp="1"/>
          </p:cNvSpPr>
          <p:nvPr/>
        </p:nvSpPr>
        <p:spPr>
          <a:xfrm xmlns:a="http://schemas.openxmlformats.org/drawingml/2006/main">
            <a:off x="7277100" y="5181600"/>
            <a:ext cx="3905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101827"/>
                </a:solidFill>
                <a:latin typeface="Aptos"/>
                <a:ea typeface="Aptos"/>
                <a:cs typeface="Aptos"/>
              </a:defRPr>
            </a:pPr>
            <a:r>
              <a:rPr sz="1200" b="1">
                <a:solidFill>
                  <a:srgbClr val="101827"/>
                </a:solidFill>
                <a:latin typeface="Aptos"/>
                <a:ea typeface="Aptos"/>
                <a:cs typeface="Aptos"/>
              </a:rPr>
              <a:t>selected versions, SBOM components, CVE labels</a:t>
            </a:r>
          </a:p>
        </p:txBody>
      </p:sp>
      <p:sp>
        <p:nvSpPr>
          <p:cNvPr id="34" name="">
            <a:extLst xmlns:a="http://schemas.openxmlformats.org/drawingml/2006/main">
              <a:ext uri="{FF2B5EF4-FFF2-40B4-BE49-F238E27FC236}">
                <a16:creationId xmlns:a16="http://schemas.microsoft.com/office/drawing/2014/main" id="{4945EBE6-D8D6-4B03-833A-083A33BB73D2}"/>
              </a:ext>
            </a:extLst>
          </p:cNvPr>
          <p:cNvSpPr>
            <a:spLocks xmlns:a="http://schemas.openxmlformats.org/drawingml/2006/main" noGrp="1"/>
          </p:cNvSpPr>
          <p:nvPr/>
        </p:nvSpPr>
        <p:spPr>
          <a:xfrm xmlns:a="http://schemas.openxmlformats.org/drawingml/2006/main">
            <a:off x="2000250" y="619125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5E6B7D"/>
                </a:solidFill>
                <a:latin typeface="Aptos"/>
                <a:ea typeface="Aptos"/>
                <a:cs typeface="Aptos"/>
              </a:defRPr>
            </a:pPr>
            <a:r>
              <a:rPr sz="1050" b="1">
                <a:solidFill>
                  <a:srgbClr val="5E6B7D"/>
                </a:solidFill>
                <a:latin typeface="Aptos"/>
                <a:ea typeface="Aptos"/>
                <a:cs typeface="Aptos"/>
              </a:rPr>
              <a:t>31,589 local evidence rows  |  strict APK promotion candidates: 0</a:t>
            </a:r>
          </a:p>
        </p:txBody>
      </p:sp>
      <p:sp>
        <p:nvSpPr>
          <p:cNvPr id="35" name="">
            <a:extLst xmlns:a="http://schemas.openxmlformats.org/drawingml/2006/main">
              <a:ext uri="{FF2B5EF4-FFF2-40B4-BE49-F238E27FC236}">
                <a16:creationId xmlns:a16="http://schemas.microsoft.com/office/drawing/2014/main" id="{081CD008-6058-440F-B0B6-FD80BA401A57}"/>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B8798"/>
                </a:solidFill>
                <a:latin typeface="Aptos"/>
                <a:ea typeface="Aptos"/>
                <a:cs typeface="Aptos"/>
              </a:defRPr>
            </a:pPr>
            <a:r>
              <a:rPr sz="675" b="0">
                <a:solidFill>
                  <a:srgbClr val="7B8798"/>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991250496"/>
      </p:ext>
    </p:extLst>
  </p:cSld>
</p:sld>
</file>

<file path=ppt/slides/slide13.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03C21B5-6D7D-46BD-AB2D-1549253C2B0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79ECF35-2DA2-4F24-881F-88318EED7C1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E8AA3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FA5AB22-D76A-4986-AFC6-99D61DA18A38}"/>
              </a:ext>
            </a:extLst>
          </p:cNvPr>
          <p:cNvSpPr>
            <a:spLocks xmlns:a="http://schemas.openxmlformats.org/drawingml/2006/main" noGrp="1"/>
          </p:cNvSpPr>
          <p:nvPr/>
        </p:nvSpPr>
        <p:spPr>
          <a:xfrm xmlns:a="http://schemas.openxmlformats.org/drawingml/2006/main">
            <a:off x="685800" y="47625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E8AA3B"/>
                </a:solidFill>
                <a:latin typeface="Aptos"/>
                <a:ea typeface="Aptos"/>
                <a:cs typeface="Aptos"/>
              </a:defRPr>
            </a:pPr>
            <a:r>
              <a:rPr sz="900" b="1">
                <a:solidFill>
                  <a:srgbClr val="E8AA3B"/>
                </a:solidFill>
                <a:latin typeface="Aptos"/>
                <a:ea typeface="Aptos"/>
                <a:cs typeface="Aptos"/>
              </a:rPr>
              <a:t>CONCLUSION</a:t>
            </a:r>
          </a:p>
        </p:txBody>
      </p:sp>
      <p:sp>
        <p:nvSpPr>
          <p:cNvPr id="4" name="">
            <a:extLst xmlns:a="http://schemas.openxmlformats.org/drawingml/2006/main">
              <a:ext uri="{FF2B5EF4-FFF2-40B4-BE49-F238E27FC236}">
                <a16:creationId xmlns:a16="http://schemas.microsoft.com/office/drawing/2014/main" id="{DB73E10C-8E2A-49D0-8068-68B48585CBB7}"/>
              </a:ext>
            </a:extLst>
          </p:cNvPr>
          <p:cNvSpPr>
            <a:spLocks xmlns:a="http://schemas.openxmlformats.org/drawingml/2006/main" noGrp="1"/>
          </p:cNvSpPr>
          <p:nvPr/>
        </p:nvSpPr>
        <p:spPr>
          <a:xfrm xmlns:a="http://schemas.openxmlformats.org/drawingml/2006/main">
            <a:off x="685800" y="971550"/>
            <a:ext cx="723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FFFFFF"/>
                </a:solidFill>
                <a:latin typeface="Aptos Display"/>
                <a:ea typeface="Aptos Display"/>
                <a:cs typeface="Aptos Display"/>
              </a:defRPr>
            </a:pPr>
            <a:r>
              <a:rPr sz="3000" b="1">
                <a:solidFill>
                  <a:srgbClr val="FFFFFF"/>
                </a:solidFill>
                <a:latin typeface="Aptos Display"/>
                <a:ea typeface="Aptos Display"/>
                <a:cs typeface="Aptos Display"/>
              </a:rPr>
              <a:t>A credible reverse-SBOM tool</a:t>
            </a:r>
          </a:p>
        </p:txBody>
      </p:sp>
      <p:sp>
        <p:nvSpPr>
          <p:cNvPr id="5" name="">
            <a:extLst xmlns:a="http://schemas.openxmlformats.org/drawingml/2006/main">
              <a:ext uri="{FF2B5EF4-FFF2-40B4-BE49-F238E27FC236}">
                <a16:creationId xmlns:a16="http://schemas.microsoft.com/office/drawing/2014/main" id="{2F9C6D42-5B0D-473B-903A-541BC158BE8F}"/>
              </a:ext>
            </a:extLst>
          </p:cNvPr>
          <p:cNvSpPr>
            <a:spLocks xmlns:a="http://schemas.openxmlformats.org/drawingml/2006/main" noGrp="1"/>
          </p:cNvSpPr>
          <p:nvPr/>
        </p:nvSpPr>
        <p:spPr>
          <a:xfrm xmlns:a="http://schemas.openxmlformats.org/drawingml/2006/main">
            <a:off x="685800" y="1504950"/>
            <a:ext cx="809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B9C4D3"/>
                </a:solidFill>
                <a:latin typeface="Aptos"/>
                <a:ea typeface="Aptos"/>
                <a:cs typeface="Aptos"/>
              </a:defRPr>
            </a:pPr>
            <a:r>
              <a:rPr sz="1875" b="1">
                <a:solidFill>
                  <a:srgbClr val="B9C4D3"/>
                </a:solidFill>
                <a:latin typeface="Aptos"/>
                <a:ea typeface="Aptos"/>
                <a:cs typeface="Aptos"/>
              </a:rPr>
              <a:t>must be useful, measurable, and honest about uncertainty.</a:t>
            </a:r>
          </a:p>
        </p:txBody>
      </p:sp>
      <p:sp>
        <p:nvSpPr>
          <p:cNvPr id="6" name="">
            <a:extLst xmlns:a="http://schemas.openxmlformats.org/drawingml/2006/main">
              <a:ext uri="{FF2B5EF4-FFF2-40B4-BE49-F238E27FC236}">
                <a16:creationId xmlns:a16="http://schemas.microsoft.com/office/drawing/2014/main" id="{74E1B257-7535-479D-924E-07CA1602A94F}"/>
              </a:ext>
            </a:extLst>
          </p:cNvPr>
          <p:cNvSpPr>
            <a:spLocks xmlns:a="http://schemas.openxmlformats.org/drawingml/2006/main" noGrp="1"/>
          </p:cNvSpPr>
          <p:nvPr/>
        </p:nvSpPr>
        <p:spPr>
          <a:xfrm xmlns:a="http://schemas.openxmlformats.org/drawingml/2006/main">
            <a:off x="685800" y="2476500"/>
            <a:ext cx="3200400" cy="1809750"/>
          </a:xfrm>
          <a:prstGeom xmlns:a="http://schemas.openxmlformats.org/drawingml/2006/main" prst="roundRect">
            <a:avLst>
              <a:gd name="adj" fmla="val 4211"/>
            </a:avLst>
          </a:prstGeom>
          <a:solidFill xmlns:a="http://schemas.openxmlformats.org/drawingml/2006/main">
            <a:srgbClr val="111B2E"/>
          </a:solidFill>
          <a:ln xmlns:a="http://schemas.openxmlformats.org/drawingml/2006/main" w="9525">
            <a:solidFill>
              <a:srgbClr val="26344D"/>
            </a:solidFill>
            <a:prstDash val="solid"/>
          </a:ln>
        </p:spPr>
      </p:sp>
      <p:sp>
        <p:nvSpPr>
          <p:cNvPr id="7" name="">
            <a:extLst xmlns:a="http://schemas.openxmlformats.org/drawingml/2006/main">
              <a:ext uri="{FF2B5EF4-FFF2-40B4-BE49-F238E27FC236}">
                <a16:creationId xmlns:a16="http://schemas.microsoft.com/office/drawing/2014/main" id="{798D8573-7751-41BC-B1BA-8E891798B00A}"/>
              </a:ext>
            </a:extLst>
          </p:cNvPr>
          <p:cNvSpPr>
            <a:spLocks xmlns:a="http://schemas.openxmlformats.org/drawingml/2006/main" noGrp="1"/>
          </p:cNvSpPr>
          <p:nvPr/>
        </p:nvSpPr>
        <p:spPr>
          <a:xfrm xmlns:a="http://schemas.openxmlformats.org/drawingml/2006/main">
            <a:off x="914400" y="2705100"/>
            <a:ext cx="400050" cy="400050"/>
          </a:xfrm>
          <a:prstGeom xmlns:a="http://schemas.openxmlformats.org/drawingml/2006/main" prst="ellipse">
            <a:avLst/>
          </a:prstGeom>
          <a:solidFill xmlns:a="http://schemas.openxmlformats.org/drawingml/2006/main">
            <a:srgbClr val="4F7C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C989A2C-5C2F-4369-A2A2-DA7CF74E5C48}"/>
              </a:ext>
            </a:extLst>
          </p:cNvPr>
          <p:cNvSpPr>
            <a:spLocks xmlns:a="http://schemas.openxmlformats.org/drawingml/2006/main" noGrp="1"/>
          </p:cNvSpPr>
          <p:nvPr/>
        </p:nvSpPr>
        <p:spPr>
          <a:xfrm xmlns:a="http://schemas.openxmlformats.org/drawingml/2006/main">
            <a:off x="914400" y="28194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0B1220"/>
                </a:solidFill>
                <a:latin typeface="Aptos"/>
                <a:ea typeface="Aptos"/>
                <a:cs typeface="Aptos"/>
              </a:defRPr>
            </a:pPr>
            <a:r>
              <a:rPr sz="900" b="1">
                <a:solidFill>
                  <a:srgbClr val="0B1220"/>
                </a:solidFill>
                <a:latin typeface="Aptos"/>
                <a:ea typeface="Aptos"/>
                <a:cs typeface="Aptos"/>
              </a:rPr>
              <a:t>01</a:t>
            </a:r>
          </a:p>
        </p:txBody>
      </p:sp>
      <p:sp>
        <p:nvSpPr>
          <p:cNvPr id="9" name="">
            <a:extLst xmlns:a="http://schemas.openxmlformats.org/drawingml/2006/main">
              <a:ext uri="{FF2B5EF4-FFF2-40B4-BE49-F238E27FC236}">
                <a16:creationId xmlns:a16="http://schemas.microsoft.com/office/drawing/2014/main" id="{43618562-EFDE-4C73-92B0-BB54A3C47EF5}"/>
              </a:ext>
            </a:extLst>
          </p:cNvPr>
          <p:cNvSpPr>
            <a:spLocks xmlns:a="http://schemas.openxmlformats.org/drawingml/2006/main" noGrp="1"/>
          </p:cNvSpPr>
          <p:nvPr/>
        </p:nvSpPr>
        <p:spPr>
          <a:xfrm xmlns:a="http://schemas.openxmlformats.org/drawingml/2006/main">
            <a:off x="1466850" y="2724150"/>
            <a:ext cx="2133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FFFFFF"/>
                </a:solidFill>
                <a:latin typeface="Aptos"/>
                <a:ea typeface="Aptos"/>
                <a:cs typeface="Aptos"/>
              </a:defRPr>
            </a:pPr>
            <a:r>
              <a:rPr sz="1500" b="1">
                <a:solidFill>
                  <a:srgbClr val="FFFFFF"/>
                </a:solidFill>
                <a:latin typeface="Aptos"/>
                <a:ea typeface="Aptos"/>
                <a:cs typeface="Aptos"/>
              </a:rPr>
              <a:t>End-to-end MVP</a:t>
            </a:r>
          </a:p>
        </p:txBody>
      </p:sp>
      <p:sp>
        <p:nvSpPr>
          <p:cNvPr id="10" name="">
            <a:extLst xmlns:a="http://schemas.openxmlformats.org/drawingml/2006/main">
              <a:ext uri="{FF2B5EF4-FFF2-40B4-BE49-F238E27FC236}">
                <a16:creationId xmlns:a16="http://schemas.microsoft.com/office/drawing/2014/main" id="{0CFFA372-5970-43C1-AA8B-4D44CD1CDA87}"/>
              </a:ext>
            </a:extLst>
          </p:cNvPr>
          <p:cNvSpPr>
            <a:spLocks xmlns:a="http://schemas.openxmlformats.org/drawingml/2006/main" noGrp="1"/>
          </p:cNvSpPr>
          <p:nvPr/>
        </p:nvSpPr>
        <p:spPr>
          <a:xfrm xmlns:a="http://schemas.openxmlformats.org/drawingml/2006/main">
            <a:off x="914400" y="3333750"/>
            <a:ext cx="2686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B8C3D2"/>
                </a:solidFill>
                <a:latin typeface="Aptos"/>
                <a:ea typeface="Aptos"/>
                <a:cs typeface="Aptos"/>
              </a:defRPr>
            </a:pPr>
            <a:r>
              <a:rPr sz="1125" b="0">
                <a:solidFill>
                  <a:srgbClr val="B8C3D2"/>
                </a:solidFill>
                <a:latin typeface="Aptos"/>
                <a:ea typeface="Aptos"/>
                <a:cs typeface="Aptos"/>
              </a:rPr>
              <a:t>APK -&gt; evidence -&gt; CycloneDX -&gt; CVE</a:t>
            </a:r>
          </a:p>
        </p:txBody>
      </p:sp>
      <p:sp>
        <p:nvSpPr>
          <p:cNvPr id="11" name="">
            <a:extLst xmlns:a="http://schemas.openxmlformats.org/drawingml/2006/main">
              <a:ext uri="{FF2B5EF4-FFF2-40B4-BE49-F238E27FC236}">
                <a16:creationId xmlns:a16="http://schemas.microsoft.com/office/drawing/2014/main" id="{87655F2F-14E6-4D95-8B8A-36F255C6B130}"/>
              </a:ext>
            </a:extLst>
          </p:cNvPr>
          <p:cNvSpPr>
            <a:spLocks xmlns:a="http://schemas.openxmlformats.org/drawingml/2006/main" noGrp="1"/>
          </p:cNvSpPr>
          <p:nvPr/>
        </p:nvSpPr>
        <p:spPr>
          <a:xfrm xmlns:a="http://schemas.openxmlformats.org/drawingml/2006/main">
            <a:off x="685800" y="4191000"/>
            <a:ext cx="3200400" cy="95250"/>
          </a:xfrm>
          <a:prstGeom xmlns:a="http://schemas.openxmlformats.org/drawingml/2006/main" prst="rect">
            <a:avLst/>
          </a:prstGeom>
          <a:solidFill xmlns:a="http://schemas.openxmlformats.org/drawingml/2006/main">
            <a:srgbClr val="4F7C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37D8E54-C95A-48F2-AC7D-C3AB9CC3FFFE}"/>
              </a:ext>
            </a:extLst>
          </p:cNvPr>
          <p:cNvSpPr>
            <a:spLocks xmlns:a="http://schemas.openxmlformats.org/drawingml/2006/main" noGrp="1"/>
          </p:cNvSpPr>
          <p:nvPr/>
        </p:nvSpPr>
        <p:spPr>
          <a:xfrm xmlns:a="http://schemas.openxmlformats.org/drawingml/2006/main">
            <a:off x="4267200" y="2476500"/>
            <a:ext cx="3200400" cy="1809750"/>
          </a:xfrm>
          <a:prstGeom xmlns:a="http://schemas.openxmlformats.org/drawingml/2006/main" prst="roundRect">
            <a:avLst>
              <a:gd name="adj" fmla="val 4211"/>
            </a:avLst>
          </a:prstGeom>
          <a:solidFill xmlns:a="http://schemas.openxmlformats.org/drawingml/2006/main">
            <a:srgbClr val="111B2E"/>
          </a:solidFill>
          <a:ln xmlns:a="http://schemas.openxmlformats.org/drawingml/2006/main" w="9525">
            <a:solidFill>
              <a:srgbClr val="26344D"/>
            </a:solidFill>
            <a:prstDash val="solid"/>
          </a:ln>
        </p:spPr>
      </p:sp>
      <p:sp>
        <p:nvSpPr>
          <p:cNvPr id="13" name="">
            <a:extLst xmlns:a="http://schemas.openxmlformats.org/drawingml/2006/main">
              <a:ext uri="{FF2B5EF4-FFF2-40B4-BE49-F238E27FC236}">
                <a16:creationId xmlns:a16="http://schemas.microsoft.com/office/drawing/2014/main" id="{5A3E8DFE-D7B3-43EE-9A88-3A1F4DE78770}"/>
              </a:ext>
            </a:extLst>
          </p:cNvPr>
          <p:cNvSpPr>
            <a:spLocks xmlns:a="http://schemas.openxmlformats.org/drawingml/2006/main" noGrp="1"/>
          </p:cNvSpPr>
          <p:nvPr/>
        </p:nvSpPr>
        <p:spPr>
          <a:xfrm xmlns:a="http://schemas.openxmlformats.org/drawingml/2006/main">
            <a:off x="4495800" y="2705100"/>
            <a:ext cx="400050" cy="400050"/>
          </a:xfrm>
          <a:prstGeom xmlns:a="http://schemas.openxmlformats.org/drawingml/2006/main" prst="ellipse">
            <a:avLst/>
          </a:prstGeom>
          <a:solidFill xmlns:a="http://schemas.openxmlformats.org/drawingml/2006/main">
            <a:srgbClr val="24BFA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F7207D0-4EB5-4B7D-98D0-415A63B42A34}"/>
              </a:ext>
            </a:extLst>
          </p:cNvPr>
          <p:cNvSpPr>
            <a:spLocks xmlns:a="http://schemas.openxmlformats.org/drawingml/2006/main" noGrp="1"/>
          </p:cNvSpPr>
          <p:nvPr/>
        </p:nvSpPr>
        <p:spPr>
          <a:xfrm xmlns:a="http://schemas.openxmlformats.org/drawingml/2006/main">
            <a:off x="4495800" y="28194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0B1220"/>
                </a:solidFill>
                <a:latin typeface="Aptos"/>
                <a:ea typeface="Aptos"/>
                <a:cs typeface="Aptos"/>
              </a:defRPr>
            </a:pPr>
            <a:r>
              <a:rPr sz="900" b="1">
                <a:solidFill>
                  <a:srgbClr val="0B1220"/>
                </a:solidFill>
                <a:latin typeface="Aptos"/>
                <a:ea typeface="Aptos"/>
                <a:cs typeface="Aptos"/>
              </a:rPr>
              <a:t>02</a:t>
            </a:r>
          </a:p>
        </p:txBody>
      </p:sp>
      <p:sp>
        <p:nvSpPr>
          <p:cNvPr id="15" name="">
            <a:extLst xmlns:a="http://schemas.openxmlformats.org/drawingml/2006/main">
              <a:ext uri="{FF2B5EF4-FFF2-40B4-BE49-F238E27FC236}">
                <a16:creationId xmlns:a16="http://schemas.microsoft.com/office/drawing/2014/main" id="{D21E843C-0BC3-4891-924C-68A9C820F2B4}"/>
              </a:ext>
            </a:extLst>
          </p:cNvPr>
          <p:cNvSpPr>
            <a:spLocks xmlns:a="http://schemas.openxmlformats.org/drawingml/2006/main" noGrp="1"/>
          </p:cNvSpPr>
          <p:nvPr/>
        </p:nvSpPr>
        <p:spPr>
          <a:xfrm xmlns:a="http://schemas.openxmlformats.org/drawingml/2006/main">
            <a:off x="5048250" y="2724150"/>
            <a:ext cx="2133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FFFFFF"/>
                </a:solidFill>
                <a:latin typeface="Aptos"/>
                <a:ea typeface="Aptos"/>
                <a:cs typeface="Aptos"/>
              </a:defRPr>
            </a:pPr>
            <a:r>
              <a:rPr sz="1500" b="1">
                <a:solidFill>
                  <a:srgbClr val="FFFFFF"/>
                </a:solidFill>
                <a:latin typeface="Aptos"/>
                <a:ea typeface="Aptos"/>
                <a:cs typeface="Aptos"/>
              </a:rPr>
              <a:t>Transparent evaluation</a:t>
            </a:r>
          </a:p>
        </p:txBody>
      </p:sp>
      <p:sp>
        <p:nvSpPr>
          <p:cNvPr id="16" name="">
            <a:extLst xmlns:a="http://schemas.openxmlformats.org/drawingml/2006/main">
              <a:ext uri="{FF2B5EF4-FFF2-40B4-BE49-F238E27FC236}">
                <a16:creationId xmlns:a16="http://schemas.microsoft.com/office/drawing/2014/main" id="{FF0D24A6-A9C3-4E58-A746-D95755BCECA6}"/>
              </a:ext>
            </a:extLst>
          </p:cNvPr>
          <p:cNvSpPr>
            <a:spLocks xmlns:a="http://schemas.openxmlformats.org/drawingml/2006/main" noGrp="1"/>
          </p:cNvSpPr>
          <p:nvPr/>
        </p:nvSpPr>
        <p:spPr>
          <a:xfrm xmlns:a="http://schemas.openxmlformats.org/drawingml/2006/main">
            <a:off x="4495800" y="3333750"/>
            <a:ext cx="2686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B8C3D2"/>
                </a:solidFill>
                <a:latin typeface="Aptos"/>
                <a:ea typeface="Aptos"/>
                <a:cs typeface="Aptos"/>
              </a:defRPr>
            </a:pPr>
            <a:r>
              <a:rPr sz="1125" b="0">
                <a:solidFill>
                  <a:srgbClr val="B8C3D2"/>
                </a:solidFill>
                <a:latin typeface="Aptos"/>
                <a:ea typeface="Aptos"/>
                <a:cs typeface="Aptos"/>
              </a:rPr>
              <a:t>clean, partial, boundary, and gap exports</a:t>
            </a:r>
          </a:p>
        </p:txBody>
      </p:sp>
      <p:sp>
        <p:nvSpPr>
          <p:cNvPr id="17" name="">
            <a:extLst xmlns:a="http://schemas.openxmlformats.org/drawingml/2006/main">
              <a:ext uri="{FF2B5EF4-FFF2-40B4-BE49-F238E27FC236}">
                <a16:creationId xmlns:a16="http://schemas.microsoft.com/office/drawing/2014/main" id="{D32E8057-FF83-4E03-A29F-C20AEB9F501A}"/>
              </a:ext>
            </a:extLst>
          </p:cNvPr>
          <p:cNvSpPr>
            <a:spLocks xmlns:a="http://schemas.openxmlformats.org/drawingml/2006/main" noGrp="1"/>
          </p:cNvSpPr>
          <p:nvPr/>
        </p:nvSpPr>
        <p:spPr>
          <a:xfrm xmlns:a="http://schemas.openxmlformats.org/drawingml/2006/main">
            <a:off x="4267200" y="4191000"/>
            <a:ext cx="3200400" cy="95250"/>
          </a:xfrm>
          <a:prstGeom xmlns:a="http://schemas.openxmlformats.org/drawingml/2006/main" prst="rect">
            <a:avLst/>
          </a:prstGeom>
          <a:solidFill xmlns:a="http://schemas.openxmlformats.org/drawingml/2006/main">
            <a:srgbClr val="24BFA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CA170FC-555A-4C59-B814-8AC5FE391B92}"/>
              </a:ext>
            </a:extLst>
          </p:cNvPr>
          <p:cNvSpPr>
            <a:spLocks xmlns:a="http://schemas.openxmlformats.org/drawingml/2006/main" noGrp="1"/>
          </p:cNvSpPr>
          <p:nvPr/>
        </p:nvSpPr>
        <p:spPr>
          <a:xfrm xmlns:a="http://schemas.openxmlformats.org/drawingml/2006/main">
            <a:off x="7848600" y="2476500"/>
            <a:ext cx="3200400" cy="1809750"/>
          </a:xfrm>
          <a:prstGeom xmlns:a="http://schemas.openxmlformats.org/drawingml/2006/main" prst="roundRect">
            <a:avLst>
              <a:gd name="adj" fmla="val 4211"/>
            </a:avLst>
          </a:prstGeom>
          <a:solidFill xmlns:a="http://schemas.openxmlformats.org/drawingml/2006/main">
            <a:srgbClr val="111B2E"/>
          </a:solidFill>
          <a:ln xmlns:a="http://schemas.openxmlformats.org/drawingml/2006/main" w="9525">
            <a:solidFill>
              <a:srgbClr val="26344D"/>
            </a:solidFill>
            <a:prstDash val="solid"/>
          </a:ln>
        </p:spPr>
      </p:sp>
      <p:sp>
        <p:nvSpPr>
          <p:cNvPr id="19" name="">
            <a:extLst xmlns:a="http://schemas.openxmlformats.org/drawingml/2006/main">
              <a:ext uri="{FF2B5EF4-FFF2-40B4-BE49-F238E27FC236}">
                <a16:creationId xmlns:a16="http://schemas.microsoft.com/office/drawing/2014/main" id="{70DB8915-F6C2-417D-8C63-6CCFA2B71152}"/>
              </a:ext>
            </a:extLst>
          </p:cNvPr>
          <p:cNvSpPr>
            <a:spLocks xmlns:a="http://schemas.openxmlformats.org/drawingml/2006/main" noGrp="1"/>
          </p:cNvSpPr>
          <p:nvPr/>
        </p:nvSpPr>
        <p:spPr>
          <a:xfrm xmlns:a="http://schemas.openxmlformats.org/drawingml/2006/main">
            <a:off x="8077200" y="2705100"/>
            <a:ext cx="400050" cy="400050"/>
          </a:xfrm>
          <a:prstGeom xmlns:a="http://schemas.openxmlformats.org/drawingml/2006/main" prst="ellipse">
            <a:avLst/>
          </a:prstGeom>
          <a:solidFill xmlns:a="http://schemas.openxmlformats.org/drawingml/2006/main">
            <a:srgbClr val="806FE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36F3F1C-F175-41BB-A6D5-A9535FDA62D5}"/>
              </a:ext>
            </a:extLst>
          </p:cNvPr>
          <p:cNvSpPr>
            <a:spLocks xmlns:a="http://schemas.openxmlformats.org/drawingml/2006/main" noGrp="1"/>
          </p:cNvSpPr>
          <p:nvPr/>
        </p:nvSpPr>
        <p:spPr>
          <a:xfrm xmlns:a="http://schemas.openxmlformats.org/drawingml/2006/main">
            <a:off x="8077200" y="28194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00" b="1">
                <a:solidFill>
                  <a:srgbClr val="0B1220"/>
                </a:solidFill>
                <a:latin typeface="Aptos"/>
                <a:ea typeface="Aptos"/>
                <a:cs typeface="Aptos"/>
              </a:defRPr>
            </a:pPr>
            <a:r>
              <a:rPr sz="900" b="1">
                <a:solidFill>
                  <a:srgbClr val="0B1220"/>
                </a:solidFill>
                <a:latin typeface="Aptos"/>
                <a:ea typeface="Aptos"/>
                <a:cs typeface="Aptos"/>
              </a:rPr>
              <a:t>03</a:t>
            </a:r>
          </a:p>
        </p:txBody>
      </p:sp>
      <p:sp>
        <p:nvSpPr>
          <p:cNvPr id="21" name="">
            <a:extLst xmlns:a="http://schemas.openxmlformats.org/drawingml/2006/main">
              <a:ext uri="{FF2B5EF4-FFF2-40B4-BE49-F238E27FC236}">
                <a16:creationId xmlns:a16="http://schemas.microsoft.com/office/drawing/2014/main" id="{B731BCEB-3EF2-4CEA-848B-7A95E1B8BB04}"/>
              </a:ext>
            </a:extLst>
          </p:cNvPr>
          <p:cNvSpPr>
            <a:spLocks xmlns:a="http://schemas.openxmlformats.org/drawingml/2006/main" noGrp="1"/>
          </p:cNvSpPr>
          <p:nvPr/>
        </p:nvSpPr>
        <p:spPr>
          <a:xfrm xmlns:a="http://schemas.openxmlformats.org/drawingml/2006/main">
            <a:off x="8629650" y="2724150"/>
            <a:ext cx="2133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FFFFFF"/>
                </a:solidFill>
                <a:latin typeface="Aptos"/>
                <a:ea typeface="Aptos"/>
                <a:cs typeface="Aptos"/>
              </a:defRPr>
            </a:pPr>
            <a:r>
              <a:rPr sz="1500" b="1">
                <a:solidFill>
                  <a:srgbClr val="FFFFFF"/>
                </a:solidFill>
                <a:latin typeface="Aptos"/>
                <a:ea typeface="Aptos"/>
                <a:cs typeface="Aptos"/>
              </a:rPr>
              <a:t>Guarded innovation</a:t>
            </a:r>
          </a:p>
        </p:txBody>
      </p:sp>
      <p:sp>
        <p:nvSpPr>
          <p:cNvPr id="22" name="">
            <a:extLst xmlns:a="http://schemas.openxmlformats.org/drawingml/2006/main">
              <a:ext uri="{FF2B5EF4-FFF2-40B4-BE49-F238E27FC236}">
                <a16:creationId xmlns:a16="http://schemas.microsoft.com/office/drawing/2014/main" id="{34BEEF47-786F-4F5D-B9F0-F398BC7FF956}"/>
              </a:ext>
            </a:extLst>
          </p:cNvPr>
          <p:cNvSpPr>
            <a:spLocks xmlns:a="http://schemas.openxmlformats.org/drawingml/2006/main" noGrp="1"/>
          </p:cNvSpPr>
          <p:nvPr/>
        </p:nvSpPr>
        <p:spPr>
          <a:xfrm xmlns:a="http://schemas.openxmlformats.org/drawingml/2006/main">
            <a:off x="8077200" y="3333750"/>
            <a:ext cx="2686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B8C3D2"/>
                </a:solidFill>
                <a:latin typeface="Aptos"/>
                <a:ea typeface="Aptos"/>
                <a:cs typeface="Aptos"/>
              </a:defRPr>
            </a:pPr>
            <a:r>
              <a:rPr sz="1125" b="0">
                <a:solidFill>
                  <a:srgbClr val="B8C3D2"/>
                </a:solidFill>
                <a:latin typeface="Aptos"/>
                <a:ea typeface="Aptos"/>
                <a:cs typeface="Aptos"/>
              </a:rPr>
              <a:t>hybrid matcher research + report-only AI</a:t>
            </a:r>
          </a:p>
        </p:txBody>
      </p:sp>
      <p:sp>
        <p:nvSpPr>
          <p:cNvPr id="23" name="">
            <a:extLst xmlns:a="http://schemas.openxmlformats.org/drawingml/2006/main">
              <a:ext uri="{FF2B5EF4-FFF2-40B4-BE49-F238E27FC236}">
                <a16:creationId xmlns:a16="http://schemas.microsoft.com/office/drawing/2014/main" id="{C8F29BCC-3562-47E7-9810-F3109D89B151}"/>
              </a:ext>
            </a:extLst>
          </p:cNvPr>
          <p:cNvSpPr>
            <a:spLocks xmlns:a="http://schemas.openxmlformats.org/drawingml/2006/main" noGrp="1"/>
          </p:cNvSpPr>
          <p:nvPr/>
        </p:nvSpPr>
        <p:spPr>
          <a:xfrm xmlns:a="http://schemas.openxmlformats.org/drawingml/2006/main">
            <a:off x="7848600" y="4191000"/>
            <a:ext cx="3200400" cy="95250"/>
          </a:xfrm>
          <a:prstGeom xmlns:a="http://schemas.openxmlformats.org/drawingml/2006/main" prst="rect">
            <a:avLst/>
          </a:prstGeom>
          <a:solidFill xmlns:a="http://schemas.openxmlformats.org/drawingml/2006/main">
            <a:srgbClr val="806FE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2420BF3-79DE-47CD-B6EF-0E3D8FCE1A8A}"/>
              </a:ext>
            </a:extLst>
          </p:cNvPr>
          <p:cNvSpPr>
            <a:spLocks xmlns:a="http://schemas.openxmlformats.org/drawingml/2006/main" noGrp="1"/>
          </p:cNvSpPr>
          <p:nvPr/>
        </p:nvSpPr>
        <p:spPr>
          <a:xfrm xmlns:a="http://schemas.openxmlformats.org/drawingml/2006/main">
            <a:off x="685800" y="4762500"/>
            <a:ext cx="10382250" cy="9144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9525">
            <a:solidFill>
              <a:srgbClr val="FFFFFF"/>
            </a:solidFill>
            <a:prstDash val="solid"/>
          </a:ln>
        </p:spPr>
      </p:sp>
      <p:sp>
        <p:nvSpPr>
          <p:cNvPr id="25" name="">
            <a:extLst xmlns:a="http://schemas.openxmlformats.org/drawingml/2006/main">
              <a:ext uri="{FF2B5EF4-FFF2-40B4-BE49-F238E27FC236}">
                <a16:creationId xmlns:a16="http://schemas.microsoft.com/office/drawing/2014/main" id="{6FF068B9-5943-4E4F-9A79-97FCF8B99B6C}"/>
              </a:ext>
            </a:extLst>
          </p:cNvPr>
          <p:cNvSpPr>
            <a:spLocks xmlns:a="http://schemas.openxmlformats.org/drawingml/2006/main" noGrp="1"/>
          </p:cNvSpPr>
          <p:nvPr/>
        </p:nvSpPr>
        <p:spPr>
          <a:xfrm xmlns:a="http://schemas.openxmlformats.org/drawingml/2006/main">
            <a:off x="933450" y="5010150"/>
            <a:ext cx="723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F06464"/>
                </a:solidFill>
                <a:latin typeface="Aptos"/>
                <a:ea typeface="Aptos"/>
                <a:cs typeface="Aptos"/>
              </a:defRPr>
            </a:pPr>
            <a:r>
              <a:rPr sz="900" b="1">
                <a:solidFill>
                  <a:srgbClr val="F06464"/>
                </a:solidFill>
                <a:latin typeface="Aptos"/>
                <a:ea typeface="Aptos"/>
                <a:cs typeface="Aptos"/>
              </a:rPr>
              <a:t>NEXT</a:t>
            </a:r>
          </a:p>
        </p:txBody>
      </p:sp>
      <p:sp>
        <p:nvSpPr>
          <p:cNvPr id="26" name="">
            <a:extLst xmlns:a="http://schemas.openxmlformats.org/drawingml/2006/main">
              <a:ext uri="{FF2B5EF4-FFF2-40B4-BE49-F238E27FC236}">
                <a16:creationId xmlns:a16="http://schemas.microsoft.com/office/drawing/2014/main" id="{D94B7F74-F820-48DF-BE12-32552D920AB8}"/>
              </a:ext>
            </a:extLst>
          </p:cNvPr>
          <p:cNvSpPr>
            <a:spLocks xmlns:a="http://schemas.openxmlformats.org/drawingml/2006/main" noGrp="1"/>
          </p:cNvSpPr>
          <p:nvPr/>
        </p:nvSpPr>
        <p:spPr>
          <a:xfrm xmlns:a="http://schemas.openxmlformats.org/drawingml/2006/main">
            <a:off x="1752600" y="4933950"/>
            <a:ext cx="8858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101827"/>
                </a:solidFill>
                <a:latin typeface="Aptos"/>
                <a:ea typeface="Aptos"/>
                <a:cs typeface="Aptos"/>
              </a:defRPr>
            </a:pPr>
            <a:r>
              <a:rPr sz="1275" b="1">
                <a:solidFill>
                  <a:srgbClr val="101827"/>
                </a:solidFill>
                <a:latin typeface="Aptos"/>
                <a:ea typeface="Aptos"/>
                <a:cs typeface="Aptos"/>
              </a:rPr>
              <a:t>stronger version-specific evidence, broader independent R8 corpora, and stricter APK-only promotion controls</a:t>
            </a:r>
          </a:p>
        </p:txBody>
      </p:sp>
      <p:sp>
        <p:nvSpPr>
          <p:cNvPr id="27" name="">
            <a:extLst xmlns:a="http://schemas.openxmlformats.org/drawingml/2006/main">
              <a:ext uri="{FF2B5EF4-FFF2-40B4-BE49-F238E27FC236}">
                <a16:creationId xmlns:a16="http://schemas.microsoft.com/office/drawing/2014/main" id="{E03B8EA1-8C21-4184-9A74-740CB6EAD86E}"/>
              </a:ext>
            </a:extLst>
          </p:cNvPr>
          <p:cNvSpPr>
            <a:spLocks xmlns:a="http://schemas.openxmlformats.org/drawingml/2006/main" noGrp="1"/>
          </p:cNvSpPr>
          <p:nvPr/>
        </p:nvSpPr>
        <p:spPr>
          <a:xfrm xmlns:a="http://schemas.openxmlformats.org/drawingml/2006/main">
            <a:off x="685800" y="6076950"/>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E8AA3B"/>
                </a:solidFill>
                <a:latin typeface="Aptos Display"/>
                <a:ea typeface="Aptos Display"/>
                <a:cs typeface="Aptos Display"/>
              </a:defRPr>
            </a:pPr>
            <a:r>
              <a:rPr sz="1950" b="1">
                <a:solidFill>
                  <a:srgbClr val="E8AA3B"/>
                </a:solidFill>
                <a:latin typeface="Aptos Display"/>
                <a:ea typeface="Aptos Display"/>
                <a:cs typeface="Aptos Display"/>
              </a:rPr>
              <a:t>Questions</a:t>
            </a:r>
          </a:p>
        </p:txBody>
      </p:sp>
      <p:sp>
        <p:nvSpPr>
          <p:cNvPr id="28" name="">
            <a:extLst xmlns:a="http://schemas.openxmlformats.org/drawingml/2006/main">
              <a:ext uri="{FF2B5EF4-FFF2-40B4-BE49-F238E27FC236}">
                <a16:creationId xmlns:a16="http://schemas.microsoft.com/office/drawing/2014/main" id="{D900F46F-6CF3-4CFB-90E2-93A21D7EE088}"/>
              </a:ext>
            </a:extLst>
          </p:cNvPr>
          <p:cNvSpPr>
            <a:spLocks xmlns:a="http://schemas.openxmlformats.org/drawingml/2006/main" noGrp="1"/>
          </p:cNvSpPr>
          <p:nvPr/>
        </p:nvSpPr>
        <p:spPr>
          <a:xfrm xmlns:a="http://schemas.openxmlformats.org/drawingml/2006/main">
            <a:off x="5429250" y="6115050"/>
            <a:ext cx="561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8997AA"/>
                </a:solidFill>
                <a:latin typeface="Cascadia Mono"/>
                <a:ea typeface="Cascadia Mono"/>
                <a:cs typeface="Cascadia Mono"/>
              </a:defRPr>
            </a:pPr>
            <a:r>
              <a:rPr sz="900" b="0">
                <a:solidFill>
                  <a:srgbClr val="8997AA"/>
                </a:solidFill>
                <a:latin typeface="Cascadia Mono"/>
                <a:ea typeface="Cascadia Mono"/>
                <a:cs typeface="Cascadia Mono"/>
              </a:rPr>
              <a:t>Demo command: python scripts/run_final_ai_defense_demo.py --refresh</a:t>
            </a:r>
          </a:p>
        </p:txBody>
      </p:sp>
    </p:spTree>
    <p:extLst>
      <p:ext uri="{BB962C8B-B14F-4D97-AF65-F5344CB8AC3E}">
        <p14:creationId xmlns:p14="http://schemas.microsoft.com/office/powerpoint/2010/main" val="20955714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2026-06-17T23:21:42.0960000Z</dcterms:created>
  <dcterms:modified xsi:type="dcterms:W3CDTF">2026-06-17T23:21:42.0970000Z</dcterms:modified>
</coreProperties>
</file>