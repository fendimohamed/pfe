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3365d6760a4377" /><Relationship Type="http://schemas.openxmlformats.org/officeDocument/2006/relationships/extended-properties" Target="/docProps/app.xml" Id="R95e8e051f3884218" /><Relationship Type="http://schemas.openxmlformats.org/officeDocument/2006/relationships/officeDocument" Target="/ppt/presentation.xml" Id="Re26c7ad0a7b54d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f030efc5394a7c"/>
  </p:sldMasterIdLst>
  <p:notesMasterIdLst>
    <p:notesMasterId xmlns:r="http://schemas.openxmlformats.org/officeDocument/2006/relationships" r:id="R867748a4a4ff45e6"/>
  </p:notesMasterIdLst>
  <p:sldIdLst>
    <p:sldId xmlns:r="http://schemas.openxmlformats.org/officeDocument/2006/relationships" id="256" r:id="R43d579d4d3dc466c"/>
    <p:sldId xmlns:r="http://schemas.openxmlformats.org/officeDocument/2006/relationships" id="257" r:id="R3b404a2320f34e35"/>
    <p:sldId xmlns:r="http://schemas.openxmlformats.org/officeDocument/2006/relationships" id="258" r:id="Rc7dcfb4ca10b4f16"/>
    <p:sldId xmlns:r="http://schemas.openxmlformats.org/officeDocument/2006/relationships" id="259" r:id="R47b64516ed4a4aab"/>
    <p:sldId xmlns:r="http://schemas.openxmlformats.org/officeDocument/2006/relationships" id="260" r:id="R2d37782e50374cc4"/>
    <p:sldId xmlns:r="http://schemas.openxmlformats.org/officeDocument/2006/relationships" id="261" r:id="R797236a9c596420b"/>
    <p:sldId xmlns:r="http://schemas.openxmlformats.org/officeDocument/2006/relationships" id="262" r:id="R1178b95564ec4d73"/>
    <p:sldId xmlns:r="http://schemas.openxmlformats.org/officeDocument/2006/relationships" id="263" r:id="R36496a02085a47db"/>
    <p:sldId xmlns:r="http://schemas.openxmlformats.org/officeDocument/2006/relationships" id="264" r:id="R3d1a57cb86ae4400"/>
    <p:sldId xmlns:r="http://schemas.openxmlformats.org/officeDocument/2006/relationships" id="265" r:id="R3cac8e9882414283"/>
    <p:sldId xmlns:r="http://schemas.openxmlformats.org/officeDocument/2006/relationships" id="266" r:id="R67768559338148d2"/>
    <p:sldId xmlns:r="http://schemas.openxmlformats.org/officeDocument/2006/relationships" id="267" r:id="R35d1d55523f34bf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f030efc5394a7c" /><Relationship Type="http://schemas.openxmlformats.org/officeDocument/2006/relationships/theme" Target="/ppt/theme/theme1.xml" Id="R66c701f088104a75" /><Relationship Type="http://schemas.openxmlformats.org/officeDocument/2006/relationships/notesMaster" Target="/ppt/notesMasters/notesMaster1.xml" Id="R867748a4a4ff45e6" /><Relationship Type="http://schemas.openxmlformats.org/officeDocument/2006/relationships/presProps" Target="/ppt/presProps.xml" Id="R42ccec6cd6024103" /><Relationship Type="http://schemas.openxmlformats.org/officeDocument/2006/relationships/viewProps" Target="/ppt/viewProps.xml" Id="R296c29c20c504d49" /><Relationship Type="http://schemas.openxmlformats.org/officeDocument/2006/relationships/tableStyles" Target="/ppt/tableStyles.xml" Id="R4b889228f4654fef" /><Relationship Type="http://schemas.openxmlformats.org/officeDocument/2006/relationships/slide" Target="/ppt/slides/slide1.xml" Id="R43d579d4d3dc466c" /><Relationship Type="http://schemas.openxmlformats.org/officeDocument/2006/relationships/slide" Target="/ppt/slides/slide2.xml" Id="R3b404a2320f34e35" /><Relationship Type="http://schemas.openxmlformats.org/officeDocument/2006/relationships/slide" Target="/ppt/slides/slide3.xml" Id="Rc7dcfb4ca10b4f16" /><Relationship Type="http://schemas.openxmlformats.org/officeDocument/2006/relationships/slide" Target="/ppt/slides/slide4.xml" Id="R47b64516ed4a4aab" /><Relationship Type="http://schemas.openxmlformats.org/officeDocument/2006/relationships/slide" Target="/ppt/slides/slide5.xml" Id="R2d37782e50374cc4" /><Relationship Type="http://schemas.openxmlformats.org/officeDocument/2006/relationships/slide" Target="/ppt/slides/slide6.xml" Id="R797236a9c596420b" /><Relationship Type="http://schemas.openxmlformats.org/officeDocument/2006/relationships/slide" Target="/ppt/slides/slide7.xml" Id="R1178b95564ec4d73" /><Relationship Type="http://schemas.openxmlformats.org/officeDocument/2006/relationships/slide" Target="/ppt/slides/slide8.xml" Id="R36496a02085a47db" /><Relationship Type="http://schemas.openxmlformats.org/officeDocument/2006/relationships/slide" Target="/ppt/slides/slide9.xml" Id="R3d1a57cb86ae4400" /><Relationship Type="http://schemas.openxmlformats.org/officeDocument/2006/relationships/slide" Target="/ppt/slides/slide10.xml" Id="R3cac8e9882414283" /><Relationship Type="http://schemas.openxmlformats.org/officeDocument/2006/relationships/slide" Target="/ppt/slides/slide11.xml" Id="R67768559338148d2" /><Relationship Type="http://schemas.openxmlformats.org/officeDocument/2006/relationships/slide" Target="/ppt/slides/slide12.xml" Id="R35d1d55523f34b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b9fec17d13c4b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28853d125d404a" /><Relationship Type="http://schemas.openxmlformats.org/officeDocument/2006/relationships/notesMaster" Target="/ppt/notesMasters/notesMaster1.xml" Id="R1b7c690809bf42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f650cfc6ed49b5" /><Relationship Type="http://schemas.openxmlformats.org/officeDocument/2006/relationships/notesMaster" Target="/ppt/notesMasters/notesMaster1.xml" Id="R6893cfe4784347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04efabab62241ca" /><Relationship Type="http://schemas.openxmlformats.org/officeDocument/2006/relationships/notesMaster" Target="/ppt/notesMasters/notesMaster1.xml" Id="Rea076b8b720549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053d8571604d86" /><Relationship Type="http://schemas.openxmlformats.org/officeDocument/2006/relationships/notesMaster" Target="/ppt/notesMasters/notesMaster1.xml" Id="R61205c3a244845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95da318e644e70" /><Relationship Type="http://schemas.openxmlformats.org/officeDocument/2006/relationships/notesMaster" Target="/ppt/notesMasters/notesMaster1.xml" Id="R41dda16970b34e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76fda5d216470f" /><Relationship Type="http://schemas.openxmlformats.org/officeDocument/2006/relationships/notesMaster" Target="/ppt/notesMasters/notesMaster1.xml" Id="Rfc189e5be4cb45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9da41b0edd49cf" /><Relationship Type="http://schemas.openxmlformats.org/officeDocument/2006/relationships/notesMaster" Target="/ppt/notesMasters/notesMaster1.xml" Id="R26d0c20924d94d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c44476c78b4b09" /><Relationship Type="http://schemas.openxmlformats.org/officeDocument/2006/relationships/notesMaster" Target="/ppt/notesMasters/notesMaster1.xml" Id="R87319c10d25647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8053205eae416f" /><Relationship Type="http://schemas.openxmlformats.org/officeDocument/2006/relationships/notesMaster" Target="/ppt/notesMasters/notesMaster1.xml" Id="Rae1404061f8d4f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ed51fa18f3c4ad4" /><Relationship Type="http://schemas.openxmlformats.org/officeDocument/2006/relationships/notesMaster" Target="/ppt/notesMasters/notesMaster1.xml" Id="R4f9bae9d6c8d44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a152196b42542bb" /><Relationship Type="http://schemas.openxmlformats.org/officeDocument/2006/relationships/notesMaster" Target="/ppt/notesMasters/notesMaster1.xml" Id="Ra350bb945d1442e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fab7be1990d4f7f" /><Relationship Type="http://schemas.openxmlformats.org/officeDocument/2006/relationships/notesMaster" Target="/ppt/notesMasters/notesMaster1.xml" Id="R47b790b90dbe45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project starts from a realistic audit situation: we may only have an APK, not the source or Gradle files. The goal is to recover third-party library and version evidence, generate CycloneDX SBOMs, and connect them to vulnerability lookup.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SBOM tools are still useful when source metadata exists. The different problem here is APK-only analysis, where library versions must be inferred from compiled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literature does not justify claiming perfect matching. It justifies combining multiple signals and reporting limits honestly. The traceability matrix maps each MVP feature to papers/tools and experiments.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goal is a useful security artifact: an SBOM with evidence, confidence, and limitations. Ambiguity is not hidden; it is represented as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architecture carries static evidence from APK extraction all the way to CycloneDX and OSV. This is more than detecting a library name; it is a traceable SBOM workflow.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signal contributes a different kind of evidence. Optional signals were not promoted globally because the regression matrix did not support them.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component can be present even when the exact version is uncertain. The report and SBOM now preserve this distinction and export ambiguous versions.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split is a key research contribution. A single global score hides why the tool succeeds or fails across APK families.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phrase emitted Maven version confirmation rate. Do not call it full dependency recall. The overall number is useful only with the clean and partial split.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we only showed clean cases, the tool would look stronger but the thesis would be weaker. Partial cases show the hard families and guide future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SBOM is CycloneDX with PURLs and evidence properties. Vulnerability results are interpreted through version confidence, which reduces false confirmed CVE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conclusion is not that the MVP is perfect. It is that the tool is useful, measurable, and honest about uncertainty, with clear next improvements.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81619d1697448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7e38c87c5084364" /><Relationship Type="http://schemas.openxmlformats.org/officeDocument/2006/relationships/slideLayout" Target="/ppt/slideLayouts/slideLayout2.xml" Id="Reb444b377b794a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444b377b794a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1ce24e9eff44f6" /><Relationship Type="http://schemas.openxmlformats.org/officeDocument/2006/relationships/notesSlide" Target="/ppt/notesSlides/notesSlide1.xml" Id="Rb1d1b4a524cd49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64262f6d2e44ca" /><Relationship Type="http://schemas.openxmlformats.org/officeDocument/2006/relationships/notesSlide" Target="/ppt/notesSlides/notesSlide2.xml" Id="Rd29ef96288d243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fe39976bd344a2" /><Relationship Type="http://schemas.openxmlformats.org/officeDocument/2006/relationships/notesSlide" Target="/ppt/notesSlides/notesSlide3.xml" Id="R4bd013907cb74a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e04a2bd2894386" /><Relationship Type="http://schemas.openxmlformats.org/officeDocument/2006/relationships/notesSlide" Target="/ppt/notesSlides/notesSlide4.xml" Id="R4451e171de3543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a24144f5744136" /><Relationship Type="http://schemas.openxmlformats.org/officeDocument/2006/relationships/notesSlide" Target="/ppt/notesSlides/notesSlide5.xml" Id="Rc5e33c5b836c43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e2c82c6a174282" /><Relationship Type="http://schemas.openxmlformats.org/officeDocument/2006/relationships/notesSlide" Target="/ppt/notesSlides/notesSlide6.xml" Id="R0fdfec10596b45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54d08f7bd640dc" /><Relationship Type="http://schemas.openxmlformats.org/officeDocument/2006/relationships/notesSlide" Target="/ppt/notesSlides/notesSlide7.xml" Id="Rc63de3c5e1864c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af26a2b49b4918" /><Relationship Type="http://schemas.openxmlformats.org/officeDocument/2006/relationships/notesSlide" Target="/ppt/notesSlides/notesSlide8.xml" Id="R56f32ea868f44f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3384fe246d4021" /><Relationship Type="http://schemas.openxmlformats.org/officeDocument/2006/relationships/notesSlide" Target="/ppt/notesSlides/notesSlide9.xml" Id="Rad8a94c01dd64c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ebc23147cd4f80" /><Relationship Type="http://schemas.openxmlformats.org/officeDocument/2006/relationships/notesSlide" Target="/ppt/notesSlides/notesSlide10.xml" Id="Ra1b8e00cc89443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cce2fcc025433a" /><Relationship Type="http://schemas.openxmlformats.org/officeDocument/2006/relationships/notesSlide" Target="/ppt/notesSlides/notesSlide11.xml" Id="Rf55014bc0fef4a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5c01272edd40e3" /><Relationship Type="http://schemas.openxmlformats.org/officeDocument/2006/relationships/notesSlide" Target="/ppt/notesSlides/notesSlide12.xml" Id="Rb29740da73e740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1B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5B26A4-9E64-43EA-910A-BCD4103A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EB526-3473-416B-B22F-E76F808B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382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Evidence-Based SBOM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713A0-8659-41F2-AB53-54CA69F9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FEFE8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FEFE8"/>
                </a:solidFill>
                <a:latin typeface="Aptos Display"/>
                <a:ea typeface="Aptos Display"/>
                <a:cs typeface="Aptos Display"/>
              </a:rPr>
              <a:t>from Compiled Android APKs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AFAEB1-2344-4C8B-9D1B-D13972C5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334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DE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6DEE8"/>
                </a:solidFill>
                <a:latin typeface="Aptos"/>
                <a:ea typeface="Aptos"/>
                <a:cs typeface="Aptos"/>
              </a:rPr>
              <a:t>Hybrid static library version detection and vulnerability lookup for APK-only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CD94A-BEC1-4F63-9381-F64F981A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ACF05-4941-4538-BBAE-10C16AA8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123444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B0234C-F87C-493C-B8D1-F07522F9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640" y="33147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F89F29-ACEE-46D4-B6C5-192CEEC7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09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403F8-300A-4EA6-8846-92806563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240" y="3286125"/>
            <a:ext cx="123444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51BA7-8DA1-4969-991E-70B9CF17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2830" y="33147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5351F3-6407-4506-88FF-1F755029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8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CC35C-4887-4349-A82A-A2E87643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1430" y="3286125"/>
            <a:ext cx="123444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candidates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1BB832-F027-410B-8265-98B9138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33147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925C4-9D60-4783-9693-E10056D5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447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6C42E4-E604-4F2A-BC41-E11B6BF2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3286125"/>
            <a:ext cx="123444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CycloneDX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0CF19-D206-4B52-890B-BF9C1285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3210" y="33147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D78A88-7CA2-4C4D-A7DC-8AA0C5A4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466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307C88-9762-4469-AFD4-CF0A6B0D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1810" y="3286125"/>
            <a:ext cx="123444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OSV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9C018A-A866-41F4-B5C3-48DF013B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7630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97F4F-4EA2-42A7-AF40-D5F97863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009650"/>
            <a:ext cx="20669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137/173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4A00D6-D2A5-4956-8DC4-DC76C704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390650"/>
            <a:ext cx="20669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source-validated emitted Maven versions confirmed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AF2444-4FFC-4EB0-9307-D5D1F017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BE9CA9-83BC-4766-ADF8-644C4A52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20669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35/35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B97334-F0EC-4688-B1A8-408B7D72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20669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controlled expected versions confirmed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04B33-490D-490D-A3D2-61608A4E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57600"/>
            <a:ext cx="23336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1CAB4B-62F2-4080-AF5E-2DD42F6C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90950"/>
            <a:ext cx="20669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827633-5859-4114-B680-4CB6FA3B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171950"/>
            <a:ext cx="20669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source-validated real APKs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E9BDD0-C9AC-4AC4-91C1-EEAA3928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23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AB7C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AB7C7"/>
                </a:solidFill>
                <a:latin typeface="Aptos"/>
                <a:ea typeface="Aptos"/>
                <a:cs typeface="Aptos"/>
              </a:rPr>
              <a:t>PFE Defense Deck</a:t>
            </a:r>
          </a:p>
        </p:txBody>
      </p:sp>
    </p:spTree>
    <p:extLst>
      <p:ext uri="{BB962C8B-B14F-4D97-AF65-F5344CB8AC3E}">
        <p14:creationId xmlns:p14="http://schemas.microsoft.com/office/powerpoint/2010/main" val="18170019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FCAEF8-4086-4B4E-8C3C-84C52E7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1D513-D0DC-49CD-B1CD-55D2DAA3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Android APKs hide the dependency evidence SBOM tools usually need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73F40D-C2CC-4D78-816B-B9968586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F104CBEC-A9F2-4254-B8DE-9906BC26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79CF6-C6DC-413B-8913-B1D2DEDD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0EDA1-7544-4AEA-A0DD-50CFB92D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192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193485-BF03-4705-9F97-0074C0BD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2286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Source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9F001-D304-4F8C-82B9-3A7698AC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4000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Gradle files and version catalogs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Dependency metadata visible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Package coordinates explicit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Source-based SBOM tools work well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2633F-72E7-4543-9297-23560D06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47850"/>
            <a:ext cx="2286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Compiled APK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D14554-0633-4561-9514-AF18DD8F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4000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DEX bytecode mixed together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Maven versions usually absent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R8 can rename, shrink, inline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Native files need separate handling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AA726-20D7-4D4A-AED7-C1799BCF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Normal SBOM 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276E6-9171-4C20-8631-C60132EF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4340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Reverse-SBOM input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D90A1-451E-4DA3-A9BD-107AE074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1495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The MVP must infer component identity and version from static APK evidence.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159FC-FBFD-4B87-88EC-71342D24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7347803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0B5A04-3798-42B2-BF3F-DD634E3C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RESEARCH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714F2-4332-4E38-9C80-FF48214C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state of the art supports hybrid matching, not perfect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516C0B-BFD1-4F0B-8218-C771C489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74A9E520-7D48-4347-B48D-3F8EBAFA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2D4A6-AF44-403C-AE12-CCCEB0CE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68D6C-DB02-4E70-A850-70528683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859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Lesson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9FD43B-97AA-45E6-BC09-728E1A48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6192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A98325-467A-4613-A7A9-49F32922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85925"/>
            <a:ext cx="3943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from state of the 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4CC3A-7314-41B9-9F52-3CA97DB6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B7C993-2AC6-44C8-AA2E-DF864314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85925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MVP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DB6415-1F43-4E38-8D09-57AE4F20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27A270-F076-4034-B275-7B97CDE0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Package names are fragile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8F5C6-E9E4-4AC6-8427-D141E066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098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DA487B-FF1D-4492-B0E8-B66C52E7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76475"/>
            <a:ext cx="3943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LibScout, LibRadar, Systematic Assessment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09D0D5-52BB-41B6-883B-8C4035FD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2098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CA62C9-7484-4E02-9B7D-F2C058A2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76475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Use as weak evidence, not sole proof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7C9F3-7CAF-4390-86CD-67DACB5A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AD0136-7A3E-4D96-9F5D-C2F04461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670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Graph/opcode features help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6CAD49-6D9F-467A-9C46-3BD4EC6B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003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13B802-B0AC-478A-905E-EED2034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3943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LibPecker, LibID, LibScan, ATVHunter, SAD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3AC59A-307B-4E86-9B41-F35C3954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003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C76CAB-4C52-47C8-8708-41A60E96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67025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Fuse structural and bytecode signals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B30A56-1BA5-4C82-8353-DDE3413C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73B2F8-C9BF-49C7-9820-3D8D8692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R8 changes bytecode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D0268F-0952-4A10-BCB9-FE853A9A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909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FD4079-0DB9-43CA-9A97-AEB2FB5B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57575"/>
            <a:ext cx="3943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LibHunter, LibAttention, ObfDetector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CFB532-6A69-4A16-81AA-FDAC7C2F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909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349DD1-FE18-45FB-9CDA-B1666503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57575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Evaluate by APK family and confidence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4AB6E7-F512-4941-ABCC-4B4BFA76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9A71CC-7E74-4223-8317-AB7E8446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Exact versions are harder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334020-E946-4D0C-9C8A-40F2C46A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814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DC4A1F-874F-4BD6-BFFE-E5CAFF16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48125"/>
            <a:ext cx="3943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SAD, TPL-Benchmark, LibMD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C206A2-B3DD-41AD-BB47-001B2903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9814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02D245-E49A-4921-8EDF-70E646EF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Separate identity and version confidence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474507-28D2-405C-9AD6-B10457C3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F11CD4-131E-438B-B0F5-5B5E2277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386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SBOM output is rare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58F539-D6F6-46FD-9120-2D562EEA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720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7E3780-7A20-426F-93C9-33001837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38675"/>
            <a:ext cx="3943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LibMD, CycloneDX, PURL, OSV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41CCFE-E298-4EF5-B1F9-9E0AB04A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720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CC11F2-3B41-475E-AF13-97D25A6B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38675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Emit standard SBOM plus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70541D-9EAB-45EB-92C1-1BBDBD85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Traceability source: docs/thesis/PAPER_TO_IMPLEMENTATION_TRACEABILITY.md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3A1EB0-EB82-4504-B78F-4CD987E2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346121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1E3C3E-002F-41B7-BB12-C5ED9885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PROJECT GOAL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A4958F-EBE2-4829-B46A-BEF79E92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gives strong claims when evidence is strong, and uncertainty when it is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33DB9C-31CE-44D1-BA35-864110A2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364A3BF8-40F1-4CC6-8200-B3540C9E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6F154-E503-401A-B806-E4C2CC93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19E29-DE3B-4DA6-88BF-FCBC9C4A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621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03C60-2E1D-4D1E-BB02-CBB45FD8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228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compiled 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34513D-174E-4D0B-95B2-AA30A9FD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2381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DEX + manifest + resources + native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690D6-9E3F-467F-A41E-503096CA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No Gradle dependency tree required at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48425-F247-42F1-B9D9-779F3488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68961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9562F-2F0A-47DA-AC30-8814BF7C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621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86AFC-77C2-4BA6-834F-197D7360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76A3BD-4267-4670-A143-EBE6400B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33650"/>
            <a:ext cx="2495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Detected Maven components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090064-6B86-477A-979D-628FB47D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84833-91FE-4AEB-8A5E-CDDBE88A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2495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Version 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8DE26-5B20-4AEF-9344-C6ADA279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623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E5FA0-3C76-4493-B79B-3E2211A3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19450"/>
            <a:ext cx="2495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Ambiguous version sets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870744-4C65-4B2C-9910-05F5D878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A18F28-8932-4D96-8AE0-91F82EB7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19450"/>
            <a:ext cx="2495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CycloneDX SBOM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D0FCCD-7E4F-4F9B-A0A8-8CB30A16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481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F5FA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7610B7-EB50-49FB-B4F1-4273E056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05250"/>
            <a:ext cx="2495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F5F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5FA8"/>
                </a:solidFill>
                <a:latin typeface="Aptos"/>
                <a:ea typeface="Aptos"/>
                <a:cs typeface="Aptos"/>
              </a:rPr>
              <a:t>OSV vulnerability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C68A9D-DCB5-4E48-9636-6EB507E0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054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 policy: do not hide hard APKs and do not force unsupported exact versions.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0BA503-21E8-458D-B0E1-D4F4E041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19653149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03F4FA-3DFA-4909-B009-DBCE6F71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D02A33-A13B-4A03-A1AC-D4410643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is an end-to-end static APK-to-SBOM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652F69-38A8-4B37-BF6B-715639FA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3C3FAA3A-A8A2-4E0F-890B-468E8557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E2F5B-12A2-4693-A59D-1C4DCD89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AEBBDF-50B6-40C6-B9A1-685A075E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128995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APK extraction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2E18B-ED06-4027-9F57-39E8A56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1957" y="1981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05994D-1F4A-48CE-B300-E3C52554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3407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25F91-D319-461D-85C5-4C3EA5EF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557" y="1952625"/>
            <a:ext cx="128995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DEX analysis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B0D06-4D5D-419D-A930-8BF12496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664" y="1981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1387EE-83B2-4E2A-9D8F-99BB843D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114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1F73F2-7255-46ED-978B-9D09617E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6264" y="1952625"/>
            <a:ext cx="128995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Reference DB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9033B3-1452-486A-814C-CC3C4FA6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3371" y="1981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9B68B4-BF6B-420B-A838-160281C9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4821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3874BE-20DD-412B-845D-72560810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1971" y="1952625"/>
            <a:ext cx="128995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Hybrid matching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141347-CB4F-46CB-87F1-C70C7CAC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9079" y="1981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F00455-1030-484C-ACBA-DF11BBA2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529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AC5C2-214E-460F-9686-5690617F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7679" y="1952625"/>
            <a:ext cx="128995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Confidence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FAA843-38E3-4447-9FA7-7E96F9CF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786" y="1981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02B5C0-85A9-492D-BE61-6233C7AC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6236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4CD431-C1EC-4B0F-A208-16FE9B67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86" y="1952625"/>
            <a:ext cx="128995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CycloneDX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924F34-D1C4-4F1C-870B-939A6F5A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493" y="19812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486591-00ED-41CB-8CE3-EC34E88B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943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B9D436-C633-4814-8624-4B0346EF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9093" y="1952625"/>
            <a:ext cx="128995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OSV 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7F6A23-65FC-4C23-B3FC-6789CCA8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D811B1-3916-45ED-BCB5-08F71973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APK extraction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32F651-9E8B-41BD-B970-9D355164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standard/nonstandard DEX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manifest metadata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native .so hashes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B60632-B886-411E-9789-B19DBB23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E27A86-5F3D-4887-B860-DD22B65F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575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DEX analysis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7B5B02-5DBC-49E4-A991-93EE3C27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766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classes, methods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opcodes, literals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dependency graph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A75FC5-E496-4AC2-B121-1963CD06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5BA671-0641-4E5C-B77C-D16939DC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575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Reference DB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203E50-72A7-4FC7-8D54-9EDD4991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JAR/AAR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D8 conversion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SQLite features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8F87D8-7195-4220-A502-5DE0A094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D4FB1D-0CDA-4F4A-82DD-2832BD3B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575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Decision layer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18235F-45CD-496F-9412-FAF064C5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766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identity status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version status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ambiguity set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8C7F9B-2F4D-4D8F-B8C2-10F30D63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67350"/>
            <a:ext cx="990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96575"/>
                </a:solidFill>
                <a:latin typeface="Aptos"/>
                <a:ea typeface="Aptos"/>
                <a:cs typeface="Aptos"/>
              </a:rPr>
              <a:t>Implementation map: src/apk_sbom/* + scripts/build_* evaluation generators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0D5019-4EBC-4984-93F1-1CF4A9BF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720409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DC81DE-0DF2-4360-8C6F-EA6B59A2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EVIDENCE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3D737-6264-41EB-AB42-66950E15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matcher combines complementary evidence instead of trusting one fragile signal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4E7C8-7212-46C2-9FFD-788868D0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D8D2C8F9-512E-4B84-8DAE-0F5A9576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2DB3D-8481-41AB-A1E4-9AAE5A87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BF9AE-2109-4C37-A280-14C14FDA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3086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99F3FF-0479-4E84-8C07-F7BA875D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5811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98F9B-12E7-4178-B624-E4A6FB14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478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3D52A-98A4-42C1-A1BE-9076CA6A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811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3D0DC2-E317-43A4-9354-2E20A191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47825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6220AE-1B43-46C8-BE4D-5F0C0795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B1E81-4F52-4099-9F6A-62C31AA0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3086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Package/class/method overlap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E1FC39-56FF-4FC0-AA48-45CC928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336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986CB9-4688-4669-879D-7491444B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002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Candidate generation and identity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32F1CA-304D-48C0-91E6-2EEC0BDA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336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662799-03EC-4CE7-B87F-8D0F0294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00275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877D9B-C7FF-4367-A976-C34CFAF2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604E44-28EF-4A54-9816-A3DF04D0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86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Opcode histograms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7167DF-9302-47D1-8E0A-8724BD8C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860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38333-53C3-4AEA-AFE5-1128887C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527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Bytecode similarity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964025-74EC-45A8-A695-7BD3F351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860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14DE96-833A-44D3-B902-54FF4FCA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52725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45E097-0D63-4374-B38D-928B464A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81EA36-6E6A-4E75-ADC7-C66BFC3B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3086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dependency graph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89B3FE-963A-43F1-9F85-FDC00C03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385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16D080-54A2-4047-B67B-8D9CFC80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051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Structural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2D11B5-6FB1-459C-8E85-4F653531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3DA460-B66F-4C30-AF77-6800B048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05175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0F5F96-4AD9-4B37-BE61-1010F66F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6E78FA-C2FD-4794-9A43-6865DDEE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3086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Literals/version-unique evidence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339CD7-3E62-42C3-A407-1E15341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909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BEFFDE-E798-4D89-BF53-2122CA7F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Version tie-breaking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C9C2E0-116B-4014-B572-5FD8EE2B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909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BE2F20-420D-442A-BE51-FC0FFC92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57625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FD2CAB-497C-46EF-A972-59802BCB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222E43-C4A6-4617-AA76-B978C2ED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0075"/>
            <a:ext cx="3086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POM metadata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324379-8611-4F03-86A0-EF1936E7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3434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AA8BC0-7050-4308-AA0E-6FB9A34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Conservative dependency coherence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E45BDA-8960-45D9-A02F-F29AA7D6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434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14A73D-6990-4CB0-9C83-8B3E6662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10075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guarded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414AEE-876E-430B-B63F-F86483D6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88B2B7-C16F-46F8-8A3F-97B66109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62525"/>
            <a:ext cx="3086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API refs / opcode tri-grams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7446C8-F3B1-4343-96FF-6F65BDA2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958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7E5725-A279-432B-80D0-854948B6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62525"/>
            <a:ext cx="480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Independent experimental signals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0EBA02-9DBF-46BF-97AC-10951E3A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958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D84BFB4-3C17-46B2-A308-DC494331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62525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disabled globally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10E13B-CD77-451F-8C91-17592E81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57850"/>
            <a:ext cx="952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Negative experiments are evidence too: API weight changed no metrics; opcode tri-grams regressed controls.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CF6BE3D-DC7C-4B8C-BB96-2AEF2F8F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3607300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D156FA-6221-4B56-B968-4C0B2EC9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CONFIDENCE AND AMBIGUITY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A1936F-760A-4BDE-9CEA-65E4BFCA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Identity confidence and version confidence are intentionally separate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BDDA5-707E-454D-B9E2-E9AF1A64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FBCEEECD-8032-4A02-850D-63E32E17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1C52E2-1757-4227-A619-584C2F62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C493C-1E0D-471D-A833-B298708A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383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Library identity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BB6263-677A-4E2F-B1C9-B8DCDAC5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9850"/>
            <a:ext cx="2362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Is this component present?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BABF6-835E-4FB1-8338-CB9107F0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76625"/>
            <a:ext cx="2343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rPr>
              <a:t>identity-confidence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rPr>
              <a:t>identity-status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7282E-5674-4852-9BE5-DEC2CB20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E57C9C-688D-4685-88F9-48881AC5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383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Version confidence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E4A36-4161-4747-9209-D4DDA605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09850"/>
            <a:ext cx="2362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Is this exact version supported?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0DA1A5-74B1-4C27-86AA-5A1303BC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76625"/>
            <a:ext cx="2343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rPr>
              <a:t>version-confidence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rPr>
              <a:t>version-status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6A472-DF2A-4EC3-9F95-9B21002F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92651-CB81-4013-90BB-DB500266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383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Ambiguous versions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2CD872-7309-40FE-9C71-C68E6EE2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09850"/>
            <a:ext cx="2362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Which nearby versions are plausible?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A8C9BE-F426-4306-90F2-99FA49B4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76625"/>
            <a:ext cx="2343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rPr>
              <a:t>ambiguous-versions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96575"/>
                </a:solidFill>
                <a:latin typeface="Aptos Mono"/>
                <a:ea typeface="Aptos Mono"/>
                <a:cs typeface="Aptos Mono"/>
              </a:rPr>
              <a:t>version-ambiguity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22D5EB-D304-49C2-9EEB-04BF181F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67300"/>
            <a:ext cx="971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Why it matters: a real library with an uncertain version should not create a false confirmed CVE result.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BA4A57-945E-40D3-9A5C-ACE5F4F0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18022778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0F2B06-065A-4A64-A245-BB4F3801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EVALUATION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F2C550-D44C-4869-8959-5EA8CDDD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Evaluation is by APK family, not by hiding hard cases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7401CA-378F-4854-971D-995DDECC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21E78503-B04B-4D8E-9613-D859184D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8E224-8112-4588-AD8E-961A4896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192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8B97F-0E86-4117-AE6F-6E170754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192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7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CCCA08-DD6D-4978-9EE1-4C06E6D8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5260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Controlled APKs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E01A7-9D50-41D5-B4AA-90A357D8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04975"/>
            <a:ext cx="666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675AB-B79D-4852-AE55-4A28EE87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621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known ground truth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CD14A-DEF2-466C-BD9B-A623661D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403C79-D762-4DFC-A55C-BCEA159D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15298E-065A-4B5C-979D-D705886B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955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source-validated real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F11B64-A187-4527-A73E-DA69758A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47925"/>
            <a:ext cx="666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25462F-1D38-4803-B379-7B15D8EB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0507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strong exact-version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5B7E69-54BD-4941-9A3C-2E8FA1E0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458F7D-647B-42EF-BAE4-482FD9C5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CFB1B2-C12F-417C-B2DC-D0B0CB57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3850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Partial source-validated real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962CF3-60A9-4100-88B6-D81266F4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90875"/>
            <a:ext cx="666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BD0977-B10A-4DC9-989E-FFD81B62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480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realistic hard cases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100485-E221-4B17-9A39-E22222FD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80B84B-9E1B-4ED8-A082-7C773B12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4E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FE86FA-A7B1-498E-A6C1-49087DCF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Source-linked blocked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907E56-53E1-46CD-8F6F-A2ECA4F6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33825"/>
            <a:ext cx="666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39050B-31BD-4807-8194-90EC4B0A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9097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proof exists, metric excluded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C3D5A3-7101-4972-A854-931E72F1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910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540A8F-553D-4FF2-B461-0B234FE4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910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5F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99F7B1-251C-4DAF-AFB5-242F44C9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2440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Limitation cases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89856B-1247-4E85-81CD-8679CDB5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76775"/>
            <a:ext cx="666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F5F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F5FA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4456B4-0438-45B2-9244-4266916E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339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native/hidden-code boundaries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443F16-B980-4533-97DF-A545D0F9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38800"/>
            <a:ext cx="885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Blocked and boundary cases are visible but excluded from accuracy metrics.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159709-FA33-4F31-8345-3C463924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19662907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AD4D68-3DFE-4ABD-8307-C7313C75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6BB12-0006-470A-809A-19A78099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is exact on controlled and clean cases, useful but partial on harder APKs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D4DB2-40DB-4B08-B6E5-A3C5B47B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17B98641-A23E-424F-885A-7E86BFA0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B6F2D1-C4CE-4975-957C-4AE0B5AA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Controlled APKs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63D4F-6680-4FAC-A6FA-75D40B5E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8097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CDDAB7-0FD5-45F5-A59B-57F5986C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8097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7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11CA6-E280-49E3-A089-B9A089AF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35/35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B062AA-6360-47AB-B755-B5D416F5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146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real APKs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2EAC8-E4F1-43BD-9BA6-8E88A7CA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5336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5049D-7C2D-4510-B543-8DB25BF7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5336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96CB7-D262-4E40-A6F5-E0240560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1460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43/43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86562E-6E03-4058-9CAF-BB18E3DF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385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Partial real APKs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6DC861-4929-44FA-B67A-972EBDB4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2575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0FEF1-BE01-4B11-BC1E-78BED605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257550"/>
            <a:ext cx="3857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E5C17D-F129-401E-86E5-1ADC5395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3850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94/130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B61270-8A8F-4B47-BA97-722CFAD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24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All source-validated real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B82A3F-83AF-4DCA-93D1-50F0DBFB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8145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82E895-2224-4A9B-815A-2E76F62F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81450"/>
            <a:ext cx="42195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0D0D91-637C-4FA6-B4B7-E32331A1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6240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137/173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66D1C-AFA6-4A00-B839-5C220332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57350"/>
            <a:ext cx="2190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8CB59C-286C-4729-90DD-7DF43638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002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79.2%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61A227-34BB-483F-9D11-BA9D67AD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16668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overall emitted Maven version confirmation rate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5C17DF-F5CE-4825-90EB-46F418DE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43300"/>
            <a:ext cx="1762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Not full dependency recall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660C60-F9C8-4EA3-8E3E-859C4D4A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2925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Always report clean and partial rows separately.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9AD98E-126C-47A8-AE00-FD212761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5715457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F982D0-BAC1-46DD-9333-31B9E5DC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E0970-93A2-4706-AF7A-3EF63BD5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Mixed results are evidence about APK types, not total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59570-24A0-492E-999E-09F396F6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393B09D7-44CC-487B-AA3D-B093BF5F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55B39-3E96-40AA-AE44-43A2EAAA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61A9F-C4F8-418E-A858-37EF3976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3943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Case family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BFA206-90A0-48AA-9535-B8C562CE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DFD059-B558-44A7-9B7E-295323A3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685925"/>
            <a:ext cx="6610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8CC37-B78B-47C5-A404-86339931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5DD1C-7CF2-4605-93C9-B0A5C1AE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3943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F-Droid, OpenTracks, Tusky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478F6-99DD-4FBB-B330-C79B1D44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AC6E2E-9B8E-4DB4-AEE3-B0ECF553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33625"/>
            <a:ext cx="6610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source-validated evidence; Tusky is clean but sparse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309452-9381-458C-A3CA-97BEF1DB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E1D275-83BD-430A-AC71-2F88E9B7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81325"/>
            <a:ext cx="3943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NewPipe, AntennaPod, KDE, Wikipedia, Conversations, Aegis, FairEmail, Nextcloud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CBF67-EEC5-4497-93FE-BEB3DD6C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146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B62908-01A4-4FFF-B087-3AE938B1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81325"/>
            <a:ext cx="6610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Useful partial evidence with AndroidX/Kotlin and version-band ambiguity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B6C392-AD3C-49EB-BE35-24FD725B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E32E22-3CC4-40FE-AF21-D1F91D3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3943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Markor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FED8B5-1C76-4AA2-9194-3CF168FF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623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2979AA-39B1-4598-AD93-713DEA9B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29025"/>
            <a:ext cx="6610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Older-dependency drift; app-specific calibration can regress others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88DB76-B12C-4359-A42F-BB796CD4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26DDE0-49C0-421E-83F1-78A42FFA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3943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K-9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C151A5-2F2C-45D4-8F15-2071EFB2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100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BF0448-9DD1-416B-8C11-D46795FD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276725"/>
            <a:ext cx="6610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Source-linked blocked; not counted until dependency tree exists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CC82C6-B4D1-4270-AB83-09509B2D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77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B4031B-0B23-470A-8BD6-3BB64E15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24425"/>
            <a:ext cx="3943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Organic Maps, Termux, hidden DEX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C5B7D3-083A-44E7-8B71-9F51502A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577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A91BC6-81F5-4A8E-8E00-5560ACD6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924425"/>
            <a:ext cx="6610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0" rIns="1905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Boundary evidence; native/hash-only and hidden-code limitations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1EFF41-E11A-4170-900E-71F800C4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10250"/>
            <a:ext cx="962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This is why the thesis reports APK families instead of a single polished score.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A6B8B9-390B-44A6-9DCC-968541FD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1488977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253638-93E6-4CE8-9119-E3235ED3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SBOM AND CVE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0B4D6A-EE91-4CF6-AE49-5635BD51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SBOM workflow is standard, and vulnerability output is confidence-aware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7F7C29-9718-4240-BEB3-0072DE9E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13C9EB35-7E07-4767-B190-222F2AA4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DDDAA-6446-4267-9D69-521E6A91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4762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6FC6B-4F47-416F-96FF-CFB85B19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38350"/>
            <a:ext cx="266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Clean real APK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2F8A6-A702-40EA-8866-2F7274A5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F-Droid report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0A13FD-F383-4BE5-8A32-EBDB8EE1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099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- 23/23 source-confirmed emitted Maven versions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CycloneDX JSON with Maven PURLs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OSV returns 0 vulnerabilities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6E222-B8F9-44EB-98A5-60656CC3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52600"/>
            <a:ext cx="4762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06B90-6754-49B7-A9A2-EB4D45C8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383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Positive vulnerability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38FE32-AF58-4A96-B108-E58B86CC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71750"/>
            <a:ext cx="304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Jackson Databind fixture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5577DD-628B-46E1-B401-39F35C66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9900"/>
            <a:ext cx="4000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com.fasterxml.jackson.core:jackson-databind@2.9.10.8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- 3 confirmed HIGH OSV advisories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CVE-2020-36518, CVE-2022-42003, CVE-2022-42004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5AA9F5-7C46-46CD-978D-CDF6BD0B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5305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Confidence rule: high-confidence exact versions can support confirmed findings; ambiguous versions stay potential.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95A36-3A27-4982-9194-9C546536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9053996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1AB216-8C32-4FA1-B9C3-2F147980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LIMITATIONS AND NEXT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06136-A995-4B66-8619-7D2FE238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is credible because it exposes scope boundaries and next improvements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4E15DD-12DE-42DA-B512-44003C6E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93D32853-16B4-422C-B985-989D4C51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49AB7-5FE9-40D2-B4B5-3E04BF9F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51435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5BF67-DCFA-45D0-AAB6-4051AE87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Current limitations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CEB0E-5DAB-485E-8152-BF1A1EA3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000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reference DB coverage affects exact versions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adjacent AndroidX/Kotlin versions can tie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native .so files are hash-only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hidden DEX/dynamic loading is risk-labeled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K-9 remains source-linked blocked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scanner validation blocked by missing tools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050D75-88ED-46C3-8E43-56CE2CF1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95450"/>
            <a:ext cx="51435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671F4-3FF9-466C-8321-A625B273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621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Next work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5C67A-4923-4109-BC25-2520DAAF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57450"/>
            <a:ext cx="40005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scale source-validated real APKs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add framework families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investigate scoped per-coordinate rerankers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explore stronger multi-scale graph fusion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add Trivy/Grype validation when available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E15DB-F763-4A7A-BEE2-99A15905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00700"/>
            <a:ext cx="975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Closing: useful, measurable, and transparent beats a perfect-looking score that hides difficult APKs.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C2367-B94D-4C0C-AFE0-55F83352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857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Maven version confirmation rate, not full dependency recall</a:t>
            </a:r>
          </a:p>
        </p:txBody>
      </p:sp>
    </p:spTree>
    <p:extLst>
      <p:ext uri="{BB962C8B-B14F-4D97-AF65-F5344CB8AC3E}">
        <p14:creationId xmlns:p14="http://schemas.microsoft.com/office/powerpoint/2010/main" val="4775463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2026-05-26T01:47:58.3380000Z</dcterms:created>
  <dcterms:modified xsi:type="dcterms:W3CDTF">2026-05-26T01:47:58.3380000Z</dcterms:modified>
</coreProperties>
</file>